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Opens on a debrief, closes on feedback, essay on the Tuesday double. The comparison is the whole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essay wants one claim about two pictures. Differences only count if they carry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Gentileschi's Judith, large. Describe the violence before the painter.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Titian, Venus of Urbino. Reception reading set. Note the ease, the invitation, the way the picture asks nothing of you but to look.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Manet, Olympia, silent, no context. Locate the exact refusals Manet is making of Titian, one by one, before the two are set side by 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put these together until now. If they see them together first they find the joke and stop looking.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A2 carries the mid-term grades (due Thu 2026-10-29), which means marking it inside a week rather than five 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822960"/>
            <a:ext cx="301752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32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APPRECIATION · UNIT II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7863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400"/>
              </a:lnSpc>
              <a:buNone/>
            </a:pPr>
            <a:r>
              <a:rPr lang="en-US" sz="7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Titian</a:t>
            </a:r>
            <a:endParaRPr lang="en-US" sz="7800" dirty="0"/>
          </a:p>
          <a:p>
            <a:pPr indent="0" marL="0">
              <a:lnSpc>
                <a:spcPts val="7400"/>
              </a:lnSpc>
              <a:buNone/>
            </a:pPr>
            <a:r>
              <a:rPr lang="en-US" sz="7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Manet</a:t>
            </a:r>
            <a:endParaRPr lang="en-US" sz="7800" dirty="0"/>
          </a:p>
        </p:txBody>
      </p:sp>
      <p:sp>
        <p:nvSpPr>
          <p:cNvPr id="5" name="Shape 3"/>
          <p:cNvSpPr/>
          <p:nvPr/>
        </p:nvSpPr>
        <p:spPr>
          <a:xfrm>
            <a:off x="822960" y="43434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526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Narrative, Myth and Allegory · Lesson 05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meetings  ·  Friday 9 to Friday 16 October  ·  A2 on the Tuesday double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640080"/>
            <a:ext cx="3383280" cy="5577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0" dirty="0">
                <a:solidFill>
                  <a:srgbClr val="5C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380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ESSAY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2651760"/>
            <a:ext cx="384048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788920"/>
            <a:ext cx="7315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200"/>
              </a:lnSpc>
              <a:buNone/>
            </a:pPr>
            <a:r>
              <a:rPr lang="en-US" sz="60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list is not</a:t>
            </a:r>
            <a:endParaRPr lang="en-US" sz="6000" dirty="0"/>
          </a:p>
          <a:p>
            <a:pPr indent="0" marL="0">
              <a:lnSpc>
                <a:spcPts val="6200"/>
              </a:lnSpc>
              <a:buNone/>
            </a:pPr>
            <a:r>
              <a:rPr lang="en-US" sz="60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comparison.</a:t>
            </a:r>
            <a:endParaRPr lang="en-US" sz="6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ONE · FRIDAY 9 OCTOBER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FROM THE BREAK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own decisions first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storyboards, returned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822960" y="3246120"/>
            <a:ext cx="475488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38328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Ten minutes, silent, with the criteria in hand. Find the one frame where the sequence stopped being legible to a stranger.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309360" y="2011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309360" y="26974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right way round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6309360" y="3246120"/>
            <a:ext cx="475488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8328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look at your own decisions before you look at anyone else's, so the reading is honest rather than defensive. CS3 posts from this.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APPRECIATION · SEMESTER 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dogan-Documents-Vaults-Courses/1131873b-e36e-44c1-91c0-268fb16c8435/scratchpad/img/crops/gentileschi_a79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0"/>
            <a:ext cx="546811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03720" y="6126480"/>
            <a:ext cx="5102352" cy="365760"/>
          </a:xfrm>
          <a:prstGeom prst="rect">
            <a:avLst/>
          </a:prstGeom>
          <a:solidFill>
            <a:srgbClr val="FAF8F1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Artemisia Gentileschi, Judith Slaying Holofernes, c. 1620 · public domain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82296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TWO · CLOSE LOOKING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822960" y="1051560"/>
            <a:ext cx="329184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23444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4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violence,</a:t>
            </a:r>
            <a:endParaRPr lang="en-US" sz="42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then the painter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822960" y="3429000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Describe the violence in the painting before you describe the painter. Account for the effort in the arms, the grip, the spilled weight, before a single word about who made it.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WITNESS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PICTURE STANDS YOU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are you next to?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shown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822960" y="3246120"/>
            <a:ext cx="475488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38328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killing, at the moment of most effort. Every hand in the picture is doing work.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309360" y="2011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309360" y="26974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you stand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6309360" y="3246120"/>
            <a:ext cx="475488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383280"/>
            <a:ext cx="4754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picture places you close, inside the act rather than watching it from safety. That placement is a choice, and it is part of what the picture argues.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APPRECIATION · SEMESTER 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dogan-Documents-Vaults-Courses/1131873b-e36e-44c1-91c0-268fb16c8435/scratchpad/img/crops/titian-venus_a177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502920"/>
            <a:ext cx="5120640" cy="502920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4" name="Text 1"/>
          <p:cNvSpPr/>
          <p:nvPr/>
        </p:nvSpPr>
        <p:spPr>
          <a:xfrm>
            <a:off x="704088" y="5212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THREE · TITIAN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02920" y="5486400"/>
            <a:ext cx="7315200" cy="932688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6" name="Shape 3"/>
          <p:cNvSpPr/>
          <p:nvPr/>
        </p:nvSpPr>
        <p:spPr>
          <a:xfrm>
            <a:off x="704088" y="5669280"/>
            <a:ext cx="731520" cy="0"/>
          </a:xfrm>
          <a:prstGeom prst="line">
            <a:avLst/>
          </a:prstGeom>
          <a:noFill/>
          <a:ln w="28575">
            <a:solidFill>
              <a:srgbClr val="8C3A3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4088" y="5724144"/>
            <a:ext cx="6912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does it ask you to accept as natural?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04088" y="6144768"/>
            <a:ext cx="6912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Titian, Venus of Urbino, 1538 · public domain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dogan-Documents-Vaults-Courses/1131873b-e36e-44c1-91c0-268fb16c8435/scratchpad/img/crops/olympia_a177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502920"/>
            <a:ext cx="5120640" cy="502920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4" name="Text 1"/>
          <p:cNvSpPr/>
          <p:nvPr/>
        </p:nvSpPr>
        <p:spPr>
          <a:xfrm>
            <a:off x="704088" y="5212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FOUR · MANET, SILENT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02920" y="5486400"/>
            <a:ext cx="7315200" cy="932688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6" name="Shape 3"/>
          <p:cNvSpPr/>
          <p:nvPr/>
        </p:nvSpPr>
        <p:spPr>
          <a:xfrm>
            <a:off x="704088" y="5669280"/>
            <a:ext cx="731520" cy="0"/>
          </a:xfrm>
          <a:prstGeom prst="line">
            <a:avLst/>
          </a:prstGeom>
          <a:noFill/>
          <a:ln w="28575">
            <a:solidFill>
              <a:srgbClr val="8C3A3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4088" y="5724144"/>
            <a:ext cx="6912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Locate the exact refusals, one by one.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04088" y="6144768"/>
            <a:ext cx="6912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Édouard Manet, Olympia, 1863 · public domain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COMPARISON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CLAIM, TWO PICTURES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32688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 side by side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5088636" cy="320040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7" name="Image 0" descr="/private/tmp/claude-501/-Users-dogan-Documents-Vaults-Courses/1131873b-e36e-44c1-91c0-268fb16c8435/scratchpad/img/titian-venu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3505" y="1911096"/>
            <a:ext cx="4187546" cy="29443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77356" y="1783080"/>
            <a:ext cx="5088636" cy="320040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9" name="Image 1" descr="/private/tmp/claude-501/-Users-dogan-Documents-Vaults-Courses/1131873b-e36e-44c1-91c0-268fb16c8435/scratchpad/img/olympia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4692" y="1911096"/>
            <a:ext cx="4353964" cy="29443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" y="5056632"/>
            <a:ext cx="50886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Titian, Venus of Urbino, 1538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6277356" y="5056632"/>
            <a:ext cx="50886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Manet, Olympia, 1863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822960" y="562356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pose, three hundred years apart. The essay is one claim about what Manet changed, and why the change carries meaning.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00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1920240"/>
            <a:ext cx="10241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5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Differences only count</a:t>
            </a:r>
            <a:endParaRPr lang="en-US" sz="52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5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they carry meaning.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822960" y="470916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892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list of what is different is not a comparison. A comparison says what the difference is for.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· A2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COMPARATIVE ESSAY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claim about two pictures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Sits Tuesday 13 October, on the double: in class, closed, 40 minutes.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822960" y="278892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9718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2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Marked on one claim about Titian against Manet, evidenced from the pictures rather than the reception reading.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46634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Announced Wednesday 30 September, before the break. It carries the mid-term grades, so it is marked inside a week.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APPRECIATION · SEMESTER 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RUNS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MEETINGS, TUESDAY A DOUBLE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32688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fortnight, meeting by meeting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10543032" cy="0"/>
          </a:xfrm>
          <a:prstGeom prst="line">
            <a:avLst/>
          </a:prstGeom>
          <a:noFill/>
          <a:ln w="12700">
            <a:solidFill>
              <a:srgbClr val="2431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83080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 9 OCT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0" y="1783080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Break-homework debrief; storyboards returned (CS3)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231343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313432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 10 OCT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0" y="2313432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Gentileschi's Judith; the problem of the witness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28437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843784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 12 OCT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0" y="2843784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Titian, Venus of Urbino: what it asks you to accept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2960" y="3374136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374136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TUE 13 OCT, DOUBLE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0480" y="3374136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Manet's Olympia; the comparison; A2 sits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2960" y="3904488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904488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 14 OCT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40480" y="3904488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read-back; the bridge into food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22960" y="4434840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434840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 16 OCT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40480" y="4434840"/>
            <a:ext cx="7406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Continued read-back; the unit closes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22960" y="496519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APPRECIATION · SEMESTER 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22960" y="2514600"/>
            <a:ext cx="310896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65176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800"/>
              </a:lnSpc>
              <a:buNone/>
            </a:pPr>
            <a:r>
              <a:rPr lang="en-US" sz="56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Table as</a:t>
            </a:r>
            <a:endParaRPr lang="en-US" sz="56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6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Moral Space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22960" y="4892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06. Unit III opens: food, the table and ethics.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6E8A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E8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 APPRECIATION · SEMESTER 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2026-07-25T01:51:32Z</dcterms:created>
  <dcterms:modified xsi:type="dcterms:W3CDTF">2026-07-25T01:51:32Z</dcterms:modified>
</cp:coreProperties>
</file>