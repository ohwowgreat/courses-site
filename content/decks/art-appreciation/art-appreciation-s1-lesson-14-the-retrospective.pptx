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third constellation of the year, and the one where the method finally looks like a method rather than a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they have made is available. The Unit 1 boards and the Unit 4 syntheses go up on the walls before Monday.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Inventory only on day one. Everything on the wall, 35 minutes, no arranging.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will start arranging within four minutes. Stop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image" Target="../media/image-3-4.jpg"/><Relationship Id="rId5" Type="http://schemas.openxmlformats.org/officeDocument/2006/relationships/image" Target="../media/image-3-5.jpg"/><Relationship Id="rId6" Type="http://schemas.openxmlformats.org/officeDocument/2006/relationships/image" Target="../media/image-3-6.jpg"/><Relationship Id="rId7" Type="http://schemas.openxmlformats.org/officeDocument/2006/relationships/image" Target="../media/image-3-7.jpg"/><Relationship Id="rId8" Type="http://schemas.openxmlformats.org/officeDocument/2006/relationships/image" Target="../media/image-3-8.jp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0" y="822960"/>
            <a:ext cx="42062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XIV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UNIT V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7040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800"/>
              </a:lnSpc>
              <a:buNone/>
            </a:pPr>
            <a:r>
              <a:rPr lang="en-US" sz="6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</a:t>
            </a:r>
            <a:endParaRPr lang="en-US" sz="6800" dirty="0"/>
          </a:p>
          <a:p>
            <a:pPr indent="0" marL="0">
              <a:lnSpc>
                <a:spcPts val="6800"/>
              </a:lnSpc>
              <a:buNone/>
            </a:pPr>
            <a:r>
              <a:rPr lang="en-US" sz="6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Retrospective</a:t>
            </a:r>
            <a:endParaRPr lang="en-US" sz="6800" dirty="0"/>
          </a:p>
        </p:txBody>
      </p:sp>
      <p:sp>
        <p:nvSpPr>
          <p:cNvPr id="5" name="Shape 3"/>
          <p:cNvSpPr/>
          <p:nvPr/>
        </p:nvSpPr>
        <p:spPr>
          <a:xfrm>
            <a:off x="822960" y="43434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526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Semester Close · Lesson 14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sessions  ·  Monday 4 to Friday 8 January  ·  the last week of the semester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0" y="640080"/>
            <a:ext cx="4663440" cy="5577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0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XIV</a:t>
            </a:r>
            <a:endParaRPr lang="en-US" sz="230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TASK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384048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331720"/>
            <a:ext cx="7589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50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the whole</a:t>
            </a:r>
            <a:endParaRPr lang="en-US" sz="50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50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semester back</a:t>
            </a:r>
            <a:endParaRPr lang="en-US" sz="50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50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one argument.</a:t>
            </a:r>
            <a:endParaRPr lang="en-US" sz="5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YEAR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UNITS, ON ONE WALL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Everything, before you arrange it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2526030" cy="1892808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7" name="Image 0" descr="/private/tmp/claude-501/-Users-dogan-Documents-Vaults-Courses/1131873b-e36e-44c1-91c0-268fb16c8435/scratchpad/img/mumm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7477" y="1865376"/>
            <a:ext cx="1156996" cy="163677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495294" y="1737360"/>
            <a:ext cx="2526030" cy="1892808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9" name="Image 1" descr="/private/tmp/claude-501/-Users-dogan-Documents-Vaults-Courses/1131873b-e36e-44c1-91c0-268fb16c8435/scratchpad/img/lascaux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3310" y="1939630"/>
            <a:ext cx="2269998" cy="1488267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167628" y="1737360"/>
            <a:ext cx="2526030" cy="1892808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11" name="Image 2" descr="/private/tmp/claude-501/-Users-dogan-Documents-Vaults-Courses/1131873b-e36e-44c1-91c0-268fb16c8435/scratchpad/img/gentileschi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6852" y="1865376"/>
            <a:ext cx="1227582" cy="1636776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839962" y="1737360"/>
            <a:ext cx="2526030" cy="1892808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13" name="Image 3" descr="/private/tmp/claude-501/-Users-dogan-Documents-Vaults-Courses/1131873b-e36e-44c1-91c0-268fb16c8435/scratchpad/img/heda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6140" y="1865376"/>
            <a:ext cx="2113674" cy="1636776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822960" y="3776472"/>
            <a:ext cx="2526030" cy="1892808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15" name="Image 4" descr="/private/tmp/claude-501/-Users-dogan-Documents-Vaults-Courses/1131873b-e36e-44c1-91c0-268fb16c8435/scratchpad/img/cassatt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9931" y="3904488"/>
            <a:ext cx="1072088" cy="163677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3495294" y="3776472"/>
            <a:ext cx="2526030" cy="1892808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17" name="Image 5" descr="/private/tmp/claude-501/-Users-dogan-Documents-Vaults-Courses/1131873b-e36e-44c1-91c0-268fb16c8435/scratchpad/img/utamaro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9989" y="3904488"/>
            <a:ext cx="1096640" cy="1636776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6167628" y="3776472"/>
            <a:ext cx="2526030" cy="1892808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19" name="Image 6" descr="/private/tmp/claude-501/-Users-dogan-Documents-Vaults-Courses/1131873b-e36e-44c1-91c0-268fb16c8435/scratchpad/img/le-gray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8024" y="3904488"/>
            <a:ext cx="2005239" cy="1636776"/>
          </a:xfrm>
          <a:prstGeom prst="rect">
            <a:avLst/>
          </a:prstGeom>
        </p:spPr>
      </p:pic>
      <p:sp>
        <p:nvSpPr>
          <p:cNvPr id="20" name="Shape 11"/>
          <p:cNvSpPr/>
          <p:nvPr/>
        </p:nvSpPr>
        <p:spPr>
          <a:xfrm>
            <a:off x="8839962" y="3776472"/>
            <a:ext cx="2526030" cy="1892808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21" name="Image 7" descr="/private/tmp/claude-501/-Users-dogan-Documents-Vaults-Courses/1131873b-e36e-44c1-91c0-268fb16c8435/scratchpad/img/fountain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76399" y="3904488"/>
            <a:ext cx="1253157" cy="1636776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822960" y="585216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Origins, narrative, the table, mediation, and the readymade. The retrospective asks what one argument runs through all of them.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10424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only see what we look at.</a:t>
            </a:r>
            <a:endParaRPr lang="en-US" sz="48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4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look is an act of choice.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822960" y="470916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892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Berger, Ways of Seeing, 1972 · and the retrospective is all choice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ONE · INVENTORY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ARRANGING YET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801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 before you build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743200"/>
            <a:ext cx="9692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you made this term goes on the wall, and for thirty-five minutes you only look. No arranging, no grouping, no deciding. Once you begin arranging you stop seeing, and the retrospective is made of seeing.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SEMESTER 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TWO · THE BREAK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DEFENDED, NOT CONCEDED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works, and why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the holiday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38328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chose three works that changed how you see, with reasons. Now say them out loud to someone who chose three others.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309360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309360" y="26974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Hold the line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6309360" y="324612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8328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will not just agree, and you must not just fold. A reason you cannot defend to a person who saw differently was never really a reason. Find the one that holds.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SEMESTER 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· END OF TERM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TWENTY PER CENT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semester of looking, as one layout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Sits Thursday 7 January, in class, 40 minutes.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822960" y="278892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97180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one constellation from the whole term that makes a single argument, with the argument in the layout, before a word of explanation. Announced Wednesday 23 December; the criteria came with it. This is the End of Term, and there is no exam the following week.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50292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 in class rather than in the exam window, on the teacher's stated decision. An open item: confirm with department.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SEMESTER 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RUNS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LAST WEEK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week, day by day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10543032" cy="0"/>
          </a:xfrm>
          <a:prstGeom prst="line">
            <a:avLst/>
          </a:prstGeom>
          <a:noFill/>
          <a:ln w="12700">
            <a:solidFill>
              <a:srgbClr val="2431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8600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 4 JAN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228600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Inventory: everything on the wall, no arranging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2944368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94436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 5 JAN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294436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Defend the three break works to someone who differs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3602736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0273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 6 JAN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3602736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Constellation workshop: test it while it can change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22960" y="426110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261104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 7 JAN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4261104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retrospective sits (End of Term, 20%)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22960" y="491947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91947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 8 JAN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4919472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the room; name the Semester 2 question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822960" y="5577840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SEMESTER 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2514600"/>
            <a:ext cx="310896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6517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Return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15. Work returned, and the trailer for Semester 2.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6E8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E8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SEMESTER 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2026-07-25T02:04:26Z</dcterms:created>
  <dcterms:modified xsi:type="dcterms:W3CDTF">2026-07-25T02:04:26Z</dcterms:modified>
</cp:coreProperties>
</file>