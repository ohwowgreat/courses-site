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Ukiyo-e first, so Benjamin arrives as a description of something already seen. Then Steyerl, who is the one they will actually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print is already many, which makes Benjamin arrive as a description rather than as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print is many, not one; the market that made them. There is no unique original to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session all term where they make something worse on purpose. The fifteen minutes of writing is the graded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7955280" y="822960"/>
            <a:ext cx="3474720" cy="4937760"/>
          </a:xfrm>
          <a:prstGeom prst="rect">
            <a:avLst/>
          </a:prstGeom>
          <a:noFill/>
          <a:ln/>
        </p:spPr>
        <p:txBody>
          <a:bodyPr wrap="square" lIns="0" tIns="0" rIns="0" bIns="0" rtlCol="0" anchor="ctr"/>
          <a:lstStyle/>
          <a:p>
            <a:pPr algn="ctr" indent="0" marL="0">
              <a:buNone/>
            </a:pPr>
            <a:r>
              <a:rPr lang="en-US" sz="30000" dirty="0">
                <a:solidFill>
                  <a:srgbClr val="A3C1AD"/>
                </a:solidFill>
                <a:latin typeface="Georgia" pitchFamily="34" charset="0"/>
                <a:ea typeface="Georgia" pitchFamily="34" charset="-122"/>
                <a:cs typeface="Georgia" pitchFamily="34" charset="-120"/>
              </a:rPr>
              <a:t>XI</a:t>
            </a:r>
            <a:endParaRPr lang="en-US" sz="30000" dirty="0"/>
          </a:p>
        </p:txBody>
      </p:sp>
      <p:sp>
        <p:nvSpPr>
          <p:cNvPr id="3" name="Text 1"/>
          <p:cNvSpPr/>
          <p:nvPr/>
        </p:nvSpPr>
        <p:spPr>
          <a:xfrm>
            <a:off x="822960" y="1234440"/>
            <a:ext cx="73152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ART APPRECIATION · UNIT IV</a:t>
            </a:r>
            <a:endParaRPr lang="en-US" sz="1100" dirty="0"/>
          </a:p>
        </p:txBody>
      </p:sp>
      <p:sp>
        <p:nvSpPr>
          <p:cNvPr id="4" name="Text 2"/>
          <p:cNvSpPr/>
          <p:nvPr/>
        </p:nvSpPr>
        <p:spPr>
          <a:xfrm>
            <a:off x="822960" y="1737360"/>
            <a:ext cx="7498080" cy="2377440"/>
          </a:xfrm>
          <a:prstGeom prst="rect">
            <a:avLst/>
          </a:prstGeom>
          <a:noFill/>
          <a:ln/>
        </p:spPr>
        <p:txBody>
          <a:bodyPr wrap="square" lIns="0" tIns="0" rIns="0" bIns="0" rtlCol="0" anchor="t"/>
          <a:lstStyle/>
          <a:p>
            <a:pPr indent="0" marL="0">
              <a:lnSpc>
                <a:spcPts val="6600"/>
              </a:lnSpc>
              <a:buNone/>
            </a:pPr>
            <a:r>
              <a:rPr lang="en-US" sz="6600" dirty="0">
                <a:solidFill>
                  <a:srgbClr val="24313F"/>
                </a:solidFill>
                <a:latin typeface="Georgia" pitchFamily="34" charset="0"/>
                <a:ea typeface="Georgia" pitchFamily="34" charset="-122"/>
                <a:cs typeface="Georgia" pitchFamily="34" charset="-120"/>
              </a:rPr>
              <a:t>Aura and the</a:t>
            </a:r>
            <a:endParaRPr lang="en-US" sz="6600" dirty="0"/>
          </a:p>
          <a:p>
            <a:pPr indent="0" marL="0">
              <a:lnSpc>
                <a:spcPts val="6600"/>
              </a:lnSpc>
              <a:buNone/>
            </a:pPr>
            <a:r>
              <a:rPr lang="en-US" sz="6600" dirty="0">
                <a:solidFill>
                  <a:srgbClr val="24313F"/>
                </a:solidFill>
                <a:latin typeface="Georgia" pitchFamily="34" charset="0"/>
                <a:ea typeface="Georgia" pitchFamily="34" charset="-122"/>
                <a:cs typeface="Georgia" pitchFamily="34" charset="-120"/>
              </a:rPr>
              <a:t>Poor Image</a:t>
            </a:r>
            <a:endParaRPr lang="en-US" sz="6600" dirty="0"/>
          </a:p>
        </p:txBody>
      </p:sp>
      <p:sp>
        <p:nvSpPr>
          <p:cNvPr id="5" name="Shape 3"/>
          <p:cNvSpPr/>
          <p:nvPr/>
        </p:nvSpPr>
        <p:spPr>
          <a:xfrm>
            <a:off x="822960" y="4343400"/>
            <a:ext cx="914400" cy="0"/>
          </a:xfrm>
          <a:prstGeom prst="line">
            <a:avLst/>
          </a:prstGeom>
          <a:noFill/>
          <a:ln w="31750">
            <a:solidFill>
              <a:srgbClr val="8C3A38"/>
            </a:solidFill>
            <a:prstDash val="solid"/>
          </a:ln>
        </p:spPr>
      </p:sp>
      <p:sp>
        <p:nvSpPr>
          <p:cNvPr id="6" name="Text 4"/>
          <p:cNvSpPr/>
          <p:nvPr/>
        </p:nvSpPr>
        <p:spPr>
          <a:xfrm>
            <a:off x="822960" y="4526280"/>
            <a:ext cx="7315200" cy="457200"/>
          </a:xfrm>
          <a:prstGeom prst="rect">
            <a:avLst/>
          </a:prstGeom>
          <a:noFill/>
          <a:ln/>
        </p:spPr>
        <p:txBody>
          <a:bodyPr wrap="square" lIns="0" tIns="0" rIns="0" bIns="0" rtlCol="0" anchor="ctr"/>
          <a:lstStyle/>
          <a:p>
            <a:pPr indent="0" marL="0">
              <a:buNone/>
            </a:pPr>
            <a:r>
              <a:rPr lang="en-US" sz="2200" i="1" dirty="0">
                <a:solidFill>
                  <a:srgbClr val="7A7F72"/>
                </a:solidFill>
                <a:latin typeface="Georgia" pitchFamily="34" charset="0"/>
                <a:ea typeface="Georgia" pitchFamily="34" charset="-122"/>
                <a:cs typeface="Georgia" pitchFamily="34" charset="-120"/>
              </a:rPr>
              <a:t>Images, Mediation and Modernity · Lesson 11</a:t>
            </a:r>
            <a:endParaRPr lang="en-US" sz="2200" dirty="0"/>
          </a:p>
        </p:txBody>
      </p:sp>
      <p:sp>
        <p:nvSpPr>
          <p:cNvPr id="7" name="Text 5"/>
          <p:cNvSpPr/>
          <p:nvPr/>
        </p:nvSpPr>
        <p:spPr>
          <a:xfrm>
            <a:off x="822960" y="5029200"/>
            <a:ext cx="9144000" cy="365760"/>
          </a:xfrm>
          <a:prstGeom prst="rect">
            <a:avLst/>
          </a:prstGeom>
          <a:noFill/>
          <a:ln/>
        </p:spPr>
        <p:txBody>
          <a:bodyPr wrap="square" lIns="0" tIns="0" rIns="0" bIns="0" rtlCol="0" anchor="ctr"/>
          <a:lstStyle/>
          <a:p>
            <a:pPr indent="0" marL="0">
              <a:buNone/>
            </a:pPr>
            <a:r>
              <a:rPr lang="en-US" sz="1300" spc="100" kern="0" dirty="0">
                <a:solidFill>
                  <a:srgbClr val="7A7F72"/>
                </a:solidFill>
                <a:latin typeface="Arial" pitchFamily="34" charset="0"/>
                <a:ea typeface="Arial" pitchFamily="34" charset="-122"/>
                <a:cs typeface="Arial" pitchFamily="34" charset="-120"/>
              </a:rPr>
              <a:t>Four sessions  ·  Monday 7 to Thursday 10 December  ·  the tightest lesson of the term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7772400" y="640080"/>
            <a:ext cx="3840480" cy="5577840"/>
          </a:xfrm>
          <a:prstGeom prst="rect">
            <a:avLst/>
          </a:prstGeom>
          <a:noFill/>
          <a:ln/>
        </p:spPr>
        <p:txBody>
          <a:bodyPr wrap="square" lIns="0" tIns="0" rIns="0" bIns="0" rtlCol="0" anchor="ctr"/>
          <a:lstStyle/>
          <a:p>
            <a:pPr algn="ctr" indent="0" marL="0">
              <a:buNone/>
            </a:pPr>
            <a:r>
              <a:rPr lang="en-US" sz="34000" dirty="0">
                <a:solidFill>
                  <a:srgbClr val="5C7A6B"/>
                </a:solidFill>
                <a:latin typeface="Georgia" pitchFamily="34" charset="0"/>
                <a:ea typeface="Georgia" pitchFamily="34" charset="-122"/>
                <a:cs typeface="Georgia" pitchFamily="34" charset="-120"/>
              </a:rPr>
              <a:t>XI</a:t>
            </a:r>
            <a:endParaRPr lang="en-US" sz="34000" dirty="0"/>
          </a:p>
        </p:txBody>
      </p:sp>
      <p:sp>
        <p:nvSpPr>
          <p:cNvPr id="3" name="Text 1"/>
          <p:cNvSpPr/>
          <p:nvPr/>
        </p:nvSpPr>
        <p:spPr>
          <a:xfrm>
            <a:off x="822960" y="2286000"/>
            <a:ext cx="73152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DAY ONE</a:t>
            </a:r>
            <a:endParaRPr lang="en-US" sz="1100" dirty="0"/>
          </a:p>
        </p:txBody>
      </p:sp>
      <p:sp>
        <p:nvSpPr>
          <p:cNvPr id="4" name="Shape 2"/>
          <p:cNvSpPr/>
          <p:nvPr/>
        </p:nvSpPr>
        <p:spPr>
          <a:xfrm>
            <a:off x="822960" y="2651760"/>
            <a:ext cx="3840480" cy="0"/>
          </a:xfrm>
          <a:prstGeom prst="line">
            <a:avLst/>
          </a:prstGeom>
          <a:noFill/>
          <a:ln w="9525">
            <a:solidFill>
              <a:srgbClr val="8AA394"/>
            </a:solidFill>
            <a:prstDash val="solid"/>
          </a:ln>
        </p:spPr>
      </p:sp>
      <p:sp>
        <p:nvSpPr>
          <p:cNvPr id="5" name="Text 3"/>
          <p:cNvSpPr/>
          <p:nvPr/>
        </p:nvSpPr>
        <p:spPr>
          <a:xfrm>
            <a:off x="822960" y="2788920"/>
            <a:ext cx="7315200" cy="2194560"/>
          </a:xfrm>
          <a:prstGeom prst="rect">
            <a:avLst/>
          </a:prstGeom>
          <a:noFill/>
          <a:ln/>
        </p:spPr>
        <p:txBody>
          <a:bodyPr wrap="square" lIns="0" tIns="0" rIns="0" bIns="0" rtlCol="0" anchor="t"/>
          <a:lstStyle/>
          <a:p>
            <a:pPr indent="0" marL="0">
              <a:lnSpc>
                <a:spcPts val="6200"/>
              </a:lnSpc>
              <a:buNone/>
            </a:pPr>
            <a:r>
              <a:rPr lang="en-US" sz="6000" dirty="0">
                <a:solidFill>
                  <a:srgbClr val="FAF8F1"/>
                </a:solidFill>
                <a:latin typeface="Georgia" pitchFamily="34" charset="0"/>
                <a:ea typeface="Georgia" pitchFamily="34" charset="-122"/>
                <a:cs typeface="Georgia" pitchFamily="34" charset="-120"/>
              </a:rPr>
              <a:t>A print is many,</a:t>
            </a:r>
            <a:endParaRPr lang="en-US" sz="6000" dirty="0"/>
          </a:p>
          <a:p>
            <a:pPr indent="0" marL="0">
              <a:lnSpc>
                <a:spcPts val="6200"/>
              </a:lnSpc>
              <a:buNone/>
            </a:pPr>
            <a:r>
              <a:rPr lang="en-US" sz="6000" dirty="0">
                <a:solidFill>
                  <a:srgbClr val="FAF8F1"/>
                </a:solidFill>
                <a:latin typeface="Georgia" pitchFamily="34" charset="0"/>
                <a:ea typeface="Georgia" pitchFamily="34" charset="-122"/>
                <a:cs typeface="Georgia" pitchFamily="34" charset="-120"/>
              </a:rPr>
              <a:t>not one.</a:t>
            </a:r>
            <a:endParaRPr lang="en-US" sz="6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ivate/tmp/claude-501/-Users-dogan-Documents-Vaults-Courses/1131873b-e36e-44c1-91c0-268fb16c8435/scratchpad/img/crops/kawase_a1777.jp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502920" y="502920"/>
            <a:ext cx="5120640" cy="502920"/>
          </a:xfrm>
          <a:prstGeom prst="rect">
            <a:avLst/>
          </a:prstGeom>
          <a:solidFill>
            <a:srgbClr val="FAF8F1"/>
          </a:solidFill>
          <a:ln/>
        </p:spPr>
      </p:sp>
      <p:sp>
        <p:nvSpPr>
          <p:cNvPr id="4" name="Text 1"/>
          <p:cNvSpPr/>
          <p:nvPr/>
        </p:nvSpPr>
        <p:spPr>
          <a:xfrm>
            <a:off x="704088" y="521208"/>
            <a:ext cx="484632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PRINT, MADE FOR A MARKET</a:t>
            </a:r>
            <a:endParaRPr lang="en-US" sz="1100" dirty="0"/>
          </a:p>
        </p:txBody>
      </p:sp>
      <p:sp>
        <p:nvSpPr>
          <p:cNvPr id="5" name="Shape 2"/>
          <p:cNvSpPr/>
          <p:nvPr/>
        </p:nvSpPr>
        <p:spPr>
          <a:xfrm>
            <a:off x="502920" y="5486400"/>
            <a:ext cx="7315200" cy="932688"/>
          </a:xfrm>
          <a:prstGeom prst="rect">
            <a:avLst/>
          </a:prstGeom>
          <a:solidFill>
            <a:srgbClr val="FAF8F1"/>
          </a:solidFill>
          <a:ln/>
        </p:spPr>
      </p:sp>
      <p:sp>
        <p:nvSpPr>
          <p:cNvPr id="6" name="Shape 3"/>
          <p:cNvSpPr/>
          <p:nvPr/>
        </p:nvSpPr>
        <p:spPr>
          <a:xfrm>
            <a:off x="704088" y="5669280"/>
            <a:ext cx="731520" cy="0"/>
          </a:xfrm>
          <a:prstGeom prst="line">
            <a:avLst/>
          </a:prstGeom>
          <a:noFill/>
          <a:ln w="28575">
            <a:solidFill>
              <a:srgbClr val="8C3A38"/>
            </a:solidFill>
            <a:prstDash val="solid"/>
          </a:ln>
        </p:spPr>
      </p:sp>
      <p:sp>
        <p:nvSpPr>
          <p:cNvPr id="7" name="Text 4"/>
          <p:cNvSpPr/>
          <p:nvPr/>
        </p:nvSpPr>
        <p:spPr>
          <a:xfrm>
            <a:off x="704088" y="5724144"/>
            <a:ext cx="6912864" cy="457200"/>
          </a:xfrm>
          <a:prstGeom prst="rect">
            <a:avLst/>
          </a:prstGeom>
          <a:noFill/>
          <a:ln/>
        </p:spPr>
        <p:txBody>
          <a:bodyPr wrap="square" lIns="0" tIns="0" rIns="0" bIns="0" rtlCol="0" anchor="ctr"/>
          <a:lstStyle/>
          <a:p>
            <a:pPr indent="0" marL="0">
              <a:buNone/>
            </a:pPr>
            <a:r>
              <a:rPr lang="en-US" sz="2000" dirty="0">
                <a:solidFill>
                  <a:srgbClr val="24313F"/>
                </a:solidFill>
                <a:latin typeface="Georgia" pitchFamily="34" charset="0"/>
                <a:ea typeface="Georgia" pitchFamily="34" charset="-122"/>
                <a:cs typeface="Georgia" pitchFamily="34" charset="-120"/>
              </a:rPr>
              <a:t>No original hides behind these. The block is the maker; every good impression is the work.</a:t>
            </a:r>
            <a:endParaRPr lang="en-US" sz="2000" dirty="0"/>
          </a:p>
        </p:txBody>
      </p:sp>
      <p:sp>
        <p:nvSpPr>
          <p:cNvPr id="8" name="Text 5"/>
          <p:cNvSpPr/>
          <p:nvPr/>
        </p:nvSpPr>
        <p:spPr>
          <a:xfrm>
            <a:off x="704088" y="6144768"/>
            <a:ext cx="6912864" cy="256032"/>
          </a:xfrm>
          <a:prstGeom prst="rect">
            <a:avLst/>
          </a:prstGeom>
          <a:no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Hasui Kawase, Zojo-ji Temple in Shiba, 1925, woodblock print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1691640"/>
            <a:ext cx="10424160" cy="3291840"/>
          </a:xfrm>
          <a:prstGeom prst="rect">
            <a:avLst/>
          </a:prstGeom>
          <a:noFill/>
          <a:ln/>
        </p:spPr>
        <p:txBody>
          <a:bodyPr wrap="square" lIns="0" tIns="0" rIns="0" bIns="0" rtlCol="0" anchor="ctr"/>
          <a:lstStyle/>
          <a:p>
            <a:pPr indent="0" marL="0">
              <a:lnSpc>
                <a:spcPts val="5200"/>
              </a:lnSpc>
              <a:buNone/>
            </a:pPr>
            <a:r>
              <a:rPr lang="en-US" sz="4400" dirty="0">
                <a:solidFill>
                  <a:srgbClr val="24313F"/>
                </a:solidFill>
                <a:latin typeface="Georgia" pitchFamily="34" charset="0"/>
                <a:ea typeface="Georgia" pitchFamily="34" charset="-122"/>
                <a:cs typeface="Georgia" pitchFamily="34" charset="-120"/>
              </a:rPr>
              <a:t>That which withers in the age of mechanical reproduction is the aura of the work of art.</a:t>
            </a:r>
            <a:endParaRPr lang="en-US" sz="4400" dirty="0"/>
          </a:p>
        </p:txBody>
      </p:sp>
      <p:sp>
        <p:nvSpPr>
          <p:cNvPr id="4" name="Shape 2"/>
          <p:cNvSpPr/>
          <p:nvPr/>
        </p:nvSpPr>
        <p:spPr>
          <a:xfrm>
            <a:off x="822960" y="4937760"/>
            <a:ext cx="914400" cy="0"/>
          </a:xfrm>
          <a:prstGeom prst="line">
            <a:avLst/>
          </a:prstGeom>
          <a:noFill/>
          <a:ln w="31750">
            <a:solidFill>
              <a:srgbClr val="8C3A38"/>
            </a:solidFill>
            <a:prstDash val="solid"/>
          </a:ln>
        </p:spPr>
      </p:sp>
      <p:sp>
        <p:nvSpPr>
          <p:cNvPr id="5" name="Text 3"/>
          <p:cNvSpPr/>
          <p:nvPr/>
        </p:nvSpPr>
        <p:spPr>
          <a:xfrm>
            <a:off x="822960" y="5120640"/>
            <a:ext cx="1005840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Walter Benjamin, The Work of Art in the Age of Mechanical Reproduction, 1935</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DAY TWO · BENJAMIN</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AURA, DEFINED TO ARGUE WITH</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4000" dirty="0">
                <a:solidFill>
                  <a:srgbClr val="24313F"/>
                </a:solidFill>
                <a:latin typeface="Georgia" pitchFamily="34" charset="0"/>
                <a:ea typeface="Georgia" pitchFamily="34" charset="-122"/>
                <a:cs typeface="Georgia" pitchFamily="34" charset="-120"/>
              </a:rPr>
              <a:t>What exactly withers?</a:t>
            </a:r>
            <a:endParaRPr lang="en-US" sz="4000" dirty="0"/>
          </a:p>
        </p:txBody>
      </p:sp>
      <p:sp>
        <p:nvSpPr>
          <p:cNvPr id="6" name="Text 4"/>
          <p:cNvSpPr/>
          <p:nvPr/>
        </p:nvSpPr>
        <p:spPr>
          <a:xfrm>
            <a:off x="822960" y="2011680"/>
            <a:ext cx="914400" cy="640080"/>
          </a:xfrm>
          <a:prstGeom prst="rect">
            <a:avLst/>
          </a:prstGeom>
          <a:noFill/>
          <a:ln/>
        </p:spPr>
        <p:txBody>
          <a:bodyPr wrap="square" lIns="0" tIns="0" rIns="0" bIns="0" rtlCol="0" anchor="ctr"/>
          <a:lstStyle/>
          <a:p>
            <a:pPr indent="0" marL="0">
              <a:buNone/>
            </a:pPr>
            <a:r>
              <a:rPr lang="en-US" sz="3400" dirty="0">
                <a:solidFill>
                  <a:srgbClr val="A3C1AD"/>
                </a:solidFill>
                <a:latin typeface="Georgia" pitchFamily="34" charset="0"/>
                <a:ea typeface="Georgia" pitchFamily="34" charset="-122"/>
                <a:cs typeface="Georgia" pitchFamily="34" charset="-120"/>
              </a:rPr>
              <a:t>01</a:t>
            </a:r>
            <a:endParaRPr lang="en-US" sz="3400" dirty="0"/>
          </a:p>
        </p:txBody>
      </p:sp>
      <p:sp>
        <p:nvSpPr>
          <p:cNvPr id="7" name="Text 5"/>
          <p:cNvSpPr/>
          <p:nvPr/>
        </p:nvSpPr>
        <p:spPr>
          <a:xfrm>
            <a:off x="822960" y="2697480"/>
            <a:ext cx="4754880" cy="502920"/>
          </a:xfrm>
          <a:prstGeom prst="rect">
            <a:avLst/>
          </a:prstGeom>
          <a:noFill/>
          <a:ln/>
        </p:spPr>
        <p:txBody>
          <a:bodyPr wrap="square" lIns="0" tIns="0" rIns="0" bIns="0" rtlCol="0" anchor="ctr"/>
          <a:lstStyle/>
          <a:p>
            <a:pPr indent="0" marL="0">
              <a:buNone/>
            </a:pPr>
            <a:r>
              <a:rPr lang="en-US" sz="2300" dirty="0">
                <a:solidFill>
                  <a:srgbClr val="7A7F72"/>
                </a:solidFill>
                <a:latin typeface="Georgia" pitchFamily="34" charset="0"/>
                <a:ea typeface="Georgia" pitchFamily="34" charset="-122"/>
                <a:cs typeface="Georgia" pitchFamily="34" charset="-120"/>
              </a:rPr>
              <a:t>The aura</a:t>
            </a:r>
            <a:endParaRPr lang="en-US" sz="2300" dirty="0"/>
          </a:p>
        </p:txBody>
      </p:sp>
      <p:sp>
        <p:nvSpPr>
          <p:cNvPr id="8" name="Shape 6"/>
          <p:cNvSpPr/>
          <p:nvPr/>
        </p:nvSpPr>
        <p:spPr>
          <a:xfrm>
            <a:off x="822960" y="3246120"/>
            <a:ext cx="4754880" cy="0"/>
          </a:xfrm>
          <a:prstGeom prst="line">
            <a:avLst/>
          </a:prstGeom>
          <a:noFill/>
          <a:ln w="9525">
            <a:solidFill>
              <a:srgbClr val="D9D4C4"/>
            </a:solidFill>
            <a:prstDash val="solid"/>
          </a:ln>
        </p:spPr>
      </p:sp>
      <p:sp>
        <p:nvSpPr>
          <p:cNvPr id="9" name="Text 7"/>
          <p:cNvSpPr/>
          <p:nvPr/>
        </p:nvSpPr>
        <p:spPr>
          <a:xfrm>
            <a:off x="822960" y="3383280"/>
            <a:ext cx="4754880" cy="2194560"/>
          </a:xfrm>
          <a:prstGeom prst="rect">
            <a:avLst/>
          </a:prstGeom>
          <a:noFill/>
          <a:ln/>
        </p:spPr>
        <p:txBody>
          <a:bodyPr wrap="square" lIns="0" tIns="0" rIns="0" bIns="0" rtlCol="0" anchor="t"/>
          <a:lstStyle/>
          <a:p>
            <a:pPr indent="0" marL="0">
              <a:lnSpc>
                <a:spcPts val="2400"/>
              </a:lnSpc>
              <a:buNone/>
            </a:pPr>
            <a:r>
              <a:rPr lang="en-US" sz="1700" dirty="0">
                <a:solidFill>
                  <a:srgbClr val="24313F"/>
                </a:solidFill>
                <a:latin typeface="Georgia" pitchFamily="34" charset="0"/>
                <a:ea typeface="Georgia" pitchFamily="34" charset="-122"/>
                <a:cs typeface="Georgia" pitchFamily="34" charset="-120"/>
              </a:rPr>
              <a:t>The here and now of the original: this canvas, in this room, with this history, that you had to travel to and stand before. Its presence cannot be copied.</a:t>
            </a:r>
            <a:endParaRPr lang="en-US" sz="1700" dirty="0"/>
          </a:p>
        </p:txBody>
      </p:sp>
      <p:sp>
        <p:nvSpPr>
          <p:cNvPr id="10" name="Text 8"/>
          <p:cNvSpPr/>
          <p:nvPr/>
        </p:nvSpPr>
        <p:spPr>
          <a:xfrm>
            <a:off x="6309360" y="2011680"/>
            <a:ext cx="914400" cy="640080"/>
          </a:xfrm>
          <a:prstGeom prst="rect">
            <a:avLst/>
          </a:prstGeom>
          <a:noFill/>
          <a:ln/>
        </p:spPr>
        <p:txBody>
          <a:bodyPr wrap="square" lIns="0" tIns="0" rIns="0" bIns="0" rtlCol="0" anchor="ctr"/>
          <a:lstStyle/>
          <a:p>
            <a:pPr indent="0" marL="0">
              <a:buNone/>
            </a:pPr>
            <a:r>
              <a:rPr lang="en-US" sz="3400" dirty="0">
                <a:solidFill>
                  <a:srgbClr val="A3C1AD"/>
                </a:solidFill>
                <a:latin typeface="Georgia" pitchFamily="34" charset="0"/>
                <a:ea typeface="Georgia" pitchFamily="34" charset="-122"/>
                <a:cs typeface="Georgia" pitchFamily="34" charset="-120"/>
              </a:rPr>
              <a:t>02</a:t>
            </a:r>
            <a:endParaRPr lang="en-US" sz="3400" dirty="0"/>
          </a:p>
        </p:txBody>
      </p:sp>
      <p:sp>
        <p:nvSpPr>
          <p:cNvPr id="11" name="Text 9"/>
          <p:cNvSpPr/>
          <p:nvPr/>
        </p:nvSpPr>
        <p:spPr>
          <a:xfrm>
            <a:off x="6309360" y="2697480"/>
            <a:ext cx="4754880" cy="502920"/>
          </a:xfrm>
          <a:prstGeom prst="rect">
            <a:avLst/>
          </a:prstGeom>
          <a:noFill/>
          <a:ln/>
        </p:spPr>
        <p:txBody>
          <a:bodyPr wrap="square" lIns="0" tIns="0" rIns="0" bIns="0" rtlCol="0" anchor="ctr"/>
          <a:lstStyle/>
          <a:p>
            <a:pPr indent="0" marL="0">
              <a:buNone/>
            </a:pPr>
            <a:r>
              <a:rPr lang="en-US" sz="2300" dirty="0">
                <a:solidFill>
                  <a:srgbClr val="4A6B5D"/>
                </a:solidFill>
                <a:latin typeface="Georgia" pitchFamily="34" charset="0"/>
                <a:ea typeface="Georgia" pitchFamily="34" charset="-122"/>
                <a:cs typeface="Georgia" pitchFamily="34" charset="-120"/>
              </a:rPr>
              <a:t>What reproduction takes</a:t>
            </a:r>
            <a:endParaRPr lang="en-US" sz="2300" dirty="0"/>
          </a:p>
        </p:txBody>
      </p:sp>
      <p:sp>
        <p:nvSpPr>
          <p:cNvPr id="12" name="Shape 10"/>
          <p:cNvSpPr/>
          <p:nvPr/>
        </p:nvSpPr>
        <p:spPr>
          <a:xfrm>
            <a:off x="6309360" y="3246120"/>
            <a:ext cx="4754880" cy="0"/>
          </a:xfrm>
          <a:prstGeom prst="line">
            <a:avLst/>
          </a:prstGeom>
          <a:noFill/>
          <a:ln w="9525">
            <a:solidFill>
              <a:srgbClr val="D9D4C4"/>
            </a:solidFill>
            <a:prstDash val="solid"/>
          </a:ln>
        </p:spPr>
      </p:sp>
      <p:sp>
        <p:nvSpPr>
          <p:cNvPr id="13" name="Text 11"/>
          <p:cNvSpPr/>
          <p:nvPr/>
        </p:nvSpPr>
        <p:spPr>
          <a:xfrm>
            <a:off x="6309360" y="3383280"/>
            <a:ext cx="4754880" cy="2194560"/>
          </a:xfrm>
          <a:prstGeom prst="rect">
            <a:avLst/>
          </a:prstGeom>
          <a:noFill/>
          <a:ln/>
        </p:spPr>
        <p:txBody>
          <a:bodyPr wrap="square" lIns="0" tIns="0" rIns="0" bIns="0" rtlCol="0" anchor="t"/>
          <a:lstStyle/>
          <a:p>
            <a:pPr indent="0" marL="0">
              <a:lnSpc>
                <a:spcPts val="2400"/>
              </a:lnSpc>
              <a:buNone/>
            </a:pPr>
            <a:r>
              <a:rPr lang="en-US" sz="1700" dirty="0">
                <a:solidFill>
                  <a:srgbClr val="24313F"/>
                </a:solidFill>
                <a:latin typeface="Georgia" pitchFamily="34" charset="0"/>
                <a:ea typeface="Georgia" pitchFamily="34" charset="-122"/>
                <a:cs typeface="Georgia" pitchFamily="34" charset="-120"/>
              </a:rPr>
              <a:t>The copy has no here and no now. It meets you anywhere, on any screen. What it gains in reach it loses in presence, and that lost presence is the aura.</a:t>
            </a:r>
            <a:endParaRPr lang="en-US" sz="1700" dirty="0"/>
          </a:p>
        </p:txBody>
      </p:sp>
      <p:sp>
        <p:nvSpPr>
          <p:cNvPr id="14" name="Shape 12"/>
          <p:cNvSpPr/>
          <p:nvPr/>
        </p:nvSpPr>
        <p:spPr>
          <a:xfrm>
            <a:off x="822960" y="6382512"/>
            <a:ext cx="10543032" cy="0"/>
          </a:xfrm>
          <a:prstGeom prst="line">
            <a:avLst/>
          </a:prstGeom>
          <a:noFill/>
          <a:ln w="9525">
            <a:solidFill>
              <a:srgbClr val="D9D4C4"/>
            </a:solidFill>
            <a:prstDash val="solid"/>
          </a:ln>
        </p:spPr>
      </p:sp>
      <p:sp>
        <p:nvSpPr>
          <p:cNvPr id="15" name="Text 13"/>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ART APPRECIATION · SEMESTER I</a:t>
            </a:r>
            <a:endParaRPr lang="en-US" sz="900" dirty="0"/>
          </a:p>
        </p:txBody>
      </p:sp>
      <p:sp>
        <p:nvSpPr>
          <p:cNvPr id="16" name="Text 14"/>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01</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DAY THREE · STEYERL</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THE ONE THEY WILL USE</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4000" dirty="0">
                <a:solidFill>
                  <a:srgbClr val="24313F"/>
                </a:solidFill>
                <a:latin typeface="Georgia" pitchFamily="34" charset="0"/>
                <a:ea typeface="Georgia" pitchFamily="34" charset="-122"/>
                <a:cs typeface="Georgia" pitchFamily="34" charset="-120"/>
              </a:rPr>
              <a:t>The poor image, defended</a:t>
            </a:r>
            <a:endParaRPr lang="en-US" sz="4000" dirty="0"/>
          </a:p>
        </p:txBody>
      </p:sp>
      <p:sp>
        <p:nvSpPr>
          <p:cNvPr id="6" name="Text 4"/>
          <p:cNvSpPr/>
          <p:nvPr/>
        </p:nvSpPr>
        <p:spPr>
          <a:xfrm>
            <a:off x="822960" y="2011680"/>
            <a:ext cx="914400" cy="640080"/>
          </a:xfrm>
          <a:prstGeom prst="rect">
            <a:avLst/>
          </a:prstGeom>
          <a:noFill/>
          <a:ln/>
        </p:spPr>
        <p:txBody>
          <a:bodyPr wrap="square" lIns="0" tIns="0" rIns="0" bIns="0" rtlCol="0" anchor="ctr"/>
          <a:lstStyle/>
          <a:p>
            <a:pPr indent="0" marL="0">
              <a:buNone/>
            </a:pPr>
            <a:r>
              <a:rPr lang="en-US" sz="3400" dirty="0">
                <a:solidFill>
                  <a:srgbClr val="A3C1AD"/>
                </a:solidFill>
                <a:latin typeface="Georgia" pitchFamily="34" charset="0"/>
                <a:ea typeface="Georgia" pitchFamily="34" charset="-122"/>
                <a:cs typeface="Georgia" pitchFamily="34" charset="-120"/>
              </a:rPr>
              <a:t>01</a:t>
            </a:r>
            <a:endParaRPr lang="en-US" sz="3400" dirty="0"/>
          </a:p>
        </p:txBody>
      </p:sp>
      <p:sp>
        <p:nvSpPr>
          <p:cNvPr id="7" name="Text 5"/>
          <p:cNvSpPr/>
          <p:nvPr/>
        </p:nvSpPr>
        <p:spPr>
          <a:xfrm>
            <a:off x="822960" y="2697480"/>
            <a:ext cx="4754880" cy="502920"/>
          </a:xfrm>
          <a:prstGeom prst="rect">
            <a:avLst/>
          </a:prstGeom>
          <a:noFill/>
          <a:ln/>
        </p:spPr>
        <p:txBody>
          <a:bodyPr wrap="square" lIns="0" tIns="0" rIns="0" bIns="0" rtlCol="0" anchor="ctr"/>
          <a:lstStyle/>
          <a:p>
            <a:pPr indent="0" marL="0">
              <a:buNone/>
            </a:pPr>
            <a:r>
              <a:rPr lang="en-US" sz="2300" dirty="0">
                <a:solidFill>
                  <a:srgbClr val="7A7F72"/>
                </a:solidFill>
                <a:latin typeface="Georgia" pitchFamily="34" charset="0"/>
                <a:ea typeface="Georgia" pitchFamily="34" charset="-122"/>
                <a:cs typeface="Georgia" pitchFamily="34" charset="-120"/>
              </a:rPr>
              <a:t>The loss</a:t>
            </a:r>
            <a:endParaRPr lang="en-US" sz="2300" dirty="0"/>
          </a:p>
        </p:txBody>
      </p:sp>
      <p:sp>
        <p:nvSpPr>
          <p:cNvPr id="8" name="Shape 6"/>
          <p:cNvSpPr/>
          <p:nvPr/>
        </p:nvSpPr>
        <p:spPr>
          <a:xfrm>
            <a:off x="822960" y="3246120"/>
            <a:ext cx="4754880" cy="0"/>
          </a:xfrm>
          <a:prstGeom prst="line">
            <a:avLst/>
          </a:prstGeom>
          <a:noFill/>
          <a:ln w="9525">
            <a:solidFill>
              <a:srgbClr val="D9D4C4"/>
            </a:solidFill>
            <a:prstDash val="solid"/>
          </a:ln>
        </p:spPr>
      </p:sp>
      <p:sp>
        <p:nvSpPr>
          <p:cNvPr id="9" name="Text 7"/>
          <p:cNvSpPr/>
          <p:nvPr/>
        </p:nvSpPr>
        <p:spPr>
          <a:xfrm>
            <a:off x="822960" y="3383280"/>
            <a:ext cx="4754880" cy="2194560"/>
          </a:xfrm>
          <a:prstGeom prst="rect">
            <a:avLst/>
          </a:prstGeom>
          <a:noFill/>
          <a:ln/>
        </p:spPr>
        <p:txBody>
          <a:bodyPr wrap="square" lIns="0" tIns="0" rIns="0" bIns="0" rtlCol="0" anchor="t"/>
          <a:lstStyle/>
          <a:p>
            <a:pPr indent="0" marL="0">
              <a:lnSpc>
                <a:spcPts val="2400"/>
              </a:lnSpc>
              <a:buNone/>
            </a:pPr>
            <a:r>
              <a:rPr lang="en-US" sz="1700" dirty="0">
                <a:solidFill>
                  <a:srgbClr val="24313F"/>
                </a:solidFill>
                <a:latin typeface="Georgia" pitchFamily="34" charset="0"/>
                <a:ea typeface="Georgia" pitchFamily="34" charset="-122"/>
                <a:cs typeface="Georgia" pitchFamily="34" charset="-120"/>
              </a:rPr>
              <a:t>Blurred, compressed, wrong colour, watermarked, ripped from somewhere else. By every standard of quality it is a failure.</a:t>
            </a:r>
            <a:endParaRPr lang="en-US" sz="1700" dirty="0"/>
          </a:p>
        </p:txBody>
      </p:sp>
      <p:sp>
        <p:nvSpPr>
          <p:cNvPr id="10" name="Text 8"/>
          <p:cNvSpPr/>
          <p:nvPr/>
        </p:nvSpPr>
        <p:spPr>
          <a:xfrm>
            <a:off x="6309360" y="2011680"/>
            <a:ext cx="914400" cy="640080"/>
          </a:xfrm>
          <a:prstGeom prst="rect">
            <a:avLst/>
          </a:prstGeom>
          <a:noFill/>
          <a:ln/>
        </p:spPr>
        <p:txBody>
          <a:bodyPr wrap="square" lIns="0" tIns="0" rIns="0" bIns="0" rtlCol="0" anchor="ctr"/>
          <a:lstStyle/>
          <a:p>
            <a:pPr indent="0" marL="0">
              <a:buNone/>
            </a:pPr>
            <a:r>
              <a:rPr lang="en-US" sz="3400" dirty="0">
                <a:solidFill>
                  <a:srgbClr val="A3C1AD"/>
                </a:solidFill>
                <a:latin typeface="Georgia" pitchFamily="34" charset="0"/>
                <a:ea typeface="Georgia" pitchFamily="34" charset="-122"/>
                <a:cs typeface="Georgia" pitchFamily="34" charset="-120"/>
              </a:rPr>
              <a:t>02</a:t>
            </a:r>
            <a:endParaRPr lang="en-US" sz="3400" dirty="0"/>
          </a:p>
        </p:txBody>
      </p:sp>
      <p:sp>
        <p:nvSpPr>
          <p:cNvPr id="11" name="Text 9"/>
          <p:cNvSpPr/>
          <p:nvPr/>
        </p:nvSpPr>
        <p:spPr>
          <a:xfrm>
            <a:off x="6309360" y="2697480"/>
            <a:ext cx="4754880" cy="502920"/>
          </a:xfrm>
          <a:prstGeom prst="rect">
            <a:avLst/>
          </a:prstGeom>
          <a:noFill/>
          <a:ln/>
        </p:spPr>
        <p:txBody>
          <a:bodyPr wrap="square" lIns="0" tIns="0" rIns="0" bIns="0" rtlCol="0" anchor="ctr"/>
          <a:lstStyle/>
          <a:p>
            <a:pPr indent="0" marL="0">
              <a:buNone/>
            </a:pPr>
            <a:r>
              <a:rPr lang="en-US" sz="2300" dirty="0">
                <a:solidFill>
                  <a:srgbClr val="4A6B5D"/>
                </a:solidFill>
                <a:latin typeface="Georgia" pitchFamily="34" charset="0"/>
                <a:ea typeface="Georgia" pitchFamily="34" charset="-122"/>
                <a:cs typeface="Georgia" pitchFamily="34" charset="-120"/>
              </a:rPr>
              <a:t>What circulation gives</a:t>
            </a:r>
            <a:endParaRPr lang="en-US" sz="2300" dirty="0"/>
          </a:p>
        </p:txBody>
      </p:sp>
      <p:sp>
        <p:nvSpPr>
          <p:cNvPr id="12" name="Shape 10"/>
          <p:cNvSpPr/>
          <p:nvPr/>
        </p:nvSpPr>
        <p:spPr>
          <a:xfrm>
            <a:off x="6309360" y="3246120"/>
            <a:ext cx="4754880" cy="0"/>
          </a:xfrm>
          <a:prstGeom prst="line">
            <a:avLst/>
          </a:prstGeom>
          <a:noFill/>
          <a:ln w="9525">
            <a:solidFill>
              <a:srgbClr val="D9D4C4"/>
            </a:solidFill>
            <a:prstDash val="solid"/>
          </a:ln>
        </p:spPr>
      </p:sp>
      <p:sp>
        <p:nvSpPr>
          <p:cNvPr id="13" name="Text 11"/>
          <p:cNvSpPr/>
          <p:nvPr/>
        </p:nvSpPr>
        <p:spPr>
          <a:xfrm>
            <a:off x="6309360" y="3383280"/>
            <a:ext cx="4754880" cy="2194560"/>
          </a:xfrm>
          <a:prstGeom prst="rect">
            <a:avLst/>
          </a:prstGeom>
          <a:noFill/>
          <a:ln/>
        </p:spPr>
        <p:txBody>
          <a:bodyPr wrap="square" lIns="0" tIns="0" rIns="0" bIns="0" rtlCol="0" anchor="t"/>
          <a:lstStyle/>
          <a:p>
            <a:pPr indent="0" marL="0">
              <a:lnSpc>
                <a:spcPts val="2400"/>
              </a:lnSpc>
              <a:buNone/>
            </a:pPr>
            <a:r>
              <a:rPr lang="en-US" sz="1700" dirty="0">
                <a:solidFill>
                  <a:srgbClr val="24313F"/>
                </a:solidFill>
                <a:latin typeface="Georgia" pitchFamily="34" charset="0"/>
                <a:ea typeface="Georgia" pitchFamily="34" charset="-122"/>
                <a:cs typeface="Georgia" pitchFamily="34" charset="-120"/>
              </a:rPr>
              <a:t>But it moves. It is shared, remixed, seen by millions the pristine file never reaches. The poor image trades resolution for a life. Ask what that life is worth.</a:t>
            </a:r>
            <a:endParaRPr lang="en-US" sz="1700" dirty="0"/>
          </a:p>
        </p:txBody>
      </p:sp>
      <p:sp>
        <p:nvSpPr>
          <p:cNvPr id="14" name="Shape 12"/>
          <p:cNvSpPr/>
          <p:nvPr/>
        </p:nvSpPr>
        <p:spPr>
          <a:xfrm>
            <a:off x="822960" y="6382512"/>
            <a:ext cx="10543032" cy="0"/>
          </a:xfrm>
          <a:prstGeom prst="line">
            <a:avLst/>
          </a:prstGeom>
          <a:noFill/>
          <a:ln w="9525">
            <a:solidFill>
              <a:srgbClr val="D9D4C4"/>
            </a:solidFill>
            <a:prstDash val="solid"/>
          </a:ln>
        </p:spPr>
      </p:sp>
      <p:sp>
        <p:nvSpPr>
          <p:cNvPr id="15" name="Text 13"/>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ART APPRECIATION · SEMESTER I</a:t>
            </a:r>
            <a:endParaRPr lang="en-US" sz="900" dirty="0"/>
          </a:p>
        </p:txBody>
      </p:sp>
      <p:sp>
        <p:nvSpPr>
          <p:cNvPr id="16" name="Text 14"/>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02</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2103120"/>
            <a:ext cx="10424160" cy="3291840"/>
          </a:xfrm>
          <a:prstGeom prst="rect">
            <a:avLst/>
          </a:prstGeom>
          <a:noFill/>
          <a:ln/>
        </p:spPr>
        <p:txBody>
          <a:bodyPr wrap="square" lIns="0" tIns="0" rIns="0" bIns="0" rtlCol="0" anchor="ctr"/>
          <a:lstStyle/>
          <a:p>
            <a:pPr indent="0" marL="0">
              <a:lnSpc>
                <a:spcPts val="6600"/>
              </a:lnSpc>
              <a:buNone/>
            </a:pPr>
            <a:r>
              <a:rPr lang="en-US" sz="6000" dirty="0">
                <a:solidFill>
                  <a:srgbClr val="24313F"/>
                </a:solidFill>
                <a:latin typeface="Georgia" pitchFamily="34" charset="0"/>
                <a:ea typeface="Georgia" pitchFamily="34" charset="-122"/>
                <a:cs typeface="Georgia" pitchFamily="34" charset="-120"/>
              </a:rPr>
              <a:t>The poor image is a copy in motion.</a:t>
            </a:r>
            <a:endParaRPr lang="en-US" sz="6000" dirty="0"/>
          </a:p>
        </p:txBody>
      </p:sp>
      <p:sp>
        <p:nvSpPr>
          <p:cNvPr id="4" name="Shape 2"/>
          <p:cNvSpPr/>
          <p:nvPr/>
        </p:nvSpPr>
        <p:spPr>
          <a:xfrm>
            <a:off x="822960" y="4937760"/>
            <a:ext cx="914400" cy="0"/>
          </a:xfrm>
          <a:prstGeom prst="line">
            <a:avLst/>
          </a:prstGeom>
          <a:noFill/>
          <a:ln w="31750">
            <a:solidFill>
              <a:srgbClr val="8C3A38"/>
            </a:solidFill>
            <a:prstDash val="solid"/>
          </a:ln>
        </p:spPr>
      </p:sp>
      <p:sp>
        <p:nvSpPr>
          <p:cNvPr id="5" name="Text 3"/>
          <p:cNvSpPr/>
          <p:nvPr/>
        </p:nvSpPr>
        <p:spPr>
          <a:xfrm>
            <a:off x="822960" y="5120640"/>
            <a:ext cx="1005840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Hito Steyerl, In Defense of the Poor Image, 2009</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DAY FOUR · THE LAB</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MAKE IT WORSE ON PURPOSE</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The same image, five routes down</a:t>
            </a:r>
            <a:endParaRPr lang="en-US" sz="3200" dirty="0"/>
          </a:p>
        </p:txBody>
      </p:sp>
      <p:sp>
        <p:nvSpPr>
          <p:cNvPr id="6" name="Shape 4"/>
          <p:cNvSpPr/>
          <p:nvPr/>
        </p:nvSpPr>
        <p:spPr>
          <a:xfrm>
            <a:off x="822960" y="1737360"/>
            <a:ext cx="5088636" cy="3200400"/>
          </a:xfrm>
          <a:prstGeom prst="rect">
            <a:avLst/>
          </a:prstGeom>
          <a:solidFill>
            <a:srgbClr val="FAF8F1"/>
          </a:solidFill>
          <a:ln w="9525">
            <a:solidFill>
              <a:srgbClr val="D9D4C4"/>
            </a:solidFill>
            <a:prstDash val="solid"/>
          </a:ln>
        </p:spPr>
      </p:sp>
      <p:pic>
        <p:nvPicPr>
          <p:cNvPr id="7" name="Image 0" descr="/private/tmp/claude-501/-Users-dogan-Documents-Vaults-Courses/1131873b-e36e-44c1-91c0-268fb16c8435/scratchpad/img/utamaro.jpg">    </p:cNvPr>
          <p:cNvPicPr>
            <a:picLocks noChangeAspect="1"/>
          </p:cNvPicPr>
          <p:nvPr/>
        </p:nvPicPr>
        <p:blipFill>
          <a:blip r:embed="rId1"/>
          <a:stretch>
            <a:fillRect/>
          </a:stretch>
        </p:blipFill>
        <p:spPr>
          <a:xfrm>
            <a:off x="2380915" y="1865376"/>
            <a:ext cx="1972727" cy="2944368"/>
          </a:xfrm>
          <a:prstGeom prst="rect">
            <a:avLst/>
          </a:prstGeom>
        </p:spPr>
      </p:pic>
      <p:sp>
        <p:nvSpPr>
          <p:cNvPr id="8" name="Shape 5"/>
          <p:cNvSpPr/>
          <p:nvPr/>
        </p:nvSpPr>
        <p:spPr>
          <a:xfrm>
            <a:off x="6277356" y="1737360"/>
            <a:ext cx="5088636" cy="3200400"/>
          </a:xfrm>
          <a:prstGeom prst="rect">
            <a:avLst/>
          </a:prstGeom>
          <a:solidFill>
            <a:srgbClr val="FAF8F1"/>
          </a:solidFill>
          <a:ln w="9525">
            <a:solidFill>
              <a:srgbClr val="D9D4C4"/>
            </a:solidFill>
            <a:prstDash val="solid"/>
          </a:ln>
        </p:spPr>
      </p:sp>
      <p:pic>
        <p:nvPicPr>
          <p:cNvPr id="9" name="Image 1" descr="/private/tmp/claude-501/-Users-dogan-Documents-Vaults-Courses/1131873b-e36e-44c1-91c0-268fb16c8435/scratchpad/img/utamaro-poor.jpg">    </p:cNvPr>
          <p:cNvPicPr>
            <a:picLocks noChangeAspect="1"/>
          </p:cNvPicPr>
          <p:nvPr/>
        </p:nvPicPr>
        <p:blipFill>
          <a:blip r:embed="rId2"/>
          <a:stretch>
            <a:fillRect/>
          </a:stretch>
        </p:blipFill>
        <p:spPr>
          <a:xfrm>
            <a:off x="7832525" y="1865376"/>
            <a:ext cx="1978299" cy="2944368"/>
          </a:xfrm>
          <a:prstGeom prst="rect">
            <a:avLst/>
          </a:prstGeom>
        </p:spPr>
      </p:pic>
      <p:sp>
        <p:nvSpPr>
          <p:cNvPr id="10" name="Text 6"/>
          <p:cNvSpPr/>
          <p:nvPr/>
        </p:nvSpPr>
        <p:spPr>
          <a:xfrm>
            <a:off x="822960" y="5010912"/>
            <a:ext cx="5088636" cy="274320"/>
          </a:xfrm>
          <a:prstGeom prst="rect">
            <a:avLst/>
          </a:prstGeom>
          <a:noFill/>
          <a:ln/>
        </p:spPr>
        <p:txBody>
          <a:bodyPr wrap="square" lIns="0" tIns="0" rIns="0" bIns="0" rtlCol="0" anchor="ctr"/>
          <a:lstStyle/>
          <a:p>
            <a:pPr indent="0" marL="0">
              <a:buNone/>
            </a:pPr>
            <a:r>
              <a:rPr lang="en-US" sz="1000" dirty="0">
                <a:solidFill>
                  <a:srgbClr val="7A7F72"/>
                </a:solidFill>
                <a:latin typeface="Arial" pitchFamily="34" charset="0"/>
                <a:ea typeface="Arial" pitchFamily="34" charset="-122"/>
                <a:cs typeface="Arial" pitchFamily="34" charset="-120"/>
              </a:rPr>
              <a:t>The file</a:t>
            </a:r>
            <a:endParaRPr lang="en-US" sz="1000" dirty="0"/>
          </a:p>
        </p:txBody>
      </p:sp>
      <p:sp>
        <p:nvSpPr>
          <p:cNvPr id="11" name="Text 7"/>
          <p:cNvSpPr/>
          <p:nvPr/>
        </p:nvSpPr>
        <p:spPr>
          <a:xfrm>
            <a:off x="6277356" y="5010912"/>
            <a:ext cx="5088636" cy="274320"/>
          </a:xfrm>
          <a:prstGeom prst="rect">
            <a:avLst/>
          </a:prstGeom>
          <a:noFill/>
          <a:ln/>
        </p:spPr>
        <p:txBody>
          <a:bodyPr wrap="square" lIns="0" tIns="0" rIns="0" bIns="0" rtlCol="0" anchor="ctr"/>
          <a:lstStyle/>
          <a:p>
            <a:pPr indent="0" marL="0">
              <a:buNone/>
            </a:pPr>
            <a:r>
              <a:rPr lang="en-US" sz="1000" dirty="0">
                <a:solidFill>
                  <a:srgbClr val="7A7F72"/>
                </a:solidFill>
                <a:latin typeface="Arial" pitchFamily="34" charset="0"/>
                <a:ea typeface="Arial" pitchFamily="34" charset="-122"/>
                <a:cs typeface="Arial" pitchFamily="34" charset="-120"/>
              </a:rPr>
              <a:t>Compressed, re-photographed, screenshotted, re-uploaded</a:t>
            </a:r>
            <a:endParaRPr lang="en-US" sz="1000" dirty="0"/>
          </a:p>
        </p:txBody>
      </p:sp>
      <p:sp>
        <p:nvSpPr>
          <p:cNvPr id="12" name="Text 8"/>
          <p:cNvSpPr/>
          <p:nvPr/>
        </p:nvSpPr>
        <p:spPr>
          <a:xfrm>
            <a:off x="822960" y="5623560"/>
            <a:ext cx="10543032" cy="457200"/>
          </a:xfrm>
          <a:prstGeom prst="rect">
            <a:avLst/>
          </a:prstGeom>
          <a:noFill/>
          <a:ln/>
        </p:spPr>
        <p:txBody>
          <a:bodyPr wrap="square" lIns="0" tIns="0" rIns="0" bIns="0" rtlCol="0" anchor="ctr"/>
          <a:lstStyle/>
          <a:p>
            <a:pPr indent="0" marL="0">
              <a:buNone/>
            </a:pPr>
            <a:r>
              <a:rPr lang="en-US" sz="1600" i="1" dirty="0">
                <a:solidFill>
                  <a:srgbClr val="4A6B5D"/>
                </a:solidFill>
                <a:latin typeface="Georgia" pitchFamily="34" charset="0"/>
                <a:ea typeface="Georgia" pitchFamily="34" charset="-122"/>
                <a:cs typeface="Georgia" pitchFamily="34" charset="-120"/>
              </a:rPr>
              <a:t>Degrade, compress, re-photograph, screenshot the screenshot. Then fifteen minutes writing exactly what changed, not that it got worse. CS5.</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HOW IT RUNS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FOUR SESSIONS</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4000" dirty="0">
                <a:solidFill>
                  <a:srgbClr val="24313F"/>
                </a:solidFill>
                <a:latin typeface="Georgia" pitchFamily="34" charset="0"/>
                <a:ea typeface="Georgia" pitchFamily="34" charset="-122"/>
                <a:cs typeface="Georgia" pitchFamily="34" charset="-120"/>
              </a:rPr>
              <a:t>The week, day by day</a:t>
            </a:r>
            <a:endParaRPr lang="en-US" sz="4000" dirty="0"/>
          </a:p>
        </p:txBody>
      </p:sp>
      <p:sp>
        <p:nvSpPr>
          <p:cNvPr id="6" name="Shape 4"/>
          <p:cNvSpPr/>
          <p:nvPr/>
        </p:nvSpPr>
        <p:spPr>
          <a:xfrm>
            <a:off x="822960" y="2286000"/>
            <a:ext cx="10543032" cy="0"/>
          </a:xfrm>
          <a:prstGeom prst="line">
            <a:avLst/>
          </a:prstGeom>
          <a:noFill/>
          <a:ln w="12700">
            <a:solidFill>
              <a:srgbClr val="24313F"/>
            </a:solidFill>
            <a:prstDash val="solid"/>
          </a:ln>
        </p:spPr>
      </p:sp>
      <p:sp>
        <p:nvSpPr>
          <p:cNvPr id="7" name="Text 5"/>
          <p:cNvSpPr/>
          <p:nvPr/>
        </p:nvSpPr>
        <p:spPr>
          <a:xfrm>
            <a:off x="822960" y="2286000"/>
            <a:ext cx="2377440" cy="658368"/>
          </a:xfrm>
          <a:prstGeom prst="rect">
            <a:avLst/>
          </a:prstGeom>
          <a:noFill/>
          <a:ln/>
        </p:spPr>
        <p:txBody>
          <a:bodyPr wrap="square" lIns="0" tIns="0" rIns="0" bIns="0" rtlCol="0" anchor="ctr"/>
          <a:lstStyle/>
          <a:p>
            <a:pPr indent="0" marL="0">
              <a:buNone/>
            </a:pPr>
            <a:r>
              <a:rPr lang="en-US" sz="1200" b="1" spc="100" kern="0" dirty="0">
                <a:solidFill>
                  <a:srgbClr val="7A7F72"/>
                </a:solidFill>
                <a:latin typeface="Arial" pitchFamily="34" charset="0"/>
                <a:ea typeface="Arial" pitchFamily="34" charset="-122"/>
                <a:cs typeface="Arial" pitchFamily="34" charset="-120"/>
              </a:rPr>
              <a:t>MON 7 DEC</a:t>
            </a:r>
            <a:endParaRPr lang="en-US" sz="1200" dirty="0"/>
          </a:p>
        </p:txBody>
      </p:sp>
      <p:sp>
        <p:nvSpPr>
          <p:cNvPr id="8" name="Text 6"/>
          <p:cNvSpPr/>
          <p:nvPr/>
        </p:nvSpPr>
        <p:spPr>
          <a:xfrm>
            <a:off x="3383280" y="2286000"/>
            <a:ext cx="7863840" cy="658368"/>
          </a:xfrm>
          <a:prstGeom prst="rect">
            <a:avLst/>
          </a:prstGeom>
          <a:noFill/>
          <a:ln/>
        </p:spPr>
        <p:txBody>
          <a:bodyPr wrap="square" lIns="0" tIns="0" rIns="0" bIns="0" rtlCol="0" anchor="ctr"/>
          <a:lstStyle/>
          <a:p>
            <a:pPr indent="0" marL="0">
              <a:buNone/>
            </a:pPr>
            <a:r>
              <a:rPr lang="en-US" sz="1700" dirty="0">
                <a:solidFill>
                  <a:srgbClr val="24313F"/>
                </a:solidFill>
                <a:latin typeface="Georgia" pitchFamily="34" charset="0"/>
                <a:ea typeface="Georgia" pitchFamily="34" charset="-122"/>
                <a:cs typeface="Georgia" pitchFamily="34" charset="-120"/>
              </a:rPr>
              <a:t>Ukiyo-e: a print is many, not one</a:t>
            </a:r>
            <a:endParaRPr lang="en-US" sz="1700" dirty="0"/>
          </a:p>
        </p:txBody>
      </p:sp>
      <p:sp>
        <p:nvSpPr>
          <p:cNvPr id="9" name="Shape 7"/>
          <p:cNvSpPr/>
          <p:nvPr/>
        </p:nvSpPr>
        <p:spPr>
          <a:xfrm>
            <a:off x="822960" y="2944368"/>
            <a:ext cx="10543032" cy="0"/>
          </a:xfrm>
          <a:prstGeom prst="line">
            <a:avLst/>
          </a:prstGeom>
          <a:noFill/>
          <a:ln w="9525">
            <a:solidFill>
              <a:srgbClr val="D9D4C4"/>
            </a:solidFill>
            <a:prstDash val="solid"/>
          </a:ln>
        </p:spPr>
      </p:sp>
      <p:sp>
        <p:nvSpPr>
          <p:cNvPr id="10" name="Text 8"/>
          <p:cNvSpPr/>
          <p:nvPr/>
        </p:nvSpPr>
        <p:spPr>
          <a:xfrm>
            <a:off x="822960" y="2944368"/>
            <a:ext cx="2377440" cy="658368"/>
          </a:xfrm>
          <a:prstGeom prst="rect">
            <a:avLst/>
          </a:prstGeom>
          <a:noFill/>
          <a:ln/>
        </p:spPr>
        <p:txBody>
          <a:bodyPr wrap="square" lIns="0" tIns="0" rIns="0" bIns="0" rtlCol="0" anchor="ctr"/>
          <a:lstStyle/>
          <a:p>
            <a:pPr indent="0" marL="0">
              <a:buNone/>
            </a:pPr>
            <a:r>
              <a:rPr lang="en-US" sz="1200" b="1" spc="100" kern="0" dirty="0">
                <a:solidFill>
                  <a:srgbClr val="7A7F72"/>
                </a:solidFill>
                <a:latin typeface="Arial" pitchFamily="34" charset="0"/>
                <a:ea typeface="Arial" pitchFamily="34" charset="-122"/>
                <a:cs typeface="Arial" pitchFamily="34" charset="-120"/>
              </a:rPr>
              <a:t>TUE 8 DEC</a:t>
            </a:r>
            <a:endParaRPr lang="en-US" sz="1200" dirty="0"/>
          </a:p>
        </p:txBody>
      </p:sp>
      <p:sp>
        <p:nvSpPr>
          <p:cNvPr id="11" name="Text 9"/>
          <p:cNvSpPr/>
          <p:nvPr/>
        </p:nvSpPr>
        <p:spPr>
          <a:xfrm>
            <a:off x="3383280" y="2944368"/>
            <a:ext cx="7863840" cy="658368"/>
          </a:xfrm>
          <a:prstGeom prst="rect">
            <a:avLst/>
          </a:prstGeom>
          <a:noFill/>
          <a:ln/>
        </p:spPr>
        <p:txBody>
          <a:bodyPr wrap="square" lIns="0" tIns="0" rIns="0" bIns="0" rtlCol="0" anchor="ctr"/>
          <a:lstStyle/>
          <a:p>
            <a:pPr indent="0" marL="0">
              <a:buNone/>
            </a:pPr>
            <a:r>
              <a:rPr lang="en-US" sz="1700" dirty="0">
                <a:solidFill>
                  <a:srgbClr val="24313F"/>
                </a:solidFill>
                <a:latin typeface="Georgia" pitchFamily="34" charset="0"/>
                <a:ea typeface="Georgia" pitchFamily="34" charset="-122"/>
                <a:cs typeface="Georgia" pitchFamily="34" charset="-120"/>
              </a:rPr>
              <a:t>Aura, defined precisely enough to argue with</a:t>
            </a:r>
            <a:endParaRPr lang="en-US" sz="1700" dirty="0"/>
          </a:p>
        </p:txBody>
      </p:sp>
      <p:sp>
        <p:nvSpPr>
          <p:cNvPr id="12" name="Shape 10"/>
          <p:cNvSpPr/>
          <p:nvPr/>
        </p:nvSpPr>
        <p:spPr>
          <a:xfrm>
            <a:off x="822960" y="3602736"/>
            <a:ext cx="10543032" cy="0"/>
          </a:xfrm>
          <a:prstGeom prst="line">
            <a:avLst/>
          </a:prstGeom>
          <a:noFill/>
          <a:ln w="9525">
            <a:solidFill>
              <a:srgbClr val="D9D4C4"/>
            </a:solidFill>
            <a:prstDash val="solid"/>
          </a:ln>
        </p:spPr>
      </p:sp>
      <p:sp>
        <p:nvSpPr>
          <p:cNvPr id="13" name="Text 11"/>
          <p:cNvSpPr/>
          <p:nvPr/>
        </p:nvSpPr>
        <p:spPr>
          <a:xfrm>
            <a:off x="822960" y="3602736"/>
            <a:ext cx="2377440" cy="658368"/>
          </a:xfrm>
          <a:prstGeom prst="rect">
            <a:avLst/>
          </a:prstGeom>
          <a:noFill/>
          <a:ln/>
        </p:spPr>
        <p:txBody>
          <a:bodyPr wrap="square" lIns="0" tIns="0" rIns="0" bIns="0" rtlCol="0" anchor="ctr"/>
          <a:lstStyle/>
          <a:p>
            <a:pPr indent="0" marL="0">
              <a:buNone/>
            </a:pPr>
            <a:r>
              <a:rPr lang="en-US" sz="1200" b="1" spc="100" kern="0" dirty="0">
                <a:solidFill>
                  <a:srgbClr val="7A7F72"/>
                </a:solidFill>
                <a:latin typeface="Arial" pitchFamily="34" charset="0"/>
                <a:ea typeface="Arial" pitchFamily="34" charset="-122"/>
                <a:cs typeface="Arial" pitchFamily="34" charset="-120"/>
              </a:rPr>
              <a:t>WED 9 DEC</a:t>
            </a:r>
            <a:endParaRPr lang="en-US" sz="1200" dirty="0"/>
          </a:p>
        </p:txBody>
      </p:sp>
      <p:sp>
        <p:nvSpPr>
          <p:cNvPr id="14" name="Text 12"/>
          <p:cNvSpPr/>
          <p:nvPr/>
        </p:nvSpPr>
        <p:spPr>
          <a:xfrm>
            <a:off x="3383280" y="3602736"/>
            <a:ext cx="7863840" cy="658368"/>
          </a:xfrm>
          <a:prstGeom prst="rect">
            <a:avLst/>
          </a:prstGeom>
          <a:noFill/>
          <a:ln/>
        </p:spPr>
        <p:txBody>
          <a:bodyPr wrap="square" lIns="0" tIns="0" rIns="0" bIns="0" rtlCol="0" anchor="ctr"/>
          <a:lstStyle/>
          <a:p>
            <a:pPr indent="0" marL="0">
              <a:buNone/>
            </a:pPr>
            <a:r>
              <a:rPr lang="en-US" sz="1700" dirty="0">
                <a:solidFill>
                  <a:srgbClr val="24313F"/>
                </a:solidFill>
                <a:latin typeface="Georgia" pitchFamily="34" charset="0"/>
                <a:ea typeface="Georgia" pitchFamily="34" charset="-122"/>
                <a:cs typeface="Georgia" pitchFamily="34" charset="-120"/>
              </a:rPr>
              <a:t>Steyerl: defend the poor image</a:t>
            </a:r>
            <a:endParaRPr lang="en-US" sz="1700" dirty="0"/>
          </a:p>
        </p:txBody>
      </p:sp>
      <p:sp>
        <p:nvSpPr>
          <p:cNvPr id="15" name="Shape 13"/>
          <p:cNvSpPr/>
          <p:nvPr/>
        </p:nvSpPr>
        <p:spPr>
          <a:xfrm>
            <a:off x="822960" y="4261104"/>
            <a:ext cx="10543032" cy="0"/>
          </a:xfrm>
          <a:prstGeom prst="line">
            <a:avLst/>
          </a:prstGeom>
          <a:noFill/>
          <a:ln w="9525">
            <a:solidFill>
              <a:srgbClr val="D9D4C4"/>
            </a:solidFill>
            <a:prstDash val="solid"/>
          </a:ln>
        </p:spPr>
      </p:sp>
      <p:sp>
        <p:nvSpPr>
          <p:cNvPr id="16" name="Text 14"/>
          <p:cNvSpPr/>
          <p:nvPr/>
        </p:nvSpPr>
        <p:spPr>
          <a:xfrm>
            <a:off x="822960" y="4261104"/>
            <a:ext cx="2377440" cy="658368"/>
          </a:xfrm>
          <a:prstGeom prst="rect">
            <a:avLst/>
          </a:prstGeom>
          <a:noFill/>
          <a:ln/>
        </p:spPr>
        <p:txBody>
          <a:bodyPr wrap="square" lIns="0" tIns="0" rIns="0" bIns="0" rtlCol="0" anchor="ctr"/>
          <a:lstStyle/>
          <a:p>
            <a:pPr indent="0" marL="0">
              <a:buNone/>
            </a:pPr>
            <a:r>
              <a:rPr lang="en-US" sz="1200" b="1" spc="100" kern="0" dirty="0">
                <a:solidFill>
                  <a:srgbClr val="7A7F72"/>
                </a:solidFill>
                <a:latin typeface="Arial" pitchFamily="34" charset="0"/>
                <a:ea typeface="Arial" pitchFamily="34" charset="-122"/>
                <a:cs typeface="Arial" pitchFamily="34" charset="-120"/>
              </a:rPr>
              <a:t>THU 10 DEC</a:t>
            </a:r>
            <a:endParaRPr lang="en-US" sz="1200" dirty="0"/>
          </a:p>
        </p:txBody>
      </p:sp>
      <p:sp>
        <p:nvSpPr>
          <p:cNvPr id="17" name="Text 15"/>
          <p:cNvSpPr/>
          <p:nvPr/>
        </p:nvSpPr>
        <p:spPr>
          <a:xfrm>
            <a:off x="3383280" y="4261104"/>
            <a:ext cx="7863840" cy="658368"/>
          </a:xfrm>
          <a:prstGeom prst="rect">
            <a:avLst/>
          </a:prstGeom>
          <a:noFill/>
          <a:ln/>
        </p:spPr>
        <p:txBody>
          <a:bodyPr wrap="square" lIns="0" tIns="0" rIns="0" bIns="0" rtlCol="0" anchor="ctr"/>
          <a:lstStyle/>
          <a:p>
            <a:pPr indent="0" marL="0">
              <a:buNone/>
            </a:pPr>
            <a:r>
              <a:rPr lang="en-US" sz="1700" dirty="0">
                <a:solidFill>
                  <a:srgbClr val="24313F"/>
                </a:solidFill>
                <a:latin typeface="Georgia" pitchFamily="34" charset="0"/>
                <a:ea typeface="Georgia" pitchFamily="34" charset="-122"/>
                <a:cs typeface="Georgia" pitchFamily="34" charset="-120"/>
              </a:rPr>
              <a:t>The poor-image lab; write what changed (CS5)</a:t>
            </a:r>
            <a:endParaRPr lang="en-US" sz="1700" dirty="0"/>
          </a:p>
        </p:txBody>
      </p:sp>
      <p:sp>
        <p:nvSpPr>
          <p:cNvPr id="18" name="Shape 16"/>
          <p:cNvSpPr/>
          <p:nvPr/>
        </p:nvSpPr>
        <p:spPr>
          <a:xfrm>
            <a:off x="822960" y="4919472"/>
            <a:ext cx="10543032" cy="0"/>
          </a:xfrm>
          <a:prstGeom prst="line">
            <a:avLst/>
          </a:prstGeom>
          <a:noFill/>
          <a:ln w="9525">
            <a:solidFill>
              <a:srgbClr val="D9D4C4"/>
            </a:solidFill>
            <a:prstDash val="solid"/>
          </a:ln>
        </p:spPr>
      </p:sp>
      <p:sp>
        <p:nvSpPr>
          <p:cNvPr id="19" name="Shape 17"/>
          <p:cNvSpPr/>
          <p:nvPr/>
        </p:nvSpPr>
        <p:spPr>
          <a:xfrm>
            <a:off x="822960" y="6382512"/>
            <a:ext cx="10543032" cy="0"/>
          </a:xfrm>
          <a:prstGeom prst="line">
            <a:avLst/>
          </a:prstGeom>
          <a:noFill/>
          <a:ln w="9525">
            <a:solidFill>
              <a:srgbClr val="D9D4C4"/>
            </a:solidFill>
            <a:prstDash val="solid"/>
          </a:ln>
        </p:spPr>
      </p:sp>
      <p:sp>
        <p:nvSpPr>
          <p:cNvPr id="20" name="Text 18"/>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ART APPRECIATION · SEMESTER I</a:t>
            </a:r>
            <a:endParaRPr lang="en-US" sz="900" dirty="0"/>
          </a:p>
        </p:txBody>
      </p:sp>
      <p:sp>
        <p:nvSpPr>
          <p:cNvPr id="21" name="Text 19"/>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03</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822960" y="2148840"/>
            <a:ext cx="54864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NEXT</a:t>
            </a:r>
            <a:endParaRPr lang="en-US" sz="1100" dirty="0"/>
          </a:p>
        </p:txBody>
      </p:sp>
      <p:sp>
        <p:nvSpPr>
          <p:cNvPr id="3" name="Shape 1"/>
          <p:cNvSpPr/>
          <p:nvPr/>
        </p:nvSpPr>
        <p:spPr>
          <a:xfrm>
            <a:off x="822960" y="2514600"/>
            <a:ext cx="3108960" cy="0"/>
          </a:xfrm>
          <a:prstGeom prst="line">
            <a:avLst/>
          </a:prstGeom>
          <a:noFill/>
          <a:ln w="9525">
            <a:solidFill>
              <a:srgbClr val="8AA394"/>
            </a:solidFill>
            <a:prstDash val="solid"/>
          </a:ln>
        </p:spPr>
      </p:sp>
      <p:sp>
        <p:nvSpPr>
          <p:cNvPr id="4" name="Text 2"/>
          <p:cNvSpPr/>
          <p:nvPr/>
        </p:nvSpPr>
        <p:spPr>
          <a:xfrm>
            <a:off x="822960" y="2651760"/>
            <a:ext cx="10058400" cy="1920240"/>
          </a:xfrm>
          <a:prstGeom prst="rect">
            <a:avLst/>
          </a:prstGeom>
          <a:noFill/>
          <a:ln/>
        </p:spPr>
        <p:txBody>
          <a:bodyPr wrap="square" lIns="0" tIns="0" rIns="0" bIns="0" rtlCol="0" anchor="t"/>
          <a:lstStyle/>
          <a:p>
            <a:pPr indent="0" marL="0">
              <a:lnSpc>
                <a:spcPts val="6000"/>
              </a:lnSpc>
              <a:buNone/>
            </a:pPr>
            <a:r>
              <a:rPr lang="en-US" sz="6000" dirty="0">
                <a:solidFill>
                  <a:srgbClr val="FAF8F1"/>
                </a:solidFill>
                <a:latin typeface="Georgia" pitchFamily="34" charset="0"/>
                <a:ea typeface="Georgia" pitchFamily="34" charset="-122"/>
                <a:cs typeface="Georgia" pitchFamily="34" charset="-120"/>
              </a:rPr>
              <a:t>Photography</a:t>
            </a:r>
            <a:endParaRPr lang="en-US" sz="6000" dirty="0"/>
          </a:p>
          <a:p>
            <a:pPr indent="0" marL="0">
              <a:lnSpc>
                <a:spcPts val="6000"/>
              </a:lnSpc>
              <a:buNone/>
            </a:pPr>
            <a:r>
              <a:rPr lang="en-US" sz="6000" dirty="0">
                <a:solidFill>
                  <a:srgbClr val="FAF8F1"/>
                </a:solidFill>
                <a:latin typeface="Georgia" pitchFamily="34" charset="0"/>
                <a:ea typeface="Georgia" pitchFamily="34" charset="-122"/>
                <a:cs typeface="Georgia" pitchFamily="34" charset="-120"/>
              </a:rPr>
              <a:t>and After</a:t>
            </a:r>
            <a:endParaRPr lang="en-US" sz="6000" dirty="0"/>
          </a:p>
        </p:txBody>
      </p:sp>
      <p:sp>
        <p:nvSpPr>
          <p:cNvPr id="5" name="Text 3"/>
          <p:cNvSpPr/>
          <p:nvPr/>
        </p:nvSpPr>
        <p:spPr>
          <a:xfrm>
            <a:off x="822960" y="4892040"/>
            <a:ext cx="9144000" cy="457200"/>
          </a:xfrm>
          <a:prstGeom prst="rect">
            <a:avLst/>
          </a:prstGeom>
          <a:noFill/>
          <a:ln/>
        </p:spPr>
        <p:txBody>
          <a:bodyPr wrap="square" lIns="0" tIns="0" rIns="0" bIns="0" rtlCol="0" anchor="ctr"/>
          <a:lstStyle/>
          <a:p>
            <a:pPr indent="0" marL="0">
              <a:buNone/>
            </a:pPr>
            <a:r>
              <a:rPr lang="en-US" sz="2200" i="1" dirty="0">
                <a:solidFill>
                  <a:srgbClr val="E8EFE7"/>
                </a:solidFill>
                <a:latin typeface="Georgia" pitchFamily="34" charset="0"/>
                <a:ea typeface="Georgia" pitchFamily="34" charset="-122"/>
                <a:cs typeface="Georgia" pitchFamily="34" charset="-120"/>
              </a:rPr>
              <a:t>Lesson 12. The claim to truth, Sontag, and A4.</a:t>
            </a:r>
            <a:endParaRPr lang="en-US" sz="2200" dirty="0"/>
          </a:p>
        </p:txBody>
      </p:sp>
      <p:sp>
        <p:nvSpPr>
          <p:cNvPr id="6" name="Shape 4"/>
          <p:cNvSpPr/>
          <p:nvPr/>
        </p:nvSpPr>
        <p:spPr>
          <a:xfrm>
            <a:off x="822960" y="6382512"/>
            <a:ext cx="10543032" cy="0"/>
          </a:xfrm>
          <a:prstGeom prst="line">
            <a:avLst/>
          </a:prstGeom>
          <a:noFill/>
          <a:ln w="9525">
            <a:solidFill>
              <a:srgbClr val="6E8A7C"/>
            </a:solidFill>
            <a:prstDash val="solid"/>
          </a:ln>
        </p:spPr>
      </p:sp>
      <p:sp>
        <p:nvSpPr>
          <p:cNvPr id="7" name="Text 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E8EFE7"/>
                </a:solidFill>
                <a:latin typeface="Arial" pitchFamily="34" charset="0"/>
                <a:ea typeface="Arial" pitchFamily="34" charset="-122"/>
                <a:cs typeface="Arial" pitchFamily="34" charset="-120"/>
              </a:rPr>
              <a:t>ART APPRECIATION · SEMESTER I</a:t>
            </a:r>
            <a:endParaRPr lang="en-US" sz="900" dirty="0"/>
          </a:p>
        </p:txBody>
      </p:sp>
      <p:sp>
        <p:nvSpPr>
          <p:cNvPr id="8" name="Text 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E8EFE7"/>
                </a:solidFill>
                <a:latin typeface="Georgia" pitchFamily="34" charset="0"/>
                <a:ea typeface="Georgia" pitchFamily="34" charset="-122"/>
                <a:cs typeface="Georgia" pitchFamily="34" charset="-120"/>
              </a:rPr>
              <a:t>04</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2026-07-25T01:51:42Z</dcterms:created>
  <dcterms:modified xsi:type="dcterms:W3CDTF">2026-07-25T01:51:42Z</dcterms:modified>
</cp:coreProperties>
</file>