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front-loaded into days one to three. Homework: Ways of Seeing, episode one or the first essay.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Berger's argument stated flat on day one, then the first objection taken seriously.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reproduction is how you know it. The original is silent and still in a way the copies never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the caption that changes the picture, then write the honest one. Both halves of the class do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floating world as a market, not a mood. Ukiyo-e was reproducible from the start, which is why Benjamin arrives next as a description of something already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046720" y="822960"/>
            <a:ext cx="3383280" cy="4937760"/>
          </a:xfrm>
          <a:prstGeom prst="rect">
            <a:avLst/>
          </a:prstGeom>
          <a:noFill/>
          <a:ln/>
        </p:spPr>
        <p:txBody>
          <a:bodyPr wrap="square" lIns="0" tIns="0" rIns="0" bIns="0" rtlCol="0" anchor="ctr"/>
          <a:lstStyle/>
          <a:p>
            <a:pPr algn="ctr" indent="0" marL="0">
              <a:buNone/>
            </a:pPr>
            <a:r>
              <a:rPr lang="en-US" sz="32000" dirty="0">
                <a:solidFill>
                  <a:srgbClr val="A3C1AD"/>
                </a:solidFill>
                <a:latin typeface="Georgia" pitchFamily="34" charset="0"/>
                <a:ea typeface="Georgia" pitchFamily="34" charset="-122"/>
                <a:cs typeface="Georgia" pitchFamily="34" charset="-120"/>
              </a:rPr>
              <a:t>X</a:t>
            </a:r>
            <a:endParaRPr lang="en-US" sz="32000" dirty="0"/>
          </a:p>
        </p:txBody>
      </p:sp>
      <p:sp>
        <p:nvSpPr>
          <p:cNvPr id="3" name="Text 1"/>
          <p:cNvSpPr/>
          <p:nvPr/>
        </p:nvSpPr>
        <p:spPr>
          <a:xfrm>
            <a:off x="822960" y="1234440"/>
            <a:ext cx="73152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ART APPRECIATION · UNIT IV</a:t>
            </a:r>
            <a:endParaRPr lang="en-US" sz="1100" dirty="0"/>
          </a:p>
        </p:txBody>
      </p:sp>
      <p:sp>
        <p:nvSpPr>
          <p:cNvPr id="4" name="Text 2"/>
          <p:cNvSpPr/>
          <p:nvPr/>
        </p:nvSpPr>
        <p:spPr>
          <a:xfrm>
            <a:off x="822960" y="1737360"/>
            <a:ext cx="7680960" cy="2377440"/>
          </a:xfrm>
          <a:prstGeom prst="rect">
            <a:avLst/>
          </a:prstGeom>
          <a:noFill/>
          <a:ln/>
        </p:spPr>
        <p:txBody>
          <a:bodyPr wrap="square" lIns="0" tIns="0" rIns="0" bIns="0" rtlCol="0" anchor="t"/>
          <a:lstStyle/>
          <a:p>
            <a:pPr indent="0" marL="0">
              <a:lnSpc>
                <a:spcPts val="6400"/>
              </a:lnSpc>
              <a:buNone/>
            </a:pPr>
            <a:r>
              <a:rPr lang="en-US" sz="6400" dirty="0">
                <a:solidFill>
                  <a:srgbClr val="24313F"/>
                </a:solidFill>
                <a:latin typeface="Georgia" pitchFamily="34" charset="0"/>
                <a:ea typeface="Georgia" pitchFamily="34" charset="-122"/>
                <a:cs typeface="Georgia" pitchFamily="34" charset="-120"/>
              </a:rPr>
              <a:t>Berger and the</a:t>
            </a:r>
            <a:endParaRPr lang="en-US" sz="6400" dirty="0"/>
          </a:p>
          <a:p>
            <a:pPr indent="0" marL="0">
              <a:lnSpc>
                <a:spcPts val="6400"/>
              </a:lnSpc>
              <a:buNone/>
            </a:pPr>
            <a:r>
              <a:rPr lang="en-US" sz="6400" dirty="0">
                <a:solidFill>
                  <a:srgbClr val="24313F"/>
                </a:solidFill>
                <a:latin typeface="Georgia" pitchFamily="34" charset="0"/>
                <a:ea typeface="Georgia" pitchFamily="34" charset="-122"/>
                <a:cs typeface="Georgia" pitchFamily="34" charset="-120"/>
              </a:rPr>
              <a:t>Reproduction</a:t>
            </a:r>
            <a:endParaRPr lang="en-US" sz="6400" dirty="0"/>
          </a:p>
        </p:txBody>
      </p:sp>
      <p:sp>
        <p:nvSpPr>
          <p:cNvPr id="5" name="Shape 3"/>
          <p:cNvSpPr/>
          <p:nvPr/>
        </p:nvSpPr>
        <p:spPr>
          <a:xfrm>
            <a:off x="822960" y="4343400"/>
            <a:ext cx="914400" cy="0"/>
          </a:xfrm>
          <a:prstGeom prst="line">
            <a:avLst/>
          </a:prstGeom>
          <a:noFill/>
          <a:ln w="31750">
            <a:solidFill>
              <a:srgbClr val="8C3A38"/>
            </a:solidFill>
            <a:prstDash val="solid"/>
          </a:ln>
        </p:spPr>
      </p:sp>
      <p:sp>
        <p:nvSpPr>
          <p:cNvPr id="6" name="Text 4"/>
          <p:cNvSpPr/>
          <p:nvPr/>
        </p:nvSpPr>
        <p:spPr>
          <a:xfrm>
            <a:off x="822960" y="4526280"/>
            <a:ext cx="7315200" cy="457200"/>
          </a:xfrm>
          <a:prstGeom prst="rect">
            <a:avLst/>
          </a:prstGeom>
          <a:noFill/>
          <a:ln/>
        </p:spPr>
        <p:txBody>
          <a:bodyPr wrap="square" lIns="0" tIns="0" rIns="0" bIns="0" rtlCol="0" anchor="ctr"/>
          <a:lstStyle/>
          <a:p>
            <a:pPr indent="0" marL="0">
              <a:buNone/>
            </a:pPr>
            <a:r>
              <a:rPr lang="en-US" sz="2200" i="1" dirty="0">
                <a:solidFill>
                  <a:srgbClr val="7A7F72"/>
                </a:solidFill>
                <a:latin typeface="Georgia" pitchFamily="34" charset="0"/>
                <a:ea typeface="Georgia" pitchFamily="34" charset="-122"/>
                <a:cs typeface="Georgia" pitchFamily="34" charset="-120"/>
              </a:rPr>
              <a:t>Images, Mediation and Modernity · Lesson 10</a:t>
            </a:r>
            <a:endParaRPr lang="en-US" sz="2200" dirty="0"/>
          </a:p>
        </p:txBody>
      </p:sp>
      <p:sp>
        <p:nvSpPr>
          <p:cNvPr id="7" name="Text 5"/>
          <p:cNvSpPr/>
          <p:nvPr/>
        </p:nvSpPr>
        <p:spPr>
          <a:xfrm>
            <a:off x="822960" y="5029200"/>
            <a:ext cx="9144000" cy="365760"/>
          </a:xfrm>
          <a:prstGeom prst="rect">
            <a:avLst/>
          </a:prstGeom>
          <a:noFill/>
          <a:ln/>
        </p:spPr>
        <p:txBody>
          <a:bodyPr wrap="square" lIns="0" tIns="0" rIns="0" bIns="0" rtlCol="0" anchor="ctr"/>
          <a:lstStyle/>
          <a:p>
            <a:pPr indent="0" marL="0">
              <a:buNone/>
            </a:pPr>
            <a:r>
              <a:rPr lang="en-US" sz="1300" spc="100" kern="0" dirty="0">
                <a:solidFill>
                  <a:srgbClr val="7A7F72"/>
                </a:solidFill>
                <a:latin typeface="Arial" pitchFamily="34" charset="0"/>
                <a:ea typeface="Arial" pitchFamily="34" charset="-122"/>
                <a:cs typeface="Arial" pitchFamily="34" charset="-120"/>
              </a:rPr>
              <a:t>Seven days across two split weeks  ·  Monday 23 November to Tuesday 1 December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4A6B5D"/>
        </a:solidFill>
      </p:bgPr>
    </p:bg>
    <p:spTree>
      <p:nvGrpSpPr>
        <p:cNvPr id="1" name=""/>
        <p:cNvGrpSpPr/>
        <p:nvPr/>
      </p:nvGrpSpPr>
      <p:grpSpPr>
        <a:xfrm>
          <a:off x="0" y="0"/>
          <a:ext cx="0" cy="0"/>
          <a:chOff x="0" y="0"/>
          <a:chExt cx="0" cy="0"/>
        </a:xfrm>
      </p:grpSpPr>
      <p:sp>
        <p:nvSpPr>
          <p:cNvPr id="2" name="Text 0"/>
          <p:cNvSpPr/>
          <p:nvPr/>
        </p:nvSpPr>
        <p:spPr>
          <a:xfrm>
            <a:off x="7863840" y="640080"/>
            <a:ext cx="3749040" cy="5577840"/>
          </a:xfrm>
          <a:prstGeom prst="rect">
            <a:avLst/>
          </a:prstGeom>
          <a:noFill/>
          <a:ln/>
        </p:spPr>
        <p:txBody>
          <a:bodyPr wrap="square" lIns="0" tIns="0" rIns="0" bIns="0" rtlCol="0" anchor="ctr"/>
          <a:lstStyle/>
          <a:p>
            <a:pPr algn="ctr" indent="0" marL="0">
              <a:buNone/>
            </a:pPr>
            <a:r>
              <a:rPr lang="en-US" sz="38000" dirty="0">
                <a:solidFill>
                  <a:srgbClr val="5C7A6B"/>
                </a:solidFill>
                <a:latin typeface="Georgia" pitchFamily="34" charset="0"/>
                <a:ea typeface="Georgia" pitchFamily="34" charset="-122"/>
                <a:cs typeface="Georgia" pitchFamily="34" charset="-120"/>
              </a:rPr>
              <a:t>X</a:t>
            </a:r>
            <a:endParaRPr lang="en-US" sz="38000" dirty="0"/>
          </a:p>
        </p:txBody>
      </p:sp>
      <p:sp>
        <p:nvSpPr>
          <p:cNvPr id="3" name="Text 1"/>
          <p:cNvSpPr/>
          <p:nvPr/>
        </p:nvSpPr>
        <p:spPr>
          <a:xfrm>
            <a:off x="822960" y="2286000"/>
            <a:ext cx="7315200" cy="274320"/>
          </a:xfrm>
          <a:prstGeom prst="rect">
            <a:avLst/>
          </a:prstGeom>
          <a:noFill/>
          <a:ln/>
        </p:spPr>
        <p:txBody>
          <a:bodyPr wrap="square" lIns="0" tIns="0" rIns="0" bIns="0" rtlCol="0" anchor="ctr"/>
          <a:lstStyle/>
          <a:p>
            <a:pPr algn="l" indent="0" marL="0">
              <a:buNone/>
            </a:pPr>
            <a:r>
              <a:rPr lang="en-US" sz="1100" b="1" spc="250" kern="0" dirty="0">
                <a:solidFill>
                  <a:srgbClr val="FAF8F1"/>
                </a:solidFill>
                <a:latin typeface="Arial" pitchFamily="34" charset="0"/>
                <a:ea typeface="Arial" pitchFamily="34" charset="-122"/>
                <a:cs typeface="Arial" pitchFamily="34" charset="-120"/>
              </a:rPr>
              <a:t>THE ARGUMENT</a:t>
            </a:r>
            <a:endParaRPr lang="en-US" sz="1100" dirty="0"/>
          </a:p>
        </p:txBody>
      </p:sp>
      <p:sp>
        <p:nvSpPr>
          <p:cNvPr id="4" name="Shape 2"/>
          <p:cNvSpPr/>
          <p:nvPr/>
        </p:nvSpPr>
        <p:spPr>
          <a:xfrm>
            <a:off x="822960" y="2651760"/>
            <a:ext cx="3840480" cy="0"/>
          </a:xfrm>
          <a:prstGeom prst="line">
            <a:avLst/>
          </a:prstGeom>
          <a:noFill/>
          <a:ln w="9525">
            <a:solidFill>
              <a:srgbClr val="8AA394"/>
            </a:solidFill>
            <a:prstDash val="solid"/>
          </a:ln>
        </p:spPr>
      </p:sp>
      <p:sp>
        <p:nvSpPr>
          <p:cNvPr id="5" name="Text 3"/>
          <p:cNvSpPr/>
          <p:nvPr/>
        </p:nvSpPr>
        <p:spPr>
          <a:xfrm>
            <a:off x="822960" y="2788920"/>
            <a:ext cx="7589520" cy="2194560"/>
          </a:xfrm>
          <a:prstGeom prst="rect">
            <a:avLst/>
          </a:prstGeom>
          <a:noFill/>
          <a:ln/>
        </p:spPr>
        <p:txBody>
          <a:bodyPr wrap="square" lIns="0" tIns="0" rIns="0" bIns="0" rtlCol="0" anchor="t"/>
          <a:lstStyle/>
          <a:p>
            <a:pPr indent="0" marL="0">
              <a:lnSpc>
                <a:spcPts val="5600"/>
              </a:lnSpc>
              <a:buNone/>
            </a:pPr>
            <a:r>
              <a:rPr lang="en-US" sz="5200" dirty="0">
                <a:solidFill>
                  <a:srgbClr val="FAF8F1"/>
                </a:solidFill>
                <a:latin typeface="Georgia" pitchFamily="34" charset="0"/>
                <a:ea typeface="Georgia" pitchFamily="34" charset="-122"/>
                <a:cs typeface="Georgia" pitchFamily="34" charset="-120"/>
              </a:rPr>
              <a:t>A reproduction is</a:t>
            </a:r>
            <a:endParaRPr lang="en-US" sz="5200" dirty="0"/>
          </a:p>
          <a:p>
            <a:pPr indent="0" marL="0">
              <a:lnSpc>
                <a:spcPts val="5600"/>
              </a:lnSpc>
              <a:buNone/>
            </a:pPr>
            <a:r>
              <a:rPr lang="en-US" sz="5200" dirty="0">
                <a:solidFill>
                  <a:srgbClr val="FAF8F1"/>
                </a:solidFill>
                <a:latin typeface="Georgia" pitchFamily="34" charset="0"/>
                <a:ea typeface="Georgia" pitchFamily="34" charset="-122"/>
                <a:cs typeface="Georgia" pitchFamily="34" charset="-120"/>
              </a:rPr>
              <a:t>not a neutral copy.</a:t>
            </a:r>
            <a:endParaRPr lang="en-US" sz="5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ivate/tmp/claude-501/-Users-dogan-Documents-Vaults-Courses/1131873b-e36e-44c1-91c0-268fb16c8435/scratchpad/img/crops/school-of-athens_a1777.jpg">    </p:cNvPr>
          <p:cNvPicPr>
            <a:picLocks noChangeAspect="1"/>
          </p:cNvPicPr>
          <p:nvPr/>
        </p:nvPicPr>
        <p:blipFill>
          <a:blip r:embed="rId1"/>
          <a:stretch>
            <a:fillRect/>
          </a:stretch>
        </p:blipFill>
        <p:spPr>
          <a:xfrm>
            <a:off x="0" y="0"/>
            <a:ext cx="12188952" cy="6858000"/>
          </a:xfrm>
          <a:prstGeom prst="rect">
            <a:avLst/>
          </a:prstGeom>
        </p:spPr>
      </p:pic>
      <p:sp>
        <p:nvSpPr>
          <p:cNvPr id="3" name="Shape 0"/>
          <p:cNvSpPr/>
          <p:nvPr/>
        </p:nvSpPr>
        <p:spPr>
          <a:xfrm>
            <a:off x="502920" y="502920"/>
            <a:ext cx="5120640" cy="502920"/>
          </a:xfrm>
          <a:prstGeom prst="rect">
            <a:avLst/>
          </a:prstGeom>
          <a:solidFill>
            <a:srgbClr val="FAF8F1"/>
          </a:solidFill>
          <a:ln/>
        </p:spPr>
      </p:sp>
      <p:sp>
        <p:nvSpPr>
          <p:cNvPr id="4" name="Text 1"/>
          <p:cNvSpPr/>
          <p:nvPr/>
        </p:nvSpPr>
        <p:spPr>
          <a:xfrm>
            <a:off x="704088" y="521208"/>
            <a:ext cx="484632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YOU HAVE SEEN THIS A HUNDRED TIMES</a:t>
            </a:r>
            <a:endParaRPr lang="en-US" sz="1100" dirty="0"/>
          </a:p>
        </p:txBody>
      </p:sp>
      <p:sp>
        <p:nvSpPr>
          <p:cNvPr id="5" name="Shape 2"/>
          <p:cNvSpPr/>
          <p:nvPr/>
        </p:nvSpPr>
        <p:spPr>
          <a:xfrm>
            <a:off x="502920" y="5486400"/>
            <a:ext cx="7315200" cy="932688"/>
          </a:xfrm>
          <a:prstGeom prst="rect">
            <a:avLst/>
          </a:prstGeom>
          <a:solidFill>
            <a:srgbClr val="FAF8F1"/>
          </a:solidFill>
          <a:ln/>
        </p:spPr>
      </p:sp>
      <p:sp>
        <p:nvSpPr>
          <p:cNvPr id="6" name="Shape 3"/>
          <p:cNvSpPr/>
          <p:nvPr/>
        </p:nvSpPr>
        <p:spPr>
          <a:xfrm>
            <a:off x="704088" y="5669280"/>
            <a:ext cx="731520" cy="0"/>
          </a:xfrm>
          <a:prstGeom prst="line">
            <a:avLst/>
          </a:prstGeom>
          <a:noFill/>
          <a:ln w="28575">
            <a:solidFill>
              <a:srgbClr val="8C3A38"/>
            </a:solidFill>
            <a:prstDash val="solid"/>
          </a:ln>
        </p:spPr>
      </p:sp>
      <p:sp>
        <p:nvSpPr>
          <p:cNvPr id="7" name="Text 4"/>
          <p:cNvSpPr/>
          <p:nvPr/>
        </p:nvSpPr>
        <p:spPr>
          <a:xfrm>
            <a:off x="704088" y="5724144"/>
            <a:ext cx="6912864" cy="457200"/>
          </a:xfrm>
          <a:prstGeom prst="rect">
            <a:avLst/>
          </a:prstGeom>
          <a:noFill/>
          <a:ln/>
        </p:spPr>
        <p:txBody>
          <a:bodyPr wrap="square" lIns="0" tIns="0" rIns="0" bIns="0" rtlCol="0" anchor="ctr"/>
          <a:lstStyle/>
          <a:p>
            <a:pPr indent="0" marL="0">
              <a:buNone/>
            </a:pPr>
            <a:r>
              <a:rPr lang="en-US" sz="2000" dirty="0">
                <a:solidFill>
                  <a:srgbClr val="24313F"/>
                </a:solidFill>
                <a:latin typeface="Georgia" pitchFamily="34" charset="0"/>
                <a:ea typeface="Georgia" pitchFamily="34" charset="-122"/>
                <a:cs typeface="Georgia" pitchFamily="34" charset="-120"/>
              </a:rPr>
              <a:t>On a mug, a phone, a textbook, a poster. Almost never the wall in Rome that is the thing itself.</a:t>
            </a:r>
            <a:endParaRPr lang="en-US" sz="2000" dirty="0"/>
          </a:p>
        </p:txBody>
      </p:sp>
      <p:sp>
        <p:nvSpPr>
          <p:cNvPr id="8" name="Text 5"/>
          <p:cNvSpPr/>
          <p:nvPr/>
        </p:nvSpPr>
        <p:spPr>
          <a:xfrm>
            <a:off x="704088" y="6144768"/>
            <a:ext cx="6912864" cy="256032"/>
          </a:xfrm>
          <a:prstGeom prst="rect">
            <a:avLst/>
          </a:prstGeom>
          <a:noFill/>
          <a:ln/>
        </p:spPr>
        <p:txBody>
          <a:bodyPr wrap="square" lIns="0" tIns="0" rIns="0" bIns="0" rtlCol="0" anchor="ctr"/>
          <a:lstStyle/>
          <a:p>
            <a:pPr indent="0" marL="0">
              <a:buNone/>
            </a:pPr>
            <a:r>
              <a:rPr lang="en-US" sz="950" spc="50" kern="0" dirty="0">
                <a:solidFill>
                  <a:srgbClr val="7A7F72"/>
                </a:solidFill>
                <a:latin typeface="Arial" pitchFamily="34" charset="0"/>
                <a:ea typeface="Arial" pitchFamily="34" charset="-122"/>
                <a:cs typeface="Arial" pitchFamily="34" charset="-120"/>
              </a:rPr>
              <a:t>Raphael, The School of Athens, 1509 to 1511, fresco</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EFE7"/>
        </a:solidFill>
      </p:bgPr>
    </p:bg>
    <p:spTree>
      <p:nvGrpSpPr>
        <p:cNvPr id="1" name=""/>
        <p:cNvGrpSpPr/>
        <p:nvPr/>
      </p:nvGrpSpPr>
      <p:grpSpPr>
        <a:xfrm>
          <a:off x="0" y="0"/>
          <a:ext cx="0" cy="0"/>
          <a:chOff x="0" y="0"/>
          <a:chExt cx="0" cy="0"/>
        </a:xfrm>
      </p:grpSpPr>
      <p:sp>
        <p:nvSpPr>
          <p:cNvPr id="2" name="Text 0"/>
          <p:cNvSpPr/>
          <p:nvPr/>
        </p:nvSpPr>
        <p:spPr>
          <a:xfrm>
            <a:off x="502920" y="548640"/>
            <a:ext cx="1828800" cy="1828800"/>
          </a:xfrm>
          <a:prstGeom prst="rect">
            <a:avLst/>
          </a:prstGeom>
          <a:noFill/>
          <a:ln/>
        </p:spPr>
        <p:txBody>
          <a:bodyPr wrap="square" lIns="0" tIns="0" rIns="0" bIns="0" rtlCol="0" anchor="t"/>
          <a:lstStyle/>
          <a:p>
            <a:pPr indent="0" marL="0">
              <a:buNone/>
            </a:pPr>
            <a:r>
              <a:rPr lang="en-US" sz="20000" dirty="0">
                <a:solidFill>
                  <a:srgbClr val="A3C1AD"/>
                </a:solidFill>
                <a:latin typeface="Georgia" pitchFamily="34" charset="0"/>
                <a:ea typeface="Georgia" pitchFamily="34" charset="-122"/>
                <a:cs typeface="Georgia" pitchFamily="34" charset="-120"/>
              </a:rPr>
              <a:t>“</a:t>
            </a:r>
            <a:endParaRPr lang="en-US" sz="20000" dirty="0"/>
          </a:p>
        </p:txBody>
      </p:sp>
      <p:sp>
        <p:nvSpPr>
          <p:cNvPr id="3" name="Text 1"/>
          <p:cNvSpPr/>
          <p:nvPr/>
        </p:nvSpPr>
        <p:spPr>
          <a:xfrm>
            <a:off x="822960" y="1783080"/>
            <a:ext cx="10424160" cy="3291840"/>
          </a:xfrm>
          <a:prstGeom prst="rect">
            <a:avLst/>
          </a:prstGeom>
          <a:noFill/>
          <a:ln/>
        </p:spPr>
        <p:txBody>
          <a:bodyPr wrap="square" lIns="0" tIns="0" rIns="0" bIns="0" rtlCol="0" anchor="ctr"/>
          <a:lstStyle/>
          <a:p>
            <a:pPr indent="0" marL="0">
              <a:lnSpc>
                <a:spcPts val="5400"/>
              </a:lnSpc>
              <a:buNone/>
            </a:pPr>
            <a:r>
              <a:rPr lang="en-US" sz="4600" dirty="0">
                <a:solidFill>
                  <a:srgbClr val="24313F"/>
                </a:solidFill>
                <a:latin typeface="Georgia" pitchFamily="34" charset="0"/>
                <a:ea typeface="Georgia" pitchFamily="34" charset="-122"/>
                <a:cs typeface="Georgia" pitchFamily="34" charset="-120"/>
              </a:rPr>
              <a:t>When the camera reproduces a painting, it destroys the uniqueness of its image.</a:t>
            </a:r>
            <a:endParaRPr lang="en-US" sz="4600" dirty="0"/>
          </a:p>
        </p:txBody>
      </p:sp>
      <p:sp>
        <p:nvSpPr>
          <p:cNvPr id="4" name="Shape 2"/>
          <p:cNvSpPr/>
          <p:nvPr/>
        </p:nvSpPr>
        <p:spPr>
          <a:xfrm>
            <a:off x="822960" y="5029200"/>
            <a:ext cx="914400" cy="0"/>
          </a:xfrm>
          <a:prstGeom prst="line">
            <a:avLst/>
          </a:prstGeom>
          <a:noFill/>
          <a:ln w="31750">
            <a:solidFill>
              <a:srgbClr val="8C3A38"/>
            </a:solidFill>
            <a:prstDash val="solid"/>
          </a:ln>
        </p:spPr>
      </p:sp>
      <p:sp>
        <p:nvSpPr>
          <p:cNvPr id="5" name="Text 3"/>
          <p:cNvSpPr/>
          <p:nvPr/>
        </p:nvSpPr>
        <p:spPr>
          <a:xfrm>
            <a:off x="822960" y="5212080"/>
            <a:ext cx="10058400" cy="457200"/>
          </a:xfrm>
          <a:prstGeom prst="rect">
            <a:avLst/>
          </a:prstGeom>
          <a:noFill/>
          <a:ln/>
        </p:spPr>
        <p:txBody>
          <a:bodyPr wrap="square" lIns="0" tIns="0" rIns="0" bIns="0" rtlCol="0" anchor="ctr"/>
          <a:lstStyle/>
          <a:p>
            <a:pPr indent="0" marL="0">
              <a:buNone/>
            </a:pPr>
            <a:r>
              <a:rPr lang="en-US" sz="1400" spc="100" kern="0" dirty="0">
                <a:solidFill>
                  <a:srgbClr val="4A6B5D"/>
                </a:solidFill>
                <a:latin typeface="Arial" pitchFamily="34" charset="0"/>
                <a:ea typeface="Arial" pitchFamily="34" charset="-122"/>
                <a:cs typeface="Arial" pitchFamily="34" charset="-120"/>
              </a:rPr>
              <a:t>John Berger, Ways of Seeing, 1972</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DAY TWO · ONE PAINTING</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FOUR CONTEXTS</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932688"/>
            <a:ext cx="10543032" cy="640080"/>
          </a:xfrm>
          <a:prstGeom prst="rect">
            <a:avLst/>
          </a:prstGeom>
          <a:noFill/>
          <a:ln/>
        </p:spPr>
        <p:txBody>
          <a:bodyPr wrap="square" lIns="0" tIns="0" rIns="0" bIns="0" rtlCol="0" anchor="ctr"/>
          <a:lstStyle/>
          <a:p>
            <a:pPr indent="0" marL="0">
              <a:buNone/>
            </a:pPr>
            <a:r>
              <a:rPr lang="en-US" sz="3200" dirty="0">
                <a:solidFill>
                  <a:srgbClr val="24313F"/>
                </a:solidFill>
                <a:latin typeface="Georgia" pitchFamily="34" charset="0"/>
                <a:ea typeface="Georgia" pitchFamily="34" charset="-122"/>
                <a:cs typeface="Georgia" pitchFamily="34" charset="-120"/>
              </a:rPr>
              <a:t>Change the frame, change the meaning</a:t>
            </a:r>
            <a:endParaRPr lang="en-US" sz="3200" dirty="0"/>
          </a:p>
        </p:txBody>
      </p:sp>
      <p:sp>
        <p:nvSpPr>
          <p:cNvPr id="6" name="Text 4"/>
          <p:cNvSpPr/>
          <p:nvPr/>
        </p:nvSpPr>
        <p:spPr>
          <a:xfrm>
            <a:off x="822960" y="1920240"/>
            <a:ext cx="914400" cy="548640"/>
          </a:xfrm>
          <a:prstGeom prst="rect">
            <a:avLst/>
          </a:prstGeom>
          <a:noFill/>
          <a:ln/>
        </p:spPr>
        <p:txBody>
          <a:bodyPr wrap="square" lIns="0" tIns="0" rIns="0" bIns="0" rtlCol="0" anchor="ctr"/>
          <a:lstStyle/>
          <a:p>
            <a:pPr indent="0" marL="0">
              <a:buNone/>
            </a:pPr>
            <a:r>
              <a:rPr lang="en-US" sz="3000" dirty="0">
                <a:solidFill>
                  <a:srgbClr val="A3C1AD"/>
                </a:solidFill>
                <a:latin typeface="Georgia" pitchFamily="34" charset="0"/>
                <a:ea typeface="Georgia" pitchFamily="34" charset="-122"/>
                <a:cs typeface="Georgia" pitchFamily="34" charset="-120"/>
              </a:rPr>
              <a:t>01</a:t>
            </a:r>
            <a:endParaRPr lang="en-US" sz="3000" dirty="0"/>
          </a:p>
        </p:txBody>
      </p:sp>
      <p:sp>
        <p:nvSpPr>
          <p:cNvPr id="7" name="Text 5"/>
          <p:cNvSpPr/>
          <p:nvPr/>
        </p:nvSpPr>
        <p:spPr>
          <a:xfrm>
            <a:off x="1737360" y="1938528"/>
            <a:ext cx="4082796" cy="457200"/>
          </a:xfrm>
          <a:prstGeom prst="rect">
            <a:avLst/>
          </a:prstGeom>
          <a:noFill/>
          <a:ln/>
        </p:spPr>
        <p:txBody>
          <a:bodyPr wrap="square" lIns="0" tIns="0" rIns="0" bIns="0" rtlCol="0" anchor="ctr"/>
          <a:lstStyle/>
          <a:p>
            <a:pPr indent="0" marL="0">
              <a:buNone/>
            </a:pPr>
            <a:r>
              <a:rPr lang="en-US" sz="2200" dirty="0">
                <a:solidFill>
                  <a:srgbClr val="4A6B5D"/>
                </a:solidFill>
                <a:latin typeface="Georgia" pitchFamily="34" charset="0"/>
                <a:ea typeface="Georgia" pitchFamily="34" charset="-122"/>
                <a:cs typeface="Georgia" pitchFamily="34" charset="-120"/>
              </a:rPr>
              <a:t>Gallery wall</a:t>
            </a:r>
            <a:endParaRPr lang="en-US" sz="2200" dirty="0"/>
          </a:p>
        </p:txBody>
      </p:sp>
      <p:sp>
        <p:nvSpPr>
          <p:cNvPr id="8" name="Text 6"/>
          <p:cNvSpPr/>
          <p:nvPr/>
        </p:nvSpPr>
        <p:spPr>
          <a:xfrm>
            <a:off x="1737360" y="2468880"/>
            <a:ext cx="4082796" cy="1188720"/>
          </a:xfrm>
          <a:prstGeom prst="rect">
            <a:avLst/>
          </a:prstGeom>
          <a:noFill/>
          <a:ln/>
        </p:spPr>
        <p:txBody>
          <a:bodyPr wrap="square" lIns="0" tIns="0" rIns="0" bIns="0" rtlCol="0" anchor="t"/>
          <a:lstStyle/>
          <a:p>
            <a:pPr indent="0" marL="0">
              <a:lnSpc>
                <a:spcPts val="2100"/>
              </a:lnSpc>
              <a:buNone/>
            </a:pPr>
            <a:r>
              <a:rPr lang="en-US" sz="1600" dirty="0">
                <a:solidFill>
                  <a:srgbClr val="24313F"/>
                </a:solidFill>
                <a:latin typeface="Georgia" pitchFamily="34" charset="0"/>
                <a:ea typeface="Georgia" pitchFamily="34" charset="-122"/>
                <a:cs typeface="Georgia" pitchFamily="34" charset="-120"/>
              </a:rPr>
              <a:t>Silent, still, one of a kind. You queue to stand in front of the thing itself.</a:t>
            </a:r>
            <a:endParaRPr lang="en-US" sz="1600" dirty="0"/>
          </a:p>
        </p:txBody>
      </p:sp>
      <p:sp>
        <p:nvSpPr>
          <p:cNvPr id="9" name="Text 7"/>
          <p:cNvSpPr/>
          <p:nvPr/>
        </p:nvSpPr>
        <p:spPr>
          <a:xfrm>
            <a:off x="6368796" y="1920240"/>
            <a:ext cx="914400" cy="548640"/>
          </a:xfrm>
          <a:prstGeom prst="rect">
            <a:avLst/>
          </a:prstGeom>
          <a:noFill/>
          <a:ln/>
        </p:spPr>
        <p:txBody>
          <a:bodyPr wrap="square" lIns="0" tIns="0" rIns="0" bIns="0" rtlCol="0" anchor="ctr"/>
          <a:lstStyle/>
          <a:p>
            <a:pPr indent="0" marL="0">
              <a:buNone/>
            </a:pPr>
            <a:r>
              <a:rPr lang="en-US" sz="3000" dirty="0">
                <a:solidFill>
                  <a:srgbClr val="A3C1AD"/>
                </a:solidFill>
                <a:latin typeface="Georgia" pitchFamily="34" charset="0"/>
                <a:ea typeface="Georgia" pitchFamily="34" charset="-122"/>
                <a:cs typeface="Georgia" pitchFamily="34" charset="-120"/>
              </a:rPr>
              <a:t>02</a:t>
            </a:r>
            <a:endParaRPr lang="en-US" sz="3000" dirty="0"/>
          </a:p>
        </p:txBody>
      </p:sp>
      <p:sp>
        <p:nvSpPr>
          <p:cNvPr id="10" name="Text 8"/>
          <p:cNvSpPr/>
          <p:nvPr/>
        </p:nvSpPr>
        <p:spPr>
          <a:xfrm>
            <a:off x="7283196" y="1938528"/>
            <a:ext cx="4082796" cy="457200"/>
          </a:xfrm>
          <a:prstGeom prst="rect">
            <a:avLst/>
          </a:prstGeom>
          <a:noFill/>
          <a:ln/>
        </p:spPr>
        <p:txBody>
          <a:bodyPr wrap="square" lIns="0" tIns="0" rIns="0" bIns="0" rtlCol="0" anchor="ctr"/>
          <a:lstStyle/>
          <a:p>
            <a:pPr indent="0" marL="0">
              <a:buNone/>
            </a:pPr>
            <a:r>
              <a:rPr lang="en-US" sz="2200" dirty="0">
                <a:solidFill>
                  <a:srgbClr val="4A6B5D"/>
                </a:solidFill>
                <a:latin typeface="Georgia" pitchFamily="34" charset="0"/>
                <a:ea typeface="Georgia" pitchFamily="34" charset="-122"/>
                <a:cs typeface="Georgia" pitchFamily="34" charset="-120"/>
              </a:rPr>
              <a:t>Phone screen</a:t>
            </a:r>
            <a:endParaRPr lang="en-US" sz="2200" dirty="0"/>
          </a:p>
        </p:txBody>
      </p:sp>
      <p:sp>
        <p:nvSpPr>
          <p:cNvPr id="11" name="Text 9"/>
          <p:cNvSpPr/>
          <p:nvPr/>
        </p:nvSpPr>
        <p:spPr>
          <a:xfrm>
            <a:off x="7283196" y="2468880"/>
            <a:ext cx="4082796" cy="1188720"/>
          </a:xfrm>
          <a:prstGeom prst="rect">
            <a:avLst/>
          </a:prstGeom>
          <a:noFill/>
          <a:ln/>
        </p:spPr>
        <p:txBody>
          <a:bodyPr wrap="square" lIns="0" tIns="0" rIns="0" bIns="0" rtlCol="0" anchor="t"/>
          <a:lstStyle/>
          <a:p>
            <a:pPr indent="0" marL="0">
              <a:lnSpc>
                <a:spcPts val="2100"/>
              </a:lnSpc>
              <a:buNone/>
            </a:pPr>
            <a:r>
              <a:rPr lang="en-US" sz="1600" dirty="0">
                <a:solidFill>
                  <a:srgbClr val="24313F"/>
                </a:solidFill>
                <a:latin typeface="Georgia" pitchFamily="34" charset="0"/>
                <a:ea typeface="Georgia" pitchFamily="34" charset="-122"/>
                <a:cs typeface="Georgia" pitchFamily="34" charset="-120"/>
              </a:rPr>
              <a:t>Thumb-sized, scrolled past, one image among ten thousand that day.</a:t>
            </a:r>
            <a:endParaRPr lang="en-US" sz="1600" dirty="0"/>
          </a:p>
        </p:txBody>
      </p:sp>
      <p:sp>
        <p:nvSpPr>
          <p:cNvPr id="12" name="Text 10"/>
          <p:cNvSpPr/>
          <p:nvPr/>
        </p:nvSpPr>
        <p:spPr>
          <a:xfrm>
            <a:off x="822960" y="4114800"/>
            <a:ext cx="914400" cy="548640"/>
          </a:xfrm>
          <a:prstGeom prst="rect">
            <a:avLst/>
          </a:prstGeom>
          <a:noFill/>
          <a:ln/>
        </p:spPr>
        <p:txBody>
          <a:bodyPr wrap="square" lIns="0" tIns="0" rIns="0" bIns="0" rtlCol="0" anchor="ctr"/>
          <a:lstStyle/>
          <a:p>
            <a:pPr indent="0" marL="0">
              <a:buNone/>
            </a:pPr>
            <a:r>
              <a:rPr lang="en-US" sz="3000" dirty="0">
                <a:solidFill>
                  <a:srgbClr val="A3C1AD"/>
                </a:solidFill>
                <a:latin typeface="Georgia" pitchFamily="34" charset="0"/>
                <a:ea typeface="Georgia" pitchFamily="34" charset="-122"/>
                <a:cs typeface="Georgia" pitchFamily="34" charset="-120"/>
              </a:rPr>
              <a:t>03</a:t>
            </a:r>
            <a:endParaRPr lang="en-US" sz="3000" dirty="0"/>
          </a:p>
        </p:txBody>
      </p:sp>
      <p:sp>
        <p:nvSpPr>
          <p:cNvPr id="13" name="Text 11"/>
          <p:cNvSpPr/>
          <p:nvPr/>
        </p:nvSpPr>
        <p:spPr>
          <a:xfrm>
            <a:off x="1737360" y="4133088"/>
            <a:ext cx="4082796" cy="457200"/>
          </a:xfrm>
          <a:prstGeom prst="rect">
            <a:avLst/>
          </a:prstGeom>
          <a:noFill/>
          <a:ln/>
        </p:spPr>
        <p:txBody>
          <a:bodyPr wrap="square" lIns="0" tIns="0" rIns="0" bIns="0" rtlCol="0" anchor="ctr"/>
          <a:lstStyle/>
          <a:p>
            <a:pPr indent="0" marL="0">
              <a:buNone/>
            </a:pPr>
            <a:r>
              <a:rPr lang="en-US" sz="2200" dirty="0">
                <a:solidFill>
                  <a:srgbClr val="4A6B5D"/>
                </a:solidFill>
                <a:latin typeface="Georgia" pitchFamily="34" charset="0"/>
                <a:ea typeface="Georgia" pitchFamily="34" charset="-122"/>
                <a:cs typeface="Georgia" pitchFamily="34" charset="-120"/>
              </a:rPr>
              <a:t>Textbook page</a:t>
            </a:r>
            <a:endParaRPr lang="en-US" sz="2200" dirty="0"/>
          </a:p>
        </p:txBody>
      </p:sp>
      <p:sp>
        <p:nvSpPr>
          <p:cNvPr id="14" name="Text 12"/>
          <p:cNvSpPr/>
          <p:nvPr/>
        </p:nvSpPr>
        <p:spPr>
          <a:xfrm>
            <a:off x="1737360" y="4663440"/>
            <a:ext cx="4082796" cy="1188720"/>
          </a:xfrm>
          <a:prstGeom prst="rect">
            <a:avLst/>
          </a:prstGeom>
          <a:noFill/>
          <a:ln/>
        </p:spPr>
        <p:txBody>
          <a:bodyPr wrap="square" lIns="0" tIns="0" rIns="0" bIns="0" rtlCol="0" anchor="t"/>
          <a:lstStyle/>
          <a:p>
            <a:pPr indent="0" marL="0">
              <a:lnSpc>
                <a:spcPts val="2100"/>
              </a:lnSpc>
              <a:buNone/>
            </a:pPr>
            <a:r>
              <a:rPr lang="en-US" sz="1600" dirty="0">
                <a:solidFill>
                  <a:srgbClr val="24313F"/>
                </a:solidFill>
                <a:latin typeface="Georgia" pitchFamily="34" charset="0"/>
                <a:ea typeface="Georgia" pitchFamily="34" charset="-122"/>
                <a:cs typeface="Georgia" pitchFamily="34" charset="-120"/>
              </a:rPr>
              <a:t>Captioned and dated, made to prove a point in someone else's argument.</a:t>
            </a:r>
            <a:endParaRPr lang="en-US" sz="1600" dirty="0"/>
          </a:p>
        </p:txBody>
      </p:sp>
      <p:sp>
        <p:nvSpPr>
          <p:cNvPr id="15" name="Text 13"/>
          <p:cNvSpPr/>
          <p:nvPr/>
        </p:nvSpPr>
        <p:spPr>
          <a:xfrm>
            <a:off x="6368796" y="4114800"/>
            <a:ext cx="914400" cy="548640"/>
          </a:xfrm>
          <a:prstGeom prst="rect">
            <a:avLst/>
          </a:prstGeom>
          <a:noFill/>
          <a:ln/>
        </p:spPr>
        <p:txBody>
          <a:bodyPr wrap="square" lIns="0" tIns="0" rIns="0" bIns="0" rtlCol="0" anchor="ctr"/>
          <a:lstStyle/>
          <a:p>
            <a:pPr indent="0" marL="0">
              <a:buNone/>
            </a:pPr>
            <a:r>
              <a:rPr lang="en-US" sz="3000" dirty="0">
                <a:solidFill>
                  <a:srgbClr val="A3C1AD"/>
                </a:solidFill>
                <a:latin typeface="Georgia" pitchFamily="34" charset="0"/>
                <a:ea typeface="Georgia" pitchFamily="34" charset="-122"/>
                <a:cs typeface="Georgia" pitchFamily="34" charset="-120"/>
              </a:rPr>
              <a:t>04</a:t>
            </a:r>
            <a:endParaRPr lang="en-US" sz="3000" dirty="0"/>
          </a:p>
        </p:txBody>
      </p:sp>
      <p:sp>
        <p:nvSpPr>
          <p:cNvPr id="16" name="Text 14"/>
          <p:cNvSpPr/>
          <p:nvPr/>
        </p:nvSpPr>
        <p:spPr>
          <a:xfrm>
            <a:off x="7283196" y="4133088"/>
            <a:ext cx="4082796" cy="457200"/>
          </a:xfrm>
          <a:prstGeom prst="rect">
            <a:avLst/>
          </a:prstGeom>
          <a:noFill/>
          <a:ln/>
        </p:spPr>
        <p:txBody>
          <a:bodyPr wrap="square" lIns="0" tIns="0" rIns="0" bIns="0" rtlCol="0" anchor="ctr"/>
          <a:lstStyle/>
          <a:p>
            <a:pPr indent="0" marL="0">
              <a:buNone/>
            </a:pPr>
            <a:r>
              <a:rPr lang="en-US" sz="2200" dirty="0">
                <a:solidFill>
                  <a:srgbClr val="4A6B5D"/>
                </a:solidFill>
                <a:latin typeface="Georgia" pitchFamily="34" charset="0"/>
                <a:ea typeface="Georgia" pitchFamily="34" charset="-122"/>
                <a:cs typeface="Georgia" pitchFamily="34" charset="-120"/>
              </a:rPr>
              <a:t>Advertisement</a:t>
            </a:r>
            <a:endParaRPr lang="en-US" sz="2200" dirty="0"/>
          </a:p>
        </p:txBody>
      </p:sp>
      <p:sp>
        <p:nvSpPr>
          <p:cNvPr id="17" name="Text 15"/>
          <p:cNvSpPr/>
          <p:nvPr/>
        </p:nvSpPr>
        <p:spPr>
          <a:xfrm>
            <a:off x="7283196" y="4663440"/>
            <a:ext cx="4082796" cy="1188720"/>
          </a:xfrm>
          <a:prstGeom prst="rect">
            <a:avLst/>
          </a:prstGeom>
          <a:noFill/>
          <a:ln/>
        </p:spPr>
        <p:txBody>
          <a:bodyPr wrap="square" lIns="0" tIns="0" rIns="0" bIns="0" rtlCol="0" anchor="t"/>
          <a:lstStyle/>
          <a:p>
            <a:pPr indent="0" marL="0">
              <a:lnSpc>
                <a:spcPts val="2100"/>
              </a:lnSpc>
              <a:buNone/>
            </a:pPr>
            <a:r>
              <a:rPr lang="en-US" sz="1600" dirty="0">
                <a:solidFill>
                  <a:srgbClr val="24313F"/>
                </a:solidFill>
                <a:latin typeface="Georgia" pitchFamily="34" charset="0"/>
                <a:ea typeface="Georgia" pitchFamily="34" charset="-122"/>
                <a:cs typeface="Georgia" pitchFamily="34" charset="-120"/>
              </a:rPr>
              <a:t>Cropped and tinted, borrowing the painting's authority to sell you something.</a:t>
            </a:r>
            <a:endParaRPr lang="en-US" sz="1600" dirty="0"/>
          </a:p>
        </p:txBody>
      </p:sp>
      <p:sp>
        <p:nvSpPr>
          <p:cNvPr id="18" name="Shape 16"/>
          <p:cNvSpPr/>
          <p:nvPr/>
        </p:nvSpPr>
        <p:spPr>
          <a:xfrm>
            <a:off x="822960" y="6382512"/>
            <a:ext cx="10543032" cy="0"/>
          </a:xfrm>
          <a:prstGeom prst="line">
            <a:avLst/>
          </a:prstGeom>
          <a:noFill/>
          <a:ln w="9525">
            <a:solidFill>
              <a:srgbClr val="D9D4C4"/>
            </a:solidFill>
            <a:prstDash val="solid"/>
          </a:ln>
        </p:spPr>
      </p:sp>
      <p:sp>
        <p:nvSpPr>
          <p:cNvPr id="19" name="Text 17"/>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ART APPRECIATION · SEMESTER I</a:t>
            </a:r>
            <a:endParaRPr lang="en-US" sz="900" dirty="0"/>
          </a:p>
        </p:txBody>
      </p:sp>
      <p:sp>
        <p:nvSpPr>
          <p:cNvPr id="20" name="Text 18"/>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01</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8EFE7"/>
        </a:solidFill>
      </p:bgPr>
    </p:bg>
    <p:spTree>
      <p:nvGrpSpPr>
        <p:cNvPr id="1" name=""/>
        <p:cNvGrpSpPr/>
        <p:nvPr/>
      </p:nvGrpSpPr>
      <p:grpSpPr>
        <a:xfrm>
          <a:off x="0" y="0"/>
          <a:ext cx="0" cy="0"/>
          <a:chOff x="0" y="0"/>
          <a:chExt cx="0" cy="0"/>
        </a:xfrm>
      </p:grpSpPr>
      <p:sp>
        <p:nvSpPr>
          <p:cNvPr id="2" name="Text 0"/>
          <p:cNvSpPr/>
          <p:nvPr/>
        </p:nvSpPr>
        <p:spPr>
          <a:xfrm>
            <a:off x="502920" y="548640"/>
            <a:ext cx="1828800" cy="1828800"/>
          </a:xfrm>
          <a:prstGeom prst="rect">
            <a:avLst/>
          </a:prstGeom>
          <a:noFill/>
          <a:ln/>
        </p:spPr>
        <p:txBody>
          <a:bodyPr wrap="square" lIns="0" tIns="0" rIns="0" bIns="0" rtlCol="0" anchor="t"/>
          <a:lstStyle/>
          <a:p>
            <a:pPr indent="0" marL="0">
              <a:buNone/>
            </a:pPr>
            <a:r>
              <a:rPr lang="en-US" sz="20000" dirty="0">
                <a:solidFill>
                  <a:srgbClr val="A3C1AD"/>
                </a:solidFill>
                <a:latin typeface="Georgia" pitchFamily="34" charset="0"/>
                <a:ea typeface="Georgia" pitchFamily="34" charset="-122"/>
                <a:cs typeface="Georgia" pitchFamily="34" charset="-120"/>
              </a:rPr>
              <a:t>“</a:t>
            </a:r>
            <a:endParaRPr lang="en-US" sz="20000" dirty="0"/>
          </a:p>
        </p:txBody>
      </p:sp>
      <p:sp>
        <p:nvSpPr>
          <p:cNvPr id="3" name="Text 1"/>
          <p:cNvSpPr/>
          <p:nvPr/>
        </p:nvSpPr>
        <p:spPr>
          <a:xfrm>
            <a:off x="822960" y="1783080"/>
            <a:ext cx="10424160" cy="3291840"/>
          </a:xfrm>
          <a:prstGeom prst="rect">
            <a:avLst/>
          </a:prstGeom>
          <a:noFill/>
          <a:ln/>
        </p:spPr>
        <p:txBody>
          <a:bodyPr wrap="square" lIns="0" tIns="0" rIns="0" bIns="0" rtlCol="0" anchor="ctr"/>
          <a:lstStyle/>
          <a:p>
            <a:pPr indent="0" marL="0">
              <a:lnSpc>
                <a:spcPts val="5600"/>
              </a:lnSpc>
              <a:buNone/>
            </a:pPr>
            <a:r>
              <a:rPr lang="en-US" sz="4800" dirty="0">
                <a:solidFill>
                  <a:srgbClr val="24313F"/>
                </a:solidFill>
                <a:latin typeface="Georgia" pitchFamily="34" charset="0"/>
                <a:ea typeface="Georgia" pitchFamily="34" charset="-122"/>
                <a:cs typeface="Georgia" pitchFamily="34" charset="-120"/>
              </a:rPr>
              <a:t>The way we see things is affected by what we know or what we believe.</a:t>
            </a:r>
            <a:endParaRPr lang="en-US" sz="4800" dirty="0"/>
          </a:p>
        </p:txBody>
      </p:sp>
      <p:sp>
        <p:nvSpPr>
          <p:cNvPr id="4" name="Shape 2"/>
          <p:cNvSpPr/>
          <p:nvPr/>
        </p:nvSpPr>
        <p:spPr>
          <a:xfrm>
            <a:off x="822960" y="5029200"/>
            <a:ext cx="914400" cy="0"/>
          </a:xfrm>
          <a:prstGeom prst="line">
            <a:avLst/>
          </a:prstGeom>
          <a:noFill/>
          <a:ln w="31750">
            <a:solidFill>
              <a:srgbClr val="8C3A38"/>
            </a:solidFill>
            <a:prstDash val="solid"/>
          </a:ln>
        </p:spPr>
      </p:sp>
      <p:sp>
        <p:nvSpPr>
          <p:cNvPr id="5" name="Text 3"/>
          <p:cNvSpPr/>
          <p:nvPr/>
        </p:nvSpPr>
        <p:spPr>
          <a:xfrm>
            <a:off x="822960" y="5212080"/>
            <a:ext cx="10058400" cy="457200"/>
          </a:xfrm>
          <a:prstGeom prst="rect">
            <a:avLst/>
          </a:prstGeom>
          <a:noFill/>
          <a:ln/>
        </p:spPr>
        <p:txBody>
          <a:bodyPr wrap="square" lIns="0" tIns="0" rIns="0" bIns="0" rtlCol="0" anchor="ctr"/>
          <a:lstStyle/>
          <a:p>
            <a:pPr indent="0" marL="0">
              <a:buNone/>
            </a:pPr>
            <a:r>
              <a:rPr lang="en-US" sz="1400" spc="100" kern="0" dirty="0">
                <a:solidFill>
                  <a:srgbClr val="4A6B5D"/>
                </a:solidFill>
                <a:latin typeface="Arial" pitchFamily="34" charset="0"/>
                <a:ea typeface="Arial" pitchFamily="34" charset="-122"/>
                <a:cs typeface="Arial" pitchFamily="34" charset="-120"/>
              </a:rPr>
              <a:t>John Berger, Ways of Seeing, 1972</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DAY FIVE · THE DELIVERABLE</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THE CAPTION THAT CHANGES THE PICTURE</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280160"/>
            <a:ext cx="10543032" cy="914400"/>
          </a:xfrm>
          <a:prstGeom prst="rect">
            <a:avLst/>
          </a:prstGeom>
          <a:noFill/>
          <a:ln/>
        </p:spPr>
        <p:txBody>
          <a:bodyPr wrap="square" lIns="0" tIns="0" rIns="0" bIns="0" rtlCol="0" anchor="ctr"/>
          <a:lstStyle/>
          <a:p>
            <a:pPr indent="0" marL="0">
              <a:buNone/>
            </a:pPr>
            <a:r>
              <a:rPr lang="en-US" sz="4400" dirty="0">
                <a:solidFill>
                  <a:srgbClr val="24313F"/>
                </a:solidFill>
                <a:latin typeface="Georgia" pitchFamily="34" charset="0"/>
                <a:ea typeface="Georgia" pitchFamily="34" charset="-122"/>
                <a:cs typeface="Georgia" pitchFamily="34" charset="-120"/>
              </a:rPr>
              <a:t>Two captions, one image</a:t>
            </a:r>
            <a:endParaRPr lang="en-US" sz="4400" dirty="0"/>
          </a:p>
        </p:txBody>
      </p:sp>
      <p:sp>
        <p:nvSpPr>
          <p:cNvPr id="6" name="Shape 4"/>
          <p:cNvSpPr/>
          <p:nvPr/>
        </p:nvSpPr>
        <p:spPr>
          <a:xfrm>
            <a:off x="822960" y="2514600"/>
            <a:ext cx="914400" cy="0"/>
          </a:xfrm>
          <a:prstGeom prst="line">
            <a:avLst/>
          </a:prstGeom>
          <a:noFill/>
          <a:ln w="31750">
            <a:solidFill>
              <a:srgbClr val="8C3A38"/>
            </a:solidFill>
            <a:prstDash val="solid"/>
          </a:ln>
        </p:spPr>
      </p:sp>
      <p:sp>
        <p:nvSpPr>
          <p:cNvPr id="7" name="Text 5"/>
          <p:cNvSpPr/>
          <p:nvPr/>
        </p:nvSpPr>
        <p:spPr>
          <a:xfrm>
            <a:off x="822960" y="2743200"/>
            <a:ext cx="9692640" cy="2194560"/>
          </a:xfrm>
          <a:prstGeom prst="rect">
            <a:avLst/>
          </a:prstGeom>
          <a:noFill/>
          <a:ln/>
        </p:spPr>
        <p:txBody>
          <a:bodyPr wrap="square" lIns="0" tIns="0" rIns="0" bIns="0" rtlCol="0" anchor="t"/>
          <a:lstStyle/>
          <a:p>
            <a:pPr indent="0" marL="0">
              <a:lnSpc>
                <a:spcPts val="3200"/>
              </a:lnSpc>
              <a:buNone/>
            </a:pPr>
            <a:r>
              <a:rPr lang="en-US" sz="2200" dirty="0">
                <a:solidFill>
                  <a:srgbClr val="24313F"/>
                </a:solidFill>
                <a:latin typeface="Georgia" pitchFamily="34" charset="0"/>
                <a:ea typeface="Georgia" pitchFamily="34" charset="-122"/>
                <a:cs typeface="Georgia" pitchFamily="34" charset="-120"/>
              </a:rPr>
              <a:t>Write the caption that bends the picture to a lie, then write the honest one beside it. The image did not change. Everything you were told to see in it did. That gap is the whole unit.</a:t>
            </a:r>
            <a:endParaRPr lang="en-US" sz="2200" dirty="0"/>
          </a:p>
        </p:txBody>
      </p:sp>
      <p:sp>
        <p:nvSpPr>
          <p:cNvPr id="8" name="Shape 6"/>
          <p:cNvSpPr/>
          <p:nvPr/>
        </p:nvSpPr>
        <p:spPr>
          <a:xfrm>
            <a:off x="822960" y="6382512"/>
            <a:ext cx="10543032" cy="0"/>
          </a:xfrm>
          <a:prstGeom prst="line">
            <a:avLst/>
          </a:prstGeom>
          <a:noFill/>
          <a:ln w="9525">
            <a:solidFill>
              <a:srgbClr val="D9D4C4"/>
            </a:solidFill>
            <a:prstDash val="solid"/>
          </a:ln>
        </p:spPr>
      </p:sp>
      <p:sp>
        <p:nvSpPr>
          <p:cNvPr id="9" name="Text 7"/>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ART APPRECIATION · SEMESTER I</a:t>
            </a:r>
            <a:endParaRPr lang="en-US" sz="900" dirty="0"/>
          </a:p>
        </p:txBody>
      </p:sp>
      <p:sp>
        <p:nvSpPr>
          <p:cNvPr id="10" name="Text 8"/>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02</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DAY SIX · GODARD</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SHOWN IN CLASS, NOT HERE</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005840"/>
            <a:ext cx="10543032" cy="731520"/>
          </a:xfrm>
          <a:prstGeom prst="rect">
            <a:avLst/>
          </a:prstGeom>
          <a:noFill/>
          <a:ln/>
        </p:spPr>
        <p:txBody>
          <a:bodyPr wrap="square" lIns="0" tIns="0" rIns="0" bIns="0" rtlCol="0" anchor="ctr"/>
          <a:lstStyle/>
          <a:p>
            <a:pPr indent="0" marL="0">
              <a:buNone/>
            </a:pPr>
            <a:r>
              <a:rPr lang="en-US" sz="3800" dirty="0">
                <a:solidFill>
                  <a:srgbClr val="24313F"/>
                </a:solidFill>
                <a:latin typeface="Georgia" pitchFamily="34" charset="0"/>
                <a:ea typeface="Georgia" pitchFamily="34" charset="-122"/>
                <a:cs typeface="Georgia" pitchFamily="34" charset="-120"/>
              </a:rPr>
              <a:t>An image that refuses to add up</a:t>
            </a:r>
            <a:endParaRPr lang="en-US" sz="3800" dirty="0"/>
          </a:p>
        </p:txBody>
      </p:sp>
      <p:sp>
        <p:nvSpPr>
          <p:cNvPr id="6" name="Text 4"/>
          <p:cNvSpPr/>
          <p:nvPr/>
        </p:nvSpPr>
        <p:spPr>
          <a:xfrm>
            <a:off x="822960" y="1783080"/>
            <a:ext cx="8229600" cy="365760"/>
          </a:xfrm>
          <a:prstGeom prst="rect">
            <a:avLst/>
          </a:prstGeom>
          <a:noFill/>
          <a:ln/>
        </p:spPr>
        <p:txBody>
          <a:bodyPr wrap="square" lIns="0" tIns="0" rIns="0" bIns="0" rtlCol="0" anchor="ctr"/>
          <a:lstStyle/>
          <a:p>
            <a:pPr indent="0" marL="0">
              <a:buNone/>
            </a:pPr>
            <a:r>
              <a:rPr lang="en-US" sz="1200" spc="100" kern="0" dirty="0">
                <a:solidFill>
                  <a:srgbClr val="7A7F72"/>
                </a:solidFill>
                <a:latin typeface="Arial" pitchFamily="34" charset="0"/>
                <a:ea typeface="Arial" pitchFamily="34" charset="-122"/>
                <a:cs typeface="Arial" pitchFamily="34" charset="-120"/>
              </a:rPr>
              <a:t>Goodbye to Language, one extract, under ten minutes</a:t>
            </a:r>
            <a:endParaRPr lang="en-US" sz="1200" dirty="0"/>
          </a:p>
        </p:txBody>
      </p:sp>
      <p:sp>
        <p:nvSpPr>
          <p:cNvPr id="7" name="Shape 5"/>
          <p:cNvSpPr/>
          <p:nvPr/>
        </p:nvSpPr>
        <p:spPr>
          <a:xfrm>
            <a:off x="822960" y="2331720"/>
            <a:ext cx="914400" cy="0"/>
          </a:xfrm>
          <a:prstGeom prst="line">
            <a:avLst/>
          </a:prstGeom>
          <a:noFill/>
          <a:ln w="31750">
            <a:solidFill>
              <a:srgbClr val="8C3A38"/>
            </a:solidFill>
            <a:prstDash val="solid"/>
          </a:ln>
        </p:spPr>
      </p:sp>
      <p:sp>
        <p:nvSpPr>
          <p:cNvPr id="8" name="Text 6"/>
          <p:cNvSpPr/>
          <p:nvPr/>
        </p:nvSpPr>
        <p:spPr>
          <a:xfrm>
            <a:off x="822960" y="2560320"/>
            <a:ext cx="9692640" cy="2011680"/>
          </a:xfrm>
          <a:prstGeom prst="rect">
            <a:avLst/>
          </a:prstGeom>
          <a:noFill/>
          <a:ln/>
        </p:spPr>
        <p:txBody>
          <a:bodyPr wrap="square" lIns="0" tIns="0" rIns="0" bIns="0" rtlCol="0" anchor="t"/>
          <a:lstStyle/>
          <a:p>
            <a:pPr indent="0" marL="0">
              <a:lnSpc>
                <a:spcPts val="3000"/>
              </a:lnSpc>
              <a:buNone/>
            </a:pPr>
            <a:r>
              <a:rPr lang="en-US" sz="2100" dirty="0">
                <a:solidFill>
                  <a:srgbClr val="24313F"/>
                </a:solidFill>
                <a:latin typeface="Georgia" pitchFamily="34" charset="0"/>
                <a:ea typeface="Georgia" pitchFamily="34" charset="-122"/>
                <a:cs typeface="Georgia" pitchFamily="34" charset="-120"/>
              </a:rPr>
              <a:t>Sit with an image that will not resolve, and stay with it. The goal is not to understand the film. It is to feel what it is like when an image refuses the meaning you keep trying to give it.</a:t>
            </a:r>
            <a:endParaRPr lang="en-US" sz="2100" dirty="0"/>
          </a:p>
        </p:txBody>
      </p:sp>
      <p:sp>
        <p:nvSpPr>
          <p:cNvPr id="9" name="Text 7"/>
          <p:cNvSpPr/>
          <p:nvPr/>
        </p:nvSpPr>
        <p:spPr>
          <a:xfrm>
            <a:off x="822960" y="4846320"/>
            <a:ext cx="9144000" cy="457200"/>
          </a:xfrm>
          <a:prstGeom prst="rect">
            <a:avLst/>
          </a:prstGeom>
          <a:noFill/>
          <a:ln/>
        </p:spPr>
        <p:txBody>
          <a:bodyPr wrap="square" lIns="0" tIns="0" rIns="0" bIns="0" rtlCol="0" anchor="ctr"/>
          <a:lstStyle/>
          <a:p>
            <a:pPr indent="0" marL="0">
              <a:buNone/>
            </a:pPr>
            <a:r>
              <a:rPr lang="en-US" sz="1300" i="1" dirty="0">
                <a:solidFill>
                  <a:srgbClr val="7A7F72"/>
                </a:solidFill>
                <a:latin typeface="Arial" pitchFamily="34" charset="0"/>
                <a:ea typeface="Arial" pitchFamily="34" charset="-122"/>
                <a:cs typeface="Arial" pitchFamily="34" charset="-120"/>
              </a:rPr>
              <a:t>A provocation, kept short. The full film would take three sessions this lesson does not have.</a:t>
            </a:r>
            <a:endParaRPr lang="en-US" sz="1300" dirty="0"/>
          </a:p>
        </p:txBody>
      </p:sp>
      <p:sp>
        <p:nvSpPr>
          <p:cNvPr id="10" name="Shape 8"/>
          <p:cNvSpPr/>
          <p:nvPr/>
        </p:nvSpPr>
        <p:spPr>
          <a:xfrm>
            <a:off x="822960" y="6382512"/>
            <a:ext cx="10543032" cy="0"/>
          </a:xfrm>
          <a:prstGeom prst="line">
            <a:avLst/>
          </a:prstGeom>
          <a:noFill/>
          <a:ln w="9525">
            <a:solidFill>
              <a:srgbClr val="D9D4C4"/>
            </a:solidFill>
            <a:prstDash val="solid"/>
          </a:ln>
        </p:spPr>
      </p:sp>
      <p:sp>
        <p:nvSpPr>
          <p:cNvPr id="11" name="Text 9"/>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ART APPRECIATION · SEMESTER I</a:t>
            </a:r>
            <a:endParaRPr lang="en-US" sz="900" dirty="0"/>
          </a:p>
        </p:txBody>
      </p:sp>
      <p:sp>
        <p:nvSpPr>
          <p:cNvPr id="12" name="Text 10"/>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03</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ivate/tmp/claude-501/-Users-dogan-Documents-Vaults-Courses/1131873b-e36e-44c1-91c0-268fb16c8435/scratchpad/img/crops/utamaro_a1777.jpg">    </p:cNvPr>
          <p:cNvPicPr>
            <a:picLocks noChangeAspect="1"/>
          </p:cNvPicPr>
          <p:nvPr/>
        </p:nvPicPr>
        <p:blipFill>
          <a:blip r:embed="rId1"/>
          <a:stretch>
            <a:fillRect/>
          </a:stretch>
        </p:blipFill>
        <p:spPr>
          <a:xfrm>
            <a:off x="0" y="0"/>
            <a:ext cx="12188952" cy="6858000"/>
          </a:xfrm>
          <a:prstGeom prst="rect">
            <a:avLst/>
          </a:prstGeom>
        </p:spPr>
      </p:pic>
      <p:sp>
        <p:nvSpPr>
          <p:cNvPr id="3" name="Shape 0"/>
          <p:cNvSpPr/>
          <p:nvPr/>
        </p:nvSpPr>
        <p:spPr>
          <a:xfrm>
            <a:off x="502920" y="502920"/>
            <a:ext cx="5120640" cy="502920"/>
          </a:xfrm>
          <a:prstGeom prst="rect">
            <a:avLst/>
          </a:prstGeom>
          <a:solidFill>
            <a:srgbClr val="FAF8F1"/>
          </a:solidFill>
          <a:ln/>
        </p:spPr>
      </p:sp>
      <p:sp>
        <p:nvSpPr>
          <p:cNvPr id="4" name="Text 1"/>
          <p:cNvSpPr/>
          <p:nvPr/>
        </p:nvSpPr>
        <p:spPr>
          <a:xfrm>
            <a:off x="704088" y="521208"/>
            <a:ext cx="484632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DAY SEVEN · THE FLOATING WORLD</a:t>
            </a:r>
            <a:endParaRPr lang="en-US" sz="1100" dirty="0"/>
          </a:p>
        </p:txBody>
      </p:sp>
      <p:sp>
        <p:nvSpPr>
          <p:cNvPr id="5" name="Shape 2"/>
          <p:cNvSpPr/>
          <p:nvPr/>
        </p:nvSpPr>
        <p:spPr>
          <a:xfrm>
            <a:off x="502920" y="5486400"/>
            <a:ext cx="7315200" cy="932688"/>
          </a:xfrm>
          <a:prstGeom prst="rect">
            <a:avLst/>
          </a:prstGeom>
          <a:solidFill>
            <a:srgbClr val="FAF8F1"/>
          </a:solidFill>
          <a:ln/>
        </p:spPr>
      </p:sp>
      <p:sp>
        <p:nvSpPr>
          <p:cNvPr id="6" name="Shape 3"/>
          <p:cNvSpPr/>
          <p:nvPr/>
        </p:nvSpPr>
        <p:spPr>
          <a:xfrm>
            <a:off x="704088" y="5669280"/>
            <a:ext cx="731520" cy="0"/>
          </a:xfrm>
          <a:prstGeom prst="line">
            <a:avLst/>
          </a:prstGeom>
          <a:noFill/>
          <a:ln w="28575">
            <a:solidFill>
              <a:srgbClr val="8C3A38"/>
            </a:solidFill>
            <a:prstDash val="solid"/>
          </a:ln>
        </p:spPr>
      </p:sp>
      <p:sp>
        <p:nvSpPr>
          <p:cNvPr id="7" name="Text 4"/>
          <p:cNvSpPr/>
          <p:nvPr/>
        </p:nvSpPr>
        <p:spPr>
          <a:xfrm>
            <a:off x="704088" y="5724144"/>
            <a:ext cx="6912864" cy="457200"/>
          </a:xfrm>
          <a:prstGeom prst="rect">
            <a:avLst/>
          </a:prstGeom>
          <a:noFill/>
          <a:ln/>
        </p:spPr>
        <p:txBody>
          <a:bodyPr wrap="square" lIns="0" tIns="0" rIns="0" bIns="0" rtlCol="0" anchor="ctr"/>
          <a:lstStyle/>
          <a:p>
            <a:pPr indent="0" marL="0">
              <a:buNone/>
            </a:pPr>
            <a:r>
              <a:rPr lang="en-US" sz="2000" dirty="0">
                <a:solidFill>
                  <a:srgbClr val="24313F"/>
                </a:solidFill>
                <a:latin typeface="Georgia" pitchFamily="34" charset="0"/>
                <a:ea typeface="Georgia" pitchFamily="34" charset="-122"/>
                <a:cs typeface="Georgia" pitchFamily="34" charset="-120"/>
              </a:rPr>
              <a:t>A market, not a mood: prints pulled by the hundred, cheap, current, made to circulate.</a:t>
            </a:r>
            <a:endParaRPr lang="en-US" sz="2000" dirty="0"/>
          </a:p>
        </p:txBody>
      </p:sp>
      <p:sp>
        <p:nvSpPr>
          <p:cNvPr id="8" name="Text 5"/>
          <p:cNvSpPr/>
          <p:nvPr/>
        </p:nvSpPr>
        <p:spPr>
          <a:xfrm>
            <a:off x="704088" y="6144768"/>
            <a:ext cx="6912864" cy="256032"/>
          </a:xfrm>
          <a:prstGeom prst="rect">
            <a:avLst/>
          </a:prstGeom>
          <a:noFill/>
          <a:ln/>
        </p:spPr>
        <p:txBody>
          <a:bodyPr wrap="square" lIns="0" tIns="0" rIns="0" bIns="0" rtlCol="0" anchor="ctr"/>
          <a:lstStyle/>
          <a:p>
            <a:pPr indent="0" marL="0">
              <a:buNone/>
            </a:pPr>
            <a:r>
              <a:rPr lang="en-US" sz="950" spc="50" kern="0" dirty="0">
                <a:solidFill>
                  <a:srgbClr val="7A7F72"/>
                </a:solidFill>
                <a:latin typeface="Arial" pitchFamily="34" charset="0"/>
                <a:ea typeface="Arial" pitchFamily="34" charset="-122"/>
                <a:cs typeface="Arial" pitchFamily="34" charset="-120"/>
              </a:rPr>
              <a:t>Kitagawa Utamaro, Two Women by a Bamboo Blind, c. 1797</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ASSESSMENT · A4</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ANNOUNCED DAY SEVEN</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005840"/>
            <a:ext cx="10543032" cy="731520"/>
          </a:xfrm>
          <a:prstGeom prst="rect">
            <a:avLst/>
          </a:prstGeom>
          <a:noFill/>
          <a:ln/>
        </p:spPr>
        <p:txBody>
          <a:bodyPr wrap="square" lIns="0" tIns="0" rIns="0" bIns="0" rtlCol="0" anchor="ctr"/>
          <a:lstStyle/>
          <a:p>
            <a:pPr indent="0" marL="0">
              <a:buNone/>
            </a:pPr>
            <a:r>
              <a:rPr lang="en-US" sz="4000" dirty="0">
                <a:solidFill>
                  <a:srgbClr val="24313F"/>
                </a:solidFill>
                <a:latin typeface="Georgia" pitchFamily="34" charset="0"/>
                <a:ea typeface="Georgia" pitchFamily="34" charset="-122"/>
                <a:cs typeface="Georgia" pitchFamily="34" charset="-120"/>
              </a:rPr>
              <a:t>The Unit 4 synthesis</a:t>
            </a:r>
            <a:endParaRPr lang="en-US" sz="4000" dirty="0"/>
          </a:p>
        </p:txBody>
      </p:sp>
      <p:sp>
        <p:nvSpPr>
          <p:cNvPr id="6" name="Text 4"/>
          <p:cNvSpPr/>
          <p:nvPr/>
        </p:nvSpPr>
        <p:spPr>
          <a:xfrm>
            <a:off x="822960" y="1965960"/>
            <a:ext cx="9601200" cy="548640"/>
          </a:xfrm>
          <a:prstGeom prst="rect">
            <a:avLst/>
          </a:prstGeom>
          <a:noFill/>
          <a:ln/>
        </p:spPr>
        <p:txBody>
          <a:bodyPr wrap="square" lIns="0" tIns="0" rIns="0" bIns="0" rtlCol="0" anchor="ctr"/>
          <a:lstStyle/>
          <a:p>
            <a:pPr indent="0" marL="0">
              <a:buNone/>
            </a:pPr>
            <a:r>
              <a:rPr lang="en-US" sz="2300" dirty="0">
                <a:solidFill>
                  <a:srgbClr val="4A6B5D"/>
                </a:solidFill>
                <a:latin typeface="Georgia" pitchFamily="34" charset="0"/>
                <a:ea typeface="Georgia" pitchFamily="34" charset="-122"/>
                <a:cs typeface="Georgia" pitchFamily="34" charset="-120"/>
              </a:rPr>
              <a:t>Announced Tuesday 1 December, in the first ten minutes.</a:t>
            </a:r>
            <a:endParaRPr lang="en-US" sz="2300" dirty="0"/>
          </a:p>
        </p:txBody>
      </p:sp>
      <p:sp>
        <p:nvSpPr>
          <p:cNvPr id="7" name="Shape 5"/>
          <p:cNvSpPr/>
          <p:nvPr/>
        </p:nvSpPr>
        <p:spPr>
          <a:xfrm>
            <a:off x="822960" y="2788920"/>
            <a:ext cx="914400" cy="0"/>
          </a:xfrm>
          <a:prstGeom prst="line">
            <a:avLst/>
          </a:prstGeom>
          <a:noFill/>
          <a:ln w="31750">
            <a:solidFill>
              <a:srgbClr val="8C3A38"/>
            </a:solidFill>
            <a:prstDash val="solid"/>
          </a:ln>
        </p:spPr>
      </p:sp>
      <p:sp>
        <p:nvSpPr>
          <p:cNvPr id="8" name="Text 6"/>
          <p:cNvSpPr/>
          <p:nvPr/>
        </p:nvSpPr>
        <p:spPr>
          <a:xfrm>
            <a:off x="822960" y="2971800"/>
            <a:ext cx="9692640" cy="1005840"/>
          </a:xfrm>
          <a:prstGeom prst="rect">
            <a:avLst/>
          </a:prstGeom>
          <a:noFill/>
          <a:ln/>
        </p:spPr>
        <p:txBody>
          <a:bodyPr wrap="square" lIns="0" tIns="0" rIns="0" bIns="0" rtlCol="0" anchor="t"/>
          <a:lstStyle/>
          <a:p>
            <a:pPr indent="0" marL="0">
              <a:lnSpc>
                <a:spcPts val="2800"/>
              </a:lnSpc>
              <a:buNone/>
            </a:pPr>
            <a:r>
              <a:rPr lang="en-US" sz="2000" dirty="0">
                <a:solidFill>
                  <a:srgbClr val="24313F"/>
                </a:solidFill>
                <a:latin typeface="Georgia" pitchFamily="34" charset="0"/>
                <a:ea typeface="Georgia" pitchFamily="34" charset="-122"/>
                <a:cs typeface="Georgia" pitchFamily="34" charset="-120"/>
              </a:rPr>
              <a:t>Sits Tuesday 15 December: a constellation that argues across the whole unit, built and defended in class. The second constellation of the year, and it should be visibly better than the first.</a:t>
            </a:r>
            <a:endParaRPr lang="en-US" sz="2000" dirty="0"/>
          </a:p>
        </p:txBody>
      </p:sp>
      <p:sp>
        <p:nvSpPr>
          <p:cNvPr id="9" name="Text 7"/>
          <p:cNvSpPr/>
          <p:nvPr/>
        </p:nvSpPr>
        <p:spPr>
          <a:xfrm>
            <a:off x="822960" y="4846320"/>
            <a:ext cx="9601200" cy="548640"/>
          </a:xfrm>
          <a:prstGeom prst="rect">
            <a:avLst/>
          </a:prstGeom>
          <a:noFill/>
          <a:ln/>
        </p:spPr>
        <p:txBody>
          <a:bodyPr wrap="square" lIns="0" tIns="0" rIns="0" bIns="0" rtlCol="0" anchor="ctr"/>
          <a:lstStyle/>
          <a:p>
            <a:pPr indent="0" marL="0">
              <a:buNone/>
            </a:pPr>
            <a:r>
              <a:rPr lang="en-US" sz="1300" spc="50" kern="0" dirty="0">
                <a:solidFill>
                  <a:srgbClr val="7A7F72"/>
                </a:solidFill>
                <a:latin typeface="Arial" pitchFamily="34" charset="0"/>
                <a:ea typeface="Arial" pitchFamily="34" charset="-122"/>
                <a:cs typeface="Arial" pitchFamily="34" charset="-120"/>
              </a:rPr>
              <a:t>Tuesday 1 December is the last session both halves attend before the deadline. If it goes, A4 moves, not the announcement.</a:t>
            </a:r>
            <a:endParaRPr lang="en-US" sz="1300" dirty="0"/>
          </a:p>
        </p:txBody>
      </p:sp>
      <p:sp>
        <p:nvSpPr>
          <p:cNvPr id="10" name="Shape 8"/>
          <p:cNvSpPr/>
          <p:nvPr/>
        </p:nvSpPr>
        <p:spPr>
          <a:xfrm>
            <a:off x="822960" y="6382512"/>
            <a:ext cx="10543032" cy="0"/>
          </a:xfrm>
          <a:prstGeom prst="line">
            <a:avLst/>
          </a:prstGeom>
          <a:noFill/>
          <a:ln w="9525">
            <a:solidFill>
              <a:srgbClr val="D9D4C4"/>
            </a:solidFill>
            <a:prstDash val="solid"/>
          </a:ln>
        </p:spPr>
      </p:sp>
      <p:sp>
        <p:nvSpPr>
          <p:cNvPr id="11" name="Text 9"/>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ART APPRECIATION · SEMESTER I</a:t>
            </a:r>
            <a:endParaRPr lang="en-US" sz="900" dirty="0"/>
          </a:p>
        </p:txBody>
      </p:sp>
      <p:sp>
        <p:nvSpPr>
          <p:cNvPr id="12" name="Text 10"/>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04</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HOW IT RUNS</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SEVEN DAYS, CLASS SPLIT IN BOTH WEEKS</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932688"/>
            <a:ext cx="10543032" cy="640080"/>
          </a:xfrm>
          <a:prstGeom prst="rect">
            <a:avLst/>
          </a:prstGeom>
          <a:noFill/>
          <a:ln/>
        </p:spPr>
        <p:txBody>
          <a:bodyPr wrap="square" lIns="0" tIns="0" rIns="0" bIns="0" rtlCol="0" anchor="ctr"/>
          <a:lstStyle/>
          <a:p>
            <a:pPr indent="0" marL="0">
              <a:buNone/>
            </a:pPr>
            <a:r>
              <a:rPr lang="en-US" sz="3400" dirty="0">
                <a:solidFill>
                  <a:srgbClr val="24313F"/>
                </a:solidFill>
                <a:latin typeface="Georgia" pitchFamily="34" charset="0"/>
                <a:ea typeface="Georgia" pitchFamily="34" charset="-122"/>
                <a:cs typeface="Georgia" pitchFamily="34" charset="-120"/>
              </a:rPr>
              <a:t>Front-loaded on purpose</a:t>
            </a:r>
            <a:endParaRPr lang="en-US" sz="3400" dirty="0"/>
          </a:p>
        </p:txBody>
      </p:sp>
      <p:sp>
        <p:nvSpPr>
          <p:cNvPr id="6" name="Shape 4"/>
          <p:cNvSpPr/>
          <p:nvPr/>
        </p:nvSpPr>
        <p:spPr>
          <a:xfrm>
            <a:off x="822960" y="1783080"/>
            <a:ext cx="10543032" cy="0"/>
          </a:xfrm>
          <a:prstGeom prst="line">
            <a:avLst/>
          </a:prstGeom>
          <a:noFill/>
          <a:ln w="12700">
            <a:solidFill>
              <a:srgbClr val="24313F"/>
            </a:solidFill>
            <a:prstDash val="solid"/>
          </a:ln>
        </p:spPr>
      </p:sp>
      <p:sp>
        <p:nvSpPr>
          <p:cNvPr id="7" name="Text 5"/>
          <p:cNvSpPr/>
          <p:nvPr/>
        </p:nvSpPr>
        <p:spPr>
          <a:xfrm>
            <a:off x="822960" y="1783080"/>
            <a:ext cx="2377440" cy="512064"/>
          </a:xfrm>
          <a:prstGeom prst="rect">
            <a:avLst/>
          </a:prstGeom>
          <a:noFill/>
          <a:ln/>
        </p:spPr>
        <p:txBody>
          <a:bodyPr wrap="square" lIns="0" tIns="0" rIns="0" bIns="0" rtlCol="0" anchor="ctr"/>
          <a:lstStyle/>
          <a:p>
            <a:pPr indent="0" marL="0">
              <a:buNone/>
            </a:pPr>
            <a:r>
              <a:rPr lang="en-US" sz="1100" b="1" spc="100" kern="0" dirty="0">
                <a:solidFill>
                  <a:srgbClr val="7A7F72"/>
                </a:solidFill>
                <a:latin typeface="Arial" pitchFamily="34" charset="0"/>
                <a:ea typeface="Arial" pitchFamily="34" charset="-122"/>
                <a:cs typeface="Arial" pitchFamily="34" charset="-120"/>
              </a:rPr>
              <a:t>MON 23 NOV</a:t>
            </a:r>
            <a:endParaRPr lang="en-US" sz="1100" dirty="0"/>
          </a:p>
        </p:txBody>
      </p:sp>
      <p:sp>
        <p:nvSpPr>
          <p:cNvPr id="8" name="Text 6"/>
          <p:cNvSpPr/>
          <p:nvPr/>
        </p:nvSpPr>
        <p:spPr>
          <a:xfrm>
            <a:off x="3383280" y="1783080"/>
            <a:ext cx="7863840" cy="512064"/>
          </a:xfrm>
          <a:prstGeom prst="rect">
            <a:avLst/>
          </a:prstGeom>
          <a:noFill/>
          <a:ln/>
        </p:spPr>
        <p:txBody>
          <a:bodyPr wrap="square" lIns="0" tIns="0" rIns="0" bIns="0" rtlCol="0" anchor="ctr"/>
          <a:lstStyle/>
          <a:p>
            <a:pPr indent="0" marL="0">
              <a:buNone/>
            </a:pPr>
            <a:r>
              <a:rPr lang="en-US" sz="1600" dirty="0">
                <a:solidFill>
                  <a:srgbClr val="24313F"/>
                </a:solidFill>
                <a:latin typeface="Georgia" pitchFamily="34" charset="0"/>
                <a:ea typeface="Georgia" pitchFamily="34" charset="-122"/>
                <a:cs typeface="Georgia" pitchFamily="34" charset="-120"/>
              </a:rPr>
              <a:t>Berger's argument: a reproduction is not neutral</a:t>
            </a:r>
            <a:endParaRPr lang="en-US" sz="1600" dirty="0"/>
          </a:p>
        </p:txBody>
      </p:sp>
      <p:sp>
        <p:nvSpPr>
          <p:cNvPr id="9" name="Shape 7"/>
          <p:cNvSpPr/>
          <p:nvPr/>
        </p:nvSpPr>
        <p:spPr>
          <a:xfrm>
            <a:off x="822960" y="2295144"/>
            <a:ext cx="10543032" cy="0"/>
          </a:xfrm>
          <a:prstGeom prst="line">
            <a:avLst/>
          </a:prstGeom>
          <a:noFill/>
          <a:ln w="9525">
            <a:solidFill>
              <a:srgbClr val="D9D4C4"/>
            </a:solidFill>
            <a:prstDash val="solid"/>
          </a:ln>
        </p:spPr>
      </p:sp>
      <p:sp>
        <p:nvSpPr>
          <p:cNvPr id="10" name="Text 8"/>
          <p:cNvSpPr/>
          <p:nvPr/>
        </p:nvSpPr>
        <p:spPr>
          <a:xfrm>
            <a:off x="822960" y="2295144"/>
            <a:ext cx="2377440" cy="512064"/>
          </a:xfrm>
          <a:prstGeom prst="rect">
            <a:avLst/>
          </a:prstGeom>
          <a:noFill/>
          <a:ln/>
        </p:spPr>
        <p:txBody>
          <a:bodyPr wrap="square" lIns="0" tIns="0" rIns="0" bIns="0" rtlCol="0" anchor="ctr"/>
          <a:lstStyle/>
          <a:p>
            <a:pPr indent="0" marL="0">
              <a:buNone/>
            </a:pPr>
            <a:r>
              <a:rPr lang="en-US" sz="1100" b="1" spc="100" kern="0" dirty="0">
                <a:solidFill>
                  <a:srgbClr val="7A7F72"/>
                </a:solidFill>
                <a:latin typeface="Arial" pitchFamily="34" charset="0"/>
                <a:ea typeface="Arial" pitchFamily="34" charset="-122"/>
                <a:cs typeface="Arial" pitchFamily="34" charset="-120"/>
              </a:rPr>
              <a:t>TUE 24 NOV</a:t>
            </a:r>
            <a:endParaRPr lang="en-US" sz="1100" dirty="0"/>
          </a:p>
        </p:txBody>
      </p:sp>
      <p:sp>
        <p:nvSpPr>
          <p:cNvPr id="11" name="Text 9"/>
          <p:cNvSpPr/>
          <p:nvPr/>
        </p:nvSpPr>
        <p:spPr>
          <a:xfrm>
            <a:off x="3383280" y="2295144"/>
            <a:ext cx="7863840" cy="512064"/>
          </a:xfrm>
          <a:prstGeom prst="rect">
            <a:avLst/>
          </a:prstGeom>
          <a:noFill/>
          <a:ln/>
        </p:spPr>
        <p:txBody>
          <a:bodyPr wrap="square" lIns="0" tIns="0" rIns="0" bIns="0" rtlCol="0" anchor="ctr"/>
          <a:lstStyle/>
          <a:p>
            <a:pPr indent="0" marL="0">
              <a:buNone/>
            </a:pPr>
            <a:r>
              <a:rPr lang="en-US" sz="1600" dirty="0">
                <a:solidFill>
                  <a:srgbClr val="24313F"/>
                </a:solidFill>
                <a:latin typeface="Georgia" pitchFamily="34" charset="0"/>
                <a:ea typeface="Georgia" pitchFamily="34" charset="-122"/>
                <a:cs typeface="Georgia" pitchFamily="34" charset="-120"/>
              </a:rPr>
              <a:t>One painting, four contexts</a:t>
            </a:r>
            <a:endParaRPr lang="en-US" sz="1600" dirty="0"/>
          </a:p>
        </p:txBody>
      </p:sp>
      <p:sp>
        <p:nvSpPr>
          <p:cNvPr id="12" name="Shape 10"/>
          <p:cNvSpPr/>
          <p:nvPr/>
        </p:nvSpPr>
        <p:spPr>
          <a:xfrm>
            <a:off x="822960" y="2807208"/>
            <a:ext cx="10543032" cy="0"/>
          </a:xfrm>
          <a:prstGeom prst="line">
            <a:avLst/>
          </a:prstGeom>
          <a:noFill/>
          <a:ln w="9525">
            <a:solidFill>
              <a:srgbClr val="D9D4C4"/>
            </a:solidFill>
            <a:prstDash val="solid"/>
          </a:ln>
        </p:spPr>
      </p:sp>
      <p:sp>
        <p:nvSpPr>
          <p:cNvPr id="13" name="Text 11"/>
          <p:cNvSpPr/>
          <p:nvPr/>
        </p:nvSpPr>
        <p:spPr>
          <a:xfrm>
            <a:off x="822960" y="2807208"/>
            <a:ext cx="2377440" cy="512064"/>
          </a:xfrm>
          <a:prstGeom prst="rect">
            <a:avLst/>
          </a:prstGeom>
          <a:noFill/>
          <a:ln/>
        </p:spPr>
        <p:txBody>
          <a:bodyPr wrap="square" lIns="0" tIns="0" rIns="0" bIns="0" rtlCol="0" anchor="ctr"/>
          <a:lstStyle/>
          <a:p>
            <a:pPr indent="0" marL="0">
              <a:buNone/>
            </a:pPr>
            <a:r>
              <a:rPr lang="en-US" sz="1100" b="1" spc="100" kern="0" dirty="0">
                <a:solidFill>
                  <a:srgbClr val="7A7F72"/>
                </a:solidFill>
                <a:latin typeface="Arial" pitchFamily="34" charset="0"/>
                <a:ea typeface="Arial" pitchFamily="34" charset="-122"/>
                <a:cs typeface="Arial" pitchFamily="34" charset="-120"/>
              </a:rPr>
              <a:t>WED 25 NOV</a:t>
            </a:r>
            <a:endParaRPr lang="en-US" sz="1100" dirty="0"/>
          </a:p>
        </p:txBody>
      </p:sp>
      <p:sp>
        <p:nvSpPr>
          <p:cNvPr id="14" name="Text 12"/>
          <p:cNvSpPr/>
          <p:nvPr/>
        </p:nvSpPr>
        <p:spPr>
          <a:xfrm>
            <a:off x="3383280" y="2807208"/>
            <a:ext cx="7863840" cy="512064"/>
          </a:xfrm>
          <a:prstGeom prst="rect">
            <a:avLst/>
          </a:prstGeom>
          <a:noFill/>
          <a:ln/>
        </p:spPr>
        <p:txBody>
          <a:bodyPr wrap="square" lIns="0" tIns="0" rIns="0" bIns="0" rtlCol="0" anchor="ctr"/>
          <a:lstStyle/>
          <a:p>
            <a:pPr indent="0" marL="0">
              <a:buNone/>
            </a:pPr>
            <a:r>
              <a:rPr lang="en-US" sz="1600" dirty="0">
                <a:solidFill>
                  <a:srgbClr val="24313F"/>
                </a:solidFill>
                <a:latin typeface="Georgia" pitchFamily="34" charset="0"/>
                <a:ea typeface="Georgia" pitchFamily="34" charset="-122"/>
                <a:cs typeface="Georgia" pitchFamily="34" charset="-120"/>
              </a:rPr>
              <a:t>Seminar: what was lost, what was gained (LB6)</a:t>
            </a:r>
            <a:endParaRPr lang="en-US" sz="1600" dirty="0"/>
          </a:p>
        </p:txBody>
      </p:sp>
      <p:sp>
        <p:nvSpPr>
          <p:cNvPr id="15" name="Shape 13"/>
          <p:cNvSpPr/>
          <p:nvPr/>
        </p:nvSpPr>
        <p:spPr>
          <a:xfrm>
            <a:off x="822960" y="3319272"/>
            <a:ext cx="10543032" cy="0"/>
          </a:xfrm>
          <a:prstGeom prst="line">
            <a:avLst/>
          </a:prstGeom>
          <a:noFill/>
          <a:ln w="9525">
            <a:solidFill>
              <a:srgbClr val="D9D4C4"/>
            </a:solidFill>
            <a:prstDash val="solid"/>
          </a:ln>
        </p:spPr>
      </p:sp>
      <p:sp>
        <p:nvSpPr>
          <p:cNvPr id="16" name="Text 14"/>
          <p:cNvSpPr/>
          <p:nvPr/>
        </p:nvSpPr>
        <p:spPr>
          <a:xfrm>
            <a:off x="822960" y="3319272"/>
            <a:ext cx="2377440" cy="512064"/>
          </a:xfrm>
          <a:prstGeom prst="rect">
            <a:avLst/>
          </a:prstGeom>
          <a:noFill/>
          <a:ln/>
        </p:spPr>
        <p:txBody>
          <a:bodyPr wrap="square" lIns="0" tIns="0" rIns="0" bIns="0" rtlCol="0" anchor="ctr"/>
          <a:lstStyle/>
          <a:p>
            <a:pPr indent="0" marL="0">
              <a:buNone/>
            </a:pPr>
            <a:r>
              <a:rPr lang="en-US" sz="1100" b="1" spc="100" kern="0" dirty="0">
                <a:solidFill>
                  <a:srgbClr val="7A7F72"/>
                </a:solidFill>
                <a:latin typeface="Arial" pitchFamily="34" charset="0"/>
                <a:ea typeface="Arial" pitchFamily="34" charset="-122"/>
                <a:cs typeface="Arial" pitchFamily="34" charset="-120"/>
              </a:rPr>
              <a:t>THU 26 NOV</a:t>
            </a:r>
            <a:endParaRPr lang="en-US" sz="1100" dirty="0"/>
          </a:p>
        </p:txBody>
      </p:sp>
      <p:sp>
        <p:nvSpPr>
          <p:cNvPr id="17" name="Text 15"/>
          <p:cNvSpPr/>
          <p:nvPr/>
        </p:nvSpPr>
        <p:spPr>
          <a:xfrm>
            <a:off x="3383280" y="3319272"/>
            <a:ext cx="7863840" cy="512064"/>
          </a:xfrm>
          <a:prstGeom prst="rect">
            <a:avLst/>
          </a:prstGeom>
          <a:noFill/>
          <a:ln/>
        </p:spPr>
        <p:txBody>
          <a:bodyPr wrap="square" lIns="0" tIns="0" rIns="0" bIns="0" rtlCol="0" anchor="ctr"/>
          <a:lstStyle/>
          <a:p>
            <a:pPr indent="0" marL="0">
              <a:buNone/>
            </a:pPr>
            <a:r>
              <a:rPr lang="en-US" sz="1600" dirty="0">
                <a:solidFill>
                  <a:srgbClr val="24313F"/>
                </a:solidFill>
                <a:latin typeface="Georgia" pitchFamily="34" charset="0"/>
                <a:ea typeface="Georgia" pitchFamily="34" charset="-122"/>
                <a:cs typeface="Georgia" pitchFamily="34" charset="-120"/>
              </a:rPr>
              <a:t>A reproduction read as an object of its own</a:t>
            </a:r>
            <a:endParaRPr lang="en-US" sz="1600" dirty="0"/>
          </a:p>
        </p:txBody>
      </p:sp>
      <p:sp>
        <p:nvSpPr>
          <p:cNvPr id="18" name="Shape 16"/>
          <p:cNvSpPr/>
          <p:nvPr/>
        </p:nvSpPr>
        <p:spPr>
          <a:xfrm>
            <a:off x="822960" y="3831336"/>
            <a:ext cx="10543032" cy="0"/>
          </a:xfrm>
          <a:prstGeom prst="line">
            <a:avLst/>
          </a:prstGeom>
          <a:noFill/>
          <a:ln w="9525">
            <a:solidFill>
              <a:srgbClr val="D9D4C4"/>
            </a:solidFill>
            <a:prstDash val="solid"/>
          </a:ln>
        </p:spPr>
      </p:sp>
      <p:sp>
        <p:nvSpPr>
          <p:cNvPr id="19" name="Text 17"/>
          <p:cNvSpPr/>
          <p:nvPr/>
        </p:nvSpPr>
        <p:spPr>
          <a:xfrm>
            <a:off x="822960" y="3831336"/>
            <a:ext cx="2377440" cy="512064"/>
          </a:xfrm>
          <a:prstGeom prst="rect">
            <a:avLst/>
          </a:prstGeom>
          <a:noFill/>
          <a:ln/>
        </p:spPr>
        <p:txBody>
          <a:bodyPr wrap="square" lIns="0" tIns="0" rIns="0" bIns="0" rtlCol="0" anchor="ctr"/>
          <a:lstStyle/>
          <a:p>
            <a:pPr indent="0" marL="0">
              <a:buNone/>
            </a:pPr>
            <a:r>
              <a:rPr lang="en-US" sz="1100" b="1" spc="100" kern="0" dirty="0">
                <a:solidFill>
                  <a:srgbClr val="7A7F72"/>
                </a:solidFill>
                <a:latin typeface="Arial" pitchFamily="34" charset="0"/>
                <a:ea typeface="Arial" pitchFamily="34" charset="-122"/>
                <a:cs typeface="Arial" pitchFamily="34" charset="-120"/>
              </a:rPr>
              <a:t>FRI 27 NOV</a:t>
            </a:r>
            <a:endParaRPr lang="en-US" sz="1100" dirty="0"/>
          </a:p>
        </p:txBody>
      </p:sp>
      <p:sp>
        <p:nvSpPr>
          <p:cNvPr id="20" name="Text 18"/>
          <p:cNvSpPr/>
          <p:nvPr/>
        </p:nvSpPr>
        <p:spPr>
          <a:xfrm>
            <a:off x="3383280" y="3831336"/>
            <a:ext cx="7863840" cy="512064"/>
          </a:xfrm>
          <a:prstGeom prst="rect">
            <a:avLst/>
          </a:prstGeom>
          <a:noFill/>
          <a:ln/>
        </p:spPr>
        <p:txBody>
          <a:bodyPr wrap="square" lIns="0" tIns="0" rIns="0" bIns="0" rtlCol="0" anchor="ctr"/>
          <a:lstStyle/>
          <a:p>
            <a:pPr indent="0" marL="0">
              <a:buNone/>
            </a:pPr>
            <a:r>
              <a:rPr lang="en-US" sz="1600" dirty="0">
                <a:solidFill>
                  <a:srgbClr val="24313F"/>
                </a:solidFill>
                <a:latin typeface="Georgia" pitchFamily="34" charset="0"/>
                <a:ea typeface="Georgia" pitchFamily="34" charset="-122"/>
                <a:cs typeface="Georgia" pitchFamily="34" charset="-120"/>
              </a:rPr>
              <a:t>The caption exercise (the deliverable)</a:t>
            </a:r>
            <a:endParaRPr lang="en-US" sz="1600" dirty="0"/>
          </a:p>
        </p:txBody>
      </p:sp>
      <p:sp>
        <p:nvSpPr>
          <p:cNvPr id="21" name="Shape 19"/>
          <p:cNvSpPr/>
          <p:nvPr/>
        </p:nvSpPr>
        <p:spPr>
          <a:xfrm>
            <a:off x="822960" y="4343400"/>
            <a:ext cx="10543032" cy="0"/>
          </a:xfrm>
          <a:prstGeom prst="line">
            <a:avLst/>
          </a:prstGeom>
          <a:noFill/>
          <a:ln w="9525">
            <a:solidFill>
              <a:srgbClr val="D9D4C4"/>
            </a:solidFill>
            <a:prstDash val="solid"/>
          </a:ln>
        </p:spPr>
      </p:sp>
      <p:sp>
        <p:nvSpPr>
          <p:cNvPr id="22" name="Text 20"/>
          <p:cNvSpPr/>
          <p:nvPr/>
        </p:nvSpPr>
        <p:spPr>
          <a:xfrm>
            <a:off x="822960" y="4343400"/>
            <a:ext cx="2377440" cy="512064"/>
          </a:xfrm>
          <a:prstGeom prst="rect">
            <a:avLst/>
          </a:prstGeom>
          <a:noFill/>
          <a:ln/>
        </p:spPr>
        <p:txBody>
          <a:bodyPr wrap="square" lIns="0" tIns="0" rIns="0" bIns="0" rtlCol="0" anchor="ctr"/>
          <a:lstStyle/>
          <a:p>
            <a:pPr indent="0" marL="0">
              <a:buNone/>
            </a:pPr>
            <a:r>
              <a:rPr lang="en-US" sz="1100" b="1" spc="100" kern="0" dirty="0">
                <a:solidFill>
                  <a:srgbClr val="7A7F72"/>
                </a:solidFill>
                <a:latin typeface="Arial" pitchFamily="34" charset="0"/>
                <a:ea typeface="Arial" pitchFamily="34" charset="-122"/>
                <a:cs typeface="Arial" pitchFamily="34" charset="-120"/>
              </a:rPr>
              <a:t>MON 30 NOV</a:t>
            </a:r>
            <a:endParaRPr lang="en-US" sz="1100" dirty="0"/>
          </a:p>
        </p:txBody>
      </p:sp>
      <p:sp>
        <p:nvSpPr>
          <p:cNvPr id="23" name="Text 21"/>
          <p:cNvSpPr/>
          <p:nvPr/>
        </p:nvSpPr>
        <p:spPr>
          <a:xfrm>
            <a:off x="3383280" y="4343400"/>
            <a:ext cx="7863840" cy="512064"/>
          </a:xfrm>
          <a:prstGeom prst="rect">
            <a:avLst/>
          </a:prstGeom>
          <a:noFill/>
          <a:ln/>
        </p:spPr>
        <p:txBody>
          <a:bodyPr wrap="square" lIns="0" tIns="0" rIns="0" bIns="0" rtlCol="0" anchor="ctr"/>
          <a:lstStyle/>
          <a:p>
            <a:pPr indent="0" marL="0">
              <a:buNone/>
            </a:pPr>
            <a:r>
              <a:rPr lang="en-US" sz="1600" dirty="0">
                <a:solidFill>
                  <a:srgbClr val="24313F"/>
                </a:solidFill>
                <a:latin typeface="Georgia" pitchFamily="34" charset="0"/>
                <a:ea typeface="Georgia" pitchFamily="34" charset="-122"/>
                <a:cs typeface="Georgia" pitchFamily="34" charset="-120"/>
              </a:rPr>
              <a:t>Godard: an image that refuses to add up</a:t>
            </a:r>
            <a:endParaRPr lang="en-US" sz="1600" dirty="0"/>
          </a:p>
        </p:txBody>
      </p:sp>
      <p:sp>
        <p:nvSpPr>
          <p:cNvPr id="24" name="Shape 22"/>
          <p:cNvSpPr/>
          <p:nvPr/>
        </p:nvSpPr>
        <p:spPr>
          <a:xfrm>
            <a:off x="822960" y="4855464"/>
            <a:ext cx="10543032" cy="0"/>
          </a:xfrm>
          <a:prstGeom prst="line">
            <a:avLst/>
          </a:prstGeom>
          <a:noFill/>
          <a:ln w="9525">
            <a:solidFill>
              <a:srgbClr val="D9D4C4"/>
            </a:solidFill>
            <a:prstDash val="solid"/>
          </a:ln>
        </p:spPr>
      </p:sp>
      <p:sp>
        <p:nvSpPr>
          <p:cNvPr id="25" name="Text 23"/>
          <p:cNvSpPr/>
          <p:nvPr/>
        </p:nvSpPr>
        <p:spPr>
          <a:xfrm>
            <a:off x="822960" y="4855464"/>
            <a:ext cx="2377440" cy="512064"/>
          </a:xfrm>
          <a:prstGeom prst="rect">
            <a:avLst/>
          </a:prstGeom>
          <a:noFill/>
          <a:ln/>
        </p:spPr>
        <p:txBody>
          <a:bodyPr wrap="square" lIns="0" tIns="0" rIns="0" bIns="0" rtlCol="0" anchor="ctr"/>
          <a:lstStyle/>
          <a:p>
            <a:pPr indent="0" marL="0">
              <a:buNone/>
            </a:pPr>
            <a:r>
              <a:rPr lang="en-US" sz="1100" b="1" spc="100" kern="0" dirty="0">
                <a:solidFill>
                  <a:srgbClr val="7A7F72"/>
                </a:solidFill>
                <a:latin typeface="Arial" pitchFamily="34" charset="0"/>
                <a:ea typeface="Arial" pitchFamily="34" charset="-122"/>
                <a:cs typeface="Arial" pitchFamily="34" charset="-120"/>
              </a:rPr>
              <a:t>TUE 1 DEC</a:t>
            </a:r>
            <a:endParaRPr lang="en-US" sz="1100" dirty="0"/>
          </a:p>
        </p:txBody>
      </p:sp>
      <p:sp>
        <p:nvSpPr>
          <p:cNvPr id="26" name="Text 24"/>
          <p:cNvSpPr/>
          <p:nvPr/>
        </p:nvSpPr>
        <p:spPr>
          <a:xfrm>
            <a:off x="3383280" y="4855464"/>
            <a:ext cx="7863840" cy="512064"/>
          </a:xfrm>
          <a:prstGeom prst="rect">
            <a:avLst/>
          </a:prstGeom>
          <a:noFill/>
          <a:ln/>
        </p:spPr>
        <p:txBody>
          <a:bodyPr wrap="square" lIns="0" tIns="0" rIns="0" bIns="0" rtlCol="0" anchor="ctr"/>
          <a:lstStyle/>
          <a:p>
            <a:pPr indent="0" marL="0">
              <a:buNone/>
            </a:pPr>
            <a:r>
              <a:rPr lang="en-US" sz="1600" dirty="0">
                <a:solidFill>
                  <a:srgbClr val="24313F"/>
                </a:solidFill>
                <a:latin typeface="Georgia" pitchFamily="34" charset="0"/>
                <a:ea typeface="Georgia" pitchFamily="34" charset="-122"/>
                <a:cs typeface="Georgia" pitchFamily="34" charset="-120"/>
              </a:rPr>
              <a:t>A4 announced; the floating world as market (LB7)</a:t>
            </a:r>
            <a:endParaRPr lang="en-US" sz="1600" dirty="0"/>
          </a:p>
        </p:txBody>
      </p:sp>
      <p:sp>
        <p:nvSpPr>
          <p:cNvPr id="27" name="Shape 25"/>
          <p:cNvSpPr/>
          <p:nvPr/>
        </p:nvSpPr>
        <p:spPr>
          <a:xfrm>
            <a:off x="822960" y="5367528"/>
            <a:ext cx="10543032" cy="0"/>
          </a:xfrm>
          <a:prstGeom prst="line">
            <a:avLst/>
          </a:prstGeom>
          <a:noFill/>
          <a:ln w="9525">
            <a:solidFill>
              <a:srgbClr val="D9D4C4"/>
            </a:solidFill>
            <a:prstDash val="solid"/>
          </a:ln>
        </p:spPr>
      </p:sp>
      <p:sp>
        <p:nvSpPr>
          <p:cNvPr id="28" name="Shape 26"/>
          <p:cNvSpPr/>
          <p:nvPr/>
        </p:nvSpPr>
        <p:spPr>
          <a:xfrm>
            <a:off x="822960" y="6382512"/>
            <a:ext cx="10543032" cy="0"/>
          </a:xfrm>
          <a:prstGeom prst="line">
            <a:avLst/>
          </a:prstGeom>
          <a:noFill/>
          <a:ln w="9525">
            <a:solidFill>
              <a:srgbClr val="D9D4C4"/>
            </a:solidFill>
            <a:prstDash val="solid"/>
          </a:ln>
        </p:spPr>
      </p:sp>
      <p:sp>
        <p:nvSpPr>
          <p:cNvPr id="29" name="Text 27"/>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ART APPRECIATION · SEMESTER I</a:t>
            </a:r>
            <a:endParaRPr lang="en-US" sz="900" dirty="0"/>
          </a:p>
        </p:txBody>
      </p:sp>
      <p:sp>
        <p:nvSpPr>
          <p:cNvPr id="30" name="Text 28"/>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05</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4A6B5D"/>
        </a:solidFill>
      </p:bgPr>
    </p:bg>
    <p:spTree>
      <p:nvGrpSpPr>
        <p:cNvPr id="1" name=""/>
        <p:cNvGrpSpPr/>
        <p:nvPr/>
      </p:nvGrpSpPr>
      <p:grpSpPr>
        <a:xfrm>
          <a:off x="0" y="0"/>
          <a:ext cx="0" cy="0"/>
          <a:chOff x="0" y="0"/>
          <a:chExt cx="0" cy="0"/>
        </a:xfrm>
      </p:grpSpPr>
      <p:sp>
        <p:nvSpPr>
          <p:cNvPr id="2" name="Text 0"/>
          <p:cNvSpPr/>
          <p:nvPr/>
        </p:nvSpPr>
        <p:spPr>
          <a:xfrm>
            <a:off x="822960" y="2148840"/>
            <a:ext cx="5486400" cy="274320"/>
          </a:xfrm>
          <a:prstGeom prst="rect">
            <a:avLst/>
          </a:prstGeom>
          <a:noFill/>
          <a:ln/>
        </p:spPr>
        <p:txBody>
          <a:bodyPr wrap="square" lIns="0" tIns="0" rIns="0" bIns="0" rtlCol="0" anchor="ctr"/>
          <a:lstStyle/>
          <a:p>
            <a:pPr algn="l" indent="0" marL="0">
              <a:buNone/>
            </a:pPr>
            <a:r>
              <a:rPr lang="en-US" sz="1100" b="1" spc="250" kern="0" dirty="0">
                <a:solidFill>
                  <a:srgbClr val="FAF8F1"/>
                </a:solidFill>
                <a:latin typeface="Arial" pitchFamily="34" charset="0"/>
                <a:ea typeface="Arial" pitchFamily="34" charset="-122"/>
                <a:cs typeface="Arial" pitchFamily="34" charset="-120"/>
              </a:rPr>
              <a:t>NEXT</a:t>
            </a:r>
            <a:endParaRPr lang="en-US" sz="1100" dirty="0"/>
          </a:p>
        </p:txBody>
      </p:sp>
      <p:sp>
        <p:nvSpPr>
          <p:cNvPr id="3" name="Shape 1"/>
          <p:cNvSpPr/>
          <p:nvPr/>
        </p:nvSpPr>
        <p:spPr>
          <a:xfrm>
            <a:off x="822960" y="2514600"/>
            <a:ext cx="3108960" cy="0"/>
          </a:xfrm>
          <a:prstGeom prst="line">
            <a:avLst/>
          </a:prstGeom>
          <a:noFill/>
          <a:ln w="9525">
            <a:solidFill>
              <a:srgbClr val="8AA394"/>
            </a:solidFill>
            <a:prstDash val="solid"/>
          </a:ln>
        </p:spPr>
      </p:sp>
      <p:sp>
        <p:nvSpPr>
          <p:cNvPr id="4" name="Text 2"/>
          <p:cNvSpPr/>
          <p:nvPr/>
        </p:nvSpPr>
        <p:spPr>
          <a:xfrm>
            <a:off x="822960" y="2651760"/>
            <a:ext cx="10058400" cy="1920240"/>
          </a:xfrm>
          <a:prstGeom prst="rect">
            <a:avLst/>
          </a:prstGeom>
          <a:noFill/>
          <a:ln/>
        </p:spPr>
        <p:txBody>
          <a:bodyPr wrap="square" lIns="0" tIns="0" rIns="0" bIns="0" rtlCol="0" anchor="t"/>
          <a:lstStyle/>
          <a:p>
            <a:pPr indent="0" marL="0">
              <a:lnSpc>
                <a:spcPts val="5800"/>
              </a:lnSpc>
              <a:buNone/>
            </a:pPr>
            <a:r>
              <a:rPr lang="en-US" sz="5600" dirty="0">
                <a:solidFill>
                  <a:srgbClr val="FAF8F1"/>
                </a:solidFill>
                <a:latin typeface="Georgia" pitchFamily="34" charset="0"/>
                <a:ea typeface="Georgia" pitchFamily="34" charset="-122"/>
                <a:cs typeface="Georgia" pitchFamily="34" charset="-120"/>
              </a:rPr>
              <a:t>Aura and the</a:t>
            </a:r>
            <a:endParaRPr lang="en-US" sz="5600" dirty="0"/>
          </a:p>
          <a:p>
            <a:pPr indent="0" marL="0">
              <a:lnSpc>
                <a:spcPts val="5800"/>
              </a:lnSpc>
              <a:buNone/>
            </a:pPr>
            <a:r>
              <a:rPr lang="en-US" sz="5600" dirty="0">
                <a:solidFill>
                  <a:srgbClr val="FAF8F1"/>
                </a:solidFill>
                <a:latin typeface="Georgia" pitchFamily="34" charset="0"/>
                <a:ea typeface="Georgia" pitchFamily="34" charset="-122"/>
                <a:cs typeface="Georgia" pitchFamily="34" charset="-120"/>
              </a:rPr>
              <a:t>Poor Image</a:t>
            </a:r>
            <a:endParaRPr lang="en-US" sz="5600" dirty="0"/>
          </a:p>
        </p:txBody>
      </p:sp>
      <p:sp>
        <p:nvSpPr>
          <p:cNvPr id="5" name="Text 3"/>
          <p:cNvSpPr/>
          <p:nvPr/>
        </p:nvSpPr>
        <p:spPr>
          <a:xfrm>
            <a:off x="822960" y="4892040"/>
            <a:ext cx="9601200" cy="457200"/>
          </a:xfrm>
          <a:prstGeom prst="rect">
            <a:avLst/>
          </a:prstGeom>
          <a:noFill/>
          <a:ln/>
        </p:spPr>
        <p:txBody>
          <a:bodyPr wrap="square" lIns="0" tIns="0" rIns="0" bIns="0" rtlCol="0" anchor="ctr"/>
          <a:lstStyle/>
          <a:p>
            <a:pPr indent="0" marL="0">
              <a:buNone/>
            </a:pPr>
            <a:r>
              <a:rPr lang="en-US" sz="2200" i="1" dirty="0">
                <a:solidFill>
                  <a:srgbClr val="E8EFE7"/>
                </a:solidFill>
                <a:latin typeface="Georgia" pitchFamily="34" charset="0"/>
                <a:ea typeface="Georgia" pitchFamily="34" charset="-122"/>
                <a:cs typeface="Georgia" pitchFamily="34" charset="-120"/>
              </a:rPr>
              <a:t>Lesson 11. Benjamin, Steyerl, and making an image worse on purpose.</a:t>
            </a:r>
            <a:endParaRPr lang="en-US" sz="2200" dirty="0"/>
          </a:p>
        </p:txBody>
      </p:sp>
      <p:sp>
        <p:nvSpPr>
          <p:cNvPr id="6" name="Shape 4"/>
          <p:cNvSpPr/>
          <p:nvPr/>
        </p:nvSpPr>
        <p:spPr>
          <a:xfrm>
            <a:off x="822960" y="6382512"/>
            <a:ext cx="10543032" cy="0"/>
          </a:xfrm>
          <a:prstGeom prst="line">
            <a:avLst/>
          </a:prstGeom>
          <a:noFill/>
          <a:ln w="9525">
            <a:solidFill>
              <a:srgbClr val="6E8A7C"/>
            </a:solidFill>
            <a:prstDash val="solid"/>
          </a:ln>
        </p:spPr>
      </p:sp>
      <p:sp>
        <p:nvSpPr>
          <p:cNvPr id="7" name="Text 5"/>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E8EFE7"/>
                </a:solidFill>
                <a:latin typeface="Arial" pitchFamily="34" charset="0"/>
                <a:ea typeface="Arial" pitchFamily="34" charset="-122"/>
                <a:cs typeface="Arial" pitchFamily="34" charset="-120"/>
              </a:rPr>
              <a:t>ART APPRECIATION · SEMESTER I</a:t>
            </a:r>
            <a:endParaRPr lang="en-US" sz="900" dirty="0"/>
          </a:p>
        </p:txBody>
      </p:sp>
      <p:sp>
        <p:nvSpPr>
          <p:cNvPr id="8" name="Text 6"/>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E8EFE7"/>
                </a:solidFill>
                <a:latin typeface="Georgia" pitchFamily="34" charset="0"/>
                <a:ea typeface="Georgia" pitchFamily="34" charset="-122"/>
                <a:cs typeface="Georgia" pitchFamily="34" charset="-120"/>
              </a:rPr>
              <a:t>06</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2026-07-24T15:05:30Z</dcterms:created>
  <dcterms:modified xsi:type="dcterms:W3CDTF">2026-07-24T15:05:30Z</dcterms:modified>
</cp:coreProperties>
</file>