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of the story the course has been telling since the caves. Duchamp and Warhol are the punchline, and the students have been waiting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course has led here: from images you could read by looking, to objects you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object out of the studio and into the institution. The question that began on a cave wall ends here, unresolved by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break homework and the retrospective brief are the same document. Do not issue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7040880" y="822960"/>
            <a:ext cx="4389120" cy="4937760"/>
          </a:xfrm>
          <a:prstGeom prst="rect">
            <a:avLst/>
          </a:prstGeom>
          <a:noFill/>
          <a:ln/>
        </p:spPr>
        <p:txBody>
          <a:bodyPr wrap="square" lIns="0" tIns="0" rIns="0" bIns="0" rtlCol="0" anchor="ctr"/>
          <a:lstStyle/>
          <a:p>
            <a:pPr algn="ctr" indent="0" marL="0">
              <a:buNone/>
            </a:pPr>
            <a:r>
              <a:rPr lang="en-US" sz="21000" dirty="0">
                <a:solidFill>
                  <a:srgbClr val="A3C1AD"/>
                </a:solidFill>
                <a:latin typeface="Georgia" pitchFamily="34" charset="0"/>
                <a:ea typeface="Georgia" pitchFamily="34" charset="-122"/>
                <a:cs typeface="Georgia" pitchFamily="34" charset="-120"/>
              </a:rPr>
              <a:t>XIII</a:t>
            </a:r>
            <a:endParaRPr lang="en-US" sz="21000" dirty="0"/>
          </a:p>
        </p:txBody>
      </p:sp>
      <p:sp>
        <p:nvSpPr>
          <p:cNvPr id="3" name="Text 1"/>
          <p:cNvSpPr/>
          <p:nvPr/>
        </p:nvSpPr>
        <p:spPr>
          <a:xfrm>
            <a:off x="822960" y="1234440"/>
            <a:ext cx="73152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ART APPRECIATION · UNIT IV</a:t>
            </a:r>
            <a:endParaRPr lang="en-US" sz="1100" dirty="0"/>
          </a:p>
        </p:txBody>
      </p:sp>
      <p:sp>
        <p:nvSpPr>
          <p:cNvPr id="4" name="Text 2"/>
          <p:cNvSpPr/>
          <p:nvPr/>
        </p:nvSpPr>
        <p:spPr>
          <a:xfrm>
            <a:off x="822960" y="1737360"/>
            <a:ext cx="6766560" cy="2377440"/>
          </a:xfrm>
          <a:prstGeom prst="rect">
            <a:avLst/>
          </a:prstGeom>
          <a:noFill/>
          <a:ln/>
        </p:spPr>
        <p:txBody>
          <a:bodyPr wrap="square" lIns="0" tIns="0" rIns="0" bIns="0" rtlCol="0" anchor="t"/>
          <a:lstStyle/>
          <a:p>
            <a:pPr indent="0" marL="0">
              <a:lnSpc>
                <a:spcPts val="6400"/>
              </a:lnSpc>
              <a:buNone/>
            </a:pPr>
            <a:r>
              <a:rPr lang="en-US" sz="6400" dirty="0">
                <a:solidFill>
                  <a:srgbClr val="24313F"/>
                </a:solidFill>
                <a:latin typeface="Georgia" pitchFamily="34" charset="0"/>
                <a:ea typeface="Georgia" pitchFamily="34" charset="-122"/>
                <a:cs typeface="Georgia" pitchFamily="34" charset="-120"/>
              </a:rPr>
              <a:t>The Artworld</a:t>
            </a:r>
            <a:endParaRPr lang="en-US" sz="6400" dirty="0"/>
          </a:p>
          <a:p>
            <a:pPr indent="0" marL="0">
              <a:lnSpc>
                <a:spcPts val="6400"/>
              </a:lnSpc>
              <a:buNone/>
            </a:pPr>
            <a:r>
              <a:rPr lang="en-US" sz="6400" dirty="0">
                <a:solidFill>
                  <a:srgbClr val="24313F"/>
                </a:solidFill>
                <a:latin typeface="Georgia" pitchFamily="34" charset="0"/>
                <a:ea typeface="Georgia" pitchFamily="34" charset="-122"/>
                <a:cs typeface="Georgia" pitchFamily="34" charset="-120"/>
              </a:rPr>
              <a:t>and the Brief</a:t>
            </a:r>
            <a:endParaRPr lang="en-US" sz="64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3152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Images, Mediation and Modernity · Lesson 13</a:t>
            </a:r>
            <a:endParaRPr lang="en-US" sz="2200" dirty="0"/>
          </a:p>
        </p:txBody>
      </p:sp>
      <p:sp>
        <p:nvSpPr>
          <p:cNvPr id="7" name="Text 5"/>
          <p:cNvSpPr/>
          <p:nvPr/>
        </p:nvSpPr>
        <p:spPr>
          <a:xfrm>
            <a:off x="822960" y="5029200"/>
            <a:ext cx="91440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Three sessions  ·  Monday 21 to Wednesday 23 December  ·  then the retrospective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6766560" y="640080"/>
            <a:ext cx="4846320" cy="5577840"/>
          </a:xfrm>
          <a:prstGeom prst="rect">
            <a:avLst/>
          </a:prstGeom>
          <a:noFill/>
          <a:ln/>
        </p:spPr>
        <p:txBody>
          <a:bodyPr wrap="square" lIns="0" tIns="0" rIns="0" bIns="0" rtlCol="0" anchor="ctr"/>
          <a:lstStyle/>
          <a:p>
            <a:pPr algn="ctr" indent="0" marL="0">
              <a:buNone/>
            </a:pPr>
            <a:r>
              <a:rPr lang="en-US" sz="21000" dirty="0">
                <a:solidFill>
                  <a:srgbClr val="5C7A6B"/>
                </a:solidFill>
                <a:latin typeface="Georgia" pitchFamily="34" charset="0"/>
                <a:ea typeface="Georgia" pitchFamily="34" charset="-122"/>
                <a:cs typeface="Georgia" pitchFamily="34" charset="-120"/>
              </a:rPr>
              <a:t>XIII</a:t>
            </a:r>
            <a:endParaRPr lang="en-US" sz="21000" dirty="0"/>
          </a:p>
        </p:txBody>
      </p:sp>
      <p:sp>
        <p:nvSpPr>
          <p:cNvPr id="3" name="Text 1"/>
          <p:cNvSpPr/>
          <p:nvPr/>
        </p:nvSpPr>
        <p:spPr>
          <a:xfrm>
            <a:off x="822960" y="1828800"/>
            <a:ext cx="73152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THE QUESTION</a:t>
            </a:r>
            <a:endParaRPr lang="en-US" sz="1100" dirty="0"/>
          </a:p>
        </p:txBody>
      </p:sp>
      <p:sp>
        <p:nvSpPr>
          <p:cNvPr id="4" name="Shape 2"/>
          <p:cNvSpPr/>
          <p:nvPr/>
        </p:nvSpPr>
        <p:spPr>
          <a:xfrm>
            <a:off x="822960" y="2194560"/>
            <a:ext cx="3840480" cy="0"/>
          </a:xfrm>
          <a:prstGeom prst="line">
            <a:avLst/>
          </a:prstGeom>
          <a:noFill/>
          <a:ln w="9525">
            <a:solidFill>
              <a:srgbClr val="8AA394"/>
            </a:solidFill>
            <a:prstDash val="solid"/>
          </a:ln>
        </p:spPr>
      </p:sp>
      <p:sp>
        <p:nvSpPr>
          <p:cNvPr id="5" name="Text 3"/>
          <p:cNvSpPr/>
          <p:nvPr/>
        </p:nvSpPr>
        <p:spPr>
          <a:xfrm>
            <a:off x="822960" y="2331720"/>
            <a:ext cx="7589520" cy="3108960"/>
          </a:xfrm>
          <a:prstGeom prst="rect">
            <a:avLst/>
          </a:prstGeom>
          <a:noFill/>
          <a:ln/>
        </p:spPr>
        <p:txBody>
          <a:bodyPr wrap="square" lIns="0" tIns="0" rIns="0" bIns="0" rtlCol="0" anchor="t"/>
          <a:lstStyle/>
          <a:p>
            <a:pPr indent="0" marL="0">
              <a:lnSpc>
                <a:spcPts val="5400"/>
              </a:lnSpc>
              <a:buNone/>
            </a:pPr>
            <a:r>
              <a:rPr lang="en-US" sz="5000" dirty="0">
                <a:solidFill>
                  <a:srgbClr val="FAF8F1"/>
                </a:solidFill>
                <a:latin typeface="Georgia" pitchFamily="34" charset="0"/>
                <a:ea typeface="Georgia" pitchFamily="34" charset="-122"/>
                <a:cs typeface="Georgia" pitchFamily="34" charset="-120"/>
              </a:rPr>
              <a:t>What makes it art</a:t>
            </a:r>
            <a:endParaRPr lang="en-US" sz="5000" dirty="0"/>
          </a:p>
          <a:p>
            <a:pPr indent="0" marL="0">
              <a:lnSpc>
                <a:spcPts val="5400"/>
              </a:lnSpc>
              <a:buNone/>
            </a:pPr>
            <a:r>
              <a:rPr lang="en-US" sz="5000" dirty="0">
                <a:solidFill>
                  <a:srgbClr val="FAF8F1"/>
                </a:solidFill>
                <a:latin typeface="Georgia" pitchFamily="34" charset="0"/>
                <a:ea typeface="Georgia" pitchFamily="34" charset="-122"/>
                <a:cs typeface="Georgia" pitchFamily="34" charset="-120"/>
              </a:rPr>
              <a:t>when looking</a:t>
            </a:r>
            <a:endParaRPr lang="en-US" sz="5000" dirty="0"/>
          </a:p>
          <a:p>
            <a:pPr indent="0" marL="0">
              <a:lnSpc>
                <a:spcPts val="5400"/>
              </a:lnSpc>
              <a:buNone/>
            </a:pPr>
            <a:r>
              <a:rPr lang="en-US" sz="5000" dirty="0">
                <a:solidFill>
                  <a:srgbClr val="FAF8F1"/>
                </a:solidFill>
                <a:latin typeface="Georgia" pitchFamily="34" charset="0"/>
                <a:ea typeface="Georgia" pitchFamily="34" charset="-122"/>
                <a:cs typeface="Georgia" pitchFamily="34" charset="-120"/>
              </a:rPr>
              <a:t>cannot tell you?</a:t>
            </a:r>
            <a:endParaRPr lang="en-US" sz="5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02920"/>
            <a:ext cx="1828800" cy="1828800"/>
          </a:xfrm>
          <a:prstGeom prst="rect">
            <a:avLst/>
          </a:prstGeom>
          <a:noFill/>
          <a:ln/>
        </p:spPr>
        <p:txBody>
          <a:bodyPr wrap="square" lIns="0" tIns="0" rIns="0" bIns="0" rtlCol="0" anchor="t"/>
          <a:lstStyle/>
          <a:p>
            <a:pPr indent="0" marL="0">
              <a:buNone/>
            </a:pPr>
            <a:r>
              <a:rPr lang="en-US" sz="19000" dirty="0">
                <a:solidFill>
                  <a:srgbClr val="A3C1AD"/>
                </a:solidFill>
                <a:latin typeface="Georgia" pitchFamily="34" charset="0"/>
                <a:ea typeface="Georgia" pitchFamily="34" charset="-122"/>
                <a:cs typeface="Georgia" pitchFamily="34" charset="-120"/>
              </a:rPr>
              <a:t>“</a:t>
            </a:r>
            <a:endParaRPr lang="en-US" sz="19000" dirty="0"/>
          </a:p>
        </p:txBody>
      </p:sp>
      <p:sp>
        <p:nvSpPr>
          <p:cNvPr id="3" name="Text 1"/>
          <p:cNvSpPr/>
          <p:nvPr/>
        </p:nvSpPr>
        <p:spPr>
          <a:xfrm>
            <a:off x="822960" y="1463040"/>
            <a:ext cx="10424160" cy="3291840"/>
          </a:xfrm>
          <a:prstGeom prst="rect">
            <a:avLst/>
          </a:prstGeom>
          <a:noFill/>
          <a:ln/>
        </p:spPr>
        <p:txBody>
          <a:bodyPr wrap="square" lIns="0" tIns="0" rIns="0" bIns="0" rtlCol="0" anchor="ctr"/>
          <a:lstStyle/>
          <a:p>
            <a:pPr indent="0" marL="0">
              <a:lnSpc>
                <a:spcPts val="4600"/>
              </a:lnSpc>
              <a:buNone/>
            </a:pPr>
            <a:r>
              <a:rPr lang="en-US" sz="3700" dirty="0">
                <a:solidFill>
                  <a:srgbClr val="24313F"/>
                </a:solidFill>
                <a:latin typeface="Georgia" pitchFamily="34" charset="0"/>
                <a:ea typeface="Georgia" pitchFamily="34" charset="-122"/>
                <a:cs typeface="Georgia" pitchFamily="34" charset="-120"/>
              </a:rPr>
              <a:t>To see something as art requires something the eye cannot descry, an atmosphere of artistic theory, a knowledge of the history of art: an artworld.</a:t>
            </a:r>
            <a:endParaRPr lang="en-US" sz="37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91440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Arthur Danto, The Artworld, 1964</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ONE · DANTO</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END OF ART</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800" dirty="0">
                <a:solidFill>
                  <a:srgbClr val="24313F"/>
                </a:solidFill>
                <a:latin typeface="Georgia" pitchFamily="34" charset="0"/>
                <a:ea typeface="Georgia" pitchFamily="34" charset="-122"/>
                <a:cs typeface="Georgia" pitchFamily="34" charset="-120"/>
              </a:rPr>
              <a:t>Art needs more than eyes</a:t>
            </a:r>
            <a:endParaRPr lang="en-US" sz="3800" dirty="0"/>
          </a:p>
        </p:txBody>
      </p:sp>
      <p:sp>
        <p:nvSpPr>
          <p:cNvPr id="6" name="Text 4"/>
          <p:cNvSpPr/>
          <p:nvPr/>
        </p:nvSpPr>
        <p:spPr>
          <a:xfrm>
            <a:off x="822960" y="2011680"/>
            <a:ext cx="914400" cy="640080"/>
          </a:xfrm>
          <a:prstGeom prst="rect">
            <a:avLst/>
          </a:prstGeom>
          <a:noFill/>
          <a:ln/>
        </p:spPr>
        <p:txBody>
          <a:bodyPr wrap="square" lIns="0" tIns="0" rIns="0" bIns="0" rtlCol="0" anchor="ctr"/>
          <a:lstStyle/>
          <a:p>
            <a:pPr indent="0" marL="0">
              <a:buNone/>
            </a:pPr>
            <a:r>
              <a:rPr lang="en-US" sz="3400" dirty="0">
                <a:solidFill>
                  <a:srgbClr val="A3C1AD"/>
                </a:solidFill>
                <a:latin typeface="Georgia" pitchFamily="34" charset="0"/>
                <a:ea typeface="Georgia" pitchFamily="34" charset="-122"/>
                <a:cs typeface="Georgia" pitchFamily="34" charset="-120"/>
              </a:rPr>
              <a:t>01</a:t>
            </a:r>
            <a:endParaRPr lang="en-US" sz="3400" dirty="0"/>
          </a:p>
        </p:txBody>
      </p:sp>
      <p:sp>
        <p:nvSpPr>
          <p:cNvPr id="7" name="Text 5"/>
          <p:cNvSpPr/>
          <p:nvPr/>
        </p:nvSpPr>
        <p:spPr>
          <a:xfrm>
            <a:off x="822960" y="2697480"/>
            <a:ext cx="4754880" cy="502920"/>
          </a:xfrm>
          <a:prstGeom prst="rect">
            <a:avLst/>
          </a:prstGeom>
          <a:noFill/>
          <a:ln/>
        </p:spPr>
        <p:txBody>
          <a:bodyPr wrap="square" lIns="0" tIns="0" rIns="0" bIns="0" rtlCol="0" anchor="ctr"/>
          <a:lstStyle/>
          <a:p>
            <a:pPr indent="0" marL="0">
              <a:buNone/>
            </a:pPr>
            <a:r>
              <a:rPr lang="en-US" sz="2300" dirty="0">
                <a:solidFill>
                  <a:srgbClr val="7A7F72"/>
                </a:solidFill>
                <a:latin typeface="Georgia" pitchFamily="34" charset="0"/>
                <a:ea typeface="Georgia" pitchFamily="34" charset="-122"/>
                <a:cs typeface="Georgia" pitchFamily="34" charset="-120"/>
              </a:rPr>
              <a:t>What the eye gives</a:t>
            </a:r>
            <a:endParaRPr lang="en-US" sz="2300" dirty="0"/>
          </a:p>
        </p:txBody>
      </p:sp>
      <p:sp>
        <p:nvSpPr>
          <p:cNvPr id="8" name="Shape 6"/>
          <p:cNvSpPr/>
          <p:nvPr/>
        </p:nvSpPr>
        <p:spPr>
          <a:xfrm>
            <a:off x="822960" y="3246120"/>
            <a:ext cx="4754880" cy="0"/>
          </a:xfrm>
          <a:prstGeom prst="line">
            <a:avLst/>
          </a:prstGeom>
          <a:noFill/>
          <a:ln w="9525">
            <a:solidFill>
              <a:srgbClr val="D9D4C4"/>
            </a:solidFill>
            <a:prstDash val="solid"/>
          </a:ln>
        </p:spPr>
      </p:sp>
      <p:sp>
        <p:nvSpPr>
          <p:cNvPr id="9" name="Text 7"/>
          <p:cNvSpPr/>
          <p:nvPr/>
        </p:nvSpPr>
        <p:spPr>
          <a:xfrm>
            <a:off x="822960" y="3383280"/>
            <a:ext cx="475488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Colour, shape, surface, resemblance. Everything a camera could record. For most of history this was enough to tell art from not-art.</a:t>
            </a:r>
            <a:endParaRPr lang="en-US" sz="1700" dirty="0"/>
          </a:p>
        </p:txBody>
      </p:sp>
      <p:sp>
        <p:nvSpPr>
          <p:cNvPr id="10" name="Text 8"/>
          <p:cNvSpPr/>
          <p:nvPr/>
        </p:nvSpPr>
        <p:spPr>
          <a:xfrm>
            <a:off x="6309360" y="2011680"/>
            <a:ext cx="914400" cy="640080"/>
          </a:xfrm>
          <a:prstGeom prst="rect">
            <a:avLst/>
          </a:prstGeom>
          <a:noFill/>
          <a:ln/>
        </p:spPr>
        <p:txBody>
          <a:bodyPr wrap="square" lIns="0" tIns="0" rIns="0" bIns="0" rtlCol="0" anchor="ctr"/>
          <a:lstStyle/>
          <a:p>
            <a:pPr indent="0" marL="0">
              <a:buNone/>
            </a:pPr>
            <a:r>
              <a:rPr lang="en-US" sz="3400" dirty="0">
                <a:solidFill>
                  <a:srgbClr val="A3C1AD"/>
                </a:solidFill>
                <a:latin typeface="Georgia" pitchFamily="34" charset="0"/>
                <a:ea typeface="Georgia" pitchFamily="34" charset="-122"/>
                <a:cs typeface="Georgia" pitchFamily="34" charset="-120"/>
              </a:rPr>
              <a:t>02</a:t>
            </a:r>
            <a:endParaRPr lang="en-US" sz="3400" dirty="0"/>
          </a:p>
        </p:txBody>
      </p:sp>
      <p:sp>
        <p:nvSpPr>
          <p:cNvPr id="11" name="Text 9"/>
          <p:cNvSpPr/>
          <p:nvPr/>
        </p:nvSpPr>
        <p:spPr>
          <a:xfrm>
            <a:off x="6309360" y="2697480"/>
            <a:ext cx="4754880" cy="502920"/>
          </a:xfrm>
          <a:prstGeom prst="rect">
            <a:avLst/>
          </a:prstGeom>
          <a:noFill/>
          <a:ln/>
        </p:spPr>
        <p:txBody>
          <a:bodyPr wrap="square" lIns="0" tIns="0" rIns="0" bIns="0" rtlCol="0" anchor="ctr"/>
          <a:lstStyle/>
          <a:p>
            <a:pPr indent="0" marL="0">
              <a:buNone/>
            </a:pPr>
            <a:r>
              <a:rPr lang="en-US" sz="2300" dirty="0">
                <a:solidFill>
                  <a:srgbClr val="4A6B5D"/>
                </a:solidFill>
                <a:latin typeface="Georgia" pitchFamily="34" charset="0"/>
                <a:ea typeface="Georgia" pitchFamily="34" charset="-122"/>
                <a:cs typeface="Georgia" pitchFamily="34" charset="-120"/>
              </a:rPr>
              <a:t>What the eye cannot</a:t>
            </a:r>
            <a:endParaRPr lang="en-US" sz="2300" dirty="0"/>
          </a:p>
        </p:txBody>
      </p:sp>
      <p:sp>
        <p:nvSpPr>
          <p:cNvPr id="12" name="Shape 10"/>
          <p:cNvSpPr/>
          <p:nvPr/>
        </p:nvSpPr>
        <p:spPr>
          <a:xfrm>
            <a:off x="6309360" y="3246120"/>
            <a:ext cx="4754880" cy="0"/>
          </a:xfrm>
          <a:prstGeom prst="line">
            <a:avLst/>
          </a:prstGeom>
          <a:noFill/>
          <a:ln w="9525">
            <a:solidFill>
              <a:srgbClr val="D9D4C4"/>
            </a:solidFill>
            <a:prstDash val="solid"/>
          </a:ln>
        </p:spPr>
      </p:sp>
      <p:sp>
        <p:nvSpPr>
          <p:cNvPr id="13" name="Text 11"/>
          <p:cNvSpPr/>
          <p:nvPr/>
        </p:nvSpPr>
        <p:spPr>
          <a:xfrm>
            <a:off x="6309360" y="3383280"/>
            <a:ext cx="475488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But a signed urinal looks exactly like a plumbing-supply urinal. What separates them is invisible: a theory, a history, an institution that says this one is art. Danto calls that the artworld.</a:t>
            </a:r>
            <a:endParaRPr lang="en-US" sz="1700" dirty="0"/>
          </a:p>
        </p:txBody>
      </p:sp>
      <p:sp>
        <p:nvSpPr>
          <p:cNvPr id="14" name="Shape 12"/>
          <p:cNvSpPr/>
          <p:nvPr/>
        </p:nvSpPr>
        <p:spPr>
          <a:xfrm>
            <a:off x="822960" y="6382512"/>
            <a:ext cx="10543032" cy="0"/>
          </a:xfrm>
          <a:prstGeom prst="line">
            <a:avLst/>
          </a:prstGeom>
          <a:noFill/>
          <a:ln w="9525">
            <a:solidFill>
              <a:srgbClr val="D9D4C4"/>
            </a:solidFill>
            <a:prstDash val="solid"/>
          </a:ln>
        </p:spPr>
      </p:sp>
      <p:sp>
        <p:nvSpPr>
          <p:cNvPr id="15" name="Text 1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16" name="Text 1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WHOLE STORY</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FROM THE WALL TO THE READYMADE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Seventeen thousand years apart</a:t>
            </a:r>
            <a:endParaRPr lang="en-US" sz="3200" dirty="0"/>
          </a:p>
        </p:txBody>
      </p:sp>
      <p:sp>
        <p:nvSpPr>
          <p:cNvPr id="6" name="Shape 4"/>
          <p:cNvSpPr/>
          <p:nvPr/>
        </p:nvSpPr>
        <p:spPr>
          <a:xfrm>
            <a:off x="822960" y="1737360"/>
            <a:ext cx="5088636" cy="3200400"/>
          </a:xfrm>
          <a:prstGeom prst="rect">
            <a:avLst/>
          </a:prstGeom>
          <a:solidFill>
            <a:srgbClr val="FAF8F1"/>
          </a:solidFill>
          <a:ln w="9525">
            <a:solidFill>
              <a:srgbClr val="D9D4C4"/>
            </a:solidFill>
            <a:prstDash val="solid"/>
          </a:ln>
        </p:spPr>
      </p:sp>
      <p:pic>
        <p:nvPicPr>
          <p:cNvPr id="7" name="Image 0" descr="/private/tmp/claude-501/-Users-dogan-Documents-Vaults-Courses/1131873b-e36e-44c1-91c0-268fb16c8435/scratchpad/img/lascaux.jpg">    </p:cNvPr>
          <p:cNvPicPr>
            <a:picLocks noChangeAspect="1"/>
          </p:cNvPicPr>
          <p:nvPr/>
        </p:nvPicPr>
        <p:blipFill>
          <a:blip r:embed="rId1"/>
          <a:stretch>
            <a:fillRect/>
          </a:stretch>
        </p:blipFill>
        <p:spPr>
          <a:xfrm>
            <a:off x="1121811" y="1865376"/>
            <a:ext cx="4490933" cy="2944368"/>
          </a:xfrm>
          <a:prstGeom prst="rect">
            <a:avLst/>
          </a:prstGeom>
        </p:spPr>
      </p:pic>
      <p:sp>
        <p:nvSpPr>
          <p:cNvPr id="8" name="Shape 5"/>
          <p:cNvSpPr/>
          <p:nvPr/>
        </p:nvSpPr>
        <p:spPr>
          <a:xfrm>
            <a:off x="6277356" y="1737360"/>
            <a:ext cx="5088636" cy="3200400"/>
          </a:xfrm>
          <a:prstGeom prst="rect">
            <a:avLst/>
          </a:prstGeom>
          <a:solidFill>
            <a:srgbClr val="FAF8F1"/>
          </a:solidFill>
          <a:ln w="9525">
            <a:solidFill>
              <a:srgbClr val="D9D4C4"/>
            </a:solidFill>
            <a:prstDash val="solid"/>
          </a:ln>
        </p:spPr>
      </p:sp>
      <p:pic>
        <p:nvPicPr>
          <p:cNvPr id="9" name="Image 1" descr="/private/tmp/claude-501/-Users-dogan-Documents-Vaults-Courses/1131873b-e36e-44c1-91c0-268fb16c8435/scratchpad/img/fountain.jpg">    </p:cNvPr>
          <p:cNvPicPr>
            <a:picLocks noChangeAspect="1"/>
          </p:cNvPicPr>
          <p:nvPr/>
        </p:nvPicPr>
        <p:blipFill>
          <a:blip r:embed="rId2"/>
          <a:stretch>
            <a:fillRect/>
          </a:stretch>
        </p:blipFill>
        <p:spPr>
          <a:xfrm>
            <a:off x="7694533" y="1865376"/>
            <a:ext cx="2254282" cy="2944368"/>
          </a:xfrm>
          <a:prstGeom prst="rect">
            <a:avLst/>
          </a:prstGeom>
        </p:spPr>
      </p:pic>
      <p:sp>
        <p:nvSpPr>
          <p:cNvPr id="10" name="Text 6"/>
          <p:cNvSpPr/>
          <p:nvPr/>
        </p:nvSpPr>
        <p:spPr>
          <a:xfrm>
            <a:off x="822960" y="5010912"/>
            <a:ext cx="5088636" cy="274320"/>
          </a:xfrm>
          <a:prstGeom prst="rect">
            <a:avLst/>
          </a:prstGeom>
          <a:noFill/>
          <a:ln/>
        </p:spPr>
        <p:txBody>
          <a:bodyPr wrap="square" lIns="0" tIns="0" rIns="0" bIns="0" rtlCol="0" anchor="ctr"/>
          <a:lstStyle/>
          <a:p>
            <a:pPr indent="0" marL="0">
              <a:buNone/>
            </a:pPr>
            <a:r>
              <a:rPr lang="en-US" sz="1000" dirty="0">
                <a:solidFill>
                  <a:srgbClr val="7A7F72"/>
                </a:solidFill>
                <a:latin typeface="Arial" pitchFamily="34" charset="0"/>
                <a:ea typeface="Arial" pitchFamily="34" charset="-122"/>
                <a:cs typeface="Arial" pitchFamily="34" charset="-120"/>
              </a:rPr>
              <a:t>Lascaux, c. 17,000 years ago</a:t>
            </a:r>
            <a:endParaRPr lang="en-US" sz="1000" dirty="0"/>
          </a:p>
        </p:txBody>
      </p:sp>
      <p:sp>
        <p:nvSpPr>
          <p:cNvPr id="11" name="Text 7"/>
          <p:cNvSpPr/>
          <p:nvPr/>
        </p:nvSpPr>
        <p:spPr>
          <a:xfrm>
            <a:off x="6277356" y="5010912"/>
            <a:ext cx="5088636" cy="274320"/>
          </a:xfrm>
          <a:prstGeom prst="rect">
            <a:avLst/>
          </a:prstGeom>
          <a:noFill/>
          <a:ln/>
        </p:spPr>
        <p:txBody>
          <a:bodyPr wrap="square" lIns="0" tIns="0" rIns="0" bIns="0" rtlCol="0" anchor="ctr"/>
          <a:lstStyle/>
          <a:p>
            <a:pPr indent="0" marL="0">
              <a:buNone/>
            </a:pPr>
            <a:r>
              <a:rPr lang="en-US" sz="1000" dirty="0">
                <a:solidFill>
                  <a:srgbClr val="7A7F72"/>
                </a:solidFill>
                <a:latin typeface="Arial" pitchFamily="34" charset="0"/>
                <a:ea typeface="Arial" pitchFamily="34" charset="-122"/>
                <a:cs typeface="Arial" pitchFamily="34" charset="-120"/>
              </a:rPr>
              <a:t>Duchamp, Fountain, 1917, photographed by Stieglitz · public domain</a:t>
            </a:r>
            <a:endParaRPr lang="en-US" sz="1000" dirty="0"/>
          </a:p>
        </p:txBody>
      </p:sp>
      <p:sp>
        <p:nvSpPr>
          <p:cNvPr id="12" name="Text 8"/>
          <p:cNvSpPr/>
          <p:nvPr/>
        </p:nvSpPr>
        <p:spPr>
          <a:xfrm>
            <a:off x="822960" y="5623560"/>
            <a:ext cx="10543032" cy="457200"/>
          </a:xfrm>
          <a:prstGeom prst="rect">
            <a:avLst/>
          </a:prstGeom>
          <a:noFill/>
          <a:ln/>
        </p:spPr>
        <p:txBody>
          <a:bodyPr wrap="square" lIns="0" tIns="0" rIns="0" bIns="0" rtlCol="0" anchor="ctr"/>
          <a:lstStyle/>
          <a:p>
            <a:pPr indent="0" marL="0">
              <a:buNone/>
            </a:pPr>
            <a:r>
              <a:rPr lang="en-US" sz="1600" i="1" dirty="0">
                <a:solidFill>
                  <a:srgbClr val="4A6B5D"/>
                </a:solidFill>
                <a:latin typeface="Georgia" pitchFamily="34" charset="0"/>
                <a:ea typeface="Georgia" pitchFamily="34" charset="-122"/>
                <a:cs typeface="Georgia" pitchFamily="34" charset="-120"/>
              </a:rPr>
              <a:t>A urinal, laid on its back, signed R. Mutt, submitted as sculpture. Looking will not settle whether it is art. That is exactly the point.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TWO · INTO THE INSTITUTION</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WHO DECIDED, AND WHERE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800" dirty="0">
                <a:solidFill>
                  <a:srgbClr val="24313F"/>
                </a:solidFill>
                <a:latin typeface="Georgia" pitchFamily="34" charset="0"/>
                <a:ea typeface="Georgia" pitchFamily="34" charset="-122"/>
                <a:cs typeface="Georgia" pitchFamily="34" charset="-120"/>
              </a:rPr>
              <a:t>The object leaves the studio</a:t>
            </a:r>
            <a:endParaRPr lang="en-US" sz="3800" dirty="0"/>
          </a:p>
        </p:txBody>
      </p:sp>
      <p:sp>
        <p:nvSpPr>
          <p:cNvPr id="6" name="Text 4"/>
          <p:cNvSpPr/>
          <p:nvPr/>
        </p:nvSpPr>
        <p:spPr>
          <a:xfrm>
            <a:off x="822960" y="2011680"/>
            <a:ext cx="914400" cy="640080"/>
          </a:xfrm>
          <a:prstGeom prst="rect">
            <a:avLst/>
          </a:prstGeom>
          <a:noFill/>
          <a:ln/>
        </p:spPr>
        <p:txBody>
          <a:bodyPr wrap="square" lIns="0" tIns="0" rIns="0" bIns="0" rtlCol="0" anchor="ctr"/>
          <a:lstStyle/>
          <a:p>
            <a:pPr indent="0" marL="0">
              <a:buNone/>
            </a:pPr>
            <a:r>
              <a:rPr lang="en-US" sz="3400" dirty="0">
                <a:solidFill>
                  <a:srgbClr val="A3C1AD"/>
                </a:solidFill>
                <a:latin typeface="Georgia" pitchFamily="34" charset="0"/>
                <a:ea typeface="Georgia" pitchFamily="34" charset="-122"/>
                <a:cs typeface="Georgia" pitchFamily="34" charset="-120"/>
              </a:rPr>
              <a:t>01</a:t>
            </a:r>
            <a:endParaRPr lang="en-US" sz="3400" dirty="0"/>
          </a:p>
        </p:txBody>
      </p:sp>
      <p:sp>
        <p:nvSpPr>
          <p:cNvPr id="7" name="Text 5"/>
          <p:cNvSpPr/>
          <p:nvPr/>
        </p:nvSpPr>
        <p:spPr>
          <a:xfrm>
            <a:off x="822960" y="2697480"/>
            <a:ext cx="4754880" cy="502920"/>
          </a:xfrm>
          <a:prstGeom prst="rect">
            <a:avLst/>
          </a:prstGeom>
          <a:noFill/>
          <a:ln/>
        </p:spPr>
        <p:txBody>
          <a:bodyPr wrap="square" lIns="0" tIns="0" rIns="0" bIns="0" rtlCol="0" anchor="ctr"/>
          <a:lstStyle/>
          <a:p>
            <a:pPr indent="0" marL="0">
              <a:buNone/>
            </a:pPr>
            <a:r>
              <a:rPr lang="en-US" sz="2300" dirty="0">
                <a:solidFill>
                  <a:srgbClr val="7A7F72"/>
                </a:solidFill>
                <a:latin typeface="Georgia" pitchFamily="34" charset="0"/>
                <a:ea typeface="Georgia" pitchFamily="34" charset="-122"/>
                <a:cs typeface="Georgia" pitchFamily="34" charset="-120"/>
              </a:rPr>
              <a:t>Duchamp's move</a:t>
            </a:r>
            <a:endParaRPr lang="en-US" sz="2300" dirty="0"/>
          </a:p>
        </p:txBody>
      </p:sp>
      <p:sp>
        <p:nvSpPr>
          <p:cNvPr id="8" name="Shape 6"/>
          <p:cNvSpPr/>
          <p:nvPr/>
        </p:nvSpPr>
        <p:spPr>
          <a:xfrm>
            <a:off x="822960" y="3246120"/>
            <a:ext cx="4754880" cy="0"/>
          </a:xfrm>
          <a:prstGeom prst="line">
            <a:avLst/>
          </a:prstGeom>
          <a:noFill/>
          <a:ln w="9525">
            <a:solidFill>
              <a:srgbClr val="D9D4C4"/>
            </a:solidFill>
            <a:prstDash val="solid"/>
          </a:ln>
        </p:spPr>
      </p:sp>
      <p:sp>
        <p:nvSpPr>
          <p:cNvPr id="9" name="Text 7"/>
          <p:cNvSpPr/>
          <p:nvPr/>
        </p:nvSpPr>
        <p:spPr>
          <a:xfrm>
            <a:off x="822960" y="3383280"/>
            <a:ext cx="475488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He did not make the urinal. He chose it, titled it, and sent it to an exhibition. The art is the decision and the placing, not the hand.</a:t>
            </a:r>
            <a:endParaRPr lang="en-US" sz="1700" dirty="0"/>
          </a:p>
        </p:txBody>
      </p:sp>
      <p:sp>
        <p:nvSpPr>
          <p:cNvPr id="10" name="Text 8"/>
          <p:cNvSpPr/>
          <p:nvPr/>
        </p:nvSpPr>
        <p:spPr>
          <a:xfrm>
            <a:off x="6309360" y="2011680"/>
            <a:ext cx="914400" cy="640080"/>
          </a:xfrm>
          <a:prstGeom prst="rect">
            <a:avLst/>
          </a:prstGeom>
          <a:noFill/>
          <a:ln/>
        </p:spPr>
        <p:txBody>
          <a:bodyPr wrap="square" lIns="0" tIns="0" rIns="0" bIns="0" rtlCol="0" anchor="ctr"/>
          <a:lstStyle/>
          <a:p>
            <a:pPr indent="0" marL="0">
              <a:buNone/>
            </a:pPr>
            <a:r>
              <a:rPr lang="en-US" sz="3400" dirty="0">
                <a:solidFill>
                  <a:srgbClr val="A3C1AD"/>
                </a:solidFill>
                <a:latin typeface="Georgia" pitchFamily="34" charset="0"/>
                <a:ea typeface="Georgia" pitchFamily="34" charset="-122"/>
                <a:cs typeface="Georgia" pitchFamily="34" charset="-120"/>
              </a:rPr>
              <a:t>02</a:t>
            </a:r>
            <a:endParaRPr lang="en-US" sz="3400" dirty="0"/>
          </a:p>
        </p:txBody>
      </p:sp>
      <p:sp>
        <p:nvSpPr>
          <p:cNvPr id="11" name="Text 9"/>
          <p:cNvSpPr/>
          <p:nvPr/>
        </p:nvSpPr>
        <p:spPr>
          <a:xfrm>
            <a:off x="6309360" y="2697480"/>
            <a:ext cx="4754880" cy="502920"/>
          </a:xfrm>
          <a:prstGeom prst="rect">
            <a:avLst/>
          </a:prstGeom>
          <a:noFill/>
          <a:ln/>
        </p:spPr>
        <p:txBody>
          <a:bodyPr wrap="square" lIns="0" tIns="0" rIns="0" bIns="0" rtlCol="0" anchor="ctr"/>
          <a:lstStyle/>
          <a:p>
            <a:pPr indent="0" marL="0">
              <a:buNone/>
            </a:pPr>
            <a:r>
              <a:rPr lang="en-US" sz="2300" dirty="0">
                <a:solidFill>
                  <a:srgbClr val="4A6B5D"/>
                </a:solidFill>
                <a:latin typeface="Georgia" pitchFamily="34" charset="0"/>
                <a:ea typeface="Georgia" pitchFamily="34" charset="-122"/>
                <a:cs typeface="Georgia" pitchFamily="34" charset="-120"/>
              </a:rPr>
              <a:t>Warhol's world</a:t>
            </a:r>
            <a:endParaRPr lang="en-US" sz="2300" dirty="0"/>
          </a:p>
        </p:txBody>
      </p:sp>
      <p:sp>
        <p:nvSpPr>
          <p:cNvPr id="12" name="Shape 10"/>
          <p:cNvSpPr/>
          <p:nvPr/>
        </p:nvSpPr>
        <p:spPr>
          <a:xfrm>
            <a:off x="6309360" y="3246120"/>
            <a:ext cx="4754880" cy="0"/>
          </a:xfrm>
          <a:prstGeom prst="line">
            <a:avLst/>
          </a:prstGeom>
          <a:noFill/>
          <a:ln w="9525">
            <a:solidFill>
              <a:srgbClr val="D9D4C4"/>
            </a:solidFill>
            <a:prstDash val="solid"/>
          </a:ln>
        </p:spPr>
      </p:sp>
      <p:sp>
        <p:nvSpPr>
          <p:cNvPr id="13" name="Text 11"/>
          <p:cNvSpPr/>
          <p:nvPr/>
        </p:nvSpPr>
        <p:spPr>
          <a:xfrm>
            <a:off x="6309360" y="3383280"/>
            <a:ext cx="475488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Then a box of soap pads, a print of a soup can, sold as art because the artworld received them as art. After this, anything can be art, and the only question left is who gets to decide.</a:t>
            </a:r>
            <a:endParaRPr lang="en-US" sz="1700" dirty="0"/>
          </a:p>
        </p:txBody>
      </p:sp>
      <p:sp>
        <p:nvSpPr>
          <p:cNvPr id="14" name="Shape 12"/>
          <p:cNvSpPr/>
          <p:nvPr/>
        </p:nvSpPr>
        <p:spPr>
          <a:xfrm>
            <a:off x="822960" y="6382512"/>
            <a:ext cx="10543032" cy="0"/>
          </a:xfrm>
          <a:prstGeom prst="line">
            <a:avLst/>
          </a:prstGeom>
          <a:noFill/>
          <a:ln w="9525">
            <a:solidFill>
              <a:srgbClr val="D9D4C4"/>
            </a:solidFill>
            <a:prstDash val="solid"/>
          </a:ln>
        </p:spPr>
      </p:sp>
      <p:sp>
        <p:nvSpPr>
          <p:cNvPr id="15" name="Text 1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16" name="Text 1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THREE · THE BRIEF</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BREAK HOMEWORK AND ANNOUNCEMENT IN ONE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Three works that changed how you see</a:t>
            </a:r>
            <a:endParaRPr lang="en-US" sz="3400" dirty="0"/>
          </a:p>
        </p:txBody>
      </p:sp>
      <p:sp>
        <p:nvSpPr>
          <p:cNvPr id="6" name="Text 4"/>
          <p:cNvSpPr/>
          <p:nvPr/>
        </p:nvSpPr>
        <p:spPr>
          <a:xfrm>
            <a:off x="822960" y="1920240"/>
            <a:ext cx="9601200" cy="54864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Set Wednesday 23 December, the last session before the break.</a:t>
            </a:r>
            <a:endParaRPr lang="en-US" sz="2200" dirty="0"/>
          </a:p>
        </p:txBody>
      </p:sp>
      <p:sp>
        <p:nvSpPr>
          <p:cNvPr id="7" name="Shape 5"/>
          <p:cNvSpPr/>
          <p:nvPr/>
        </p:nvSpPr>
        <p:spPr>
          <a:xfrm>
            <a:off x="822960" y="2743200"/>
            <a:ext cx="914400" cy="0"/>
          </a:xfrm>
          <a:prstGeom prst="line">
            <a:avLst/>
          </a:prstGeom>
          <a:noFill/>
          <a:ln w="31750">
            <a:solidFill>
              <a:srgbClr val="8C3A38"/>
            </a:solidFill>
            <a:prstDash val="solid"/>
          </a:ln>
        </p:spPr>
      </p:sp>
      <p:sp>
        <p:nvSpPr>
          <p:cNvPr id="8" name="Text 6"/>
          <p:cNvSpPr/>
          <p:nvPr/>
        </p:nvSpPr>
        <p:spPr>
          <a:xfrm>
            <a:off x="822960" y="2926080"/>
            <a:ext cx="9692640" cy="1371600"/>
          </a:xfrm>
          <a:prstGeom prst="rect">
            <a:avLst/>
          </a:prstGeom>
          <a:noFill/>
          <a:ln/>
        </p:spPr>
        <p:txBody>
          <a:bodyPr wrap="square" lIns="0" tIns="0" rIns="0" bIns="0" rtlCol="0" anchor="t"/>
          <a:lstStyle/>
          <a:p>
            <a:pPr indent="0" marL="0">
              <a:lnSpc>
                <a:spcPts val="2800"/>
              </a:lnSpc>
              <a:buNone/>
            </a:pPr>
            <a:r>
              <a:rPr lang="en-US" sz="2000" dirty="0">
                <a:solidFill>
                  <a:srgbClr val="24313F"/>
                </a:solidFill>
                <a:latin typeface="Georgia" pitchFamily="34" charset="0"/>
                <a:ea typeface="Georgia" pitchFamily="34" charset="-122"/>
                <a:cs typeface="Georgia" pitchFamily="34" charset="-120"/>
              </a:rPr>
              <a:t>Over the holiday, choose three works from the whole semester that changed how you see, and write why for each. Three to four hours, not more. This one page is also the retrospective brief: the announcement covers the whole break, so it cannot slip.</a:t>
            </a:r>
            <a:endParaRPr lang="en-US" sz="2000" dirty="0"/>
          </a:p>
        </p:txBody>
      </p:sp>
      <p:sp>
        <p:nvSpPr>
          <p:cNvPr id="9" name="Text 7"/>
          <p:cNvSpPr/>
          <p:nvPr/>
        </p:nvSpPr>
        <p:spPr>
          <a:xfrm>
            <a:off x="822960" y="4937760"/>
            <a:ext cx="9601200" cy="548640"/>
          </a:xfrm>
          <a:prstGeom prst="rect">
            <a:avLst/>
          </a:prstGeom>
          <a:noFill/>
          <a:ln/>
        </p:spPr>
        <p:txBody>
          <a:bodyPr wrap="square" lIns="0" tIns="0" rIns="0" bIns="0" rtlCol="0" anchor="ctr"/>
          <a:lstStyle/>
          <a:p>
            <a:pPr indent="0" marL="0">
              <a:buNone/>
            </a:pPr>
            <a:r>
              <a:rPr lang="en-US" sz="1300" spc="50" kern="0" dirty="0">
                <a:solidFill>
                  <a:srgbClr val="7A7F72"/>
                </a:solidFill>
                <a:latin typeface="Arial" pitchFamily="34" charset="0"/>
                <a:ea typeface="Arial" pitchFamily="34" charset="-122"/>
                <a:cs typeface="Arial" pitchFamily="34" charset="-120"/>
              </a:rPr>
              <a:t>The retrospective sits Thursday 7 January, in class, and is the 20 percent End of Term. One page carried into the holiday, not two.</a:t>
            </a:r>
            <a:endParaRPr lang="en-US" sz="1300" dirty="0"/>
          </a:p>
        </p:txBody>
      </p:sp>
      <p:sp>
        <p:nvSpPr>
          <p:cNvPr id="10" name="Shape 8"/>
          <p:cNvSpPr/>
          <p:nvPr/>
        </p:nvSpPr>
        <p:spPr>
          <a:xfrm>
            <a:off x="822960" y="6382512"/>
            <a:ext cx="10543032" cy="0"/>
          </a:xfrm>
          <a:prstGeom prst="line">
            <a:avLst/>
          </a:prstGeom>
          <a:noFill/>
          <a:ln w="9525">
            <a:solidFill>
              <a:srgbClr val="D9D4C4"/>
            </a:solidFill>
            <a:prstDash val="solid"/>
          </a:ln>
        </p:spPr>
      </p:sp>
      <p:sp>
        <p:nvSpPr>
          <p:cNvPr id="11"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12"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HOW IT RUNS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THREE SESSIONS, THEN CHRISTMAS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4000" dirty="0">
                <a:solidFill>
                  <a:srgbClr val="24313F"/>
                </a:solidFill>
                <a:latin typeface="Georgia" pitchFamily="34" charset="0"/>
                <a:ea typeface="Georgia" pitchFamily="34" charset="-122"/>
                <a:cs typeface="Georgia" pitchFamily="34" charset="-120"/>
              </a:rPr>
              <a:t>The week, day by day</a:t>
            </a:r>
            <a:endParaRPr lang="en-US" sz="4000" dirty="0"/>
          </a:p>
        </p:txBody>
      </p:sp>
      <p:sp>
        <p:nvSpPr>
          <p:cNvPr id="6" name="Shape 4"/>
          <p:cNvSpPr/>
          <p:nvPr/>
        </p:nvSpPr>
        <p:spPr>
          <a:xfrm>
            <a:off x="822960" y="2286000"/>
            <a:ext cx="10543032" cy="0"/>
          </a:xfrm>
          <a:prstGeom prst="line">
            <a:avLst/>
          </a:prstGeom>
          <a:noFill/>
          <a:ln w="12700">
            <a:solidFill>
              <a:srgbClr val="24313F"/>
            </a:solidFill>
            <a:prstDash val="solid"/>
          </a:ln>
        </p:spPr>
      </p:sp>
      <p:sp>
        <p:nvSpPr>
          <p:cNvPr id="7" name="Text 5"/>
          <p:cNvSpPr/>
          <p:nvPr/>
        </p:nvSpPr>
        <p:spPr>
          <a:xfrm>
            <a:off x="822960" y="2286000"/>
            <a:ext cx="2377440" cy="658368"/>
          </a:xfrm>
          <a:prstGeom prst="rect">
            <a:avLst/>
          </a:prstGeom>
          <a:noFill/>
          <a:ln/>
        </p:spPr>
        <p:txBody>
          <a:bodyPr wrap="square" lIns="0" tIns="0" rIns="0" bIns="0" rtlCol="0" anchor="ctr"/>
          <a:lstStyle/>
          <a:p>
            <a:pPr indent="0" marL="0">
              <a:buNone/>
            </a:pPr>
            <a:r>
              <a:rPr lang="en-US" sz="1200" b="1" spc="100" kern="0" dirty="0">
                <a:solidFill>
                  <a:srgbClr val="7A7F72"/>
                </a:solidFill>
                <a:latin typeface="Arial" pitchFamily="34" charset="0"/>
                <a:ea typeface="Arial" pitchFamily="34" charset="-122"/>
                <a:cs typeface="Arial" pitchFamily="34" charset="-120"/>
              </a:rPr>
              <a:t>MON 21 DEC</a:t>
            </a:r>
            <a:endParaRPr lang="en-US" sz="1200" dirty="0"/>
          </a:p>
        </p:txBody>
      </p:sp>
      <p:sp>
        <p:nvSpPr>
          <p:cNvPr id="8" name="Text 6"/>
          <p:cNvSpPr/>
          <p:nvPr/>
        </p:nvSpPr>
        <p:spPr>
          <a:xfrm>
            <a:off x="3383280" y="2286000"/>
            <a:ext cx="7863840" cy="658368"/>
          </a:xfrm>
          <a:prstGeom prst="rect">
            <a:avLst/>
          </a:prstGeom>
          <a:noFill/>
          <a:ln/>
        </p:spPr>
        <p:txBody>
          <a:bodyPr wrap="square" lIns="0" tIns="0" rIns="0" bIns="0" rtlCol="0" anchor="ctr"/>
          <a:lstStyle/>
          <a:p>
            <a:pPr indent="0" marL="0">
              <a:buNone/>
            </a:pPr>
            <a:r>
              <a:rPr lang="en-US" sz="1700" dirty="0">
                <a:solidFill>
                  <a:srgbClr val="24313F"/>
                </a:solidFill>
                <a:latin typeface="Georgia" pitchFamily="34" charset="0"/>
                <a:ea typeface="Georgia" pitchFamily="34" charset="-122"/>
                <a:cs typeface="Georgia" pitchFamily="34" charset="-120"/>
              </a:rPr>
              <a:t>Danto: the artworld and the end of art</a:t>
            </a:r>
            <a:endParaRPr lang="en-US" sz="1700" dirty="0"/>
          </a:p>
        </p:txBody>
      </p:sp>
      <p:sp>
        <p:nvSpPr>
          <p:cNvPr id="9" name="Shape 7"/>
          <p:cNvSpPr/>
          <p:nvPr/>
        </p:nvSpPr>
        <p:spPr>
          <a:xfrm>
            <a:off x="822960" y="2944368"/>
            <a:ext cx="10543032" cy="0"/>
          </a:xfrm>
          <a:prstGeom prst="line">
            <a:avLst/>
          </a:prstGeom>
          <a:noFill/>
          <a:ln w="9525">
            <a:solidFill>
              <a:srgbClr val="D9D4C4"/>
            </a:solidFill>
            <a:prstDash val="solid"/>
          </a:ln>
        </p:spPr>
      </p:sp>
      <p:sp>
        <p:nvSpPr>
          <p:cNvPr id="10" name="Text 8"/>
          <p:cNvSpPr/>
          <p:nvPr/>
        </p:nvSpPr>
        <p:spPr>
          <a:xfrm>
            <a:off x="822960" y="2944368"/>
            <a:ext cx="2377440" cy="658368"/>
          </a:xfrm>
          <a:prstGeom prst="rect">
            <a:avLst/>
          </a:prstGeom>
          <a:noFill/>
          <a:ln/>
        </p:spPr>
        <p:txBody>
          <a:bodyPr wrap="square" lIns="0" tIns="0" rIns="0" bIns="0" rtlCol="0" anchor="ctr"/>
          <a:lstStyle/>
          <a:p>
            <a:pPr indent="0" marL="0">
              <a:buNone/>
            </a:pPr>
            <a:r>
              <a:rPr lang="en-US" sz="1200" b="1" spc="100" kern="0" dirty="0">
                <a:solidFill>
                  <a:srgbClr val="7A7F72"/>
                </a:solidFill>
                <a:latin typeface="Arial" pitchFamily="34" charset="0"/>
                <a:ea typeface="Arial" pitchFamily="34" charset="-122"/>
                <a:cs typeface="Arial" pitchFamily="34" charset="-120"/>
              </a:rPr>
              <a:t>TUE 22 DEC</a:t>
            </a:r>
            <a:endParaRPr lang="en-US" sz="1200" dirty="0"/>
          </a:p>
        </p:txBody>
      </p:sp>
      <p:sp>
        <p:nvSpPr>
          <p:cNvPr id="11" name="Text 9"/>
          <p:cNvSpPr/>
          <p:nvPr/>
        </p:nvSpPr>
        <p:spPr>
          <a:xfrm>
            <a:off x="3383280" y="2944368"/>
            <a:ext cx="7863840" cy="658368"/>
          </a:xfrm>
          <a:prstGeom prst="rect">
            <a:avLst/>
          </a:prstGeom>
          <a:noFill/>
          <a:ln/>
        </p:spPr>
        <p:txBody>
          <a:bodyPr wrap="square" lIns="0" tIns="0" rIns="0" bIns="0" rtlCol="0" anchor="ctr"/>
          <a:lstStyle/>
          <a:p>
            <a:pPr indent="0" marL="0">
              <a:buNone/>
            </a:pPr>
            <a:r>
              <a:rPr lang="en-US" sz="1700" dirty="0">
                <a:solidFill>
                  <a:srgbClr val="24313F"/>
                </a:solidFill>
                <a:latin typeface="Georgia" pitchFamily="34" charset="0"/>
                <a:ea typeface="Georgia" pitchFamily="34" charset="-122"/>
                <a:cs typeface="Georgia" pitchFamily="34" charset="-120"/>
              </a:rPr>
              <a:t>Warhol, Duchamp, pluralism; into the institution (LB8)</a:t>
            </a:r>
            <a:endParaRPr lang="en-US" sz="1700" dirty="0"/>
          </a:p>
        </p:txBody>
      </p:sp>
      <p:sp>
        <p:nvSpPr>
          <p:cNvPr id="12" name="Shape 10"/>
          <p:cNvSpPr/>
          <p:nvPr/>
        </p:nvSpPr>
        <p:spPr>
          <a:xfrm>
            <a:off x="822960" y="3602736"/>
            <a:ext cx="10543032" cy="0"/>
          </a:xfrm>
          <a:prstGeom prst="line">
            <a:avLst/>
          </a:prstGeom>
          <a:noFill/>
          <a:ln w="9525">
            <a:solidFill>
              <a:srgbClr val="D9D4C4"/>
            </a:solidFill>
            <a:prstDash val="solid"/>
          </a:ln>
        </p:spPr>
      </p:sp>
      <p:sp>
        <p:nvSpPr>
          <p:cNvPr id="13" name="Text 11"/>
          <p:cNvSpPr/>
          <p:nvPr/>
        </p:nvSpPr>
        <p:spPr>
          <a:xfrm>
            <a:off x="822960" y="3602736"/>
            <a:ext cx="2377440" cy="658368"/>
          </a:xfrm>
          <a:prstGeom prst="rect">
            <a:avLst/>
          </a:prstGeom>
          <a:noFill/>
          <a:ln/>
        </p:spPr>
        <p:txBody>
          <a:bodyPr wrap="square" lIns="0" tIns="0" rIns="0" bIns="0" rtlCol="0" anchor="ctr"/>
          <a:lstStyle/>
          <a:p>
            <a:pPr indent="0" marL="0">
              <a:buNone/>
            </a:pPr>
            <a:r>
              <a:rPr lang="en-US" sz="1200" b="1" spc="100" kern="0" dirty="0">
                <a:solidFill>
                  <a:srgbClr val="7A7F72"/>
                </a:solidFill>
                <a:latin typeface="Arial" pitchFamily="34" charset="0"/>
                <a:ea typeface="Arial" pitchFamily="34" charset="-122"/>
                <a:cs typeface="Arial" pitchFamily="34" charset="-120"/>
              </a:rPr>
              <a:t>WED 23 DEC</a:t>
            </a:r>
            <a:endParaRPr lang="en-US" sz="1200" dirty="0"/>
          </a:p>
        </p:txBody>
      </p:sp>
      <p:sp>
        <p:nvSpPr>
          <p:cNvPr id="14" name="Text 12"/>
          <p:cNvSpPr/>
          <p:nvPr/>
        </p:nvSpPr>
        <p:spPr>
          <a:xfrm>
            <a:off x="3383280" y="3602736"/>
            <a:ext cx="7863840" cy="658368"/>
          </a:xfrm>
          <a:prstGeom prst="rect">
            <a:avLst/>
          </a:prstGeom>
          <a:noFill/>
          <a:ln/>
        </p:spPr>
        <p:txBody>
          <a:bodyPr wrap="square" lIns="0" tIns="0" rIns="0" bIns="0" rtlCol="0" anchor="ctr"/>
          <a:lstStyle/>
          <a:p>
            <a:pPr indent="0" marL="0">
              <a:buNone/>
            </a:pPr>
            <a:r>
              <a:rPr lang="en-US" sz="1700" dirty="0">
                <a:solidFill>
                  <a:srgbClr val="24313F"/>
                </a:solidFill>
                <a:latin typeface="Georgia" pitchFamily="34" charset="0"/>
                <a:ea typeface="Georgia" pitchFamily="34" charset="-122"/>
                <a:cs typeface="Georgia" pitchFamily="34" charset="-120"/>
              </a:rPr>
              <a:t>Retrospective announced; the break homework set</a:t>
            </a:r>
            <a:endParaRPr lang="en-US" sz="1700" dirty="0"/>
          </a:p>
        </p:txBody>
      </p:sp>
      <p:sp>
        <p:nvSpPr>
          <p:cNvPr id="15" name="Shape 13"/>
          <p:cNvSpPr/>
          <p:nvPr/>
        </p:nvSpPr>
        <p:spPr>
          <a:xfrm>
            <a:off x="822960" y="4261104"/>
            <a:ext cx="10543032" cy="0"/>
          </a:xfrm>
          <a:prstGeom prst="line">
            <a:avLst/>
          </a:prstGeom>
          <a:noFill/>
          <a:ln w="9525">
            <a:solidFill>
              <a:srgbClr val="D9D4C4"/>
            </a:solidFill>
            <a:prstDash val="solid"/>
          </a:ln>
        </p:spPr>
      </p:sp>
      <p:sp>
        <p:nvSpPr>
          <p:cNvPr id="16" name="Shape 14"/>
          <p:cNvSpPr/>
          <p:nvPr/>
        </p:nvSpPr>
        <p:spPr>
          <a:xfrm>
            <a:off x="822960" y="6382512"/>
            <a:ext cx="10543032" cy="0"/>
          </a:xfrm>
          <a:prstGeom prst="line">
            <a:avLst/>
          </a:prstGeom>
          <a:noFill/>
          <a:ln w="9525">
            <a:solidFill>
              <a:srgbClr val="D9D4C4"/>
            </a:solidFill>
            <a:prstDash val="solid"/>
          </a:ln>
        </p:spPr>
      </p:sp>
      <p:sp>
        <p:nvSpPr>
          <p:cNvPr id="17" name="Text 1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18" name="Text 1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 · UNIT V</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058400" cy="1188720"/>
          </a:xfrm>
          <a:prstGeom prst="rect">
            <a:avLst/>
          </a:prstGeom>
          <a:noFill/>
          <a:ln/>
        </p:spPr>
        <p:txBody>
          <a:bodyPr wrap="square" lIns="0" tIns="0" rIns="0" bIns="0" rtlCol="0" anchor="t"/>
          <a:lstStyle/>
          <a:p>
            <a:pPr indent="0" marL="0">
              <a:buNone/>
            </a:pPr>
            <a:r>
              <a:rPr lang="en-US" sz="5800" dirty="0">
                <a:solidFill>
                  <a:srgbClr val="FAF8F1"/>
                </a:solidFill>
                <a:latin typeface="Georgia" pitchFamily="34" charset="0"/>
                <a:ea typeface="Georgia" pitchFamily="34" charset="-122"/>
                <a:cs typeface="Georgia" pitchFamily="34" charset="-120"/>
              </a:rPr>
              <a:t>The Retrospective</a:t>
            </a:r>
            <a:endParaRPr lang="en-US" sz="5800" dirty="0"/>
          </a:p>
        </p:txBody>
      </p:sp>
      <p:sp>
        <p:nvSpPr>
          <p:cNvPr id="5" name="Text 3"/>
          <p:cNvSpPr/>
          <p:nvPr/>
        </p:nvSpPr>
        <p:spPr>
          <a:xfrm>
            <a:off x="822960" y="3977640"/>
            <a:ext cx="960120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A semester of looking, read back as one argument.</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ART APPRECIATION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2026-07-25T02:01:23Z</dcterms:created>
  <dcterms:modified xsi:type="dcterms:W3CDTF">2026-07-25T02:01:23Z</dcterms:modified>
</cp:coreProperties>
</file>