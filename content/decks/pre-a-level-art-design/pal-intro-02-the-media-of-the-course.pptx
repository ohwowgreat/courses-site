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the four unit media, then the hand materials that run underneath all of them. Keep the demos physical, not verbal.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four techniques to collect. Four different questions: how long can you look, where do you stand, what do two things say together, and what lands in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that gets written on the board in week two: build form with tone, not outline. Students arrive drawing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Rubens worked chalk and ink on toned paper. Show the sheet and ask which marks were added and which were lifted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Atget photographed the same city for thirty years, always from a considered position. Where you stand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doorways, both from the same distance, both in the same flat light. That consistency is what makes them read as one project rather than two photographs.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Muybridge is not collage, but the grid is the same move: many frames on one surface, read together. Use it to introduce sequence and adjacency.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 made commercial work that had to stop a person in the street. Ask what reads first here, and what reads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321040" y="822960"/>
            <a:ext cx="3291840" cy="4937760"/>
          </a:xfrm>
          <a:prstGeom prst="rect">
            <a:avLst/>
          </a:prstGeom>
          <a:noFill/>
          <a:ln/>
        </p:spPr>
        <p:txBody>
          <a:bodyPr wrap="square" lIns="0" tIns="0" rIns="0" bIns="0" rtlCol="0" anchor="ctr"/>
          <a:lstStyle/>
          <a:p>
            <a:pPr algn="ctr" indent="0" marL="0">
              <a:buNone/>
            </a:pPr>
            <a:r>
              <a:rPr lang="en-US" sz="30000" dirty="0">
                <a:solidFill>
                  <a:srgbClr val="A3C1AD"/>
                </a:solidFill>
                <a:latin typeface="Georgia" pitchFamily="34" charset="0"/>
                <a:ea typeface="Georgia" pitchFamily="34" charset="-122"/>
                <a:cs typeface="Georgia" pitchFamily="34" charset="-120"/>
              </a:rPr>
              <a:t>II</a:t>
            </a:r>
            <a:endParaRPr lang="en-US" sz="30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GRADE 10 · PRE A LEVEL</a:t>
            </a:r>
            <a:endParaRPr lang="en-US" sz="1100" dirty="0"/>
          </a:p>
        </p:txBody>
      </p:sp>
      <p:sp>
        <p:nvSpPr>
          <p:cNvPr id="4" name="Text 2"/>
          <p:cNvSpPr/>
          <p:nvPr/>
        </p:nvSpPr>
        <p:spPr>
          <a:xfrm>
            <a:off x="822960" y="1737360"/>
            <a:ext cx="7863840" cy="2377440"/>
          </a:xfrm>
          <a:prstGeom prst="rect">
            <a:avLst/>
          </a:prstGeom>
          <a:noFill/>
          <a:ln/>
        </p:spPr>
        <p:txBody>
          <a:bodyPr wrap="square" lIns="0" tIns="0" rIns="0" bIns="0" rtlCol="0" anchor="t"/>
          <a:lstStyle/>
          <a:p>
            <a:pPr indent="0" marL="0">
              <a:lnSpc>
                <a:spcPts val="6200"/>
              </a:lnSpc>
              <a:buNone/>
            </a:pPr>
            <a:r>
              <a:rPr lang="en-US" sz="6200" dirty="0">
                <a:solidFill>
                  <a:srgbClr val="24313F"/>
                </a:solidFill>
                <a:latin typeface="Georgia" pitchFamily="34" charset="0"/>
                <a:ea typeface="Georgia" pitchFamily="34" charset="-122"/>
                <a:cs typeface="Georgia" pitchFamily="34" charset="-120"/>
              </a:rPr>
              <a:t>The Media</a:t>
            </a:r>
            <a:endParaRPr lang="en-US" sz="6200" dirty="0"/>
          </a:p>
          <a:p>
            <a:pPr indent="0" marL="0">
              <a:lnSpc>
                <a:spcPts val="6200"/>
              </a:lnSpc>
              <a:buNone/>
            </a:pPr>
            <a:r>
              <a:rPr lang="en-US" sz="6200" dirty="0">
                <a:solidFill>
                  <a:srgbClr val="24313F"/>
                </a:solidFill>
                <a:latin typeface="Georgia" pitchFamily="34" charset="0"/>
                <a:ea typeface="Georgia" pitchFamily="34" charset="-122"/>
                <a:cs typeface="Georgia" pitchFamily="34" charset="-120"/>
              </a:rPr>
              <a:t>of the Course</a:t>
            </a:r>
            <a:endParaRPr lang="en-US" sz="6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772400" cy="457200"/>
          </a:xfrm>
          <a:prstGeom prst="rect">
            <a:avLst/>
          </a:prstGeom>
          <a:noFill/>
          <a:ln/>
        </p:spPr>
        <p:txBody>
          <a:bodyPr wrap="square" lIns="0" tIns="0" rIns="0" bIns="0" rtlCol="0" anchor="ctr"/>
          <a:lstStyle/>
          <a:p>
            <a:pPr indent="0" marL="0">
              <a:buNone/>
            </a:pPr>
            <a:r>
              <a:rPr lang="en-US" sz="2100" i="1" dirty="0">
                <a:solidFill>
                  <a:srgbClr val="7A7F72"/>
                </a:solidFill>
                <a:latin typeface="Georgia" pitchFamily="34" charset="0"/>
                <a:ea typeface="Georgia" pitchFamily="34" charset="-122"/>
                <a:cs typeface="Georgia" pitchFamily="34" charset="-120"/>
              </a:rPr>
              <a:t>What you will work in, and what each one asks of you</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0" y="640080"/>
            <a:ext cx="3474720" cy="5577840"/>
          </a:xfrm>
          <a:prstGeom prst="rect">
            <a:avLst/>
          </a:prstGeom>
          <a:noFill/>
          <a:ln/>
        </p:spPr>
        <p:txBody>
          <a:bodyPr wrap="square" lIns="0" tIns="0" rIns="0" bIns="0" rtlCol="0" anchor="ctr"/>
          <a:lstStyle/>
          <a:p>
            <a:pPr algn="ctr" indent="0" marL="0">
              <a:buNone/>
            </a:pPr>
            <a:r>
              <a:rPr lang="en-US" sz="34000" dirty="0">
                <a:solidFill>
                  <a:srgbClr val="5C7A6B"/>
                </a:solidFill>
                <a:latin typeface="Georgia" pitchFamily="34" charset="0"/>
                <a:ea typeface="Georgia" pitchFamily="34" charset="-122"/>
                <a:cs typeface="Georgia" pitchFamily="34" charset="-120"/>
              </a:rPr>
              <a:t>?</a:t>
            </a:r>
            <a:endParaRPr lang="en-US" sz="34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PRINCIPLE</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498080" cy="2194560"/>
          </a:xfrm>
          <a:prstGeom prst="rect">
            <a:avLst/>
          </a:prstGeom>
          <a:noFill/>
          <a:ln/>
        </p:spPr>
        <p:txBody>
          <a:bodyPr wrap="square" lIns="0" tIns="0" rIns="0" bIns="0" rtlCol="0" anchor="t"/>
          <a:lstStyle/>
          <a:p>
            <a:pPr indent="0" marL="0">
              <a:lnSpc>
                <a:spcPts val="5200"/>
              </a:lnSpc>
              <a:buNone/>
            </a:pPr>
            <a:r>
              <a:rPr lang="en-US" sz="5000" dirty="0">
                <a:solidFill>
                  <a:srgbClr val="FAF8F1"/>
                </a:solidFill>
                <a:latin typeface="Georgia" pitchFamily="34" charset="0"/>
                <a:ea typeface="Georgia" pitchFamily="34" charset="-122"/>
                <a:cs typeface="Georgia" pitchFamily="34" charset="-120"/>
              </a:rPr>
              <a:t>Every medium asks</a:t>
            </a:r>
            <a:endParaRPr lang="en-US" sz="5000" dirty="0"/>
          </a:p>
          <a:p>
            <a:pPr indent="0" marL="0">
              <a:lnSpc>
                <a:spcPts val="5200"/>
              </a:lnSpc>
              <a:buNone/>
            </a:pPr>
            <a:r>
              <a:rPr lang="en-US" sz="5000" dirty="0">
                <a:solidFill>
                  <a:srgbClr val="FAF8F1"/>
                </a:solidFill>
                <a:latin typeface="Georgia" pitchFamily="34" charset="0"/>
                <a:ea typeface="Georgia" pitchFamily="34" charset="-122"/>
                <a:cs typeface="Georgia" pitchFamily="34" charset="-120"/>
              </a:rPr>
              <a:t>a different question.</a:t>
            </a:r>
            <a:endParaRPr lang="en-US" sz="5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repin-naked-sketch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Ilya Repin, study. Public domain</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UNIT I · DRAWING</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234440"/>
            <a:ext cx="6217920" cy="1737360"/>
          </a:xfrm>
          <a:prstGeom prst="rect">
            <a:avLst/>
          </a:prstGeom>
          <a:noFill/>
          <a:ln/>
        </p:spPr>
        <p:txBody>
          <a:bodyPr wrap="square" lIns="0" tIns="0" rIns="0" bIns="0" rtlCol="0" anchor="t"/>
          <a:lstStyle/>
          <a:p>
            <a:pPr indent="0" marL="0">
              <a:lnSpc>
                <a:spcPts val="4800"/>
              </a:lnSpc>
              <a:buNone/>
            </a:pPr>
            <a:r>
              <a:rPr lang="en-US" sz="4600" dirty="0">
                <a:solidFill>
                  <a:srgbClr val="24313F"/>
                </a:solidFill>
                <a:latin typeface="Georgia" pitchFamily="34" charset="0"/>
                <a:ea typeface="Georgia" pitchFamily="34" charset="-122"/>
                <a:cs typeface="Georgia" pitchFamily="34" charset="-120"/>
              </a:rPr>
              <a:t>How long can</a:t>
            </a:r>
            <a:endParaRPr lang="en-US" sz="4600" dirty="0"/>
          </a:p>
          <a:p>
            <a:pPr indent="0" marL="0">
              <a:lnSpc>
                <a:spcPts val="4800"/>
              </a:lnSpc>
              <a:buNone/>
            </a:pPr>
            <a:r>
              <a:rPr lang="en-US" sz="4600" dirty="0">
                <a:solidFill>
                  <a:srgbClr val="24313F"/>
                </a:solidFill>
                <a:latin typeface="Georgia" pitchFamily="34" charset="0"/>
                <a:ea typeface="Georgia" pitchFamily="34" charset="-122"/>
                <a:cs typeface="Georgia" pitchFamily="34" charset="-120"/>
              </a:rPr>
              <a:t>you look?</a:t>
            </a:r>
            <a:endParaRPr lang="en-US" sz="4600" dirty="0"/>
          </a:p>
        </p:txBody>
      </p:sp>
      <p:sp>
        <p:nvSpPr>
          <p:cNvPr id="7" name="Text 4"/>
          <p:cNvSpPr/>
          <p:nvPr/>
        </p:nvSpPr>
        <p:spPr>
          <a:xfrm>
            <a:off x="822960" y="3200400"/>
            <a:ext cx="6309360" cy="2468880"/>
          </a:xfrm>
          <a:prstGeom prst="rect">
            <a:avLst/>
          </a:prstGeom>
          <a:noFill/>
          <a:ln/>
        </p:spPr>
        <p:txBody>
          <a:bodyPr wrap="square" lIns="0" tIns="0" rIns="0" bIns="0" rtlCol="0" anchor="t"/>
          <a:lstStyle/>
          <a:p>
            <a:pPr indent="0" marL="0">
              <a:lnSpc>
                <a:spcPts val="2500"/>
              </a:lnSpc>
              <a:buNone/>
            </a:pPr>
            <a:r>
              <a:rPr lang="en-US" sz="1700" dirty="0">
                <a:solidFill>
                  <a:srgbClr val="24313F"/>
                </a:solidFill>
                <a:latin typeface="Georgia" pitchFamily="34" charset="0"/>
                <a:ea typeface="Georgia" pitchFamily="34" charset="-122"/>
                <a:cs typeface="Georgia" pitchFamily="34" charset="-120"/>
              </a:rPr>
              <a:t>Drawing is the slowest medium here and the one everything else rests on. You build form with tone rather than outline, you learn that the shape of the air around an object is as drawable as the object, and you choose a composition before a mark goes on the good paper.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MATERIALS · THE DRY MEDIA</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WHAT EACH ONE DOES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Three ways to make a grey</a:t>
            </a:r>
            <a:endParaRPr lang="en-US" sz="3400" dirty="0"/>
          </a:p>
        </p:txBody>
      </p:sp>
      <p:sp>
        <p:nvSpPr>
          <p:cNvPr id="6" name="Text 4"/>
          <p:cNvSpPr/>
          <p:nvPr/>
        </p:nvSpPr>
        <p:spPr>
          <a:xfrm>
            <a:off x="822960"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Graphite</a:t>
            </a:r>
            <a:endParaRPr lang="en-US" sz="1400" dirty="0"/>
          </a:p>
        </p:txBody>
      </p:sp>
      <p:sp>
        <p:nvSpPr>
          <p:cNvPr id="7" name="Shape 5"/>
          <p:cNvSpPr/>
          <p:nvPr/>
        </p:nvSpPr>
        <p:spPr>
          <a:xfrm>
            <a:off x="822960" y="2514600"/>
            <a:ext cx="3246120" cy="0"/>
          </a:xfrm>
          <a:prstGeom prst="line">
            <a:avLst/>
          </a:prstGeom>
          <a:noFill/>
          <a:ln w="9525">
            <a:solidFill>
              <a:srgbClr val="D9D4C4"/>
            </a:solidFill>
            <a:prstDash val="solid"/>
          </a:ln>
        </p:spPr>
      </p:sp>
      <p:sp>
        <p:nvSpPr>
          <p:cNvPr id="8" name="Text 6"/>
          <p:cNvSpPr/>
          <p:nvPr/>
        </p:nvSpPr>
        <p:spPr>
          <a:xfrm>
            <a:off x="822960" y="2624328"/>
            <a:ext cx="3246120" cy="26517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Pencils run from 9H to 9B. H is hard and pale and holds a point; B is soft and dark and blunts fast. Most of your work needs three grades, not twelve.</a:t>
            </a:r>
            <a:endParaRPr lang="en-US" sz="1600" dirty="0"/>
          </a:p>
        </p:txBody>
      </p:sp>
      <p:sp>
        <p:nvSpPr>
          <p:cNvPr id="9" name="Text 7"/>
          <p:cNvSpPr/>
          <p:nvPr/>
        </p:nvSpPr>
        <p:spPr>
          <a:xfrm>
            <a:off x="4471416"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Charcoal</a:t>
            </a:r>
            <a:endParaRPr lang="en-US" sz="1400" dirty="0"/>
          </a:p>
        </p:txBody>
      </p:sp>
      <p:sp>
        <p:nvSpPr>
          <p:cNvPr id="10" name="Shape 8"/>
          <p:cNvSpPr/>
          <p:nvPr/>
        </p:nvSpPr>
        <p:spPr>
          <a:xfrm>
            <a:off x="4471416" y="2514600"/>
            <a:ext cx="3246120" cy="0"/>
          </a:xfrm>
          <a:prstGeom prst="line">
            <a:avLst/>
          </a:prstGeom>
          <a:noFill/>
          <a:ln w="9525">
            <a:solidFill>
              <a:srgbClr val="D9D4C4"/>
            </a:solidFill>
            <a:prstDash val="solid"/>
          </a:ln>
        </p:spPr>
      </p:sp>
      <p:sp>
        <p:nvSpPr>
          <p:cNvPr id="11" name="Text 9"/>
          <p:cNvSpPr/>
          <p:nvPr/>
        </p:nvSpPr>
        <p:spPr>
          <a:xfrm>
            <a:off x="4471416" y="2624328"/>
            <a:ext cx="3246120" cy="26517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Fast, dark, and hard to control, which is the point. It covers ground quickly and lifts back out with an eraser, so you can draw by removing as well as adding.</a:t>
            </a:r>
            <a:endParaRPr lang="en-US" sz="1600" dirty="0"/>
          </a:p>
        </p:txBody>
      </p:sp>
      <p:sp>
        <p:nvSpPr>
          <p:cNvPr id="12" name="Text 10"/>
          <p:cNvSpPr/>
          <p:nvPr/>
        </p:nvSpPr>
        <p:spPr>
          <a:xfrm>
            <a:off x="8119872"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Chalk and conté</a:t>
            </a:r>
            <a:endParaRPr lang="en-US" sz="1400" dirty="0"/>
          </a:p>
        </p:txBody>
      </p:sp>
      <p:sp>
        <p:nvSpPr>
          <p:cNvPr id="13" name="Shape 11"/>
          <p:cNvSpPr/>
          <p:nvPr/>
        </p:nvSpPr>
        <p:spPr>
          <a:xfrm>
            <a:off x="8119872" y="2514600"/>
            <a:ext cx="3246120" cy="0"/>
          </a:xfrm>
          <a:prstGeom prst="line">
            <a:avLst/>
          </a:prstGeom>
          <a:noFill/>
          <a:ln w="9525">
            <a:solidFill>
              <a:srgbClr val="D9D4C4"/>
            </a:solidFill>
            <a:prstDash val="solid"/>
          </a:ln>
        </p:spPr>
      </p:sp>
      <p:sp>
        <p:nvSpPr>
          <p:cNvPr id="14" name="Text 12"/>
          <p:cNvSpPr/>
          <p:nvPr/>
        </p:nvSpPr>
        <p:spPr>
          <a:xfrm>
            <a:off x="8119872" y="2624328"/>
            <a:ext cx="3246120" cy="26517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Works on toned paper, where the paper becomes the mid-tone and you add both the dark and the light. Old master drawings are mostly this.</a:t>
            </a:r>
            <a:endParaRPr lang="en-US" sz="1600" dirty="0"/>
          </a:p>
        </p:txBody>
      </p:sp>
      <p:sp>
        <p:nvSpPr>
          <p:cNvPr id="15" name="Shape 13"/>
          <p:cNvSpPr/>
          <p:nvPr/>
        </p:nvSpPr>
        <p:spPr>
          <a:xfrm>
            <a:off x="822960" y="6382512"/>
            <a:ext cx="10543032" cy="0"/>
          </a:xfrm>
          <a:prstGeom prst="line">
            <a:avLst/>
          </a:prstGeom>
          <a:noFill/>
          <a:ln w="9525">
            <a:solidFill>
              <a:srgbClr val="D9D4C4"/>
            </a:solidFill>
            <a:prstDash val="solid"/>
          </a:ln>
        </p:spPr>
      </p:sp>
      <p:sp>
        <p:nvSpPr>
          <p:cNvPr id="16"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GRADE 10 ART &amp; DESIGN · SEMESTER I</a:t>
            </a:r>
            <a:endParaRPr lang="en-US" sz="900" dirty="0"/>
          </a:p>
        </p:txBody>
      </p:sp>
      <p:sp>
        <p:nvSpPr>
          <p:cNvPr id="17"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rubens-head-old-man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Peter Paul Rubens, head study. Public domain</a:t>
            </a:r>
            <a:endParaRPr lang="en-US" sz="950" dirty="0"/>
          </a:p>
        </p:txBody>
      </p:sp>
      <p:sp>
        <p:nvSpPr>
          <p:cNvPr id="4" name="Text 1"/>
          <p:cNvSpPr/>
          <p:nvPr/>
        </p:nvSpPr>
        <p:spPr>
          <a:xfrm>
            <a:off x="822960" y="6858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MATERIALS · THE WET MEDIA</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234440"/>
            <a:ext cx="6217920" cy="914400"/>
          </a:xfrm>
          <a:prstGeom prst="rect">
            <a:avLst/>
          </a:prstGeom>
          <a:noFill/>
          <a:ln/>
        </p:spPr>
        <p:txBody>
          <a:bodyPr wrap="square" lIns="0" tIns="0" rIns="0" bIns="0" rtlCol="0" anchor="ctr"/>
          <a:lstStyle/>
          <a:p>
            <a:pPr indent="0" marL="0">
              <a:buNone/>
            </a:pPr>
            <a:r>
              <a:rPr lang="en-US" sz="4200" dirty="0">
                <a:solidFill>
                  <a:srgbClr val="24313F"/>
                </a:solidFill>
                <a:latin typeface="Georgia" pitchFamily="34" charset="0"/>
                <a:ea typeface="Georgia" pitchFamily="34" charset="-122"/>
                <a:cs typeface="Georgia" pitchFamily="34" charset="-120"/>
              </a:rPr>
              <a:t>Ink, paint, digital</a:t>
            </a:r>
            <a:endParaRPr lang="en-US" sz="4200" dirty="0"/>
          </a:p>
        </p:txBody>
      </p:sp>
      <p:sp>
        <p:nvSpPr>
          <p:cNvPr id="7" name="Text 4"/>
          <p:cNvSpPr/>
          <p:nvPr/>
        </p:nvSpPr>
        <p:spPr>
          <a:xfrm>
            <a:off x="822960" y="2286000"/>
            <a:ext cx="6309360" cy="320040"/>
          </a:xfrm>
          <a:prstGeom prst="rect">
            <a:avLst/>
          </a:prstGeom>
          <a:noFill/>
          <a:ln/>
        </p:spPr>
        <p:txBody>
          <a:bodyPr wrap="square" lIns="0" tIns="0" rIns="0" bIns="0" rtlCol="0" anchor="ctr"/>
          <a:lstStyle/>
          <a:p>
            <a:pPr indent="0" marL="0">
              <a:buNone/>
            </a:pPr>
            <a:r>
              <a:rPr lang="en-US" sz="1300" b="1" spc="140" kern="0" dirty="0">
                <a:solidFill>
                  <a:srgbClr val="4A6B5D"/>
                </a:solidFill>
                <a:latin typeface="Arial" pitchFamily="34" charset="0"/>
                <a:ea typeface="Arial" pitchFamily="34" charset="-122"/>
                <a:cs typeface="Arial" pitchFamily="34" charset="-120"/>
              </a:rPr>
              <a:t>Ink</a:t>
            </a:r>
            <a:endParaRPr lang="en-US" sz="1300" dirty="0"/>
          </a:p>
        </p:txBody>
      </p:sp>
      <p:sp>
        <p:nvSpPr>
          <p:cNvPr id="8" name="Text 5"/>
          <p:cNvSpPr/>
          <p:nvPr/>
        </p:nvSpPr>
        <p:spPr>
          <a:xfrm>
            <a:off x="822960" y="2633472"/>
            <a:ext cx="6309360" cy="77724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Committed. A line you cannot take back, which makes you decide before you move.</a:t>
            </a:r>
            <a:endParaRPr lang="en-US" sz="1600" dirty="0"/>
          </a:p>
        </p:txBody>
      </p:sp>
      <p:sp>
        <p:nvSpPr>
          <p:cNvPr id="9" name="Text 6"/>
          <p:cNvSpPr/>
          <p:nvPr/>
        </p:nvSpPr>
        <p:spPr>
          <a:xfrm>
            <a:off x="822960" y="3493008"/>
            <a:ext cx="6309360" cy="320040"/>
          </a:xfrm>
          <a:prstGeom prst="rect">
            <a:avLst/>
          </a:prstGeom>
          <a:noFill/>
          <a:ln/>
        </p:spPr>
        <p:txBody>
          <a:bodyPr wrap="square" lIns="0" tIns="0" rIns="0" bIns="0" rtlCol="0" anchor="ctr"/>
          <a:lstStyle/>
          <a:p>
            <a:pPr indent="0" marL="0">
              <a:buNone/>
            </a:pPr>
            <a:r>
              <a:rPr lang="en-US" sz="1300" b="1" spc="140" kern="0" dirty="0">
                <a:solidFill>
                  <a:srgbClr val="4A6B5D"/>
                </a:solidFill>
                <a:latin typeface="Arial" pitchFamily="34" charset="0"/>
                <a:ea typeface="Arial" pitchFamily="34" charset="-122"/>
                <a:cs typeface="Arial" pitchFamily="34" charset="-120"/>
              </a:rPr>
              <a:t>Paint</a:t>
            </a:r>
            <a:endParaRPr lang="en-US" sz="1300" dirty="0"/>
          </a:p>
        </p:txBody>
      </p:sp>
      <p:sp>
        <p:nvSpPr>
          <p:cNvPr id="10" name="Text 7"/>
          <p:cNvSpPr/>
          <p:nvPr/>
        </p:nvSpPr>
        <p:spPr>
          <a:xfrm>
            <a:off x="822960" y="3840480"/>
            <a:ext cx="6309360" cy="77724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Colour and edge at once. Slower to correct than pencil, faster to cover than anything.</a:t>
            </a:r>
            <a:endParaRPr lang="en-US" sz="1600" dirty="0"/>
          </a:p>
        </p:txBody>
      </p:sp>
      <p:sp>
        <p:nvSpPr>
          <p:cNvPr id="11" name="Text 8"/>
          <p:cNvSpPr/>
          <p:nvPr/>
        </p:nvSpPr>
        <p:spPr>
          <a:xfrm>
            <a:off x="822960" y="4700016"/>
            <a:ext cx="6309360" cy="320040"/>
          </a:xfrm>
          <a:prstGeom prst="rect">
            <a:avLst/>
          </a:prstGeom>
          <a:noFill/>
          <a:ln/>
        </p:spPr>
        <p:txBody>
          <a:bodyPr wrap="square" lIns="0" tIns="0" rIns="0" bIns="0" rtlCol="0" anchor="ctr"/>
          <a:lstStyle/>
          <a:p>
            <a:pPr indent="0" marL="0">
              <a:buNone/>
            </a:pPr>
            <a:r>
              <a:rPr lang="en-US" sz="1300" b="1" spc="140" kern="0" dirty="0">
                <a:solidFill>
                  <a:srgbClr val="4A6B5D"/>
                </a:solidFill>
                <a:latin typeface="Arial" pitchFamily="34" charset="0"/>
                <a:ea typeface="Arial" pitchFamily="34" charset="-122"/>
                <a:cs typeface="Arial" pitchFamily="34" charset="-120"/>
              </a:rPr>
              <a:t>Digital</a:t>
            </a:r>
            <a:endParaRPr lang="en-US" sz="1300" dirty="0"/>
          </a:p>
        </p:txBody>
      </p:sp>
      <p:sp>
        <p:nvSpPr>
          <p:cNvPr id="12" name="Text 9"/>
          <p:cNvSpPr/>
          <p:nvPr/>
        </p:nvSpPr>
        <p:spPr>
          <a:xfrm>
            <a:off x="822960" y="5047488"/>
            <a:ext cx="6309360" cy="77724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Infinite undo, which is a trap. Use it for layout, scale tests and colour trials, not for avoiding decisions.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atget-rue-mazet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UNIT II · PHOTOGRAPHY</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The interesting decisions happened before the shutter opened.</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Eugène Atget, 10 rue Mazet, Paris, 1907. Public domain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UNIT II · PHOTOGRAPHY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WHERE DO YOU STAND?</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A camera is a way of deciding</a:t>
            </a:r>
            <a:endParaRPr lang="en-US" sz="3400" dirty="0"/>
          </a:p>
        </p:txBody>
      </p:sp>
      <p:sp>
        <p:nvSpPr>
          <p:cNvPr id="6" name="Text 4"/>
          <p:cNvSpPr/>
          <p:nvPr/>
        </p:nvSpPr>
        <p:spPr>
          <a:xfrm>
            <a:off x="822960"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Framing and viewpoint</a:t>
            </a:r>
            <a:endParaRPr lang="en-US" sz="1400" dirty="0"/>
          </a:p>
        </p:txBody>
      </p:sp>
      <p:sp>
        <p:nvSpPr>
          <p:cNvPr id="7" name="Shape 5"/>
          <p:cNvSpPr/>
          <p:nvPr/>
        </p:nvSpPr>
        <p:spPr>
          <a:xfrm>
            <a:off x="822960" y="2514600"/>
            <a:ext cx="3246120" cy="0"/>
          </a:xfrm>
          <a:prstGeom prst="line">
            <a:avLst/>
          </a:prstGeom>
          <a:noFill/>
          <a:ln w="9525">
            <a:solidFill>
              <a:srgbClr val="D9D4C4"/>
            </a:solidFill>
            <a:prstDash val="solid"/>
          </a:ln>
        </p:spPr>
      </p:sp>
      <p:sp>
        <p:nvSpPr>
          <p:cNvPr id="8" name="Text 6"/>
          <p:cNvSpPr/>
          <p:nvPr/>
        </p:nvSpPr>
        <p:spPr>
          <a:xfrm>
            <a:off x="822960" y="2624328"/>
            <a:ext cx="3246120" cy="26517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What is in, what is out, and where you put yourself. Move your feet before you touch a setting.</a:t>
            </a:r>
            <a:endParaRPr lang="en-US" sz="1600" dirty="0"/>
          </a:p>
        </p:txBody>
      </p:sp>
      <p:sp>
        <p:nvSpPr>
          <p:cNvPr id="9" name="Text 7"/>
          <p:cNvSpPr/>
          <p:nvPr/>
        </p:nvSpPr>
        <p:spPr>
          <a:xfrm>
            <a:off x="4471416"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Light</a:t>
            </a:r>
            <a:endParaRPr lang="en-US" sz="1400" dirty="0"/>
          </a:p>
        </p:txBody>
      </p:sp>
      <p:sp>
        <p:nvSpPr>
          <p:cNvPr id="10" name="Shape 8"/>
          <p:cNvSpPr/>
          <p:nvPr/>
        </p:nvSpPr>
        <p:spPr>
          <a:xfrm>
            <a:off x="4471416" y="2514600"/>
            <a:ext cx="3246120" cy="0"/>
          </a:xfrm>
          <a:prstGeom prst="line">
            <a:avLst/>
          </a:prstGeom>
          <a:noFill/>
          <a:ln w="9525">
            <a:solidFill>
              <a:srgbClr val="D9D4C4"/>
            </a:solidFill>
            <a:prstDash val="solid"/>
          </a:ln>
        </p:spPr>
      </p:sp>
      <p:sp>
        <p:nvSpPr>
          <p:cNvPr id="11" name="Text 9"/>
          <p:cNvSpPr/>
          <p:nvPr/>
        </p:nvSpPr>
        <p:spPr>
          <a:xfrm>
            <a:off x="4471416" y="2624328"/>
            <a:ext cx="3246120" cy="26517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Direction and quality, not brightness. The same object in front light, side light, back light and diffused light is four different objects.</a:t>
            </a:r>
            <a:endParaRPr lang="en-US" sz="1600" dirty="0"/>
          </a:p>
        </p:txBody>
      </p:sp>
      <p:sp>
        <p:nvSpPr>
          <p:cNvPr id="12" name="Text 10"/>
          <p:cNvSpPr/>
          <p:nvPr/>
        </p:nvSpPr>
        <p:spPr>
          <a:xfrm>
            <a:off x="8119872" y="2057400"/>
            <a:ext cx="3246120" cy="457200"/>
          </a:xfrm>
          <a:prstGeom prst="rect">
            <a:avLst/>
          </a:prstGeom>
          <a:noFill/>
          <a:ln/>
        </p:spPr>
        <p:txBody>
          <a:bodyPr wrap="square" lIns="0" tIns="0" rIns="0" bIns="0" rtlCol="0" anchor="ctr"/>
          <a:lstStyle/>
          <a:p>
            <a:pPr indent="0" marL="0">
              <a:buNone/>
            </a:pPr>
            <a:r>
              <a:rPr lang="en-US" sz="1400" b="1" spc="150" kern="0" dirty="0">
                <a:solidFill>
                  <a:srgbClr val="4A6B5D"/>
                </a:solidFill>
                <a:latin typeface="Arial" pitchFamily="34" charset="0"/>
                <a:ea typeface="Arial" pitchFamily="34" charset="-122"/>
                <a:cs typeface="Arial" pitchFamily="34" charset="-120"/>
              </a:rPr>
              <a:t>The series</a:t>
            </a:r>
            <a:endParaRPr lang="en-US" sz="1400" dirty="0"/>
          </a:p>
        </p:txBody>
      </p:sp>
      <p:sp>
        <p:nvSpPr>
          <p:cNvPr id="13" name="Shape 11"/>
          <p:cNvSpPr/>
          <p:nvPr/>
        </p:nvSpPr>
        <p:spPr>
          <a:xfrm>
            <a:off x="8119872" y="2514600"/>
            <a:ext cx="3246120" cy="0"/>
          </a:xfrm>
          <a:prstGeom prst="line">
            <a:avLst/>
          </a:prstGeom>
          <a:noFill/>
          <a:ln w="9525">
            <a:solidFill>
              <a:srgbClr val="D9D4C4"/>
            </a:solidFill>
            <a:prstDash val="solid"/>
          </a:ln>
        </p:spPr>
      </p:sp>
      <p:sp>
        <p:nvSpPr>
          <p:cNvPr id="14" name="Text 12"/>
          <p:cNvSpPr/>
          <p:nvPr/>
        </p:nvSpPr>
        <p:spPr>
          <a:xfrm>
            <a:off x="8119872" y="2624328"/>
            <a:ext cx="3246120" cy="265176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Six to eight photographs that are one idea looked at repeatedly. Take any one away and the group should lose something.</a:t>
            </a:r>
            <a:endParaRPr lang="en-US" sz="1600" dirty="0"/>
          </a:p>
        </p:txBody>
      </p:sp>
      <p:sp>
        <p:nvSpPr>
          <p:cNvPr id="15" name="Text 13"/>
          <p:cNvSpPr/>
          <p:nvPr/>
        </p:nvSpPr>
        <p:spPr>
          <a:xfrm>
            <a:off x="822960" y="5532120"/>
            <a:ext cx="10543032" cy="36576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Any camera, including a phone. Editing in Photoshop, Affinity, or whatever you already use.</a:t>
            </a:r>
            <a:endParaRPr lang="en-US" sz="1250" dirty="0"/>
          </a:p>
        </p:txBody>
      </p:sp>
      <p:sp>
        <p:nvSpPr>
          <p:cNvPr id="16" name="Shape 14"/>
          <p:cNvSpPr/>
          <p:nvPr/>
        </p:nvSpPr>
        <p:spPr>
          <a:xfrm>
            <a:off x="822960" y="6382512"/>
            <a:ext cx="10543032" cy="0"/>
          </a:xfrm>
          <a:prstGeom prst="line">
            <a:avLst/>
          </a:prstGeom>
          <a:noFill/>
          <a:ln w="9525">
            <a:solidFill>
              <a:srgbClr val="D9D4C4"/>
            </a:solidFill>
            <a:prstDash val="solid"/>
          </a:ln>
        </p:spPr>
      </p:sp>
      <p:sp>
        <p:nvSpPr>
          <p:cNvPr id="17" name="Text 1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GRADE 10 ART &amp; DESIGN · SEMESTER I</a:t>
            </a:r>
            <a:endParaRPr lang="en-US" sz="900" dirty="0"/>
          </a:p>
        </p:txBody>
      </p:sp>
      <p:sp>
        <p:nvSpPr>
          <p:cNvPr id="18" name="Text 1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WHAT MAKES A SERIES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SAME EYE, DIFFERENT SUBJECT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One idea, looked at repeatedly</a:t>
            </a:r>
            <a:endParaRPr lang="en-US" sz="3000" dirty="0"/>
          </a:p>
        </p:txBody>
      </p:sp>
      <p:sp>
        <p:nvSpPr>
          <p:cNvPr id="6" name="Shape 4"/>
          <p:cNvSpPr/>
          <p:nvPr/>
        </p:nvSpPr>
        <p:spPr>
          <a:xfrm>
            <a:off x="822960" y="1645920"/>
            <a:ext cx="5088636" cy="3566160"/>
          </a:xfrm>
          <a:prstGeom prst="rect">
            <a:avLst/>
          </a:prstGeom>
          <a:solidFill>
            <a:srgbClr val="FAF8F1"/>
          </a:solidFill>
          <a:ln w="9525">
            <a:solidFill>
              <a:srgbClr val="D9D4C4"/>
            </a:solidFill>
            <a:prstDash val="solid"/>
          </a:ln>
        </p:spPr>
      </p:sp>
      <p:pic>
        <p:nvPicPr>
          <p:cNvPr id="7" name="Image 0" descr="/private/tmp/claude-501/-Users-dogan-Documents-Vaults-Courses/3954bcc8-cc8d-4110-bd5a-74962061a805/scratchpad/decks/img/atget-rue-mazet.jpg">    </p:cNvPr>
          <p:cNvPicPr>
            <a:picLocks noChangeAspect="1"/>
          </p:cNvPicPr>
          <p:nvPr/>
        </p:nvPicPr>
        <p:blipFill>
          <a:blip r:embed="rId1"/>
          <a:stretch>
            <a:fillRect/>
          </a:stretch>
        </p:blipFill>
        <p:spPr>
          <a:xfrm>
            <a:off x="1217844" y="1773936"/>
            <a:ext cx="4298868" cy="3310128"/>
          </a:xfrm>
          <a:prstGeom prst="rect">
            <a:avLst/>
          </a:prstGeom>
        </p:spPr>
      </p:pic>
      <p:sp>
        <p:nvSpPr>
          <p:cNvPr id="8" name="Shape 5"/>
          <p:cNvSpPr/>
          <p:nvPr/>
        </p:nvSpPr>
        <p:spPr>
          <a:xfrm>
            <a:off x="6277356" y="1645920"/>
            <a:ext cx="5088636" cy="3566160"/>
          </a:xfrm>
          <a:prstGeom prst="rect">
            <a:avLst/>
          </a:prstGeom>
          <a:solidFill>
            <a:srgbClr val="FAF8F1"/>
          </a:solidFill>
          <a:ln w="9525">
            <a:solidFill>
              <a:srgbClr val="D9D4C4"/>
            </a:solidFill>
            <a:prstDash val="solid"/>
          </a:ln>
        </p:spPr>
      </p:sp>
      <p:pic>
        <p:nvPicPr>
          <p:cNvPr id="9" name="Image 1" descr="/private/tmp/claude-501/-Users-dogan-Documents-Vaults-Courses/3954bcc8-cc8d-4110-bd5a-74962061a805/scratchpad/decks/img/atget-rue-moliere.jpg">    </p:cNvPr>
          <p:cNvPicPr>
            <a:picLocks noChangeAspect="1"/>
          </p:cNvPicPr>
          <p:nvPr/>
        </p:nvPicPr>
        <p:blipFill>
          <a:blip r:embed="rId2"/>
          <a:stretch>
            <a:fillRect/>
          </a:stretch>
        </p:blipFill>
        <p:spPr>
          <a:xfrm>
            <a:off x="7547275" y="1773936"/>
            <a:ext cx="2548799" cy="3310128"/>
          </a:xfrm>
          <a:prstGeom prst="rect">
            <a:avLst/>
          </a:prstGeom>
        </p:spPr>
      </p:pic>
      <p:sp>
        <p:nvSpPr>
          <p:cNvPr id="10" name="Text 6"/>
          <p:cNvSpPr/>
          <p:nvPr/>
        </p:nvSpPr>
        <p:spPr>
          <a:xfrm>
            <a:off x="822960" y="5349240"/>
            <a:ext cx="5088636" cy="320040"/>
          </a:xfrm>
          <a:prstGeom prst="rect">
            <a:avLst/>
          </a:prstGeom>
          <a:noFill/>
          <a:ln/>
        </p:spPr>
        <p:txBody>
          <a:bodyPr wrap="square" lIns="0" tIns="0" rIns="0" bIns="0" rtlCol="0" anchor="ctr"/>
          <a:lstStyle/>
          <a:p>
            <a:pPr algn="ctr" indent="0" marL="0">
              <a:buNone/>
            </a:pPr>
            <a:r>
              <a:rPr lang="en-US" sz="1100" dirty="0">
                <a:solidFill>
                  <a:srgbClr val="7A7F72"/>
                </a:solidFill>
                <a:latin typeface="Arial" pitchFamily="34" charset="0"/>
                <a:ea typeface="Arial" pitchFamily="34" charset="-122"/>
                <a:cs typeface="Arial" pitchFamily="34" charset="-120"/>
              </a:rPr>
              <a:t>Atget, 10 rue Mazet, 1907</a:t>
            </a:r>
            <a:endParaRPr lang="en-US" sz="1100" dirty="0"/>
          </a:p>
        </p:txBody>
      </p:sp>
      <p:sp>
        <p:nvSpPr>
          <p:cNvPr id="11" name="Text 7"/>
          <p:cNvSpPr/>
          <p:nvPr/>
        </p:nvSpPr>
        <p:spPr>
          <a:xfrm>
            <a:off x="6277356" y="5349240"/>
            <a:ext cx="5088636" cy="320040"/>
          </a:xfrm>
          <a:prstGeom prst="rect">
            <a:avLst/>
          </a:prstGeom>
          <a:noFill/>
          <a:ln/>
        </p:spPr>
        <p:txBody>
          <a:bodyPr wrap="square" lIns="0" tIns="0" rIns="0" bIns="0" rtlCol="0" anchor="ctr"/>
          <a:lstStyle/>
          <a:p>
            <a:pPr algn="ctr" indent="0" marL="0">
              <a:buNone/>
            </a:pPr>
            <a:r>
              <a:rPr lang="en-US" sz="1100" dirty="0">
                <a:solidFill>
                  <a:srgbClr val="7A7F72"/>
                </a:solidFill>
                <a:latin typeface="Arial" pitchFamily="34" charset="0"/>
                <a:ea typeface="Arial" pitchFamily="34" charset="-122"/>
                <a:cs typeface="Arial" pitchFamily="34" charset="-120"/>
              </a:rPr>
              <a:t>Atget, 108 rue Molière, 1908</a:t>
            </a:r>
            <a:endParaRPr lang="en-US" sz="1100" dirty="0"/>
          </a:p>
        </p:txBody>
      </p:sp>
      <p:sp>
        <p:nvSpPr>
          <p:cNvPr id="12" name="Shape 8"/>
          <p:cNvSpPr/>
          <p:nvPr/>
        </p:nvSpPr>
        <p:spPr>
          <a:xfrm>
            <a:off x="822960" y="6382512"/>
            <a:ext cx="10543032" cy="0"/>
          </a:xfrm>
          <a:prstGeom prst="line">
            <a:avLst/>
          </a:prstGeom>
          <a:noFill/>
          <a:ln w="9525">
            <a:solidFill>
              <a:srgbClr val="D9D4C4"/>
            </a:solidFill>
            <a:prstDash val="solid"/>
          </a:ln>
        </p:spPr>
      </p:sp>
      <p:sp>
        <p:nvSpPr>
          <p:cNvPr id="13"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GRADE 10 ART &amp; DESIGN · SEMESTER I</a:t>
            </a:r>
            <a:endParaRPr lang="en-US" sz="900" dirty="0"/>
          </a:p>
        </p:txBody>
      </p:sp>
      <p:sp>
        <p:nvSpPr>
          <p:cNvPr id="14"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600"/>
              </a:lnSpc>
              <a:buNone/>
            </a:pPr>
            <a:r>
              <a:rPr lang="en-US" sz="4800" dirty="0">
                <a:solidFill>
                  <a:srgbClr val="24313F"/>
                </a:solidFill>
                <a:latin typeface="Georgia" pitchFamily="34" charset="0"/>
                <a:ea typeface="Georgia" pitchFamily="34" charset="-122"/>
                <a:cs typeface="Georgia" pitchFamily="34" charset="-120"/>
              </a:rPr>
              <a:t>Shoot many, keep few, know why.</a:t>
            </a:r>
            <a:endParaRPr lang="en-US" sz="48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The photography unit, in six words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muybridge-foreshortenings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Eadweard Muybridge, motion studies. Public domain</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UNIT III · COLLAGE</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234440"/>
            <a:ext cx="6217920" cy="1737360"/>
          </a:xfrm>
          <a:prstGeom prst="rect">
            <a:avLst/>
          </a:prstGeom>
          <a:noFill/>
          <a:ln/>
        </p:spPr>
        <p:txBody>
          <a:bodyPr wrap="square" lIns="0" tIns="0" rIns="0" bIns="0" rtlCol="0" anchor="t"/>
          <a:lstStyle/>
          <a:p>
            <a:pPr indent="0" marL="0">
              <a:lnSpc>
                <a:spcPts val="4600"/>
              </a:lnSpc>
              <a:buNone/>
            </a:pPr>
            <a:r>
              <a:rPr lang="en-US" sz="4400" dirty="0">
                <a:solidFill>
                  <a:srgbClr val="24313F"/>
                </a:solidFill>
                <a:latin typeface="Georgia" pitchFamily="34" charset="0"/>
                <a:ea typeface="Georgia" pitchFamily="34" charset="-122"/>
                <a:cs typeface="Georgia" pitchFamily="34" charset="-120"/>
              </a:rPr>
              <a:t>Two images say</a:t>
            </a:r>
            <a:endParaRPr lang="en-US" sz="4400" dirty="0"/>
          </a:p>
          <a:p>
            <a:pPr indent="0" marL="0">
              <a:lnSpc>
                <a:spcPts val="4600"/>
              </a:lnSpc>
              <a:buNone/>
            </a:pPr>
            <a:r>
              <a:rPr lang="en-US" sz="4400" dirty="0">
                <a:solidFill>
                  <a:srgbClr val="24313F"/>
                </a:solidFill>
                <a:latin typeface="Georgia" pitchFamily="34" charset="0"/>
                <a:ea typeface="Georgia" pitchFamily="34" charset="-122"/>
                <a:cs typeface="Georgia" pitchFamily="34" charset="-120"/>
              </a:rPr>
              <a:t>a third thing</a:t>
            </a:r>
            <a:endParaRPr lang="en-US" sz="4400" dirty="0"/>
          </a:p>
        </p:txBody>
      </p:sp>
      <p:sp>
        <p:nvSpPr>
          <p:cNvPr id="7" name="Text 4"/>
          <p:cNvSpPr/>
          <p:nvPr/>
        </p:nvSpPr>
        <p:spPr>
          <a:xfrm>
            <a:off x="822960" y="3200400"/>
            <a:ext cx="6309360" cy="256032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In photography you chose images. Now you cut them apart and make them argue. Two cheap tools do most of the work: juxtaposition, which puts together things that do not belong, and scale, which makes something the wrong size on purpose. What is in front is what wins, and a torn edge is a different decision from a cut one.</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mucha-cherry-blossom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UNIT IV · THE POSTER</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One message, one audience, and about three seconds to land it.</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Alphonse Mucha, Calendar of cherry blossom, 1898. Public domain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UNIT IV · GRAPHIC DESIGN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FOUR QUESTIONS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A poster cannot wait to be understood</a:t>
            </a:r>
            <a:endParaRPr lang="en-US" sz="3200" dirty="0"/>
          </a:p>
        </p:txBody>
      </p:sp>
      <p:sp>
        <p:nvSpPr>
          <p:cNvPr id="6" name="Text 4"/>
          <p:cNvSpPr/>
          <p:nvPr/>
        </p:nvSpPr>
        <p:spPr>
          <a:xfrm>
            <a:off x="822960" y="187452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01</a:t>
            </a:r>
            <a:endParaRPr lang="en-US" sz="3000" dirty="0"/>
          </a:p>
        </p:txBody>
      </p:sp>
      <p:sp>
        <p:nvSpPr>
          <p:cNvPr id="7" name="Text 5"/>
          <p:cNvSpPr/>
          <p:nvPr/>
        </p:nvSpPr>
        <p:spPr>
          <a:xfrm>
            <a:off x="1737360" y="1892808"/>
            <a:ext cx="4082796"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What does it say?</a:t>
            </a:r>
            <a:endParaRPr lang="en-US" sz="2100" dirty="0"/>
          </a:p>
        </p:txBody>
      </p:sp>
      <p:sp>
        <p:nvSpPr>
          <p:cNvPr id="8" name="Text 6"/>
          <p:cNvSpPr/>
          <p:nvPr/>
        </p:nvSpPr>
        <p:spPr>
          <a:xfrm>
            <a:off x="1737360" y="2404872"/>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One message. If you need two sentences to state it, it is not a poster yet.</a:t>
            </a:r>
            <a:endParaRPr lang="en-US" sz="1550" dirty="0"/>
          </a:p>
        </p:txBody>
      </p:sp>
      <p:sp>
        <p:nvSpPr>
          <p:cNvPr id="9" name="Text 7"/>
          <p:cNvSpPr/>
          <p:nvPr/>
        </p:nvSpPr>
        <p:spPr>
          <a:xfrm>
            <a:off x="6368796" y="187452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02</a:t>
            </a:r>
            <a:endParaRPr lang="en-US" sz="3000" dirty="0"/>
          </a:p>
        </p:txBody>
      </p:sp>
      <p:sp>
        <p:nvSpPr>
          <p:cNvPr id="10" name="Text 8"/>
          <p:cNvSpPr/>
          <p:nvPr/>
        </p:nvSpPr>
        <p:spPr>
          <a:xfrm>
            <a:off x="7283196" y="1892808"/>
            <a:ext cx="4082796"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Who is it for?</a:t>
            </a:r>
            <a:endParaRPr lang="en-US" sz="2100" dirty="0"/>
          </a:p>
        </p:txBody>
      </p:sp>
      <p:sp>
        <p:nvSpPr>
          <p:cNvPr id="11" name="Text 9"/>
          <p:cNvSpPr/>
          <p:nvPr/>
        </p:nvSpPr>
        <p:spPr>
          <a:xfrm>
            <a:off x="7283196" y="2404872"/>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A named audience, not everyone. The audience decides the tone before you draw anything.</a:t>
            </a:r>
            <a:endParaRPr lang="en-US" sz="1550" dirty="0"/>
          </a:p>
        </p:txBody>
      </p:sp>
      <p:sp>
        <p:nvSpPr>
          <p:cNvPr id="12" name="Text 10"/>
          <p:cNvSpPr/>
          <p:nvPr/>
        </p:nvSpPr>
        <p:spPr>
          <a:xfrm>
            <a:off x="822960" y="397764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03</a:t>
            </a:r>
            <a:endParaRPr lang="en-US" sz="3000" dirty="0"/>
          </a:p>
        </p:txBody>
      </p:sp>
      <p:sp>
        <p:nvSpPr>
          <p:cNvPr id="13" name="Text 11"/>
          <p:cNvSpPr/>
          <p:nvPr/>
        </p:nvSpPr>
        <p:spPr>
          <a:xfrm>
            <a:off x="1737360" y="3995928"/>
            <a:ext cx="4082796"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What reads first?</a:t>
            </a:r>
            <a:endParaRPr lang="en-US" sz="2100" dirty="0"/>
          </a:p>
        </p:txBody>
      </p:sp>
      <p:sp>
        <p:nvSpPr>
          <p:cNvPr id="14" name="Text 12"/>
          <p:cNvSpPr/>
          <p:nvPr/>
        </p:nvSpPr>
        <p:spPr>
          <a:xfrm>
            <a:off x="1737360" y="4507992"/>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Hierarchy. Something has to be biggest, and it should be the thing that matters.</a:t>
            </a:r>
            <a:endParaRPr lang="en-US" sz="1550" dirty="0"/>
          </a:p>
        </p:txBody>
      </p:sp>
      <p:sp>
        <p:nvSpPr>
          <p:cNvPr id="15" name="Text 13"/>
          <p:cNvSpPr/>
          <p:nvPr/>
        </p:nvSpPr>
        <p:spPr>
          <a:xfrm>
            <a:off x="6368796" y="3977640"/>
            <a:ext cx="914400" cy="548640"/>
          </a:xfrm>
          <a:prstGeom prst="rect">
            <a:avLst/>
          </a:prstGeom>
          <a:noFill/>
          <a:ln/>
        </p:spPr>
        <p:txBody>
          <a:bodyPr wrap="square" lIns="0" tIns="0" rIns="0" bIns="0" rtlCol="0" anchor="ctr"/>
          <a:lstStyle/>
          <a:p>
            <a:pPr indent="0" marL="0">
              <a:buNone/>
            </a:pPr>
            <a:r>
              <a:rPr lang="en-US" sz="3000" dirty="0">
                <a:solidFill>
                  <a:srgbClr val="A3C1AD"/>
                </a:solidFill>
                <a:latin typeface="Georgia" pitchFamily="34" charset="0"/>
                <a:ea typeface="Georgia" pitchFamily="34" charset="-122"/>
                <a:cs typeface="Georgia" pitchFamily="34" charset="-120"/>
              </a:rPr>
              <a:t>04</a:t>
            </a:r>
            <a:endParaRPr lang="en-US" sz="3000" dirty="0"/>
          </a:p>
        </p:txBody>
      </p:sp>
      <p:sp>
        <p:nvSpPr>
          <p:cNvPr id="16" name="Text 14"/>
          <p:cNvSpPr/>
          <p:nvPr/>
        </p:nvSpPr>
        <p:spPr>
          <a:xfrm>
            <a:off x="7283196" y="3995928"/>
            <a:ext cx="4082796"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What does the type sound like?</a:t>
            </a:r>
            <a:endParaRPr lang="en-US" sz="2100" dirty="0"/>
          </a:p>
        </p:txBody>
      </p:sp>
      <p:sp>
        <p:nvSpPr>
          <p:cNvPr id="17" name="Text 15"/>
          <p:cNvSpPr/>
          <p:nvPr/>
        </p:nvSpPr>
        <p:spPr>
          <a:xfrm>
            <a:off x="7283196" y="4507992"/>
            <a:ext cx="4082796" cy="118872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Letterforms carry a voice before they carry information.</a:t>
            </a:r>
            <a:endParaRPr lang="en-US" sz="1550" dirty="0"/>
          </a:p>
        </p:txBody>
      </p:sp>
      <p:sp>
        <p:nvSpPr>
          <p:cNvPr id="18" name="Text 16"/>
          <p:cNvSpPr/>
          <p:nvPr/>
        </p:nvSpPr>
        <p:spPr>
          <a:xfrm>
            <a:off x="822960" y="5532120"/>
            <a:ext cx="10543032" cy="36576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The test: pin it up, walk back three meters, count three seconds.</a:t>
            </a:r>
            <a:endParaRPr lang="en-US" sz="1250" dirty="0"/>
          </a:p>
        </p:txBody>
      </p:sp>
      <p:sp>
        <p:nvSpPr>
          <p:cNvPr id="19" name="Shape 17"/>
          <p:cNvSpPr/>
          <p:nvPr/>
        </p:nvSpPr>
        <p:spPr>
          <a:xfrm>
            <a:off x="822960" y="6382512"/>
            <a:ext cx="10543032" cy="0"/>
          </a:xfrm>
          <a:prstGeom prst="line">
            <a:avLst/>
          </a:prstGeom>
          <a:noFill/>
          <a:ln w="9525">
            <a:solidFill>
              <a:srgbClr val="D9D4C4"/>
            </a:solidFill>
            <a:prstDash val="solid"/>
          </a:ln>
        </p:spPr>
      </p:sp>
      <p:sp>
        <p:nvSpPr>
          <p:cNvPr id="20" name="Text 1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GRADE 10 ART &amp; DESIGN · SEMESTER I</a:t>
            </a:r>
            <a:endParaRPr lang="en-US" sz="900" dirty="0"/>
          </a:p>
        </p:txBody>
      </p:sp>
      <p:sp>
        <p:nvSpPr>
          <p:cNvPr id="21" name="Text 1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73152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UNDERNEATH ALL FOUR</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920240"/>
          </a:xfrm>
          <a:prstGeom prst="rect">
            <a:avLst/>
          </a:prstGeom>
          <a:noFill/>
          <a:ln/>
        </p:spPr>
        <p:txBody>
          <a:bodyPr wrap="square" lIns="0" tIns="0" rIns="0" bIns="0" rtlCol="0" anchor="t"/>
          <a:lstStyle/>
          <a:p>
            <a:pPr indent="0" marL="0">
              <a:lnSpc>
                <a:spcPts val="5600"/>
              </a:lnSpc>
              <a:buNone/>
            </a:pPr>
            <a:r>
              <a:rPr lang="en-US" sz="5400" dirty="0">
                <a:solidFill>
                  <a:srgbClr val="FAF8F1"/>
                </a:solidFill>
                <a:latin typeface="Georgia" pitchFamily="34" charset="0"/>
                <a:ea typeface="Georgia" pitchFamily="34" charset="-122"/>
                <a:cs typeface="Georgia" pitchFamily="34" charset="-120"/>
              </a:rPr>
              <a:t>The sketchbook</a:t>
            </a:r>
            <a:endParaRPr lang="en-US" sz="5400" dirty="0"/>
          </a:p>
          <a:p>
            <a:pPr indent="0" marL="0">
              <a:lnSpc>
                <a:spcPts val="5600"/>
              </a:lnSpc>
              <a:buNone/>
            </a:pPr>
            <a:r>
              <a:rPr lang="en-US" sz="5400" dirty="0">
                <a:solidFill>
                  <a:srgbClr val="FAF8F1"/>
                </a:solidFill>
                <a:latin typeface="Georgia" pitchFamily="34" charset="0"/>
                <a:ea typeface="Georgia" pitchFamily="34" charset="-122"/>
                <a:cs typeface="Georgia" pitchFamily="34" charset="-120"/>
              </a:rPr>
              <a:t>carries the lot.</a:t>
            </a:r>
            <a:endParaRPr lang="en-US" sz="5400" dirty="0"/>
          </a:p>
        </p:txBody>
      </p:sp>
      <p:sp>
        <p:nvSpPr>
          <p:cNvPr id="5" name="Text 3"/>
          <p:cNvSpPr/>
          <p:nvPr/>
        </p:nvSpPr>
        <p:spPr>
          <a:xfrm>
            <a:off x="822960" y="48920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Whatever the medium, the thinking lives in the book.</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GRADE 10 ART &amp; DESIGN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2026-07-26T10:12:30Z</dcterms:created>
  <dcterms:modified xsi:type="dcterms:W3CDTF">2026-07-26T10:12:30Z</dcterms:modified>
</cp:coreProperties>
</file>