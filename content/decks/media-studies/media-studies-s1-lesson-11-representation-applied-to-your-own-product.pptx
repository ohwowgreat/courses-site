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theory taught, then immediately turned on the students' own work, while there is still production time to fix what it finds.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does not reflect the world; it constructs a version of it, by selection and combination. Never objective.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Lincoln and McClellan posed in a tent at Antietam, 1862. The staged image of power predates the word representation as we use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Coursebook 3.3's own phrase: never objective. The same-person-three-ways exercise (official portrait, news photo, fan edit of one figure the room knows) runs live after this; choosing the figure stays a classroom decision, per the plan's caution against active PRC political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shared text on screen for the corners; a Downton frame from the next slide serves twice. Theory card: Hall.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studio portrait models representation as construction. The three-image same-person exercise makes the point on a figure the room knows.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25-minute block, previously slide-less. The coursebook's own-country prompt closes the block as a short spoken aside, as contrast, never as the written outcome, per the exam-example rule.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D3's case pair stays PROPOSED: one British TV stereotype, one Hollywood film stereotype, both exam-eligible, worked in groups with Hall's positions run across both. Deck U3.2 is the ready-made Hall lesson if wanted.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international text the room meets again at L10 as the enigma frame; here the same still carries Hall's absence. The absence inventory then runs on one text and on their own C1 planning.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D5 screening conditions: no introductions, no apologies, no pausing; response cards completed while watching and handed to makers unread by anyone else. D6 converts findings to production pickups with dates; LB3 posted.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863840" y="8229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2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IV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Representation,</a:t>
            </a:r>
            <a:endParaRPr lang="en-US" sz="60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6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Applied</a:t>
            </a:r>
            <a:endParaRPr lang="en-US" sz="6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· Lesson 11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days  ·  Monday 26 October to Tuesday 3 November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640080"/>
            <a:ext cx="393192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XI</a:t>
            </a:r>
            <a:endParaRPr lang="en-US" sz="32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384048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7315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constructs.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does not reflect.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5074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media text builds a version of the world. It does not simply show the world.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gardner-lincoln-mcclella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PHOTO-OP IS OLDER THAN THE WORD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tent, the table, who sits and who stands: every choice is doing representation work.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Alexander Gardner, Lincoln and McClellan at Antietam, 1862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Representation connects meaning and language to culture.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Work of Representation, 1997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show things in words and images shapes what they mean in a culture.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CONSTRUCTION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OBJECTIVE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 and combination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Selection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chosen to appear, and what is left out. The frame is an argument before anyone speaks.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309360" y="201168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Combination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309360" y="2560320"/>
            <a:ext cx="47548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697480"/>
            <a:ext cx="4846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chosen elements are arranged together. Meaning is built from what sits next to what.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52120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53949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SENTENCE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Component 1 product represents ... as ... . Every day this week tests that sentence.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 · ENCODING AND DECODING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 IS FINISHED IN THE AUDIENCE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reading positions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Dominant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reads the preferred meaning the maker encoded, and accepts it.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71416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Negotiated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71416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1416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accepts the broad meaning but bends it to their own situation.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19872" y="205740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Oppositional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8119872" y="2606040"/>
            <a:ext cx="324612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19872" y="2788920"/>
            <a:ext cx="3246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audience understands the preferred meaning and reads against it, on purpose.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53492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4864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Corners: dominant, negotiated, oppositional, or the center (abstain and justify).</a:t>
            </a:r>
            <a:endParaRPr lang="en-US" sz="10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Could your Component 1 product survive an oppositional reading?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kasebier-portrait_a66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0"/>
            <a:ext cx="455371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818120" y="6126480"/>
            <a:ext cx="4187952" cy="365760"/>
          </a:xfrm>
          <a:prstGeom prst="rect">
            <a:avLst/>
          </a:prstGeom>
          <a:solidFill>
            <a:srgbClr val="FAF8F1"/>
          </a:solidFill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Gertrude Kasebier, a studio portrait, c. 1900</a:t>
            </a:r>
            <a:endParaRPr lang="en-US" sz="950" dirty="0"/>
          </a:p>
        </p:txBody>
      </p:sp>
      <p:sp>
        <p:nvSpPr>
          <p:cNvPr id="4" name="Text 1"/>
          <p:cNvSpPr/>
          <p:nvPr/>
        </p:nvSpPr>
        <p:spPr>
          <a:xfrm>
            <a:off x="822960" y="685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PERSON, THREE WAYS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22960" y="1051560"/>
            <a:ext cx="649224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234440"/>
            <a:ext cx="6492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person never</a:t>
            </a:r>
            <a:endParaRPr lang="en-US" sz="4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changed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2743200"/>
            <a:ext cx="6583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studio portrait is a built thing: pose, light, backdrop, retouching.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one public figure and three images: official portrait, news photo, fan edit. List what each version selects, and what it wants you to conclude.</a:t>
            </a:r>
            <a:endParaRPr lang="en-US" sz="16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construction changed. The person did not.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17830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Stereotyping reduces, essentializes, naturalizes and fixes difference.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Stuart Hall, The Spectacle of the Other, 1997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shrinks a group to a few traits, treats those traits as natural, and freezes them there.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 BRANDING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DOWNTON'S BRITAIN, WORKED IN FULL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downton-hou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695" y="1216152"/>
            <a:ext cx="2021967" cy="22311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house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heritage as the establishing shot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550158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downton-din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10" y="1771675"/>
            <a:ext cx="2215134" cy="11200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50158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dinner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3550158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ritual, everyone in place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6277356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downton-servants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508" y="1708714"/>
            <a:ext cx="2215134" cy="1246013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277356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Below stairs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6277356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labor, visible but ranked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9004554" y="1143000"/>
            <a:ext cx="2361438" cy="23774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8" name="Image 3" descr="/Users/dogan/Documents/Vaults/Courses/wiki/classes/media-studies/decks/_build/img/downton-villag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7706" y="1708714"/>
            <a:ext cx="2215134" cy="1246013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04554" y="3566160"/>
            <a:ext cx="23614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village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9004554" y="3886200"/>
            <a:ext cx="23614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nation with no cities in it</a:t>
            </a:r>
            <a:endParaRPr lang="en-US" sz="1050" dirty="0"/>
          </a:p>
        </p:txBody>
      </p:sp>
      <p:sp>
        <p:nvSpPr>
          <p:cNvPr id="21" name="Text 15"/>
          <p:cNvSpPr/>
          <p:nvPr/>
        </p:nvSpPr>
        <p:spPr>
          <a:xfrm>
            <a:off x="822960" y="45262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Downton Abbey (ITV, 2010 to 2015). The Britain brand, selected for global audiences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822960" y="498348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2960" y="512064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each cell, ask: what does a foreign viewer conclude Britain is? What had to disappear for that conclusion to hold?</a:t>
            </a:r>
            <a:endParaRPr lang="en-US" sz="1100" dirty="0"/>
          </a:p>
          <a:p>
            <a:pPr indent="0" marL="0">
              <a:lnSpc>
                <a:spcPts val="1750"/>
              </a:lnSpc>
              <a:buNone/>
            </a:pPr>
            <a:r>
              <a:rPr lang="en-US" sz="11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ASIDE   </a:t>
            </a:r>
            <a:pPr indent="0" marL="0">
              <a:lnSpc>
                <a:spcPts val="1750"/>
              </a:lnSpc>
              <a:buNone/>
            </a:pPr>
            <a:r>
              <a:rPr lang="en-US" sz="1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would a China brand select, and what would it leave out?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STEREOTYPING AS POWER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BENEFITS, WHO PAYS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515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shortcut with a beneficiary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2057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86000"/>
            <a:ext cx="6400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stereotype is not a lie. It is a shortcut. Every shortcut helps someone and costs someone.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benefits from the quick version? Who pays for it?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  </a:t>
            </a:r>
            <a:pPr indent="0" marL="0">
              <a:lnSpc>
                <a:spcPts val="2300"/>
              </a:lnSpc>
              <a:buNone/>
            </a:pPr>
            <a:r>
              <a:rPr lang="en-US" sz="1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Counter-stereotype: a portrayal that breaks the shortcut. It surprises us, and the surprise is the evidence.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589520" y="1188720"/>
            <a:ext cx="3794760" cy="40233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9" name="Image 0" descr="/Users/dogan/Documents/Vaults/Courses/wiki/classes/media-studies/decks/_build/img/up-car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7536" y="2205133"/>
            <a:ext cx="3538728" cy="199053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525780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(2009, Pixar): Carl, the coursebook's own counter-stereotype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SELECTIVE CONSTRUCTION'S QUIETEST TOOL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097280"/>
            <a:ext cx="5852160" cy="4206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lupin-vitri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335024"/>
            <a:ext cx="5596128" cy="3730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34924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Lupin (Netflix, 2021): the cleaner the institution does not see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086600" y="128016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never in the frame</a:t>
            </a:r>
            <a:endParaRPr lang="en-US" sz="26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6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cannot be argued with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7086600" y="2743200"/>
            <a:ext cx="429768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92608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CASE   </a:t>
            </a:r>
            <a:pPr indent="0" marL="0">
              <a:lnSpc>
                <a:spcPts val="195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Lupin's heist works because the museum never looks at the man in the worker's uniform. A whole class of people is left out of attention.</a:t>
            </a:r>
            <a:endParaRPr lang="en-US" sz="1200" dirty="0"/>
          </a:p>
          <a:p>
            <a:pPr indent="0" marL="0">
              <a:lnSpc>
                <a:spcPts val="1950"/>
              </a:lnSpc>
              <a:buNone/>
            </a:pPr>
            <a:r>
              <a:rPr lang="en-US" sz="1200" b="1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  </a:t>
            </a:r>
            <a:pPr indent="0" marL="0">
              <a:lnSpc>
                <a:spcPts val="1950"/>
              </a:lnSpc>
              <a:buNone/>
            </a:pPr>
            <a:r>
              <a:rPr lang="en-US" sz="1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your own product? Did you choose that, or did it happen by default?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SELF-AUDIT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WEEK'S FULL TOOLKIT, ON YOUR OWN CUT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questions of your own product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737360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Construction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did we select and combine, and what did that leave out?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368796" y="19202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283196" y="193852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Positions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7283196" y="246888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reading did we assume our audience would take?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1737360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Whose shortcut did we borrow, and who pays for it?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368796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283196" y="4133088"/>
            <a:ext cx="4082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Absence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7283196" y="4663440"/>
            <a:ext cx="408279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missing from our product, by choice or by default?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822960" y="598932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 is submitted Monday. Tuesday, the response cards become evidence, and LB3 is posted. The pickup shots are the homework.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Gaze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12. Van Zoonen, Mulvey, and hooks: who is the camera looking for?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2026-08-25T03:20:04Z</dcterms:created>
  <dcterms:modified xsi:type="dcterms:W3CDTF">2026-08-25T03:20:04Z</dcterms:modified>
</cp:coreProperties>
</file>