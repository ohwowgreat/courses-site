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Representation theory taught, then immediately turned on the students' own work, while there is still production time to fix what it finds.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Representation does not reflect the world; it constructs a version of it, by selection and combination. Never objective.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Lincoln and McClellan posed in a tent at Antietam, 1862. The staged image of power predates the word representation as we use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Coursebook 3.3's own phrase: never objective. The same-person-three-ways exercise (official portrait, news photo, fan edit of one figure the room knows) runs live after this; choosing the figure stays a classroom decision, per the plan's caution against active PRC political figures.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shared text on screen for the corners; a Downton frame from the next slide serves twice. Theory card: Hall.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studio portrait models representation as construction. The three-image same-person exercise makes the point on a figure the room knows.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D3's 25-minute block, previously slide-less. The coursebook's own-country prompt closes the block as a short spoken aside, as contrast, never as the written outcome, per the exam-example rule.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D3's case pair stays PROPOSED: one British TV stereotype, one Hollywood film stereotype, both exam-eligible, worked in groups with Hall's positions run across both. Deck U3.2 is the ready-made Hall lesson if wanted.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 international text the room meets again at L10 as the enigma frame; here the same still carries Hall's absence. The absence inventory then runs on one text and on their own C1 planning.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D5 screening conditions: no introductions, no apologies, no pausing; response cards completed while watching and handed to makers unread by anyone else. D6 converts findings to production pickups with dates; LB3 posted.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image" Target="../media/image-9-3.jpg"/><Relationship Id="rId4" Type="http://schemas.openxmlformats.org/officeDocument/2006/relationships/image" Target="../media/image-9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863840" y="822960"/>
            <a:ext cx="35661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XI</a:t>
            </a:r>
            <a:endParaRPr lang="en-US" sz="28000" dirty="0"/>
          </a:p>
        </p:txBody>
      </p:sp>
      <p:sp>
        <p:nvSpPr>
          <p:cNvPr id="3" name="Text 1"/>
          <p:cNvSpPr/>
          <p:nvPr/>
        </p:nvSpPr>
        <p:spPr>
          <a:xfrm>
            <a:off x="822960" y="1234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UNIT IV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22960" y="1737360"/>
            <a:ext cx="64008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6000"/>
              </a:lnSpc>
              <a:buNone/>
            </a:pPr>
            <a:r>
              <a:rPr lang="en-US" sz="6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Representation,</a:t>
            </a:r>
            <a:endParaRPr lang="en-US" sz="6000" dirty="0"/>
          </a:p>
          <a:p>
            <a:pPr indent="0" marL="0">
              <a:lnSpc>
                <a:spcPts val="6000"/>
              </a:lnSpc>
              <a:buNone/>
            </a:pPr>
            <a:r>
              <a:rPr lang="en-US" sz="6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Applied</a:t>
            </a:r>
            <a:endParaRPr lang="en-US" sz="6000" dirty="0"/>
          </a:p>
        </p:txBody>
      </p:sp>
      <p:sp>
        <p:nvSpPr>
          <p:cNvPr id="5" name="Shape 3"/>
          <p:cNvSpPr/>
          <p:nvPr/>
        </p:nvSpPr>
        <p:spPr>
          <a:xfrm>
            <a:off x="822960" y="43434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45262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7A7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Representation · Lesson 11 of 19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22960" y="5029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10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days  ·  Monday 26 October to Monday 2 November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4A6B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80960" y="640080"/>
            <a:ext cx="3931920" cy="5577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0" dirty="0">
                <a:solidFill>
                  <a:srgbClr val="5C7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XI</a:t>
            </a:r>
            <a:endParaRPr lang="en-US" sz="32000" dirty="0"/>
          </a:p>
        </p:txBody>
      </p:sp>
      <p:sp>
        <p:nvSpPr>
          <p:cNvPr id="3" name="Text 1"/>
          <p:cNvSpPr/>
          <p:nvPr/>
        </p:nvSpPr>
        <p:spPr>
          <a:xfrm>
            <a:off x="822960" y="2286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FAF8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CLAIM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2651760"/>
            <a:ext cx="3840480" cy="0"/>
          </a:xfrm>
          <a:prstGeom prst="line">
            <a:avLst/>
          </a:prstGeom>
          <a:noFill/>
          <a:ln w="9525">
            <a:solidFill>
              <a:srgbClr val="8AA39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788920"/>
            <a:ext cx="73152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000"/>
              </a:lnSpc>
              <a:buNone/>
            </a:pPr>
            <a:r>
              <a:rPr lang="en-US" sz="48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 constructs.</a:t>
            </a:r>
            <a:endParaRPr lang="en-US" sz="48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48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 does not reflect.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822960" y="5074920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800" i="1" dirty="0">
                <a:solidFill>
                  <a:srgbClr val="E8EFE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media text builds a version of the world. It does not simply show the world.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ogan/Documents/Vaults/Courses/wiki/classes/media-studies/decks/_build/img/crops/gardner-lincoln-mcclellan_a177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502920"/>
            <a:ext cx="5120640" cy="502920"/>
          </a:xfrm>
          <a:prstGeom prst="rect">
            <a:avLst/>
          </a:prstGeom>
          <a:solidFill>
            <a:srgbClr val="FAF8F1"/>
          </a:solidFill>
          <a:ln/>
        </p:spPr>
      </p:sp>
      <p:sp>
        <p:nvSpPr>
          <p:cNvPr id="4" name="Text 1"/>
          <p:cNvSpPr/>
          <p:nvPr/>
        </p:nvSpPr>
        <p:spPr>
          <a:xfrm>
            <a:off x="704088" y="52120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PHOTO-OP IS OLDER THAN THE WORD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457200" y="5230368"/>
            <a:ext cx="8778240" cy="1243584"/>
          </a:xfrm>
          <a:prstGeom prst="rect">
            <a:avLst/>
          </a:prstGeom>
          <a:solidFill>
            <a:srgbClr val="FAF8F1"/>
          </a:solidFill>
          <a:ln/>
        </p:spPr>
      </p:sp>
      <p:sp>
        <p:nvSpPr>
          <p:cNvPr id="6" name="Shape 3"/>
          <p:cNvSpPr/>
          <p:nvPr/>
        </p:nvSpPr>
        <p:spPr>
          <a:xfrm>
            <a:off x="676656" y="5468112"/>
            <a:ext cx="731520" cy="0"/>
          </a:xfrm>
          <a:prstGeom prst="line">
            <a:avLst/>
          </a:prstGeom>
          <a:noFill/>
          <a:ln w="28575">
            <a:solidFill>
              <a:srgbClr val="8C3A3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76656" y="5541264"/>
            <a:ext cx="8339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tent, the table, who sits and who stands: every choice is doing representation work.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676656" y="6181344"/>
            <a:ext cx="8339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Alexander Gardner, Lincoln and McClellan at Antietam, 1862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EF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48640"/>
            <a:ext cx="1828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822960" y="2011680"/>
            <a:ext cx="10424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600"/>
              </a:lnSpc>
              <a:buNone/>
            </a:pPr>
            <a:r>
              <a:rPr lang="en-US" sz="4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Representation connects meaning and language to culture.</a:t>
            </a:r>
            <a:endParaRPr lang="en-US" sz="4800" dirty="0"/>
          </a:p>
        </p:txBody>
      </p:sp>
      <p:sp>
        <p:nvSpPr>
          <p:cNvPr id="4" name="Shape 2"/>
          <p:cNvSpPr/>
          <p:nvPr/>
        </p:nvSpPr>
        <p:spPr>
          <a:xfrm>
            <a:off x="822960" y="50292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52120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Stuart Hall, The Work of Representation, 1997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580644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b="1" spc="10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PLAIN WORDS   </a:t>
            </a:r>
            <a:pPr indent="0" marL="0">
              <a:lnSpc>
                <a:spcPts val="1900"/>
              </a:lnSpc>
              <a:buNone/>
            </a:pPr>
            <a:r>
              <a:rPr lang="en-US" sz="1400" i="1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we show things in words and images shapes what they mean in a culture.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CONSTRUCTION WORKS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 OBJECTIVE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00584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Selection and combination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822960" y="201168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Selection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822960" y="2560320"/>
            <a:ext cx="475488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697480"/>
            <a:ext cx="48463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7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is chosen to appear, and what is left out. The frame is an argument before anyone speaks.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309360" y="201168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5C7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Combination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6309360" y="2560320"/>
            <a:ext cx="475488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09360" y="2697480"/>
            <a:ext cx="48463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7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the chosen elements are arranged together. Meaning is built from what sits next to what.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822960" y="521208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53949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b="1" spc="10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SENTENCE   </a:t>
            </a:r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7A7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My Component 1 product represents ... as ... . Every day this week tests that sentence.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HALL · ENCODING AND DECODING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MEANING IS FINISHED IN THE AUDIENCE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00584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reading positions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822960" y="2057400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Dominant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822960" y="2606040"/>
            <a:ext cx="324612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788920"/>
            <a:ext cx="32461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audience reads the preferred meaning the maker encoded, and accepts it.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471416" y="2057400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Negotiated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4471416" y="2606040"/>
            <a:ext cx="324612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71416" y="2788920"/>
            <a:ext cx="32461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audience accepts the broad meaning but bends it to their own situation.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119872" y="2057400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Oppositional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8119872" y="2606040"/>
            <a:ext cx="324612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119872" y="2788920"/>
            <a:ext cx="32461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audience understands the preferred meaning and reads against it, on purpose.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822960" y="534924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5486400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b="1" spc="10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  </a:t>
            </a:r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7A7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Corners: dominant, negotiated, oppositional, or the center (abstain and justify).</a:t>
            </a:r>
            <a:endParaRPr lang="en-US" sz="10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50" b="1" spc="10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  </a:t>
            </a:r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7A7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Could your Component 1 product survive an oppositional reading?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ogan/Documents/Vaults/Courses/wiki/classes/media-studies/decks/_build/img/crops/kasebier-portrait_a66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35240" y="0"/>
            <a:ext cx="4553712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818120" y="6126480"/>
            <a:ext cx="4187952" cy="365760"/>
          </a:xfrm>
          <a:prstGeom prst="rect">
            <a:avLst/>
          </a:prstGeom>
          <a:solidFill>
            <a:srgbClr val="FAF8F1"/>
          </a:solidFill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Gertrude Kasebier, a studio portrait, c. 1900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822960" y="685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PERSON, THREE WAYS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822960" y="1051560"/>
            <a:ext cx="649224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22960" y="1234440"/>
            <a:ext cx="6492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200"/>
              </a:lnSpc>
              <a:buNone/>
            </a:pPr>
            <a:r>
              <a:rPr lang="en-US" sz="4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person never</a:t>
            </a:r>
            <a:endParaRPr lang="en-US" sz="40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4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changed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822960" y="2743200"/>
            <a:ext cx="65836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studio portrait is a built thing: pose, light, backdrop, retouching.</a:t>
            </a:r>
            <a:endParaRPr lang="en-US" sz="160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40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  </a:t>
            </a:r>
            <a:pPr indent="0" marL="0">
              <a:lnSpc>
                <a:spcPts val="2300"/>
              </a:lnSpc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Take one public figure and three images: official portrait, news photo, fan edit. List what each version selects, and what it wants you to conclude.</a:t>
            </a:r>
            <a:endParaRPr lang="en-US" sz="160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40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POINT   </a:t>
            </a:r>
            <a:pPr indent="0" marL="0">
              <a:lnSpc>
                <a:spcPts val="2300"/>
              </a:lnSpc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construction changed. The person did not.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8EF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48640"/>
            <a:ext cx="1828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822960" y="1783080"/>
            <a:ext cx="10424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Stereotyping reduces, essentializes, naturalizes and fixes difference.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822960" y="50292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52120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Stuart Hall, The Spectacle of the Other, 1997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580644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b="1" spc="10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PLAIN WORDS   </a:t>
            </a:r>
            <a:pPr indent="0" marL="0">
              <a:lnSpc>
                <a:spcPts val="1900"/>
              </a:lnSpc>
              <a:buNone/>
            </a:pPr>
            <a:r>
              <a:rPr lang="en-US" sz="1400" i="1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stereotype shrinks a group to a few traits, treats those traits as natural, and freezes them there.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NATION BRANDING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DOWNTON'S BRITAIN, WORKED IN FULL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143000"/>
            <a:ext cx="2361438" cy="237744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6" name="Image 0" descr="/Users/dogan/Documents/Vaults/Courses/wiki/classes/media-studies/decks/_build/img/downton-hous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695" y="1216152"/>
            <a:ext cx="2021967" cy="22311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3566160"/>
            <a:ext cx="23614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house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822960" y="3886200"/>
            <a:ext cx="23614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50" i="1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heritage as the establishing shot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550158" y="1143000"/>
            <a:ext cx="2361438" cy="237744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10" name="Image 1" descr="/Users/dogan/Documents/Vaults/Courses/wiki/classes/media-studies/decks/_build/img/downton-dining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3310" y="1771675"/>
            <a:ext cx="2215134" cy="112009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3550158" y="3566160"/>
            <a:ext cx="23614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dinner</a:t>
            </a:r>
            <a:endParaRPr lang="en-US" sz="1550" dirty="0"/>
          </a:p>
        </p:txBody>
      </p:sp>
      <p:sp>
        <p:nvSpPr>
          <p:cNvPr id="12" name="Text 8"/>
          <p:cNvSpPr/>
          <p:nvPr/>
        </p:nvSpPr>
        <p:spPr>
          <a:xfrm>
            <a:off x="3550158" y="3886200"/>
            <a:ext cx="23614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50" i="1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order, ritual, everyone in place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6277356" y="1143000"/>
            <a:ext cx="2361438" cy="237744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14" name="Image 2" descr="/Users/dogan/Documents/Vaults/Courses/wiki/classes/media-studies/decks/_build/img/downton-servants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0508" y="1708714"/>
            <a:ext cx="2215134" cy="1246013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277356" y="3566160"/>
            <a:ext cx="23614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Below stairs</a:t>
            </a:r>
            <a:endParaRPr lang="en-US" sz="1550" dirty="0"/>
          </a:p>
        </p:txBody>
      </p:sp>
      <p:sp>
        <p:nvSpPr>
          <p:cNvPr id="16" name="Text 11"/>
          <p:cNvSpPr/>
          <p:nvPr/>
        </p:nvSpPr>
        <p:spPr>
          <a:xfrm>
            <a:off x="6277356" y="3886200"/>
            <a:ext cx="23614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50" i="1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labor, visible but ranked</a:t>
            </a:r>
            <a:endParaRPr lang="en-US" sz="1050" dirty="0"/>
          </a:p>
        </p:txBody>
      </p:sp>
      <p:sp>
        <p:nvSpPr>
          <p:cNvPr id="17" name="Shape 12"/>
          <p:cNvSpPr/>
          <p:nvPr/>
        </p:nvSpPr>
        <p:spPr>
          <a:xfrm>
            <a:off x="9004554" y="1143000"/>
            <a:ext cx="2361438" cy="237744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18" name="Image 3" descr="/Users/dogan/Documents/Vaults/Courses/wiki/classes/media-studies/decks/_build/img/downton-village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77706" y="1708714"/>
            <a:ext cx="2215134" cy="1246013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9004554" y="3566160"/>
            <a:ext cx="23614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village</a:t>
            </a:r>
            <a:endParaRPr lang="en-US" sz="1550" dirty="0"/>
          </a:p>
        </p:txBody>
      </p:sp>
      <p:sp>
        <p:nvSpPr>
          <p:cNvPr id="20" name="Text 14"/>
          <p:cNvSpPr/>
          <p:nvPr/>
        </p:nvSpPr>
        <p:spPr>
          <a:xfrm>
            <a:off x="9004554" y="3886200"/>
            <a:ext cx="23614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50" i="1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nation with no cities in it</a:t>
            </a:r>
            <a:endParaRPr lang="en-US" sz="1050" dirty="0"/>
          </a:p>
        </p:txBody>
      </p:sp>
      <p:sp>
        <p:nvSpPr>
          <p:cNvPr id="21" name="Text 15"/>
          <p:cNvSpPr/>
          <p:nvPr/>
        </p:nvSpPr>
        <p:spPr>
          <a:xfrm>
            <a:off x="822960" y="452628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Downton Abbey (ITV, 2010 to 2015). The Britain brand, selected for global audiences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822960" y="498348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822960" y="5120640"/>
            <a:ext cx="105430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10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  </a:t>
            </a:r>
            <a:pPr indent="0" marL="0">
              <a:lnSpc>
                <a:spcPts val="1750"/>
              </a:lnSpc>
              <a:buNone/>
            </a:pPr>
            <a:r>
              <a:rPr lang="en-US" sz="13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 each cell, ask: what does a foreign viewer conclude Britain is? What had to disappear for that conclusion to hold?</a:t>
            </a:r>
            <a:endParaRPr lang="en-US" sz="11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10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SPOKEN ASIDE   </a:t>
            </a:r>
            <a:pPr indent="0" marL="0">
              <a:lnSpc>
                <a:spcPts val="1750"/>
              </a:lnSpc>
              <a:buNone/>
            </a:pPr>
            <a:r>
              <a:rPr lang="en-US" sz="13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would a China brand select, and what would it leave out?</a:t>
            </a:r>
            <a:endParaRPr lang="en-US" sz="1100" dirty="0"/>
          </a:p>
        </p:txBody>
      </p:sp>
      <p:sp>
        <p:nvSpPr>
          <p:cNvPr id="24" name="Shape 18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26" name="Text 20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STEREOTYPING AS POWER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BENEFITS, WHO PAYS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05156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shortcut with a beneficiary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822960" y="20574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286000"/>
            <a:ext cx="64008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40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POINT   </a:t>
            </a:r>
            <a:pPr indent="0" marL="0">
              <a:lnSpc>
                <a:spcPts val="2300"/>
              </a:lnSpc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stereotype is not a lie. It is a shortcut. Every shortcut helps someone and costs someone.</a:t>
            </a:r>
            <a:endParaRPr lang="en-US" sz="140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40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  </a:t>
            </a:r>
            <a:pPr indent="0" marL="0">
              <a:lnSpc>
                <a:spcPts val="2300"/>
              </a:lnSpc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Who benefits from the quick version? Who pays for it?</a:t>
            </a:r>
            <a:endParaRPr lang="en-US" sz="140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40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   </a:t>
            </a:r>
            <a:pPr indent="0" marL="0">
              <a:lnSpc>
                <a:spcPts val="2300"/>
              </a:lnSpc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Counter-stereotype: a portrayal that breaks the shortcut. It surprises us, and the surprise is the evidence.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589520" y="1188720"/>
            <a:ext cx="3794760" cy="402336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9" name="Image 0" descr="/Users/dogan/Documents/Vaults/Courses/wiki/classes/media-studies/decks/_build/img/up-car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17536" y="2205133"/>
            <a:ext cx="3538728" cy="1990535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589520" y="5257800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 (2009, Pixar): Carl, the coursebook's own counter-stereotype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ABSENCE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SELECTIVE CONSTRUCTION'S QUIETEST TOOL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097280"/>
            <a:ext cx="5852160" cy="420624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6" name="Image 0" descr="/Users/dogan/Documents/Vaults/Courses/wiki/classes/media-studies/decks/_build/img/lupin-vitrin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0976" y="1335024"/>
            <a:ext cx="5596128" cy="373075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5349240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Lupin (Netflix, 2021): the cleaner the institution does not see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086600" y="1280160"/>
            <a:ext cx="4389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200"/>
              </a:lnSpc>
              <a:buNone/>
            </a:pPr>
            <a:r>
              <a:rPr lang="en-US" sz="2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is never in the frame</a:t>
            </a:r>
            <a:endParaRPr lang="en-US" sz="26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2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cannot be argued with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7086600" y="2743200"/>
            <a:ext cx="429768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086600" y="2926080"/>
            <a:ext cx="43891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50"/>
              </a:lnSpc>
              <a:buNone/>
            </a:pPr>
            <a:r>
              <a:rPr lang="en-US" sz="120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CASE   </a:t>
            </a:r>
            <a:pPr indent="0" marL="0">
              <a:lnSpc>
                <a:spcPts val="1950"/>
              </a:lnSpc>
              <a:buNone/>
            </a:pPr>
            <a:r>
              <a:rPr lang="en-US" sz="14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Lupin's heist works because the museum never looks at the man in the worker's uniform. A whole class of people is left out of attention.</a:t>
            </a:r>
            <a:endParaRPr lang="en-US" sz="1200" dirty="0"/>
          </a:p>
          <a:p>
            <a:pPr indent="0" marL="0">
              <a:lnSpc>
                <a:spcPts val="1950"/>
              </a:lnSpc>
              <a:buNone/>
            </a:pPr>
            <a:r>
              <a:rPr lang="en-US" sz="120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  </a:t>
            </a:r>
            <a:pPr indent="0" marL="0">
              <a:lnSpc>
                <a:spcPts val="1950"/>
              </a:lnSpc>
              <a:buNone/>
            </a:pPr>
            <a:r>
              <a:rPr lang="en-US" sz="14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Who is missing from your own product? Did you choose that, or did it happen by default?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SELF-AUDIT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WEEK'S FULL TOOLKIT, ON YOUR OWN CUT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932688"/>
            <a:ext cx="10543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questions of your own product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22960" y="192024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737360" y="1938528"/>
            <a:ext cx="40827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Construction</a:t>
            </a:r>
            <a:endParaRPr lang="en-US" sz="2300" dirty="0"/>
          </a:p>
        </p:txBody>
      </p:sp>
      <p:sp>
        <p:nvSpPr>
          <p:cNvPr id="8" name="Text 6"/>
          <p:cNvSpPr/>
          <p:nvPr/>
        </p:nvSpPr>
        <p:spPr>
          <a:xfrm>
            <a:off x="1737360" y="2468880"/>
            <a:ext cx="408279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did we select and combine, and what did that leave out?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6368796" y="192024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7283196" y="1938528"/>
            <a:ext cx="40827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Positions</a:t>
            </a:r>
            <a:endParaRPr lang="en-US" sz="2300" dirty="0"/>
          </a:p>
        </p:txBody>
      </p:sp>
      <p:sp>
        <p:nvSpPr>
          <p:cNvPr id="11" name="Text 9"/>
          <p:cNvSpPr/>
          <p:nvPr/>
        </p:nvSpPr>
        <p:spPr>
          <a:xfrm>
            <a:off x="7283196" y="2468880"/>
            <a:ext cx="408279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reading did we assume our audience would take?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822960" y="411480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1737360" y="4133088"/>
            <a:ext cx="40827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Power</a:t>
            </a:r>
            <a:endParaRPr lang="en-US" sz="2300" dirty="0"/>
          </a:p>
        </p:txBody>
      </p:sp>
      <p:sp>
        <p:nvSpPr>
          <p:cNvPr id="14" name="Text 12"/>
          <p:cNvSpPr/>
          <p:nvPr/>
        </p:nvSpPr>
        <p:spPr>
          <a:xfrm>
            <a:off x="1737360" y="4663440"/>
            <a:ext cx="408279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Whose shortcut did we borrow, and who pays for it?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6368796" y="411480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7283196" y="4133088"/>
            <a:ext cx="40827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Absence</a:t>
            </a:r>
            <a:endParaRPr lang="en-US" sz="2300" dirty="0"/>
          </a:p>
        </p:txBody>
      </p:sp>
      <p:sp>
        <p:nvSpPr>
          <p:cNvPr id="17" name="Text 15"/>
          <p:cNvSpPr/>
          <p:nvPr/>
        </p:nvSpPr>
        <p:spPr>
          <a:xfrm>
            <a:off x="7283196" y="4663440"/>
            <a:ext cx="408279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Who is missing from our product, by choice or by default?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822960" y="5989320"/>
            <a:ext cx="1054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A2 goes in Monday. The screening Monday 2 November turns response cards into evidence, and LB3 is posted. The pickup shots are the homework.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4A6B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48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FAF8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822960" y="2514600"/>
            <a:ext cx="3108960" cy="0"/>
          </a:xfrm>
          <a:prstGeom prst="line">
            <a:avLst/>
          </a:prstGeom>
          <a:noFill/>
          <a:ln w="9525">
            <a:solidFill>
              <a:srgbClr val="8AA39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2651760"/>
            <a:ext cx="10058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Gaze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822960" y="397764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E8EFE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12. Van Zoonen, Mulvey, and hooks: who is the camera looking for?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6E8A7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E8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E8EFE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2026-08-25T13:06:06Z</dcterms:created>
  <dcterms:modified xsi:type="dcterms:W3CDTF">2026-08-25T13:06:06Z</dcterms:modified>
</cp:coreProperties>
</file>