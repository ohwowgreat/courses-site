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Representation theory taught, then immediately turned on the students' own work, while there is still production time to fix what it finds.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Representation does not reflect the world; it constructs a version of it, by selection and combination. Never objective.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Lincoln and McClellan posed in a tent at Antietam, 1862. The staged image of power predates the word representation as we use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Coursebook 3.3's own phrase: never objective. The same-person-three-ways exercise (official portrait, news photo, fan edit of one figure the room knows) runs live after this; choosing the figure stays a classroom decision, per the plan's caution against active PRC political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shared text on screen for the corners; a Downton frame from the next slide serves twice. Theory card: Hall.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studio portrait models representation as construction. The three-image same-person exercise makes the point on a figure the room knows.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D3's 25-minute block, previously slide-less. The coursebook's own-country prompt closes the block as a short spoken aside, as contrast, never as the written outcome, per the exam-example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D3's case pair stays PROPOSED: one British TV stereotype, one Hollywood film stereotype, both exam-eligible, worked in groups with Hall's positions run across both. Deck U3.2 is the ready-made Hall lesson if wanted.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international text the room meets again at L10 as the enigma frame; here the same still carries Hall's absence. The absence inventory then runs on one text and on their own C1 planning.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D5 screening conditions: no introductions, no apologies, no pausing; response cards completed while watching and handed to makers unread by anyone else. D6 converts findings to production pickups with dates; LB3 posted.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822960"/>
            <a:ext cx="3566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XI</a:t>
            </a:r>
            <a:endParaRPr lang="en-US" sz="28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UNIT IV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000"/>
              </a:lnSpc>
              <a:buNone/>
            </a:pPr>
            <a:r>
              <a:rPr lang="en-US" sz="6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Representation,</a:t>
            </a:r>
            <a:endParaRPr lang="en-US" sz="60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6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Applied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Representation · Lesson 11 of 19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days  ·  Monday 26 October to Tuesday 3 November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640080"/>
            <a:ext cx="393192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XI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CLAIM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84048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constructs.</a:t>
            </a:r>
            <a:endParaRPr lang="en-US" sz="4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does not reflect.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gan/Documents/Vaults/Courses/wiki/classes/media-studies/decks/_build/img/crops/gardner-lincoln-mcclellan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PHOTO-OP IS OLDER THAN THE WORD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5230368"/>
            <a:ext cx="8778240" cy="1243584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676656" y="5468112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" y="5541264"/>
            <a:ext cx="8339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tent, the table, who sits and who stands: every choice is doing representation work.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76656" y="6181344"/>
            <a:ext cx="8339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Alexander Gardner, Lincoln and McClellan at Antietam, 1862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Representation connects meaning and language to culture.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Stuart Hall, The Work of Representation, 1997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CONSTRUCTION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OBJECTIVE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Selection and combination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9748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chosen to appear, and what is left out. The frame is an argument before anyone speaks.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0936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Combination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309360" y="25603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69748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chosen elements are arranged together. Meaning is built from what sits next to what.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521208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394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turn inward: my C1 product represents ... as ... . Every day this week tests that sentence.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 · ENCODING AND DECODING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 IS FINISHED IN THE AUDIENCE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reading positions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Dominant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88920"/>
            <a:ext cx="3246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audience reads the preferred meaning the maker encoded, and accepts it.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71416" y="20574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Negotiated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471416" y="260604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1416" y="2788920"/>
            <a:ext cx="3246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audience accepts the broad meaning but bends it to their own situation.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19872" y="20574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Oppositional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119872" y="260604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9872" y="2788920"/>
            <a:ext cx="3246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audience understands the preferred meaning and reads against it, on purpose.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534924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4864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as Four Corners: dominant, negotiated, oppositional, plus an abstain-and-justify center. Could your C1 product survive an oppositional reading? The disagreement is the theory working.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gan/Documents/Vaults/Courses/wiki/classes/media-studies/decks/_build/img/crops/kasebier-portrait_a6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0"/>
            <a:ext cx="455371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18120" y="6126480"/>
            <a:ext cx="4187952" cy="365760"/>
          </a:xfrm>
          <a:prstGeom prst="rect">
            <a:avLst/>
          </a:prstGeom>
          <a:solidFill>
            <a:srgbClr val="FAF8F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Gertrude Kasebier, a studio portrait, c. 1900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PERSON, THREE WAYS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822960" y="1051560"/>
            <a:ext cx="649224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23444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person never</a:t>
            </a:r>
            <a:endParaRPr lang="en-US" sz="4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changed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2743200"/>
            <a:ext cx="6583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studio portrait is a built thing: pose, light, backdrop, retouch. Take one public figure and three found images, an official portrait, a news photo, a fan edit, and list what each version selects, combines, and asks you to conclude. The construction changed; the person did not.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Stereotyping reduces, essentializes, naturalizes and fixes difference.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Stuart Hall, The Spectacle of the Other, 1997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 BRANDING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DOWNTON'S BRITAIN, WORKED IN FULL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143000"/>
            <a:ext cx="2361438" cy="237744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6" name="Image 0" descr="/Users/dogan/Documents/Vaults/Courses/wiki/classes/media-studies/decks/_build/img/downton-hou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695" y="1216152"/>
            <a:ext cx="2021967" cy="22311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56616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house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23614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heritage as the establishing shot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550158" y="1143000"/>
            <a:ext cx="2361438" cy="237744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0" name="Image 1" descr="/Users/dogan/Documents/Vaults/Courses/wiki/classes/media-studies/decks/_build/img/downton-dinin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310" y="1771675"/>
            <a:ext cx="2215134" cy="11200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50158" y="356616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dinner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3550158" y="3886200"/>
            <a:ext cx="23614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order, ritual, everyone in place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77356" y="1143000"/>
            <a:ext cx="2361438" cy="237744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4" name="Image 2" descr="/Users/dogan/Documents/Vaults/Courses/wiki/classes/media-studies/decks/_build/img/downton-servant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508" y="1708714"/>
            <a:ext cx="2215134" cy="124601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77356" y="356616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Below stairs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6277356" y="3886200"/>
            <a:ext cx="23614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labor, visible but ranked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9004554" y="1143000"/>
            <a:ext cx="2361438" cy="237744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8" name="Image 3" descr="/Users/dogan/Documents/Vaults/Courses/wiki/classes/media-studies/decks/_build/img/downton-villag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7706" y="1708714"/>
            <a:ext cx="2215134" cy="124601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04554" y="356616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village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9004554" y="3886200"/>
            <a:ext cx="23614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nation with no cities in it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822960" y="452628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Downton Abbey (ITV, 2010 to 2015). The Britain brand, selected for global audiences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822960" y="498348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822960" y="512064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cell is a selection, and every selection leaves something out: ask of each what a viewer in another country concludes Britain is, and what had to vanish for that conclusion to hold. Then the closer, spoken only: what would a China brand select, and omit?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STEREOTYPING AS POWER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BENEFITS, WHO PAYS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515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shortcut with a beneficiary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86000"/>
            <a:ext cx="6400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stereotype is not a lie. It is a shortcut, and every shortcut has a beneficiary and someone who pays the toll. Ask both questions of every case: who is served by this being the quick version, and who is cost by it?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counter-stereotype registers as surprising only because the shortcut is so well worn: a grieving old man as an action hero surprises exactly once, and the surprise is the evidence.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589520" y="1188720"/>
            <a:ext cx="3794760" cy="402336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9" name="Image 0" descr="/Users/dogan/Documents/Vaults/Courses/wiki/classes/media-studies/decks/_build/img/up-car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36" y="2205133"/>
            <a:ext cx="3538728" cy="199053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589520" y="52578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(2009, Pixar): Carl, the coursebook's own counter-stereotype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 CONSTRUCTION'S QUIETEST TOOL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097280"/>
            <a:ext cx="5852160" cy="420624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6" name="Image 0" descr="/Users/dogan/Documents/Vaults/Courses/wiki/classes/media-studies/decks/_build/img/lupin-vitri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335024"/>
            <a:ext cx="5596128" cy="3730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3492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Lupin (Netflix, 2021): the cleaner the institution does not see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086600" y="128016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never in the frame</a:t>
            </a:r>
            <a:endParaRPr lang="en-US" sz="26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cannot be argued with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7086600" y="2743200"/>
            <a:ext cx="42976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86600" y="2926080"/>
            <a:ext cx="4389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never appears cannot complain. Lupin builds its whole heist on the premise: the man in the worker's uniform is invisible to the museum because a class of person has been absented from attention.</a:t>
            </a: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the inventory on your own product: who is missing, and did you choose that or default to it?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SELF-AUDIT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WEEK'S FULL TOOLKIT, ON YOUR OWN CUT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questions of your own product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37360" y="1938528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Construction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737360" y="2468880"/>
            <a:ext cx="40827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did we select and combine, and what did that leave out?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368796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283196" y="1938528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283196" y="2468880"/>
            <a:ext cx="40827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reading did we assume our audience would take?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2960" y="4114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737360" y="4133088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737360" y="4663440"/>
            <a:ext cx="40827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Whose shortcut did we borrow, and who pays for it?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368796" y="4114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283196" y="4133088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Absence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7283196" y="4663440"/>
            <a:ext cx="40827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is missing from our product, by choice or by default?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2960" y="598932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 in Monday; the response cards become evidence Tuesday; LB3 posted on screening quality. The pickups are the homework.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Gaze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12. Van Zoonen, Mulvey, and hooks: who is the looking arranged for?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2026-08-24T09:13:46Z</dcterms:created>
  <dcterms:modified xsi:type="dcterms:W3CDTF">2026-08-24T09:13:46Z</dcterms:modified>
</cp:coreProperties>
</file>