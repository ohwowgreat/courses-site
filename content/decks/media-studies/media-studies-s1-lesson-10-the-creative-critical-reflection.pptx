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week, one artifact: the CCR that carries a fifth of the A3 marks in disguise, because it is where AO2 lives in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that governs all four days doubles as the success criterion, straight from the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maker examining himself. The honest-sentence ritual inoculates a draft against the promotional voice that reads as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046720" y="822960"/>
            <a:ext cx="3383280" cy="4937760"/>
          </a:xfrm>
          <a:prstGeom prst="rect">
            <a:avLst/>
          </a:prstGeom>
          <a:noFill/>
          <a:ln/>
        </p:spPr>
        <p:txBody>
          <a:bodyPr wrap="square" lIns="0" tIns="0" rIns="0" bIns="0" rtlCol="0" anchor="ctr"/>
          <a:lstStyle/>
          <a:p>
            <a:pPr algn="ctr" indent="0" marL="0">
              <a:buNone/>
            </a:pPr>
            <a:r>
              <a:rPr lang="en-US" sz="32000" dirty="0">
                <a:solidFill>
                  <a:srgbClr val="A3C1AD"/>
                </a:solidFill>
                <a:latin typeface="Georgia" pitchFamily="34" charset="0"/>
                <a:ea typeface="Georgia" pitchFamily="34" charset="-122"/>
                <a:cs typeface="Georgia" pitchFamily="34" charset="-120"/>
              </a:rPr>
              <a:t>X</a:t>
            </a:r>
            <a:endParaRPr lang="en-US" sz="32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IV</a:t>
            </a:r>
            <a:endParaRPr lang="en-US" sz="1100" dirty="0"/>
          </a:p>
        </p:txBody>
      </p:sp>
      <p:sp>
        <p:nvSpPr>
          <p:cNvPr id="4" name="Text 2"/>
          <p:cNvSpPr/>
          <p:nvPr/>
        </p:nvSpPr>
        <p:spPr>
          <a:xfrm>
            <a:off x="822960" y="1737360"/>
            <a:ext cx="7589520" cy="2377440"/>
          </a:xfrm>
          <a:prstGeom prst="rect">
            <a:avLst/>
          </a:prstGeom>
          <a:noFill/>
          <a:ln/>
        </p:spPr>
        <p:txBody>
          <a:bodyPr wrap="square" lIns="0" tIns="0" rIns="0" bIns="0" rtlCol="0" anchor="t"/>
          <a:lstStyle/>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The Creative</a:t>
            </a:r>
            <a:endParaRPr lang="en-US" sz="5200" dirty="0"/>
          </a:p>
          <a:p>
            <a:pPr indent="0" marL="0">
              <a:lnSpc>
                <a:spcPts val="5200"/>
              </a:lnSpc>
              <a:buNone/>
            </a:pPr>
            <a:r>
              <a:rPr lang="en-US" sz="5200" dirty="0">
                <a:solidFill>
                  <a:srgbClr val="24313F"/>
                </a:solidFill>
                <a:latin typeface="Georgia" pitchFamily="34" charset="0"/>
                <a:ea typeface="Georgia" pitchFamily="34" charset="-122"/>
                <a:cs typeface="Georgia" pitchFamily="34" charset="-120"/>
              </a:rPr>
              <a:t>Critical Reflection</a:t>
            </a:r>
            <a:endParaRPr lang="en-US" sz="5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Representation · Lesson 10 of 16</a:t>
            </a:r>
            <a:endParaRPr lang="en-US" sz="2200" dirty="0"/>
          </a:p>
        </p:txBody>
      </p:sp>
      <p:sp>
        <p:nvSpPr>
          <p:cNvPr id="7" name="Text 5"/>
          <p:cNvSpPr/>
          <p:nvPr/>
        </p:nvSpPr>
        <p:spPr>
          <a:xfrm>
            <a:off x="822960" y="502920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Four days  ·  Monday 16 to Friday 20 November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863840" y="640080"/>
            <a:ext cx="3749040" cy="5577840"/>
          </a:xfrm>
          <a:prstGeom prst="rect">
            <a:avLst/>
          </a:prstGeom>
          <a:noFill/>
          <a:ln/>
        </p:spPr>
        <p:txBody>
          <a:bodyPr wrap="square" lIns="0" tIns="0" rIns="0" bIns="0" rtlCol="0" anchor="ctr"/>
          <a:lstStyle/>
          <a:p>
            <a:pPr algn="ctr" indent="0" marL="0">
              <a:buNone/>
            </a:pPr>
            <a:r>
              <a:rPr lang="en-US" sz="38000" dirty="0">
                <a:solidFill>
                  <a:srgbClr val="5C7A6B"/>
                </a:solidFill>
                <a:latin typeface="Georgia" pitchFamily="34" charset="0"/>
                <a:ea typeface="Georgia" pitchFamily="34" charset="-122"/>
                <a:cs typeface="Georgia" pitchFamily="34" charset="-120"/>
              </a:rPr>
              <a:t>X</a:t>
            </a:r>
            <a:endParaRPr lang="en-US" sz="38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RULE AND THE SUCCESS CRITERION</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772400" cy="2194560"/>
          </a:xfrm>
          <a:prstGeom prst="rect">
            <a:avLst/>
          </a:prstGeom>
          <a:noFill/>
          <a:ln/>
        </p:spPr>
        <p:txBody>
          <a:bodyPr wrap="square" lIns="0" tIns="0" rIns="0" bIns="0" rtlCol="0" anchor="t"/>
          <a:lstStyle/>
          <a:p>
            <a:pPr indent="0" marL="0">
              <a:lnSpc>
                <a:spcPts val="4600"/>
              </a:lnSpc>
              <a:buNone/>
            </a:pPr>
            <a:r>
              <a:rPr lang="en-US" sz="4000" dirty="0">
                <a:solidFill>
                  <a:srgbClr val="FAF8F1"/>
                </a:solidFill>
                <a:latin typeface="Georgia" pitchFamily="34" charset="0"/>
                <a:ea typeface="Georgia" pitchFamily="34" charset="-122"/>
                <a:cs typeface="Georgia" pitchFamily="34" charset="-120"/>
              </a:rPr>
              <a:t>Cut every sentence that</a:t>
            </a:r>
            <a:endParaRPr lang="en-US" sz="4000" dirty="0"/>
          </a:p>
          <a:p>
            <a:pPr indent="0" marL="0">
              <a:lnSpc>
                <a:spcPts val="4600"/>
              </a:lnSpc>
              <a:buNone/>
            </a:pPr>
            <a:r>
              <a:rPr lang="en-US" sz="4000" dirty="0">
                <a:solidFill>
                  <a:srgbClr val="FAF8F1"/>
                </a:solidFill>
                <a:latin typeface="Georgia" pitchFamily="34" charset="0"/>
                <a:ea typeface="Georgia" pitchFamily="34" charset="-122"/>
                <a:cs typeface="Georgia" pitchFamily="34" charset="-120"/>
              </a:rPr>
              <a:t>describes instead of reflects.</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CCR · FOUR SET QUESTIONS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PRESENTED CREATIVELY, USING TECHNOLOGY</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four questions</a:t>
            </a:r>
            <a:endParaRPr lang="en-US" sz="3200" dirty="0"/>
          </a:p>
        </p:txBody>
      </p:sp>
      <p:sp>
        <p:nvSpPr>
          <p:cNvPr id="6" name="Text 4"/>
          <p:cNvSpPr/>
          <p:nvPr/>
        </p:nvSpPr>
        <p:spPr>
          <a:xfrm>
            <a:off x="822960" y="193852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Q1 · Conventions</a:t>
            </a:r>
            <a:endParaRPr lang="en-US" sz="2200" dirty="0"/>
          </a:p>
        </p:txBody>
      </p:sp>
      <p:sp>
        <p:nvSpPr>
          <p:cNvPr id="7" name="Shape 5"/>
          <p:cNvSpPr/>
          <p:nvPr/>
        </p:nvSpPr>
        <p:spPr>
          <a:xfrm>
            <a:off x="822960" y="2468880"/>
            <a:ext cx="4814316" cy="0"/>
          </a:xfrm>
          <a:prstGeom prst="line">
            <a:avLst/>
          </a:prstGeom>
          <a:noFill/>
          <a:ln w="9525">
            <a:solidFill>
              <a:srgbClr val="D9D4C4"/>
            </a:solidFill>
            <a:prstDash val="solid"/>
          </a:ln>
        </p:spPr>
      </p:sp>
      <p:sp>
        <p:nvSpPr>
          <p:cNvPr id="8" name="Text 6"/>
          <p:cNvSpPr/>
          <p:nvPr/>
        </p:nvSpPr>
        <p:spPr>
          <a:xfrm>
            <a:off x="822960" y="257860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How the product uses or challenges conventions, and how it represents social groups.</a:t>
            </a:r>
            <a:endParaRPr lang="en-US" sz="1550" dirty="0"/>
          </a:p>
        </p:txBody>
      </p:sp>
      <p:sp>
        <p:nvSpPr>
          <p:cNvPr id="9" name="Text 7"/>
          <p:cNvSpPr/>
          <p:nvPr/>
        </p:nvSpPr>
        <p:spPr>
          <a:xfrm>
            <a:off x="6368796" y="193852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Q2 · Audiences</a:t>
            </a:r>
            <a:endParaRPr lang="en-US" sz="2200" dirty="0"/>
          </a:p>
        </p:txBody>
      </p:sp>
      <p:sp>
        <p:nvSpPr>
          <p:cNvPr id="10" name="Shape 8"/>
          <p:cNvSpPr/>
          <p:nvPr/>
        </p:nvSpPr>
        <p:spPr>
          <a:xfrm>
            <a:off x="6368796" y="2468880"/>
            <a:ext cx="4814316" cy="0"/>
          </a:xfrm>
          <a:prstGeom prst="line">
            <a:avLst/>
          </a:prstGeom>
          <a:noFill/>
          <a:ln w="9525">
            <a:solidFill>
              <a:srgbClr val="D9D4C4"/>
            </a:solidFill>
            <a:prstDash val="solid"/>
          </a:ln>
        </p:spPr>
      </p:sp>
      <p:sp>
        <p:nvSpPr>
          <p:cNvPr id="11" name="Text 9"/>
          <p:cNvSpPr/>
          <p:nvPr/>
        </p:nvSpPr>
        <p:spPr>
          <a:xfrm>
            <a:off x="6368796" y="257860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Who the product engages, and how it would really reach and circulate to them.</a:t>
            </a:r>
            <a:endParaRPr lang="en-US" sz="1550" dirty="0"/>
          </a:p>
        </p:txBody>
      </p:sp>
      <p:sp>
        <p:nvSpPr>
          <p:cNvPr id="12" name="Text 10"/>
          <p:cNvSpPr/>
          <p:nvPr/>
        </p:nvSpPr>
        <p:spPr>
          <a:xfrm>
            <a:off x="822960" y="413308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Q3 · Skills</a:t>
            </a:r>
            <a:endParaRPr lang="en-US" sz="2200" dirty="0"/>
          </a:p>
        </p:txBody>
      </p:sp>
      <p:sp>
        <p:nvSpPr>
          <p:cNvPr id="13" name="Shape 11"/>
          <p:cNvSpPr/>
          <p:nvPr/>
        </p:nvSpPr>
        <p:spPr>
          <a:xfrm>
            <a:off x="822960" y="4663440"/>
            <a:ext cx="4814316" cy="0"/>
          </a:xfrm>
          <a:prstGeom prst="line">
            <a:avLst/>
          </a:prstGeom>
          <a:noFill/>
          <a:ln w="9525">
            <a:solidFill>
              <a:srgbClr val="D9D4C4"/>
            </a:solidFill>
            <a:prstDash val="solid"/>
          </a:ln>
        </p:spPr>
      </p:sp>
      <p:sp>
        <p:nvSpPr>
          <p:cNvPr id="14" name="Text 12"/>
          <p:cNvSpPr/>
          <p:nvPr/>
        </p:nvSpPr>
        <p:spPr>
          <a:xfrm>
            <a:off x="822960" y="477316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What developed from day-one footage to the rough cut, and what changed it.</a:t>
            </a:r>
            <a:endParaRPr lang="en-US" sz="1550" dirty="0"/>
          </a:p>
        </p:txBody>
      </p:sp>
      <p:sp>
        <p:nvSpPr>
          <p:cNvPr id="15" name="Text 13"/>
          <p:cNvSpPr/>
          <p:nvPr/>
        </p:nvSpPr>
        <p:spPr>
          <a:xfrm>
            <a:off x="6368796" y="4133088"/>
            <a:ext cx="4997196"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Q4 · Technology</a:t>
            </a:r>
            <a:endParaRPr lang="en-US" sz="2200" dirty="0"/>
          </a:p>
        </p:txBody>
      </p:sp>
      <p:sp>
        <p:nvSpPr>
          <p:cNvPr id="16" name="Shape 14"/>
          <p:cNvSpPr/>
          <p:nvPr/>
        </p:nvSpPr>
        <p:spPr>
          <a:xfrm>
            <a:off x="6368796" y="4663440"/>
            <a:ext cx="4814316" cy="0"/>
          </a:xfrm>
          <a:prstGeom prst="line">
            <a:avLst/>
          </a:prstGeom>
          <a:noFill/>
          <a:ln w="9525">
            <a:solidFill>
              <a:srgbClr val="D9D4C4"/>
            </a:solidFill>
            <a:prstDash val="solid"/>
          </a:ln>
        </p:spPr>
      </p:sp>
      <p:sp>
        <p:nvSpPr>
          <p:cNvPr id="17" name="Text 15"/>
          <p:cNvSpPr/>
          <p:nvPr/>
        </p:nvSpPr>
        <p:spPr>
          <a:xfrm>
            <a:off x="6368796" y="4773168"/>
            <a:ext cx="4814316"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Software, hardware, online: as decisions, we used X so that Y, not an inventory.</a:t>
            </a:r>
            <a:endParaRPr lang="en-US" sz="155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ONE-LINE TEACHING OF THE WHOLE WEEK</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PUT IT ON THE WALL</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The tell</a:t>
            </a:r>
            <a:endParaRPr lang="en-US" sz="3800" dirty="0"/>
          </a:p>
        </p:txBody>
      </p:sp>
      <p:sp>
        <p:nvSpPr>
          <p:cNvPr id="6" name="Text 4"/>
          <p:cNvSpPr/>
          <p:nvPr/>
        </p:nvSpPr>
        <p:spPr>
          <a:xfrm>
            <a:off x="822960" y="2011680"/>
            <a:ext cx="4846320" cy="502920"/>
          </a:xfrm>
          <a:prstGeom prst="rect">
            <a:avLst/>
          </a:prstGeom>
          <a:noFill/>
          <a:ln/>
        </p:spPr>
        <p:txBody>
          <a:bodyPr wrap="square" lIns="0" tIns="0" rIns="0" bIns="0" rtlCol="0" anchor="ctr"/>
          <a:lstStyle/>
          <a:p>
            <a:pPr indent="0" marL="0">
              <a:buNone/>
            </a:pPr>
            <a:r>
              <a:rPr lang="en-US" sz="2400" dirty="0">
                <a:solidFill>
                  <a:srgbClr val="7A7F72"/>
                </a:solidFill>
                <a:latin typeface="Georgia" pitchFamily="34" charset="0"/>
                <a:ea typeface="Georgia" pitchFamily="34" charset="-122"/>
                <a:cs typeface="Georgia" pitchFamily="34" charset="-120"/>
              </a:rPr>
              <a:t>A description</a:t>
            </a:r>
            <a:endParaRPr lang="en-US" sz="2400" dirty="0"/>
          </a:p>
        </p:txBody>
      </p:sp>
      <p:sp>
        <p:nvSpPr>
          <p:cNvPr id="7" name="Shape 5"/>
          <p:cNvSpPr/>
          <p:nvPr/>
        </p:nvSpPr>
        <p:spPr>
          <a:xfrm>
            <a:off x="822960" y="2560320"/>
            <a:ext cx="4754880" cy="0"/>
          </a:xfrm>
          <a:prstGeom prst="line">
            <a:avLst/>
          </a:prstGeom>
          <a:noFill/>
          <a:ln w="9525">
            <a:solidFill>
              <a:srgbClr val="D9D4C4"/>
            </a:solidFill>
            <a:prstDash val="solid"/>
          </a:ln>
        </p:spPr>
      </p:sp>
      <p:sp>
        <p:nvSpPr>
          <p:cNvPr id="8" name="Text 6"/>
          <p:cNvSpPr/>
          <p:nvPr/>
        </p:nvSpPr>
        <p:spPr>
          <a:xfrm>
            <a:off x="8229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contains a sequence of events. It says what you did: we filmed, then we edited, then we uploaded.</a:t>
            </a:r>
            <a:endParaRPr lang="en-US" sz="1700" dirty="0"/>
          </a:p>
        </p:txBody>
      </p:sp>
      <p:sp>
        <p:nvSpPr>
          <p:cNvPr id="9" name="Text 7"/>
          <p:cNvSpPr/>
          <p:nvPr/>
        </p:nvSpPr>
        <p:spPr>
          <a:xfrm>
            <a:off x="6309360" y="2011680"/>
            <a:ext cx="4846320" cy="502920"/>
          </a:xfrm>
          <a:prstGeom prst="rect">
            <a:avLst/>
          </a:prstGeom>
          <a:noFill/>
          <a:ln/>
        </p:spPr>
        <p:txBody>
          <a:bodyPr wrap="square" lIns="0" tIns="0" rIns="0" bIns="0" rtlCol="0" anchor="ctr"/>
          <a:lstStyle/>
          <a:p>
            <a:pPr indent="0" marL="0">
              <a:buNone/>
            </a:pPr>
            <a:r>
              <a:rPr lang="en-US" sz="2400" dirty="0">
                <a:solidFill>
                  <a:srgbClr val="4A6B5D"/>
                </a:solidFill>
                <a:latin typeface="Georgia" pitchFamily="34" charset="0"/>
                <a:ea typeface="Georgia" pitchFamily="34" charset="-122"/>
                <a:cs typeface="Georgia" pitchFamily="34" charset="-120"/>
              </a:rPr>
              <a:t>A reflection</a:t>
            </a:r>
            <a:endParaRPr lang="en-US" sz="2400" dirty="0"/>
          </a:p>
        </p:txBody>
      </p:sp>
      <p:sp>
        <p:nvSpPr>
          <p:cNvPr id="10" name="Shape 8"/>
          <p:cNvSpPr/>
          <p:nvPr/>
        </p:nvSpPr>
        <p:spPr>
          <a:xfrm>
            <a:off x="6309360" y="2560320"/>
            <a:ext cx="4754880" cy="0"/>
          </a:xfrm>
          <a:prstGeom prst="line">
            <a:avLst/>
          </a:prstGeom>
          <a:noFill/>
          <a:ln w="9525">
            <a:solidFill>
              <a:srgbClr val="D9D4C4"/>
            </a:solidFill>
            <a:prstDash val="solid"/>
          </a:ln>
        </p:spPr>
      </p:sp>
      <p:sp>
        <p:nvSpPr>
          <p:cNvPr id="11" name="Text 9"/>
          <p:cNvSpPr/>
          <p:nvPr/>
        </p:nvSpPr>
        <p:spPr>
          <a:xfrm>
            <a:off x="6309360" y="2697480"/>
            <a:ext cx="484632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contains a decision, a reason, or a change. It says why, and what you would do differently.</a:t>
            </a:r>
            <a:endParaRPr lang="en-US" sz="1700" dirty="0"/>
          </a:p>
        </p:txBody>
      </p:sp>
      <p:sp>
        <p:nvSpPr>
          <p:cNvPr id="12" name="Shape 10"/>
          <p:cNvSpPr/>
          <p:nvPr/>
        </p:nvSpPr>
        <p:spPr>
          <a:xfrm>
            <a:off x="822960" y="6382512"/>
            <a:ext cx="10543032" cy="0"/>
          </a:xfrm>
          <a:prstGeom prst="line">
            <a:avLst/>
          </a:prstGeom>
          <a:noFill/>
          <a:ln w="9525">
            <a:solidFill>
              <a:srgbClr val="D9D4C4"/>
            </a:solidFill>
            <a:prstDash val="solid"/>
          </a:ln>
        </p:spPr>
      </p:sp>
      <p:sp>
        <p:nvSpPr>
          <p:cNvPr id="13" name="Text 1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4" name="Text 1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920240"/>
            <a:ext cx="10424160" cy="2194560"/>
          </a:xfrm>
          <a:prstGeom prst="rect">
            <a:avLst/>
          </a:prstGeom>
          <a:noFill/>
          <a:ln/>
        </p:spPr>
        <p:txBody>
          <a:bodyPr wrap="square" lIns="0" tIns="0" rIns="0" bIns="0" rtlCol="0" anchor="ctr"/>
          <a:lstStyle/>
          <a:p>
            <a:pPr indent="0" marL="0">
              <a:lnSpc>
                <a:spcPts val="5600"/>
              </a:lnSpc>
              <a:buNone/>
            </a:pPr>
            <a:r>
              <a:rPr lang="en-US" sz="5000" dirty="0">
                <a:solidFill>
                  <a:srgbClr val="24313F"/>
                </a:solidFill>
                <a:latin typeface="Georgia" pitchFamily="34" charset="0"/>
                <a:ea typeface="Georgia" pitchFamily="34" charset="-122"/>
                <a:cs typeface="Georgia" pitchFamily="34" charset="-120"/>
              </a:rPr>
              <a:t>A decision,</a:t>
            </a:r>
            <a:endParaRPr lang="en-US" sz="5000" dirty="0"/>
          </a:p>
          <a:p>
            <a:pPr indent="0" marL="0">
              <a:lnSpc>
                <a:spcPts val="5600"/>
              </a:lnSpc>
              <a:buNone/>
            </a:pPr>
            <a:r>
              <a:rPr lang="en-US" sz="5000" dirty="0">
                <a:solidFill>
                  <a:srgbClr val="24313F"/>
                </a:solidFill>
                <a:latin typeface="Georgia" pitchFamily="34" charset="0"/>
                <a:ea typeface="Georgia" pitchFamily="34" charset="-122"/>
                <a:cs typeface="Georgia" pitchFamily="34" charset="-120"/>
              </a:rPr>
              <a:t>a reason, or a change.</a:t>
            </a:r>
            <a:endParaRPr lang="en-US" sz="5000" dirty="0"/>
          </a:p>
        </p:txBody>
      </p:sp>
      <p:sp>
        <p:nvSpPr>
          <p:cNvPr id="4" name="Shape 2"/>
          <p:cNvSpPr/>
          <p:nvPr/>
        </p:nvSpPr>
        <p:spPr>
          <a:xfrm>
            <a:off x="822960" y="4663440"/>
            <a:ext cx="914400" cy="0"/>
          </a:xfrm>
          <a:prstGeom prst="line">
            <a:avLst/>
          </a:prstGeom>
          <a:noFill/>
          <a:ln w="31750">
            <a:solidFill>
              <a:srgbClr val="8C3A38"/>
            </a:solidFill>
            <a:prstDash val="solid"/>
          </a:ln>
        </p:spPr>
      </p:sp>
      <p:sp>
        <p:nvSpPr>
          <p:cNvPr id="5" name="Text 3"/>
          <p:cNvSpPr/>
          <p:nvPr/>
        </p:nvSpPr>
        <p:spPr>
          <a:xfrm>
            <a:off x="822960" y="4846320"/>
            <a:ext cx="1024128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Every reflective sentence contains at least one. If a sentence contains none of the three, it is description; cut it or convert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a3a5132d-721f-4cd4-8ddd-e62e2b37b51b/scratchpad/img/crops/vangogh-self_a664.jpg">    </p:cNvPr>
          <p:cNvPicPr>
            <a:picLocks noChangeAspect="1"/>
          </p:cNvPicPr>
          <p:nvPr/>
        </p:nvPicPr>
        <p:blipFill>
          <a:blip r:embed="rId1"/>
          <a:stretch>
            <a:fillRect/>
          </a:stretch>
        </p:blipFill>
        <p:spPr>
          <a:xfrm>
            <a:off x="7635240" y="0"/>
            <a:ext cx="4553712" cy="6858000"/>
          </a:xfrm>
          <a:prstGeom prst="rect">
            <a:avLst/>
          </a:prstGeom>
        </p:spPr>
      </p:pic>
      <p:sp>
        <p:nvSpPr>
          <p:cNvPr id="3" name="Text 0"/>
          <p:cNvSpPr/>
          <p:nvPr/>
        </p:nvSpPr>
        <p:spPr>
          <a:xfrm>
            <a:off x="7818120" y="6126480"/>
            <a:ext cx="418795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Vincent van Gogh, Self-Portrait, 1889</a:t>
            </a:r>
            <a:endParaRPr lang="en-US" sz="950" dirty="0"/>
          </a:p>
        </p:txBody>
      </p:sp>
      <p:sp>
        <p:nvSpPr>
          <p:cNvPr id="4" name="Text 1"/>
          <p:cNvSpPr/>
          <p:nvPr/>
        </p:nvSpPr>
        <p:spPr>
          <a:xfrm>
            <a:off x="822960" y="685800"/>
            <a:ext cx="54864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MAKER, TURNED INWARD</a:t>
            </a:r>
            <a:endParaRPr lang="en-US" sz="1100" dirty="0"/>
          </a:p>
        </p:txBody>
      </p:sp>
      <p:sp>
        <p:nvSpPr>
          <p:cNvPr id="5" name="Shape 2"/>
          <p:cNvSpPr/>
          <p:nvPr/>
        </p:nvSpPr>
        <p:spPr>
          <a:xfrm>
            <a:off x="822960" y="1051560"/>
            <a:ext cx="6492240" cy="0"/>
          </a:xfrm>
          <a:prstGeom prst="line">
            <a:avLst/>
          </a:prstGeom>
          <a:noFill/>
          <a:ln w="9525">
            <a:solidFill>
              <a:srgbClr val="D9D4C4"/>
            </a:solidFill>
            <a:prstDash val="solid"/>
          </a:ln>
        </p:spPr>
      </p:sp>
      <p:sp>
        <p:nvSpPr>
          <p:cNvPr id="6" name="Text 3"/>
          <p:cNvSpPr/>
          <p:nvPr/>
        </p:nvSpPr>
        <p:spPr>
          <a:xfrm>
            <a:off x="822960" y="1234440"/>
            <a:ext cx="6492240" cy="1371600"/>
          </a:xfrm>
          <a:prstGeom prst="rect">
            <a:avLst/>
          </a:prstGeom>
          <a:noFill/>
          <a:ln/>
        </p:spPr>
        <p:txBody>
          <a:bodyPr wrap="square" lIns="0" tIns="0" rIns="0" bIns="0" rtlCol="0" anchor="t"/>
          <a:lstStyle/>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Examine your</a:t>
            </a:r>
            <a:endParaRPr lang="en-US" sz="4000" dirty="0"/>
          </a:p>
          <a:p>
            <a:pPr indent="0" marL="0">
              <a:lnSpc>
                <a:spcPts val="4200"/>
              </a:lnSpc>
              <a:buNone/>
            </a:pPr>
            <a:r>
              <a:rPr lang="en-US" sz="4000" dirty="0">
                <a:solidFill>
                  <a:srgbClr val="24313F"/>
                </a:solidFill>
                <a:latin typeface="Georgia" pitchFamily="34" charset="0"/>
                <a:ea typeface="Georgia" pitchFamily="34" charset="-122"/>
                <a:cs typeface="Georgia" pitchFamily="34" charset="-120"/>
              </a:rPr>
              <a:t>own decisions</a:t>
            </a:r>
            <a:endParaRPr lang="en-US" sz="4000" dirty="0"/>
          </a:p>
        </p:txBody>
      </p:sp>
      <p:sp>
        <p:nvSpPr>
          <p:cNvPr id="7" name="Text 4"/>
          <p:cNvSpPr/>
          <p:nvPr/>
        </p:nvSpPr>
        <p:spPr>
          <a:xfrm>
            <a:off x="822960" y="2743200"/>
            <a:ext cx="6583680" cy="292608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A self-portrait is the maker studying the maker. The CCR asks the same of you: not to describe the product, but to examine the person who made the choices. Add one honest sentence that flatters nobody. We chose the location because it was available, and it shows in the lighting. Honesty is what examiners read as reflection.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PRODUCTION DIARIES PAY OUT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ISSUED AT THE L05 LOCK, HARVESTED NOW</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A ready-made reflection bank</a:t>
            </a:r>
            <a:endParaRPr lang="en-US" sz="3800" dirty="0"/>
          </a:p>
        </p:txBody>
      </p:sp>
      <p:sp>
        <p:nvSpPr>
          <p:cNvPr id="6" name="Shape 4"/>
          <p:cNvSpPr/>
          <p:nvPr/>
        </p:nvSpPr>
        <p:spPr>
          <a:xfrm>
            <a:off x="822960" y="2514600"/>
            <a:ext cx="914400" cy="0"/>
          </a:xfrm>
          <a:prstGeom prst="line">
            <a:avLst/>
          </a:prstGeom>
          <a:noFill/>
          <a:ln w="31750">
            <a:solidFill>
              <a:srgbClr val="8C3A38"/>
            </a:solidFill>
            <a:prstDash val="solid"/>
          </a:ln>
        </p:spPr>
      </p:sp>
      <p:sp>
        <p:nvSpPr>
          <p:cNvPr id="7" name="Text 5"/>
          <p:cNvSpPr/>
          <p:nvPr/>
        </p:nvSpPr>
        <p:spPr>
          <a:xfrm>
            <a:off x="822960" y="2743200"/>
            <a:ext cx="9875520" cy="1920240"/>
          </a:xfrm>
          <a:prstGeom prst="rect">
            <a:avLst/>
          </a:prstGeom>
          <a:noFill/>
          <a:ln/>
        </p:spPr>
        <p:txBody>
          <a:bodyPr wrap="square" lIns="0" tIns="0" rIns="0" bIns="0" rtlCol="0" anchor="t"/>
          <a:lstStyle/>
          <a:p>
            <a:pPr indent="0" marL="0">
              <a:lnSpc>
                <a:spcPts val="2800"/>
              </a:lnSpc>
              <a:buNone/>
            </a:pPr>
            <a:r>
              <a:rPr lang="en-US" sz="2000" dirty="0">
                <a:solidFill>
                  <a:srgbClr val="24313F"/>
                </a:solidFill>
                <a:latin typeface="Georgia" pitchFamily="34" charset="0"/>
                <a:ea typeface="Georgia" pitchFamily="34" charset="-122"/>
                <a:cs typeface="Georgia" pitchFamily="34" charset="-120"/>
              </a:rPr>
              <a:t>Open the WS 6.4 diaries next to the drafts. Every entry in the decisions and consequences columns is already a reflection sentence: decided X because Y, consequence Z. This is why the lock's rule was documented decisions, not silent swaps. Transcribe the three best into the drafts.</a:t>
            </a:r>
            <a:endParaRPr lang="en-US" sz="2000" dirty="0"/>
          </a:p>
        </p:txBody>
      </p:sp>
      <p:sp>
        <p:nvSpPr>
          <p:cNvPr id="8" name="Shape 6"/>
          <p:cNvSpPr/>
          <p:nvPr/>
        </p:nvSpPr>
        <p:spPr>
          <a:xfrm>
            <a:off x="822960" y="4846320"/>
            <a:ext cx="10543032" cy="777240"/>
          </a:xfrm>
          <a:prstGeom prst="rect">
            <a:avLst/>
          </a:prstGeom>
          <a:solidFill>
            <a:srgbClr val="E8EFE7"/>
          </a:solidFill>
          <a:ln/>
        </p:spPr>
      </p:sp>
      <p:sp>
        <p:nvSpPr>
          <p:cNvPr id="9" name="Text 7"/>
          <p:cNvSpPr/>
          <p:nvPr/>
        </p:nvSpPr>
        <p:spPr>
          <a:xfrm>
            <a:off x="1097280" y="4846320"/>
            <a:ext cx="9994392" cy="777240"/>
          </a:xfrm>
          <a:prstGeom prst="rect">
            <a:avLst/>
          </a:prstGeom>
          <a:noFill/>
          <a:ln/>
        </p:spPr>
        <p:txBody>
          <a:bodyPr wrap="square" lIns="0" tIns="0" rIns="0" bIns="0" rtlCol="0" anchor="ctr"/>
          <a:lstStyle/>
          <a:p>
            <a:pPr indent="0" marL="0">
              <a:buNone/>
            </a:pPr>
            <a:r>
              <a:rPr lang="en-US" sz="1900" i="1" dirty="0">
                <a:solidFill>
                  <a:srgbClr val="4A6B5D"/>
                </a:solidFill>
                <a:latin typeface="Georgia" pitchFamily="34" charset="0"/>
                <a:ea typeface="Georgia" pitchFamily="34" charset="-122"/>
                <a:cs typeface="Georgia" pitchFamily="34" charset="-120"/>
              </a:rPr>
              <a:t>Decided X, because Y. Consequence: Z.</a:t>
            </a:r>
            <a:endParaRPr lang="en-US" sz="1900" dirty="0"/>
          </a:p>
        </p:txBody>
      </p:sp>
      <p:sp>
        <p:nvSpPr>
          <p:cNvPr id="10" name="Shape 8"/>
          <p:cNvSpPr/>
          <p:nvPr/>
        </p:nvSpPr>
        <p:spPr>
          <a:xfrm>
            <a:off x="822960" y="6382512"/>
            <a:ext cx="10543032" cy="0"/>
          </a:xfrm>
          <a:prstGeom prst="line">
            <a:avLst/>
          </a:prstGeom>
          <a:noFill/>
          <a:ln w="9525">
            <a:solidFill>
              <a:srgbClr val="D9D4C4"/>
            </a:solidFill>
            <a:prstDash val="solid"/>
          </a:ln>
        </p:spPr>
      </p:sp>
      <p:sp>
        <p:nvSpPr>
          <p:cNvPr id="11"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2"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828800"/>
            <a:ext cx="10424160" cy="2194560"/>
          </a:xfrm>
          <a:prstGeom prst="rect">
            <a:avLst/>
          </a:prstGeom>
          <a:noFill/>
          <a:ln/>
        </p:spPr>
        <p:txBody>
          <a:bodyPr wrap="square" lIns="0" tIns="0" rIns="0" bIns="0" rtlCol="0" anchor="ctr"/>
          <a:lstStyle/>
          <a:p>
            <a:pPr indent="0" marL="0">
              <a:lnSpc>
                <a:spcPts val="6000"/>
              </a:lnSpc>
              <a:buNone/>
            </a:pPr>
            <a:r>
              <a:rPr lang="en-US" sz="5400" dirty="0">
                <a:solidFill>
                  <a:srgbClr val="24313F"/>
                </a:solidFill>
                <a:latin typeface="Georgia" pitchFamily="34" charset="0"/>
                <a:ea typeface="Georgia" pitchFamily="34" charset="-122"/>
                <a:cs typeface="Georgia" pitchFamily="34" charset="-120"/>
              </a:rPr>
              <a:t>To see oursels</a:t>
            </a:r>
            <a:endParaRPr lang="en-US" sz="5400" dirty="0"/>
          </a:p>
          <a:p>
            <a:pPr indent="0" marL="0">
              <a:lnSpc>
                <a:spcPts val="6000"/>
              </a:lnSpc>
              <a:buNone/>
            </a:pPr>
            <a:r>
              <a:rPr lang="en-US" sz="5400" dirty="0">
                <a:solidFill>
                  <a:srgbClr val="24313F"/>
                </a:solidFill>
                <a:latin typeface="Georgia" pitchFamily="34" charset="0"/>
                <a:ea typeface="Georgia" pitchFamily="34" charset="-122"/>
                <a:cs typeface="Georgia" pitchFamily="34" charset="-120"/>
              </a:rPr>
              <a:t>as ithers see us.</a:t>
            </a:r>
            <a:endParaRPr lang="en-US" sz="5400" dirty="0"/>
          </a:p>
        </p:txBody>
      </p:sp>
      <p:sp>
        <p:nvSpPr>
          <p:cNvPr id="4" name="Shape 2"/>
          <p:cNvSpPr/>
          <p:nvPr/>
        </p:nvSpPr>
        <p:spPr>
          <a:xfrm>
            <a:off x="822960" y="4754880"/>
            <a:ext cx="914400" cy="0"/>
          </a:xfrm>
          <a:prstGeom prst="line">
            <a:avLst/>
          </a:prstGeom>
          <a:noFill/>
          <a:ln w="31750">
            <a:solidFill>
              <a:srgbClr val="8C3A38"/>
            </a:solidFill>
            <a:prstDash val="solid"/>
          </a:ln>
        </p:spPr>
      </p:sp>
      <p:sp>
        <p:nvSpPr>
          <p:cNvPr id="5" name="Text 3"/>
          <p:cNvSpPr/>
          <p:nvPr/>
        </p:nvSpPr>
        <p:spPr>
          <a:xfrm>
            <a:off x="822960" y="4937760"/>
            <a:ext cx="1024128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Robert Burns, To a Louse, 1786   ·   to see ourselves as others see us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SENTENCE SURGERY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RUN THE TEST ON YOUR OWN DRAFT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One sentence, operated on</a:t>
            </a:r>
            <a:endParaRPr lang="en-US" sz="3400" dirty="0"/>
          </a:p>
        </p:txBody>
      </p:sp>
      <p:sp>
        <p:nvSpPr>
          <p:cNvPr id="6" name="Text 4"/>
          <p:cNvSpPr/>
          <p:nvPr/>
        </p:nvSpPr>
        <p:spPr>
          <a:xfrm>
            <a:off x="822960" y="1965960"/>
            <a:ext cx="4846320" cy="365760"/>
          </a:xfrm>
          <a:prstGeom prst="rect">
            <a:avLst/>
          </a:prstGeom>
          <a:noFill/>
          <a:ln/>
        </p:spPr>
        <p:txBody>
          <a:bodyPr wrap="square" lIns="0" tIns="0" rIns="0" bIns="0" rtlCol="0" anchor="ctr"/>
          <a:lstStyle/>
          <a:p>
            <a:pPr indent="0" marL="0">
              <a:buNone/>
            </a:pPr>
            <a:r>
              <a:rPr lang="en-US" sz="1100" b="1" spc="150" kern="0" dirty="0">
                <a:solidFill>
                  <a:srgbClr val="7A7F72"/>
                </a:solidFill>
                <a:latin typeface="Arial" pitchFamily="34" charset="0"/>
                <a:ea typeface="Arial" pitchFamily="34" charset="-122"/>
                <a:cs typeface="Arial" pitchFamily="34" charset="-120"/>
              </a:rPr>
              <a:t>BEFORE  ·  describes</a:t>
            </a:r>
            <a:endParaRPr lang="en-US" sz="1100" dirty="0"/>
          </a:p>
        </p:txBody>
      </p:sp>
      <p:sp>
        <p:nvSpPr>
          <p:cNvPr id="7" name="Shape 5"/>
          <p:cNvSpPr/>
          <p:nvPr/>
        </p:nvSpPr>
        <p:spPr>
          <a:xfrm>
            <a:off x="822960" y="2331720"/>
            <a:ext cx="4846320" cy="1554480"/>
          </a:xfrm>
          <a:prstGeom prst="rect">
            <a:avLst/>
          </a:prstGeom>
          <a:solidFill>
            <a:srgbClr val="FAF8F1"/>
          </a:solidFill>
          <a:ln w="12700">
            <a:solidFill>
              <a:srgbClr val="D9D4C4"/>
            </a:solidFill>
            <a:prstDash val="solid"/>
          </a:ln>
        </p:spPr>
      </p:sp>
      <p:sp>
        <p:nvSpPr>
          <p:cNvPr id="8" name="Text 6"/>
          <p:cNvSpPr/>
          <p:nvPr/>
        </p:nvSpPr>
        <p:spPr>
          <a:xfrm>
            <a:off x="1051560" y="2468880"/>
            <a:ext cx="4389120" cy="1280160"/>
          </a:xfrm>
          <a:prstGeom prst="rect">
            <a:avLst/>
          </a:prstGeom>
          <a:noFill/>
          <a:ln/>
        </p:spPr>
        <p:txBody>
          <a:bodyPr wrap="square" lIns="0" tIns="0" rIns="0" bIns="0" rtlCol="0" anchor="t"/>
          <a:lstStyle/>
          <a:p>
            <a:pPr indent="0" marL="0">
              <a:lnSpc>
                <a:spcPts val="2300"/>
              </a:lnSpc>
              <a:buNone/>
            </a:pPr>
            <a:r>
              <a:rPr lang="en-US" sz="1700" dirty="0">
                <a:solidFill>
                  <a:srgbClr val="7A7F72"/>
                </a:solidFill>
                <a:latin typeface="Georgia" pitchFamily="34" charset="0"/>
                <a:ea typeface="Georgia" pitchFamily="34" charset="-122"/>
                <a:cs typeface="Georgia" pitchFamily="34" charset="-120"/>
              </a:rPr>
              <a:t>We filmed the scene in the car park and then edited it together.</a:t>
            </a:r>
            <a:endParaRPr lang="en-US" sz="1700" dirty="0"/>
          </a:p>
        </p:txBody>
      </p:sp>
      <p:sp>
        <p:nvSpPr>
          <p:cNvPr id="9" name="Text 7"/>
          <p:cNvSpPr/>
          <p:nvPr/>
        </p:nvSpPr>
        <p:spPr>
          <a:xfrm>
            <a:off x="5760720" y="2651760"/>
            <a:ext cx="548640" cy="914400"/>
          </a:xfrm>
          <a:prstGeom prst="rect">
            <a:avLst/>
          </a:prstGeom>
          <a:noFill/>
          <a:ln/>
        </p:spPr>
        <p:txBody>
          <a:bodyPr wrap="square" lIns="0" tIns="0" rIns="0" bIns="0" rtlCol="0" anchor="ctr"/>
          <a:lstStyle/>
          <a:p>
            <a:pPr algn="ctr" indent="0" marL="0">
              <a:buNone/>
            </a:pPr>
            <a:r>
              <a:rPr lang="en-US" sz="3400" dirty="0">
                <a:solidFill>
                  <a:srgbClr val="A3C1AD"/>
                </a:solidFill>
                <a:latin typeface="Georgia" pitchFamily="34" charset="0"/>
                <a:ea typeface="Georgia" pitchFamily="34" charset="-122"/>
                <a:cs typeface="Georgia" pitchFamily="34" charset="-120"/>
              </a:rPr>
              <a:t>→</a:t>
            </a:r>
            <a:endParaRPr lang="en-US" sz="3400" dirty="0"/>
          </a:p>
        </p:txBody>
      </p:sp>
      <p:sp>
        <p:nvSpPr>
          <p:cNvPr id="10" name="Text 8"/>
          <p:cNvSpPr/>
          <p:nvPr/>
        </p:nvSpPr>
        <p:spPr>
          <a:xfrm>
            <a:off x="6492240" y="1965960"/>
            <a:ext cx="4846320" cy="365760"/>
          </a:xfrm>
          <a:prstGeom prst="rect">
            <a:avLst/>
          </a:prstGeom>
          <a:noFill/>
          <a:ln/>
        </p:spPr>
        <p:txBody>
          <a:bodyPr wrap="square" lIns="0" tIns="0" rIns="0" bIns="0" rtlCol="0" anchor="ctr"/>
          <a:lstStyle/>
          <a:p>
            <a:pPr indent="0" marL="0">
              <a:buNone/>
            </a:pPr>
            <a:r>
              <a:rPr lang="en-US" sz="1100" b="1" spc="150" kern="0" dirty="0">
                <a:solidFill>
                  <a:srgbClr val="4A6B5D"/>
                </a:solidFill>
                <a:latin typeface="Arial" pitchFamily="34" charset="0"/>
                <a:ea typeface="Arial" pitchFamily="34" charset="-122"/>
                <a:cs typeface="Arial" pitchFamily="34" charset="-120"/>
              </a:rPr>
              <a:t>AFTER  ·  reflects</a:t>
            </a:r>
            <a:endParaRPr lang="en-US" sz="1100" dirty="0"/>
          </a:p>
        </p:txBody>
      </p:sp>
      <p:sp>
        <p:nvSpPr>
          <p:cNvPr id="11" name="Shape 9"/>
          <p:cNvSpPr/>
          <p:nvPr/>
        </p:nvSpPr>
        <p:spPr>
          <a:xfrm>
            <a:off x="6492240" y="2331720"/>
            <a:ext cx="4846320" cy="1554480"/>
          </a:xfrm>
          <a:prstGeom prst="rect">
            <a:avLst/>
          </a:prstGeom>
          <a:solidFill>
            <a:srgbClr val="E8EFE7"/>
          </a:solidFill>
          <a:ln w="12700">
            <a:solidFill>
              <a:srgbClr val="8AA394"/>
            </a:solidFill>
            <a:prstDash val="solid"/>
          </a:ln>
        </p:spPr>
      </p:sp>
      <p:sp>
        <p:nvSpPr>
          <p:cNvPr id="12" name="Text 10"/>
          <p:cNvSpPr/>
          <p:nvPr/>
        </p:nvSpPr>
        <p:spPr>
          <a:xfrm>
            <a:off x="6720840" y="2450592"/>
            <a:ext cx="4434840" cy="1371600"/>
          </a:xfrm>
          <a:prstGeom prst="rect">
            <a:avLst/>
          </a:prstGeom>
          <a:noFill/>
          <a:ln/>
        </p:spPr>
        <p:txBody>
          <a:bodyPr wrap="square" lIns="0" tIns="0" rIns="0" bIns="0" rtlCol="0" anchor="t"/>
          <a:lstStyle/>
          <a:p>
            <a:pPr indent="0" marL="0">
              <a:lnSpc>
                <a:spcPts val="2000"/>
              </a:lnSpc>
              <a:buNone/>
            </a:pPr>
            <a:r>
              <a:rPr lang="en-US" sz="1550" dirty="0">
                <a:solidFill>
                  <a:srgbClr val="24313F"/>
                </a:solidFill>
                <a:latin typeface="Georgia" pitchFamily="34" charset="0"/>
                <a:ea typeface="Georgia" pitchFamily="34" charset="-122"/>
                <a:cs typeface="Georgia" pitchFamily="34" charset="-120"/>
              </a:rPr>
              <a:t>We chose the car park because it was the only free location, and the flat light shows in the grade; next time we would scout for contrast.</a:t>
            </a:r>
            <a:endParaRPr lang="en-US" sz="1550" dirty="0"/>
          </a:p>
        </p:txBody>
      </p:sp>
      <p:sp>
        <p:nvSpPr>
          <p:cNvPr id="13" name="Text 11"/>
          <p:cNvSpPr/>
          <p:nvPr/>
        </p:nvSpPr>
        <p:spPr>
          <a:xfrm>
            <a:off x="822960" y="4297680"/>
            <a:ext cx="10543032" cy="457200"/>
          </a:xfrm>
          <a:prstGeom prst="rect">
            <a:avLst/>
          </a:prstGeom>
          <a:noFill/>
          <a:ln/>
        </p:spPr>
        <p:txBody>
          <a:bodyPr wrap="square" lIns="0" tIns="0" rIns="0" bIns="0" rtlCol="0" anchor="ctr"/>
          <a:lstStyle/>
          <a:p>
            <a:pPr indent="0" marL="0">
              <a:buNone/>
            </a:pPr>
            <a:r>
              <a:rPr lang="en-US" sz="1700" i="1" dirty="0">
                <a:solidFill>
                  <a:srgbClr val="4A6B5D"/>
                </a:solidFill>
                <a:latin typeface="Georgia" pitchFamily="34" charset="0"/>
                <a:ea typeface="Georgia" pitchFamily="34" charset="-122"/>
                <a:cs typeface="Georgia" pitchFamily="34" charset="-120"/>
              </a:rPr>
              <a:t>Same event. One names a decision, a reason, and a change. That is the whole surgery.</a:t>
            </a:r>
            <a:endParaRPr lang="en-US" sz="170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CS7</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DIRECT PRACTICE FOR A3</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Reviewed against the real C1 criteria</a:t>
            </a:r>
            <a:endParaRPr lang="en-US" sz="3200" dirty="0"/>
          </a:p>
        </p:txBody>
      </p:sp>
      <p:sp>
        <p:nvSpPr>
          <p:cNvPr id="6" name="Shape 4"/>
          <p:cNvSpPr/>
          <p:nvPr/>
        </p:nvSpPr>
        <p:spPr>
          <a:xfrm>
            <a:off x="822960" y="2423160"/>
            <a:ext cx="914400" cy="0"/>
          </a:xfrm>
          <a:prstGeom prst="line">
            <a:avLst/>
          </a:prstGeom>
          <a:noFill/>
          <a:ln w="31750">
            <a:solidFill>
              <a:srgbClr val="8C3A38"/>
            </a:solidFill>
            <a:prstDash val="solid"/>
          </a:ln>
        </p:spPr>
      </p:sp>
      <p:sp>
        <p:nvSpPr>
          <p:cNvPr id="7" name="Text 5"/>
          <p:cNvSpPr/>
          <p:nvPr/>
        </p:nvSpPr>
        <p:spPr>
          <a:xfrm>
            <a:off x="822960" y="2651760"/>
            <a:ext cx="9875520" cy="2103120"/>
          </a:xfrm>
          <a:prstGeom prst="rect">
            <a:avLst/>
          </a:prstGeom>
          <a:noFill/>
          <a:ln/>
        </p:spPr>
        <p:txBody>
          <a:bodyPr wrap="square" lIns="0" tIns="0" rIns="0" bIns="0" rtlCol="0" anchor="t"/>
          <a:lstStyle/>
          <a:p>
            <a:pPr indent="0" marL="0">
              <a:lnSpc>
                <a:spcPts val="2700"/>
              </a:lnSpc>
              <a:buNone/>
            </a:pPr>
            <a:r>
              <a:rPr lang="en-US" sz="1900" dirty="0">
                <a:solidFill>
                  <a:srgbClr val="24313F"/>
                </a:solidFill>
                <a:latin typeface="Georgia" pitchFamily="34" charset="0"/>
                <a:ea typeface="Georgia" pitchFamily="34" charset="-122"/>
                <a:cs typeface="Georgia" pitchFamily="34" charset="-120"/>
              </a:rPr>
              <a:t>Full drafts reviewed by teacher and peers in the C1 criteria's own language: describe, question, suggest. Every draft leaves with a written action list. The format is chosen by Friday from the coursebook menu, director's commentary, voiceover, podcast, or screencast, and presented creatively using technology is a requirement, not a suggestion.</a:t>
            </a:r>
            <a:endParaRPr lang="en-US" sz="1900" dirty="0"/>
          </a:p>
        </p:txBody>
      </p:sp>
      <p:sp>
        <p:nvSpPr>
          <p:cNvPr id="8" name="Text 6"/>
          <p:cNvSpPr/>
          <p:nvPr/>
        </p:nvSpPr>
        <p:spPr>
          <a:xfrm>
            <a:off x="822960" y="4892040"/>
            <a:ext cx="987552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This cohort's CCR is the blog-era, four-question, creative-format artifact, coursebook 6.7.</a:t>
            </a:r>
            <a:endParaRPr lang="en-US" sz="1300" dirty="0"/>
          </a:p>
        </p:txBody>
      </p:sp>
      <p:sp>
        <p:nvSpPr>
          <p:cNvPr id="9" name="Shape 7"/>
          <p:cNvSpPr/>
          <p:nvPr/>
        </p:nvSpPr>
        <p:spPr>
          <a:xfrm>
            <a:off x="822960" y="6382512"/>
            <a:ext cx="10543032" cy="0"/>
          </a:xfrm>
          <a:prstGeom prst="line">
            <a:avLst/>
          </a:prstGeom>
          <a:noFill/>
          <a:ln w="9525">
            <a:solidFill>
              <a:srgbClr val="D9D4C4"/>
            </a:solidFill>
            <a:prstDash val="solid"/>
          </a:ln>
        </p:spPr>
      </p:sp>
      <p:sp>
        <p:nvSpPr>
          <p:cNvPr id="10"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1"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424160" cy="1920240"/>
          </a:xfrm>
          <a:prstGeom prst="rect">
            <a:avLst/>
          </a:prstGeom>
          <a:noFill/>
          <a:ln/>
        </p:spPr>
        <p:txBody>
          <a:bodyPr wrap="square" lIns="0" tIns="0" rIns="0" bIns="0" rtlCol="0" anchor="t"/>
          <a:lstStyle/>
          <a:p>
            <a:pPr indent="0" marL="0">
              <a:lnSpc>
                <a:spcPts val="5200"/>
              </a:lnSpc>
              <a:buNone/>
            </a:pPr>
            <a:r>
              <a:rPr lang="en-US" sz="4800" dirty="0">
                <a:solidFill>
                  <a:srgbClr val="FAF8F1"/>
                </a:solidFill>
                <a:latin typeface="Georgia" pitchFamily="34" charset="0"/>
                <a:ea typeface="Georgia" pitchFamily="34" charset="-122"/>
                <a:cs typeface="Georgia" pitchFamily="34" charset="-120"/>
              </a:rPr>
              <a:t>Audiences, and the</a:t>
            </a:r>
            <a:endParaRPr lang="en-US" sz="4800" dirty="0"/>
          </a:p>
          <a:p>
            <a:pPr indent="0" marL="0">
              <a:lnSpc>
                <a:spcPts val="5200"/>
              </a:lnSpc>
              <a:buNone/>
            </a:pPr>
            <a:r>
              <a:rPr lang="en-US" sz="4800" dirty="0">
                <a:solidFill>
                  <a:srgbClr val="FAF8F1"/>
                </a:solidFill>
                <a:latin typeface="Georgia" pitchFamily="34" charset="0"/>
                <a:ea typeface="Georgia" pitchFamily="34" charset="-122"/>
                <a:cs typeface="Georgia" pitchFamily="34" charset="-120"/>
              </a:rPr>
              <a:t>Portfolio Submission</a:t>
            </a:r>
            <a:endParaRPr lang="en-US" sz="4800" dirty="0"/>
          </a:p>
        </p:txBody>
      </p:sp>
      <p:sp>
        <p:nvSpPr>
          <p:cNvPr id="5" name="Text 3"/>
          <p:cNvSpPr/>
          <p:nvPr/>
        </p:nvSpPr>
        <p:spPr>
          <a:xfrm>
            <a:off x="822960" y="4846320"/>
            <a:ext cx="987552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Lesson 11. The Component 1 arc closes: A3 goes in, with no edits after.</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2026-07-25T04:00:22Z</dcterms:created>
  <dcterms:modified xsi:type="dcterms:W3CDTF">2026-07-25T04:00:22Z</dcterms:modified>
</cp:coreProperties>
</file>