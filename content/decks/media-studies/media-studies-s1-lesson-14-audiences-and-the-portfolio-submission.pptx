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Component 1 arc closes. Audience theory begins on schedule, but the week bends around Friday: A3 goes in, no edits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Audiences do things with media; media does not simply do things to audiences. That reversal is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cells are the plan's own D1 texts: a Super Bowl half-time show (US Department of Defense photograph, public domain), a niche YouTube restoration channel, a K-pop comeback teaser (thumbnails credited in CREDITS). A CCTV-gala or bilibili parallel can be taken orally as an aside; the taught set stays exam-eligible.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each model fairly before limiting it; the limit lands harder that way. Cultivation gets its due: long-horizon worldview effects are the version that survives scrutiny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BARB is the UK's audience measurement body; the figures are seven-day consolidated audiences. Use the bars to ask: who pays for each of these audiences, and what would an advertiser pay to reach each one?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Photographs are Unsplash, credited in CREDITS: Gariev (diversion), Balakrishnan (relationships), Ciprian (identity), Brunxs (surveillance). Each cell shows the practice, not a text: the theory is about what people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Swapped 2026-08-24: was Daumier's theatre crowd. Frank's drive-in is a media audience, mid-century mass culture photographed from inside. Daumier's plate stays in img/ for rollback.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Swapped 2026-08-24: was Manet's A Good Glass of Beer (kept in img/ for rollback; its diversion reading is still apt if wanted). WS 5.2 is the plan's own D5 option and shows students the instrument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Coursebook 5.3 names Hall's three readings, Jenkins's participatory culture (poaching) and Shirky (audiences speak back). Claims stated as taught claims, not quotations.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Coursebook 6.7's screening-feedback activity runs on two volunteers' near-final products before the triage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is a protocol, not an event: the checklist is walked once, calmly, and the room leaves with nothing 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A3 marking runs on the register's corrected economy: 50 marks, AO3 40 + AO2 10, nothing scaled.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822960"/>
            <a:ext cx="4480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Audiences and the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Submission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Contexts · Lesson 14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days  ·  Monday 23 November to Tuesday 1 December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0" y="640080"/>
            <a:ext cx="48463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XIV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people do</a:t>
            </a:r>
            <a:endParaRPr lang="en-US" sz="5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media.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IT FOR?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IS ALMOST ALWAYS WRONG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Mass, niche, target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246120" cy="20116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halftime-do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1682496"/>
            <a:ext cx="2633472" cy="17556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97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Super Bowl half-time show: aimed at everyone at once, and priced that way.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71416" y="1554480"/>
            <a:ext cx="3246120" cy="20116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2" name="Image 1" descr="/Users/dogan/Documents/Vaults/Courses/wiki/classes/media-studies/decks/_build/img/yt-restora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719358"/>
            <a:ext cx="2990088" cy="16819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1416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Niche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471416" y="416052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71416" y="4297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restoration channel: a small interest group that finds the text by itself.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119872" y="1554480"/>
            <a:ext cx="3246120" cy="201168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7" name="Image 2" descr="/Users/dogan/Documents/Vaults/Courses/wiki/classes/media-studies/decks/_build/img/yt-kp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19358"/>
            <a:ext cx="2990088" cy="16819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19872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8119872" y="416052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119872" y="429768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comeback teaser: a precise profile of age, taste, and platform. This is what advertisers pay for.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22960" y="57150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Corners: mass, niche, target, or undecided. Move, then defend your corner.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Demographics: who the audience is. Psychographics: what the audience wants.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attention to what the media do to people and more to what people do with the media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Elihu Katz, 1959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asking only how media changes people. Ask what people use media for.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EFFECTS MODELS, STATED FAIRLY THEN LIMITED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CANNOT EXPLAIN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models, and their edges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Hypodermic: media injects a message and the audience absorbs it. Cultivation: heavy exposure slowly shapes a worldview.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limit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horror fan who sleeps fine. The ad seen a hundred times that never sold anything. Audiences are not needles waiting to be filled.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counter-evidence. An example that survives the room's challenge earns a point.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WEEK OF WATCHING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IS SMALLER THAN IT SOUNDS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week's biggest audiences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Race Across the World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34840" y="16459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 One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60720" y="1709928"/>
            <a:ext cx="4756709" cy="329184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9" name="Text 7"/>
          <p:cNvSpPr/>
          <p:nvPr/>
        </p:nvSpPr>
        <p:spPr>
          <a:xfrm>
            <a:off x="10563149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5.78m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Years On Planet Earth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34840" y="2157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 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2221992"/>
            <a:ext cx="3892601" cy="329184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699041" y="21579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4.73m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70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Believe Me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434840" y="26700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ITV1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734056"/>
            <a:ext cx="3365906" cy="329184"/>
          </a:xfrm>
          <a:prstGeom prst="rect">
            <a:avLst/>
          </a:prstGeom>
          <a:solidFill>
            <a:srgbClr val="8C3A38"/>
          </a:solidFill>
          <a:ln/>
        </p:spPr>
      </p:sp>
      <p:sp>
        <p:nvSpPr>
          <p:cNvPr id="17" name="Text 15"/>
          <p:cNvSpPr/>
          <p:nvPr/>
        </p:nvSpPr>
        <p:spPr>
          <a:xfrm>
            <a:off x="9172346" y="2670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4.09m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Britain's Got Talent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34840" y="3182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ITV1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3246120"/>
            <a:ext cx="3094330" cy="329184"/>
          </a:xfrm>
          <a:prstGeom prst="rect">
            <a:avLst/>
          </a:prstGeom>
          <a:solidFill>
            <a:srgbClr val="8C3A38"/>
          </a:solidFill>
          <a:ln/>
        </p:spPr>
      </p:sp>
      <p:sp>
        <p:nvSpPr>
          <p:cNvPr id="21" name="Text 19"/>
          <p:cNvSpPr/>
          <p:nvPr/>
        </p:nvSpPr>
        <p:spPr>
          <a:xfrm>
            <a:off x="8900770" y="31821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3.76m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6941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Amandaland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34840" y="36941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 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60720" y="3758184"/>
            <a:ext cx="2979115" cy="329184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25" name="Text 23"/>
          <p:cNvSpPr/>
          <p:nvPr/>
        </p:nvSpPr>
        <p:spPr>
          <a:xfrm>
            <a:off x="8785555" y="36941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Cage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3484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BBC One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60720" y="4270248"/>
            <a:ext cx="2501798" cy="329184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29" name="Text 27"/>
          <p:cNvSpPr/>
          <p:nvPr/>
        </p:nvSpPr>
        <p:spPr>
          <a:xfrm>
            <a:off x="8308238" y="4206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3.04m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471830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 Service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434840" y="471830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ITV1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4782312"/>
            <a:ext cx="2501798" cy="329184"/>
          </a:xfrm>
          <a:prstGeom prst="rect">
            <a:avLst/>
          </a:prstGeom>
          <a:solidFill>
            <a:srgbClr val="8C3A38"/>
          </a:solidFill>
          <a:ln/>
        </p:spPr>
      </p:sp>
      <p:sp>
        <p:nvSpPr>
          <p:cNvPr id="33" name="Text 31"/>
          <p:cNvSpPr/>
          <p:nvPr/>
        </p:nvSpPr>
        <p:spPr>
          <a:xfrm>
            <a:off x="8308238" y="47183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3.04m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5367528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504688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 (UK audience measurement), week of 4 to 10 May 2026, via TVZone.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biggest program of the week reached less than a tenth of the country. Mass is relative.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BLUMLER AND KATZ · USES AND GRATIFICATIONS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AS ACTIVE CHOOSERS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jobs we need media to do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377440" cy="2084832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grat-divers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25396"/>
            <a:ext cx="2194560" cy="1234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1691640"/>
            <a:ext cx="2482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337560" y="2167128"/>
            <a:ext cx="24825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Escape and release: from routine, from problems, into feeling.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68796" y="1600200"/>
            <a:ext cx="2377440" cy="2084832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Users/dogan/Documents/Vaults/Courses/wiki/classes/media-studies/decks/_build/img/grat-rela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1910639"/>
            <a:ext cx="2194560" cy="14639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83396" y="1691640"/>
            <a:ext cx="2482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relationships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883396" y="2167128"/>
            <a:ext cx="24825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and connection: characters as friends, shared talk with real ones.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2377440" cy="2084832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Users/dogan/Documents/Vaults/Courses/wiki/classes/media-studies/decks/_build/img/grat-identit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36415"/>
            <a:ext cx="2194560" cy="15672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4069080"/>
            <a:ext cx="2482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identity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3337560" y="4544568"/>
            <a:ext cx="24825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mirror: comparing your own life and values against what you watch.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368796" y="3977640"/>
            <a:ext cx="2377440" cy="2084832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3" descr="/Users/dogan/Documents/Vaults/Courses/wiki/classes/media-studies/decks/_build/img/grat-surveil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4288079"/>
            <a:ext cx="2194560" cy="14639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83396" y="4069080"/>
            <a:ext cx="24825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Surveillance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8883396" y="4544568"/>
            <a:ext cx="24825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Information: knowing what is happening, in the world and your world.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frank-drivein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AUDIENCE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Parked in the dark, arranged around a screen, doing the watching. An audience is never blank or passive.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Frank, Drive-in movie, Detroit, 1955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L01 LOG'S DESCENDANT, WITH THEORY ATTACHED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week, mapped onto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gratifications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your real weekly media use onto the four gratifications.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 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honesty. The comfort re-watch and the 2 a.m. scroll are data, not confessions.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 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gratification does your own C1 product serve? How would you know if it worked?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051560"/>
            <a:ext cx="3749040" cy="466344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0" descr="/Users/dogan/Documents/Vaults/Courses/wiki/classes/media-studies/decks/_build/img/ws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36" y="2149004"/>
            <a:ext cx="3493008" cy="24685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0" y="5760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5.2, Technology and self: the body-map option for the honest map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formerly known as the audience wish to inform media people of our existence, and of a shift in power that goes with the platform shift.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Rosen, PressThink, 2006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Audiences can now publish too. The old one-way power of media companies has shifted.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AUDIENCES SPEAK 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COURSEBOOK'S OWN ROSTER, 5.3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claims to carry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 is finished in the audience: dominant, negotiated, oppositional. You met this at L11; it is the floor of audience theory.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71416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Jenkins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71416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Participatory culture: fans borrow, remix, and build on texts (Jenkins calls it poaching). The audience is a workshop, not a hall.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19872" y="2057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Shirky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19872" y="260604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788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Audiences produce: publishing is now a button, so the line between audience and maker is a choice, not a wall.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2578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4406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C1 blog proves the claim: you are an audience member who published. Say so in your CCR.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HELP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ORDER, NOT HAND-RAISING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CCR surgery, by triage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 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double period is the last help before submission.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 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Ordered by CS11 severity, not by raised hands. Everyone is seen.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  </a:t>
            </a:r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visit ends with one fix done, not promised. Friday is logistics only.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27 NOVEMBER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goes in.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edits after.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exported and playable, CCR posted, blog complete and dated, URLs logged. A3 in Friday 27 November. No edits after is in the register, and it is absolute.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RETURN, AND THE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SELF-BAND BEFORE THE MARK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 back, one target forward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Self-band first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 your own portfolio against the C1 criteria before you see the mark. The gap between the two bands is the conversation.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target (LB4)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306324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and achievable in S2: “hold focus in low light” beats “get better at filming.”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announced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429768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Wednesday 16 December, Component 2 Section A. Today is the last session that clears the notice window.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Institutions and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A Craft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15. Morley, ownership, and Section A with the mark scheme open.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2026-08-25T03:26:36Z</dcterms:created>
  <dcterms:modified xsi:type="dcterms:W3CDTF">2026-08-25T03:26:36Z</dcterms:modified>
</cp:coreProperties>
</file>