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Component 1 arc closes. Audience theory begins on schedule, but the week bends around Friday: A3 goes in, no edits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Audiences do things with media; media does not simply do things to audiences. That reversal is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cells are the plan's own D1 texts: a Super Bowl half-time show (US Department of Defense photograph, public domain), a niche YouTube restoration channel, a K-pop comeback teaser (thumbnails credited in CREDITS). A CCTV-gala or bilibili parallel can be taken orally as an aside; the taught set stays exam-eligible.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each model fairly before limiting it; the limit lands harder that way. Cultivation gets its due: long-horizon worldview effects are the version that survives scrutiny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BARB is the UK's audience measurement body; the figures are seven-day consolidated audiences. Use the bars to ask: who pays for each of these audiences, and what would an advertiser pay to reach each 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Photographs are Unsplash, credited in CREDITS: Gariev (diversion), Balakrishnan (relationships), Ciprian (identity), Brunxs (surveillance). Each cell shows the practice, not a text: the theory is about what people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Swapped 2026-08-24: was Daumier's theatre crowd. Frank's drive-in is a media audience, mid-century mass culture photographed from inside. Daumier's plate stays in img/ for rollback.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Swapped 2026-08-24: was Manet's A Good Glass of Beer (kept in img/ for rollback; its diversion reading is still apt if wanted). WS 5.2 is the plan's own D5 option and shows students the instrument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5.3 names Hall's three readings, Jenkins's participatory culture (poaching) and Shirky (audiences speak back). Claims stated as taught claims, not quotations.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6.7's screening-feedback activity runs on two volunteers' near-final products before the triage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Submission is a protocol, not an event: the checklist is walked once, calmly, and the room leaves with nothing 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A3 marking runs on the register's corrected economy: 50 marks, AO3 40 + AO2 10, nothing scaled.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822960"/>
            <a:ext cx="44805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XIV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Audiences and the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Submission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Contexts · Lesson 14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days  ·  Monday 23 November to Tuesday 1 December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640080"/>
            <a:ext cx="48463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XIV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REVERSAL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people do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media.</a:t>
            </a:r>
            <a:endParaRPr lang="en-US" sz="5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IT FOR?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IS ALMOST ALWAYS WRONG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Mass, niche, target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3246120" cy="2011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halftime-d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" y="1682496"/>
            <a:ext cx="2633472" cy="17556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576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822960" y="416052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29768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Super Bowl half-time show: aimed at everyone at once, priced accordingly.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471416" y="1554480"/>
            <a:ext cx="3246120" cy="2011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2" name="Image 1" descr="/Users/dogan/Documents/Vaults/Courses/wiki/classes/media-studies/decks/_build/img/yt-restora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1719358"/>
            <a:ext cx="2990088" cy="16819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71416" y="36576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Niche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4471416" y="416052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71416" y="429768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restoration channel: a defined interest group that finds the text itself.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8119872" y="1554480"/>
            <a:ext cx="3246120" cy="2011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7" name="Image 2" descr="/Users/dogan/Documents/Vaults/Courses/wiki/classes/media-studies/decks/_build/img/yt-kpo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719358"/>
            <a:ext cx="2990088" cy="16819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19872" y="36576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</a:t>
            </a:r>
            <a:endParaRPr lang="en-US" sz="2400" dirty="0"/>
          </a:p>
        </p:txBody>
      </p:sp>
      <p:sp>
        <p:nvSpPr>
          <p:cNvPr id="19" name="Shape 14"/>
          <p:cNvSpPr/>
          <p:nvPr/>
        </p:nvSpPr>
        <p:spPr>
          <a:xfrm>
            <a:off x="8119872" y="416052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119872" y="429768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comeback teaser: a precise profile of age, taste and platform. What advertisers pay for.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2960" y="57150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as Four Corners: mass, niche, target, undecided; commit by moving, one corner defends. Demographics vs psychographics: who they are, versus what they want.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 attention to what the media do to people and more to what people do with the media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Elihu Katz, 1959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EFFECTS MODELS, STATED FAIRLY THEN LIMITED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CANNOT EXPLAIN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models, and their edges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Hypodermic: media injects a message and the audience absorbs it. Cultivation: heavy exposure slowly shapes a worldview.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limit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horror fan who sleeps fine. The ad seen a hundred times that never sold anything. Audiences are not needles waiting to be filled.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534924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counter-evidence log runs on myth-busting points: an example that survives the room's challenge scores.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WEEK OF WATCHING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IS SMALLER THAN IT SOUNDS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week's biggest audiences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Race Across the World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434840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BBC One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760720" y="1709928"/>
            <a:ext cx="4756709" cy="32918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9" name="Text 7"/>
          <p:cNvSpPr/>
          <p:nvPr/>
        </p:nvSpPr>
        <p:spPr>
          <a:xfrm>
            <a:off x="10563149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5.78m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1579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Years On Planet Earth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34840" y="21579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BBC One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60720" y="2221992"/>
            <a:ext cx="3892601" cy="32918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3" name="Text 11"/>
          <p:cNvSpPr/>
          <p:nvPr/>
        </p:nvSpPr>
        <p:spPr>
          <a:xfrm>
            <a:off x="9699041" y="21579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4.73m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6700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Believe Me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34840" y="26700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ITV1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60720" y="2734056"/>
            <a:ext cx="3365906" cy="329184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17" name="Text 15"/>
          <p:cNvSpPr/>
          <p:nvPr/>
        </p:nvSpPr>
        <p:spPr>
          <a:xfrm>
            <a:off x="9172346" y="2670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4.09m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31821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Britain's Got Talent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434840" y="3182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ITV1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60720" y="3246120"/>
            <a:ext cx="3094330" cy="329184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21" name="Text 19"/>
          <p:cNvSpPr/>
          <p:nvPr/>
        </p:nvSpPr>
        <p:spPr>
          <a:xfrm>
            <a:off x="8900770" y="3182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3.76m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69417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Amandaland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434840" y="36941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BBC One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760720" y="3758184"/>
            <a:ext cx="2979115" cy="32918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5" name="Text 23"/>
          <p:cNvSpPr/>
          <p:nvPr/>
        </p:nvSpPr>
        <p:spPr>
          <a:xfrm>
            <a:off x="8785555" y="369417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3.62m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2960" y="4206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Cage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434840" y="42062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BBC One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760720" y="4270248"/>
            <a:ext cx="2501798" cy="32918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9" name="Text 27"/>
          <p:cNvSpPr/>
          <p:nvPr/>
        </p:nvSpPr>
        <p:spPr>
          <a:xfrm>
            <a:off x="8308238" y="4206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3.04m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471830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Secret Service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34840" y="47183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ITV1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760720" y="4782312"/>
            <a:ext cx="2501798" cy="329184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33" name="Text 31"/>
          <p:cNvSpPr/>
          <p:nvPr/>
        </p:nvSpPr>
        <p:spPr>
          <a:xfrm>
            <a:off x="8308238" y="471830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3.04m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" y="5367528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504688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BARB, week 4 to 10 May 2026 (as reported by TVZone). The biggest programme of the week reached under a tenth of the country. Mass is relative; everything else on the dial is niche or target.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BLUMLER AND KATZ · USES AND GRATIFICATIONS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AUDIENCES AS ACTIVE CHOOSERS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jobs we need media to do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2377440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rat-divers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25396"/>
            <a:ext cx="2194560" cy="1234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337560" y="1691640"/>
            <a:ext cx="2482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Diversion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3337560" y="2167128"/>
            <a:ext cx="24825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Escape and release: from routine, from problems, into feeling.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68796" y="1600200"/>
            <a:ext cx="2377440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1" descr="/Users/dogan/Documents/Vaults/Courses/wiki/classes/media-studies/decks/_build/img/grat-rela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236" y="1910639"/>
            <a:ext cx="2194560" cy="146395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883396" y="1691640"/>
            <a:ext cx="2482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relationships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8883396" y="2167128"/>
            <a:ext cx="24825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and connection: characters as friends, shared talk with real ones.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2960" y="3977640"/>
            <a:ext cx="2377440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2" descr="/Users/dogan/Documents/Vaults/Courses/wiki/classes/media-studies/decks/_build/img/grat-identit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6415"/>
            <a:ext cx="2194560" cy="156728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37560" y="4069080"/>
            <a:ext cx="2482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identity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3337560" y="4544568"/>
            <a:ext cx="24825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mirror: comparing your own life and values against what you watch.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368796" y="3977640"/>
            <a:ext cx="2377440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9" name="Image 3" descr="/Users/dogan/Documents/Vaults/Courses/wiki/classes/media-studies/decks/_build/img/grat-survei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0236" y="4288079"/>
            <a:ext cx="2194560" cy="146395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883396" y="4069080"/>
            <a:ext cx="2482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Surveillance</a:t>
            </a:r>
            <a:endParaRPr lang="en-US" sz="1900" dirty="0"/>
          </a:p>
        </p:txBody>
      </p:sp>
      <p:sp>
        <p:nvSpPr>
          <p:cNvPr id="21" name="Text 15"/>
          <p:cNvSpPr/>
          <p:nvPr/>
        </p:nvSpPr>
        <p:spPr>
          <a:xfrm>
            <a:off x="8883396" y="4544568"/>
            <a:ext cx="24825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Information: knowing what is happening, in the world and your world.</a:t>
            </a:r>
            <a:endParaRPr lang="en-US" sz="1350" dirty="0"/>
          </a:p>
        </p:txBody>
      </p:sp>
      <p:sp>
        <p:nvSpPr>
          <p:cNvPr id="22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frank-drivein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ACTIVE AUDIENCE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Parked in the dark, arranged around a screen, doing the watching: an audience is never a blank surface.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 Frank, Drive-in movie, Detroit, 1955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L01 LOG'S DESCENDANT, WITH THEORY ATTACHED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430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week, mapped onto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gratifications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01752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 your real weekly media use onto the four jobs. The honesty rule is absolute: the comfort re-watch and the 2 a.m. scroll are data, not confessions. Then the turn inward: which gratification does your own C1 product serve, and how would you know if it worked?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589520" y="1051560"/>
            <a:ext cx="3749040" cy="4663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0" descr="/Users/dogan/Documents/Vaults/Courses/wiki/classes/media-studies/decks/_build/img/ws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36" y="2149004"/>
            <a:ext cx="3493008" cy="246855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89520" y="5760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5.2, Technology and self: the body-map option for the honest map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people formerly known as the audience wish to inform media people of our existence, and of a shift in power that goes with the platform shift.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Rosen, PressThink, 2006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AUDIENCES SPEAK 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COURSEBOOK'S OWN ROSTER, 5.3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claims to carry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 is finished in the audience: dominant, negotiated, oppositional. You met this at L11; it is the floor of audience theory.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Jenkins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Participatory culture: fans poach, remix and build on texts. The audience is a workshop, not a hall.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Shirky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Audiences produce: publishing is now a button, so the line between audience and maker is a choice, not a wall.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5257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4406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C1 blog is the proof of the claim: an audience member who published. Say so in the CCR.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HELP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ORDER, NOT HAND-RAISING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CCR surgery, by triage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double is the last room where help is available before submission. The queue is ordered by CS11 severity, not by who raises a hand: every student is seen, and the strongest drafts get peer support instead of teacher time. Each visit ends with one fix executed, not promised. Friday is logistics, not heroics.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27 NOVEMBER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goes in.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edits after.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exported and playable, CCR posted, blog complete and dated, URLs logged. A3 in Friday 27 November. No edits after is in the register, and it is absolute.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RETURN, AND THE TARGET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SELF-BAND BEFORE THE MARK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A3 back, one target forward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first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0" y="182880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bands their own portfolio against the C1 criteria before the mark; the gap is the conversation.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063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target (LB4)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14800" y="306324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Specific, evidenced, achievable in S2: hold focus in low light beats get better at filming.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97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 announced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Wednesday 16 December, Component 2 Section A. Today is the last session that clears the notice window.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" y="539496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Institutions and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A Craft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15. Morley, ownership, and Section A with the mark scheme open.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2026-08-24T08:50:03Z</dcterms:created>
  <dcterms:modified xsi:type="dcterms:W3CDTF">2026-08-24T08:50:03Z</dcterms:modified>
</cp:coreProperties>
</file>