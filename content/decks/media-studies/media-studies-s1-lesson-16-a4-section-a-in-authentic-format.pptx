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Forecast Grade anchor. Two days trace one institution end to end; Wednesday is the first authentic Section A sitting.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Lindbergh, 1927: newsreels, press syndicates, radio, records, all selling the same story to itself. The media event predates the internet by seventy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Lindbergh as the worked historical anchor: integration, synergy, and convergence visible in 1927.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822960"/>
            <a:ext cx="44805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XVI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A4: Section A in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 Format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Contexts · Lesson 16 of 19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days  ·  Monday 14 to Friday 18 December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640080"/>
            <a:ext cx="484632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XVI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MEDIA EVENT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man,</a:t>
            </a:r>
            <a:endParaRPr lang="en-US" sz="5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channel.</a:t>
            </a:r>
            <a:endParaRPr lang="en-US" sz="5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EXAM'S THREE INSTITUTION WORDS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AND SEPARATED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Integration, synergy, convergence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Owning the stages (vertical) or the neighbors (horizontal). One company holds more of the chain.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71416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Synergy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4471416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278892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parts sell each other: the film sells the soundtrack sells the toy sells the sequel.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19872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Convergence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8119872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278892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and platforms flow together: one story across screen, phone, print, and feed.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underwood-lindbergh_a5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0"/>
            <a:ext cx="40507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6126480"/>
            <a:ext cx="368503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Underwood &amp; Underwood, Charles Lindbergh, 1927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SYNERGY, 1927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69494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channel,</a:t>
            </a:r>
            <a:endParaRPr lang="en-US" sz="4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story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7040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man crosses an ocean, and every channel of the era sells the same story to itself: newsreels, press syndicates, radio, records, endorsements. The media event, the synergy, the convergence: all of it seventy years before the internet gave them names.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not spontaneous, but comes about because someone has planned, planted, or incited it... primarily for the purpose of being reported.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Boorstin, The Image, 1962, on the pseudo-event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INSTITUTION, END TO 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GREENLIGHT TO YOUR FEED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it all the way through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701546" y="3383280"/>
            <a:ext cx="8785860" cy="0"/>
          </a:xfrm>
          <a:prstGeom prst="line">
            <a:avLst/>
          </a:prstGeom>
          <a:noFill/>
          <a:ln w="19050">
            <a:solidFill>
              <a:srgbClr val="8AA3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5514" y="3127248"/>
            <a:ext cx="512064" cy="512064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665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Greenlight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767328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says yes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2686" y="3127248"/>
            <a:ext cx="512064" cy="512064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25852" y="2468880"/>
            <a:ext cx="1665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625852" y="3767328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makes 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59858" y="3127248"/>
            <a:ext cx="512064" cy="512064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3024" y="2468880"/>
            <a:ext cx="1665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83024" y="3767328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moves 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17030" y="3127248"/>
            <a:ext cx="512064" cy="512064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40196" y="2468880"/>
            <a:ext cx="1665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40196" y="3767328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sells 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74202" y="3127248"/>
            <a:ext cx="512064" cy="512064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897368" y="2468880"/>
            <a:ext cx="1665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897368" y="3767328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find 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231374" y="3127248"/>
            <a:ext cx="512064" cy="512064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54540" y="2468880"/>
            <a:ext cx="1665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654540" y="3767328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paid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50292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link annotated from the case-study documents, drawn as one chain on the board.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Thirty minutes of notes.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Forty-five of writing.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46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skill from A1's single hour. The viewing window is for structured notes, not a transcript: the grid, not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VIEWING-NOTES FRAME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CAPTURE, DO NOT COMPOSE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four-family grid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5088636" cy="1783080"/>
          </a:xfrm>
          <a:prstGeom prst="rect">
            <a:avLst/>
          </a:prstGeom>
          <a:solidFill>
            <a:srgbClr val="FAF8F1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1168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97280" y="25420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9992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7356" y="1828800"/>
            <a:ext cx="5088636" cy="1783080"/>
          </a:xfrm>
          <a:prstGeom prst="rect">
            <a:avLst/>
          </a:prstGeom>
          <a:solidFill>
            <a:srgbClr val="FAF8F1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1676" y="201168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Symbolic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551676" y="25420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51676" y="29992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886200"/>
            <a:ext cx="5088636" cy="1783080"/>
          </a:xfrm>
          <a:prstGeom prst="rect">
            <a:avLst/>
          </a:prstGeom>
          <a:solidFill>
            <a:srgbClr val="FAF8F1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6908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Written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45994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50566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7356" y="3886200"/>
            <a:ext cx="5088636" cy="1783080"/>
          </a:xfrm>
          <a:prstGeom prst="rect">
            <a:avLst/>
          </a:prstGeom>
          <a:solidFill>
            <a:srgbClr val="FAF8F1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1676" y="4069080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551676" y="45994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51676" y="5056632"/>
            <a:ext cx="4539996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8521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90-second drills first: notes into the grid, pens down. The grid is the discipline the viewing window needs.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REGULATION, THE FOURTH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THE SIT IS FRESH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chain, one link longer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43032" cy="868680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94560"/>
            <a:ext cx="9994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 ←  incentive  ←  payer  ←  REGULATOR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regulates the case-study institution (Ofcom, the FCC, platform self-regulation, per its home market), with what powers, and what that visibly changes: scheduling, cuts, ratings, and above all what never gets made. Add the regulation row to the document, and date it.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· A4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FORECAST GRADE ANCHOR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A4 sits Wednesday 16 December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9748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2 Section A in authentic format: an unseen TV-drama extract, thirty minutes of viewing and structured notes, then forty-five of writing. Marked to the CIE band descriptors, per-criterion, with AO splits recorded per script for the L14 review. No debrief on the day, by design: the format is the lesson, and it ends the way the real one does.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Consolidation and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Coverage Matrix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17. The semester's knowledge, audited before the exam tests it.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2026-08-09T07:47:23Z</dcterms:created>
  <dcterms:modified xsi:type="dcterms:W3CDTF">2026-08-09T07:47:23Z</dcterms:modified>
</cp:coreProperties>
</file>