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Forecast Grade anchor. Two days trace one institution end to end; Wednesday is the first authentic Section A sitting.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Lindbergh, 1927: newsreels, press syndicates, radio, records, all selling the same story to itself. The media event predates the internet by seventy years.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Defined and separated first; the next two slides carry them, 1995 and 2023, then 1927.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Disney/Pixar is the Scheme of Work's own conglomeration example; Mario is Deck U5.2's quiz case (Nintendo develops and owns the characters, Illumination produces, Universal distributes, Super Nintendo World extends). Hunt all three words in the students' own case-study institutions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Lindbergh as the worked historical anchor: integration, synergy, and convergence visible in 1927.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Winogrand's press scrum: cameras photographing an event staged for cameras. Boorstin's definition made visible; the students' own media events (launches, drops, teasers) follow the same grammar.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D2 also runs Beat the Examiner, lite: one paragraph from Cambridge's own specimen answers banded in pairs against the five criteria; the awarded level is revealed after. The unfed-criterion reread follows.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screenings, no notes on the first, notes crossed out after writing begins: read the page's own words aloud once. A4 reuses the frozen stem with a different sealed extract.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drills run on a trailer, ninety seconds each, notes straight into the four families. Capture, do not compose.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booklet's Section A is a June 2021 extract, not a held text, so it is safe to project. The high script (a wide range of media terminology, in the same booklet) is the counter-example; both pages are in img/ as ecr-narration and ecr-high.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NRTA stays a spoken aside per the exam-example rule; the taught regulators are the case-study institutions' 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extract shortlist is sealed until the sit; no still of any candidate text appears in this deck on purpose. Screening protocol on the day: four screenings, no notes on the first, notes crossed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49440" y="822960"/>
            <a:ext cx="44805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XVI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UNIT V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6766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A4: Section A in</a:t>
            </a:r>
            <a:endParaRPr lang="en-US" sz="5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5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Authentic Format</a:t>
            </a:r>
            <a:endParaRPr lang="en-US" sz="5000" dirty="0"/>
          </a:p>
        </p:txBody>
      </p:sp>
      <p:sp>
        <p:nvSpPr>
          <p:cNvPr id="5" name="Shape 3"/>
          <p:cNvSpPr/>
          <p:nvPr/>
        </p:nvSpPr>
        <p:spPr>
          <a:xfrm>
            <a:off x="822960" y="43434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526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Media Contexts · Lesson 16 of 19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5029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days  ·  Monday 14 to Friday 18 December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66560" y="640080"/>
            <a:ext cx="4846320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XVI</a:t>
            </a:r>
            <a:endParaRPr lang="en-US" sz="220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MEDIA EVENT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384048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788920"/>
            <a:ext cx="6400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600"/>
              </a:lnSpc>
              <a:buNone/>
            </a:pPr>
            <a:r>
              <a:rPr lang="en-US" sz="56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man,</a:t>
            </a:r>
            <a:endParaRPr lang="en-US" sz="56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56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channel.</a:t>
            </a:r>
            <a:endParaRPr lang="en-US" sz="5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EXAM'S THREE INSTITUTION WORDS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DEFINED AND SEPARATED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Integration, synergy, convergence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Integration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822960" y="260604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788920"/>
            <a:ext cx="3246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Owning the stages (vertical) or the neighbors (horizontal). One company holds more of the chain.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471416" y="20574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Synergy</a:t>
            </a:r>
            <a:endParaRPr lang="en-US" sz="2300" dirty="0"/>
          </a:p>
        </p:txBody>
      </p:sp>
      <p:sp>
        <p:nvSpPr>
          <p:cNvPr id="10" name="Shape 8"/>
          <p:cNvSpPr/>
          <p:nvPr/>
        </p:nvSpPr>
        <p:spPr>
          <a:xfrm>
            <a:off x="4471416" y="260604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1416" y="2788920"/>
            <a:ext cx="3246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parts sell each other: the film sells the soundtrack sells the toy sells the sequel.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119872" y="20574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Convergence</a:t>
            </a:r>
            <a:endParaRPr lang="en-US" sz="2300" dirty="0"/>
          </a:p>
        </p:txBody>
      </p:sp>
      <p:sp>
        <p:nvSpPr>
          <p:cNvPr id="13" name="Shape 11"/>
          <p:cNvSpPr/>
          <p:nvPr/>
        </p:nvSpPr>
        <p:spPr>
          <a:xfrm>
            <a:off x="8119872" y="260604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19872" y="2788920"/>
            <a:ext cx="3246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Media and platforms flow together: one story across screen, phone, print, and feed.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THREE WORDS, AT 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1995 AND 2023, SAME MACHINE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143000"/>
            <a:ext cx="6675120" cy="402336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6" name="Image 0" descr="/Users/dogan/Documents/Vaults/Courses/wiki/classes/media-studies/decks/_build/img/toystory-buzz-unwrappe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5759" y="1271016"/>
            <a:ext cx="5829521" cy="376732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521208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Toy Story (1995, Pixar/Disney): the film is literally the toy advert, and the toy is the film's premise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863840" y="1051560"/>
            <a:ext cx="3474720" cy="42062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9" name="Image 1" descr="/Users/dogan/Documents/Vaults/Courses/wiki/classes/media-studies/decks/_build/img/poster-supermari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4251" y="1179576"/>
            <a:ext cx="2493898" cy="395020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863840" y="528523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Super Mario Bros. Movie (2023): Nintendo + Illumination + Universal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822960" y="580644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22960" y="5943600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Integration: the owner holds game, studio and park. Synergy: each one sells the others. Convergence: one IP across console, cinema, phone and feed.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underwood-lindbergh_a59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0"/>
            <a:ext cx="405079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321040" y="6126480"/>
            <a:ext cx="3685032" cy="365760"/>
          </a:xfrm>
          <a:prstGeom prst="rect">
            <a:avLst/>
          </a:prstGeom>
          <a:solidFill>
            <a:srgbClr val="FAF8F1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Underwood &amp; Underwood, Charles Lindbergh, 1927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822960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SYNERGY, 1927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822960" y="1051560"/>
            <a:ext cx="694944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23444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channel,</a:t>
            </a:r>
            <a:endParaRPr lang="en-US" sz="42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4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story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822960" y="2743200"/>
            <a:ext cx="7040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man crosses an ocean, and every channel of the era sells the same story to itself: newsreels, press syndicates, radio, records, endorsements. The media event, the synergy, the convergence: all of it seventy years before the internet gave them names.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is not spontaneous, but comes about because someone has planned, planted, or incited it.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Daniel Boorstin, The Image, 1962, on the pseudo-event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winogrand-pressconf_a177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502920"/>
            <a:ext cx="5120640" cy="502920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4" name="Text 1"/>
          <p:cNvSpPr/>
          <p:nvPr/>
        </p:nvSpPr>
        <p:spPr>
          <a:xfrm>
            <a:off x="704088" y="5212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PSEUDO-EVENT, PHOTOGRAPHED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457200" y="5230368"/>
            <a:ext cx="8778240" cy="1243584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6" name="Shape 3"/>
          <p:cNvSpPr/>
          <p:nvPr/>
        </p:nvSpPr>
        <p:spPr>
          <a:xfrm>
            <a:off x="676656" y="5468112"/>
            <a:ext cx="731520" cy="0"/>
          </a:xfrm>
          <a:prstGeom prst="line">
            <a:avLst/>
          </a:prstGeom>
          <a:noFill/>
          <a:ln w="28575">
            <a:solidFill>
              <a:srgbClr val="8C3A3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76656" y="5541264"/>
            <a:ext cx="8339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event that exists in order to be reported: the press conference is its purest form.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76656" y="6181344"/>
            <a:ext cx="8339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Garry Winogrand, Elliot Richardson Press Conference, Austin, 1973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INSTITUTION, END TO END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GREENLIGHT TO YOUR FEED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Follow it all the way through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701546" y="3383280"/>
            <a:ext cx="8785860" cy="0"/>
          </a:xfrm>
          <a:prstGeom prst="line">
            <a:avLst/>
          </a:prstGeom>
          <a:noFill/>
          <a:ln w="19050">
            <a:solidFill>
              <a:srgbClr val="8AA3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45514" y="3127248"/>
            <a:ext cx="512064" cy="512064"/>
          </a:xfrm>
          <a:prstGeom prst="ellipse">
            <a:avLst/>
          </a:prstGeom>
          <a:solidFill>
            <a:srgbClr val="4A6B5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2468880"/>
            <a:ext cx="16657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Greenlight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68680" y="3767328"/>
            <a:ext cx="16657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says yes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202686" y="3127248"/>
            <a:ext cx="512064" cy="512064"/>
          </a:xfrm>
          <a:prstGeom prst="ellipse">
            <a:avLst/>
          </a:prstGeom>
          <a:solidFill>
            <a:srgbClr val="4A6B5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625852" y="2468880"/>
            <a:ext cx="16657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625852" y="3767328"/>
            <a:ext cx="16657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makes it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959858" y="3127248"/>
            <a:ext cx="512064" cy="512064"/>
          </a:xfrm>
          <a:prstGeom prst="ellipse">
            <a:avLst/>
          </a:prstGeom>
          <a:solidFill>
            <a:srgbClr val="4A6B5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383024" y="2468880"/>
            <a:ext cx="16657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Distribute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383024" y="3767328"/>
            <a:ext cx="16657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moves it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717030" y="3127248"/>
            <a:ext cx="512064" cy="512064"/>
          </a:xfrm>
          <a:prstGeom prst="ellipse">
            <a:avLst/>
          </a:prstGeom>
          <a:solidFill>
            <a:srgbClr val="4A6B5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140196" y="2468880"/>
            <a:ext cx="16657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140196" y="3767328"/>
            <a:ext cx="16657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sells it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474202" y="3127248"/>
            <a:ext cx="512064" cy="512064"/>
          </a:xfrm>
          <a:prstGeom prst="ellipse">
            <a:avLst/>
          </a:prstGeom>
          <a:solidFill>
            <a:srgbClr val="4A6B5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7897368" y="2468880"/>
            <a:ext cx="16657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Meet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897368" y="3767328"/>
            <a:ext cx="16657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you find it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0231374" y="3127248"/>
            <a:ext cx="512064" cy="512064"/>
          </a:xfrm>
          <a:prstGeom prst="ellipse">
            <a:avLst/>
          </a:prstGeom>
          <a:solidFill>
            <a:srgbClr val="4A6B5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654540" y="2468880"/>
            <a:ext cx="16657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Revenue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9654540" y="3767328"/>
            <a:ext cx="16657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is paid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22960" y="502920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link annotated from the case-study documents, drawn as one chain on the board.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AUTHENTIC FORMAT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PAPER'S OWN TYPOGRAPHY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6012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Thirty minutes of notes. Forty-five of writing.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783080"/>
            <a:ext cx="10543032" cy="37490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7" name="Image 0" descr="/Users/dogan/Documents/Vaults/Courses/wiki/classes/media-studies/decks/_build/img/qp21-ste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42849" y="1911096"/>
            <a:ext cx="5303253" cy="34930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562356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June 2024 Paper 2/21: the rubric, the screenings, and the frozen stem. A different skill from A1's single hour: the viewing window is for structured notes, not a transcript.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VIEWING-NOTES FRAME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CAPTURE, DO NOT COMPOSE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four-family grid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22960" y="1828800"/>
            <a:ext cx="5088636" cy="1783080"/>
          </a:xfrm>
          <a:prstGeom prst="rect">
            <a:avLst/>
          </a:prstGeom>
          <a:solidFill>
            <a:srgbClr val="FAF8F1"/>
          </a:solidFill>
          <a:ln w="12700">
            <a:solidFill>
              <a:srgbClr val="8AA3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011680"/>
            <a:ext cx="45399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Technical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1097280" y="2542032"/>
            <a:ext cx="4539996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97280" y="2999232"/>
            <a:ext cx="4539996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77356" y="1828800"/>
            <a:ext cx="5088636" cy="1783080"/>
          </a:xfrm>
          <a:prstGeom prst="rect">
            <a:avLst/>
          </a:prstGeom>
          <a:solidFill>
            <a:srgbClr val="FAF8F1"/>
          </a:solidFill>
          <a:ln w="12700">
            <a:solidFill>
              <a:srgbClr val="8AA39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51676" y="2011680"/>
            <a:ext cx="45399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Symbolic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551676" y="2542032"/>
            <a:ext cx="4539996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51676" y="2999232"/>
            <a:ext cx="4539996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886200"/>
            <a:ext cx="5088636" cy="1783080"/>
          </a:xfrm>
          <a:prstGeom prst="rect">
            <a:avLst/>
          </a:prstGeom>
          <a:solidFill>
            <a:srgbClr val="FAF8F1"/>
          </a:solidFill>
          <a:ln w="12700">
            <a:solidFill>
              <a:srgbClr val="8AA39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7280" y="4069080"/>
            <a:ext cx="45399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Written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097280" y="4599432"/>
            <a:ext cx="4539996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97280" y="5056632"/>
            <a:ext cx="4539996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7356" y="3886200"/>
            <a:ext cx="5088636" cy="1783080"/>
          </a:xfrm>
          <a:prstGeom prst="rect">
            <a:avLst/>
          </a:prstGeom>
          <a:solidFill>
            <a:srgbClr val="FAF8F1"/>
          </a:solidFill>
          <a:ln w="12700">
            <a:solidFill>
              <a:srgbClr val="8AA39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51676" y="4069080"/>
            <a:ext cx="45399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Audio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6551676" y="4599432"/>
            <a:ext cx="4539996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51676" y="5056632"/>
            <a:ext cx="4539996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585216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90-second drills first: notes into the grid, pens down. The grid is the discipline the viewing window needs.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BEAT THE EXAMINER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CLASSIC MISTAKE, IN THE EXAMINER'S OWN HAND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097280"/>
            <a:ext cx="5394960" cy="46634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6" name="Image 0" descr="/Users/dogan/Documents/Vaults/Courses/wiki/classes/media-studies/decks/_build/img/ecr-narrat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2113" y="1225296"/>
            <a:ext cx="3116654" cy="44074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58064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Cambridge Example Candidate Responses, Paper 2: the low script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537960" y="13258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8C3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out of twenty-five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6537960" y="1965960"/>
            <a:ext cx="480060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37960" y="21488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examiner's margin says it plainly: the remainder of the answer is just narration. A transcript of what happened on screen, with no technique named and no meaning claimed, scores a five. The candidate watched carefully and wrote fluently, and it did not matter.</a:t>
            </a: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 a paragraph of it in pairs against the five criteria; the awarded level is revealed after. Then reread your CS12 for the same defect.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REGULATION, THE FOURTH CONTEXT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 THE SIT IS FRESH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5156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chain, one link longer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965960"/>
            <a:ext cx="6400800" cy="86868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196596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 ← incentive ← payer ← REGULATOR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22960" y="3063240"/>
            <a:ext cx="6400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6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regulates the case-study institution (Ofcom, the FCC, platform self-regulation, per its home market), with what powers, and what that visibly changes: scheduling, cuts, ratings, and above all what never gets made. Add the regulation row to the document, and date it.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635240" y="1097280"/>
            <a:ext cx="3749040" cy="457200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0" name="Image 0" descr="/Users/dogan/Documents/Vaults/Courses/wiki/classes/media-studies/decks/_build/img/ofcom-cov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83254" y="1225296"/>
            <a:ext cx="3053012" cy="431596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635240" y="57150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Ofcom Broadcasting Code: a regulator's rulebook, in print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 · A4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FORECAST GRADE ANCHOR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5156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A4 sits Wednesday 16 December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201168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240280"/>
            <a:ext cx="6492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6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Component 2 Section A in authentic format: an unseen TV-drama extract, thirty minutes of viewing and structured notes, then forty-five of writing, to the paper's own screening protocol. Marked to the CIE band descriptors, per-criterion, with AO splits recorded per script for the L17 review. No debrief on the day, by design: the format is the lesson, and it ends the way the real one does.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7406640" y="1234440"/>
            <a:ext cx="3977640" cy="402336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9" name="Image 0" descr="/Users/dogan/Documents/Vaults/Courses/wiki/classes/media-studies/decks/_build/img/ws4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34656" y="1931067"/>
            <a:ext cx="3721608" cy="263010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406640" y="530352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 4.6: the rubric rows and comment bank the feedback follows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22960" y="2514600"/>
            <a:ext cx="310896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651760"/>
            <a:ext cx="10424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4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Consolidation and</a:t>
            </a:r>
            <a:endParaRPr lang="en-US" sz="48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Coverage Matrix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22960" y="48463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17. The semester's knowledge, audited before the exam tests it.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6E8A7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E8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2026-08-24T08:50:04Z</dcterms:created>
  <dcterms:modified xsi:type="dcterms:W3CDTF">2026-08-24T08:50:04Z</dcterms:modified>
</cp:coreProperties>
</file>