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of four: camera, sound, mise-en-scene, editing, then integration. Monday teaches the whole lexicon as verbs. Thursday is the shoot: six shots on their own kit, posted to the blog as CS3.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one frame. The camera position is a decision somebody made about you, and every term in this lesson is a name for one of those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columns are the syllabus's own enumerations, complete: the frames illustrate the sizes, and the shots column names the ones a still cannot stage here (establishing, master, wide, aerial, POV, over-the-shoulder; the CS3 storyboard requires establishing and POV by name). Ladder sprint, rungs one to three, follows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true overhead: students can name high angle in a second, and the mark is in the sentence after that. The same film returns on the mise-en-scene deck, shot from the front. The canted angle's canonical frame (The Third Man) waits in the CS8 quiz at L08.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 is the Teacher's Resource's own before-and-after starter image, reused so the hypothetical detective sentence became a checkable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from the Scheme of Work's camera bank. The trio is the PROPOSED extract spec made real: a visible hierarchy between characters, no dialogue dependency. Safeguarding: the series is BBFC 15 for clip screening; these stills are benign and already on the student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photograph made about composition. Shown whole, never cropped: the composition is the content. Same four questions apply to any frame they shoot tomorrow. The dead-centre counter-example is next lesson's Grand Budapest concierge desk: centred on purpose, and the purpose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composition column's depth-of-field and focus-pull terms, given their frames. Tomorrow's hold-focus control is this slide inverted: autofocus makes the choice for you, badly.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Steadicam is on the movement list they just met. Name the verb: the camera glides with him, refuses to cut away. Then the effect: his access becomes ours, which is why the shot feels like privilege. Three frames from one continuous take, dir. Martin Scorsese.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still shows what a camera movement costs: track laid on sand, lights rigged at noon. The dolly zoom is two movements cancelling: the lens zooms out as the dolly pushes in, so Brody holds size while the background rushes away. The 480px single frame is retired; the pair brackets the moment. Dir. Steven Spielberg.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storyboard's establishing shot and POV are the two the syllabus names that a still cannot rehearse; the tilt-to-reveal is the 2028 SoW's own practice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Phones are fine and often better: all three controls exist on a phone, and the drawn screens are exactly what the class will see. Circulate with one question only: what is that shot doing?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82296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03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 ·  Monday 14 and Thursday 17 September  ·  first of the four technical elements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you standing,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who put you there?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following technical elements create specific representations of individuals/groups/events/places, and help to articulate specific messages and values that have social significance.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International 9607, subject content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technical elements shape how people and places are shown, and what messages they send.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AS VERBS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SYLLABUS'S OWN LIST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shot ladder, in 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889150" cy="13716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toystory-remote-ec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19584"/>
            <a:ext cx="1779422" cy="1149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07792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163824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close-up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86430" y="1508760"/>
            <a:ext cx="1889150" cy="13716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Users/dogan/Documents/Vaults/Courses/wiki/classes/media-studies/decks/_build/img/toystory-buzz-unwrapp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294" y="1619584"/>
            <a:ext cx="1779422" cy="11499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6430" y="2907792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86430" y="3163824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49901" y="1508760"/>
            <a:ext cx="1889150" cy="13716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Users/dogan/Documents/Vaults/Courses/wiki/classes/media-studies/decks/_build/img/toystory-rc-m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765" y="1619584"/>
            <a:ext cx="1779422" cy="11499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49901" y="2907792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49901" y="3163824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shot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313371" y="1508760"/>
            <a:ext cx="1889150" cy="13716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3" descr="/Users/dogan/Documents/Vaults/Courses/wiki/classes/media-studies/decks/_build/img/toystory-reunite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35" y="1697434"/>
            <a:ext cx="1779422" cy="9942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3371" y="2907792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Two-shot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13371" y="3163824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subjects share it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476842" y="1508760"/>
            <a:ext cx="1889150" cy="13716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23" name="Image 4" descr="/Users/dogan/Documents/Vaults/Courses/wiki/classes/media-studies/decks/_build/img/toystory-buzz-ou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706" y="1619584"/>
            <a:ext cx="1779422" cy="11499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76842" y="2907792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476842" y="3163824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shot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822960" y="34747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 Story (1995, Pixar/Disney), one scene up and down the ladder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22960" y="39776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2960" y="4297680"/>
            <a:ext cx="327050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22960" y="4389120"/>
            <a:ext cx="3270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establishing  ·  master  ·  wide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aerial  ·  POV  ·  over-the-shoulder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459224" y="39776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459224" y="4297680"/>
            <a:ext cx="327050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459224" y="4389120"/>
            <a:ext cx="3270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 ·  low  ·  canted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095488" y="39776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+ composition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95488" y="4297680"/>
            <a:ext cx="327050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095488" y="4389120"/>
            <a:ext cx="3270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· tilt · track · dolly · crane · steadicam · zoom · handheld  |  framing · rule of thirds · depth of field · focus pulls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22960" y="57607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AS A VERB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camera looks up at him. The camera creeps toward the door. The camera refuses to follow.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gbh-overhead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· VIEWPOINT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822960" y="1188720"/>
            <a:ext cx="64008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view nobody could have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  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Overhead angle (bird's-eye view). No person in the scene could stand here.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  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above, the two men look small, tidy, and equal. The street becomes a pattern.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  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of any frame: could I stand where the camera stands? If not, the position is a choice with a meaning.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Grand Budapest Hotel (2014), dir. Wes Anderson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HALF THAT EARNS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ALONE IS WORTH ALMOST NOTHING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sentences, not one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camera did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62179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05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low-angle wide shot places the two figures above us in an empty warehouse.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half is easy. Anyone with the word list can write it.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did to you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62179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622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look up at them from below, so they seem powerful before anyone speaks.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half earns the mark. Most students stop before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234440"/>
            <a:ext cx="3931920" cy="41148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0" descr="/Users/dogan/Documents/Vaults/Courses/wiki/classes/media-studies/decks/_build/img/cup-warehouse-lowang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376" y="2068076"/>
            <a:ext cx="3675888" cy="244752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52360" y="5394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 the sentences describe (CUP Teacher's Resource)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write both halves: the technique, then its effect on the audience.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POWER · THE REPRESENTATION 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CAMBRIDGE'S OWN EXERCISE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of one extract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shot from below?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 gives them height, threat, or authority.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shot from above?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901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look small, watched, and easy to judge.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gets the close-ups?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770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invited to share their thoughts and feelings.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stays in the wide shot?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2770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stay a figure in a situation, not a person we know.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3270504" cy="1965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0" descr="/Users/dogan/Documents/Vaults/Courses/wiki/classes/media-studies/decks/_build/img/adolescence-jamie-c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623103"/>
            <a:ext cx="3160776" cy="157775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5413248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boy gets the close-up: we share his feelings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59224" y="3429000"/>
            <a:ext cx="3270504" cy="1965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22" name="Image 1" descr="/Users/dogan/Documents/Vaults/Courses/wiki/classes/media-studies/decks/_build/img/adolescence-int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088" y="3617299"/>
            <a:ext cx="3160776" cy="15893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59224" y="5413248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 shot holds the table: cold procedure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95488" y="3429000"/>
            <a:ext cx="3270504" cy="1965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25" name="Image 2" descr="/Users/dogan/Documents/Vaults/Courses/wiki/classes/media-studies/decks/_build/img/adolescence-father-o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352" y="3621385"/>
            <a:ext cx="3160776" cy="158118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095488" y="5413248"/>
            <a:ext cx="327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shoulder: whose view we borrow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Adolescence (Netflix, 2025). No dialogue needed: what does the camera say about power here?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· THIRDS · DEPTH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51560"/>
            <a:ext cx="4572000" cy="51206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evans-sea-of-ste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592" y="1179576"/>
            <a:ext cx="3970736" cy="4864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here is an accident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54864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4871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7980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 makes a second frame inside the frame. Your eye goes where both frames point.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0" y="34564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lines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76732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steps form a path. Your eye follows it before you decide to.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44256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473659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Foreground stone, middle arch, far light. Three layers make the flat picture feel deep.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0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of thirds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57058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bright doorway sits off center. Off center makes it a destination, not just an object.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H. Evans, A Sea of Steps, Wells Cathedral, 1903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IS A CASTING DECISION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5088636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adolescence-jamie-c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65663"/>
            <a:ext cx="4832604" cy="24122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77356" y="1188720"/>
            <a:ext cx="5088636" cy="35661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8" name="Image 1" descr="/Users/dogan/Documents/Vaults/Courses/wiki/classes/media-studies/decks/_build/img/gbh-concier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72" y="1929214"/>
            <a:ext cx="4832604" cy="20851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828032"/>
            <a:ext cx="5088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focus: the boy is sharp, the officers blur away. Adolescence (Netflix, 2025)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77356" y="4828032"/>
            <a:ext cx="5088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focus: steps, desk and key rack all sharp. The Grand Budapest Hotel (2014)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2960" y="5486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6235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Shallow focus: one face sharp, the rest blurred. Deep focus: everything sharp at once.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controls where you are allowed to look. A focus pull moves that choice mid-shot.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REFUSES TO LET GO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shot, three minutes, no cut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goodfellas-copa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54464"/>
            <a:ext cx="3014472" cy="1691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59224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Users/dogan/Documents/Vaults/Courses/wiki/classes/media-studies/decks/_build/img/goodfellas-copa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2354464"/>
            <a:ext cx="3014472" cy="16918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5488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2" descr="/Users/dogan/Documents/Vaults/Courses/wiki/classes/media-studies/decks/_build/img/goodfellas-copa-tab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504" y="2352580"/>
            <a:ext cx="3014472" cy="1695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87375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the queue, in at the side door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459224" y="487375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the corridor, no cut, still going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8095488" y="487375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appears, front of the stage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22960" y="54406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2960" y="55595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Goodfellas (1990): one steadicam shot, three minutes, no cut.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Doors open for Henry, and we enter as his guest. The unbroken movement means privilege and access.</a:t>
            </a:r>
            <a:endParaRPr lang="en-US" sz="10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SENTENCE   </a:t>
            </a:r>
            <a:pPr indent="0" marL="0">
              <a:lnSpc>
                <a:spcPts val="1650"/>
              </a:lnSpc>
              <a:buNone/>
            </a:pPr>
            <a:r>
              <a:rPr lang="en-US" sz="125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continuous steadicam shot positions the audience inside Henry's privileged world.”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MACHINERY OF A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MOVEMENT IS BUILT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rig, then the shot it makes possible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6309360" cy="3794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jaws-b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902" y="1682496"/>
            <a:ext cx="5341476" cy="3538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766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beach set: lights, track, crew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0" y="1554480"/>
            <a:ext cx="3886200" cy="17830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0" name="Image 1" descr="/Users/dogan/Documents/Vaults/Courses/wiki/classes/media-studies/decks/_build/img/jaws-dz-star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1648765"/>
            <a:ext cx="3776472" cy="159451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0" y="3520440"/>
            <a:ext cx="3886200" cy="17830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2" name="Image 2" descr="/Users/dogan/Documents/Vaults/Courses/wiki/classes/media-studies/decks/_build/img/jaws-dz-e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3614725"/>
            <a:ext cx="3776472" cy="15945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0" y="5349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dolly zoom: the man stays the same size, the beach stretches behind him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59161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Jaws (1975): the dolly zoom. The camera moves in while the lens zooms out.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background stretches behind a man frozen by shock. The world turns unstable.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series of short, self-contained exercises with camera (or even phone) can combine technical elements with story elements.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Scheme of Work, Foundation Portfolio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camera exercises, even on a phone, count as real practice. Tomorrow's shoot is one of them.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THURSDAY, THE WHOLE SESSION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shots, your kit, posted before you leave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10612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0340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20340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on a character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8264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7992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tilt up to reveal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5916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5644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 on an object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73568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83296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angle, same character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61220" y="1783080"/>
            <a:ext cx="1604772" cy="132588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0948" y="1847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0948" y="2194560"/>
            <a:ext cx="1385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POV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33375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pairs, shoot this six-frame storyboard. No plot, no acting, no retakes. The exercise is the camera.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of intention per shot, using the syllabus terms.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ON 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Terminology, the three controls, and the intention line. Not on how good the footage looks.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BLOG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it, dated, on your Component 1 blog. This post is not practice for the portfolio. It is the portfolio.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CONTROLS, NON-NEGOTIABLE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 MARKING POINT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mistakes that ruin footage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50492" y="1600200"/>
            <a:ext cx="1554480" cy="1234440"/>
          </a:xfrm>
          <a:prstGeom prst="rect">
            <a:avLst/>
          </a:prstGeom>
          <a:solidFill>
            <a:srgbClr val="24313F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53412" y="1920240"/>
            <a:ext cx="548640" cy="548640"/>
          </a:xfrm>
          <a:prstGeom prst="rect">
            <a:avLst/>
          </a:prstGeom>
          <a:solidFill>
            <a:srgbClr val="24313F"/>
          </a:solidFill>
          <a:ln w="25400">
            <a:solidFill>
              <a:srgbClr val="A3C1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1932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AF-L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45643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focus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950208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the screen to lock focus, then leave it. Autofocus jumps when anything crosses the frame, and jumping focus looks amateur.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317236" y="1600200"/>
            <a:ext cx="1554480" cy="1234440"/>
          </a:xfrm>
          <a:prstGeom prst="rect">
            <a:avLst/>
          </a:prstGeom>
          <a:solidFill>
            <a:srgbClr val="24313F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0236" y="1828800"/>
            <a:ext cx="0" cy="777240"/>
          </a:xfrm>
          <a:prstGeom prst="line">
            <a:avLst/>
          </a:prstGeom>
          <a:noFill/>
          <a:ln w="19050">
            <a:solidFill>
              <a:srgbClr val="FAF8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0508" y="1984248"/>
            <a:ext cx="219456" cy="219456"/>
          </a:xfrm>
          <a:prstGeom prst="ellipse">
            <a:avLst/>
          </a:prstGeom>
          <a:solidFill>
            <a:srgbClr val="A3C1AD"/>
          </a:solidFill>
          <a:ln/>
        </p:spPr>
      </p:sp>
      <p:sp>
        <p:nvSpPr>
          <p:cNvPr id="16" name="Text 14"/>
          <p:cNvSpPr/>
          <p:nvPr/>
        </p:nvSpPr>
        <p:spPr>
          <a:xfrm>
            <a:off x="5454396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9704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89704" y="345643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 for the face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489704" y="3950208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406908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Against a bright window, auto mode keeps the window and loses the face. Tap the face and lock. Let the window turn white.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83980" y="1600200"/>
            <a:ext cx="1554480" cy="1234440"/>
          </a:xfrm>
          <a:prstGeom prst="rect">
            <a:avLst/>
          </a:prstGeom>
          <a:solidFill>
            <a:srgbClr val="24313F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2140" y="1673352"/>
            <a:ext cx="0" cy="1088136"/>
          </a:xfrm>
          <a:prstGeom prst="line">
            <a:avLst/>
          </a:prstGeom>
          <a:noFill/>
          <a:ln w="9525">
            <a:solidFill>
              <a:srgbClr val="FAF8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7132" y="2011680"/>
            <a:ext cx="1408176" cy="0"/>
          </a:xfrm>
          <a:prstGeom prst="line">
            <a:avLst/>
          </a:prstGeom>
          <a:noFill/>
          <a:ln w="9525">
            <a:solidFill>
              <a:srgbClr val="FAF8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0300" y="1673352"/>
            <a:ext cx="0" cy="1088136"/>
          </a:xfrm>
          <a:prstGeom prst="line">
            <a:avLst/>
          </a:prstGeom>
          <a:noFill/>
          <a:ln w="9525">
            <a:solidFill>
              <a:srgbClr val="FAF8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7132" y="2423160"/>
            <a:ext cx="1408176" cy="0"/>
          </a:xfrm>
          <a:prstGeom prst="line">
            <a:avLst/>
          </a:prstGeom>
          <a:noFill/>
          <a:ln w="9525">
            <a:solidFill>
              <a:srgbClr val="FAF8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83268" y="1892808"/>
            <a:ext cx="237744" cy="237744"/>
          </a:xfrm>
          <a:prstGeom prst="ellipse">
            <a:avLst/>
          </a:prstGeom>
          <a:solidFill>
            <a:srgbClr val="A3C1AD"/>
          </a:solidFill>
          <a:ln/>
        </p:spPr>
      </p:sp>
      <p:sp>
        <p:nvSpPr>
          <p:cNvPr id="27" name="Text 25"/>
          <p:cNvSpPr/>
          <p:nvPr/>
        </p:nvSpPr>
        <p:spPr>
          <a:xfrm>
            <a:off x="8156448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56448" y="345643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to the thirds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156448" y="3950208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6448" y="4069080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 everything and every shot looks the same. Put the subject on a third line and the frame gains direction.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22960" y="57607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   </a:t>
            </a:r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Grade 12 Component 3 video task uses exactly this vocabulary.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04. The screen goes black and we listen. Cambridge says most candidates neglect sound.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2026-08-25T13:06:02Z</dcterms:created>
  <dcterms:modified xsi:type="dcterms:W3CDTF">2026-08-25T13:06:02Z</dcterms:modified>
</cp:coreProperties>
</file>