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four: camera, sound, mise-en-scene, editing, then integration. Monday teaches the whole lexicon as verbs. Tuesday is the shoot: six shots on their own kit, posted to the blog as CS3.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one frame. The camera position is a decision somebody made about you, and every term in this lesson is a name for one of those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Taught in four passes, always term then effect. The syllabus lists all of these as examinable content. Ladder sprint, rungs one to three, follows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angle from a rooftop. Use it to separate the term from the effect: students can name high angle in a second, and the mark is in the sentence after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Scheme of Work's camera bank. This is the half that turns terminology into Section A marks: technique, then meaning, then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photograph made about composition. Shown whole, never cropped: the composition is the content. Same four questions apply to any frame they shoot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Phones are fine and often better: all three controls exist on a phone. Circulate with one question only: what is that shot doing?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223760" y="822960"/>
            <a:ext cx="4206240" cy="4937760"/>
          </a:xfrm>
          <a:prstGeom prst="rect">
            <a:avLst/>
          </a:prstGeom>
          <a:noFill/>
          <a:ln/>
        </p:spPr>
        <p:txBody>
          <a:bodyPr wrap="square" lIns="0" tIns="0" rIns="0" bIns="0" rtlCol="0" anchor="ctr"/>
          <a:lstStyle/>
          <a:p>
            <a:pPr algn="ctr" indent="0" marL="0">
              <a:buNone/>
            </a:pPr>
            <a:r>
              <a:rPr lang="en-US" sz="26000" dirty="0">
                <a:solidFill>
                  <a:srgbClr val="A3C1AD"/>
                </a:solidFill>
                <a:latin typeface="Georgia" pitchFamily="34" charset="0"/>
                <a:ea typeface="Georgia" pitchFamily="34" charset="-122"/>
                <a:cs typeface="Georgia" pitchFamily="34" charset="-120"/>
              </a:rPr>
              <a:t>III</a:t>
            </a:r>
            <a:endParaRPr lang="en-US" sz="26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6400800" cy="2377440"/>
          </a:xfrm>
          <a:prstGeom prst="rect">
            <a:avLst/>
          </a:prstGeom>
          <a:noFill/>
          <a:ln/>
        </p:spPr>
        <p:txBody>
          <a:bodyPr wrap="square" lIns="0" tIns="0" rIns="0" bIns="0" rtlCol="0" anchor="t"/>
          <a:lstStyle/>
          <a:p>
            <a:pPr indent="0" marL="0">
              <a:lnSpc>
                <a:spcPts val="7400"/>
              </a:lnSpc>
              <a:buNone/>
            </a:pPr>
            <a:r>
              <a:rPr lang="en-US" sz="7400" dirty="0">
                <a:solidFill>
                  <a:srgbClr val="24313F"/>
                </a:solidFill>
                <a:latin typeface="Georgia" pitchFamily="34" charset="0"/>
                <a:ea typeface="Georgia" pitchFamily="34" charset="-122"/>
                <a:cs typeface="Georgia" pitchFamily="34" charset="-120"/>
              </a:rPr>
              <a:t>Camera</a:t>
            </a:r>
            <a:endParaRPr lang="en-US" sz="7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03 of 19</a:t>
            </a:r>
            <a:endParaRPr lang="en-US" sz="2200" dirty="0"/>
          </a:p>
        </p:txBody>
      </p:sp>
      <p:sp>
        <p:nvSpPr>
          <p:cNvPr id="7" name="Text 5"/>
          <p:cNvSpPr/>
          <p:nvPr/>
        </p:nvSpPr>
        <p:spPr>
          <a:xfrm>
            <a:off x="822960" y="5029200"/>
            <a:ext cx="91440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Monday 14 to Tuesday 15 September  ·  first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040880" y="640080"/>
            <a:ext cx="4572000" cy="5577840"/>
          </a:xfrm>
          <a:prstGeom prst="rect">
            <a:avLst/>
          </a:prstGeom>
          <a:noFill/>
          <a:ln/>
        </p:spPr>
        <p:txBody>
          <a:bodyPr wrap="square" lIns="0" tIns="0" rIns="0" bIns="0" rtlCol="0" anchor="ctr"/>
          <a:lstStyle/>
          <a:p>
            <a:pPr algn="ctr" indent="0" marL="0">
              <a:buNone/>
            </a:pPr>
            <a:r>
              <a:rPr lang="en-US" sz="30000" dirty="0">
                <a:solidFill>
                  <a:srgbClr val="5C7A6B"/>
                </a:solidFill>
                <a:latin typeface="Georgia" pitchFamily="34" charset="0"/>
                <a:ea typeface="Georgia" pitchFamily="34" charset="-122"/>
                <a:cs typeface="Georgia" pitchFamily="34" charset="-120"/>
              </a:rPr>
              <a:t>III</a:t>
            </a:r>
            <a:endParaRPr lang="en-US" sz="30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FIRST QUESTION</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000"/>
              </a:lnSpc>
              <a:buNone/>
            </a:pPr>
            <a:r>
              <a:rPr lang="en-US" sz="4400" dirty="0">
                <a:solidFill>
                  <a:srgbClr val="FAF8F1"/>
                </a:solidFill>
                <a:latin typeface="Georgia" pitchFamily="34" charset="0"/>
                <a:ea typeface="Georgia" pitchFamily="34" charset="-122"/>
                <a:cs typeface="Georgia" pitchFamily="34" charset="-120"/>
              </a:rPr>
              <a:t>Where are you standing,</a:t>
            </a:r>
            <a:endParaRPr lang="en-US" sz="4400" dirty="0"/>
          </a:p>
          <a:p>
            <a:pPr indent="0" marL="0">
              <a:lnSpc>
                <a:spcPts val="5000"/>
              </a:lnSpc>
              <a:buNone/>
            </a:pPr>
            <a:r>
              <a:rPr lang="en-US" sz="4400" dirty="0">
                <a:solidFill>
                  <a:srgbClr val="FAF8F1"/>
                </a:solidFill>
                <a:latin typeface="Georgia" pitchFamily="34" charset="0"/>
                <a:ea typeface="Georgia" pitchFamily="34" charset="-122"/>
                <a:cs typeface="Georgia" pitchFamily="34" charset="-120"/>
              </a:rPr>
              <a:t>and who put you there?</a:t>
            </a:r>
            <a:endParaRPr lang="en-US" sz="4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200"/>
              </a:lnSpc>
              <a:buNone/>
            </a:pPr>
            <a:r>
              <a:rPr lang="en-US" sz="3200" dirty="0">
                <a:solidFill>
                  <a:srgbClr val="24313F"/>
                </a:solidFill>
                <a:latin typeface="Georgia" pitchFamily="34" charset="0"/>
                <a:ea typeface="Georgia" pitchFamily="34" charset="-122"/>
                <a:cs typeface="Georgia" pitchFamily="34" charset="-120"/>
              </a:rPr>
              <a:t>How the following technical elements create specific representations of individuals/groups/events/places, and help to articulate specific messages and values that have social significance.</a:t>
            </a:r>
            <a:endParaRPr lang="en-US" sz="32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International 9607, subject content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CAMERA AS VERBS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IT DOES, THEN WHAT IT DOES TO YOU</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5486400"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shot ladder</a:t>
            </a:r>
            <a:endParaRPr lang="en-US" sz="3200" dirty="0"/>
          </a:p>
        </p:txBody>
      </p:sp>
      <p:sp>
        <p:nvSpPr>
          <p:cNvPr id="6" name="Shape 4"/>
          <p:cNvSpPr/>
          <p:nvPr/>
        </p:nvSpPr>
        <p:spPr>
          <a:xfrm>
            <a:off x="822960" y="1828800"/>
            <a:ext cx="1280160" cy="402336"/>
          </a:xfrm>
          <a:prstGeom prst="rect">
            <a:avLst/>
          </a:prstGeom>
          <a:solidFill>
            <a:srgbClr val="A3C1AD"/>
          </a:solidFill>
          <a:ln/>
        </p:spPr>
      </p:sp>
      <p:sp>
        <p:nvSpPr>
          <p:cNvPr id="7" name="Text 5"/>
          <p:cNvSpPr/>
          <p:nvPr/>
        </p:nvSpPr>
        <p:spPr>
          <a:xfrm>
            <a:off x="932688" y="1828800"/>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ECU</a:t>
            </a:r>
            <a:endParaRPr lang="en-US" sz="1200" dirty="0"/>
          </a:p>
        </p:txBody>
      </p:sp>
      <p:sp>
        <p:nvSpPr>
          <p:cNvPr id="8" name="Text 6"/>
          <p:cNvSpPr/>
          <p:nvPr/>
        </p:nvSpPr>
        <p:spPr>
          <a:xfrm>
            <a:off x="2286000" y="1828800"/>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Extreme close-up</a:t>
            </a:r>
            <a:endParaRPr lang="en-US" sz="1500" dirty="0"/>
          </a:p>
        </p:txBody>
      </p:sp>
      <p:sp>
        <p:nvSpPr>
          <p:cNvPr id="9" name="Shape 7"/>
          <p:cNvSpPr/>
          <p:nvPr/>
        </p:nvSpPr>
        <p:spPr>
          <a:xfrm>
            <a:off x="822960" y="2395728"/>
            <a:ext cx="2103120" cy="402336"/>
          </a:xfrm>
          <a:prstGeom prst="rect">
            <a:avLst/>
          </a:prstGeom>
          <a:solidFill>
            <a:srgbClr val="A3C1AD"/>
          </a:solidFill>
          <a:ln/>
        </p:spPr>
      </p:sp>
      <p:sp>
        <p:nvSpPr>
          <p:cNvPr id="10" name="Text 8"/>
          <p:cNvSpPr/>
          <p:nvPr/>
        </p:nvSpPr>
        <p:spPr>
          <a:xfrm>
            <a:off x="932688" y="2395728"/>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CU</a:t>
            </a:r>
            <a:endParaRPr lang="en-US" sz="1200" dirty="0"/>
          </a:p>
        </p:txBody>
      </p:sp>
      <p:sp>
        <p:nvSpPr>
          <p:cNvPr id="11" name="Text 9"/>
          <p:cNvSpPr/>
          <p:nvPr/>
        </p:nvSpPr>
        <p:spPr>
          <a:xfrm>
            <a:off x="3108960" y="2395728"/>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Close-up</a:t>
            </a:r>
            <a:endParaRPr lang="en-US" sz="1500" dirty="0"/>
          </a:p>
        </p:txBody>
      </p:sp>
      <p:sp>
        <p:nvSpPr>
          <p:cNvPr id="12" name="Shape 10"/>
          <p:cNvSpPr/>
          <p:nvPr/>
        </p:nvSpPr>
        <p:spPr>
          <a:xfrm>
            <a:off x="822960" y="2962656"/>
            <a:ext cx="3200400" cy="402336"/>
          </a:xfrm>
          <a:prstGeom prst="rect">
            <a:avLst/>
          </a:prstGeom>
          <a:solidFill>
            <a:srgbClr val="A3C1AD"/>
          </a:solidFill>
          <a:ln/>
        </p:spPr>
      </p:sp>
      <p:sp>
        <p:nvSpPr>
          <p:cNvPr id="13" name="Text 11"/>
          <p:cNvSpPr/>
          <p:nvPr/>
        </p:nvSpPr>
        <p:spPr>
          <a:xfrm>
            <a:off x="932688" y="2962656"/>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MS</a:t>
            </a:r>
            <a:endParaRPr lang="en-US" sz="1200" dirty="0"/>
          </a:p>
        </p:txBody>
      </p:sp>
      <p:sp>
        <p:nvSpPr>
          <p:cNvPr id="14" name="Text 12"/>
          <p:cNvSpPr/>
          <p:nvPr/>
        </p:nvSpPr>
        <p:spPr>
          <a:xfrm>
            <a:off x="4206240" y="2962656"/>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Mid shot</a:t>
            </a:r>
            <a:endParaRPr lang="en-US" sz="1500" dirty="0"/>
          </a:p>
        </p:txBody>
      </p:sp>
      <p:sp>
        <p:nvSpPr>
          <p:cNvPr id="15" name="Shape 13"/>
          <p:cNvSpPr/>
          <p:nvPr/>
        </p:nvSpPr>
        <p:spPr>
          <a:xfrm>
            <a:off x="822960" y="3529584"/>
            <a:ext cx="4389120" cy="402336"/>
          </a:xfrm>
          <a:prstGeom prst="rect">
            <a:avLst/>
          </a:prstGeom>
          <a:solidFill>
            <a:srgbClr val="A3C1AD"/>
          </a:solidFill>
          <a:ln/>
        </p:spPr>
      </p:sp>
      <p:sp>
        <p:nvSpPr>
          <p:cNvPr id="16" name="Text 14"/>
          <p:cNvSpPr/>
          <p:nvPr/>
        </p:nvSpPr>
        <p:spPr>
          <a:xfrm>
            <a:off x="932688" y="3529584"/>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LS</a:t>
            </a:r>
            <a:endParaRPr lang="en-US" sz="1200" dirty="0"/>
          </a:p>
        </p:txBody>
      </p:sp>
      <p:sp>
        <p:nvSpPr>
          <p:cNvPr id="17" name="Text 15"/>
          <p:cNvSpPr/>
          <p:nvPr/>
        </p:nvSpPr>
        <p:spPr>
          <a:xfrm>
            <a:off x="5394960" y="3529584"/>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Long shot</a:t>
            </a:r>
            <a:endParaRPr lang="en-US" sz="1500" dirty="0"/>
          </a:p>
        </p:txBody>
      </p:sp>
      <p:sp>
        <p:nvSpPr>
          <p:cNvPr id="18" name="Shape 16"/>
          <p:cNvSpPr/>
          <p:nvPr/>
        </p:nvSpPr>
        <p:spPr>
          <a:xfrm>
            <a:off x="822960" y="4096512"/>
            <a:ext cx="5669280" cy="402336"/>
          </a:xfrm>
          <a:prstGeom prst="rect">
            <a:avLst/>
          </a:prstGeom>
          <a:solidFill>
            <a:srgbClr val="A3C1AD"/>
          </a:solidFill>
          <a:ln/>
        </p:spPr>
      </p:sp>
      <p:sp>
        <p:nvSpPr>
          <p:cNvPr id="19" name="Text 17"/>
          <p:cNvSpPr/>
          <p:nvPr/>
        </p:nvSpPr>
        <p:spPr>
          <a:xfrm>
            <a:off x="932688" y="4096512"/>
            <a:ext cx="1097280" cy="402336"/>
          </a:xfrm>
          <a:prstGeom prst="rect">
            <a:avLst/>
          </a:prstGeom>
          <a:noFill/>
          <a:ln/>
        </p:spPr>
        <p:txBody>
          <a:bodyPr wrap="square" lIns="0" tIns="0" rIns="0" bIns="0" rtlCol="0" anchor="ctr"/>
          <a:lstStyle/>
          <a:p>
            <a:pPr indent="0" marL="0">
              <a:buNone/>
            </a:pPr>
            <a:r>
              <a:rPr lang="en-US" sz="1200" b="1" dirty="0">
                <a:solidFill>
                  <a:srgbClr val="24313F"/>
                </a:solidFill>
                <a:latin typeface="Arial" pitchFamily="34" charset="0"/>
                <a:ea typeface="Arial" pitchFamily="34" charset="-122"/>
                <a:cs typeface="Arial" pitchFamily="34" charset="-120"/>
              </a:rPr>
              <a:t>ELS</a:t>
            </a:r>
            <a:endParaRPr lang="en-US" sz="1200" dirty="0"/>
          </a:p>
        </p:txBody>
      </p:sp>
      <p:sp>
        <p:nvSpPr>
          <p:cNvPr id="20" name="Text 18"/>
          <p:cNvSpPr/>
          <p:nvPr/>
        </p:nvSpPr>
        <p:spPr>
          <a:xfrm>
            <a:off x="6675120" y="4096512"/>
            <a:ext cx="4114800" cy="402336"/>
          </a:xfrm>
          <a:prstGeom prst="rect">
            <a:avLst/>
          </a:prstGeom>
          <a:noFill/>
          <a:ln/>
        </p:spPr>
        <p:txBody>
          <a:bodyPr wrap="square" lIns="0" tIns="0" rIns="0" bIns="0" rtlCol="0" anchor="ctr"/>
          <a:lstStyle/>
          <a:p>
            <a:pPr indent="0" marL="0">
              <a:buNone/>
            </a:pPr>
            <a:r>
              <a:rPr lang="en-US" sz="1500" dirty="0">
                <a:solidFill>
                  <a:srgbClr val="24313F"/>
                </a:solidFill>
                <a:latin typeface="Georgia" pitchFamily="34" charset="0"/>
                <a:ea typeface="Georgia" pitchFamily="34" charset="-122"/>
                <a:cs typeface="Georgia" pitchFamily="34" charset="-120"/>
              </a:rPr>
              <a:t>Extreme long shot</a:t>
            </a:r>
            <a:endParaRPr lang="en-US" sz="1500" dirty="0"/>
          </a:p>
        </p:txBody>
      </p:sp>
      <p:sp>
        <p:nvSpPr>
          <p:cNvPr id="21" name="Text 19"/>
          <p:cNvSpPr/>
          <p:nvPr/>
        </p:nvSpPr>
        <p:spPr>
          <a:xfrm>
            <a:off x="7680960" y="1828800"/>
            <a:ext cx="3657600" cy="329184"/>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Angles</a:t>
            </a:r>
            <a:endParaRPr lang="en-US" sz="1200" dirty="0"/>
          </a:p>
        </p:txBody>
      </p:sp>
      <p:sp>
        <p:nvSpPr>
          <p:cNvPr id="22" name="Text 20"/>
          <p:cNvSpPr/>
          <p:nvPr/>
        </p:nvSpPr>
        <p:spPr>
          <a:xfrm>
            <a:off x="7680960" y="2176272"/>
            <a:ext cx="4206240" cy="86868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high  ·  low  ·  eye  ·  canted</a:t>
            </a:r>
            <a:endParaRPr lang="en-US" sz="1500" dirty="0"/>
          </a:p>
        </p:txBody>
      </p:sp>
      <p:sp>
        <p:nvSpPr>
          <p:cNvPr id="23" name="Text 21"/>
          <p:cNvSpPr/>
          <p:nvPr/>
        </p:nvSpPr>
        <p:spPr>
          <a:xfrm>
            <a:off x="7680960" y="2743200"/>
            <a:ext cx="3657600" cy="329184"/>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Movement</a:t>
            </a:r>
            <a:endParaRPr lang="en-US" sz="1200" dirty="0"/>
          </a:p>
        </p:txBody>
      </p:sp>
      <p:sp>
        <p:nvSpPr>
          <p:cNvPr id="24" name="Text 22"/>
          <p:cNvSpPr/>
          <p:nvPr/>
        </p:nvSpPr>
        <p:spPr>
          <a:xfrm>
            <a:off x="7680960" y="3090672"/>
            <a:ext cx="4206240" cy="86868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pan  ·  tilt  ·  track  ·  dolly</a:t>
            </a:r>
            <a:endParaRPr lang="en-US" sz="1500" dirty="0"/>
          </a:p>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crane  ·  steadicam  ·  zoom  ·  handheld</a:t>
            </a:r>
            <a:endParaRPr lang="en-US" sz="1500" dirty="0"/>
          </a:p>
        </p:txBody>
      </p:sp>
      <p:sp>
        <p:nvSpPr>
          <p:cNvPr id="25" name="Text 23"/>
          <p:cNvSpPr/>
          <p:nvPr/>
        </p:nvSpPr>
        <p:spPr>
          <a:xfrm>
            <a:off x="7680960" y="4069080"/>
            <a:ext cx="3657600" cy="329184"/>
          </a:xfrm>
          <a:prstGeom prst="rect">
            <a:avLst/>
          </a:prstGeom>
          <a:noFill/>
          <a:ln/>
        </p:spPr>
        <p:txBody>
          <a:bodyPr wrap="square" lIns="0" tIns="0" rIns="0" bIns="0" rtlCol="0" anchor="ctr"/>
          <a:lstStyle/>
          <a:p>
            <a:pPr indent="0" marL="0">
              <a:buNone/>
            </a:pPr>
            <a:r>
              <a:rPr lang="en-US" sz="1200" b="1" spc="150" kern="0" dirty="0">
                <a:solidFill>
                  <a:srgbClr val="4A6B5D"/>
                </a:solidFill>
                <a:latin typeface="Arial" pitchFamily="34" charset="0"/>
                <a:ea typeface="Arial" pitchFamily="34" charset="-122"/>
                <a:cs typeface="Arial" pitchFamily="34" charset="-120"/>
              </a:rPr>
              <a:t>Composition</a:t>
            </a:r>
            <a:endParaRPr lang="en-US" sz="1200" dirty="0"/>
          </a:p>
        </p:txBody>
      </p:sp>
      <p:sp>
        <p:nvSpPr>
          <p:cNvPr id="26" name="Text 24"/>
          <p:cNvSpPr/>
          <p:nvPr/>
        </p:nvSpPr>
        <p:spPr>
          <a:xfrm>
            <a:off x="7680960" y="4416552"/>
            <a:ext cx="4206240" cy="86868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framing  ·  rule of thirds</a:t>
            </a:r>
            <a:endParaRPr lang="en-US" sz="1500" dirty="0"/>
          </a:p>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depth of field  ·  focus pulls</a:t>
            </a:r>
            <a:endParaRPr lang="en-US" sz="1500" dirty="0"/>
          </a:p>
        </p:txBody>
      </p:sp>
      <p:sp>
        <p:nvSpPr>
          <p:cNvPr id="27" name="Shape 25"/>
          <p:cNvSpPr/>
          <p:nvPr/>
        </p:nvSpPr>
        <p:spPr>
          <a:xfrm>
            <a:off x="822960" y="5074920"/>
            <a:ext cx="914400" cy="0"/>
          </a:xfrm>
          <a:prstGeom prst="line">
            <a:avLst/>
          </a:prstGeom>
          <a:noFill/>
          <a:ln w="31750">
            <a:solidFill>
              <a:srgbClr val="8C3A38"/>
            </a:solidFill>
            <a:prstDash val="solid"/>
          </a:ln>
        </p:spPr>
      </p:sp>
      <p:sp>
        <p:nvSpPr>
          <p:cNvPr id="28" name="Text 26"/>
          <p:cNvSpPr/>
          <p:nvPr/>
        </p:nvSpPr>
        <p:spPr>
          <a:xfrm>
            <a:off x="822960" y="5257800"/>
            <a:ext cx="10058400" cy="45720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Name each as a verb: the camera looks up at, creeps toward, refuses to follow.</a:t>
            </a:r>
            <a:endParaRPr lang="en-US" sz="1700" dirty="0"/>
          </a:p>
        </p:txBody>
      </p:sp>
      <p:sp>
        <p:nvSpPr>
          <p:cNvPr id="29" name="Shape 27"/>
          <p:cNvSpPr/>
          <p:nvPr/>
        </p:nvSpPr>
        <p:spPr>
          <a:xfrm>
            <a:off x="822960" y="6382512"/>
            <a:ext cx="10543032" cy="0"/>
          </a:xfrm>
          <a:prstGeom prst="line">
            <a:avLst/>
          </a:prstGeom>
          <a:noFill/>
          <a:ln w="9525">
            <a:solidFill>
              <a:srgbClr val="D9D4C4"/>
            </a:solidFill>
            <a:prstDash val="solid"/>
          </a:ln>
        </p:spPr>
      </p:sp>
      <p:sp>
        <p:nvSpPr>
          <p:cNvPr id="30" name="Text 2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1" name="Text 2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coburn-spires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822960" y="82296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ANGLE · VIEWPOINT</a:t>
            </a:r>
            <a:endParaRPr lang="en-US" sz="1100" dirty="0"/>
          </a:p>
        </p:txBody>
      </p:sp>
      <p:sp>
        <p:nvSpPr>
          <p:cNvPr id="4" name="Shape 1"/>
          <p:cNvSpPr/>
          <p:nvPr/>
        </p:nvSpPr>
        <p:spPr>
          <a:xfrm>
            <a:off x="822960" y="1188720"/>
            <a:ext cx="6400800" cy="0"/>
          </a:xfrm>
          <a:prstGeom prst="line">
            <a:avLst/>
          </a:prstGeom>
          <a:noFill/>
          <a:ln w="9525">
            <a:solidFill>
              <a:srgbClr val="D9D4C4"/>
            </a:solidFill>
            <a:prstDash val="solid"/>
          </a:ln>
        </p:spPr>
      </p:sp>
      <p:sp>
        <p:nvSpPr>
          <p:cNvPr id="5" name="Text 2"/>
          <p:cNvSpPr/>
          <p:nvPr/>
        </p:nvSpPr>
        <p:spPr>
          <a:xfrm>
            <a:off x="822960" y="1371600"/>
            <a:ext cx="6400800" cy="822960"/>
          </a:xfrm>
          <a:prstGeom prst="rect">
            <a:avLst/>
          </a:prstGeom>
          <a:noFill/>
          <a:ln/>
        </p:spPr>
        <p:txBody>
          <a:bodyPr wrap="square" lIns="0" tIns="0" rIns="0" bIns="0" rtlCol="0" anchor="ctr"/>
          <a:lstStyle/>
          <a:p>
            <a:pPr indent="0" marL="0">
              <a:buNone/>
            </a:pPr>
            <a:r>
              <a:rPr lang="en-US" sz="4000" dirty="0">
                <a:solidFill>
                  <a:srgbClr val="24313F"/>
                </a:solidFill>
                <a:latin typeface="Georgia" pitchFamily="34" charset="0"/>
                <a:ea typeface="Georgia" pitchFamily="34" charset="-122"/>
                <a:cs typeface="Georgia" pitchFamily="34" charset="-120"/>
              </a:rPr>
              <a:t>Nobody stands here</a:t>
            </a:r>
            <a:endParaRPr lang="en-US" sz="4000" dirty="0"/>
          </a:p>
        </p:txBody>
      </p:sp>
      <p:sp>
        <p:nvSpPr>
          <p:cNvPr id="6" name="Text 3"/>
          <p:cNvSpPr/>
          <p:nvPr/>
        </p:nvSpPr>
        <p:spPr>
          <a:xfrm>
            <a:off x="822960" y="2331720"/>
            <a:ext cx="6400800" cy="3108960"/>
          </a:xfrm>
          <a:prstGeom prst="rect">
            <a:avLst/>
          </a:prstGeom>
          <a:noFill/>
          <a:ln/>
        </p:spPr>
        <p:txBody>
          <a:bodyPr wrap="square" lIns="0" tIns="0" rIns="0" bIns="0" rtlCol="0" anchor="t"/>
          <a:lstStyle/>
          <a:p>
            <a:pPr indent="0" marL="0">
              <a:lnSpc>
                <a:spcPts val="2500"/>
              </a:lnSpc>
              <a:buNone/>
            </a:pPr>
            <a:r>
              <a:rPr lang="en-US" sz="1750" dirty="0">
                <a:solidFill>
                  <a:srgbClr val="24313F"/>
                </a:solidFill>
                <a:latin typeface="Georgia" pitchFamily="34" charset="0"/>
                <a:ea typeface="Georgia" pitchFamily="34" charset="-122"/>
                <a:cs typeface="Georgia" pitchFamily="34" charset="-120"/>
              </a:rPr>
              <a:t>The photographer climbed to make this frame, and the climb is the argument. From above, the crowd is pattern rather than people, the spires outrank the street, and the smoke is allowed to interrupt the city. A high angle does not simply show a place. It ranks what is in it.</a:t>
            </a:r>
            <a:endParaRPr lang="en-US" sz="1750" dirty="0"/>
          </a:p>
          <a:p>
            <a:pPr indent="0" marL="0">
              <a:lnSpc>
                <a:spcPts val="2500"/>
              </a:lnSpc>
              <a:buNone/>
            </a:pPr>
            <a:endParaRPr lang="en-US" sz="1750" dirty="0"/>
          </a:p>
          <a:p>
            <a:pPr indent="0" marL="0">
              <a:lnSpc>
                <a:spcPts val="2500"/>
              </a:lnSpc>
              <a:buNone/>
            </a:pPr>
            <a:r>
              <a:rPr lang="en-US" sz="1750" dirty="0">
                <a:solidFill>
                  <a:srgbClr val="24313F"/>
                </a:solidFill>
                <a:latin typeface="Georgia" pitchFamily="34" charset="0"/>
                <a:ea typeface="Georgia" pitchFamily="34" charset="-122"/>
                <a:cs typeface="Georgia" pitchFamily="34" charset="-120"/>
              </a:rPr>
              <a:t>Ask of any frame: could I stand where the camera is standing? If not, the viewpoint is a claim.</a:t>
            </a:r>
            <a:endParaRPr lang="en-US" sz="1750" dirty="0"/>
          </a:p>
        </p:txBody>
      </p:sp>
      <p:sp>
        <p:nvSpPr>
          <p:cNvPr id="7" name="Text 4"/>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Alvin Langdon Coburn, St. Paul's and Other Spires, c. 1905</a:t>
            </a:r>
            <a:endParaRPr lang="en-US" sz="950" dirty="0"/>
          </a:p>
        </p:txBody>
      </p:sp>
      <p:sp>
        <p:nvSpPr>
          <p:cNvPr id="8" name="Shape 5"/>
          <p:cNvSpPr/>
          <p:nvPr/>
        </p:nvSpPr>
        <p:spPr>
          <a:xfrm>
            <a:off x="822960" y="6382512"/>
            <a:ext cx="10543032" cy="0"/>
          </a:xfrm>
          <a:prstGeom prst="line">
            <a:avLst/>
          </a:prstGeom>
          <a:noFill/>
          <a:ln w="9525">
            <a:solidFill>
              <a:srgbClr val="D9D4C4"/>
            </a:solidFill>
            <a:prstDash val="solid"/>
          </a:ln>
        </p:spPr>
      </p:sp>
      <p:sp>
        <p:nvSpPr>
          <p:cNvPr id="9" name="Text 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0" name="Text 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HALF THAT EARNS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NAMING ALONE IS WORTH ALMOST NOTHING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Two sentences, not one</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7A7F72"/>
                </a:solidFill>
                <a:latin typeface="Georgia" pitchFamily="34" charset="0"/>
                <a:ea typeface="Georgia" pitchFamily="34" charset="-122"/>
                <a:cs typeface="Georgia" pitchFamily="34" charset="-120"/>
              </a:rPr>
              <a:t>What the camera did</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1371600"/>
          </a:xfrm>
          <a:prstGeom prst="rect">
            <a:avLst/>
          </a:prstGeom>
          <a:noFill/>
          <a:ln/>
        </p:spPr>
        <p:txBody>
          <a:bodyPr wrap="square" lIns="0" tIns="0" rIns="0" bIns="0" rtlCol="0" anchor="t"/>
          <a:lstStyle/>
          <a:p>
            <a:pPr indent="0" marL="0">
              <a:lnSpc>
                <a:spcPts val="2500"/>
              </a:lnSpc>
              <a:buNone/>
            </a:pPr>
            <a:r>
              <a:rPr lang="en-US" sz="1800" dirty="0">
                <a:solidFill>
                  <a:srgbClr val="24313F"/>
                </a:solidFill>
                <a:latin typeface="Georgia" pitchFamily="34" charset="0"/>
                <a:ea typeface="Georgia" pitchFamily="34" charset="-122"/>
                <a:cs typeface="Georgia" pitchFamily="34" charset="-120"/>
              </a:rPr>
              <a:t>A low-angle mid shot holds the detective against the ceiling line.</a:t>
            </a:r>
            <a:endParaRPr lang="en-US" sz="1800" dirty="0"/>
          </a:p>
        </p:txBody>
      </p:sp>
      <p:sp>
        <p:nvSpPr>
          <p:cNvPr id="9" name="Text 7"/>
          <p:cNvSpPr/>
          <p:nvPr/>
        </p:nvSpPr>
        <p:spPr>
          <a:xfrm>
            <a:off x="822960" y="4114800"/>
            <a:ext cx="4846320" cy="91440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This half is free. Anyone with the glossary can write it.</a:t>
            </a:r>
            <a:endParaRPr lang="en-US" sz="1250" dirty="0"/>
          </a:p>
        </p:txBody>
      </p:sp>
      <p:sp>
        <p:nvSpPr>
          <p:cNvPr id="10" name="Text 8"/>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What it did to you</a:t>
            </a:r>
            <a:endParaRPr lang="en-US" sz="2400" dirty="0"/>
          </a:p>
        </p:txBody>
      </p:sp>
      <p:sp>
        <p:nvSpPr>
          <p:cNvPr id="11" name="Shape 9"/>
          <p:cNvSpPr/>
          <p:nvPr/>
        </p:nvSpPr>
        <p:spPr>
          <a:xfrm>
            <a:off x="6309360" y="2560320"/>
            <a:ext cx="4754880" cy="0"/>
          </a:xfrm>
          <a:prstGeom prst="line">
            <a:avLst/>
          </a:prstGeom>
          <a:noFill/>
          <a:ln w="9525">
            <a:solidFill>
              <a:srgbClr val="D9D4C4"/>
            </a:solidFill>
            <a:prstDash val="solid"/>
          </a:ln>
        </p:spPr>
      </p:sp>
      <p:sp>
        <p:nvSpPr>
          <p:cNvPr id="12" name="Text 10"/>
          <p:cNvSpPr/>
          <p:nvPr/>
        </p:nvSpPr>
        <p:spPr>
          <a:xfrm>
            <a:off x="6309360" y="2697480"/>
            <a:ext cx="4846320" cy="1371600"/>
          </a:xfrm>
          <a:prstGeom prst="rect">
            <a:avLst/>
          </a:prstGeom>
          <a:noFill/>
          <a:ln/>
        </p:spPr>
        <p:txBody>
          <a:bodyPr wrap="square" lIns="0" tIns="0" rIns="0" bIns="0" rtlCol="0" anchor="t"/>
          <a:lstStyle/>
          <a:p>
            <a:pPr indent="0" marL="0">
              <a:lnSpc>
                <a:spcPts val="2500"/>
              </a:lnSpc>
              <a:buNone/>
            </a:pPr>
            <a:r>
              <a:rPr lang="en-US" sz="1800" dirty="0">
                <a:solidFill>
                  <a:srgbClr val="24313F"/>
                </a:solidFill>
                <a:latin typeface="Georgia" pitchFamily="34" charset="0"/>
                <a:ea typeface="Georgia" pitchFamily="34" charset="-122"/>
                <a:cs typeface="Georgia" pitchFamily="34" charset="-120"/>
              </a:rPr>
              <a:t>The viewer is placed beneath him, so his authority is a fact of the room before he speaks.</a:t>
            </a:r>
            <a:endParaRPr lang="en-US" sz="1800" dirty="0"/>
          </a:p>
        </p:txBody>
      </p:sp>
      <p:sp>
        <p:nvSpPr>
          <p:cNvPr id="13" name="Text 11"/>
          <p:cNvSpPr/>
          <p:nvPr/>
        </p:nvSpPr>
        <p:spPr>
          <a:xfrm>
            <a:off x="6309360" y="4114800"/>
            <a:ext cx="4846320" cy="91440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This half is the mark, and it is where most scripts stop short.</a:t>
            </a:r>
            <a:endParaRPr lang="en-US" sz="1250" dirty="0"/>
          </a:p>
        </p:txBody>
      </p:sp>
      <p:sp>
        <p:nvSpPr>
          <p:cNvPr id="14" name="Shape 12"/>
          <p:cNvSpPr/>
          <p:nvPr/>
        </p:nvSpPr>
        <p:spPr>
          <a:xfrm>
            <a:off x="822960" y="5212080"/>
            <a:ext cx="914400" cy="0"/>
          </a:xfrm>
          <a:prstGeom prst="line">
            <a:avLst/>
          </a:prstGeom>
          <a:noFill/>
          <a:ln w="31750">
            <a:solidFill>
              <a:srgbClr val="8C3A38"/>
            </a:solidFill>
            <a:prstDash val="solid"/>
          </a:ln>
        </p:spPr>
      </p:sp>
      <p:sp>
        <p:nvSpPr>
          <p:cNvPr id="15" name="Text 13"/>
          <p:cNvSpPr/>
          <p:nvPr/>
        </p:nvSpPr>
        <p:spPr>
          <a:xfrm>
            <a:off x="822960" y="5394960"/>
            <a:ext cx="10058400" cy="45720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Low angle: he towers. I am small. Say both halves, every time.</a:t>
            </a:r>
            <a:endParaRPr lang="en-US" sz="1700" dirty="0"/>
          </a:p>
        </p:txBody>
      </p:sp>
      <p:sp>
        <p:nvSpPr>
          <p:cNvPr id="16" name="Shape 14"/>
          <p:cNvSpPr/>
          <p:nvPr/>
        </p:nvSpPr>
        <p:spPr>
          <a:xfrm>
            <a:off x="822960" y="6382512"/>
            <a:ext cx="10543032" cy="0"/>
          </a:xfrm>
          <a:prstGeom prst="line">
            <a:avLst/>
          </a:prstGeom>
          <a:noFill/>
          <a:ln w="9525">
            <a:solidFill>
              <a:srgbClr val="D9D4C4"/>
            </a:solidFill>
            <a:prstDash val="solid"/>
          </a:ln>
        </p:spPr>
      </p:sp>
      <p:sp>
        <p:nvSpPr>
          <p:cNvPr id="17"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8"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CAMERA POWER · THE REPRESENTATION TURN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CAMBRIDGE'S OWN EXERCISE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questions of one extract</a:t>
            </a:r>
            <a:endParaRPr lang="en-US" sz="3200" dirty="0"/>
          </a:p>
        </p:txBody>
      </p:sp>
      <p:sp>
        <p:nvSpPr>
          <p:cNvPr id="6" name="Text 4"/>
          <p:cNvSpPr/>
          <p:nvPr/>
        </p:nvSpPr>
        <p:spPr>
          <a:xfrm>
            <a:off x="822960"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01</a:t>
            </a:r>
            <a:endParaRPr lang="en-US" sz="3000" dirty="0"/>
          </a:p>
        </p:txBody>
      </p:sp>
      <p:sp>
        <p:nvSpPr>
          <p:cNvPr id="7" name="Text 5"/>
          <p:cNvSpPr/>
          <p:nvPr/>
        </p:nvSpPr>
        <p:spPr>
          <a:xfrm>
            <a:off x="1737360" y="193852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is shot from below</a:t>
            </a:r>
            <a:endParaRPr lang="en-US" sz="2100" dirty="0"/>
          </a:p>
        </p:txBody>
      </p:sp>
      <p:sp>
        <p:nvSpPr>
          <p:cNvPr id="8" name="Text 6"/>
          <p:cNvSpPr/>
          <p:nvPr/>
        </p:nvSpPr>
        <p:spPr>
          <a:xfrm>
            <a:off x="1737360" y="245059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and therefore granted height, threat or authority by the frame.</a:t>
            </a:r>
            <a:endParaRPr lang="en-US" sz="1550" dirty="0"/>
          </a:p>
        </p:txBody>
      </p:sp>
      <p:sp>
        <p:nvSpPr>
          <p:cNvPr id="9" name="Text 7"/>
          <p:cNvSpPr/>
          <p:nvPr/>
        </p:nvSpPr>
        <p:spPr>
          <a:xfrm>
            <a:off x="6368796" y="192024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02</a:t>
            </a:r>
            <a:endParaRPr lang="en-US" sz="3000" dirty="0"/>
          </a:p>
        </p:txBody>
      </p:sp>
      <p:sp>
        <p:nvSpPr>
          <p:cNvPr id="10" name="Text 8"/>
          <p:cNvSpPr/>
          <p:nvPr/>
        </p:nvSpPr>
        <p:spPr>
          <a:xfrm>
            <a:off x="7283196" y="193852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is shot from above</a:t>
            </a:r>
            <a:endParaRPr lang="en-US" sz="2100" dirty="0"/>
          </a:p>
        </p:txBody>
      </p:sp>
      <p:sp>
        <p:nvSpPr>
          <p:cNvPr id="11" name="Text 9"/>
          <p:cNvSpPr/>
          <p:nvPr/>
        </p:nvSpPr>
        <p:spPr>
          <a:xfrm>
            <a:off x="7283196" y="245059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and therefore made small, watched, or available to be judged.</a:t>
            </a:r>
            <a:endParaRPr lang="en-US" sz="1550" dirty="0"/>
          </a:p>
        </p:txBody>
      </p:sp>
      <p:sp>
        <p:nvSpPr>
          <p:cNvPr id="12" name="Text 10"/>
          <p:cNvSpPr/>
          <p:nvPr/>
        </p:nvSpPr>
        <p:spPr>
          <a:xfrm>
            <a:off x="822960"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03</a:t>
            </a:r>
            <a:endParaRPr lang="en-US" sz="3000" dirty="0"/>
          </a:p>
        </p:txBody>
      </p:sp>
      <p:sp>
        <p:nvSpPr>
          <p:cNvPr id="13" name="Text 11"/>
          <p:cNvSpPr/>
          <p:nvPr/>
        </p:nvSpPr>
        <p:spPr>
          <a:xfrm>
            <a:off x="1737360" y="413308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gets the close-ups</a:t>
            </a:r>
            <a:endParaRPr lang="en-US" sz="2100" dirty="0"/>
          </a:p>
        </p:txBody>
      </p:sp>
      <p:sp>
        <p:nvSpPr>
          <p:cNvPr id="14" name="Text 12"/>
          <p:cNvSpPr/>
          <p:nvPr/>
        </p:nvSpPr>
        <p:spPr>
          <a:xfrm>
            <a:off x="1737360" y="464515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and therefore an interior life the viewer is invited to share.</a:t>
            </a:r>
            <a:endParaRPr lang="en-US" sz="1550" dirty="0"/>
          </a:p>
        </p:txBody>
      </p:sp>
      <p:sp>
        <p:nvSpPr>
          <p:cNvPr id="15" name="Text 13"/>
          <p:cNvSpPr/>
          <p:nvPr/>
        </p:nvSpPr>
        <p:spPr>
          <a:xfrm>
            <a:off x="6368796" y="4114800"/>
            <a:ext cx="914400" cy="548640"/>
          </a:xfrm>
          <a:prstGeom prst="rect">
            <a:avLst/>
          </a:prstGeom>
          <a:noFill/>
          <a:ln/>
        </p:spPr>
        <p:txBody>
          <a:bodyPr wrap="square" lIns="0" tIns="0" rIns="0" bIns="0" rtlCol="0" anchor="ctr"/>
          <a:lstStyle/>
          <a:p>
            <a:pPr indent="0" marL="0">
              <a:buNone/>
            </a:pPr>
            <a:r>
              <a:rPr lang="en-US" sz="3000" dirty="0">
                <a:solidFill>
                  <a:srgbClr val="A3C1AD"/>
                </a:solidFill>
                <a:latin typeface="Georgia" pitchFamily="34" charset="0"/>
                <a:ea typeface="Georgia" pitchFamily="34" charset="-122"/>
                <a:cs typeface="Georgia" pitchFamily="34" charset="-120"/>
              </a:rPr>
              <a:t>04</a:t>
            </a:r>
            <a:endParaRPr lang="en-US" sz="3000" dirty="0"/>
          </a:p>
        </p:txBody>
      </p:sp>
      <p:sp>
        <p:nvSpPr>
          <p:cNvPr id="16" name="Text 14"/>
          <p:cNvSpPr/>
          <p:nvPr/>
        </p:nvSpPr>
        <p:spPr>
          <a:xfrm>
            <a:off x="7283196" y="4133088"/>
            <a:ext cx="4082796"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stays in the wide</a:t>
            </a:r>
            <a:endParaRPr lang="en-US" sz="2100" dirty="0"/>
          </a:p>
        </p:txBody>
      </p:sp>
      <p:sp>
        <p:nvSpPr>
          <p:cNvPr id="17" name="Text 15"/>
          <p:cNvSpPr/>
          <p:nvPr/>
        </p:nvSpPr>
        <p:spPr>
          <a:xfrm>
            <a:off x="7283196" y="4645152"/>
            <a:ext cx="4082796" cy="11887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and therefore stays a figure in a situation, not a person in a story.</a:t>
            </a:r>
            <a:endParaRPr lang="en-US" sz="1550" dirty="0"/>
          </a:p>
        </p:txBody>
      </p:sp>
      <p:sp>
        <p:nvSpPr>
          <p:cNvPr id="18" name="Shape 16"/>
          <p:cNvSpPr/>
          <p:nvPr/>
        </p:nvSpPr>
        <p:spPr>
          <a:xfrm>
            <a:off x="822960" y="5806440"/>
            <a:ext cx="914400" cy="0"/>
          </a:xfrm>
          <a:prstGeom prst="line">
            <a:avLst/>
          </a:prstGeom>
          <a:noFill/>
          <a:ln w="31750">
            <a:solidFill>
              <a:srgbClr val="8C3A38"/>
            </a:solidFill>
            <a:prstDash val="solid"/>
          </a:ln>
        </p:spPr>
      </p:sp>
      <p:sp>
        <p:nvSpPr>
          <p:cNvPr id="19" name="Text 17"/>
          <p:cNvSpPr/>
          <p:nvPr/>
        </p:nvSpPr>
        <p:spPr>
          <a:xfrm>
            <a:off x="822960" y="5943600"/>
            <a:ext cx="10515600"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Then the question the mind map is for: what does the camera suggest about hierarchy here?</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COMPOSITION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FRAMING · THIRDS · DEPTH</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4572000" cy="51206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evans-sea-of-steps.jpg">    </p:cNvPr>
          <p:cNvPicPr>
            <a:picLocks noChangeAspect="1"/>
          </p:cNvPicPr>
          <p:nvPr/>
        </p:nvPicPr>
        <p:blipFill>
          <a:blip r:embed="rId1"/>
          <a:stretch>
            <a:fillRect/>
          </a:stretch>
        </p:blipFill>
        <p:spPr>
          <a:xfrm>
            <a:off x="1123592" y="1179576"/>
            <a:ext cx="3970736" cy="4864608"/>
          </a:xfrm>
          <a:prstGeom prst="rect">
            <a:avLst/>
          </a:prstGeom>
        </p:spPr>
      </p:pic>
      <p:sp>
        <p:nvSpPr>
          <p:cNvPr id="7" name="Text 4"/>
          <p:cNvSpPr/>
          <p:nvPr/>
        </p:nvSpPr>
        <p:spPr>
          <a:xfrm>
            <a:off x="5943600" y="1188720"/>
            <a:ext cx="5486400" cy="822960"/>
          </a:xfrm>
          <a:prstGeom prst="rect">
            <a:avLst/>
          </a:prstGeom>
          <a:noFill/>
          <a:ln/>
        </p:spPr>
        <p:txBody>
          <a:bodyPr wrap="square" lIns="0" tIns="0" rIns="0" bIns="0" rtlCol="0" anchor="t"/>
          <a:lstStyle/>
          <a:p>
            <a:pPr indent="0" marL="0">
              <a:lnSpc>
                <a:spcPts val="3800"/>
              </a:lnSpc>
              <a:buNone/>
            </a:pPr>
            <a:r>
              <a:rPr lang="en-US" sz="3400" dirty="0">
                <a:solidFill>
                  <a:srgbClr val="24313F"/>
                </a:solidFill>
                <a:latin typeface="Georgia" pitchFamily="34" charset="0"/>
                <a:ea typeface="Georgia" pitchFamily="34" charset="-122"/>
                <a:cs typeface="Georgia" pitchFamily="34" charset="-120"/>
              </a:rPr>
              <a:t>Nothing here is an accident</a:t>
            </a:r>
            <a:endParaRPr lang="en-US" sz="3400" dirty="0"/>
          </a:p>
        </p:txBody>
      </p:sp>
      <p:sp>
        <p:nvSpPr>
          <p:cNvPr id="8" name="Shape 5"/>
          <p:cNvSpPr/>
          <p:nvPr/>
        </p:nvSpPr>
        <p:spPr>
          <a:xfrm>
            <a:off x="5943600" y="2286000"/>
            <a:ext cx="5486400" cy="0"/>
          </a:xfrm>
          <a:prstGeom prst="line">
            <a:avLst/>
          </a:prstGeom>
          <a:noFill/>
          <a:ln w="9525">
            <a:solidFill>
              <a:srgbClr val="D9D4C4"/>
            </a:solidFill>
            <a:prstDash val="solid"/>
          </a:ln>
        </p:spPr>
      </p:sp>
      <p:sp>
        <p:nvSpPr>
          <p:cNvPr id="9" name="Text 6"/>
          <p:cNvSpPr/>
          <p:nvPr/>
        </p:nvSpPr>
        <p:spPr>
          <a:xfrm>
            <a:off x="5943600" y="2487168"/>
            <a:ext cx="5486400" cy="310896"/>
          </a:xfrm>
          <a:prstGeom prst="rect">
            <a:avLst/>
          </a:prstGeom>
          <a:noFill/>
          <a:ln/>
        </p:spPr>
        <p:txBody>
          <a:bodyPr wrap="square" lIns="0" tIns="0" rIns="0" bIns="0" rtlCol="0" anchor="ctr"/>
          <a:lstStyle/>
          <a:p>
            <a:pPr indent="0" marL="0">
              <a:buNone/>
            </a:pPr>
            <a:r>
              <a:rPr lang="en-US" sz="1200" b="1" spc="120" kern="0" dirty="0">
                <a:solidFill>
                  <a:srgbClr val="4A6B5D"/>
                </a:solidFill>
                <a:latin typeface="Arial" pitchFamily="34" charset="0"/>
                <a:ea typeface="Arial" pitchFamily="34" charset="-122"/>
                <a:cs typeface="Arial" pitchFamily="34" charset="-120"/>
              </a:rPr>
              <a:t>Framing</a:t>
            </a:r>
            <a:endParaRPr lang="en-US" sz="1200" dirty="0"/>
          </a:p>
        </p:txBody>
      </p:sp>
      <p:sp>
        <p:nvSpPr>
          <p:cNvPr id="10" name="Text 7"/>
          <p:cNvSpPr/>
          <p:nvPr/>
        </p:nvSpPr>
        <p:spPr>
          <a:xfrm>
            <a:off x="5943600" y="2798064"/>
            <a:ext cx="5486400" cy="658368"/>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The arch inside the frame makes a second frame, and the eye goes where the frames agree.</a:t>
            </a:r>
            <a:endParaRPr lang="en-US" sz="1500" dirty="0"/>
          </a:p>
        </p:txBody>
      </p:sp>
      <p:sp>
        <p:nvSpPr>
          <p:cNvPr id="11" name="Text 8"/>
          <p:cNvSpPr/>
          <p:nvPr/>
        </p:nvSpPr>
        <p:spPr>
          <a:xfrm>
            <a:off x="5943600" y="3456432"/>
            <a:ext cx="5486400" cy="310896"/>
          </a:xfrm>
          <a:prstGeom prst="rect">
            <a:avLst/>
          </a:prstGeom>
          <a:noFill/>
          <a:ln/>
        </p:spPr>
        <p:txBody>
          <a:bodyPr wrap="square" lIns="0" tIns="0" rIns="0" bIns="0" rtlCol="0" anchor="ctr"/>
          <a:lstStyle/>
          <a:p>
            <a:pPr indent="0" marL="0">
              <a:buNone/>
            </a:pPr>
            <a:r>
              <a:rPr lang="en-US" sz="1200" b="1" spc="120" kern="0" dirty="0">
                <a:solidFill>
                  <a:srgbClr val="4A6B5D"/>
                </a:solidFill>
                <a:latin typeface="Arial" pitchFamily="34" charset="0"/>
                <a:ea typeface="Arial" pitchFamily="34" charset="-122"/>
                <a:cs typeface="Arial" pitchFamily="34" charset="-120"/>
              </a:rPr>
              <a:t>Leading lines</a:t>
            </a:r>
            <a:endParaRPr lang="en-US" sz="1200" dirty="0"/>
          </a:p>
        </p:txBody>
      </p:sp>
      <p:sp>
        <p:nvSpPr>
          <p:cNvPr id="12" name="Text 9"/>
          <p:cNvSpPr/>
          <p:nvPr/>
        </p:nvSpPr>
        <p:spPr>
          <a:xfrm>
            <a:off x="5943600" y="3767328"/>
            <a:ext cx="5486400" cy="658368"/>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The steps are a route. The composition tells you where to walk before you decide to.</a:t>
            </a:r>
            <a:endParaRPr lang="en-US" sz="1500" dirty="0"/>
          </a:p>
        </p:txBody>
      </p:sp>
      <p:sp>
        <p:nvSpPr>
          <p:cNvPr id="13" name="Text 10"/>
          <p:cNvSpPr/>
          <p:nvPr/>
        </p:nvSpPr>
        <p:spPr>
          <a:xfrm>
            <a:off x="5943600" y="4425696"/>
            <a:ext cx="5486400" cy="310896"/>
          </a:xfrm>
          <a:prstGeom prst="rect">
            <a:avLst/>
          </a:prstGeom>
          <a:noFill/>
          <a:ln/>
        </p:spPr>
        <p:txBody>
          <a:bodyPr wrap="square" lIns="0" tIns="0" rIns="0" bIns="0" rtlCol="0" anchor="ctr"/>
          <a:lstStyle/>
          <a:p>
            <a:pPr indent="0" marL="0">
              <a:buNone/>
            </a:pPr>
            <a:r>
              <a:rPr lang="en-US" sz="1200" b="1" spc="120" kern="0" dirty="0">
                <a:solidFill>
                  <a:srgbClr val="4A6B5D"/>
                </a:solidFill>
                <a:latin typeface="Arial" pitchFamily="34" charset="0"/>
                <a:ea typeface="Arial" pitchFamily="34" charset="-122"/>
                <a:cs typeface="Arial" pitchFamily="34" charset="-120"/>
              </a:rPr>
              <a:t>Depth</a:t>
            </a:r>
            <a:endParaRPr lang="en-US" sz="1200" dirty="0"/>
          </a:p>
        </p:txBody>
      </p:sp>
      <p:sp>
        <p:nvSpPr>
          <p:cNvPr id="14" name="Text 11"/>
          <p:cNvSpPr/>
          <p:nvPr/>
        </p:nvSpPr>
        <p:spPr>
          <a:xfrm>
            <a:off x="5943600" y="4736592"/>
            <a:ext cx="5486400" cy="658368"/>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Foreground stone, middle arch, far light: three planes, so the flat picture reads as a space.</a:t>
            </a:r>
            <a:endParaRPr lang="en-US" sz="1500" dirty="0"/>
          </a:p>
        </p:txBody>
      </p:sp>
      <p:sp>
        <p:nvSpPr>
          <p:cNvPr id="15" name="Text 12"/>
          <p:cNvSpPr/>
          <p:nvPr/>
        </p:nvSpPr>
        <p:spPr>
          <a:xfrm>
            <a:off x="5943600" y="5394960"/>
            <a:ext cx="5486400" cy="310896"/>
          </a:xfrm>
          <a:prstGeom prst="rect">
            <a:avLst/>
          </a:prstGeom>
          <a:noFill/>
          <a:ln/>
        </p:spPr>
        <p:txBody>
          <a:bodyPr wrap="square" lIns="0" tIns="0" rIns="0" bIns="0" rtlCol="0" anchor="ctr"/>
          <a:lstStyle/>
          <a:p>
            <a:pPr indent="0" marL="0">
              <a:buNone/>
            </a:pPr>
            <a:r>
              <a:rPr lang="en-US" sz="1200" b="1" spc="120" kern="0" dirty="0">
                <a:solidFill>
                  <a:srgbClr val="4A6B5D"/>
                </a:solidFill>
                <a:latin typeface="Arial" pitchFamily="34" charset="0"/>
                <a:ea typeface="Arial" pitchFamily="34" charset="-122"/>
                <a:cs typeface="Arial" pitchFamily="34" charset="-120"/>
              </a:rPr>
              <a:t>The rule of thirds</a:t>
            </a:r>
            <a:endParaRPr lang="en-US" sz="1200" dirty="0"/>
          </a:p>
        </p:txBody>
      </p:sp>
      <p:sp>
        <p:nvSpPr>
          <p:cNvPr id="16" name="Text 13"/>
          <p:cNvSpPr/>
          <p:nvPr/>
        </p:nvSpPr>
        <p:spPr>
          <a:xfrm>
            <a:off x="5943600" y="5705856"/>
            <a:ext cx="5486400" cy="658368"/>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The bright doorway sits off centre. Dead centre would have made it an object; off centre makes it a destination.</a:t>
            </a:r>
            <a:endParaRPr lang="en-US" sz="1500" dirty="0"/>
          </a:p>
        </p:txBody>
      </p:sp>
      <p:sp>
        <p:nvSpPr>
          <p:cNvPr id="17" name="Text 14"/>
          <p:cNvSpPr/>
          <p:nvPr/>
        </p:nvSpPr>
        <p:spPr>
          <a:xfrm>
            <a:off x="822960" y="6236208"/>
            <a:ext cx="457200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Frederick H. Evans, A Sea of Steps, Wells Cathedral, 1903</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600"/>
              </a:lnSpc>
              <a:buNone/>
            </a:pPr>
            <a:r>
              <a:rPr lang="en-US" sz="3600" dirty="0">
                <a:solidFill>
                  <a:srgbClr val="24313F"/>
                </a:solidFill>
                <a:latin typeface="Georgia" pitchFamily="34" charset="0"/>
                <a:ea typeface="Georgia" pitchFamily="34" charset="-122"/>
                <a:cs typeface="Georgia" pitchFamily="34" charset="-120"/>
              </a:rPr>
              <a:t>A series of short, self-contained exercises with camera (or even phone) can combine technical elements with story elements.</a:t>
            </a:r>
            <a:endParaRPr lang="en-US" sz="36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CS3</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TUESDAY, THE WHOLE SESSION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188720"/>
            <a:ext cx="10543032" cy="91440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Six shots, your kit, posted before you leave</a:t>
            </a:r>
            <a:endParaRPr lang="en-US" sz="3600" dirty="0"/>
          </a:p>
        </p:txBody>
      </p:sp>
      <p:sp>
        <p:nvSpPr>
          <p:cNvPr id="6" name="Shape 4"/>
          <p:cNvSpPr/>
          <p:nvPr/>
        </p:nvSpPr>
        <p:spPr>
          <a:xfrm>
            <a:off x="822960" y="2377440"/>
            <a:ext cx="914400" cy="0"/>
          </a:xfrm>
          <a:prstGeom prst="line">
            <a:avLst/>
          </a:prstGeom>
          <a:noFill/>
          <a:ln w="31750">
            <a:solidFill>
              <a:srgbClr val="8C3A38"/>
            </a:solidFill>
            <a:prstDash val="solid"/>
          </a:ln>
        </p:spPr>
      </p:sp>
      <p:sp>
        <p:nvSpPr>
          <p:cNvPr id="7" name="Text 5"/>
          <p:cNvSpPr/>
          <p:nvPr/>
        </p:nvSpPr>
        <p:spPr>
          <a:xfrm>
            <a:off x="822960" y="2606040"/>
            <a:ext cx="9875520" cy="1645920"/>
          </a:xfrm>
          <a:prstGeom prst="rect">
            <a:avLst/>
          </a:prstGeom>
          <a:noFill/>
          <a:ln/>
        </p:spPr>
        <p:txBody>
          <a:bodyPr wrap="square" lIns="0" tIns="0" rIns="0" bIns="0" rtlCol="0" anchor="t"/>
          <a:lstStyle/>
          <a:p>
            <a:pPr indent="0" marL="0">
              <a:lnSpc>
                <a:spcPts val="2700"/>
              </a:lnSpc>
              <a:buNone/>
            </a:pPr>
            <a:r>
              <a:rPr lang="en-US" sz="1900" dirty="0">
                <a:solidFill>
                  <a:srgbClr val="24313F"/>
                </a:solidFill>
                <a:latin typeface="Georgia" pitchFamily="34" charset="0"/>
                <a:ea typeface="Georgia" pitchFamily="34" charset="-122"/>
                <a:cs typeface="Georgia" pitchFamily="34" charset="-120"/>
              </a:rPr>
              <a:t>In pairs, to a six-frame storyboard you did not draw: an establishing shot, a mid shot on a character, a slow tilt up to reveal, a close-up on an object, a low angle on the same character, and a point-of-view shot. No plot, no acting, no takes. The exercise is the camera.</a:t>
            </a:r>
            <a:endParaRPr lang="en-US" sz="1900" dirty="0"/>
          </a:p>
        </p:txBody>
      </p:sp>
      <p:sp>
        <p:nvSpPr>
          <p:cNvPr id="8" name="Text 6"/>
          <p:cNvSpPr/>
          <p:nvPr/>
        </p:nvSpPr>
        <p:spPr>
          <a:xfrm>
            <a:off x="822960" y="4343400"/>
            <a:ext cx="9875520" cy="914400"/>
          </a:xfrm>
          <a:prstGeom prst="rect">
            <a:avLst/>
          </a:prstGeom>
          <a:noFill/>
          <a:ln/>
        </p:spPr>
        <p:txBody>
          <a:bodyPr wrap="square" lIns="0" tIns="0" rIns="0" bIns="0" rtlCol="0" anchor="t"/>
          <a:lstStyle/>
          <a:p>
            <a:pPr indent="0" marL="0">
              <a:lnSpc>
                <a:spcPts val="2400"/>
              </a:lnSpc>
              <a:buNone/>
            </a:pPr>
            <a:r>
              <a:rPr lang="en-US" sz="1700" i="1" dirty="0">
                <a:solidFill>
                  <a:srgbClr val="4A6B5D"/>
                </a:solidFill>
                <a:latin typeface="Georgia" pitchFamily="34" charset="0"/>
                <a:ea typeface="Georgia" pitchFamily="34" charset="-122"/>
                <a:cs typeface="Georgia" pitchFamily="34" charset="-120"/>
              </a:rPr>
              <a:t>One line of intention per shot, in the syllabus's own terms. Marked on terminology, the three controls, and the intention line. Not on how good the footage looks.</a:t>
            </a:r>
            <a:endParaRPr lang="en-US" sz="1700" dirty="0"/>
          </a:p>
        </p:txBody>
      </p:sp>
      <p:sp>
        <p:nvSpPr>
          <p:cNvPr id="9" name="Text 7"/>
          <p:cNvSpPr/>
          <p:nvPr/>
        </p:nvSpPr>
        <p:spPr>
          <a:xfrm>
            <a:off x="822960" y="5394960"/>
            <a:ext cx="10241280" cy="457200"/>
          </a:xfrm>
          <a:prstGeom prst="rect">
            <a:avLst/>
          </a:prstGeom>
          <a:noFill/>
          <a:ln/>
        </p:spPr>
        <p:txBody>
          <a:bodyPr wrap="square" lIns="0" tIns="0" rIns="0" bIns="0" rtlCol="0" anchor="ctr"/>
          <a:lstStyle/>
          <a:p>
            <a:pPr indent="0" marL="0">
              <a:buNone/>
            </a:pPr>
            <a:r>
              <a:rPr lang="en-US" sz="1250" dirty="0">
                <a:solidFill>
                  <a:srgbClr val="7A7F72"/>
                </a:solidFill>
                <a:latin typeface="Arial" pitchFamily="34" charset="0"/>
                <a:ea typeface="Arial" pitchFamily="34" charset="-122"/>
                <a:cs typeface="Arial" pitchFamily="34" charset="-120"/>
              </a:rPr>
              <a:t>Posted and dated on your Component 1 blog. Under Cambridge's own portfolio structure this post is not practice for the portfolio. It is the portfolio.</a:t>
            </a:r>
            <a:endParaRPr lang="en-US" sz="125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THREE CONTROLS, NON-NEGOTIABLE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EACH ONE IS A MARKING POINT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actually kills student footage</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822960"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Hold focus</a:t>
            </a:r>
            <a:endParaRPr lang="en-US" sz="2200" dirty="0"/>
          </a:p>
        </p:txBody>
      </p:sp>
      <p:sp>
        <p:nvSpPr>
          <p:cNvPr id="8" name="Shape 6"/>
          <p:cNvSpPr/>
          <p:nvPr/>
        </p:nvSpPr>
        <p:spPr>
          <a:xfrm>
            <a:off x="822960" y="2871216"/>
            <a:ext cx="3209544" cy="0"/>
          </a:xfrm>
          <a:prstGeom prst="line">
            <a:avLst/>
          </a:prstGeom>
          <a:noFill/>
          <a:ln w="9525">
            <a:solidFill>
              <a:srgbClr val="D9D4C4"/>
            </a:solidFill>
            <a:prstDash val="solid"/>
          </a:ln>
        </p:spPr>
      </p:sp>
      <p:sp>
        <p:nvSpPr>
          <p:cNvPr id="9" name="Text 7"/>
          <p:cNvSpPr/>
          <p:nvPr/>
        </p:nvSpPr>
        <p:spPr>
          <a:xfrm>
            <a:off x="822960" y="2999232"/>
            <a:ext cx="3209544" cy="21031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Tap to lock, then leave it. Autofocus hunts the moment anything crosses the frame, and a hunting lens reads as amateur in one second.</a:t>
            </a:r>
            <a:endParaRPr lang="en-US" sz="1550" dirty="0"/>
          </a:p>
        </p:txBody>
      </p:sp>
      <p:sp>
        <p:nvSpPr>
          <p:cNvPr id="10" name="Text 8"/>
          <p:cNvSpPr/>
          <p:nvPr/>
        </p:nvSpPr>
        <p:spPr>
          <a:xfrm>
            <a:off x="4489704"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02</a:t>
            </a:r>
            <a:endParaRPr lang="en-US" sz="2800" dirty="0"/>
          </a:p>
        </p:txBody>
      </p:sp>
      <p:sp>
        <p:nvSpPr>
          <p:cNvPr id="11" name="Text 9"/>
          <p:cNvSpPr/>
          <p:nvPr/>
        </p:nvSpPr>
        <p:spPr>
          <a:xfrm>
            <a:off x="4489704"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Expose for the face</a:t>
            </a:r>
            <a:endParaRPr lang="en-US" sz="2200" dirty="0"/>
          </a:p>
        </p:txBody>
      </p:sp>
      <p:sp>
        <p:nvSpPr>
          <p:cNvPr id="12" name="Shape 10"/>
          <p:cNvSpPr/>
          <p:nvPr/>
        </p:nvSpPr>
        <p:spPr>
          <a:xfrm>
            <a:off x="4489704" y="2871216"/>
            <a:ext cx="3209544" cy="0"/>
          </a:xfrm>
          <a:prstGeom prst="line">
            <a:avLst/>
          </a:prstGeom>
          <a:noFill/>
          <a:ln w="9525">
            <a:solidFill>
              <a:srgbClr val="D9D4C4"/>
            </a:solidFill>
            <a:prstDash val="solid"/>
          </a:ln>
        </p:spPr>
      </p:sp>
      <p:sp>
        <p:nvSpPr>
          <p:cNvPr id="13" name="Text 11"/>
          <p:cNvSpPr/>
          <p:nvPr/>
        </p:nvSpPr>
        <p:spPr>
          <a:xfrm>
            <a:off x="4489704" y="2999232"/>
            <a:ext cx="3209544" cy="21031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Against a bright window the automatic setting protects the window and loses the face. Tap the face, lock, and let the window blow out.</a:t>
            </a:r>
            <a:endParaRPr lang="en-US" sz="1550" dirty="0"/>
          </a:p>
        </p:txBody>
      </p:sp>
      <p:sp>
        <p:nvSpPr>
          <p:cNvPr id="14" name="Text 12"/>
          <p:cNvSpPr/>
          <p:nvPr/>
        </p:nvSpPr>
        <p:spPr>
          <a:xfrm>
            <a:off x="8156448"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03</a:t>
            </a:r>
            <a:endParaRPr lang="en-US" sz="2800" dirty="0"/>
          </a:p>
        </p:txBody>
      </p:sp>
      <p:sp>
        <p:nvSpPr>
          <p:cNvPr id="15" name="Text 13"/>
          <p:cNvSpPr/>
          <p:nvPr/>
        </p:nvSpPr>
        <p:spPr>
          <a:xfrm>
            <a:off x="8156448"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Frame to the thirds</a:t>
            </a:r>
            <a:endParaRPr lang="en-US" sz="2200" dirty="0"/>
          </a:p>
        </p:txBody>
      </p:sp>
      <p:sp>
        <p:nvSpPr>
          <p:cNvPr id="16" name="Shape 14"/>
          <p:cNvSpPr/>
          <p:nvPr/>
        </p:nvSpPr>
        <p:spPr>
          <a:xfrm>
            <a:off x="8156448" y="2871216"/>
            <a:ext cx="3209544" cy="0"/>
          </a:xfrm>
          <a:prstGeom prst="line">
            <a:avLst/>
          </a:prstGeom>
          <a:noFill/>
          <a:ln w="9525">
            <a:solidFill>
              <a:srgbClr val="D9D4C4"/>
            </a:solidFill>
            <a:prstDash val="solid"/>
          </a:ln>
        </p:spPr>
      </p:sp>
      <p:sp>
        <p:nvSpPr>
          <p:cNvPr id="17" name="Text 15"/>
          <p:cNvSpPr/>
          <p:nvPr/>
        </p:nvSpPr>
        <p:spPr>
          <a:xfrm>
            <a:off x="8156448" y="2999232"/>
            <a:ext cx="3209544" cy="210312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Centre everything and every shot looks the same. Put the subject on a third and the frame acquires a direction.</a:t>
            </a:r>
            <a:endParaRPr lang="en-US" sz="1550" dirty="0"/>
          </a:p>
        </p:txBody>
      </p:sp>
      <p:sp>
        <p:nvSpPr>
          <p:cNvPr id="18" name="Shape 16"/>
          <p:cNvSpPr/>
          <p:nvPr/>
        </p:nvSpPr>
        <p:spPr>
          <a:xfrm>
            <a:off x="822960" y="5349240"/>
            <a:ext cx="914400" cy="0"/>
          </a:xfrm>
          <a:prstGeom prst="line">
            <a:avLst/>
          </a:prstGeom>
          <a:noFill/>
          <a:ln w="31750">
            <a:solidFill>
              <a:srgbClr val="8C3A38"/>
            </a:solidFill>
            <a:prstDash val="solid"/>
          </a:ln>
        </p:spPr>
      </p:sp>
      <p:sp>
        <p:nvSpPr>
          <p:cNvPr id="19" name="Text 17"/>
          <p:cNvSpPr/>
          <p:nvPr/>
        </p:nvSpPr>
        <p:spPr>
          <a:xfrm>
            <a:off x="822960" y="5532120"/>
            <a:ext cx="10241280" cy="54864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Carries forward: the Component 3 major video task in Grade 12 is shot on exactly this vocabulary.</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6200"/>
              </a:lnSpc>
              <a:buNone/>
            </a:pPr>
            <a:r>
              <a:rPr lang="en-US" sz="6200" dirty="0">
                <a:solidFill>
                  <a:srgbClr val="FAF8F1"/>
                </a:solidFill>
                <a:latin typeface="Georgia" pitchFamily="34" charset="0"/>
                <a:ea typeface="Georgia" pitchFamily="34" charset="-122"/>
                <a:cs typeface="Georgia" pitchFamily="34" charset="-120"/>
              </a:rPr>
              <a:t>Sound</a:t>
            </a:r>
            <a:endParaRPr lang="en-US" sz="62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04. The screen goes black and the room listens: the element Cambridge says candidates neglect.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2026-08-09T07:57:25Z</dcterms:created>
  <dcterms:modified xsi:type="dcterms:W3CDTF">2026-08-09T07:57:25Z</dcterms:modified>
</cp:coreProperties>
</file>