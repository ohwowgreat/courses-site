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four: camera, sound, mise-en-scene, editing, then integration. Monday teaches the whole lexicon as verbs. Tuesday is the shoot: six shots on their own kit, posted to the blog as CS3.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one frame. The camera position is a decision somebody made about you, and every term in this lesson is a name for one of those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columns are the syllabus's own enumerations, complete: the frames illustrate the sizes, and the shots column names the ones a still cannot stage here (establishing, master, wide, aerial, POV, over-the-shoulder; the CS3 storyboard requires establishing and POV by name). Ladder sprint, rungs one to three,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true overhead: students can name high angle in a second, and the mark is in the sentence after that. The same film returns on the mise-en-scene deck, shot from the front. The canted angle's canonical frame (The Third Man) waits in the CS8 quiz at 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frame is the Teacher's Resource's own before-and-after starter image, reused so the hypothetical detective sentence became a checkable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the Scheme of Work's camera bank. The trio is the PROPOSED extract spec made real: a visible hierarchy between characters, no dialogue dependency. Safeguarding: the series is BBFC 15 for clip screening; these stills are benign and already on the student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photograph made about composition. Shown whole, never cropped: the composition is the content. Same four questions apply to any frame they shoot tomorrow. The dead-centre counter-example is next lesson's Grand Budapest concierge desk: centred on purpose, and the purpose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composition column's depth-of-field and focus-pull terms, given their frames. Tomorrow's hold-focus control is this slide inverted: autofocus makes the choice for you, badly.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Steadicam is on the movement list they just met. Name the verb: the camera glides with him, refuses to cut away. Then the effect: his access becomes ours, which is why the shot feels like privilege. Three frames from one continuous take, dir. Martin Scorsese.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production still shows what a camera movement costs: track laid on sand, lights rigged at noon. The dolly zoom is two movements cancelling: the lens zooms out as the dolly pushes in, so Brody holds size while the background rushes away. The 480px single frame is retired; the pair brackets the moment. Dir. Steven Spielberg.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storyboard's establishing shot and POV are the two the syllabus names that a still cannot rehearse; the tilt-to-reveal is the 2028 SoW's own practice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Phones are fine and often better: all three controls exist on a phone, and the drawn screens are exactly what the class will see. Circulate with one question only: what is that shot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822960"/>
            <a:ext cx="42062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4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03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Monday 14 to Tuesday 15 September  ·  first of the four technical elements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0"/>
            <a:ext cx="45720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QUESTION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standing,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who put you there?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following technical elements create specific representations of individuals/groups/events/places, and help to articulate specific messages and values that have social significance.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International 9607, subject content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AS VERBS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SYLLABUS'S OWN LIST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shot ladder, in frames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toystory-remote-ec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19584"/>
            <a:ext cx="1779422" cy="11499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close-up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986430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1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294" y="1619584"/>
            <a:ext cx="1779422" cy="11499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86430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986430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close-up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149901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2" descr="/Users/dogan/Documents/Vaults/Courses/wiki/classes/media-studies/decks/_build/img/toystory-rc-m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765" y="1619584"/>
            <a:ext cx="1779422" cy="114995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49901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149901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shot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313371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3" descr="/Users/dogan/Documents/Vaults/Courses/wiki/classes/media-studies/decks/_build/img/toystory-reunite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8235" y="1697434"/>
            <a:ext cx="1779422" cy="99425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13371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Two-shot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313371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subjects share it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9476842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3" name="Image 4" descr="/Users/dogan/Documents/Vaults/Courses/wiki/classes/media-studies/decks/_build/img/toystory-buzz-ou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1706" y="1619584"/>
            <a:ext cx="1779422" cy="114995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476842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9476842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shot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822960" y="34747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(1995, Pixar/Disney), one scene up and down the ladder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822960" y="39776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22960" y="4297680"/>
            <a:ext cx="327050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822960" y="4389120"/>
            <a:ext cx="3270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establishing  ·  master  ·  wide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aerial  ·  POV  ·  over-the-shoulder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4459224" y="39776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Angles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4459224" y="4297680"/>
            <a:ext cx="327050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459224" y="4389120"/>
            <a:ext cx="3270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 ·  low  ·  canted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095488" y="39776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+ composition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095488" y="4297680"/>
            <a:ext cx="327050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095488" y="4389120"/>
            <a:ext cx="3270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 · tilt · track · dolly · crane · steadicam · zoom · handheld  |  framing · rule of thirds · depth of field · focus pulls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22960" y="57607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82296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each as a verb: the camera looks up at, creeps toward, refuses to follow.</a:t>
            </a:r>
            <a:endParaRPr lang="en-US" sz="1500" dirty="0"/>
          </a:p>
        </p:txBody>
      </p:sp>
      <p:sp>
        <p:nvSpPr>
          <p:cNvPr id="38" name="Shape 3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gbh-overhead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· VIEWPOINT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22960" y="1188720"/>
            <a:ext cx="64008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371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Nobody stands here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23317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camera is directly overhead, a position no person in the scene could occupy. From there the cobbles become pattern, the carts become geometry, and the two men in livery are made small, tidy and equal: a concierge and his lobby boy, ranked by the frame before either speaks.</a:t>
            </a:r>
            <a:endParaRPr lang="en-US" sz="1750" dirty="0"/>
          </a:p>
          <a:p>
            <a:pPr indent="0" marL="0">
              <a:lnSpc>
                <a:spcPts val="2500"/>
              </a:lnSpc>
              <a:buNone/>
            </a:pPr>
            <a:endParaRPr lang="en-US" sz="17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of any frame: could I stand where the camera is standing? If not, the viewpoint is a claim.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Grand Budapest Hotel (2014), dir. Wes Anderson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HALF THAT EARNS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ALONE IS WORTH ALMOST NOTHING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sentences, not one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camera did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62179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5059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low-angle wide holds the two figures above us in an empty warehouse.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half is free. Anyone with the glossary can write 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did to you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960" y="4343400"/>
            <a:ext cx="62179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4622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look up from below their eyeline, so their deal outranks us before a word is said.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525780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half is the mark, and it is where most scripts stop short.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52360" y="1234440"/>
            <a:ext cx="3931920" cy="41148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0" descr="/Users/dogan/Documents/Vaults/Courses/wiki/classes/media-studies/decks/_build/img/cup-warehouse-lowang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376" y="2068076"/>
            <a:ext cx="3675888" cy="2447529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52360" y="5394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 the sentences describe (CUP Teacher's Resource)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angle: they tower. I am small. Say both halves, every time.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POWER · THE REPRESENTATION 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CAMBRIDGE'S OWN EXERCISE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one extract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shot from below,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granted height, threat or authority by the frame.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6364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shot from above,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4944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made small, watched, or available to be judged.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2423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gets the close-ups,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2770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interior life the viewer is invited to share.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26364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49440" y="2423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stays in the wide,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9440" y="2770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figure in a situation, not a person in a story.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429000"/>
            <a:ext cx="3270504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0" descr="/Users/dogan/Documents/Vaults/Courses/wiki/classes/media-studies/decks/_build/img/adolescence-jamie-c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623103"/>
            <a:ext cx="3160776" cy="157775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22960" y="541324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boy gets the close-up: interiority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459224" y="3429000"/>
            <a:ext cx="3270504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2" name="Image 1" descr="/Users/dogan/Documents/Vaults/Courses/wiki/classes/media-studies/decks/_build/img/adolescence-int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088" y="3617299"/>
            <a:ext cx="3160776" cy="158936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459224" y="541324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wide holds the table: procedure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95488" y="3429000"/>
            <a:ext cx="3270504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5" name="Image 2" descr="/Users/dogan/Documents/Vaults/Courses/wiki/classes/media-studies/decks/_build/img/adolescence-father-o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352" y="3621385"/>
            <a:ext cx="3160776" cy="1581189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095488" y="541324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the shoulder: whose view we borrow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22960" y="5943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 (Netflix, 2025). One extract, hierarchy visible with no dialogue: what does the camera suggest about power here?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 · THIRDS ·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4572000" cy="5120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evans-sea-of-st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592" y="1179576"/>
            <a:ext cx="3970736" cy="4864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0" y="11887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here is an accident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5943600" y="2286000"/>
            <a:ext cx="54864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0" y="248716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7980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 inside the frame makes a second frame, and the eye goes where the frames agree.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0" y="34564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lines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0" y="376732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steps are a route. The composition tells you where to walk before you decide to.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943600" y="442569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0" y="473659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Foreground stone, middle arch, far light: three planes, so the flat picture reads as a space.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0" y="53949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of thirds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0" y="570585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bright doorway sits off centre. Dead centre would have made it an object; off centre makes it a destination.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2960" y="6236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Frederick H. Evans, A Sea of Steps, Wells Cathedral, 1903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OF FIELD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IS A CASTING DECISION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5088636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adolescence-jamie-c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65663"/>
            <a:ext cx="4832604" cy="24122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77356" y="1188720"/>
            <a:ext cx="5088636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gbh-concier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372" y="1929214"/>
            <a:ext cx="4832604" cy="20851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828032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Shallow: the boy is sharp, the officers dissolve. Adolescence (Netflix, 2025)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6277356" y="4828032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Deep: steps, desk and key rack all sharp. The Grand Budapest Hotel (2014)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822960" y="5486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Shallow focus casts one face and dismisses the rest; deep focus keeps the whole world answerable. Both are choices about where you are allowed to look, and a focus pull is that choice changing mid-shot.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REFUSES TO LET GO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shot, three minutes, no cut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oodfellas-copa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54464"/>
            <a:ext cx="3014472" cy="1691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59224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goodfellas-copa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240" y="2354464"/>
            <a:ext cx="3014472" cy="16918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095488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2" descr="/Users/dogan/Documents/Vaults/Courses/wiki/classes/media-studies/decks/_build/img/goodfellas-copa-tab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504" y="2352580"/>
            <a:ext cx="3014472" cy="1695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7375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the queue, in at the side door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4459224" y="487375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the corridor, no cut, still going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8095488" y="487375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table appears, front of the stage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22960" y="54406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2960" y="55778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Goodfellas (1990): the Copacabana steadicam shot. The camera follows Henry through the back door, and the unbroken glide is the meaning: doors open for him, and we are swept in as his guest, all the way to the table that did not exist a minute ago.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MACHINERY OF A MOVE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MOVEMENT IS BUILT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rig, then what the rig buys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6309360" cy="3794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jaws-b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6902" y="1682496"/>
            <a:ext cx="5341476" cy="35387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3766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beach set: lights, track, crew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498080" y="1554480"/>
            <a:ext cx="3886200" cy="17830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jaws-dz-sta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4" y="1648765"/>
            <a:ext cx="3776472" cy="159451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98080" y="3520440"/>
            <a:ext cx="3886200" cy="17830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2" descr="/Users/dogan/Documents/Vaults/Courses/wiki/classes/media-studies/decks/_build/img/jaws-dz-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3614725"/>
            <a:ext cx="3776472" cy="159451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498080" y="5349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dolly zoom it was built for: the beach holds, Brody does not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822960" y="5852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Jaws (1975): dolly in while zooming out. The world stretches behind a man who cannot move. Your reverse zoom is on the same list.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series of short, self-contained exercises with camera (or even phone) can combine technical elements with story elements.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Work, Foundation Portfolio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TUESDAY, THE WHOLE SESSION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shots, your kit, posted before you leave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Establishing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10612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0340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20340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 on a character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98264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7992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07992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tilt up to reveal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5644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95644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 on an object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73568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83296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83296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angle, same character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761220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0948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870948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POV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33375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pairs, to this six-frame storyboard you did not draw. No plot, no acting, no takes. The exercise is the camera.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2960" y="41605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of intention per shot, in the syllabus's own terms. Marked on terminology, the three controls, and the intention line. Not on how good the footage looks.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5120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Posted and dated on your Component 1 blog. Under Cambridge's own portfolio structure this post is not practice for the portfolio. It is the portfolio.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CONTROLS, NON-NEGOTIABLE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 MARKING POINT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actually kills student footage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650492" y="1600200"/>
            <a:ext cx="1554480" cy="1234440"/>
          </a:xfrm>
          <a:prstGeom prst="rect">
            <a:avLst/>
          </a:prstGeom>
          <a:solidFill>
            <a:srgbClr val="24313F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53412" y="1920240"/>
            <a:ext cx="548640" cy="548640"/>
          </a:xfrm>
          <a:prstGeom prst="rect">
            <a:avLst/>
          </a:prstGeom>
          <a:solidFill>
            <a:srgbClr val="24313F"/>
          </a:solidFill>
          <a:ln w="25400">
            <a:solidFill>
              <a:srgbClr val="A3C1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41932" y="25146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AF-L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45643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 focus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960" y="3950208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69080"/>
            <a:ext cx="32095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Tap to lock, then leave it. Autofocus hunts the moment anything crosses the frame, and a hunting lens reads as amateur in one second.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317236" y="1600200"/>
            <a:ext cx="1554480" cy="1234440"/>
          </a:xfrm>
          <a:prstGeom prst="rect">
            <a:avLst/>
          </a:prstGeom>
          <a:solidFill>
            <a:srgbClr val="24313F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0236" y="1828800"/>
            <a:ext cx="0" cy="777240"/>
          </a:xfrm>
          <a:prstGeom prst="line">
            <a:avLst/>
          </a:prstGeom>
          <a:noFill/>
          <a:ln w="19050">
            <a:solidFill>
              <a:srgbClr val="FAF8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508" y="1984248"/>
            <a:ext cx="219456" cy="219456"/>
          </a:xfrm>
          <a:prstGeom prst="ellipse">
            <a:avLst/>
          </a:prstGeom>
          <a:solidFill>
            <a:srgbClr val="A3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5454396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9704" y="3017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489704" y="345643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Expose for the face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4489704" y="3950208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9704" y="4069080"/>
            <a:ext cx="32095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 bright window the automatic setting protects the window and loses the face. Tap the face, lock, and let the window blow out.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983980" y="1600200"/>
            <a:ext cx="1554480" cy="1234440"/>
          </a:xfrm>
          <a:prstGeom prst="rect">
            <a:avLst/>
          </a:prstGeom>
          <a:solidFill>
            <a:srgbClr val="24313F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02140" y="1673352"/>
            <a:ext cx="0" cy="1088136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57132" y="2011680"/>
            <a:ext cx="1408176" cy="0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20300" y="1673352"/>
            <a:ext cx="0" cy="1088136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57132" y="2423160"/>
            <a:ext cx="1408176" cy="0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83268" y="1892808"/>
            <a:ext cx="237744" cy="237744"/>
          </a:xfrm>
          <a:prstGeom prst="ellipse">
            <a:avLst/>
          </a:prstGeom>
          <a:solidFill>
            <a:srgbClr val="A3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8156448" y="3017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156448" y="345643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to the thirds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8156448" y="3950208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56448" y="4069080"/>
            <a:ext cx="32095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 everything and every shot looks the same. Put the subject on a third and the frame acquires a direction.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822960" y="57607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8978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Carries forward: the Component 3 major video task in Grade 12 is shot on exactly this vocabulary.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04. The screen goes black and the room listens: the element Cambridge says candidates neglect.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2026-08-24T07:42:03Z</dcterms:created>
  <dcterms:modified xsi:type="dcterms:W3CDTF">2026-08-24T07:42:03Z</dcterms:modified>
</cp:coreProperties>
</file>