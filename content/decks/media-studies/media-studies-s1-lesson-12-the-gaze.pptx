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block builds van Zoonen and Mulvey; the double stress-tests Mulvey; hooks reframes the whole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who buys the perfume: who is the looking arranged for? That is the whole week in one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mirror does not add up and the barmaid looks past us. Manet painted the problem the week is about: who looks at whom.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Olympia stares straight back and returns the viewer's look. Use it as the bridge to hooks and the oppositional gaze.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0" y="822960"/>
            <a:ext cx="411480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XII</a:t>
            </a:r>
            <a:endParaRPr lang="en-US" sz="23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IV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Gaze</a:t>
            </a:r>
            <a:endParaRPr lang="en-US" sz="7800" dirty="0"/>
          </a:p>
        </p:txBody>
      </p:sp>
      <p:sp>
        <p:nvSpPr>
          <p:cNvPr id="5" name="Shape 3"/>
          <p:cNvSpPr/>
          <p:nvPr/>
        </p:nvSpPr>
        <p:spPr>
          <a:xfrm>
            <a:off x="822960" y="34290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3611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Representation · Lesson 12 of 19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days  ·  Monday 9 to Friday 13 November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Gaze theory taught as live questions, not settled answers.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0" y="640080"/>
            <a:ext cx="448056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XII</a:t>
            </a:r>
            <a:endParaRPr lang="en-US" sz="25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WEEK'S QUESTION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420624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88920"/>
            <a:ext cx="7315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is the looking</a:t>
            </a:r>
            <a:endParaRPr lang="en-US" sz="5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5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arranged for?</a:t>
            </a:r>
            <a:endParaRPr lang="en-US" sz="5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ZOONEN · GENDER AS PERFORMANCE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ASSEMBLED, NOT PHOTOGRAPHED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it is assembled, it can be assembled otherwise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22960" y="18745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Gender in media is not a fact being photographed. It is a performance, built from repeatable conventions: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834640"/>
            <a:ext cx="2430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822960" y="3337560"/>
            <a:ext cx="2292858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456432"/>
            <a:ext cx="24300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body is arranged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527298" y="2834640"/>
            <a:ext cx="2430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Gaze direction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3527298" y="3337560"/>
            <a:ext cx="2292858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7298" y="3456432"/>
            <a:ext cx="24300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the eyes are sent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231636" y="2834640"/>
            <a:ext cx="2430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Fragmentation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6231636" y="3337560"/>
            <a:ext cx="2292858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31636" y="3456432"/>
            <a:ext cx="24300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body shown in parts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935974" y="2834640"/>
            <a:ext cx="2430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Setting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935974" y="3337560"/>
            <a:ext cx="2292858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35974" y="3456432"/>
            <a:ext cx="24300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world built around it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Swap the conventions between two ads on paper: what breaks, and why does the break feel like information?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manet-folies_a17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502920"/>
            <a:ext cx="5120640" cy="502920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4" name="Text 1"/>
          <p:cNvSpPr/>
          <p:nvPr/>
        </p:nvSpPr>
        <p:spPr>
          <a:xfrm>
            <a:off x="704088" y="521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LOOKING THAT WILL NOT RESOLVE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57200" y="5230368"/>
            <a:ext cx="8778240" cy="1243584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6" name="Shape 3"/>
          <p:cNvSpPr/>
          <p:nvPr/>
        </p:nvSpPr>
        <p:spPr>
          <a:xfrm>
            <a:off x="676656" y="5468112"/>
            <a:ext cx="731520" cy="0"/>
          </a:xfrm>
          <a:prstGeom prst="line">
            <a:avLst/>
          </a:prstGeom>
          <a:noFill/>
          <a:ln w="28575">
            <a:solidFill>
              <a:srgbClr val="8C3A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" y="5541264"/>
            <a:ext cx="8339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mirror behind her does not add up. Who is she looking at, and who is looking at her?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76656" y="6181344"/>
            <a:ext cx="8339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Edouard Manet, A Bar at the Folies-Bergere, 1882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MULVEY · A CLAIM FROM 1975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TO BE TESTED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looks, classically aligned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822960" y="27432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camera's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822960" y="329184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429000"/>
            <a:ext cx="3246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shot itself frames, lingers, and fragments the figure on screen.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471416" y="205740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471416" y="27432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characters'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4471416" y="329184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71416" y="3429000"/>
            <a:ext cx="3246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people within the story look at one another inside the narrative.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119872" y="205740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8119872" y="27432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audience's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8119872" y="329184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19872" y="3429000"/>
            <a:ext cx="3246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 are positioned to look, and whose looking we are lent.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2960" y="548640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Classically, all three align on woman as spectacle. This is a claim from 1975 about a system, made to be tested, not recited.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69164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their traditional exhibitionist role, women are simultaneously looked at and displayed... so that they can be said to connote to-be-looked-at-ness.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Laura Mulvey, Visual Pleasure and Narrative Cinema, 1975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DECADE TEST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VARIABLE IS ERA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28016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Hold, shift, or invert?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822960" y="25146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4320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 a genre pair, one text before 2000 and one after 2018, with a comparable scene function so the only variable is era. Gather timecoded evidence for the camera-look, the character-look, and audience positioning in each. Then reach a verdict with the evidence attached: did the gaze hold, shift, or turn out to be the same structure pointed elsewhere?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512064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verdict must survive one structured counter: challenger named in advance, evidence required.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200"/>
              </a:lnSpc>
              <a:buNone/>
            </a:pPr>
            <a:r>
              <a:rPr lang="en-US" sz="6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There is power in looking.</a:t>
            </a:r>
            <a:endParaRPr lang="en-US" sz="62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bell hooks, The Oppositional Gaze, 1992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manet-olympia_a17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502920"/>
            <a:ext cx="5120640" cy="502920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4" name="Text 1"/>
          <p:cNvSpPr/>
          <p:nvPr/>
        </p:nvSpPr>
        <p:spPr>
          <a:xfrm>
            <a:off x="704088" y="521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LOOK SENT BACK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57200" y="5230368"/>
            <a:ext cx="8778240" cy="1243584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6" name="Shape 3"/>
          <p:cNvSpPr/>
          <p:nvPr/>
        </p:nvSpPr>
        <p:spPr>
          <a:xfrm>
            <a:off x="676656" y="5468112"/>
            <a:ext cx="731520" cy="0"/>
          </a:xfrm>
          <a:prstGeom prst="line">
            <a:avLst/>
          </a:prstGeom>
          <a:noFill/>
          <a:ln w="28575">
            <a:solidFill>
              <a:srgbClr val="8C3A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" y="5541264"/>
            <a:ext cx="8339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is looked at, and she looks straight back, refusing to be only an image.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76656" y="6181344"/>
            <a:ext cx="8339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Edouard Manet, Olympia, 1863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HOOKS · THE OPPOSITIONAL GAZE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WEEK'S QUESTION, FLIPPED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28016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Looking back at what never expected you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242316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65176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bell hooks flips the week's question. Not how the text looks at its subjects, but who the looking was built for, and what happens when someone else does it. Refusing a text, and reading it again against itself, is critical work. The oppositional gaze looks back at a text that never expected you to be watching.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 · CS10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THEORIST DOING ANALYTICAL WORK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28016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decoration, analysis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822960" y="25146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43200"/>
            <a:ext cx="9875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close-reading paragraph on a still or short clip: a claim, evidence, and a theorist working inside the analysis. As Mulvey's camera-look predicts... beats Mulvey said the male gaze. The theorist earns their place by doing work, not by being named.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48463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scripts come in, a Smuggler Hunt: partners hunt for a decorated theorist, named but doing no work.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52578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A3 announced today: the complete C1 portfolio, due Friday 27 November, exactly 14 days.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2514600"/>
            <a:ext cx="310896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651760"/>
            <a:ext cx="10424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Creative</a:t>
            </a:r>
            <a:endParaRPr lang="en-US" sz="5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5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 Reflection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13. Where AO2 lives in the portfolio: cut every sentence that describes instead of reflects.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2026-08-09T07:47:22Z</dcterms:created>
  <dcterms:modified xsi:type="dcterms:W3CDTF">2026-08-09T07:47:22Z</dcterms:modified>
</cp:coreProperties>
</file>