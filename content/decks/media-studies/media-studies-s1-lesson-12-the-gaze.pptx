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block builds van Zoonen and Mulvey; the double stress-tests Mulvey; hooks reframes the whole week. Homework issued Tuesday: the hooks extract, 300 to 400 words, glossed, EN with ZH support, read before Friday.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who buys the perfume: who is the looking arranged for? That is the whole week in one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D1 starter is one perfume ad and one question: who is this image for? The next slide is the worked 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house, same product category, two genders sold. Pairs decompose both into the conventions, then swap them on paper: what breaks is the information. One perfume ad opens D1: who is this image for?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mirror does not add up and the barmaid looks past us. Manet painted the problem the week is about: who looks at whom.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Hitchcock's Jeff is the three looks in one body: he is the camera, the character, and us. The D2 first test tracks the three looks timecoded on one classical-era clip. Crib: Deck U2.1 slide 6 (Mulvey, Creed, Kuhn).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posters are the slide-safe version of the PROPOSED screened pairs (action sequence, music video, perfume ad; same genre, comparable scene function). Bond is the cleanest single-franchise case: read the two posters' poses, gazes and fragmentation before any clip runs. Sourcing note: Goldfinger was the first choice and is excluded under the no-nudes rule (its key art carries the gold-painted figure in every variant); Dr. No's 007! sheet carries the same reading, clothed.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Swapped 2026-08-24: Manet's Olympia (a nude, against the no-nudes rule, and a July stand-in from the public-domain era) is retired; Cahun is the work the lesson names and the site already shows. The library scan is 1026x1388; shown whole as an image study.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Taught from the read extract (300 to 400 words, glossed, EN with ZH support, issued Tuesday). Daughters of the Dust (1991) is hooks's own screen example if the room wants a text; the reframe then runs on the week's own ads and clips.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CS10 carries the theorist sentence-starters scaffold (ESL): the card is on every desk. The A3 date is hard: Fri 13 Nov to Fri 27 Nov, verified as exactly 14 days, which exceeds the register's one-week notice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0" y="822960"/>
            <a:ext cx="41148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XII</a:t>
            </a:r>
            <a:endParaRPr lang="en-US" sz="23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Gaze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822960" y="34290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611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 · Lesson 12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days  ·  Mon 9 · Tue 10 · Wed 11 (double) · Fri 13 November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Gaze theory taught as live questions, not settled answers.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0" y="640080"/>
            <a:ext cx="448056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XII</a:t>
            </a:r>
            <a:endParaRPr lang="en-US" sz="25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WEEK'S QUESTION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420624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7315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was this looking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for?</a:t>
            </a:r>
            <a:endParaRPr lang="en-US" sz="5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ZOONEN · GENDER AS PERFORMANCE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ASSEMBLED, NOT PHOTOGRAPHED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it is built, it can be built differently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Gender in media is not a fact being photographed. It is a performance, built from repeatable conventions: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34640"/>
            <a:ext cx="2430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822960" y="3337560"/>
            <a:ext cx="2292858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456432"/>
            <a:ext cx="24300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body is arranged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527298" y="2834640"/>
            <a:ext cx="2430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Gaze direction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527298" y="3337560"/>
            <a:ext cx="2292858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7298" y="3456432"/>
            <a:ext cx="24300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eyes are sent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231636" y="2834640"/>
            <a:ext cx="2430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Fragmentation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231636" y="3337560"/>
            <a:ext cx="2292858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31636" y="3456432"/>
            <a:ext cx="24300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body shown in parts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935974" y="2834640"/>
            <a:ext cx="2430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Setting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935974" y="3337560"/>
            <a:ext cx="2292858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35974" y="3456432"/>
            <a:ext cx="243001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world built around it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212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Swap the conventions between two ads on paper. What breaks? Why does the break tell you something?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ADS, ONE HOUSE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FOUR CONVENTIONS ACROSS BOTH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97280"/>
            <a:ext cx="3762756" cy="44805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dior-jad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03" y="1170432"/>
            <a:ext cx="3031270" cy="43342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951476" y="1097280"/>
            <a:ext cx="3762756" cy="44805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8" name="Image 1" descr="/Users/dogan/Documents/Vaults/Courses/wiki/classes/media-studies/decks/_build/img/dior-sauvag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4252" y="1170432"/>
            <a:ext cx="3137203" cy="43342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5596128"/>
            <a:ext cx="3762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Dior, J'adore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4951476" y="5596128"/>
            <a:ext cx="3762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Dior, Sauvage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9125712" y="1325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9125712" y="169164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holds a pose to be seen. He moves.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125712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Gaze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9125712" y="283464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 eyes go past us. His meet ours.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9125712" y="3611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9125712" y="397764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dress is the body; the face is the man.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9125712" y="4754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9125712" y="512064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Golden sea against burnt desert.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manet-folies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LOOKING THAT WILL NOT RESOLVE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mirror behind her does not add up. Who is she looking at, and who is looking at her?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Edouard Manet, A Bar at the Folies-Bergere, 1882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MULVEY · A CLAIM FROM 1975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MADE TO BE TESTED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6012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looks, classically aligned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00200" y="17830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camera's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600200" y="219456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shot itself frames, lingers, and fragments the figure on screen.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22960" y="31089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600200" y="3108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characters'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52044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people within the story look at one another inside the narrative.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22960" y="4434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00200" y="44348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audience's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600200" y="48463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are positioned to look, and whose view we are given.</a:t>
            </a:r>
            <a:endParaRPr lang="en-US" sz="1450" dirty="0"/>
          </a:p>
        </p:txBody>
      </p:sp>
      <p:pic>
        <p:nvPicPr>
          <p:cNvPr id="15" name="Image 0" descr="/Users/dogan/Documents/Vaults/Courses/wiki/classes/media-studies/decks/_build/img/crops/rearwindow-lens_a96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097280"/>
            <a:ext cx="4023360" cy="41605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360920" y="53035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Rear Window (1954): the audience's surrogate, lens raised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22960" y="580644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CLAIM 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classic Hollywood, all three looks align on the woman as spectacle. A 1975 claim about a system: test it, do not just recite it.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69164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their traditional exhibitionist role, women are simultaneously looked at and displayed... so that they can be said to connote to-be-looked-at-ness.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Laura Mulvey, Visual Pleasure and Narrative Cinema, 1975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PLAIN WORDS   </a:t>
            </a:r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these films, women are arranged on screen to be looked at. Being looked at becomes their role.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DECADE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VARIABLE IS ERA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60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Hold, shift, or invert?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22960" y="18288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057400"/>
            <a:ext cx="62179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 one genre pair: a text before 2000, a text after 2018, with a similar scene. The only variable is the era.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  </a:t>
            </a:r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Timecode the camera-look, the character-look, and the audience position in each.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   </a:t>
            </a:r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Did the gaze hold, shift, or invert? Attach the evidence to your answer.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502920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COUNTER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verdict faces one challenge, with evidence. The challenger is named in advance.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086600" y="1143000"/>
            <a:ext cx="2103120" cy="429768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0" name="Image 0" descr="/Users/dogan/Documents/Vaults/Courses/wiki/classes/media-studies/decks/_build/img/poster-drn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1464" y="1780168"/>
            <a:ext cx="1993392" cy="302334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9326880" y="1143000"/>
            <a:ext cx="2103120" cy="429768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2" name="Image 1" descr="/Users/dogan/Documents/Vaults/Courses/wiki/classes/media-studies/decks/_build/img/poster-ntt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1744" y="1815982"/>
            <a:ext cx="1993392" cy="295171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086600" y="548640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franchise, six decades: Dr. No (1962), No Time to Die (2021)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200"/>
              </a:lnSpc>
              <a:buNone/>
            </a:pPr>
            <a:r>
              <a:rPr lang="en-US" sz="6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There is power in looking.</a:t>
            </a:r>
            <a:endParaRPr lang="en-US" sz="62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 hooks, The Oppositional Gaze, 1992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LOOK SENT BACK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IMAGE THAT REFUSES ITS ASSIGNMENT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97280"/>
            <a:ext cx="5120640" cy="475488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cahun-self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0521" y="1225296"/>
            <a:ext cx="3325517" cy="44988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8704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Cahun, Self-Portrait, 1920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309360" y="12801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Refusing to be only an image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6309360" y="2240280"/>
            <a:ext cx="50292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09360" y="2423160"/>
            <a:ext cx="5120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REFUSAL   </a:t>
            </a:r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Shaved head, a suit, a hand on the hip, a direct stare. Every convention of the looked-at woman is refused in one frame, a century ago.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   </a:t>
            </a:r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portrait does not offer itself to you. It examines you.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  </a:t>
            </a:r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any text this week: who may look? Who is looked at? What happens when someone refuses the role?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HOOKS · THE OPPOSITIONAL GAZE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WEEK'S QUESTION, FLIPPED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Looking back at what never expected you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242316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5176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FLIP   </a:t>
            </a:r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bell hooks turns the question around. Not: how does the text look at its subjects? But: who was the looking built for?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  </a:t>
            </a:r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oppositional gaze: looking back, critically, at a text that never expected you to be watching.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   </a:t>
            </a:r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Refusing a text, and reading it against itself, is critical work. It earns marks.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· CS10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THEORIST DOING ANALYTICAL WORK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decoration, analysis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875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close-reading paragraph on a still or short clip: a claim, evidence, and a theorist doing work inside the analysis.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  </a:t>
            </a:r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“As Mulvey's camera-look predicts ...” beats “Mulvey said the male gaze.”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  </a:t>
            </a:r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theorist earns their place by doing work, not by being named.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4892040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HUNT 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you hand it in, partners hunt for a decorated theorist: named, but doing no work.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 ANNOUNCED 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complete Component 1 portfolio, due Friday 27 November: exactly 14 days from today.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Creative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 Reflection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13. Where AO2 lives in the portfolio: cut every sentence that describes instead of reflects.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2026-08-25T03:21:57Z</dcterms:created>
  <dcterms:modified xsi:type="dcterms:W3CDTF">2026-08-25T03:21:57Z</dcterms:modified>
</cp:coreProperties>
</file>