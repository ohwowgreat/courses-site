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highest-yield element for ESL learners: costume, lighting and colour are visible, nameable and thick with connotation, and none of it requires hearing dialogue at speed. D1's starter still is the CUP warehouse frame (cup-warehouse-lowangle in img/): one still, one instruction, list ten things you can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them did. That is the whole definition, arrived at by the class rather than given to them. Run it on the CUP warehouse still.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acting boundary once, plainly, then police it in marking. Students who have done drama will reach for performance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lesson plan's own argument keeps the painting: chiaroscuro reads better in a painting than a screengrab. Re-derived 2026-08-24 from the library original and shown WHOLE (the old slide cropped away the lit faces the headline promised); the Lupin frame pairs it in the exam's medium.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Photograph cells: Aiony Haust (front), Kirill Balobanov (side), Satyam Pathak (behind), all Unsplash, credited in CREDITS. The below cell stays a live demo on purpose; after the first run, replace the cells with the class's own four photographs.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images are the CUP Teacher's Resource's own (U6.2, the lighting practical): teaching use cleared, in-vault. The lighting plan cell of tomorrow's board names this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it as a design brief: where is this, what is everyone wearing and why, which objects are load-bearing, and who does the arrangement of the room privilege. Then ask the same four questions of their own opening. The film's colour system (the pink box, the purple lobby, the red elevator) is worth naming aloud here as colour design's repetition and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brief question: what did the designers decide about each boy before you met him? Every answer is mise-en-scene, none of it is acting.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plan's 15-minute D1 block, previously slide-less. Annotate for production design and colour only; the sequence is deliberately faceless, which is the point. Nine-frame analyses of any other title sequence follow the same protocol (Art of the Title is the named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images AFTER the description round, not before: the reveal is the payoff. Cells: Highclere Castle (Commons, credited), and three Unsplash rooms (credited in CREDITS).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Marked on coverage, a connotation line per cell, and internal consistency. Tue 22 Sep to the lock on Wed 30 Sep is eight days (the old slide said 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image" Target="../media/image-10-3.jpg"/><Relationship Id="rId4" Type="http://schemas.openxmlformats.org/officeDocument/2006/relationships/image" Target="../media/image-10-4.jpg"/><Relationship Id="rId5" Type="http://schemas.openxmlformats.org/officeDocument/2006/relationships/image" Target="../media/image-10-5.jpg"/><Relationship Id="rId6" Type="http://schemas.openxmlformats.org/officeDocument/2006/relationships/image" Target="../media/image-10-6.jp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412480" y="822960"/>
            <a:ext cx="3017520" cy="4937760"/>
          </a:xfrm>
          <a:prstGeom prst="rect">
            <a:avLst/>
          </a:prstGeom>
          <a:noFill/>
          <a:ln/>
        </p:spPr>
        <p:txBody>
          <a:bodyPr wrap="square" lIns="0" tIns="0" rIns="0" bIns="0" rtlCol="0" anchor="ctr"/>
          <a:lstStyle/>
          <a:p>
            <a:pPr algn="ctr" indent="0" marL="0">
              <a:buNone/>
            </a:pPr>
            <a:r>
              <a:rPr lang="en-US" sz="32000" dirty="0">
                <a:solidFill>
                  <a:srgbClr val="A3C1AD"/>
                </a:solidFill>
                <a:latin typeface="Georgia" pitchFamily="34" charset="0"/>
                <a:ea typeface="Georgia" pitchFamily="34" charset="-122"/>
                <a:cs typeface="Georgia" pitchFamily="34" charset="-120"/>
              </a:rPr>
              <a:t>V</a:t>
            </a:r>
            <a:endParaRPr lang="en-US" sz="32000" dirty="0"/>
          </a:p>
        </p:txBody>
      </p:sp>
      <p:sp>
        <p:nvSpPr>
          <p:cNvPr id="3" name="Text 1"/>
          <p:cNvSpPr/>
          <p:nvPr/>
        </p:nvSpPr>
        <p:spPr>
          <a:xfrm>
            <a:off x="822960" y="1234440"/>
            <a:ext cx="82296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MEDIA STUDIES 9607 · UNIT II</a:t>
            </a:r>
            <a:endParaRPr lang="en-US" sz="1100" dirty="0"/>
          </a:p>
        </p:txBody>
      </p:sp>
      <p:sp>
        <p:nvSpPr>
          <p:cNvPr id="4" name="Text 2"/>
          <p:cNvSpPr/>
          <p:nvPr/>
        </p:nvSpPr>
        <p:spPr>
          <a:xfrm>
            <a:off x="822960" y="1737360"/>
            <a:ext cx="7498080" cy="2377440"/>
          </a:xfrm>
          <a:prstGeom prst="rect">
            <a:avLst/>
          </a:prstGeom>
          <a:noFill/>
          <a:ln/>
        </p:spPr>
        <p:txBody>
          <a:bodyPr wrap="square" lIns="0" tIns="0" rIns="0" bIns="0" rtlCol="0" anchor="t"/>
          <a:lstStyle/>
          <a:p>
            <a:pPr indent="0" marL="0">
              <a:lnSpc>
                <a:spcPts val="6600"/>
              </a:lnSpc>
              <a:buNone/>
            </a:pPr>
            <a:r>
              <a:rPr lang="en-US" sz="6200" dirty="0">
                <a:solidFill>
                  <a:srgbClr val="24313F"/>
                </a:solidFill>
                <a:latin typeface="Georgia" pitchFamily="34" charset="0"/>
                <a:ea typeface="Georgia" pitchFamily="34" charset="-122"/>
                <a:cs typeface="Georgia" pitchFamily="34" charset="-120"/>
              </a:rPr>
              <a:t>Mise-en-scène</a:t>
            </a:r>
            <a:endParaRPr lang="en-US" sz="6200" dirty="0"/>
          </a:p>
        </p:txBody>
      </p:sp>
      <p:sp>
        <p:nvSpPr>
          <p:cNvPr id="5" name="Shape 3"/>
          <p:cNvSpPr/>
          <p:nvPr/>
        </p:nvSpPr>
        <p:spPr>
          <a:xfrm>
            <a:off x="822960" y="4343400"/>
            <a:ext cx="914400" cy="0"/>
          </a:xfrm>
          <a:prstGeom prst="line">
            <a:avLst/>
          </a:prstGeom>
          <a:noFill/>
          <a:ln w="31750">
            <a:solidFill>
              <a:srgbClr val="8C3A38"/>
            </a:solidFill>
            <a:prstDash val="solid"/>
          </a:ln>
        </p:spPr>
      </p:sp>
      <p:sp>
        <p:nvSpPr>
          <p:cNvPr id="6" name="Text 4"/>
          <p:cNvSpPr/>
          <p:nvPr/>
        </p:nvSpPr>
        <p:spPr>
          <a:xfrm>
            <a:off x="822960" y="4526280"/>
            <a:ext cx="7315200" cy="457200"/>
          </a:xfrm>
          <a:prstGeom prst="rect">
            <a:avLst/>
          </a:prstGeom>
          <a:noFill/>
          <a:ln/>
        </p:spPr>
        <p:txBody>
          <a:bodyPr wrap="square" lIns="0" tIns="0" rIns="0" bIns="0" rtlCol="0" anchor="ctr"/>
          <a:lstStyle/>
          <a:p>
            <a:pPr indent="0" marL="0">
              <a:buNone/>
            </a:pPr>
            <a:r>
              <a:rPr lang="en-US" sz="2200" i="1" dirty="0">
                <a:solidFill>
                  <a:srgbClr val="7A7F72"/>
                </a:solidFill>
                <a:latin typeface="Georgia" pitchFamily="34" charset="0"/>
                <a:ea typeface="Georgia" pitchFamily="34" charset="-122"/>
                <a:cs typeface="Georgia" pitchFamily="34" charset="-120"/>
              </a:rPr>
              <a:t>Media Language · Lesson 05 of 19</a:t>
            </a:r>
            <a:endParaRPr lang="en-US" sz="2200" dirty="0"/>
          </a:p>
        </p:txBody>
      </p:sp>
      <p:sp>
        <p:nvSpPr>
          <p:cNvPr id="7" name="Text 5"/>
          <p:cNvSpPr/>
          <p:nvPr/>
        </p:nvSpPr>
        <p:spPr>
          <a:xfrm>
            <a:off x="822960" y="5029200"/>
            <a:ext cx="9601200" cy="365760"/>
          </a:xfrm>
          <a:prstGeom prst="rect">
            <a:avLst/>
          </a:prstGeom>
          <a:noFill/>
          <a:ln/>
        </p:spPr>
        <p:txBody>
          <a:bodyPr wrap="square" lIns="0" tIns="0" rIns="0" bIns="0" rtlCol="0" anchor="ctr"/>
          <a:lstStyle/>
          <a:p>
            <a:pPr indent="0" marL="0">
              <a:buNone/>
            </a:pPr>
            <a:r>
              <a:rPr lang="en-US" sz="1300" spc="100" kern="0" dirty="0">
                <a:solidFill>
                  <a:srgbClr val="7A7F72"/>
                </a:solidFill>
                <a:latin typeface="Arial" pitchFamily="34" charset="0"/>
                <a:ea typeface="Arial" pitchFamily="34" charset="-122"/>
                <a:cs typeface="Arial" pitchFamily="34" charset="-120"/>
              </a:rPr>
              <a:t>Two days  ·  Monday 21 to Tuesday 22 September  ·  third of the four technical elements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8229600" y="640080"/>
            <a:ext cx="3383280" cy="5577840"/>
          </a:xfrm>
          <a:prstGeom prst="rect">
            <a:avLst/>
          </a:prstGeom>
          <a:noFill/>
          <a:ln/>
        </p:spPr>
        <p:txBody>
          <a:bodyPr wrap="square" lIns="0" tIns="0" rIns="0" bIns="0" rtlCol="0" anchor="ctr"/>
          <a:lstStyle/>
          <a:p>
            <a:pPr algn="ctr" indent="0" marL="0">
              <a:buNone/>
            </a:pPr>
            <a:r>
              <a:rPr lang="en-US" sz="38000" dirty="0">
                <a:solidFill>
                  <a:srgbClr val="5C7A6B"/>
                </a:solidFill>
                <a:latin typeface="Georgia" pitchFamily="34" charset="0"/>
                <a:ea typeface="Georgia" pitchFamily="34" charset="-122"/>
                <a:cs typeface="Georgia" pitchFamily="34" charset="-120"/>
              </a:rPr>
              <a:t>V</a:t>
            </a:r>
            <a:endParaRPr lang="en-US" sz="38000" dirty="0"/>
          </a:p>
        </p:txBody>
      </p:sp>
      <p:sp>
        <p:nvSpPr>
          <p:cNvPr id="3" name="Text 1"/>
          <p:cNvSpPr/>
          <p:nvPr/>
        </p:nvSpPr>
        <p:spPr>
          <a:xfrm>
            <a:off x="822960" y="2286000"/>
            <a:ext cx="82296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THE STARTER</a:t>
            </a:r>
            <a:endParaRPr lang="en-US" sz="1100" dirty="0"/>
          </a:p>
        </p:txBody>
      </p:sp>
      <p:sp>
        <p:nvSpPr>
          <p:cNvPr id="4" name="Shape 2"/>
          <p:cNvSpPr/>
          <p:nvPr/>
        </p:nvSpPr>
        <p:spPr>
          <a:xfrm>
            <a:off x="822960" y="2651760"/>
            <a:ext cx="3840480" cy="0"/>
          </a:xfrm>
          <a:prstGeom prst="line">
            <a:avLst/>
          </a:prstGeom>
          <a:noFill/>
          <a:ln w="9525">
            <a:solidFill>
              <a:srgbClr val="8AA394"/>
            </a:solidFill>
            <a:prstDash val="solid"/>
          </a:ln>
        </p:spPr>
      </p:sp>
      <p:sp>
        <p:nvSpPr>
          <p:cNvPr id="5" name="Text 3"/>
          <p:cNvSpPr/>
          <p:nvPr/>
        </p:nvSpPr>
        <p:spPr>
          <a:xfrm>
            <a:off x="822960" y="2743200"/>
            <a:ext cx="7315200" cy="2377440"/>
          </a:xfrm>
          <a:prstGeom prst="rect">
            <a:avLst/>
          </a:prstGeom>
          <a:noFill/>
          <a:ln/>
        </p:spPr>
        <p:txBody>
          <a:bodyPr wrap="square" lIns="0" tIns="0" rIns="0" bIns="0" rtlCol="0" anchor="t"/>
          <a:lstStyle/>
          <a:p>
            <a:pPr indent="0" marL="0">
              <a:lnSpc>
                <a:spcPts val="4800"/>
              </a:lnSpc>
              <a:buNone/>
            </a:pPr>
            <a:r>
              <a:rPr lang="en-US" sz="4000" dirty="0">
                <a:solidFill>
                  <a:srgbClr val="FAF8F1"/>
                </a:solidFill>
                <a:latin typeface="Georgia" pitchFamily="34" charset="0"/>
                <a:ea typeface="Georgia" pitchFamily="34" charset="-122"/>
                <a:cs typeface="Georgia" pitchFamily="34" charset="-120"/>
              </a:rPr>
              <a:t>List ten things you</a:t>
            </a:r>
            <a:endParaRPr lang="en-US" sz="4000" dirty="0"/>
          </a:p>
          <a:p>
            <a:pPr indent="0" marL="0">
              <a:lnSpc>
                <a:spcPts val="4800"/>
              </a:lnSpc>
              <a:buNone/>
            </a:pPr>
            <a:r>
              <a:rPr lang="en-US" sz="4000" dirty="0">
                <a:solidFill>
                  <a:srgbClr val="FAF8F1"/>
                </a:solidFill>
                <a:latin typeface="Georgia" pitchFamily="34" charset="0"/>
                <a:ea typeface="Georgia" pitchFamily="34" charset="-122"/>
                <a:cs typeface="Georgia" pitchFamily="34" charset="-120"/>
              </a:rPr>
              <a:t>can see. Now: which</a:t>
            </a:r>
            <a:endParaRPr lang="en-US" sz="4000" dirty="0"/>
          </a:p>
          <a:p>
            <a:pPr indent="0" marL="0">
              <a:lnSpc>
                <a:spcPts val="4800"/>
              </a:lnSpc>
              <a:buNone/>
            </a:pPr>
            <a:r>
              <a:rPr lang="en-US" sz="4000" dirty="0">
                <a:solidFill>
                  <a:srgbClr val="FAF8F1"/>
                </a:solidFill>
                <a:latin typeface="Georgia" pitchFamily="34" charset="0"/>
                <a:ea typeface="Georgia" pitchFamily="34" charset="-122"/>
                <a:cs typeface="Georgia" pitchFamily="34" charset="-120"/>
              </a:rPr>
              <a:t>got there by accident?</a:t>
            </a:r>
            <a:endParaRPr lang="en-US" sz="4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SYLLABUS LIST</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NO ADDITIONS, AND ONE HARD EXCLUSION</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32688"/>
            <a:ext cx="10543032" cy="640080"/>
          </a:xfrm>
          <a:prstGeom prst="rect">
            <a:avLst/>
          </a:prstGeom>
          <a:noFill/>
          <a:ln/>
        </p:spPr>
        <p:txBody>
          <a:bodyPr wrap="square" lIns="0" tIns="0" rIns="0" bIns="0" rtlCol="0" anchor="ctr"/>
          <a:lstStyle/>
          <a:p>
            <a:pPr indent="0" marL="0">
              <a:buNone/>
            </a:pPr>
            <a:r>
              <a:rPr lang="en-US" sz="3200" dirty="0">
                <a:solidFill>
                  <a:srgbClr val="24313F"/>
                </a:solidFill>
                <a:latin typeface="Georgia" pitchFamily="34" charset="0"/>
                <a:ea typeface="Georgia" pitchFamily="34" charset="-122"/>
                <a:cs typeface="Georgia" pitchFamily="34" charset="-120"/>
              </a:rPr>
              <a:t>What counts as mise-en-scène</a:t>
            </a:r>
            <a:endParaRPr lang="en-US" sz="3200" dirty="0"/>
          </a:p>
        </p:txBody>
      </p:sp>
      <p:sp>
        <p:nvSpPr>
          <p:cNvPr id="6" name="Text 4"/>
          <p:cNvSpPr/>
          <p:nvPr/>
        </p:nvSpPr>
        <p:spPr>
          <a:xfrm>
            <a:off x="822960" y="1828800"/>
            <a:ext cx="3209544" cy="457200"/>
          </a:xfrm>
          <a:prstGeom prst="rect">
            <a:avLst/>
          </a:prstGeom>
          <a:noFill/>
          <a:ln/>
        </p:spPr>
        <p:txBody>
          <a:bodyPr wrap="square" lIns="0" tIns="0" rIns="0" bIns="0" rtlCol="0" anchor="ctr"/>
          <a:lstStyle/>
          <a:p>
            <a:pPr indent="0" marL="0">
              <a:buNone/>
            </a:pPr>
            <a:r>
              <a:rPr lang="en-US" sz="2200" dirty="0">
                <a:solidFill>
                  <a:srgbClr val="4A6B5D"/>
                </a:solidFill>
                <a:latin typeface="Georgia" pitchFamily="34" charset="0"/>
                <a:ea typeface="Georgia" pitchFamily="34" charset="-122"/>
                <a:cs typeface="Georgia" pitchFamily="34" charset="-120"/>
              </a:rPr>
              <a:t>Production design</a:t>
            </a:r>
            <a:endParaRPr lang="en-US" sz="2200" dirty="0"/>
          </a:p>
        </p:txBody>
      </p:sp>
      <p:sp>
        <p:nvSpPr>
          <p:cNvPr id="7" name="Shape 5"/>
          <p:cNvSpPr/>
          <p:nvPr/>
        </p:nvSpPr>
        <p:spPr>
          <a:xfrm>
            <a:off x="822960" y="2377440"/>
            <a:ext cx="3209544" cy="0"/>
          </a:xfrm>
          <a:prstGeom prst="line">
            <a:avLst/>
          </a:prstGeom>
          <a:noFill/>
          <a:ln w="9525">
            <a:solidFill>
              <a:srgbClr val="D9D4C4"/>
            </a:solidFill>
            <a:prstDash val="solid"/>
          </a:ln>
        </p:spPr>
      </p:sp>
      <p:sp>
        <p:nvSpPr>
          <p:cNvPr id="8" name="Text 6"/>
          <p:cNvSpPr/>
          <p:nvPr/>
        </p:nvSpPr>
        <p:spPr>
          <a:xfrm>
            <a:off x="822960" y="2542032"/>
            <a:ext cx="3209544" cy="1371600"/>
          </a:xfrm>
          <a:prstGeom prst="rect">
            <a:avLst/>
          </a:prstGeom>
          <a:noFill/>
          <a:ln/>
        </p:spPr>
        <p:txBody>
          <a:bodyPr wrap="square" lIns="0" tIns="0" rIns="0" bIns="0" rtlCol="0" anchor="t"/>
          <a:lstStyle/>
          <a:p>
            <a:pPr indent="0" marL="0">
              <a:lnSpc>
                <a:spcPts val="2400"/>
              </a:lnSpc>
              <a:buNone/>
            </a:pPr>
            <a:r>
              <a:rPr lang="en-US" sz="1650" dirty="0">
                <a:solidFill>
                  <a:srgbClr val="24313F"/>
                </a:solidFill>
                <a:latin typeface="Georgia" pitchFamily="34" charset="0"/>
                <a:ea typeface="Georgia" pitchFamily="34" charset="-122"/>
                <a:cs typeface="Georgia" pitchFamily="34" charset="-120"/>
              </a:rPr>
              <a:t>location  ·  studio  ·  set design</a:t>
            </a:r>
            <a:endParaRPr lang="en-US" sz="1650" dirty="0"/>
          </a:p>
          <a:p>
            <a:pPr indent="0" marL="0">
              <a:lnSpc>
                <a:spcPts val="2400"/>
              </a:lnSpc>
              <a:buNone/>
            </a:pPr>
            <a:r>
              <a:rPr lang="en-US" sz="1650" dirty="0">
                <a:solidFill>
                  <a:srgbClr val="24313F"/>
                </a:solidFill>
                <a:latin typeface="Georgia" pitchFamily="34" charset="0"/>
                <a:ea typeface="Georgia" pitchFamily="34" charset="-122"/>
                <a:cs typeface="Georgia" pitchFamily="34" charset="-120"/>
              </a:rPr>
              <a:t>costume and make-up  ·  properties</a:t>
            </a:r>
            <a:endParaRPr lang="en-US" sz="1650" dirty="0"/>
          </a:p>
        </p:txBody>
      </p:sp>
      <p:sp>
        <p:nvSpPr>
          <p:cNvPr id="9" name="Text 7"/>
          <p:cNvSpPr/>
          <p:nvPr/>
        </p:nvSpPr>
        <p:spPr>
          <a:xfrm>
            <a:off x="4489704" y="1828800"/>
            <a:ext cx="3209544" cy="457200"/>
          </a:xfrm>
          <a:prstGeom prst="rect">
            <a:avLst/>
          </a:prstGeom>
          <a:noFill/>
          <a:ln/>
        </p:spPr>
        <p:txBody>
          <a:bodyPr wrap="square" lIns="0" tIns="0" rIns="0" bIns="0" rtlCol="0" anchor="ctr"/>
          <a:lstStyle/>
          <a:p>
            <a:pPr indent="0" marL="0">
              <a:buNone/>
            </a:pPr>
            <a:r>
              <a:rPr lang="en-US" sz="2200" dirty="0">
                <a:solidFill>
                  <a:srgbClr val="4A6B5D"/>
                </a:solidFill>
                <a:latin typeface="Georgia" pitchFamily="34" charset="0"/>
                <a:ea typeface="Georgia" pitchFamily="34" charset="-122"/>
                <a:cs typeface="Georgia" pitchFamily="34" charset="-120"/>
              </a:rPr>
              <a:t>Lighting</a:t>
            </a:r>
            <a:endParaRPr lang="en-US" sz="2200" dirty="0"/>
          </a:p>
        </p:txBody>
      </p:sp>
      <p:sp>
        <p:nvSpPr>
          <p:cNvPr id="10" name="Shape 8"/>
          <p:cNvSpPr/>
          <p:nvPr/>
        </p:nvSpPr>
        <p:spPr>
          <a:xfrm>
            <a:off x="4489704" y="2377440"/>
            <a:ext cx="3209544" cy="0"/>
          </a:xfrm>
          <a:prstGeom prst="line">
            <a:avLst/>
          </a:prstGeom>
          <a:noFill/>
          <a:ln w="9525">
            <a:solidFill>
              <a:srgbClr val="D9D4C4"/>
            </a:solidFill>
            <a:prstDash val="solid"/>
          </a:ln>
        </p:spPr>
      </p:sp>
      <p:sp>
        <p:nvSpPr>
          <p:cNvPr id="11" name="Text 9"/>
          <p:cNvSpPr/>
          <p:nvPr/>
        </p:nvSpPr>
        <p:spPr>
          <a:xfrm>
            <a:off x="4489704" y="2542032"/>
            <a:ext cx="3209544" cy="1371600"/>
          </a:xfrm>
          <a:prstGeom prst="rect">
            <a:avLst/>
          </a:prstGeom>
          <a:noFill/>
          <a:ln/>
        </p:spPr>
        <p:txBody>
          <a:bodyPr wrap="square" lIns="0" tIns="0" rIns="0" bIns="0" rtlCol="0" anchor="t"/>
          <a:lstStyle/>
          <a:p>
            <a:pPr indent="0" marL="0">
              <a:lnSpc>
                <a:spcPts val="2400"/>
              </a:lnSpc>
              <a:buNone/>
            </a:pPr>
            <a:r>
              <a:rPr lang="en-US" sz="1650" dirty="0">
                <a:solidFill>
                  <a:srgbClr val="24313F"/>
                </a:solidFill>
                <a:latin typeface="Georgia" pitchFamily="34" charset="0"/>
                <a:ea typeface="Georgia" pitchFamily="34" charset="-122"/>
                <a:cs typeface="Georgia" pitchFamily="34" charset="-120"/>
              </a:rPr>
              <a:t>direction  ·  quality  ·  contrast</a:t>
            </a:r>
            <a:endParaRPr lang="en-US" sz="1650" dirty="0"/>
          </a:p>
          <a:p>
            <a:pPr indent="0" marL="0">
              <a:lnSpc>
                <a:spcPts val="2400"/>
              </a:lnSpc>
              <a:buNone/>
            </a:pPr>
            <a:r>
              <a:rPr lang="en-US" sz="1650" dirty="0">
                <a:solidFill>
                  <a:srgbClr val="24313F"/>
                </a:solidFill>
                <a:latin typeface="Georgia" pitchFamily="34" charset="0"/>
                <a:ea typeface="Georgia" pitchFamily="34" charset="-122"/>
                <a:cs typeface="Georgia" pitchFamily="34" charset="-120"/>
              </a:rPr>
              <a:t>high key  ·  low key</a:t>
            </a:r>
            <a:endParaRPr lang="en-US" sz="1650" dirty="0"/>
          </a:p>
        </p:txBody>
      </p:sp>
      <p:sp>
        <p:nvSpPr>
          <p:cNvPr id="12" name="Text 10"/>
          <p:cNvSpPr/>
          <p:nvPr/>
        </p:nvSpPr>
        <p:spPr>
          <a:xfrm>
            <a:off x="8156448" y="1828800"/>
            <a:ext cx="3209544" cy="457200"/>
          </a:xfrm>
          <a:prstGeom prst="rect">
            <a:avLst/>
          </a:prstGeom>
          <a:noFill/>
          <a:ln/>
        </p:spPr>
        <p:txBody>
          <a:bodyPr wrap="square" lIns="0" tIns="0" rIns="0" bIns="0" rtlCol="0" anchor="ctr"/>
          <a:lstStyle/>
          <a:p>
            <a:pPr indent="0" marL="0">
              <a:buNone/>
            </a:pPr>
            <a:r>
              <a:rPr lang="en-US" sz="2200" dirty="0">
                <a:solidFill>
                  <a:srgbClr val="4A6B5D"/>
                </a:solidFill>
                <a:latin typeface="Georgia" pitchFamily="34" charset="0"/>
                <a:ea typeface="Georgia" pitchFamily="34" charset="-122"/>
                <a:cs typeface="Georgia" pitchFamily="34" charset="-120"/>
              </a:rPr>
              <a:t>Colour design</a:t>
            </a:r>
            <a:endParaRPr lang="en-US" sz="2200" dirty="0"/>
          </a:p>
        </p:txBody>
      </p:sp>
      <p:sp>
        <p:nvSpPr>
          <p:cNvPr id="13" name="Shape 11"/>
          <p:cNvSpPr/>
          <p:nvPr/>
        </p:nvSpPr>
        <p:spPr>
          <a:xfrm>
            <a:off x="8156448" y="2377440"/>
            <a:ext cx="3209544" cy="0"/>
          </a:xfrm>
          <a:prstGeom prst="line">
            <a:avLst/>
          </a:prstGeom>
          <a:noFill/>
          <a:ln w="9525">
            <a:solidFill>
              <a:srgbClr val="D9D4C4"/>
            </a:solidFill>
            <a:prstDash val="solid"/>
          </a:ln>
        </p:spPr>
      </p:sp>
      <p:sp>
        <p:nvSpPr>
          <p:cNvPr id="14" name="Text 12"/>
          <p:cNvSpPr/>
          <p:nvPr/>
        </p:nvSpPr>
        <p:spPr>
          <a:xfrm>
            <a:off x="8156448" y="2542032"/>
            <a:ext cx="3209544" cy="1371600"/>
          </a:xfrm>
          <a:prstGeom prst="rect">
            <a:avLst/>
          </a:prstGeom>
          <a:noFill/>
          <a:ln/>
        </p:spPr>
        <p:txBody>
          <a:bodyPr wrap="square" lIns="0" tIns="0" rIns="0" bIns="0" rtlCol="0" anchor="t"/>
          <a:lstStyle/>
          <a:p>
            <a:pPr indent="0" marL="0">
              <a:lnSpc>
                <a:spcPts val="2400"/>
              </a:lnSpc>
              <a:buNone/>
            </a:pPr>
            <a:r>
              <a:rPr lang="en-US" sz="1650" dirty="0">
                <a:solidFill>
                  <a:srgbClr val="24313F"/>
                </a:solidFill>
                <a:latin typeface="Georgia" pitchFamily="34" charset="0"/>
                <a:ea typeface="Georgia" pitchFamily="34" charset="-122"/>
                <a:cs typeface="Georgia" pitchFamily="34" charset="-120"/>
              </a:rPr>
              <a:t>palette  ·  repetition  ·  assignment</a:t>
            </a:r>
            <a:endParaRPr lang="en-US" sz="1650" dirty="0"/>
          </a:p>
          <a:p>
            <a:pPr indent="0" marL="0">
              <a:lnSpc>
                <a:spcPts val="2400"/>
              </a:lnSpc>
              <a:buNone/>
            </a:pPr>
            <a:r>
              <a:rPr lang="en-US" sz="1650" dirty="0">
                <a:solidFill>
                  <a:srgbClr val="24313F"/>
                </a:solidFill>
                <a:latin typeface="Georgia" pitchFamily="34" charset="0"/>
                <a:ea typeface="Georgia" pitchFamily="34" charset="-122"/>
                <a:cs typeface="Georgia" pitchFamily="34" charset="-120"/>
              </a:rPr>
              <a:t>the shift that marks a turn</a:t>
            </a:r>
            <a:endParaRPr lang="en-US" sz="1650" dirty="0"/>
          </a:p>
        </p:txBody>
      </p:sp>
      <p:sp>
        <p:nvSpPr>
          <p:cNvPr id="15" name="Shape 13"/>
          <p:cNvSpPr/>
          <p:nvPr/>
        </p:nvSpPr>
        <p:spPr>
          <a:xfrm>
            <a:off x="822960" y="4114800"/>
            <a:ext cx="10543032" cy="1234440"/>
          </a:xfrm>
          <a:prstGeom prst="rect">
            <a:avLst/>
          </a:prstGeom>
          <a:solidFill>
            <a:srgbClr val="E8EFE7"/>
          </a:solidFill>
          <a:ln/>
        </p:spPr>
      </p:sp>
      <p:sp>
        <p:nvSpPr>
          <p:cNvPr id="16" name="Text 14"/>
          <p:cNvSpPr/>
          <p:nvPr/>
        </p:nvSpPr>
        <p:spPr>
          <a:xfrm>
            <a:off x="1097280" y="4251960"/>
            <a:ext cx="9994392" cy="960120"/>
          </a:xfrm>
          <a:prstGeom prst="rect">
            <a:avLst/>
          </a:prstGeom>
          <a:noFill/>
          <a:ln/>
        </p:spPr>
        <p:txBody>
          <a:bodyPr wrap="square" lIns="0" tIns="0" rIns="0" bIns="0" rtlCol="0" anchor="ctr"/>
          <a:lstStyle/>
          <a:p>
            <a:pPr indent="0" marL="0">
              <a:lnSpc>
                <a:spcPts val="2400"/>
              </a:lnSpc>
              <a:buNone/>
            </a:pPr>
            <a:r>
              <a:rPr lang="en-US" sz="1750" dirty="0">
                <a:solidFill>
                  <a:srgbClr val="24313F"/>
                </a:solidFill>
                <a:latin typeface="Georgia" pitchFamily="34" charset="0"/>
                <a:ea typeface="Georgia" pitchFamily="34" charset="-122"/>
                <a:cs typeface="Georgia" pitchFamily="34" charset="-120"/>
              </a:rPr>
              <a:t>Not on the list, and candidates cross this line every year: acting and performance. The syllabus states that acting is not a skill assessed in media studies. Write about what was placed in the frame, not how it was played.</a:t>
            </a:r>
            <a:endParaRPr lang="en-US" sz="1750" dirty="0"/>
          </a:p>
        </p:txBody>
      </p:sp>
      <p:sp>
        <p:nvSpPr>
          <p:cNvPr id="17" name="Shape 15"/>
          <p:cNvSpPr/>
          <p:nvPr/>
        </p:nvSpPr>
        <p:spPr>
          <a:xfrm>
            <a:off x="822960" y="6382512"/>
            <a:ext cx="10543032" cy="0"/>
          </a:xfrm>
          <a:prstGeom prst="line">
            <a:avLst/>
          </a:prstGeom>
          <a:noFill/>
          <a:ln w="9525">
            <a:solidFill>
              <a:srgbClr val="D9D4C4"/>
            </a:solidFill>
            <a:prstDash val="solid"/>
          </a:ln>
        </p:spPr>
      </p:sp>
      <p:sp>
        <p:nvSpPr>
          <p:cNvPr id="18" name="Text 16"/>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9" name="Text 17"/>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EFE7"/>
        </a:solidFill>
      </p:bgPr>
    </p:bg>
    <p:spTree>
      <p:nvGrpSpPr>
        <p:cNvPr id="1" name=""/>
        <p:cNvGrpSpPr/>
        <p:nvPr/>
      </p:nvGrpSpPr>
      <p:grpSpPr>
        <a:xfrm>
          <a:off x="0" y="0"/>
          <a:ext cx="0" cy="0"/>
          <a:chOff x="0" y="0"/>
          <a:chExt cx="0" cy="0"/>
        </a:xfrm>
      </p:grpSpPr>
      <p:sp>
        <p:nvSpPr>
          <p:cNvPr id="2" name="Text 0"/>
          <p:cNvSpPr/>
          <p:nvPr/>
        </p:nvSpPr>
        <p:spPr>
          <a:xfrm>
            <a:off x="502920" y="548640"/>
            <a:ext cx="1828800" cy="1828800"/>
          </a:xfrm>
          <a:prstGeom prst="rect">
            <a:avLst/>
          </a:prstGeom>
          <a:noFill/>
          <a:ln/>
        </p:spPr>
        <p:txBody>
          <a:bodyPr wrap="square" lIns="0" tIns="0" rIns="0" bIns="0" rtlCol="0" anchor="t"/>
          <a:lstStyle/>
          <a:p>
            <a:pPr indent="0" marL="0">
              <a:buNone/>
            </a:pPr>
            <a:r>
              <a:rPr lang="en-US" sz="20000" dirty="0">
                <a:solidFill>
                  <a:srgbClr val="A3C1AD"/>
                </a:solidFill>
                <a:latin typeface="Georgia" pitchFamily="34" charset="0"/>
                <a:ea typeface="Georgia" pitchFamily="34" charset="-122"/>
                <a:cs typeface="Georgia" pitchFamily="34" charset="-120"/>
              </a:rPr>
              <a:t>“</a:t>
            </a:r>
            <a:endParaRPr lang="en-US" sz="20000" dirty="0"/>
          </a:p>
        </p:txBody>
      </p:sp>
      <p:sp>
        <p:nvSpPr>
          <p:cNvPr id="3" name="Text 1"/>
          <p:cNvSpPr/>
          <p:nvPr/>
        </p:nvSpPr>
        <p:spPr>
          <a:xfrm>
            <a:off x="822960" y="1783080"/>
            <a:ext cx="10424160" cy="3291840"/>
          </a:xfrm>
          <a:prstGeom prst="rect">
            <a:avLst/>
          </a:prstGeom>
          <a:noFill/>
          <a:ln/>
        </p:spPr>
        <p:txBody>
          <a:bodyPr wrap="square" lIns="0" tIns="0" rIns="0" bIns="0" rtlCol="0" anchor="ctr"/>
          <a:lstStyle/>
          <a:p>
            <a:pPr indent="0" marL="0">
              <a:lnSpc>
                <a:spcPts val="4600"/>
              </a:lnSpc>
              <a:buNone/>
            </a:pPr>
            <a:r>
              <a:rPr lang="en-US" sz="3600" dirty="0">
                <a:solidFill>
                  <a:srgbClr val="24313F"/>
                </a:solidFill>
                <a:latin typeface="Georgia" pitchFamily="34" charset="0"/>
                <a:ea typeface="Georgia" pitchFamily="34" charset="-122"/>
                <a:cs typeface="Georgia" pitchFamily="34" charset="-120"/>
              </a:rPr>
              <a:t>Stills from particular films can be used for mise-en-scène analysis and recorded in the blog as evidence of research.</a:t>
            </a:r>
            <a:endParaRPr lang="en-US" sz="3600" dirty="0"/>
          </a:p>
        </p:txBody>
      </p:sp>
      <p:sp>
        <p:nvSpPr>
          <p:cNvPr id="4" name="Shape 2"/>
          <p:cNvSpPr/>
          <p:nvPr/>
        </p:nvSpPr>
        <p:spPr>
          <a:xfrm>
            <a:off x="822960" y="5029200"/>
            <a:ext cx="914400" cy="0"/>
          </a:xfrm>
          <a:prstGeom prst="line">
            <a:avLst/>
          </a:prstGeom>
          <a:noFill/>
          <a:ln w="31750">
            <a:solidFill>
              <a:srgbClr val="8C3A38"/>
            </a:solidFill>
            <a:prstDash val="solid"/>
          </a:ln>
        </p:spPr>
      </p:sp>
      <p:sp>
        <p:nvSpPr>
          <p:cNvPr id="5" name="Text 3"/>
          <p:cNvSpPr/>
          <p:nvPr/>
        </p:nvSpPr>
        <p:spPr>
          <a:xfrm>
            <a:off x="822960" y="5212080"/>
            <a:ext cx="10058400" cy="457200"/>
          </a:xfrm>
          <a:prstGeom prst="rect">
            <a:avLst/>
          </a:prstGeom>
          <a:noFill/>
          <a:ln/>
        </p:spPr>
        <p:txBody>
          <a:bodyPr wrap="square" lIns="0" tIns="0" rIns="0" bIns="0" rtlCol="0" anchor="ctr"/>
          <a:lstStyle/>
          <a:p>
            <a:pPr indent="0" marL="0">
              <a:buNone/>
            </a:pPr>
            <a:r>
              <a:rPr lang="en-US" sz="1400" spc="100" kern="0" dirty="0">
                <a:solidFill>
                  <a:srgbClr val="4A6B5D"/>
                </a:solidFill>
                <a:latin typeface="Arial" pitchFamily="34" charset="0"/>
                <a:ea typeface="Arial" pitchFamily="34" charset="-122"/>
                <a:cs typeface="Arial" pitchFamily="34" charset="-120"/>
              </a:rPr>
              <a:t>Cambridge Scheme of Work, Foundation Portfolio</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LIGHTING · DIRECTION AND CONTRAST</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ONE SOURCE, AND EVERYTHING IT DECIDES</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Shape 3"/>
          <p:cNvSpPr/>
          <p:nvPr/>
        </p:nvSpPr>
        <p:spPr>
          <a:xfrm>
            <a:off x="822960" y="1097280"/>
            <a:ext cx="5088636" cy="3977640"/>
          </a:xfrm>
          <a:prstGeom prst="rect">
            <a:avLst/>
          </a:prstGeom>
          <a:solidFill>
            <a:srgbClr val="FAF8F1"/>
          </a:solidFill>
          <a:ln w="9525">
            <a:solidFill>
              <a:srgbClr val="D9D4C4"/>
            </a:solidFill>
            <a:prstDash val="solid"/>
          </a:ln>
        </p:spPr>
      </p:sp>
      <p:pic>
        <p:nvPicPr>
          <p:cNvPr id="6" name="Image 0" descr="/Users/dogan/Documents/Vaults/Courses/wiki/classes/media-studies/decks/_build/img/caravaggio-matthew-whole.jpg">    </p:cNvPr>
          <p:cNvPicPr>
            <a:picLocks noChangeAspect="1"/>
          </p:cNvPicPr>
          <p:nvPr/>
        </p:nvPicPr>
        <p:blipFill>
          <a:blip r:embed="rId1"/>
          <a:stretch>
            <a:fillRect/>
          </a:stretch>
        </p:blipFill>
        <p:spPr>
          <a:xfrm>
            <a:off x="1397305" y="1225296"/>
            <a:ext cx="3939947" cy="3721608"/>
          </a:xfrm>
          <a:prstGeom prst="rect">
            <a:avLst/>
          </a:prstGeom>
        </p:spPr>
      </p:pic>
      <p:sp>
        <p:nvSpPr>
          <p:cNvPr id="7" name="Shape 4"/>
          <p:cNvSpPr/>
          <p:nvPr/>
        </p:nvSpPr>
        <p:spPr>
          <a:xfrm>
            <a:off x="6277356" y="1097280"/>
            <a:ext cx="5088636" cy="3977640"/>
          </a:xfrm>
          <a:prstGeom prst="rect">
            <a:avLst/>
          </a:prstGeom>
          <a:solidFill>
            <a:srgbClr val="FAF8F1"/>
          </a:solidFill>
          <a:ln w="9525">
            <a:solidFill>
              <a:srgbClr val="D9D4C4"/>
            </a:solidFill>
            <a:prstDash val="solid"/>
          </a:ln>
        </p:spPr>
      </p:sp>
      <p:pic>
        <p:nvPicPr>
          <p:cNvPr id="8" name="Image 1" descr="/Users/dogan/Documents/Vaults/Courses/wiki/classes/media-studies/decks/_build/img/lupin-vitrine.jpg">    </p:cNvPr>
          <p:cNvPicPr>
            <a:picLocks noChangeAspect="1"/>
          </p:cNvPicPr>
          <p:nvPr/>
        </p:nvPicPr>
        <p:blipFill>
          <a:blip r:embed="rId2"/>
          <a:stretch>
            <a:fillRect/>
          </a:stretch>
        </p:blipFill>
        <p:spPr>
          <a:xfrm>
            <a:off x="6405372" y="1475232"/>
            <a:ext cx="4832604" cy="3221736"/>
          </a:xfrm>
          <a:prstGeom prst="rect">
            <a:avLst/>
          </a:prstGeom>
        </p:spPr>
      </p:pic>
      <p:sp>
        <p:nvSpPr>
          <p:cNvPr id="9" name="Text 5"/>
          <p:cNvSpPr/>
          <p:nvPr/>
        </p:nvSpPr>
        <p:spPr>
          <a:xfrm>
            <a:off x="822960" y="5120640"/>
            <a:ext cx="5088636" cy="457200"/>
          </a:xfrm>
          <a:prstGeom prst="rect">
            <a:avLst/>
          </a:prstGeom>
          <a:noFill/>
          <a:ln/>
        </p:spPr>
        <p:txBody>
          <a:bodyPr wrap="square" lIns="0" tIns="0" rIns="0" bIns="0" rtlCol="0" anchor="t"/>
          <a:lstStyle/>
          <a:p>
            <a:pPr algn="ctr" indent="0" marL="0">
              <a:lnSpc>
                <a:spcPts val="1300"/>
              </a:lnSpc>
              <a:buNone/>
            </a:pPr>
            <a:r>
              <a:rPr lang="en-US" sz="1000" dirty="0">
                <a:solidFill>
                  <a:srgbClr val="7A7F72"/>
                </a:solidFill>
                <a:latin typeface="Arial" pitchFamily="34" charset="0"/>
                <a:ea typeface="Arial" pitchFamily="34" charset="-122"/>
                <a:cs typeface="Arial" pitchFamily="34" charset="-120"/>
              </a:rPr>
              <a:t>Caravaggio, The Calling of Saint Matthew, c. 1600: the window casts the scene</a:t>
            </a:r>
            <a:endParaRPr lang="en-US" sz="1000" dirty="0"/>
          </a:p>
        </p:txBody>
      </p:sp>
      <p:sp>
        <p:nvSpPr>
          <p:cNvPr id="10" name="Text 6"/>
          <p:cNvSpPr/>
          <p:nvPr/>
        </p:nvSpPr>
        <p:spPr>
          <a:xfrm>
            <a:off x="6277356" y="5120640"/>
            <a:ext cx="5088636" cy="457200"/>
          </a:xfrm>
          <a:prstGeom prst="rect">
            <a:avLst/>
          </a:prstGeom>
          <a:noFill/>
          <a:ln/>
        </p:spPr>
        <p:txBody>
          <a:bodyPr wrap="square" lIns="0" tIns="0" rIns="0" bIns="0" rtlCol="0" anchor="t"/>
          <a:lstStyle/>
          <a:p>
            <a:pPr algn="ctr" indent="0" marL="0">
              <a:lnSpc>
                <a:spcPts val="1300"/>
              </a:lnSpc>
              <a:buNone/>
            </a:pPr>
            <a:r>
              <a:rPr lang="en-US" sz="1000" dirty="0">
                <a:solidFill>
                  <a:srgbClr val="7A7F72"/>
                </a:solidFill>
                <a:latin typeface="Arial" pitchFamily="34" charset="0"/>
                <a:ea typeface="Arial" pitchFamily="34" charset="-122"/>
                <a:cs typeface="Arial" pitchFamily="34" charset="-120"/>
              </a:rPr>
              <a:t>Lupin S1 E1 (Netflix, 2021): one lamp on the vitrine does the same job</a:t>
            </a:r>
            <a:endParaRPr lang="en-US" sz="1000" dirty="0"/>
          </a:p>
        </p:txBody>
      </p:sp>
      <p:sp>
        <p:nvSpPr>
          <p:cNvPr id="11" name="Shape 7"/>
          <p:cNvSpPr/>
          <p:nvPr/>
        </p:nvSpPr>
        <p:spPr>
          <a:xfrm>
            <a:off x="822960" y="5669280"/>
            <a:ext cx="914400" cy="0"/>
          </a:xfrm>
          <a:prstGeom prst="line">
            <a:avLst/>
          </a:prstGeom>
          <a:noFill/>
          <a:ln w="31750">
            <a:solidFill>
              <a:srgbClr val="8C3A38"/>
            </a:solidFill>
            <a:prstDash val="solid"/>
          </a:ln>
        </p:spPr>
      </p:sp>
      <p:sp>
        <p:nvSpPr>
          <p:cNvPr id="12" name="Text 8"/>
          <p:cNvSpPr/>
          <p:nvPr/>
        </p:nvSpPr>
        <p:spPr>
          <a:xfrm>
            <a:off x="822960" y="5806440"/>
            <a:ext cx="10543032" cy="548640"/>
          </a:xfrm>
          <a:prstGeom prst="rect">
            <a:avLst/>
          </a:prstGeom>
          <a:noFill/>
          <a:ln/>
        </p:spPr>
        <p:txBody>
          <a:bodyPr wrap="square" lIns="0" tIns="0" rIns="0" bIns="0" rtlCol="0" anchor="t"/>
          <a:lstStyle/>
          <a:p>
            <a:pPr indent="0" marL="0">
              <a:lnSpc>
                <a:spcPts val="1600"/>
              </a:lnSpc>
              <a:buNone/>
            </a:pPr>
            <a:r>
              <a:rPr lang="en-US" sz="1250" i="1" dirty="0">
                <a:solidFill>
                  <a:srgbClr val="4A6B5D"/>
                </a:solidFill>
                <a:latin typeface="Georgia" pitchFamily="34" charset="0"/>
                <a:ea typeface="Georgia" pitchFamily="34" charset="-122"/>
                <a:cs typeface="Georgia" pitchFamily="34" charset="-120"/>
              </a:rPr>
              <a:t>Light enters once, high and hard, and wherever it lands a face becomes important; whoever it misses is furniture. That is low key: a decision about attention, not brightness, and thriller and horror run on it. The painting shows it slower; the drama shows it in the exam's own medium.</a:t>
            </a:r>
            <a:endParaRPr lang="en-US" sz="1250" dirty="0"/>
          </a:p>
        </p:txBody>
      </p:sp>
      <p:sp>
        <p:nvSpPr>
          <p:cNvPr id="13" name="Shape 9"/>
          <p:cNvSpPr/>
          <p:nvPr/>
        </p:nvSpPr>
        <p:spPr>
          <a:xfrm>
            <a:off x="822960" y="6382512"/>
            <a:ext cx="10543032" cy="0"/>
          </a:xfrm>
          <a:prstGeom prst="line">
            <a:avLst/>
          </a:prstGeom>
          <a:noFill/>
          <a:ln w="9525">
            <a:solidFill>
              <a:srgbClr val="D9D4C4"/>
            </a:solidFill>
            <a:prstDash val="solid"/>
          </a:ln>
        </p:spPr>
      </p:sp>
      <p:sp>
        <p:nvSpPr>
          <p:cNvPr id="14" name="Text 10"/>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5" name="Text 11"/>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02</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TEN MINUTES, LIGHTS OFF</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ONE VOLUNTEER, ONE PHONE TORCH</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14400"/>
            <a:ext cx="10543032" cy="548640"/>
          </a:xfrm>
          <a:prstGeom prst="rect">
            <a:avLst/>
          </a:prstGeom>
          <a:noFill/>
          <a:ln/>
        </p:spPr>
        <p:txBody>
          <a:bodyPr wrap="square" lIns="0" tIns="0" rIns="0" bIns="0" rtlCol="0" anchor="ctr"/>
          <a:lstStyle/>
          <a:p>
            <a:pPr indent="0" marL="0">
              <a:buNone/>
            </a:pPr>
            <a:r>
              <a:rPr lang="en-US" sz="3000" dirty="0">
                <a:solidFill>
                  <a:srgbClr val="24313F"/>
                </a:solidFill>
                <a:latin typeface="Georgia" pitchFamily="34" charset="0"/>
                <a:ea typeface="Georgia" pitchFamily="34" charset="-122"/>
                <a:cs typeface="Georgia" pitchFamily="34" charset="-120"/>
              </a:rPr>
              <a:t>Four positions, in this order</a:t>
            </a:r>
            <a:endParaRPr lang="en-US" sz="3000" dirty="0"/>
          </a:p>
        </p:txBody>
      </p:sp>
      <p:sp>
        <p:nvSpPr>
          <p:cNvPr id="6" name="Shape 4"/>
          <p:cNvSpPr/>
          <p:nvPr/>
        </p:nvSpPr>
        <p:spPr>
          <a:xfrm>
            <a:off x="822960" y="1554480"/>
            <a:ext cx="2361438" cy="2286000"/>
          </a:xfrm>
          <a:prstGeom prst="rect">
            <a:avLst/>
          </a:prstGeom>
          <a:solidFill>
            <a:srgbClr val="FAF8F1"/>
          </a:solidFill>
          <a:ln w="9525">
            <a:solidFill>
              <a:srgbClr val="D9D4C4"/>
            </a:solidFill>
            <a:prstDash val="solid"/>
          </a:ln>
        </p:spPr>
      </p:sp>
      <p:pic>
        <p:nvPicPr>
          <p:cNvPr id="7" name="Image 0" descr="/Users/dogan/Documents/Vaults/Courses/wiki/classes/media-studies/decks/_build/img/light-front.jpg">    </p:cNvPr>
          <p:cNvPicPr>
            <a:picLocks noChangeAspect="1"/>
          </p:cNvPicPr>
          <p:nvPr/>
        </p:nvPicPr>
        <p:blipFill>
          <a:blip r:embed="rId1"/>
          <a:stretch>
            <a:fillRect/>
          </a:stretch>
        </p:blipFill>
        <p:spPr>
          <a:xfrm>
            <a:off x="1148086" y="1627632"/>
            <a:ext cx="1711186" cy="2139696"/>
          </a:xfrm>
          <a:prstGeom prst="rect">
            <a:avLst/>
          </a:prstGeom>
        </p:spPr>
      </p:pic>
      <p:sp>
        <p:nvSpPr>
          <p:cNvPr id="8" name="Text 5"/>
          <p:cNvSpPr/>
          <p:nvPr/>
        </p:nvSpPr>
        <p:spPr>
          <a:xfrm>
            <a:off x="822960" y="3931920"/>
            <a:ext cx="2361438" cy="411480"/>
          </a:xfrm>
          <a:prstGeom prst="rect">
            <a:avLst/>
          </a:prstGeom>
          <a:noFill/>
          <a:ln/>
        </p:spPr>
        <p:txBody>
          <a:bodyPr wrap="square" lIns="0" tIns="0" rIns="0" bIns="0" rtlCol="0" anchor="ctr"/>
          <a:lstStyle/>
          <a:p>
            <a:pPr indent="0" marL="0">
              <a:buNone/>
            </a:pPr>
            <a:r>
              <a:rPr lang="en-US" sz="2000" dirty="0">
                <a:solidFill>
                  <a:srgbClr val="4A6B5D"/>
                </a:solidFill>
                <a:latin typeface="Georgia" pitchFamily="34" charset="0"/>
                <a:ea typeface="Georgia" pitchFamily="34" charset="-122"/>
                <a:cs typeface="Georgia" pitchFamily="34" charset="-120"/>
              </a:rPr>
              <a:t>Front</a:t>
            </a:r>
            <a:endParaRPr lang="en-US" sz="2000" dirty="0"/>
          </a:p>
        </p:txBody>
      </p:sp>
      <p:sp>
        <p:nvSpPr>
          <p:cNvPr id="9" name="Shape 6"/>
          <p:cNvSpPr/>
          <p:nvPr/>
        </p:nvSpPr>
        <p:spPr>
          <a:xfrm>
            <a:off x="822960" y="4370832"/>
            <a:ext cx="2361438" cy="0"/>
          </a:xfrm>
          <a:prstGeom prst="line">
            <a:avLst/>
          </a:prstGeom>
          <a:noFill/>
          <a:ln w="9525">
            <a:solidFill>
              <a:srgbClr val="D9D4C4"/>
            </a:solidFill>
            <a:prstDash val="solid"/>
          </a:ln>
        </p:spPr>
      </p:sp>
      <p:sp>
        <p:nvSpPr>
          <p:cNvPr id="10" name="Text 7"/>
          <p:cNvSpPr/>
          <p:nvPr/>
        </p:nvSpPr>
        <p:spPr>
          <a:xfrm>
            <a:off x="822960" y="4480560"/>
            <a:ext cx="2361438" cy="1371600"/>
          </a:xfrm>
          <a:prstGeom prst="rect">
            <a:avLst/>
          </a:prstGeom>
          <a:noFill/>
          <a:ln/>
        </p:spPr>
        <p:txBody>
          <a:bodyPr wrap="square" lIns="0" tIns="0" rIns="0" bIns="0" rtlCol="0" anchor="t"/>
          <a:lstStyle/>
          <a:p>
            <a:pPr indent="0" marL="0">
              <a:lnSpc>
                <a:spcPts val="1700"/>
              </a:lnSpc>
              <a:buNone/>
            </a:pPr>
            <a:r>
              <a:rPr lang="en-US" sz="1300" dirty="0">
                <a:solidFill>
                  <a:srgbClr val="24313F"/>
                </a:solidFill>
                <a:latin typeface="Georgia" pitchFamily="34" charset="0"/>
                <a:ea typeface="Georgia" pitchFamily="34" charset="-122"/>
                <a:cs typeface="Georgia" pitchFamily="34" charset="-120"/>
              </a:rPr>
              <a:t>Flat and legible: news and lifestyle live here.</a:t>
            </a:r>
            <a:endParaRPr lang="en-US" sz="1300" dirty="0"/>
          </a:p>
        </p:txBody>
      </p:sp>
      <p:sp>
        <p:nvSpPr>
          <p:cNvPr id="11" name="Shape 8"/>
          <p:cNvSpPr/>
          <p:nvPr/>
        </p:nvSpPr>
        <p:spPr>
          <a:xfrm>
            <a:off x="3550158" y="1554480"/>
            <a:ext cx="2361438" cy="2286000"/>
          </a:xfrm>
          <a:prstGeom prst="rect">
            <a:avLst/>
          </a:prstGeom>
          <a:solidFill>
            <a:srgbClr val="FAF8F1"/>
          </a:solidFill>
          <a:ln w="9525">
            <a:solidFill>
              <a:srgbClr val="D9D4C4"/>
            </a:solidFill>
            <a:prstDash val="solid"/>
          </a:ln>
        </p:spPr>
      </p:sp>
      <p:pic>
        <p:nvPicPr>
          <p:cNvPr id="12" name="Image 1" descr="/Users/dogan/Documents/Vaults/Courses/wiki/classes/media-studies/decks/_build/img/light-side.jpg">    </p:cNvPr>
          <p:cNvPicPr>
            <a:picLocks noChangeAspect="1"/>
          </p:cNvPicPr>
          <p:nvPr/>
        </p:nvPicPr>
        <p:blipFill>
          <a:blip r:embed="rId2"/>
          <a:stretch>
            <a:fillRect/>
          </a:stretch>
        </p:blipFill>
        <p:spPr>
          <a:xfrm>
            <a:off x="3966472" y="1627632"/>
            <a:ext cx="1528809" cy="2139696"/>
          </a:xfrm>
          <a:prstGeom prst="rect">
            <a:avLst/>
          </a:prstGeom>
        </p:spPr>
      </p:pic>
      <p:sp>
        <p:nvSpPr>
          <p:cNvPr id="13" name="Text 9"/>
          <p:cNvSpPr/>
          <p:nvPr/>
        </p:nvSpPr>
        <p:spPr>
          <a:xfrm>
            <a:off x="3550158" y="3931920"/>
            <a:ext cx="2361438" cy="411480"/>
          </a:xfrm>
          <a:prstGeom prst="rect">
            <a:avLst/>
          </a:prstGeom>
          <a:noFill/>
          <a:ln/>
        </p:spPr>
        <p:txBody>
          <a:bodyPr wrap="square" lIns="0" tIns="0" rIns="0" bIns="0" rtlCol="0" anchor="ctr"/>
          <a:lstStyle/>
          <a:p>
            <a:pPr indent="0" marL="0">
              <a:buNone/>
            </a:pPr>
            <a:r>
              <a:rPr lang="en-US" sz="2000" dirty="0">
                <a:solidFill>
                  <a:srgbClr val="4A6B5D"/>
                </a:solidFill>
                <a:latin typeface="Georgia" pitchFamily="34" charset="0"/>
                <a:ea typeface="Georgia" pitchFamily="34" charset="-122"/>
                <a:cs typeface="Georgia" pitchFamily="34" charset="-120"/>
              </a:rPr>
              <a:t>Side</a:t>
            </a:r>
            <a:endParaRPr lang="en-US" sz="2000" dirty="0"/>
          </a:p>
        </p:txBody>
      </p:sp>
      <p:sp>
        <p:nvSpPr>
          <p:cNvPr id="14" name="Shape 10"/>
          <p:cNvSpPr/>
          <p:nvPr/>
        </p:nvSpPr>
        <p:spPr>
          <a:xfrm>
            <a:off x="3550158" y="4370832"/>
            <a:ext cx="2361438" cy="0"/>
          </a:xfrm>
          <a:prstGeom prst="line">
            <a:avLst/>
          </a:prstGeom>
          <a:noFill/>
          <a:ln w="9525">
            <a:solidFill>
              <a:srgbClr val="D9D4C4"/>
            </a:solidFill>
            <a:prstDash val="solid"/>
          </a:ln>
        </p:spPr>
      </p:sp>
      <p:sp>
        <p:nvSpPr>
          <p:cNvPr id="15" name="Text 11"/>
          <p:cNvSpPr/>
          <p:nvPr/>
        </p:nvSpPr>
        <p:spPr>
          <a:xfrm>
            <a:off x="3550158" y="4480560"/>
            <a:ext cx="2361438" cy="1371600"/>
          </a:xfrm>
          <a:prstGeom prst="rect">
            <a:avLst/>
          </a:prstGeom>
          <a:noFill/>
          <a:ln/>
        </p:spPr>
        <p:txBody>
          <a:bodyPr wrap="square" lIns="0" tIns="0" rIns="0" bIns="0" rtlCol="0" anchor="t"/>
          <a:lstStyle/>
          <a:p>
            <a:pPr indent="0" marL="0">
              <a:lnSpc>
                <a:spcPts val="1700"/>
              </a:lnSpc>
              <a:buNone/>
            </a:pPr>
            <a:r>
              <a:rPr lang="en-US" sz="1300" dirty="0">
                <a:solidFill>
                  <a:srgbClr val="24313F"/>
                </a:solidFill>
                <a:latin typeface="Georgia" pitchFamily="34" charset="0"/>
                <a:ea typeface="Georgia" pitchFamily="34" charset="-122"/>
                <a:cs typeface="Georgia" pitchFamily="34" charset="-120"/>
              </a:rPr>
              <a:t>Half given, half withheld: something unresolved.</a:t>
            </a:r>
            <a:endParaRPr lang="en-US" sz="1300" dirty="0"/>
          </a:p>
        </p:txBody>
      </p:sp>
      <p:sp>
        <p:nvSpPr>
          <p:cNvPr id="16" name="Shape 12"/>
          <p:cNvSpPr/>
          <p:nvPr/>
        </p:nvSpPr>
        <p:spPr>
          <a:xfrm>
            <a:off x="6277356" y="1554480"/>
            <a:ext cx="2361438" cy="2286000"/>
          </a:xfrm>
          <a:prstGeom prst="rect">
            <a:avLst/>
          </a:prstGeom>
          <a:solidFill>
            <a:srgbClr val="E8EFE7"/>
          </a:solidFill>
          <a:ln w="9525">
            <a:solidFill>
              <a:srgbClr val="8AA394"/>
            </a:solidFill>
            <a:prstDash val="solid"/>
          </a:ln>
        </p:spPr>
      </p:sp>
      <p:sp>
        <p:nvSpPr>
          <p:cNvPr id="17" name="Text 13"/>
          <p:cNvSpPr/>
          <p:nvPr/>
        </p:nvSpPr>
        <p:spPr>
          <a:xfrm>
            <a:off x="6277356" y="1554480"/>
            <a:ext cx="2361438" cy="2286000"/>
          </a:xfrm>
          <a:prstGeom prst="rect">
            <a:avLst/>
          </a:prstGeom>
          <a:noFill/>
          <a:ln/>
        </p:spPr>
        <p:txBody>
          <a:bodyPr wrap="square" lIns="0" tIns="0" rIns="0" bIns="0" rtlCol="0" anchor="ctr"/>
          <a:lstStyle/>
          <a:p>
            <a:pPr algn="ctr" indent="0" marL="0">
              <a:lnSpc>
                <a:spcPts val="2400"/>
              </a:lnSpc>
              <a:buNone/>
            </a:pPr>
            <a:r>
              <a:rPr lang="en-US" sz="1600" b="1" spc="200" kern="0" dirty="0">
                <a:solidFill>
                  <a:srgbClr val="4A6B5D"/>
                </a:solidFill>
                <a:latin typeface="Arial" pitchFamily="34" charset="0"/>
                <a:ea typeface="Arial" pitchFamily="34" charset="-122"/>
                <a:cs typeface="Arial" pitchFamily="34" charset="-120"/>
              </a:rPr>
              <a:t>LIVE</a:t>
            </a:r>
            <a:endParaRPr lang="en-US" sz="1600" dirty="0"/>
          </a:p>
          <a:p>
            <a:pPr algn="ctr" indent="0" marL="0">
              <a:lnSpc>
                <a:spcPts val="2400"/>
              </a:lnSpc>
              <a:buNone/>
            </a:pPr>
            <a:r>
              <a:rPr lang="en-US" sz="1600" b="1" spc="200" kern="0" dirty="0">
                <a:solidFill>
                  <a:srgbClr val="4A6B5D"/>
                </a:solidFill>
                <a:latin typeface="Arial" pitchFamily="34" charset="0"/>
                <a:ea typeface="Arial" pitchFamily="34" charset="-122"/>
                <a:cs typeface="Arial" pitchFamily="34" charset="-120"/>
              </a:rPr>
              <a:t>DEMO</a:t>
            </a:r>
            <a:endParaRPr lang="en-US" sz="1600" dirty="0"/>
          </a:p>
        </p:txBody>
      </p:sp>
      <p:sp>
        <p:nvSpPr>
          <p:cNvPr id="18" name="Text 14"/>
          <p:cNvSpPr/>
          <p:nvPr/>
        </p:nvSpPr>
        <p:spPr>
          <a:xfrm>
            <a:off x="6277356" y="3931920"/>
            <a:ext cx="2361438" cy="411480"/>
          </a:xfrm>
          <a:prstGeom prst="rect">
            <a:avLst/>
          </a:prstGeom>
          <a:noFill/>
          <a:ln/>
        </p:spPr>
        <p:txBody>
          <a:bodyPr wrap="square" lIns="0" tIns="0" rIns="0" bIns="0" rtlCol="0" anchor="ctr"/>
          <a:lstStyle/>
          <a:p>
            <a:pPr indent="0" marL="0">
              <a:buNone/>
            </a:pPr>
            <a:r>
              <a:rPr lang="en-US" sz="2000" dirty="0">
                <a:solidFill>
                  <a:srgbClr val="4A6B5D"/>
                </a:solidFill>
                <a:latin typeface="Georgia" pitchFamily="34" charset="0"/>
                <a:ea typeface="Georgia" pitchFamily="34" charset="-122"/>
                <a:cs typeface="Georgia" pitchFamily="34" charset="-120"/>
              </a:rPr>
              <a:t>Below</a:t>
            </a:r>
            <a:endParaRPr lang="en-US" sz="2000" dirty="0"/>
          </a:p>
        </p:txBody>
      </p:sp>
      <p:sp>
        <p:nvSpPr>
          <p:cNvPr id="19" name="Shape 15"/>
          <p:cNvSpPr/>
          <p:nvPr/>
        </p:nvSpPr>
        <p:spPr>
          <a:xfrm>
            <a:off x="6277356" y="4370832"/>
            <a:ext cx="2361438" cy="0"/>
          </a:xfrm>
          <a:prstGeom prst="line">
            <a:avLst/>
          </a:prstGeom>
          <a:noFill/>
          <a:ln w="9525">
            <a:solidFill>
              <a:srgbClr val="D9D4C4"/>
            </a:solidFill>
            <a:prstDash val="solid"/>
          </a:ln>
        </p:spPr>
      </p:sp>
      <p:sp>
        <p:nvSpPr>
          <p:cNvPr id="20" name="Text 16"/>
          <p:cNvSpPr/>
          <p:nvPr/>
        </p:nvSpPr>
        <p:spPr>
          <a:xfrm>
            <a:off x="6277356" y="4480560"/>
            <a:ext cx="2361438" cy="1371600"/>
          </a:xfrm>
          <a:prstGeom prst="rect">
            <a:avLst/>
          </a:prstGeom>
          <a:noFill/>
          <a:ln/>
        </p:spPr>
        <p:txBody>
          <a:bodyPr wrap="square" lIns="0" tIns="0" rIns="0" bIns="0" rtlCol="0" anchor="t"/>
          <a:lstStyle/>
          <a:p>
            <a:pPr indent="0" marL="0">
              <a:lnSpc>
                <a:spcPts val="1700"/>
              </a:lnSpc>
              <a:buNone/>
            </a:pPr>
            <a:r>
              <a:rPr lang="en-US" sz="1300" dirty="0">
                <a:solidFill>
                  <a:srgbClr val="24313F"/>
                </a:solidFill>
                <a:latin typeface="Georgia" pitchFamily="34" charset="0"/>
                <a:ea typeface="Georgia" pitchFamily="34" charset="-122"/>
                <a:cs typeface="Georgia" pitchFamily="34" charset="-120"/>
              </a:rPr>
              <a:t>Wrong on sight: light does not come from the floor. The horror convention. Tried live, tonight, with your own torch.</a:t>
            </a:r>
            <a:endParaRPr lang="en-US" sz="1300" dirty="0"/>
          </a:p>
        </p:txBody>
      </p:sp>
      <p:sp>
        <p:nvSpPr>
          <p:cNvPr id="21" name="Shape 17"/>
          <p:cNvSpPr/>
          <p:nvPr/>
        </p:nvSpPr>
        <p:spPr>
          <a:xfrm>
            <a:off x="9004554" y="1554480"/>
            <a:ext cx="2361438" cy="2286000"/>
          </a:xfrm>
          <a:prstGeom prst="rect">
            <a:avLst/>
          </a:prstGeom>
          <a:solidFill>
            <a:srgbClr val="FAF8F1"/>
          </a:solidFill>
          <a:ln w="9525">
            <a:solidFill>
              <a:srgbClr val="D9D4C4"/>
            </a:solidFill>
            <a:prstDash val="solid"/>
          </a:ln>
        </p:spPr>
      </p:sp>
      <p:pic>
        <p:nvPicPr>
          <p:cNvPr id="22" name="Image 2" descr="/Users/dogan/Documents/Vaults/Courses/wiki/classes/media-studies/decks/_build/img/light-behind.jpg">    </p:cNvPr>
          <p:cNvPicPr>
            <a:picLocks noChangeAspect="1"/>
          </p:cNvPicPr>
          <p:nvPr/>
        </p:nvPicPr>
        <p:blipFill>
          <a:blip r:embed="rId3"/>
          <a:stretch>
            <a:fillRect/>
          </a:stretch>
        </p:blipFill>
        <p:spPr>
          <a:xfrm>
            <a:off x="9329395" y="1627632"/>
            <a:ext cx="1711757" cy="2139696"/>
          </a:xfrm>
          <a:prstGeom prst="rect">
            <a:avLst/>
          </a:prstGeom>
        </p:spPr>
      </p:pic>
      <p:sp>
        <p:nvSpPr>
          <p:cNvPr id="23" name="Text 18"/>
          <p:cNvSpPr/>
          <p:nvPr/>
        </p:nvSpPr>
        <p:spPr>
          <a:xfrm>
            <a:off x="9004554" y="3931920"/>
            <a:ext cx="2361438" cy="411480"/>
          </a:xfrm>
          <a:prstGeom prst="rect">
            <a:avLst/>
          </a:prstGeom>
          <a:noFill/>
          <a:ln/>
        </p:spPr>
        <p:txBody>
          <a:bodyPr wrap="square" lIns="0" tIns="0" rIns="0" bIns="0" rtlCol="0" anchor="ctr"/>
          <a:lstStyle/>
          <a:p>
            <a:pPr indent="0" marL="0">
              <a:buNone/>
            </a:pPr>
            <a:r>
              <a:rPr lang="en-US" sz="2000" dirty="0">
                <a:solidFill>
                  <a:srgbClr val="4A6B5D"/>
                </a:solidFill>
                <a:latin typeface="Georgia" pitchFamily="34" charset="0"/>
                <a:ea typeface="Georgia" pitchFamily="34" charset="-122"/>
                <a:cs typeface="Georgia" pitchFamily="34" charset="-120"/>
              </a:rPr>
              <a:t>Behind</a:t>
            </a:r>
            <a:endParaRPr lang="en-US" sz="2000" dirty="0"/>
          </a:p>
        </p:txBody>
      </p:sp>
      <p:sp>
        <p:nvSpPr>
          <p:cNvPr id="24" name="Shape 19"/>
          <p:cNvSpPr/>
          <p:nvPr/>
        </p:nvSpPr>
        <p:spPr>
          <a:xfrm>
            <a:off x="9004554" y="4370832"/>
            <a:ext cx="2361438" cy="0"/>
          </a:xfrm>
          <a:prstGeom prst="line">
            <a:avLst/>
          </a:prstGeom>
          <a:noFill/>
          <a:ln w="9525">
            <a:solidFill>
              <a:srgbClr val="D9D4C4"/>
            </a:solidFill>
            <a:prstDash val="solid"/>
          </a:ln>
        </p:spPr>
      </p:sp>
      <p:sp>
        <p:nvSpPr>
          <p:cNvPr id="25" name="Text 20"/>
          <p:cNvSpPr/>
          <p:nvPr/>
        </p:nvSpPr>
        <p:spPr>
          <a:xfrm>
            <a:off x="9004554" y="4480560"/>
            <a:ext cx="2361438" cy="1371600"/>
          </a:xfrm>
          <a:prstGeom prst="rect">
            <a:avLst/>
          </a:prstGeom>
          <a:noFill/>
          <a:ln/>
        </p:spPr>
        <p:txBody>
          <a:bodyPr wrap="square" lIns="0" tIns="0" rIns="0" bIns="0" rtlCol="0" anchor="t"/>
          <a:lstStyle/>
          <a:p>
            <a:pPr indent="0" marL="0">
              <a:lnSpc>
                <a:spcPts val="1700"/>
              </a:lnSpc>
              <a:buNone/>
            </a:pPr>
            <a:r>
              <a:rPr lang="en-US" sz="1300" dirty="0">
                <a:solidFill>
                  <a:srgbClr val="24313F"/>
                </a:solidFill>
                <a:latin typeface="Georgia" pitchFamily="34" charset="0"/>
                <a:ea typeface="Georgia" pitchFamily="34" charset="-122"/>
                <a:cs typeface="Georgia" pitchFamily="34" charset="-120"/>
              </a:rPr>
              <a:t>The subject becomes a shape: identity withheld.</a:t>
            </a:r>
            <a:endParaRPr lang="en-US" sz="1300" dirty="0"/>
          </a:p>
        </p:txBody>
      </p:sp>
      <p:sp>
        <p:nvSpPr>
          <p:cNvPr id="26" name="Shape 21"/>
          <p:cNvSpPr/>
          <p:nvPr/>
        </p:nvSpPr>
        <p:spPr>
          <a:xfrm>
            <a:off x="822960" y="5943600"/>
            <a:ext cx="914400" cy="0"/>
          </a:xfrm>
          <a:prstGeom prst="line">
            <a:avLst/>
          </a:prstGeom>
          <a:noFill/>
          <a:ln w="31750">
            <a:solidFill>
              <a:srgbClr val="8C3A38"/>
            </a:solidFill>
            <a:prstDash val="solid"/>
          </a:ln>
        </p:spPr>
      </p:sp>
      <p:sp>
        <p:nvSpPr>
          <p:cNvPr id="27" name="Text 22"/>
          <p:cNvSpPr/>
          <p:nvPr/>
        </p:nvSpPr>
        <p:spPr>
          <a:xfrm>
            <a:off x="822960" y="6062472"/>
            <a:ext cx="10424160" cy="365760"/>
          </a:xfrm>
          <a:prstGeom prst="rect">
            <a:avLst/>
          </a:prstGeom>
          <a:noFill/>
          <a:ln/>
        </p:spPr>
        <p:txBody>
          <a:bodyPr wrap="square" lIns="0" tIns="0" rIns="0" bIns="0" rtlCol="0" anchor="ctr"/>
          <a:lstStyle/>
          <a:p>
            <a:pPr indent="0" marL="0">
              <a:buNone/>
            </a:pPr>
            <a:r>
              <a:rPr lang="en-US" sz="1250" i="1" dirty="0">
                <a:solidFill>
                  <a:srgbClr val="4A6B5D"/>
                </a:solidFill>
                <a:latin typeface="Georgia" pitchFamily="34" charset="0"/>
                <a:ea typeface="Georgia" pitchFamily="34" charset="-122"/>
                <a:cs typeface="Georgia" pitchFamily="34" charset="-120"/>
              </a:rPr>
              <a:t>Then the names: key, fill and back light; high key against low key; hard against soft. Photograph all four set-ups for your notes.</a:t>
            </a:r>
            <a:endParaRPr lang="en-US" sz="1250" dirty="0"/>
          </a:p>
        </p:txBody>
      </p:sp>
      <p:sp>
        <p:nvSpPr>
          <p:cNvPr id="28" name="Shape 23"/>
          <p:cNvSpPr/>
          <p:nvPr/>
        </p:nvSpPr>
        <p:spPr>
          <a:xfrm>
            <a:off x="822960" y="6382512"/>
            <a:ext cx="10543032" cy="0"/>
          </a:xfrm>
          <a:prstGeom prst="line">
            <a:avLst/>
          </a:prstGeom>
          <a:noFill/>
          <a:ln w="9525">
            <a:solidFill>
              <a:srgbClr val="D9D4C4"/>
            </a:solidFill>
            <a:prstDash val="solid"/>
          </a:ln>
        </p:spPr>
      </p:sp>
      <p:sp>
        <p:nvSpPr>
          <p:cNvPr id="29" name="Text 24"/>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30" name="Text 25"/>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03</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THREE-POINT LIGHTING</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THE SET-UP BEHIND ALMOST EVERYTHING</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Shape 3"/>
          <p:cNvSpPr/>
          <p:nvPr/>
        </p:nvSpPr>
        <p:spPr>
          <a:xfrm>
            <a:off x="822960" y="1143000"/>
            <a:ext cx="5088636" cy="4023360"/>
          </a:xfrm>
          <a:prstGeom prst="rect">
            <a:avLst/>
          </a:prstGeom>
          <a:solidFill>
            <a:srgbClr val="FAF8F1"/>
          </a:solidFill>
          <a:ln w="9525">
            <a:solidFill>
              <a:srgbClr val="D9D4C4"/>
            </a:solidFill>
            <a:prstDash val="solid"/>
          </a:ln>
        </p:spPr>
      </p:sp>
      <p:pic>
        <p:nvPicPr>
          <p:cNvPr id="6" name="Image 0" descr="/Users/dogan/Documents/Vaults/Courses/wiki/classes/media-studies/decks/_build/img/cup-threepoint-photo.jpg">    </p:cNvPr>
          <p:cNvPicPr>
            <a:picLocks noChangeAspect="1"/>
          </p:cNvPicPr>
          <p:nvPr/>
        </p:nvPicPr>
        <p:blipFill>
          <a:blip r:embed="rId1"/>
          <a:stretch>
            <a:fillRect/>
          </a:stretch>
        </p:blipFill>
        <p:spPr>
          <a:xfrm>
            <a:off x="950976" y="1544819"/>
            <a:ext cx="4832604" cy="3219722"/>
          </a:xfrm>
          <a:prstGeom prst="rect">
            <a:avLst/>
          </a:prstGeom>
        </p:spPr>
      </p:pic>
      <p:sp>
        <p:nvSpPr>
          <p:cNvPr id="7" name="Shape 4"/>
          <p:cNvSpPr/>
          <p:nvPr/>
        </p:nvSpPr>
        <p:spPr>
          <a:xfrm>
            <a:off x="6277356" y="1143000"/>
            <a:ext cx="5088636" cy="4023360"/>
          </a:xfrm>
          <a:prstGeom prst="rect">
            <a:avLst/>
          </a:prstGeom>
          <a:solidFill>
            <a:srgbClr val="FAF8F1"/>
          </a:solidFill>
          <a:ln w="9525">
            <a:solidFill>
              <a:srgbClr val="D9D4C4"/>
            </a:solidFill>
            <a:prstDash val="solid"/>
          </a:ln>
        </p:spPr>
      </p:sp>
      <p:pic>
        <p:nvPicPr>
          <p:cNvPr id="8" name="Image 1" descr="/Users/dogan/Documents/Vaults/Courses/wiki/classes/media-studies/decks/_build/img/cup-threepoint-diagram.jpg">    </p:cNvPr>
          <p:cNvPicPr>
            <a:picLocks noChangeAspect="1"/>
          </p:cNvPicPr>
          <p:nvPr/>
        </p:nvPicPr>
        <p:blipFill>
          <a:blip r:embed="rId2"/>
          <a:stretch>
            <a:fillRect/>
          </a:stretch>
        </p:blipFill>
        <p:spPr>
          <a:xfrm>
            <a:off x="6405372" y="1414943"/>
            <a:ext cx="4832604" cy="3479475"/>
          </a:xfrm>
          <a:prstGeom prst="rect">
            <a:avLst/>
          </a:prstGeom>
        </p:spPr>
      </p:pic>
      <p:sp>
        <p:nvSpPr>
          <p:cNvPr id="9" name="Text 5"/>
          <p:cNvSpPr/>
          <p:nvPr/>
        </p:nvSpPr>
        <p:spPr>
          <a:xfrm>
            <a:off x="822960" y="5212080"/>
            <a:ext cx="5088636" cy="320040"/>
          </a:xfrm>
          <a:prstGeom prst="rect">
            <a:avLst/>
          </a:prstGeom>
          <a:noFill/>
          <a:ln/>
        </p:spPr>
        <p:txBody>
          <a:bodyPr wrap="square" lIns="0" tIns="0" rIns="0" bIns="0" rtlCol="0" anchor="ctr"/>
          <a:lstStyle/>
          <a:p>
            <a:pPr algn="ctr" indent="0" marL="0">
              <a:buNone/>
            </a:pPr>
            <a:r>
              <a:rPr lang="en-US" sz="1000" dirty="0">
                <a:solidFill>
                  <a:srgbClr val="7A7F72"/>
                </a:solidFill>
                <a:latin typeface="Arial" pitchFamily="34" charset="0"/>
                <a:ea typeface="Arial" pitchFamily="34" charset="-122"/>
                <a:cs typeface="Arial" pitchFamily="34" charset="-120"/>
              </a:rPr>
              <a:t>The set-up, photographed: two softboxes and a back light</a:t>
            </a:r>
            <a:endParaRPr lang="en-US" sz="1000" dirty="0"/>
          </a:p>
        </p:txBody>
      </p:sp>
      <p:sp>
        <p:nvSpPr>
          <p:cNvPr id="10" name="Text 6"/>
          <p:cNvSpPr/>
          <p:nvPr/>
        </p:nvSpPr>
        <p:spPr>
          <a:xfrm>
            <a:off x="6277356" y="5212080"/>
            <a:ext cx="5088636" cy="320040"/>
          </a:xfrm>
          <a:prstGeom prst="rect">
            <a:avLst/>
          </a:prstGeom>
          <a:noFill/>
          <a:ln/>
        </p:spPr>
        <p:txBody>
          <a:bodyPr wrap="square" lIns="0" tIns="0" rIns="0" bIns="0" rtlCol="0" anchor="ctr"/>
          <a:lstStyle/>
          <a:p>
            <a:pPr algn="ctr" indent="0" marL="0">
              <a:buNone/>
            </a:pPr>
            <a:r>
              <a:rPr lang="en-US" sz="1000" dirty="0">
                <a:solidFill>
                  <a:srgbClr val="7A7F72"/>
                </a:solidFill>
                <a:latin typeface="Arial" pitchFamily="34" charset="0"/>
                <a:ea typeface="Arial" pitchFamily="34" charset="-122"/>
                <a:cs typeface="Arial" pitchFamily="34" charset="-120"/>
              </a:rPr>
              <a:t>The same set-up, labelled: key, fill, back, camera</a:t>
            </a:r>
            <a:endParaRPr lang="en-US" sz="1000" dirty="0"/>
          </a:p>
        </p:txBody>
      </p:sp>
      <p:sp>
        <p:nvSpPr>
          <p:cNvPr id="11" name="Shape 7"/>
          <p:cNvSpPr/>
          <p:nvPr/>
        </p:nvSpPr>
        <p:spPr>
          <a:xfrm>
            <a:off x="822960" y="5715000"/>
            <a:ext cx="914400" cy="0"/>
          </a:xfrm>
          <a:prstGeom prst="line">
            <a:avLst/>
          </a:prstGeom>
          <a:noFill/>
          <a:ln w="31750">
            <a:solidFill>
              <a:srgbClr val="8C3A38"/>
            </a:solidFill>
            <a:prstDash val="solid"/>
          </a:ln>
        </p:spPr>
      </p:sp>
      <p:sp>
        <p:nvSpPr>
          <p:cNvPr id="12" name="Text 8"/>
          <p:cNvSpPr/>
          <p:nvPr/>
        </p:nvSpPr>
        <p:spPr>
          <a:xfrm>
            <a:off x="822960" y="5852160"/>
            <a:ext cx="10543032" cy="457200"/>
          </a:xfrm>
          <a:prstGeom prst="rect">
            <a:avLst/>
          </a:prstGeom>
          <a:noFill/>
          <a:ln/>
        </p:spPr>
        <p:txBody>
          <a:bodyPr wrap="square" lIns="0" tIns="0" rIns="0" bIns="0" rtlCol="0" anchor="ctr"/>
          <a:lstStyle/>
          <a:p>
            <a:pPr indent="0" marL="0">
              <a:buNone/>
            </a:pPr>
            <a:r>
              <a:rPr lang="en-US" sz="1300" i="1" dirty="0">
                <a:solidFill>
                  <a:srgbClr val="4A6B5D"/>
                </a:solidFill>
                <a:latin typeface="Georgia" pitchFamily="34" charset="0"/>
                <a:ea typeface="Georgia" pitchFamily="34" charset="-122"/>
                <a:cs typeface="Georgia" pitchFamily="34" charset="-120"/>
              </a:rPr>
              <a:t>Key does the casting, fill decides how much shadow survives, back peels the subject off the wall. Kill the fill and you have low key; flood it and you have high key.</a:t>
            </a:r>
            <a:endParaRPr lang="en-US" sz="1300" dirty="0"/>
          </a:p>
        </p:txBody>
      </p:sp>
      <p:sp>
        <p:nvSpPr>
          <p:cNvPr id="13" name="Shape 9"/>
          <p:cNvSpPr/>
          <p:nvPr/>
        </p:nvSpPr>
        <p:spPr>
          <a:xfrm>
            <a:off x="822960" y="6382512"/>
            <a:ext cx="10543032" cy="0"/>
          </a:xfrm>
          <a:prstGeom prst="line">
            <a:avLst/>
          </a:prstGeom>
          <a:noFill/>
          <a:ln w="9525">
            <a:solidFill>
              <a:srgbClr val="D9D4C4"/>
            </a:solidFill>
            <a:prstDash val="solid"/>
          </a:ln>
        </p:spPr>
      </p:sp>
      <p:sp>
        <p:nvSpPr>
          <p:cNvPr id="14" name="Text 10"/>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5" name="Text 11"/>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04</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PRODUCTION DESIGN</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EVERYTHING AT ONCE, ALL OF IT CHOSEN</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Shape 3"/>
          <p:cNvSpPr/>
          <p:nvPr/>
        </p:nvSpPr>
        <p:spPr>
          <a:xfrm>
            <a:off x="822960" y="1005840"/>
            <a:ext cx="10543032" cy="3429000"/>
          </a:xfrm>
          <a:prstGeom prst="rect">
            <a:avLst/>
          </a:prstGeom>
          <a:solidFill>
            <a:srgbClr val="FAF8F1"/>
          </a:solidFill>
          <a:ln w="9525">
            <a:solidFill>
              <a:srgbClr val="D9D4C4"/>
            </a:solidFill>
            <a:prstDash val="solid"/>
          </a:ln>
        </p:spPr>
      </p:sp>
      <p:pic>
        <p:nvPicPr>
          <p:cNvPr id="6" name="Image 0" descr="/Users/dogan/Documents/Vaults/Courses/wiki/classes/media-studies/decks/_build/img/gbh-concierge.jpg">    </p:cNvPr>
          <p:cNvPicPr>
            <a:picLocks noChangeAspect="1"/>
          </p:cNvPicPr>
          <p:nvPr/>
        </p:nvPicPr>
        <p:blipFill>
          <a:blip r:embed="rId1"/>
          <a:stretch>
            <a:fillRect/>
          </a:stretch>
        </p:blipFill>
        <p:spPr>
          <a:xfrm>
            <a:off x="2417634" y="1133856"/>
            <a:ext cx="7353684" cy="3172968"/>
          </a:xfrm>
          <a:prstGeom prst="rect">
            <a:avLst/>
          </a:prstGeom>
        </p:spPr>
      </p:pic>
      <p:sp>
        <p:nvSpPr>
          <p:cNvPr id="7" name="Text 4"/>
          <p:cNvSpPr/>
          <p:nvPr/>
        </p:nvSpPr>
        <p:spPr>
          <a:xfrm>
            <a:off x="822960" y="4462272"/>
            <a:ext cx="10543032" cy="274320"/>
          </a:xfrm>
          <a:prstGeom prst="rect">
            <a:avLst/>
          </a:prstGeom>
          <a:noFill/>
          <a:ln/>
        </p:spPr>
        <p:txBody>
          <a:bodyPr wrap="square" lIns="0" tIns="0" rIns="0" bIns="0" rtlCol="0" anchor="ctr"/>
          <a:lstStyle/>
          <a:p>
            <a:pPr algn="ctr" indent="0" marL="0">
              <a:buNone/>
            </a:pPr>
            <a:r>
              <a:rPr lang="en-US" sz="950" dirty="0">
                <a:solidFill>
                  <a:srgbClr val="7A7F72"/>
                </a:solidFill>
                <a:latin typeface="Arial" pitchFamily="34" charset="0"/>
                <a:ea typeface="Arial" pitchFamily="34" charset="-122"/>
                <a:cs typeface="Arial" pitchFamily="34" charset="-120"/>
              </a:rPr>
              <a:t>The Grand Budapest Hotel (2014), dir. Wes Anderson. The concierge desk, framed dead centre.</a:t>
            </a:r>
            <a:endParaRPr lang="en-US" sz="950" dirty="0"/>
          </a:p>
        </p:txBody>
      </p:sp>
      <p:sp>
        <p:nvSpPr>
          <p:cNvPr id="8" name="Text 5"/>
          <p:cNvSpPr/>
          <p:nvPr/>
        </p:nvSpPr>
        <p:spPr>
          <a:xfrm>
            <a:off x="822960" y="4846320"/>
            <a:ext cx="2361438" cy="292608"/>
          </a:xfrm>
          <a:prstGeom prst="rect">
            <a:avLst/>
          </a:prstGeom>
          <a:noFill/>
          <a:ln/>
        </p:spPr>
        <p:txBody>
          <a:bodyPr wrap="square" lIns="0" tIns="0" rIns="0" bIns="0" rtlCol="0" anchor="ctr"/>
          <a:lstStyle/>
          <a:p>
            <a:pPr indent="0" marL="0">
              <a:buNone/>
            </a:pPr>
            <a:r>
              <a:rPr lang="en-US" sz="1150" b="1" spc="120" kern="0" dirty="0">
                <a:solidFill>
                  <a:srgbClr val="4A6B5D"/>
                </a:solidFill>
                <a:latin typeface="Arial" pitchFamily="34" charset="0"/>
                <a:ea typeface="Arial" pitchFamily="34" charset="-122"/>
                <a:cs typeface="Arial" pitchFamily="34" charset="-120"/>
              </a:rPr>
              <a:t>Location</a:t>
            </a:r>
            <a:endParaRPr lang="en-US" sz="1150" dirty="0"/>
          </a:p>
        </p:txBody>
      </p:sp>
      <p:sp>
        <p:nvSpPr>
          <p:cNvPr id="9" name="Text 6"/>
          <p:cNvSpPr/>
          <p:nvPr/>
        </p:nvSpPr>
        <p:spPr>
          <a:xfrm>
            <a:off x="822960" y="5138928"/>
            <a:ext cx="2361438" cy="1051560"/>
          </a:xfrm>
          <a:prstGeom prst="rect">
            <a:avLst/>
          </a:prstGeom>
          <a:noFill/>
          <a:ln/>
        </p:spPr>
        <p:txBody>
          <a:bodyPr wrap="square" lIns="0" tIns="0" rIns="0" bIns="0" rtlCol="0" anchor="t"/>
          <a:lstStyle/>
          <a:p>
            <a:pPr indent="0" marL="0">
              <a:lnSpc>
                <a:spcPts val="1700"/>
              </a:lnSpc>
              <a:buNone/>
            </a:pPr>
            <a:r>
              <a:rPr lang="en-US" sz="1300" dirty="0">
                <a:solidFill>
                  <a:srgbClr val="24313F"/>
                </a:solidFill>
                <a:latin typeface="Georgia" pitchFamily="34" charset="0"/>
                <a:ea typeface="Georgia" pitchFamily="34" charset="-122"/>
                <a:cs typeface="Georgia" pitchFamily="34" charset="-120"/>
              </a:rPr>
              <a:t>A built set, not a found lobby: marble, brass keys, the desk raised like an altar.</a:t>
            </a:r>
            <a:endParaRPr lang="en-US" sz="1300" dirty="0"/>
          </a:p>
        </p:txBody>
      </p:sp>
      <p:sp>
        <p:nvSpPr>
          <p:cNvPr id="10" name="Text 7"/>
          <p:cNvSpPr/>
          <p:nvPr/>
        </p:nvSpPr>
        <p:spPr>
          <a:xfrm>
            <a:off x="3550158" y="4846320"/>
            <a:ext cx="2361438" cy="292608"/>
          </a:xfrm>
          <a:prstGeom prst="rect">
            <a:avLst/>
          </a:prstGeom>
          <a:noFill/>
          <a:ln/>
        </p:spPr>
        <p:txBody>
          <a:bodyPr wrap="square" lIns="0" tIns="0" rIns="0" bIns="0" rtlCol="0" anchor="ctr"/>
          <a:lstStyle/>
          <a:p>
            <a:pPr indent="0" marL="0">
              <a:buNone/>
            </a:pPr>
            <a:r>
              <a:rPr lang="en-US" sz="1150" b="1" spc="120" kern="0" dirty="0">
                <a:solidFill>
                  <a:srgbClr val="4A6B5D"/>
                </a:solidFill>
                <a:latin typeface="Arial" pitchFamily="34" charset="0"/>
                <a:ea typeface="Arial" pitchFamily="34" charset="-122"/>
                <a:cs typeface="Arial" pitchFamily="34" charset="-120"/>
              </a:rPr>
              <a:t>Costume</a:t>
            </a:r>
            <a:endParaRPr lang="en-US" sz="1150" dirty="0"/>
          </a:p>
        </p:txBody>
      </p:sp>
      <p:sp>
        <p:nvSpPr>
          <p:cNvPr id="11" name="Text 8"/>
          <p:cNvSpPr/>
          <p:nvPr/>
        </p:nvSpPr>
        <p:spPr>
          <a:xfrm>
            <a:off x="3550158" y="5138928"/>
            <a:ext cx="2361438" cy="1051560"/>
          </a:xfrm>
          <a:prstGeom prst="rect">
            <a:avLst/>
          </a:prstGeom>
          <a:noFill/>
          <a:ln/>
        </p:spPr>
        <p:txBody>
          <a:bodyPr wrap="square" lIns="0" tIns="0" rIns="0" bIns="0" rtlCol="0" anchor="t"/>
          <a:lstStyle/>
          <a:p>
            <a:pPr indent="0" marL="0">
              <a:lnSpc>
                <a:spcPts val="1700"/>
              </a:lnSpc>
              <a:buNone/>
            </a:pPr>
            <a:r>
              <a:rPr lang="en-US" sz="1300" dirty="0">
                <a:solidFill>
                  <a:srgbClr val="24313F"/>
                </a:solidFill>
                <a:latin typeface="Georgia" pitchFamily="34" charset="0"/>
                <a:ea typeface="Georgia" pitchFamily="34" charset="-122"/>
                <a:cs typeface="Georgia" pitchFamily="34" charset="-120"/>
              </a:rPr>
              <a:t>Purple livery ranks everyone at a glance. You know who works here before anyone speaks.</a:t>
            </a:r>
            <a:endParaRPr lang="en-US" sz="1300" dirty="0"/>
          </a:p>
        </p:txBody>
      </p:sp>
      <p:sp>
        <p:nvSpPr>
          <p:cNvPr id="12" name="Text 9"/>
          <p:cNvSpPr/>
          <p:nvPr/>
        </p:nvSpPr>
        <p:spPr>
          <a:xfrm>
            <a:off x="6277356" y="4846320"/>
            <a:ext cx="2361438" cy="292608"/>
          </a:xfrm>
          <a:prstGeom prst="rect">
            <a:avLst/>
          </a:prstGeom>
          <a:noFill/>
          <a:ln/>
        </p:spPr>
        <p:txBody>
          <a:bodyPr wrap="square" lIns="0" tIns="0" rIns="0" bIns="0" rtlCol="0" anchor="ctr"/>
          <a:lstStyle/>
          <a:p>
            <a:pPr indent="0" marL="0">
              <a:buNone/>
            </a:pPr>
            <a:r>
              <a:rPr lang="en-US" sz="1150" b="1" spc="120" kern="0" dirty="0">
                <a:solidFill>
                  <a:srgbClr val="4A6B5D"/>
                </a:solidFill>
                <a:latin typeface="Arial" pitchFamily="34" charset="0"/>
                <a:ea typeface="Arial" pitchFamily="34" charset="-122"/>
                <a:cs typeface="Arial" pitchFamily="34" charset="-120"/>
              </a:rPr>
              <a:t>Properties</a:t>
            </a:r>
            <a:endParaRPr lang="en-US" sz="1150" dirty="0"/>
          </a:p>
        </p:txBody>
      </p:sp>
      <p:sp>
        <p:nvSpPr>
          <p:cNvPr id="13" name="Text 10"/>
          <p:cNvSpPr/>
          <p:nvPr/>
        </p:nvSpPr>
        <p:spPr>
          <a:xfrm>
            <a:off x="6277356" y="5138928"/>
            <a:ext cx="2361438" cy="1051560"/>
          </a:xfrm>
          <a:prstGeom prst="rect">
            <a:avLst/>
          </a:prstGeom>
          <a:noFill/>
          <a:ln/>
        </p:spPr>
        <p:txBody>
          <a:bodyPr wrap="square" lIns="0" tIns="0" rIns="0" bIns="0" rtlCol="0" anchor="t"/>
          <a:lstStyle/>
          <a:p>
            <a:pPr indent="0" marL="0">
              <a:lnSpc>
                <a:spcPts val="1700"/>
              </a:lnSpc>
              <a:buNone/>
            </a:pPr>
            <a:r>
              <a:rPr lang="en-US" sz="1300" dirty="0">
                <a:solidFill>
                  <a:srgbClr val="24313F"/>
                </a:solidFill>
                <a:latin typeface="Georgia" pitchFamily="34" charset="0"/>
                <a:ea typeface="Georgia" pitchFamily="34" charset="-122"/>
                <a:cs typeface="Georgia" pitchFamily="34" charset="-120"/>
              </a:rPr>
              <a:t>The key rack and the ledger are load-bearing: the whole plot passes through that desk.</a:t>
            </a:r>
            <a:endParaRPr lang="en-US" sz="1300" dirty="0"/>
          </a:p>
        </p:txBody>
      </p:sp>
      <p:sp>
        <p:nvSpPr>
          <p:cNvPr id="14" name="Text 11"/>
          <p:cNvSpPr/>
          <p:nvPr/>
        </p:nvSpPr>
        <p:spPr>
          <a:xfrm>
            <a:off x="9004554" y="4846320"/>
            <a:ext cx="2361438" cy="292608"/>
          </a:xfrm>
          <a:prstGeom prst="rect">
            <a:avLst/>
          </a:prstGeom>
          <a:noFill/>
          <a:ln/>
        </p:spPr>
        <p:txBody>
          <a:bodyPr wrap="square" lIns="0" tIns="0" rIns="0" bIns="0" rtlCol="0" anchor="ctr"/>
          <a:lstStyle/>
          <a:p>
            <a:pPr indent="0" marL="0">
              <a:buNone/>
            </a:pPr>
            <a:r>
              <a:rPr lang="en-US" sz="1150" b="1" spc="120" kern="0" dirty="0">
                <a:solidFill>
                  <a:srgbClr val="4A6B5D"/>
                </a:solidFill>
                <a:latin typeface="Arial" pitchFamily="34" charset="0"/>
                <a:ea typeface="Arial" pitchFamily="34" charset="-122"/>
                <a:cs typeface="Arial" pitchFamily="34" charset="-120"/>
              </a:rPr>
              <a:t>Arrangement</a:t>
            </a:r>
            <a:endParaRPr lang="en-US" sz="1150" dirty="0"/>
          </a:p>
        </p:txBody>
      </p:sp>
      <p:sp>
        <p:nvSpPr>
          <p:cNvPr id="15" name="Text 12"/>
          <p:cNvSpPr/>
          <p:nvPr/>
        </p:nvSpPr>
        <p:spPr>
          <a:xfrm>
            <a:off x="9004554" y="5138928"/>
            <a:ext cx="2361438" cy="1051560"/>
          </a:xfrm>
          <a:prstGeom prst="rect">
            <a:avLst/>
          </a:prstGeom>
          <a:noFill/>
          <a:ln/>
        </p:spPr>
        <p:txBody>
          <a:bodyPr wrap="square" lIns="0" tIns="0" rIns="0" bIns="0" rtlCol="0" anchor="t"/>
          <a:lstStyle/>
          <a:p>
            <a:pPr indent="0" marL="0">
              <a:lnSpc>
                <a:spcPts val="1700"/>
              </a:lnSpc>
              <a:buNone/>
            </a:pPr>
            <a:r>
              <a:rPr lang="en-US" sz="1300" dirty="0">
                <a:solidFill>
                  <a:srgbClr val="24313F"/>
                </a:solidFill>
                <a:latin typeface="Georgia" pitchFamily="34" charset="0"/>
                <a:ea typeface="Georgia" pitchFamily="34" charset="-122"/>
                <a:cs typeface="Georgia" pitchFamily="34" charset="-120"/>
              </a:rPr>
              <a:t>One man dead centre, symmetrical staircases. The design crowns the concierge.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HIGH KEY, LOW KEY</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THE PROTAGONIST'S ROOM, THE ANTAGONIST'S ROOM</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Shape 3"/>
          <p:cNvSpPr/>
          <p:nvPr/>
        </p:nvSpPr>
        <p:spPr>
          <a:xfrm>
            <a:off x="822960" y="1143000"/>
            <a:ext cx="5088636" cy="3657600"/>
          </a:xfrm>
          <a:prstGeom prst="rect">
            <a:avLst/>
          </a:prstGeom>
          <a:solidFill>
            <a:srgbClr val="FAF8F1"/>
          </a:solidFill>
          <a:ln w="9525">
            <a:solidFill>
              <a:srgbClr val="D9D4C4"/>
            </a:solidFill>
            <a:prstDash val="solid"/>
          </a:ln>
        </p:spPr>
      </p:sp>
      <p:pic>
        <p:nvPicPr>
          <p:cNvPr id="6" name="Image 0" descr="/Users/dogan/Documents/Vaults/Courses/wiki/classes/media-studies/decks/_build/img/toystory-buzz-unwrapped.jpg">    </p:cNvPr>
          <p:cNvPicPr>
            <a:picLocks noChangeAspect="1"/>
          </p:cNvPicPr>
          <p:nvPr/>
        </p:nvPicPr>
        <p:blipFill>
          <a:blip r:embed="rId1"/>
          <a:stretch>
            <a:fillRect/>
          </a:stretch>
        </p:blipFill>
        <p:spPr>
          <a:xfrm>
            <a:off x="950976" y="1410265"/>
            <a:ext cx="4832604" cy="3123070"/>
          </a:xfrm>
          <a:prstGeom prst="rect">
            <a:avLst/>
          </a:prstGeom>
        </p:spPr>
      </p:pic>
      <p:sp>
        <p:nvSpPr>
          <p:cNvPr id="7" name="Shape 4"/>
          <p:cNvSpPr/>
          <p:nvPr/>
        </p:nvSpPr>
        <p:spPr>
          <a:xfrm>
            <a:off x="6277356" y="1143000"/>
            <a:ext cx="5088636" cy="3657600"/>
          </a:xfrm>
          <a:prstGeom prst="rect">
            <a:avLst/>
          </a:prstGeom>
          <a:solidFill>
            <a:srgbClr val="FAF8F1"/>
          </a:solidFill>
          <a:ln w="9525">
            <a:solidFill>
              <a:srgbClr val="D9D4C4"/>
            </a:solidFill>
            <a:prstDash val="solid"/>
          </a:ln>
        </p:spPr>
      </p:sp>
      <p:pic>
        <p:nvPicPr>
          <p:cNvPr id="8" name="Image 1" descr="/Users/dogan/Documents/Vaults/Courses/wiki/classes/media-studies/decks/_build/img/toystory-sids-room.jpg">    </p:cNvPr>
          <p:cNvPicPr>
            <a:picLocks noChangeAspect="1"/>
          </p:cNvPicPr>
          <p:nvPr/>
        </p:nvPicPr>
        <p:blipFill>
          <a:blip r:embed="rId2"/>
          <a:stretch>
            <a:fillRect/>
          </a:stretch>
        </p:blipFill>
        <p:spPr>
          <a:xfrm>
            <a:off x="6405372" y="1617664"/>
            <a:ext cx="4832604" cy="2708272"/>
          </a:xfrm>
          <a:prstGeom prst="rect">
            <a:avLst/>
          </a:prstGeom>
        </p:spPr>
      </p:pic>
      <p:sp>
        <p:nvSpPr>
          <p:cNvPr id="9" name="Text 5"/>
          <p:cNvSpPr/>
          <p:nvPr/>
        </p:nvSpPr>
        <p:spPr>
          <a:xfrm>
            <a:off x="822960" y="4846320"/>
            <a:ext cx="5088636" cy="320040"/>
          </a:xfrm>
          <a:prstGeom prst="rect">
            <a:avLst/>
          </a:prstGeom>
          <a:noFill/>
          <a:ln/>
        </p:spPr>
        <p:txBody>
          <a:bodyPr wrap="square" lIns="0" tIns="0" rIns="0" bIns="0" rtlCol="0" anchor="ctr"/>
          <a:lstStyle/>
          <a:p>
            <a:pPr algn="ctr" indent="0" marL="0">
              <a:buNone/>
            </a:pPr>
            <a:r>
              <a:rPr lang="en-US" sz="1050" dirty="0">
                <a:solidFill>
                  <a:srgbClr val="7A7F72"/>
                </a:solidFill>
                <a:latin typeface="Arial" pitchFamily="34" charset="0"/>
                <a:ea typeface="Arial" pitchFamily="34" charset="-122"/>
                <a:cs typeface="Arial" pitchFamily="34" charset="-120"/>
              </a:rPr>
              <a:t>Andy's room: high key. Even, bright, pastel; nothing hides.</a:t>
            </a:r>
            <a:endParaRPr lang="en-US" sz="1050" dirty="0"/>
          </a:p>
        </p:txBody>
      </p:sp>
      <p:sp>
        <p:nvSpPr>
          <p:cNvPr id="10" name="Text 6"/>
          <p:cNvSpPr/>
          <p:nvPr/>
        </p:nvSpPr>
        <p:spPr>
          <a:xfrm>
            <a:off x="6277356" y="4846320"/>
            <a:ext cx="5088636" cy="320040"/>
          </a:xfrm>
          <a:prstGeom prst="rect">
            <a:avLst/>
          </a:prstGeom>
          <a:noFill/>
          <a:ln/>
        </p:spPr>
        <p:txBody>
          <a:bodyPr wrap="square" lIns="0" tIns="0" rIns="0" bIns="0" rtlCol="0" anchor="ctr"/>
          <a:lstStyle/>
          <a:p>
            <a:pPr algn="ctr" indent="0" marL="0">
              <a:buNone/>
            </a:pPr>
            <a:r>
              <a:rPr lang="en-US" sz="1050" dirty="0">
                <a:solidFill>
                  <a:srgbClr val="7A7F72"/>
                </a:solidFill>
                <a:latin typeface="Arial" pitchFamily="34" charset="0"/>
                <a:ea typeface="Arial" pitchFamily="34" charset="-122"/>
                <a:cs typeface="Arial" pitchFamily="34" charset="-120"/>
              </a:rPr>
              <a:t>Sid's room: low key. Hard shadows, clutter, one bulb; everything hides.</a:t>
            </a:r>
            <a:endParaRPr lang="en-US" sz="1050" dirty="0"/>
          </a:p>
        </p:txBody>
      </p:sp>
      <p:sp>
        <p:nvSpPr>
          <p:cNvPr id="11" name="Shape 7"/>
          <p:cNvSpPr/>
          <p:nvPr/>
        </p:nvSpPr>
        <p:spPr>
          <a:xfrm>
            <a:off x="822960" y="5349240"/>
            <a:ext cx="914400" cy="0"/>
          </a:xfrm>
          <a:prstGeom prst="line">
            <a:avLst/>
          </a:prstGeom>
          <a:noFill/>
          <a:ln w="31750">
            <a:solidFill>
              <a:srgbClr val="8C3A38"/>
            </a:solidFill>
            <a:prstDash val="solid"/>
          </a:ln>
        </p:spPr>
      </p:sp>
      <p:sp>
        <p:nvSpPr>
          <p:cNvPr id="12" name="Text 8"/>
          <p:cNvSpPr/>
          <p:nvPr/>
        </p:nvSpPr>
        <p:spPr>
          <a:xfrm>
            <a:off x="822960" y="5486400"/>
            <a:ext cx="10543032" cy="548640"/>
          </a:xfrm>
          <a:prstGeom prst="rect">
            <a:avLst/>
          </a:prstGeom>
          <a:noFill/>
          <a:ln/>
        </p:spPr>
        <p:txBody>
          <a:bodyPr wrap="square" lIns="0" tIns="0" rIns="0" bIns="0" rtlCol="0" anchor="t"/>
          <a:lstStyle/>
          <a:p>
            <a:pPr indent="0" marL="0">
              <a:lnSpc>
                <a:spcPts val="1800"/>
              </a:lnSpc>
              <a:buNone/>
            </a:pPr>
            <a:r>
              <a:rPr lang="en-US" sz="1350" i="1" dirty="0">
                <a:solidFill>
                  <a:srgbClr val="4A6B5D"/>
                </a:solidFill>
                <a:latin typeface="Georgia" pitchFamily="34" charset="0"/>
                <a:ea typeface="Georgia" pitchFamily="34" charset="-122"/>
                <a:cs typeface="Georgia" pitchFamily="34" charset="-120"/>
              </a:rPr>
              <a:t>Toy Story (1995, Pixar/Disney). Same film, same hour, two moral worlds built out of light and set dressing. The coursebook's own mood-board exercise, answered by a film the room knows.</a:t>
            </a:r>
            <a:endParaRPr lang="en-US" sz="1350" dirty="0"/>
          </a:p>
        </p:txBody>
      </p:sp>
      <p:sp>
        <p:nvSpPr>
          <p:cNvPr id="13" name="Shape 9"/>
          <p:cNvSpPr/>
          <p:nvPr/>
        </p:nvSpPr>
        <p:spPr>
          <a:xfrm>
            <a:off x="822960" y="6382512"/>
            <a:ext cx="10543032" cy="0"/>
          </a:xfrm>
          <a:prstGeom prst="line">
            <a:avLst/>
          </a:prstGeom>
          <a:noFill/>
          <a:ln w="9525">
            <a:solidFill>
              <a:srgbClr val="D9D4C4"/>
            </a:solidFill>
            <a:prstDash val="solid"/>
          </a:ln>
        </p:spPr>
      </p:sp>
      <p:sp>
        <p:nvSpPr>
          <p:cNvPr id="14" name="Text 10"/>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5" name="Text 11"/>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05</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A TITLE SEQUENCE, READ AS DESIGN</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PROPERTIES BUILD A WORLD BEFORE A LINE IS SPOKEN</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Shape 3"/>
          <p:cNvSpPr/>
          <p:nvPr/>
        </p:nvSpPr>
        <p:spPr>
          <a:xfrm>
            <a:off x="822960" y="1143000"/>
            <a:ext cx="3270504" cy="2011680"/>
          </a:xfrm>
          <a:prstGeom prst="rect">
            <a:avLst/>
          </a:prstGeom>
          <a:solidFill>
            <a:srgbClr val="FAF8F1"/>
          </a:solidFill>
          <a:ln w="9525">
            <a:solidFill>
              <a:srgbClr val="D9D4C4"/>
            </a:solidFill>
            <a:prstDash val="solid"/>
          </a:ln>
        </p:spPr>
      </p:sp>
      <p:pic>
        <p:nvPicPr>
          <p:cNvPr id="6" name="Image 0" descr="/Users/dogan/Documents/Vaults/Courses/wiki/classes/media-studies/decks/_build/img/downton-title-1.jpg">    </p:cNvPr>
          <p:cNvPicPr>
            <a:picLocks noChangeAspect="1"/>
          </p:cNvPicPr>
          <p:nvPr/>
        </p:nvPicPr>
        <p:blipFill>
          <a:blip r:embed="rId1"/>
          <a:stretch>
            <a:fillRect/>
          </a:stretch>
        </p:blipFill>
        <p:spPr>
          <a:xfrm>
            <a:off x="896112" y="1270159"/>
            <a:ext cx="3124200" cy="1757362"/>
          </a:xfrm>
          <a:prstGeom prst="rect">
            <a:avLst/>
          </a:prstGeom>
        </p:spPr>
      </p:pic>
      <p:sp>
        <p:nvSpPr>
          <p:cNvPr id="7" name="Shape 4"/>
          <p:cNvSpPr/>
          <p:nvPr/>
        </p:nvSpPr>
        <p:spPr>
          <a:xfrm>
            <a:off x="4459224" y="1143000"/>
            <a:ext cx="3270504" cy="2011680"/>
          </a:xfrm>
          <a:prstGeom prst="rect">
            <a:avLst/>
          </a:prstGeom>
          <a:solidFill>
            <a:srgbClr val="FAF8F1"/>
          </a:solidFill>
          <a:ln w="9525">
            <a:solidFill>
              <a:srgbClr val="D9D4C4"/>
            </a:solidFill>
            <a:prstDash val="solid"/>
          </a:ln>
        </p:spPr>
      </p:sp>
      <p:pic>
        <p:nvPicPr>
          <p:cNvPr id="8" name="Image 1" descr="/Users/dogan/Documents/Vaults/Courses/wiki/classes/media-studies/decks/_build/img/downton-title-2.jpg">    </p:cNvPr>
          <p:cNvPicPr>
            <a:picLocks noChangeAspect="1"/>
          </p:cNvPicPr>
          <p:nvPr/>
        </p:nvPicPr>
        <p:blipFill>
          <a:blip r:embed="rId2"/>
          <a:stretch>
            <a:fillRect/>
          </a:stretch>
        </p:blipFill>
        <p:spPr>
          <a:xfrm>
            <a:off x="4532376" y="1270159"/>
            <a:ext cx="3124200" cy="1757362"/>
          </a:xfrm>
          <a:prstGeom prst="rect">
            <a:avLst/>
          </a:prstGeom>
        </p:spPr>
      </p:pic>
      <p:sp>
        <p:nvSpPr>
          <p:cNvPr id="9" name="Shape 5"/>
          <p:cNvSpPr/>
          <p:nvPr/>
        </p:nvSpPr>
        <p:spPr>
          <a:xfrm>
            <a:off x="8095488" y="1143000"/>
            <a:ext cx="3270504" cy="2011680"/>
          </a:xfrm>
          <a:prstGeom prst="rect">
            <a:avLst/>
          </a:prstGeom>
          <a:solidFill>
            <a:srgbClr val="FAF8F1"/>
          </a:solidFill>
          <a:ln w="9525">
            <a:solidFill>
              <a:srgbClr val="D9D4C4"/>
            </a:solidFill>
            <a:prstDash val="solid"/>
          </a:ln>
        </p:spPr>
      </p:sp>
      <p:pic>
        <p:nvPicPr>
          <p:cNvPr id="10" name="Image 2" descr="/Users/dogan/Documents/Vaults/Courses/wiki/classes/media-studies/decks/_build/img/downton-title-3.jpg">    </p:cNvPr>
          <p:cNvPicPr>
            <a:picLocks noChangeAspect="1"/>
          </p:cNvPicPr>
          <p:nvPr/>
        </p:nvPicPr>
        <p:blipFill>
          <a:blip r:embed="rId3"/>
          <a:stretch>
            <a:fillRect/>
          </a:stretch>
        </p:blipFill>
        <p:spPr>
          <a:xfrm>
            <a:off x="8168640" y="1270159"/>
            <a:ext cx="3124200" cy="1757362"/>
          </a:xfrm>
          <a:prstGeom prst="rect">
            <a:avLst/>
          </a:prstGeom>
        </p:spPr>
      </p:pic>
      <p:sp>
        <p:nvSpPr>
          <p:cNvPr id="11" name="Shape 6"/>
          <p:cNvSpPr/>
          <p:nvPr/>
        </p:nvSpPr>
        <p:spPr>
          <a:xfrm>
            <a:off x="822960" y="3291840"/>
            <a:ext cx="3270504" cy="2011680"/>
          </a:xfrm>
          <a:prstGeom prst="rect">
            <a:avLst/>
          </a:prstGeom>
          <a:solidFill>
            <a:srgbClr val="FAF8F1"/>
          </a:solidFill>
          <a:ln w="9525">
            <a:solidFill>
              <a:srgbClr val="D9D4C4"/>
            </a:solidFill>
            <a:prstDash val="solid"/>
          </a:ln>
        </p:spPr>
      </p:sp>
      <p:pic>
        <p:nvPicPr>
          <p:cNvPr id="12" name="Image 3" descr="/Users/dogan/Documents/Vaults/Courses/wiki/classes/media-studies/decks/_build/img/downton-title-4.jpg">    </p:cNvPr>
          <p:cNvPicPr>
            <a:picLocks noChangeAspect="1"/>
          </p:cNvPicPr>
          <p:nvPr/>
        </p:nvPicPr>
        <p:blipFill>
          <a:blip r:embed="rId4"/>
          <a:stretch>
            <a:fillRect/>
          </a:stretch>
        </p:blipFill>
        <p:spPr>
          <a:xfrm>
            <a:off x="896112" y="3418999"/>
            <a:ext cx="3124200" cy="1757362"/>
          </a:xfrm>
          <a:prstGeom prst="rect">
            <a:avLst/>
          </a:prstGeom>
        </p:spPr>
      </p:pic>
      <p:sp>
        <p:nvSpPr>
          <p:cNvPr id="13" name="Shape 7"/>
          <p:cNvSpPr/>
          <p:nvPr/>
        </p:nvSpPr>
        <p:spPr>
          <a:xfrm>
            <a:off x="4459224" y="3291840"/>
            <a:ext cx="3270504" cy="2011680"/>
          </a:xfrm>
          <a:prstGeom prst="rect">
            <a:avLst/>
          </a:prstGeom>
          <a:solidFill>
            <a:srgbClr val="FAF8F1"/>
          </a:solidFill>
          <a:ln w="9525">
            <a:solidFill>
              <a:srgbClr val="D9D4C4"/>
            </a:solidFill>
            <a:prstDash val="solid"/>
          </a:ln>
        </p:spPr>
      </p:sp>
      <p:pic>
        <p:nvPicPr>
          <p:cNvPr id="14" name="Image 4" descr="/Users/dogan/Documents/Vaults/Courses/wiki/classes/media-studies/decks/_build/img/downton-title-5.jpg">    </p:cNvPr>
          <p:cNvPicPr>
            <a:picLocks noChangeAspect="1"/>
          </p:cNvPicPr>
          <p:nvPr/>
        </p:nvPicPr>
        <p:blipFill>
          <a:blip r:embed="rId5"/>
          <a:stretch>
            <a:fillRect/>
          </a:stretch>
        </p:blipFill>
        <p:spPr>
          <a:xfrm>
            <a:off x="4532376" y="3418999"/>
            <a:ext cx="3124200" cy="1757362"/>
          </a:xfrm>
          <a:prstGeom prst="rect">
            <a:avLst/>
          </a:prstGeom>
        </p:spPr>
      </p:pic>
      <p:sp>
        <p:nvSpPr>
          <p:cNvPr id="15" name="Shape 8"/>
          <p:cNvSpPr/>
          <p:nvPr/>
        </p:nvSpPr>
        <p:spPr>
          <a:xfrm>
            <a:off x="8095488" y="3291840"/>
            <a:ext cx="3270504" cy="2011680"/>
          </a:xfrm>
          <a:prstGeom prst="rect">
            <a:avLst/>
          </a:prstGeom>
          <a:solidFill>
            <a:srgbClr val="FAF8F1"/>
          </a:solidFill>
          <a:ln w="9525">
            <a:solidFill>
              <a:srgbClr val="D9D4C4"/>
            </a:solidFill>
            <a:prstDash val="solid"/>
          </a:ln>
        </p:spPr>
      </p:sp>
      <p:pic>
        <p:nvPicPr>
          <p:cNvPr id="16" name="Image 5" descr="/Users/dogan/Documents/Vaults/Courses/wiki/classes/media-studies/decks/_build/img/downton-title-6.jpg">    </p:cNvPr>
          <p:cNvPicPr>
            <a:picLocks noChangeAspect="1"/>
          </p:cNvPicPr>
          <p:nvPr/>
        </p:nvPicPr>
        <p:blipFill>
          <a:blip r:embed="rId6"/>
          <a:stretch>
            <a:fillRect/>
          </a:stretch>
        </p:blipFill>
        <p:spPr>
          <a:xfrm>
            <a:off x="8168640" y="3418999"/>
            <a:ext cx="3124200" cy="1757362"/>
          </a:xfrm>
          <a:prstGeom prst="rect">
            <a:avLst/>
          </a:prstGeom>
        </p:spPr>
      </p:pic>
      <p:sp>
        <p:nvSpPr>
          <p:cNvPr id="17" name="Text 9"/>
          <p:cNvSpPr/>
          <p:nvPr/>
        </p:nvSpPr>
        <p:spPr>
          <a:xfrm>
            <a:off x="822960" y="5486400"/>
            <a:ext cx="10543032" cy="274320"/>
          </a:xfrm>
          <a:prstGeom prst="rect">
            <a:avLst/>
          </a:prstGeom>
          <a:noFill/>
          <a:ln/>
        </p:spPr>
        <p:txBody>
          <a:bodyPr wrap="square" lIns="0" tIns="0" rIns="0" bIns="0" rtlCol="0" anchor="ctr"/>
          <a:lstStyle/>
          <a:p>
            <a:pPr algn="ctr" indent="0" marL="0">
              <a:buNone/>
            </a:pPr>
            <a:r>
              <a:rPr lang="en-US" sz="1000" dirty="0">
                <a:solidFill>
                  <a:srgbClr val="7A7F72"/>
                </a:solidFill>
                <a:latin typeface="Arial" pitchFamily="34" charset="0"/>
                <a:ea typeface="Arial" pitchFamily="34" charset="-122"/>
                <a:cs typeface="Arial" pitchFamily="34" charset="-120"/>
              </a:rPr>
              <a:t>Downton Abbey (ITV, 2010), title sequence. Art of the Title's stills.</a:t>
            </a:r>
            <a:endParaRPr lang="en-US" sz="1000" dirty="0"/>
          </a:p>
        </p:txBody>
      </p:sp>
      <p:sp>
        <p:nvSpPr>
          <p:cNvPr id="18" name="Shape 10"/>
          <p:cNvSpPr/>
          <p:nvPr/>
        </p:nvSpPr>
        <p:spPr>
          <a:xfrm>
            <a:off x="822960" y="5852160"/>
            <a:ext cx="914400" cy="0"/>
          </a:xfrm>
          <a:prstGeom prst="line">
            <a:avLst/>
          </a:prstGeom>
          <a:noFill/>
          <a:ln w="31750">
            <a:solidFill>
              <a:srgbClr val="8C3A38"/>
            </a:solidFill>
            <a:prstDash val="solid"/>
          </a:ln>
        </p:spPr>
      </p:sp>
      <p:sp>
        <p:nvSpPr>
          <p:cNvPr id="19" name="Text 11"/>
          <p:cNvSpPr/>
          <p:nvPr/>
        </p:nvSpPr>
        <p:spPr>
          <a:xfrm>
            <a:off x="822960" y="5971032"/>
            <a:ext cx="10543032" cy="411480"/>
          </a:xfrm>
          <a:prstGeom prst="rect">
            <a:avLst/>
          </a:prstGeom>
          <a:noFill/>
          <a:ln/>
        </p:spPr>
        <p:txBody>
          <a:bodyPr wrap="square" lIns="0" tIns="0" rIns="0" bIns="0" rtlCol="0" anchor="ctr"/>
          <a:lstStyle/>
          <a:p>
            <a:pPr indent="0" marL="0">
              <a:buNone/>
            </a:pPr>
            <a:r>
              <a:rPr lang="en-US" sz="1250" i="1" dirty="0">
                <a:solidFill>
                  <a:srgbClr val="4A6B5D"/>
                </a:solidFill>
                <a:latin typeface="Georgia" pitchFamily="34" charset="0"/>
                <a:ea typeface="Georgia" pitchFamily="34" charset="-122"/>
                <a:cs typeface="Georgia" pitchFamily="34" charset="-120"/>
              </a:rPr>
              <a:t>No faces, no dialogue: bells, cutlery, a feather duster, a lamp. Properties and set alone tell you the world, the era, the class system, and whose labor keeps it running.</a:t>
            </a:r>
            <a:endParaRPr lang="en-US" sz="1250" dirty="0"/>
          </a:p>
        </p:txBody>
      </p:sp>
      <p:sp>
        <p:nvSpPr>
          <p:cNvPr id="20" name="Shape 12"/>
          <p:cNvSpPr/>
          <p:nvPr/>
        </p:nvSpPr>
        <p:spPr>
          <a:xfrm>
            <a:off x="822960" y="6382512"/>
            <a:ext cx="10543032" cy="0"/>
          </a:xfrm>
          <a:prstGeom prst="line">
            <a:avLst/>
          </a:prstGeom>
          <a:noFill/>
          <a:ln w="9525">
            <a:solidFill>
              <a:srgbClr val="D9D4C4"/>
            </a:solidFill>
            <a:prstDash val="solid"/>
          </a:ln>
        </p:spPr>
      </p:sp>
      <p:sp>
        <p:nvSpPr>
          <p:cNvPr id="21" name="Text 13"/>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22" name="Text 14"/>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06</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THE TRAP</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THE ONE FAILURE THAT COSTS THE WHOLE ELEMENT</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97280"/>
            <a:ext cx="10543032" cy="822960"/>
          </a:xfrm>
          <a:prstGeom prst="rect">
            <a:avLst/>
          </a:prstGeom>
          <a:noFill/>
          <a:ln/>
        </p:spPr>
        <p:txBody>
          <a:bodyPr wrap="square" lIns="0" tIns="0" rIns="0" bIns="0" rtlCol="0" anchor="ctr"/>
          <a:lstStyle/>
          <a:p>
            <a:pPr indent="0" marL="0">
              <a:buNone/>
            </a:pPr>
            <a:r>
              <a:rPr lang="en-US" sz="3800" dirty="0">
                <a:solidFill>
                  <a:srgbClr val="24313F"/>
                </a:solidFill>
                <a:latin typeface="Georgia" pitchFamily="34" charset="0"/>
                <a:ea typeface="Georgia" pitchFamily="34" charset="-122"/>
                <a:cs typeface="Georgia" pitchFamily="34" charset="-120"/>
              </a:rPr>
              <a:t>A moodboard earns nothing</a:t>
            </a:r>
            <a:endParaRPr lang="en-US" sz="3800" dirty="0"/>
          </a:p>
        </p:txBody>
      </p:sp>
      <p:sp>
        <p:nvSpPr>
          <p:cNvPr id="6" name="Text 4"/>
          <p:cNvSpPr/>
          <p:nvPr/>
        </p:nvSpPr>
        <p:spPr>
          <a:xfrm>
            <a:off x="822960" y="2148840"/>
            <a:ext cx="4846320" cy="502920"/>
          </a:xfrm>
          <a:prstGeom prst="rect">
            <a:avLst/>
          </a:prstGeom>
          <a:noFill/>
          <a:ln/>
        </p:spPr>
        <p:txBody>
          <a:bodyPr wrap="square" lIns="0" tIns="0" rIns="0" bIns="0" rtlCol="0" anchor="ctr"/>
          <a:lstStyle/>
          <a:p>
            <a:pPr indent="0" marL="0">
              <a:buNone/>
            </a:pPr>
            <a:r>
              <a:rPr lang="en-US" sz="2500" dirty="0">
                <a:solidFill>
                  <a:srgbClr val="7A7F72"/>
                </a:solidFill>
                <a:latin typeface="Georgia" pitchFamily="34" charset="0"/>
                <a:ea typeface="Georgia" pitchFamily="34" charset="-122"/>
                <a:cs typeface="Georgia" pitchFamily="34" charset="-120"/>
              </a:rPr>
              <a:t>Description</a:t>
            </a:r>
            <a:endParaRPr lang="en-US" sz="2500" dirty="0"/>
          </a:p>
        </p:txBody>
      </p:sp>
      <p:sp>
        <p:nvSpPr>
          <p:cNvPr id="7" name="Shape 5"/>
          <p:cNvSpPr/>
          <p:nvPr/>
        </p:nvSpPr>
        <p:spPr>
          <a:xfrm>
            <a:off x="822960" y="2724912"/>
            <a:ext cx="4754880" cy="0"/>
          </a:xfrm>
          <a:prstGeom prst="line">
            <a:avLst/>
          </a:prstGeom>
          <a:noFill/>
          <a:ln w="9525">
            <a:solidFill>
              <a:srgbClr val="D9D4C4"/>
            </a:solidFill>
            <a:prstDash val="solid"/>
          </a:ln>
        </p:spPr>
      </p:sp>
      <p:sp>
        <p:nvSpPr>
          <p:cNvPr id="8" name="Text 6"/>
          <p:cNvSpPr/>
          <p:nvPr/>
        </p:nvSpPr>
        <p:spPr>
          <a:xfrm>
            <a:off x="822960" y="2880360"/>
            <a:ext cx="4846320" cy="1554480"/>
          </a:xfrm>
          <a:prstGeom prst="rect">
            <a:avLst/>
          </a:prstGeom>
          <a:noFill/>
          <a:ln/>
        </p:spPr>
        <p:txBody>
          <a:bodyPr wrap="square" lIns="0" tIns="0" rIns="0" bIns="0" rtlCol="0" anchor="t"/>
          <a:lstStyle/>
          <a:p>
            <a:pPr indent="0" marL="0">
              <a:lnSpc>
                <a:spcPts val="2400"/>
              </a:lnSpc>
              <a:buNone/>
            </a:pPr>
            <a:r>
              <a:rPr lang="en-US" sz="1750" dirty="0">
                <a:solidFill>
                  <a:srgbClr val="24313F"/>
                </a:solidFill>
                <a:latin typeface="Georgia" pitchFamily="34" charset="0"/>
                <a:ea typeface="Georgia" pitchFamily="34" charset="-122"/>
                <a:cs typeface="Georgia" pitchFamily="34" charset="-120"/>
              </a:rPr>
              <a:t>The room is dark and there is a wooden chair.</a:t>
            </a:r>
            <a:endParaRPr lang="en-US" sz="1750" dirty="0"/>
          </a:p>
        </p:txBody>
      </p:sp>
      <p:sp>
        <p:nvSpPr>
          <p:cNvPr id="9" name="Text 7"/>
          <p:cNvSpPr/>
          <p:nvPr/>
        </p:nvSpPr>
        <p:spPr>
          <a:xfrm>
            <a:off x="822960" y="4526280"/>
            <a:ext cx="4846320" cy="1005840"/>
          </a:xfrm>
          <a:prstGeom prst="rect">
            <a:avLst/>
          </a:prstGeom>
          <a:noFill/>
          <a:ln/>
        </p:spPr>
        <p:txBody>
          <a:bodyPr wrap="square" lIns="0" tIns="0" rIns="0" bIns="0" rtlCol="0" anchor="t"/>
          <a:lstStyle/>
          <a:p>
            <a:pPr indent="0" marL="0">
              <a:lnSpc>
                <a:spcPts val="1800"/>
              </a:lnSpc>
              <a:buNone/>
            </a:pPr>
            <a:r>
              <a:rPr lang="en-US" sz="1250" i="1" dirty="0">
                <a:solidFill>
                  <a:srgbClr val="7A7F72"/>
                </a:solidFill>
                <a:latin typeface="Arial" pitchFamily="34" charset="0"/>
                <a:ea typeface="Arial" pitchFamily="34" charset="-122"/>
                <a:cs typeface="Arial" pitchFamily="34" charset="-120"/>
              </a:rPr>
              <a:t>Correct, complete, and worth no marks. It reports the frame back to the examiner, who can see it.</a:t>
            </a:r>
            <a:endParaRPr lang="en-US" sz="1250" dirty="0"/>
          </a:p>
        </p:txBody>
      </p:sp>
      <p:sp>
        <p:nvSpPr>
          <p:cNvPr id="10" name="Text 8"/>
          <p:cNvSpPr/>
          <p:nvPr/>
        </p:nvSpPr>
        <p:spPr>
          <a:xfrm>
            <a:off x="6309360" y="2148840"/>
            <a:ext cx="4846320" cy="502920"/>
          </a:xfrm>
          <a:prstGeom prst="rect">
            <a:avLst/>
          </a:prstGeom>
          <a:noFill/>
          <a:ln/>
        </p:spPr>
        <p:txBody>
          <a:bodyPr wrap="square" lIns="0" tIns="0" rIns="0" bIns="0" rtlCol="0" anchor="ctr"/>
          <a:lstStyle/>
          <a:p>
            <a:pPr indent="0" marL="0">
              <a:buNone/>
            </a:pPr>
            <a:r>
              <a:rPr lang="en-US" sz="2500" dirty="0">
                <a:solidFill>
                  <a:srgbClr val="4A6B5D"/>
                </a:solidFill>
                <a:latin typeface="Georgia" pitchFamily="34" charset="0"/>
                <a:ea typeface="Georgia" pitchFamily="34" charset="-122"/>
                <a:cs typeface="Georgia" pitchFamily="34" charset="-120"/>
              </a:rPr>
              <a:t>Analysis</a:t>
            </a:r>
            <a:endParaRPr lang="en-US" sz="2500" dirty="0"/>
          </a:p>
        </p:txBody>
      </p:sp>
      <p:sp>
        <p:nvSpPr>
          <p:cNvPr id="11" name="Shape 9"/>
          <p:cNvSpPr/>
          <p:nvPr/>
        </p:nvSpPr>
        <p:spPr>
          <a:xfrm>
            <a:off x="6309360" y="2724912"/>
            <a:ext cx="4754880" cy="0"/>
          </a:xfrm>
          <a:prstGeom prst="line">
            <a:avLst/>
          </a:prstGeom>
          <a:noFill/>
          <a:ln w="9525">
            <a:solidFill>
              <a:srgbClr val="D9D4C4"/>
            </a:solidFill>
            <a:prstDash val="solid"/>
          </a:ln>
        </p:spPr>
      </p:sp>
      <p:sp>
        <p:nvSpPr>
          <p:cNvPr id="12" name="Text 10"/>
          <p:cNvSpPr/>
          <p:nvPr/>
        </p:nvSpPr>
        <p:spPr>
          <a:xfrm>
            <a:off x="6309360" y="2880360"/>
            <a:ext cx="4846320" cy="1554480"/>
          </a:xfrm>
          <a:prstGeom prst="rect">
            <a:avLst/>
          </a:prstGeom>
          <a:noFill/>
          <a:ln/>
        </p:spPr>
        <p:txBody>
          <a:bodyPr wrap="square" lIns="0" tIns="0" rIns="0" bIns="0" rtlCol="0" anchor="t"/>
          <a:lstStyle/>
          <a:p>
            <a:pPr indent="0" marL="0">
              <a:lnSpc>
                <a:spcPts val="2400"/>
              </a:lnSpc>
              <a:buNone/>
            </a:pPr>
            <a:r>
              <a:rPr lang="en-US" sz="1750" dirty="0">
                <a:solidFill>
                  <a:srgbClr val="24313F"/>
                </a:solidFill>
                <a:latin typeface="Georgia" pitchFamily="34" charset="0"/>
                <a:ea typeface="Georgia" pitchFamily="34" charset="-122"/>
                <a:cs typeface="Georgia" pitchFamily="34" charset="-120"/>
              </a:rPr>
              <a:t>The single chair in an unlit room withholds any sign of company, so the character is constructed as isolated before the scene begins.</a:t>
            </a:r>
            <a:endParaRPr lang="en-US" sz="1750" dirty="0"/>
          </a:p>
        </p:txBody>
      </p:sp>
      <p:sp>
        <p:nvSpPr>
          <p:cNvPr id="13" name="Text 11"/>
          <p:cNvSpPr/>
          <p:nvPr/>
        </p:nvSpPr>
        <p:spPr>
          <a:xfrm>
            <a:off x="6309360" y="4526280"/>
            <a:ext cx="4846320" cy="1005840"/>
          </a:xfrm>
          <a:prstGeom prst="rect">
            <a:avLst/>
          </a:prstGeom>
          <a:noFill/>
          <a:ln/>
        </p:spPr>
        <p:txBody>
          <a:bodyPr wrap="square" lIns="0" tIns="0" rIns="0" bIns="0" rtlCol="0" anchor="t"/>
          <a:lstStyle/>
          <a:p>
            <a:pPr indent="0" marL="0">
              <a:lnSpc>
                <a:spcPts val="1800"/>
              </a:lnSpc>
              <a:buNone/>
            </a:pPr>
            <a:r>
              <a:rPr lang="en-US" sz="1250" i="1" dirty="0">
                <a:solidFill>
                  <a:srgbClr val="7A7F72"/>
                </a:solidFill>
                <a:latin typeface="Arial" pitchFamily="34" charset="0"/>
                <a:ea typeface="Arial" pitchFamily="34" charset="-122"/>
                <a:cs typeface="Arial" pitchFamily="34" charset="-120"/>
              </a:rPr>
              <a:t>Same chair. The difference is the clause after the comma.</a:t>
            </a:r>
            <a:endParaRPr lang="en-US" sz="1250" dirty="0"/>
          </a:p>
        </p:txBody>
      </p:sp>
      <p:sp>
        <p:nvSpPr>
          <p:cNvPr id="14" name="Shape 12"/>
          <p:cNvSpPr/>
          <p:nvPr/>
        </p:nvSpPr>
        <p:spPr>
          <a:xfrm>
            <a:off x="822960" y="5669280"/>
            <a:ext cx="914400" cy="0"/>
          </a:xfrm>
          <a:prstGeom prst="line">
            <a:avLst/>
          </a:prstGeom>
          <a:noFill/>
          <a:ln w="31750">
            <a:solidFill>
              <a:srgbClr val="8C3A38"/>
            </a:solidFill>
            <a:prstDash val="solid"/>
          </a:ln>
        </p:spPr>
      </p:sp>
      <p:sp>
        <p:nvSpPr>
          <p:cNvPr id="15" name="Text 13"/>
          <p:cNvSpPr/>
          <p:nvPr/>
        </p:nvSpPr>
        <p:spPr>
          <a:xfrm>
            <a:off x="822960" y="5833872"/>
            <a:ext cx="10424160" cy="365760"/>
          </a:xfrm>
          <a:prstGeom prst="rect">
            <a:avLst/>
          </a:prstGeom>
          <a:noFill/>
          <a:ln/>
        </p:spPr>
        <p:txBody>
          <a:bodyPr wrap="square" lIns="0" tIns="0" rIns="0" bIns="0" rtlCol="0" anchor="ctr"/>
          <a:lstStyle/>
          <a:p>
            <a:pPr indent="0" marL="0">
              <a:buNone/>
            </a:pPr>
            <a:r>
              <a:rPr lang="en-US" sz="1250" i="1" dirty="0">
                <a:solidFill>
                  <a:srgbClr val="7A7F72"/>
                </a:solidFill>
                <a:latin typeface="Arial" pitchFamily="34" charset="0"/>
                <a:ea typeface="Arial" pitchFamily="34" charset="-122"/>
                <a:cs typeface="Arial" pitchFamily="34" charset="-120"/>
              </a:rPr>
              <a:t>Every cell of tomorrow's board carries a connotation line. No exceptions, including the obvious ones.</a:t>
            </a:r>
            <a:endParaRPr lang="en-US" sz="1250" dirty="0"/>
          </a:p>
        </p:txBody>
      </p:sp>
      <p:sp>
        <p:nvSpPr>
          <p:cNvPr id="16" name="Shape 14"/>
          <p:cNvSpPr/>
          <p:nvPr/>
        </p:nvSpPr>
        <p:spPr>
          <a:xfrm>
            <a:off x="822960" y="6382512"/>
            <a:ext cx="10543032" cy="0"/>
          </a:xfrm>
          <a:prstGeom prst="line">
            <a:avLst/>
          </a:prstGeom>
          <a:noFill/>
          <a:ln w="9525">
            <a:solidFill>
              <a:srgbClr val="D9D4C4"/>
            </a:solidFill>
            <a:prstDash val="solid"/>
          </a:ln>
        </p:spPr>
      </p:sp>
      <p:sp>
        <p:nvSpPr>
          <p:cNvPr id="17" name="Text 15"/>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8" name="Text 16"/>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07</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FOUR LOCATIONS</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DESCRIBE FIRST; THE REVEAL COMES AFTER</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914400"/>
            <a:ext cx="10543032" cy="548640"/>
          </a:xfrm>
          <a:prstGeom prst="rect">
            <a:avLst/>
          </a:prstGeom>
          <a:noFill/>
          <a:ln/>
        </p:spPr>
        <p:txBody>
          <a:bodyPr wrap="square" lIns="0" tIns="0" rIns="0" bIns="0" rtlCol="0" anchor="ctr"/>
          <a:lstStyle/>
          <a:p>
            <a:pPr indent="0" marL="0">
              <a:buNone/>
            </a:pPr>
            <a:r>
              <a:rPr lang="en-US" sz="3000" dirty="0">
                <a:solidFill>
                  <a:srgbClr val="24313F"/>
                </a:solidFill>
                <a:latin typeface="Georgia" pitchFamily="34" charset="0"/>
                <a:ea typeface="Georgia" pitchFamily="34" charset="-122"/>
                <a:cs typeface="Georgia" pitchFamily="34" charset="-120"/>
              </a:rPr>
              <a:t>Describe it, and a person appears</a:t>
            </a:r>
            <a:endParaRPr lang="en-US" sz="3000" dirty="0"/>
          </a:p>
        </p:txBody>
      </p:sp>
      <p:sp>
        <p:nvSpPr>
          <p:cNvPr id="6" name="Shape 4"/>
          <p:cNvSpPr/>
          <p:nvPr/>
        </p:nvSpPr>
        <p:spPr>
          <a:xfrm>
            <a:off x="822960" y="1508760"/>
            <a:ext cx="2361438" cy="2103120"/>
          </a:xfrm>
          <a:prstGeom prst="rect">
            <a:avLst/>
          </a:prstGeom>
          <a:solidFill>
            <a:srgbClr val="FAF8F1"/>
          </a:solidFill>
          <a:ln w="9525">
            <a:solidFill>
              <a:srgbClr val="D9D4C4"/>
            </a:solidFill>
            <a:prstDash val="solid"/>
          </a:ln>
        </p:spPr>
      </p:sp>
      <p:pic>
        <p:nvPicPr>
          <p:cNvPr id="7" name="Image 0" descr="/Users/dogan/Documents/Vaults/Courses/wiki/classes/media-studies/decks/_build/img/highclere.jpg">    </p:cNvPr>
          <p:cNvPicPr>
            <a:picLocks noChangeAspect="1"/>
          </p:cNvPicPr>
          <p:nvPr/>
        </p:nvPicPr>
        <p:blipFill>
          <a:blip r:embed="rId1"/>
          <a:stretch>
            <a:fillRect/>
          </a:stretch>
        </p:blipFill>
        <p:spPr>
          <a:xfrm>
            <a:off x="896112" y="1821942"/>
            <a:ext cx="2215134" cy="1476756"/>
          </a:xfrm>
          <a:prstGeom prst="rect">
            <a:avLst/>
          </a:prstGeom>
        </p:spPr>
      </p:pic>
      <p:sp>
        <p:nvSpPr>
          <p:cNvPr id="8" name="Text 5"/>
          <p:cNvSpPr/>
          <p:nvPr/>
        </p:nvSpPr>
        <p:spPr>
          <a:xfrm>
            <a:off x="822960" y="3657600"/>
            <a:ext cx="2361438" cy="365760"/>
          </a:xfrm>
          <a:prstGeom prst="rect">
            <a:avLst/>
          </a:prstGeom>
          <a:noFill/>
          <a:ln/>
        </p:spPr>
        <p:txBody>
          <a:bodyPr wrap="square" lIns="0" tIns="0" rIns="0" bIns="0" rtlCol="0" anchor="ctr"/>
          <a:lstStyle/>
          <a:p>
            <a:pPr algn="ctr" indent="0" marL="0">
              <a:buNone/>
            </a:pPr>
            <a:r>
              <a:rPr lang="en-US" sz="1550" dirty="0">
                <a:solidFill>
                  <a:srgbClr val="4A6B5D"/>
                </a:solidFill>
                <a:latin typeface="Georgia" pitchFamily="34" charset="0"/>
                <a:ea typeface="Georgia" pitchFamily="34" charset="-122"/>
                <a:cs typeface="Georgia" pitchFamily="34" charset="-120"/>
              </a:rPr>
              <a:t>A country manor</a:t>
            </a:r>
            <a:endParaRPr lang="en-US" sz="1550" dirty="0"/>
          </a:p>
        </p:txBody>
      </p:sp>
      <p:sp>
        <p:nvSpPr>
          <p:cNvPr id="9" name="Shape 6"/>
          <p:cNvSpPr/>
          <p:nvPr/>
        </p:nvSpPr>
        <p:spPr>
          <a:xfrm>
            <a:off x="3550158" y="1508760"/>
            <a:ext cx="2361438" cy="2103120"/>
          </a:xfrm>
          <a:prstGeom prst="rect">
            <a:avLst/>
          </a:prstGeom>
          <a:solidFill>
            <a:srgbClr val="FAF8F1"/>
          </a:solidFill>
          <a:ln w="9525">
            <a:solidFill>
              <a:srgbClr val="D9D4C4"/>
            </a:solidFill>
            <a:prstDash val="solid"/>
          </a:ln>
        </p:spPr>
      </p:sp>
      <p:pic>
        <p:nvPicPr>
          <p:cNvPr id="10" name="Image 1" descr="/Users/dogan/Documents/Vaults/Courses/wiki/classes/media-studies/decks/_build/img/loc-apartment.jpg">    </p:cNvPr>
          <p:cNvPicPr>
            <a:picLocks noChangeAspect="1"/>
          </p:cNvPicPr>
          <p:nvPr/>
        </p:nvPicPr>
        <p:blipFill>
          <a:blip r:embed="rId2"/>
          <a:stretch>
            <a:fillRect/>
          </a:stretch>
        </p:blipFill>
        <p:spPr>
          <a:xfrm>
            <a:off x="3623310" y="1821942"/>
            <a:ext cx="2215134" cy="1476756"/>
          </a:xfrm>
          <a:prstGeom prst="rect">
            <a:avLst/>
          </a:prstGeom>
        </p:spPr>
      </p:pic>
      <p:sp>
        <p:nvSpPr>
          <p:cNvPr id="11" name="Text 7"/>
          <p:cNvSpPr/>
          <p:nvPr/>
        </p:nvSpPr>
        <p:spPr>
          <a:xfrm>
            <a:off x="3550158" y="3657600"/>
            <a:ext cx="2361438" cy="365760"/>
          </a:xfrm>
          <a:prstGeom prst="rect">
            <a:avLst/>
          </a:prstGeom>
          <a:noFill/>
          <a:ln/>
        </p:spPr>
        <p:txBody>
          <a:bodyPr wrap="square" lIns="0" tIns="0" rIns="0" bIns="0" rtlCol="0" anchor="ctr"/>
          <a:lstStyle/>
          <a:p>
            <a:pPr algn="ctr" indent="0" marL="0">
              <a:buNone/>
            </a:pPr>
            <a:r>
              <a:rPr lang="en-US" sz="1550" dirty="0">
                <a:solidFill>
                  <a:srgbClr val="4A6B5D"/>
                </a:solidFill>
                <a:latin typeface="Georgia" pitchFamily="34" charset="0"/>
                <a:ea typeface="Georgia" pitchFamily="34" charset="-122"/>
                <a:cs typeface="Georgia" pitchFamily="34" charset="-120"/>
              </a:rPr>
              <a:t>A city apartment</a:t>
            </a:r>
            <a:endParaRPr lang="en-US" sz="1550" dirty="0"/>
          </a:p>
        </p:txBody>
      </p:sp>
      <p:sp>
        <p:nvSpPr>
          <p:cNvPr id="12" name="Shape 8"/>
          <p:cNvSpPr/>
          <p:nvPr/>
        </p:nvSpPr>
        <p:spPr>
          <a:xfrm>
            <a:off x="6277356" y="1508760"/>
            <a:ext cx="2361438" cy="2103120"/>
          </a:xfrm>
          <a:prstGeom prst="rect">
            <a:avLst/>
          </a:prstGeom>
          <a:solidFill>
            <a:srgbClr val="FAF8F1"/>
          </a:solidFill>
          <a:ln w="9525">
            <a:solidFill>
              <a:srgbClr val="D9D4C4"/>
            </a:solidFill>
            <a:prstDash val="solid"/>
          </a:ln>
        </p:spPr>
      </p:sp>
      <p:pic>
        <p:nvPicPr>
          <p:cNvPr id="13" name="Image 2" descr="/Users/dogan/Documents/Vaults/Courses/wiki/classes/media-studies/decks/_build/img/loc-corridor.jpg">    </p:cNvPr>
          <p:cNvPicPr>
            <a:picLocks noChangeAspect="1"/>
          </p:cNvPicPr>
          <p:nvPr/>
        </p:nvPicPr>
        <p:blipFill>
          <a:blip r:embed="rId3"/>
          <a:stretch>
            <a:fillRect/>
          </a:stretch>
        </p:blipFill>
        <p:spPr>
          <a:xfrm>
            <a:off x="6350508" y="1988539"/>
            <a:ext cx="2215134" cy="1143563"/>
          </a:xfrm>
          <a:prstGeom prst="rect">
            <a:avLst/>
          </a:prstGeom>
        </p:spPr>
      </p:pic>
      <p:sp>
        <p:nvSpPr>
          <p:cNvPr id="14" name="Text 9"/>
          <p:cNvSpPr/>
          <p:nvPr/>
        </p:nvSpPr>
        <p:spPr>
          <a:xfrm>
            <a:off x="6277356" y="3657600"/>
            <a:ext cx="2361438" cy="365760"/>
          </a:xfrm>
          <a:prstGeom prst="rect">
            <a:avLst/>
          </a:prstGeom>
          <a:noFill/>
          <a:ln/>
        </p:spPr>
        <p:txBody>
          <a:bodyPr wrap="square" lIns="0" tIns="0" rIns="0" bIns="0" rtlCol="0" anchor="ctr"/>
          <a:lstStyle/>
          <a:p>
            <a:pPr algn="ctr" indent="0" marL="0">
              <a:buNone/>
            </a:pPr>
            <a:r>
              <a:rPr lang="en-US" sz="1550" dirty="0">
                <a:solidFill>
                  <a:srgbClr val="4A6B5D"/>
                </a:solidFill>
                <a:latin typeface="Georgia" pitchFamily="34" charset="0"/>
                <a:ea typeface="Georgia" pitchFamily="34" charset="-122"/>
                <a:cs typeface="Georgia" pitchFamily="34" charset="-120"/>
              </a:rPr>
              <a:t>An abandoned building</a:t>
            </a:r>
            <a:endParaRPr lang="en-US" sz="1550" dirty="0"/>
          </a:p>
        </p:txBody>
      </p:sp>
      <p:sp>
        <p:nvSpPr>
          <p:cNvPr id="15" name="Shape 10"/>
          <p:cNvSpPr/>
          <p:nvPr/>
        </p:nvSpPr>
        <p:spPr>
          <a:xfrm>
            <a:off x="9004554" y="1508760"/>
            <a:ext cx="2361438" cy="2103120"/>
          </a:xfrm>
          <a:prstGeom prst="rect">
            <a:avLst/>
          </a:prstGeom>
          <a:solidFill>
            <a:srgbClr val="FAF8F1"/>
          </a:solidFill>
          <a:ln w="9525">
            <a:solidFill>
              <a:srgbClr val="D9D4C4"/>
            </a:solidFill>
            <a:prstDash val="solid"/>
          </a:ln>
        </p:spPr>
      </p:sp>
      <p:pic>
        <p:nvPicPr>
          <p:cNvPr id="16" name="Image 3" descr="/Users/dogan/Documents/Vaults/Courses/wiki/classes/media-studies/decks/_build/img/loc-office.jpg">    </p:cNvPr>
          <p:cNvPicPr>
            <a:picLocks noChangeAspect="1"/>
          </p:cNvPicPr>
          <p:nvPr/>
        </p:nvPicPr>
        <p:blipFill>
          <a:blip r:embed="rId4"/>
          <a:stretch>
            <a:fillRect/>
          </a:stretch>
        </p:blipFill>
        <p:spPr>
          <a:xfrm>
            <a:off x="9077706" y="1821942"/>
            <a:ext cx="2215134" cy="1476756"/>
          </a:xfrm>
          <a:prstGeom prst="rect">
            <a:avLst/>
          </a:prstGeom>
        </p:spPr>
      </p:pic>
      <p:sp>
        <p:nvSpPr>
          <p:cNvPr id="17" name="Text 11"/>
          <p:cNvSpPr/>
          <p:nvPr/>
        </p:nvSpPr>
        <p:spPr>
          <a:xfrm>
            <a:off x="9004554" y="3657600"/>
            <a:ext cx="2361438" cy="365760"/>
          </a:xfrm>
          <a:prstGeom prst="rect">
            <a:avLst/>
          </a:prstGeom>
          <a:noFill/>
          <a:ln/>
        </p:spPr>
        <p:txBody>
          <a:bodyPr wrap="square" lIns="0" tIns="0" rIns="0" bIns="0" rtlCol="0" anchor="ctr"/>
          <a:lstStyle/>
          <a:p>
            <a:pPr algn="ctr" indent="0" marL="0">
              <a:buNone/>
            </a:pPr>
            <a:r>
              <a:rPr lang="en-US" sz="1550" dirty="0">
                <a:solidFill>
                  <a:srgbClr val="4A6B5D"/>
                </a:solidFill>
                <a:latin typeface="Georgia" pitchFamily="34" charset="0"/>
                <a:ea typeface="Georgia" pitchFamily="34" charset="-122"/>
                <a:cs typeface="Georgia" pitchFamily="34" charset="-120"/>
              </a:rPr>
              <a:t>An office</a:t>
            </a:r>
            <a:endParaRPr lang="en-US" sz="1550" dirty="0"/>
          </a:p>
        </p:txBody>
      </p:sp>
      <p:sp>
        <p:nvSpPr>
          <p:cNvPr id="18" name="Text 12"/>
          <p:cNvSpPr/>
          <p:nvPr/>
        </p:nvSpPr>
        <p:spPr>
          <a:xfrm>
            <a:off x="822960" y="4206240"/>
            <a:ext cx="10241280" cy="868680"/>
          </a:xfrm>
          <a:prstGeom prst="rect">
            <a:avLst/>
          </a:prstGeom>
          <a:noFill/>
          <a:ln/>
        </p:spPr>
        <p:txBody>
          <a:bodyPr wrap="square" lIns="0" tIns="0" rIns="0" bIns="0" rtlCol="0" anchor="t"/>
          <a:lstStyle/>
          <a:p>
            <a:pPr indent="0" marL="0">
              <a:lnSpc>
                <a:spcPts val="2200"/>
              </a:lnSpc>
              <a:buNone/>
            </a:pPr>
            <a:r>
              <a:rPr lang="en-US" sz="1600" dirty="0">
                <a:solidFill>
                  <a:srgbClr val="24313F"/>
                </a:solidFill>
                <a:latin typeface="Georgia" pitchFamily="34" charset="0"/>
                <a:ea typeface="Georgia" pitchFamily="34" charset="-122"/>
                <a:cs typeface="Georgia" pitchFamily="34" charset="-120"/>
              </a:rPr>
              <a:t>Each member takes one and describes it in detail: décor, colour, what is outside the window, furniture and properties. The group then names, for each, the genre and the character it has just implied.</a:t>
            </a:r>
            <a:endParaRPr lang="en-US" sz="1600" dirty="0"/>
          </a:p>
        </p:txBody>
      </p:sp>
      <p:sp>
        <p:nvSpPr>
          <p:cNvPr id="19" name="Shape 13"/>
          <p:cNvSpPr/>
          <p:nvPr/>
        </p:nvSpPr>
        <p:spPr>
          <a:xfrm>
            <a:off x="822960" y="5212080"/>
            <a:ext cx="914400" cy="0"/>
          </a:xfrm>
          <a:prstGeom prst="line">
            <a:avLst/>
          </a:prstGeom>
          <a:noFill/>
          <a:ln w="31750">
            <a:solidFill>
              <a:srgbClr val="8C3A38"/>
            </a:solidFill>
            <a:prstDash val="solid"/>
          </a:ln>
        </p:spPr>
      </p:sp>
      <p:sp>
        <p:nvSpPr>
          <p:cNvPr id="20" name="Text 14"/>
          <p:cNvSpPr/>
          <p:nvPr/>
        </p:nvSpPr>
        <p:spPr>
          <a:xfrm>
            <a:off x="822960" y="5376672"/>
            <a:ext cx="10241280" cy="457200"/>
          </a:xfrm>
          <a:prstGeom prst="rect">
            <a:avLst/>
          </a:prstGeom>
          <a:noFill/>
          <a:ln/>
        </p:spPr>
        <p:txBody>
          <a:bodyPr wrap="square" lIns="0" tIns="0" rIns="0" bIns="0" rtlCol="0" anchor="ctr"/>
          <a:lstStyle/>
          <a:p>
            <a:pPr indent="0" marL="0">
              <a:buNone/>
            </a:pPr>
            <a:r>
              <a:rPr lang="en-US" sz="1700" i="1" dirty="0">
                <a:solidFill>
                  <a:srgbClr val="4A6B5D"/>
                </a:solidFill>
                <a:latin typeface="Georgia" pitchFamily="34" charset="0"/>
                <a:ea typeface="Georgia" pitchFamily="34" charset="-122"/>
                <a:cs typeface="Georgia" pitchFamily="34" charset="-120"/>
              </a:rPr>
              <a:t>Nobody drew a person, and a person appeared anyway. Setting does character work before a character exists.</a:t>
            </a:r>
            <a:endParaRPr lang="en-US" sz="1700" dirty="0"/>
          </a:p>
        </p:txBody>
      </p:sp>
      <p:sp>
        <p:nvSpPr>
          <p:cNvPr id="21" name="Text 15"/>
          <p:cNvSpPr/>
          <p:nvPr/>
        </p:nvSpPr>
        <p:spPr>
          <a:xfrm>
            <a:off x="822960" y="5943600"/>
            <a:ext cx="10424160" cy="365760"/>
          </a:xfrm>
          <a:prstGeom prst="rect">
            <a:avLst/>
          </a:prstGeom>
          <a:noFill/>
          <a:ln/>
        </p:spPr>
        <p:txBody>
          <a:bodyPr wrap="square" lIns="0" tIns="0" rIns="0" bIns="0" rtlCol="0" anchor="ctr"/>
          <a:lstStyle/>
          <a:p>
            <a:pPr indent="0" marL="0">
              <a:buNone/>
            </a:pPr>
            <a:r>
              <a:rPr lang="en-US" sz="1150" dirty="0">
                <a:solidFill>
                  <a:srgbClr val="7A7F72"/>
                </a:solidFill>
                <a:latin typeface="Arial" pitchFamily="34" charset="0"/>
                <a:ea typeface="Arial" pitchFamily="34" charset="-122"/>
                <a:cs typeface="Arial" pitchFamily="34" charset="-120"/>
              </a:rPr>
              <a:t>Extension for fast finishers: the coursebook's revision podcast, defining each element and one example of how it builds meaning.</a:t>
            </a:r>
            <a:endParaRPr lang="en-US" sz="1150" dirty="0"/>
          </a:p>
        </p:txBody>
      </p:sp>
      <p:sp>
        <p:nvSpPr>
          <p:cNvPr id="22" name="Shape 16"/>
          <p:cNvSpPr/>
          <p:nvPr/>
        </p:nvSpPr>
        <p:spPr>
          <a:xfrm>
            <a:off x="822960" y="6382512"/>
            <a:ext cx="10543032" cy="0"/>
          </a:xfrm>
          <a:prstGeom prst="line">
            <a:avLst/>
          </a:prstGeom>
          <a:noFill/>
          <a:ln w="9525">
            <a:solidFill>
              <a:srgbClr val="D9D4C4"/>
            </a:solidFill>
            <a:prstDash val="solid"/>
          </a:ln>
        </p:spPr>
      </p:sp>
      <p:sp>
        <p:nvSpPr>
          <p:cNvPr id="23" name="Text 17"/>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24" name="Text 18"/>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08</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DELIVERABLE · CS5</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TUESDAY, TWENTY-FIVE MINUTES</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05840"/>
            <a:ext cx="10543032" cy="731520"/>
          </a:xfrm>
          <a:prstGeom prst="rect">
            <a:avLst/>
          </a:prstGeom>
          <a:noFill/>
          <a:ln/>
        </p:spPr>
        <p:txBody>
          <a:bodyPr wrap="square" lIns="0" tIns="0" rIns="0" bIns="0" rtlCol="0" anchor="ctr"/>
          <a:lstStyle/>
          <a:p>
            <a:pPr indent="0" marL="0">
              <a:buNone/>
            </a:pPr>
            <a:r>
              <a:rPr lang="en-US" sz="3400" dirty="0">
                <a:solidFill>
                  <a:srgbClr val="24313F"/>
                </a:solidFill>
                <a:latin typeface="Georgia" pitchFamily="34" charset="0"/>
                <a:ea typeface="Georgia" pitchFamily="34" charset="-122"/>
                <a:cs typeface="Georgia" pitchFamily="34" charset="-120"/>
              </a:rPr>
              <a:t>Six cells, six connotation lines</a:t>
            </a:r>
            <a:endParaRPr lang="en-US" sz="3400" dirty="0"/>
          </a:p>
        </p:txBody>
      </p:sp>
      <p:sp>
        <p:nvSpPr>
          <p:cNvPr id="6" name="Shape 4"/>
          <p:cNvSpPr/>
          <p:nvPr/>
        </p:nvSpPr>
        <p:spPr>
          <a:xfrm>
            <a:off x="822960" y="1965960"/>
            <a:ext cx="3270504" cy="1188720"/>
          </a:xfrm>
          <a:prstGeom prst="rect">
            <a:avLst/>
          </a:prstGeom>
          <a:solidFill>
            <a:srgbClr val="FAF8F1"/>
          </a:solidFill>
          <a:ln w="9525">
            <a:solidFill>
              <a:srgbClr val="D9D4C4"/>
            </a:solidFill>
            <a:prstDash val="solid"/>
          </a:ln>
        </p:spPr>
      </p:sp>
      <p:sp>
        <p:nvSpPr>
          <p:cNvPr id="7" name="Text 5"/>
          <p:cNvSpPr/>
          <p:nvPr/>
        </p:nvSpPr>
        <p:spPr>
          <a:xfrm>
            <a:off x="1005840" y="2075688"/>
            <a:ext cx="731520" cy="320040"/>
          </a:xfrm>
          <a:prstGeom prst="rect">
            <a:avLst/>
          </a:prstGeom>
          <a:noFill/>
          <a:ln/>
        </p:spPr>
        <p:txBody>
          <a:bodyPr wrap="square" lIns="0" tIns="0" rIns="0" bIns="0" rtlCol="0" anchor="ctr"/>
          <a:lstStyle/>
          <a:p>
            <a:pPr indent="0" marL="0">
              <a:buNone/>
            </a:pPr>
            <a:r>
              <a:rPr lang="en-US" sz="1800" dirty="0">
                <a:solidFill>
                  <a:srgbClr val="A3C1AD"/>
                </a:solidFill>
                <a:latin typeface="Georgia" pitchFamily="34" charset="0"/>
                <a:ea typeface="Georgia" pitchFamily="34" charset="-122"/>
                <a:cs typeface="Georgia" pitchFamily="34" charset="-120"/>
              </a:rPr>
              <a:t>01</a:t>
            </a:r>
            <a:endParaRPr lang="en-US" sz="1800" dirty="0"/>
          </a:p>
        </p:txBody>
      </p:sp>
      <p:sp>
        <p:nvSpPr>
          <p:cNvPr id="8" name="Text 6"/>
          <p:cNvSpPr/>
          <p:nvPr/>
        </p:nvSpPr>
        <p:spPr>
          <a:xfrm>
            <a:off x="1005840" y="2377440"/>
            <a:ext cx="2904744" cy="365760"/>
          </a:xfrm>
          <a:prstGeom prst="rect">
            <a:avLst/>
          </a:prstGeom>
          <a:noFill/>
          <a:ln/>
        </p:spPr>
        <p:txBody>
          <a:bodyPr wrap="square" lIns="0" tIns="0" rIns="0" bIns="0" rtlCol="0" anchor="ctr"/>
          <a:lstStyle/>
          <a:p>
            <a:pPr indent="0" marL="0">
              <a:buNone/>
            </a:pPr>
            <a:r>
              <a:rPr lang="en-US" sz="1900" dirty="0">
                <a:solidFill>
                  <a:srgbClr val="4A6B5D"/>
                </a:solidFill>
                <a:latin typeface="Georgia" pitchFamily="34" charset="0"/>
                <a:ea typeface="Georgia" pitchFamily="34" charset="-122"/>
                <a:cs typeface="Georgia" pitchFamily="34" charset="-120"/>
              </a:rPr>
              <a:t>Location</a:t>
            </a:r>
            <a:endParaRPr lang="en-US" sz="1900" dirty="0"/>
          </a:p>
        </p:txBody>
      </p:sp>
      <p:sp>
        <p:nvSpPr>
          <p:cNvPr id="9" name="Text 7"/>
          <p:cNvSpPr/>
          <p:nvPr/>
        </p:nvSpPr>
        <p:spPr>
          <a:xfrm>
            <a:off x="1005840" y="2743200"/>
            <a:ext cx="2904744" cy="329184"/>
          </a:xfrm>
          <a:prstGeom prst="rect">
            <a:avLst/>
          </a:prstGeom>
          <a:noFill/>
          <a:ln/>
        </p:spPr>
        <p:txBody>
          <a:bodyPr wrap="square" lIns="0" tIns="0" rIns="0" bIns="0" rtlCol="0" anchor="ctr"/>
          <a:lstStyle/>
          <a:p>
            <a:pPr indent="0" marL="0">
              <a:buNone/>
            </a:pPr>
            <a:r>
              <a:rPr lang="en-US" sz="1150" dirty="0">
                <a:solidFill>
                  <a:srgbClr val="7A7F72"/>
                </a:solidFill>
                <a:latin typeface="Arial" pitchFamily="34" charset="0"/>
                <a:ea typeface="Arial" pitchFamily="34" charset="-122"/>
                <a:cs typeface="Arial" pitchFamily="34" charset="-120"/>
              </a:rPr>
              <a:t>with the photograph you took</a:t>
            </a:r>
            <a:endParaRPr lang="en-US" sz="1150" dirty="0"/>
          </a:p>
        </p:txBody>
      </p:sp>
      <p:sp>
        <p:nvSpPr>
          <p:cNvPr id="10" name="Shape 8"/>
          <p:cNvSpPr/>
          <p:nvPr/>
        </p:nvSpPr>
        <p:spPr>
          <a:xfrm>
            <a:off x="4459224" y="1965960"/>
            <a:ext cx="3270504" cy="1188720"/>
          </a:xfrm>
          <a:prstGeom prst="rect">
            <a:avLst/>
          </a:prstGeom>
          <a:solidFill>
            <a:srgbClr val="FAF8F1"/>
          </a:solidFill>
          <a:ln w="9525">
            <a:solidFill>
              <a:srgbClr val="D9D4C4"/>
            </a:solidFill>
            <a:prstDash val="solid"/>
          </a:ln>
        </p:spPr>
      </p:sp>
      <p:sp>
        <p:nvSpPr>
          <p:cNvPr id="11" name="Text 9"/>
          <p:cNvSpPr/>
          <p:nvPr/>
        </p:nvSpPr>
        <p:spPr>
          <a:xfrm>
            <a:off x="4642104" y="2075688"/>
            <a:ext cx="731520" cy="320040"/>
          </a:xfrm>
          <a:prstGeom prst="rect">
            <a:avLst/>
          </a:prstGeom>
          <a:noFill/>
          <a:ln/>
        </p:spPr>
        <p:txBody>
          <a:bodyPr wrap="square" lIns="0" tIns="0" rIns="0" bIns="0" rtlCol="0" anchor="ctr"/>
          <a:lstStyle/>
          <a:p>
            <a:pPr indent="0" marL="0">
              <a:buNone/>
            </a:pPr>
            <a:r>
              <a:rPr lang="en-US" sz="1800" dirty="0">
                <a:solidFill>
                  <a:srgbClr val="A3C1AD"/>
                </a:solidFill>
                <a:latin typeface="Georgia" pitchFamily="34" charset="0"/>
                <a:ea typeface="Georgia" pitchFamily="34" charset="-122"/>
                <a:cs typeface="Georgia" pitchFamily="34" charset="-120"/>
              </a:rPr>
              <a:t>02</a:t>
            </a:r>
            <a:endParaRPr lang="en-US" sz="1800" dirty="0"/>
          </a:p>
        </p:txBody>
      </p:sp>
      <p:sp>
        <p:nvSpPr>
          <p:cNvPr id="12" name="Text 10"/>
          <p:cNvSpPr/>
          <p:nvPr/>
        </p:nvSpPr>
        <p:spPr>
          <a:xfrm>
            <a:off x="4642104" y="2377440"/>
            <a:ext cx="2904744" cy="365760"/>
          </a:xfrm>
          <a:prstGeom prst="rect">
            <a:avLst/>
          </a:prstGeom>
          <a:noFill/>
          <a:ln/>
        </p:spPr>
        <p:txBody>
          <a:bodyPr wrap="square" lIns="0" tIns="0" rIns="0" bIns="0" rtlCol="0" anchor="ctr"/>
          <a:lstStyle/>
          <a:p>
            <a:pPr indent="0" marL="0">
              <a:buNone/>
            </a:pPr>
            <a:r>
              <a:rPr lang="en-US" sz="1900" dirty="0">
                <a:solidFill>
                  <a:srgbClr val="4A6B5D"/>
                </a:solidFill>
                <a:latin typeface="Georgia" pitchFamily="34" charset="0"/>
                <a:ea typeface="Georgia" pitchFamily="34" charset="-122"/>
                <a:cs typeface="Georgia" pitchFamily="34" charset="-120"/>
              </a:rPr>
              <a:t>Costume</a:t>
            </a:r>
            <a:endParaRPr lang="en-US" sz="1900" dirty="0"/>
          </a:p>
        </p:txBody>
      </p:sp>
      <p:sp>
        <p:nvSpPr>
          <p:cNvPr id="13" name="Text 11"/>
          <p:cNvSpPr/>
          <p:nvPr/>
        </p:nvSpPr>
        <p:spPr>
          <a:xfrm>
            <a:off x="4642104" y="2743200"/>
            <a:ext cx="2904744" cy="329184"/>
          </a:xfrm>
          <a:prstGeom prst="rect">
            <a:avLst/>
          </a:prstGeom>
          <a:noFill/>
          <a:ln/>
        </p:spPr>
        <p:txBody>
          <a:bodyPr wrap="square" lIns="0" tIns="0" rIns="0" bIns="0" rtlCol="0" anchor="ctr"/>
          <a:lstStyle/>
          <a:p>
            <a:pPr indent="0" marL="0">
              <a:buNone/>
            </a:pPr>
            <a:r>
              <a:rPr lang="en-US" sz="1150" dirty="0">
                <a:solidFill>
                  <a:srgbClr val="7A7F72"/>
                </a:solidFill>
                <a:latin typeface="Arial" pitchFamily="34" charset="0"/>
                <a:ea typeface="Arial" pitchFamily="34" charset="-122"/>
                <a:cs typeface="Arial" pitchFamily="34" charset="-120"/>
              </a:rPr>
              <a:t>for one character</a:t>
            </a:r>
            <a:endParaRPr lang="en-US" sz="1150" dirty="0"/>
          </a:p>
        </p:txBody>
      </p:sp>
      <p:sp>
        <p:nvSpPr>
          <p:cNvPr id="14" name="Shape 12"/>
          <p:cNvSpPr/>
          <p:nvPr/>
        </p:nvSpPr>
        <p:spPr>
          <a:xfrm>
            <a:off x="8095488" y="1965960"/>
            <a:ext cx="3270504" cy="1188720"/>
          </a:xfrm>
          <a:prstGeom prst="rect">
            <a:avLst/>
          </a:prstGeom>
          <a:solidFill>
            <a:srgbClr val="FAF8F1"/>
          </a:solidFill>
          <a:ln w="9525">
            <a:solidFill>
              <a:srgbClr val="D9D4C4"/>
            </a:solidFill>
            <a:prstDash val="solid"/>
          </a:ln>
        </p:spPr>
      </p:sp>
      <p:sp>
        <p:nvSpPr>
          <p:cNvPr id="15" name="Text 13"/>
          <p:cNvSpPr/>
          <p:nvPr/>
        </p:nvSpPr>
        <p:spPr>
          <a:xfrm>
            <a:off x="8278368" y="2075688"/>
            <a:ext cx="731520" cy="320040"/>
          </a:xfrm>
          <a:prstGeom prst="rect">
            <a:avLst/>
          </a:prstGeom>
          <a:noFill/>
          <a:ln/>
        </p:spPr>
        <p:txBody>
          <a:bodyPr wrap="square" lIns="0" tIns="0" rIns="0" bIns="0" rtlCol="0" anchor="ctr"/>
          <a:lstStyle/>
          <a:p>
            <a:pPr indent="0" marL="0">
              <a:buNone/>
            </a:pPr>
            <a:r>
              <a:rPr lang="en-US" sz="1800" dirty="0">
                <a:solidFill>
                  <a:srgbClr val="A3C1AD"/>
                </a:solidFill>
                <a:latin typeface="Georgia" pitchFamily="34" charset="0"/>
                <a:ea typeface="Georgia" pitchFamily="34" charset="-122"/>
                <a:cs typeface="Georgia" pitchFamily="34" charset="-120"/>
              </a:rPr>
              <a:t>03</a:t>
            </a:r>
            <a:endParaRPr lang="en-US" sz="1800" dirty="0"/>
          </a:p>
        </p:txBody>
      </p:sp>
      <p:sp>
        <p:nvSpPr>
          <p:cNvPr id="16" name="Text 14"/>
          <p:cNvSpPr/>
          <p:nvPr/>
        </p:nvSpPr>
        <p:spPr>
          <a:xfrm>
            <a:off x="8278368" y="2377440"/>
            <a:ext cx="2904744" cy="365760"/>
          </a:xfrm>
          <a:prstGeom prst="rect">
            <a:avLst/>
          </a:prstGeom>
          <a:noFill/>
          <a:ln/>
        </p:spPr>
        <p:txBody>
          <a:bodyPr wrap="square" lIns="0" tIns="0" rIns="0" bIns="0" rtlCol="0" anchor="ctr"/>
          <a:lstStyle/>
          <a:p>
            <a:pPr indent="0" marL="0">
              <a:buNone/>
            </a:pPr>
            <a:r>
              <a:rPr lang="en-US" sz="1900" dirty="0">
                <a:solidFill>
                  <a:srgbClr val="4A6B5D"/>
                </a:solidFill>
                <a:latin typeface="Georgia" pitchFamily="34" charset="0"/>
                <a:ea typeface="Georgia" pitchFamily="34" charset="-122"/>
                <a:cs typeface="Georgia" pitchFamily="34" charset="-120"/>
              </a:rPr>
              <a:t>Two properties</a:t>
            </a:r>
            <a:endParaRPr lang="en-US" sz="1900" dirty="0"/>
          </a:p>
        </p:txBody>
      </p:sp>
      <p:sp>
        <p:nvSpPr>
          <p:cNvPr id="17" name="Text 15"/>
          <p:cNvSpPr/>
          <p:nvPr/>
        </p:nvSpPr>
        <p:spPr>
          <a:xfrm>
            <a:off x="8278368" y="2743200"/>
            <a:ext cx="2904744" cy="329184"/>
          </a:xfrm>
          <a:prstGeom prst="rect">
            <a:avLst/>
          </a:prstGeom>
          <a:noFill/>
          <a:ln/>
        </p:spPr>
        <p:txBody>
          <a:bodyPr wrap="square" lIns="0" tIns="0" rIns="0" bIns="0" rtlCol="0" anchor="ctr"/>
          <a:lstStyle/>
          <a:p>
            <a:pPr indent="0" marL="0">
              <a:buNone/>
            </a:pPr>
            <a:r>
              <a:rPr lang="en-US" sz="1150" dirty="0">
                <a:solidFill>
                  <a:srgbClr val="7A7F72"/>
                </a:solidFill>
                <a:latin typeface="Arial" pitchFamily="34" charset="0"/>
                <a:ea typeface="Arial" pitchFamily="34" charset="-122"/>
                <a:cs typeface="Arial" pitchFamily="34" charset="-120"/>
              </a:rPr>
              <a:t>that carry meaning</a:t>
            </a:r>
            <a:endParaRPr lang="en-US" sz="1150" dirty="0"/>
          </a:p>
        </p:txBody>
      </p:sp>
      <p:sp>
        <p:nvSpPr>
          <p:cNvPr id="18" name="Shape 16"/>
          <p:cNvSpPr/>
          <p:nvPr/>
        </p:nvSpPr>
        <p:spPr>
          <a:xfrm>
            <a:off x="822960" y="3383280"/>
            <a:ext cx="3270504" cy="1188720"/>
          </a:xfrm>
          <a:prstGeom prst="rect">
            <a:avLst/>
          </a:prstGeom>
          <a:solidFill>
            <a:srgbClr val="FAF8F1"/>
          </a:solidFill>
          <a:ln w="9525">
            <a:solidFill>
              <a:srgbClr val="D9D4C4"/>
            </a:solidFill>
            <a:prstDash val="solid"/>
          </a:ln>
        </p:spPr>
      </p:sp>
      <p:sp>
        <p:nvSpPr>
          <p:cNvPr id="19" name="Text 17"/>
          <p:cNvSpPr/>
          <p:nvPr/>
        </p:nvSpPr>
        <p:spPr>
          <a:xfrm>
            <a:off x="1005840" y="3493008"/>
            <a:ext cx="731520" cy="320040"/>
          </a:xfrm>
          <a:prstGeom prst="rect">
            <a:avLst/>
          </a:prstGeom>
          <a:noFill/>
          <a:ln/>
        </p:spPr>
        <p:txBody>
          <a:bodyPr wrap="square" lIns="0" tIns="0" rIns="0" bIns="0" rtlCol="0" anchor="ctr"/>
          <a:lstStyle/>
          <a:p>
            <a:pPr indent="0" marL="0">
              <a:buNone/>
            </a:pPr>
            <a:r>
              <a:rPr lang="en-US" sz="1800" dirty="0">
                <a:solidFill>
                  <a:srgbClr val="A3C1AD"/>
                </a:solidFill>
                <a:latin typeface="Georgia" pitchFamily="34" charset="0"/>
                <a:ea typeface="Georgia" pitchFamily="34" charset="-122"/>
                <a:cs typeface="Georgia" pitchFamily="34" charset="-120"/>
              </a:rPr>
              <a:t>04</a:t>
            </a:r>
            <a:endParaRPr lang="en-US" sz="1800" dirty="0"/>
          </a:p>
        </p:txBody>
      </p:sp>
      <p:sp>
        <p:nvSpPr>
          <p:cNvPr id="20" name="Text 18"/>
          <p:cNvSpPr/>
          <p:nvPr/>
        </p:nvSpPr>
        <p:spPr>
          <a:xfrm>
            <a:off x="1005840" y="3794760"/>
            <a:ext cx="2904744" cy="365760"/>
          </a:xfrm>
          <a:prstGeom prst="rect">
            <a:avLst/>
          </a:prstGeom>
          <a:noFill/>
          <a:ln/>
        </p:spPr>
        <p:txBody>
          <a:bodyPr wrap="square" lIns="0" tIns="0" rIns="0" bIns="0" rtlCol="0" anchor="ctr"/>
          <a:lstStyle/>
          <a:p>
            <a:pPr indent="0" marL="0">
              <a:buNone/>
            </a:pPr>
            <a:r>
              <a:rPr lang="en-US" sz="1900" dirty="0">
                <a:solidFill>
                  <a:srgbClr val="4A6B5D"/>
                </a:solidFill>
                <a:latin typeface="Georgia" pitchFamily="34" charset="0"/>
                <a:ea typeface="Georgia" pitchFamily="34" charset="-122"/>
                <a:cs typeface="Georgia" pitchFamily="34" charset="-120"/>
              </a:rPr>
              <a:t>Lighting plan</a:t>
            </a:r>
            <a:endParaRPr lang="en-US" sz="1900" dirty="0"/>
          </a:p>
        </p:txBody>
      </p:sp>
      <p:sp>
        <p:nvSpPr>
          <p:cNvPr id="21" name="Text 19"/>
          <p:cNvSpPr/>
          <p:nvPr/>
        </p:nvSpPr>
        <p:spPr>
          <a:xfrm>
            <a:off x="1005840" y="4160520"/>
            <a:ext cx="2904744" cy="329184"/>
          </a:xfrm>
          <a:prstGeom prst="rect">
            <a:avLst/>
          </a:prstGeom>
          <a:noFill/>
          <a:ln/>
        </p:spPr>
        <p:txBody>
          <a:bodyPr wrap="square" lIns="0" tIns="0" rIns="0" bIns="0" rtlCol="0" anchor="ctr"/>
          <a:lstStyle/>
          <a:p>
            <a:pPr indent="0" marL="0">
              <a:buNone/>
            </a:pPr>
            <a:r>
              <a:rPr lang="en-US" sz="1150" dirty="0">
                <a:solidFill>
                  <a:srgbClr val="7A7F72"/>
                </a:solidFill>
                <a:latin typeface="Arial" pitchFamily="34" charset="0"/>
                <a:ea typeface="Arial" pitchFamily="34" charset="-122"/>
                <a:cs typeface="Arial" pitchFamily="34" charset="-120"/>
              </a:rPr>
              <a:t>named by set-up and quality</a:t>
            </a:r>
            <a:endParaRPr lang="en-US" sz="1150" dirty="0"/>
          </a:p>
        </p:txBody>
      </p:sp>
      <p:sp>
        <p:nvSpPr>
          <p:cNvPr id="22" name="Shape 20"/>
          <p:cNvSpPr/>
          <p:nvPr/>
        </p:nvSpPr>
        <p:spPr>
          <a:xfrm>
            <a:off x="4459224" y="3383280"/>
            <a:ext cx="3270504" cy="1188720"/>
          </a:xfrm>
          <a:prstGeom prst="rect">
            <a:avLst/>
          </a:prstGeom>
          <a:solidFill>
            <a:srgbClr val="FAF8F1"/>
          </a:solidFill>
          <a:ln w="9525">
            <a:solidFill>
              <a:srgbClr val="D9D4C4"/>
            </a:solidFill>
            <a:prstDash val="solid"/>
          </a:ln>
        </p:spPr>
      </p:sp>
      <p:sp>
        <p:nvSpPr>
          <p:cNvPr id="23" name="Text 21"/>
          <p:cNvSpPr/>
          <p:nvPr/>
        </p:nvSpPr>
        <p:spPr>
          <a:xfrm>
            <a:off x="4642104" y="3493008"/>
            <a:ext cx="731520" cy="320040"/>
          </a:xfrm>
          <a:prstGeom prst="rect">
            <a:avLst/>
          </a:prstGeom>
          <a:noFill/>
          <a:ln/>
        </p:spPr>
        <p:txBody>
          <a:bodyPr wrap="square" lIns="0" tIns="0" rIns="0" bIns="0" rtlCol="0" anchor="ctr"/>
          <a:lstStyle/>
          <a:p>
            <a:pPr indent="0" marL="0">
              <a:buNone/>
            </a:pPr>
            <a:r>
              <a:rPr lang="en-US" sz="1800" dirty="0">
                <a:solidFill>
                  <a:srgbClr val="A3C1AD"/>
                </a:solidFill>
                <a:latin typeface="Georgia" pitchFamily="34" charset="0"/>
                <a:ea typeface="Georgia" pitchFamily="34" charset="-122"/>
                <a:cs typeface="Georgia" pitchFamily="34" charset="-120"/>
              </a:rPr>
              <a:t>05</a:t>
            </a:r>
            <a:endParaRPr lang="en-US" sz="1800" dirty="0"/>
          </a:p>
        </p:txBody>
      </p:sp>
      <p:sp>
        <p:nvSpPr>
          <p:cNvPr id="24" name="Text 22"/>
          <p:cNvSpPr/>
          <p:nvPr/>
        </p:nvSpPr>
        <p:spPr>
          <a:xfrm>
            <a:off x="4642104" y="3794760"/>
            <a:ext cx="2904744" cy="365760"/>
          </a:xfrm>
          <a:prstGeom prst="rect">
            <a:avLst/>
          </a:prstGeom>
          <a:noFill/>
          <a:ln/>
        </p:spPr>
        <p:txBody>
          <a:bodyPr wrap="square" lIns="0" tIns="0" rIns="0" bIns="0" rtlCol="0" anchor="ctr"/>
          <a:lstStyle/>
          <a:p>
            <a:pPr indent="0" marL="0">
              <a:buNone/>
            </a:pPr>
            <a:r>
              <a:rPr lang="en-US" sz="1900" dirty="0">
                <a:solidFill>
                  <a:srgbClr val="4A6B5D"/>
                </a:solidFill>
                <a:latin typeface="Georgia" pitchFamily="34" charset="0"/>
                <a:ea typeface="Georgia" pitchFamily="34" charset="-122"/>
                <a:cs typeface="Georgia" pitchFamily="34" charset="-120"/>
              </a:rPr>
              <a:t>Colour palette</a:t>
            </a:r>
            <a:endParaRPr lang="en-US" sz="1900" dirty="0"/>
          </a:p>
        </p:txBody>
      </p:sp>
      <p:sp>
        <p:nvSpPr>
          <p:cNvPr id="25" name="Text 23"/>
          <p:cNvSpPr/>
          <p:nvPr/>
        </p:nvSpPr>
        <p:spPr>
          <a:xfrm>
            <a:off x="4642104" y="4160520"/>
            <a:ext cx="2904744" cy="329184"/>
          </a:xfrm>
          <a:prstGeom prst="rect">
            <a:avLst/>
          </a:prstGeom>
          <a:noFill/>
          <a:ln/>
        </p:spPr>
        <p:txBody>
          <a:bodyPr wrap="square" lIns="0" tIns="0" rIns="0" bIns="0" rtlCol="0" anchor="ctr"/>
          <a:lstStyle/>
          <a:p>
            <a:pPr indent="0" marL="0">
              <a:buNone/>
            </a:pPr>
            <a:r>
              <a:rPr lang="en-US" sz="1150" dirty="0">
                <a:solidFill>
                  <a:srgbClr val="7A7F72"/>
                </a:solidFill>
                <a:latin typeface="Arial" pitchFamily="34" charset="0"/>
                <a:ea typeface="Arial" pitchFamily="34" charset="-122"/>
                <a:cs typeface="Arial" pitchFamily="34" charset="-120"/>
              </a:rPr>
              <a:t>three to five swatches</a:t>
            </a:r>
            <a:endParaRPr lang="en-US" sz="1150" dirty="0"/>
          </a:p>
        </p:txBody>
      </p:sp>
      <p:sp>
        <p:nvSpPr>
          <p:cNvPr id="26" name="Shape 24"/>
          <p:cNvSpPr/>
          <p:nvPr/>
        </p:nvSpPr>
        <p:spPr>
          <a:xfrm>
            <a:off x="8095488" y="3383280"/>
            <a:ext cx="3270504" cy="1188720"/>
          </a:xfrm>
          <a:prstGeom prst="rect">
            <a:avLst/>
          </a:prstGeom>
          <a:solidFill>
            <a:srgbClr val="FAF8F1"/>
          </a:solidFill>
          <a:ln w="9525">
            <a:solidFill>
              <a:srgbClr val="D9D4C4"/>
            </a:solidFill>
            <a:prstDash val="solid"/>
          </a:ln>
        </p:spPr>
      </p:sp>
      <p:sp>
        <p:nvSpPr>
          <p:cNvPr id="27" name="Text 25"/>
          <p:cNvSpPr/>
          <p:nvPr/>
        </p:nvSpPr>
        <p:spPr>
          <a:xfrm>
            <a:off x="8278368" y="3493008"/>
            <a:ext cx="731520" cy="320040"/>
          </a:xfrm>
          <a:prstGeom prst="rect">
            <a:avLst/>
          </a:prstGeom>
          <a:noFill/>
          <a:ln/>
        </p:spPr>
        <p:txBody>
          <a:bodyPr wrap="square" lIns="0" tIns="0" rIns="0" bIns="0" rtlCol="0" anchor="ctr"/>
          <a:lstStyle/>
          <a:p>
            <a:pPr indent="0" marL="0">
              <a:buNone/>
            </a:pPr>
            <a:r>
              <a:rPr lang="en-US" sz="1800" dirty="0">
                <a:solidFill>
                  <a:srgbClr val="A3C1AD"/>
                </a:solidFill>
                <a:latin typeface="Georgia" pitchFamily="34" charset="0"/>
                <a:ea typeface="Georgia" pitchFamily="34" charset="-122"/>
                <a:cs typeface="Georgia" pitchFamily="34" charset="-120"/>
              </a:rPr>
              <a:t>06</a:t>
            </a:r>
            <a:endParaRPr lang="en-US" sz="1800" dirty="0"/>
          </a:p>
        </p:txBody>
      </p:sp>
      <p:sp>
        <p:nvSpPr>
          <p:cNvPr id="28" name="Text 26"/>
          <p:cNvSpPr/>
          <p:nvPr/>
        </p:nvSpPr>
        <p:spPr>
          <a:xfrm>
            <a:off x="8278368" y="3794760"/>
            <a:ext cx="2904744" cy="365760"/>
          </a:xfrm>
          <a:prstGeom prst="rect">
            <a:avLst/>
          </a:prstGeom>
          <a:noFill/>
          <a:ln/>
        </p:spPr>
        <p:txBody>
          <a:bodyPr wrap="square" lIns="0" tIns="0" rIns="0" bIns="0" rtlCol="0" anchor="ctr"/>
          <a:lstStyle/>
          <a:p>
            <a:pPr indent="0" marL="0">
              <a:buNone/>
            </a:pPr>
            <a:r>
              <a:rPr lang="en-US" sz="1900" dirty="0">
                <a:solidFill>
                  <a:srgbClr val="4A6B5D"/>
                </a:solidFill>
                <a:latin typeface="Georgia" pitchFamily="34" charset="0"/>
                <a:ea typeface="Georgia" pitchFamily="34" charset="-122"/>
                <a:cs typeface="Georgia" pitchFamily="34" charset="-120"/>
              </a:rPr>
              <a:t>The claim</a:t>
            </a:r>
            <a:endParaRPr lang="en-US" sz="1900" dirty="0"/>
          </a:p>
        </p:txBody>
      </p:sp>
      <p:sp>
        <p:nvSpPr>
          <p:cNvPr id="29" name="Text 27"/>
          <p:cNvSpPr/>
          <p:nvPr/>
        </p:nvSpPr>
        <p:spPr>
          <a:xfrm>
            <a:off x="8278368" y="4160520"/>
            <a:ext cx="2904744" cy="329184"/>
          </a:xfrm>
          <a:prstGeom prst="rect">
            <a:avLst/>
          </a:prstGeom>
          <a:noFill/>
          <a:ln/>
        </p:spPr>
        <p:txBody>
          <a:bodyPr wrap="square" lIns="0" tIns="0" rIns="0" bIns="0" rtlCol="0" anchor="ctr"/>
          <a:lstStyle/>
          <a:p>
            <a:pPr indent="0" marL="0">
              <a:buNone/>
            </a:pPr>
            <a:r>
              <a:rPr lang="en-US" sz="1150" dirty="0">
                <a:solidFill>
                  <a:srgbClr val="7A7F72"/>
                </a:solidFill>
                <a:latin typeface="Arial" pitchFamily="34" charset="0"/>
                <a:ea typeface="Arial" pitchFamily="34" charset="-122"/>
                <a:cs typeface="Arial" pitchFamily="34" charset="-120"/>
              </a:rPr>
              <a:t>one sentence: what does this design say?</a:t>
            </a:r>
            <a:endParaRPr lang="en-US" sz="1150" dirty="0"/>
          </a:p>
        </p:txBody>
      </p:sp>
      <p:sp>
        <p:nvSpPr>
          <p:cNvPr id="30" name="Text 28"/>
          <p:cNvSpPr/>
          <p:nvPr/>
        </p:nvSpPr>
        <p:spPr>
          <a:xfrm>
            <a:off x="822960" y="5029200"/>
            <a:ext cx="10424160" cy="640080"/>
          </a:xfrm>
          <a:prstGeom prst="rect">
            <a:avLst/>
          </a:prstGeom>
          <a:noFill/>
          <a:ln/>
        </p:spPr>
        <p:txBody>
          <a:bodyPr wrap="square" lIns="0" tIns="0" rIns="0" bIns="0" rtlCol="0" anchor="t"/>
          <a:lstStyle/>
          <a:p>
            <a:pPr indent="0" marL="0">
              <a:lnSpc>
                <a:spcPts val="2200"/>
              </a:lnSpc>
              <a:buNone/>
            </a:pPr>
            <a:r>
              <a:rPr lang="en-US" sz="1650" i="1" dirty="0">
                <a:solidFill>
                  <a:srgbClr val="4A6B5D"/>
                </a:solidFill>
                <a:latin typeface="Georgia" pitchFamily="34" charset="0"/>
                <a:ea typeface="Georgia" pitchFamily="34" charset="-122"/>
                <a:cs typeface="Georgia" pitchFamily="34" charset="-120"/>
              </a:rPr>
              <a:t>This is not an exercise about Component 1. It is your group's C1 design document, dated on the blog, and the planning lock checks your costume and properties against it eight days from now.</a:t>
            </a:r>
            <a:endParaRPr lang="en-US" sz="1650" dirty="0"/>
          </a:p>
        </p:txBody>
      </p:sp>
      <p:sp>
        <p:nvSpPr>
          <p:cNvPr id="31" name="Shape 29"/>
          <p:cNvSpPr/>
          <p:nvPr/>
        </p:nvSpPr>
        <p:spPr>
          <a:xfrm>
            <a:off x="822960" y="6382512"/>
            <a:ext cx="10543032" cy="0"/>
          </a:xfrm>
          <a:prstGeom prst="line">
            <a:avLst/>
          </a:prstGeom>
          <a:noFill/>
          <a:ln w="9525">
            <a:solidFill>
              <a:srgbClr val="D9D4C4"/>
            </a:solidFill>
            <a:prstDash val="solid"/>
          </a:ln>
        </p:spPr>
      </p:sp>
      <p:sp>
        <p:nvSpPr>
          <p:cNvPr id="32" name="Text 30"/>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33" name="Text 31"/>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09</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8F1"/>
        </a:solidFill>
      </p:bgPr>
    </p:bg>
    <p:spTree>
      <p:nvGrpSpPr>
        <p:cNvPr id="1" name=""/>
        <p:cNvGrpSpPr/>
        <p:nvPr/>
      </p:nvGrpSpPr>
      <p:grpSpPr>
        <a:xfrm>
          <a:off x="0" y="0"/>
          <a:ext cx="0" cy="0"/>
          <a:chOff x="0" y="0"/>
          <a:chExt cx="0" cy="0"/>
        </a:xfrm>
      </p:grpSpPr>
      <p:sp>
        <p:nvSpPr>
          <p:cNvPr id="2" name="Text 0"/>
          <p:cNvSpPr/>
          <p:nvPr/>
        </p:nvSpPr>
        <p:spPr>
          <a:xfrm>
            <a:off x="822960" y="457200"/>
            <a:ext cx="6400800" cy="274320"/>
          </a:xfrm>
          <a:prstGeom prst="rect">
            <a:avLst/>
          </a:prstGeom>
          <a:noFill/>
          <a:ln/>
        </p:spPr>
        <p:txBody>
          <a:bodyPr wrap="square" lIns="0" tIns="0" rIns="0" bIns="0" rtlCol="0" anchor="ctr"/>
          <a:lstStyle/>
          <a:p>
            <a:pPr algn="l" indent="0" marL="0">
              <a:buNone/>
            </a:pPr>
            <a:r>
              <a:rPr lang="en-US" sz="1100" b="1" spc="250" kern="0" dirty="0">
                <a:solidFill>
                  <a:srgbClr val="4A6B5D"/>
                </a:solidFill>
                <a:latin typeface="Arial" pitchFamily="34" charset="0"/>
                <a:ea typeface="Arial" pitchFamily="34" charset="-122"/>
                <a:cs typeface="Arial" pitchFamily="34" charset="-120"/>
              </a:rPr>
              <a:t>WHY THIS ELEMENT PAYS</a:t>
            </a:r>
            <a:endParaRPr lang="en-US" sz="1100" dirty="0"/>
          </a:p>
        </p:txBody>
      </p:sp>
      <p:sp>
        <p:nvSpPr>
          <p:cNvPr id="3" name="Text 1"/>
          <p:cNvSpPr/>
          <p:nvPr/>
        </p:nvSpPr>
        <p:spPr>
          <a:xfrm>
            <a:off x="6793992" y="457200"/>
            <a:ext cx="4572000" cy="274320"/>
          </a:xfrm>
          <a:prstGeom prst="rect">
            <a:avLst/>
          </a:prstGeom>
          <a:noFill/>
          <a:ln/>
        </p:spPr>
        <p:txBody>
          <a:bodyPr wrap="square" lIns="0" tIns="0" rIns="0" bIns="0" rtlCol="0" anchor="ctr"/>
          <a:lstStyle/>
          <a:p>
            <a:pPr algn="r" indent="0" marL="0">
              <a:buNone/>
            </a:pPr>
            <a:r>
              <a:rPr lang="en-US" sz="1100" b="1" spc="250" kern="0" dirty="0">
                <a:solidFill>
                  <a:srgbClr val="7A7F72"/>
                </a:solidFill>
                <a:latin typeface="Arial" pitchFamily="34" charset="0"/>
                <a:ea typeface="Arial" pitchFamily="34" charset="-122"/>
                <a:cs typeface="Arial" pitchFamily="34" charset="-120"/>
              </a:rPr>
              <a:t>VISIBLE, NAMEABLE, DENSE WITH MEANING</a:t>
            </a:r>
            <a:endParaRPr lang="en-US" sz="1100" dirty="0"/>
          </a:p>
        </p:txBody>
      </p:sp>
      <p:sp>
        <p:nvSpPr>
          <p:cNvPr id="4" name="Shape 2"/>
          <p:cNvSpPr/>
          <p:nvPr/>
        </p:nvSpPr>
        <p:spPr>
          <a:xfrm>
            <a:off x="822960" y="786384"/>
            <a:ext cx="10543032" cy="0"/>
          </a:xfrm>
          <a:prstGeom prst="line">
            <a:avLst/>
          </a:prstGeom>
          <a:noFill/>
          <a:ln w="9525">
            <a:solidFill>
              <a:srgbClr val="D9D4C4"/>
            </a:solidFill>
            <a:prstDash val="solid"/>
          </a:ln>
        </p:spPr>
      </p:sp>
      <p:sp>
        <p:nvSpPr>
          <p:cNvPr id="5" name="Text 3"/>
          <p:cNvSpPr/>
          <p:nvPr/>
        </p:nvSpPr>
        <p:spPr>
          <a:xfrm>
            <a:off x="822960" y="1097280"/>
            <a:ext cx="10543032" cy="822960"/>
          </a:xfrm>
          <a:prstGeom prst="rect">
            <a:avLst/>
          </a:prstGeom>
          <a:noFill/>
          <a:ln/>
        </p:spPr>
        <p:txBody>
          <a:bodyPr wrap="square" lIns="0" tIns="0" rIns="0" bIns="0" rtlCol="0" anchor="ctr"/>
          <a:lstStyle/>
          <a:p>
            <a:pPr indent="0" marL="0">
              <a:buNone/>
            </a:pPr>
            <a:r>
              <a:rPr lang="en-US" sz="3400" dirty="0">
                <a:solidFill>
                  <a:srgbClr val="24313F"/>
                </a:solidFill>
                <a:latin typeface="Georgia" pitchFamily="34" charset="0"/>
                <a:ea typeface="Georgia" pitchFamily="34" charset="-122"/>
                <a:cs typeface="Georgia" pitchFamily="34" charset="-120"/>
              </a:rPr>
              <a:t>The one you can read without hearing a word</a:t>
            </a:r>
            <a:endParaRPr lang="en-US" sz="3400" dirty="0"/>
          </a:p>
        </p:txBody>
      </p:sp>
      <p:sp>
        <p:nvSpPr>
          <p:cNvPr id="6" name="Shape 4"/>
          <p:cNvSpPr/>
          <p:nvPr/>
        </p:nvSpPr>
        <p:spPr>
          <a:xfrm>
            <a:off x="822960" y="2286000"/>
            <a:ext cx="914400" cy="0"/>
          </a:xfrm>
          <a:prstGeom prst="line">
            <a:avLst/>
          </a:prstGeom>
          <a:noFill/>
          <a:ln w="31750">
            <a:solidFill>
              <a:srgbClr val="8C3A38"/>
            </a:solidFill>
            <a:prstDash val="solid"/>
          </a:ln>
        </p:spPr>
      </p:sp>
      <p:sp>
        <p:nvSpPr>
          <p:cNvPr id="7" name="Text 5"/>
          <p:cNvSpPr/>
          <p:nvPr/>
        </p:nvSpPr>
        <p:spPr>
          <a:xfrm>
            <a:off x="822960" y="2560320"/>
            <a:ext cx="10241280" cy="1828800"/>
          </a:xfrm>
          <a:prstGeom prst="rect">
            <a:avLst/>
          </a:prstGeom>
          <a:noFill/>
          <a:ln/>
        </p:spPr>
        <p:txBody>
          <a:bodyPr wrap="square" lIns="0" tIns="0" rIns="0" bIns="0" rtlCol="0" anchor="t"/>
          <a:lstStyle/>
          <a:p>
            <a:pPr indent="0" marL="0">
              <a:lnSpc>
                <a:spcPts val="2600"/>
              </a:lnSpc>
              <a:buNone/>
            </a:pPr>
            <a:r>
              <a:rPr lang="en-US" sz="1850" dirty="0">
                <a:solidFill>
                  <a:srgbClr val="24313F"/>
                </a:solidFill>
                <a:latin typeface="Georgia" pitchFamily="34" charset="0"/>
                <a:ea typeface="Georgia" pitchFamily="34" charset="-122"/>
                <a:cs typeface="Georgia" pitchFamily="34" charset="-120"/>
              </a:rPr>
              <a:t>Camera needs a moving frame and sound needs a good ear. Mise-en-scène sits still and waits to be described accurately. In an unseen extract played four times, it is the element you can bank before the pressure starts, and the one where a precise vocabulary shows fastest: not dark, but low key; not old-fashioned clothes, but a costume that dates the character against the room.</a:t>
            </a:r>
            <a:endParaRPr lang="en-US" sz="1850" dirty="0"/>
          </a:p>
        </p:txBody>
      </p:sp>
      <p:sp>
        <p:nvSpPr>
          <p:cNvPr id="8" name="Shape 6"/>
          <p:cNvSpPr/>
          <p:nvPr/>
        </p:nvSpPr>
        <p:spPr>
          <a:xfrm>
            <a:off x="822960" y="4526280"/>
            <a:ext cx="10543032" cy="914400"/>
          </a:xfrm>
          <a:prstGeom prst="rect">
            <a:avLst/>
          </a:prstGeom>
          <a:solidFill>
            <a:srgbClr val="E8EFE7"/>
          </a:solidFill>
          <a:ln/>
        </p:spPr>
      </p:sp>
      <p:sp>
        <p:nvSpPr>
          <p:cNvPr id="9" name="Text 7"/>
          <p:cNvSpPr/>
          <p:nvPr/>
        </p:nvSpPr>
        <p:spPr>
          <a:xfrm>
            <a:off x="1097280" y="4617720"/>
            <a:ext cx="9994392" cy="731520"/>
          </a:xfrm>
          <a:prstGeom prst="rect">
            <a:avLst/>
          </a:prstGeom>
          <a:noFill/>
          <a:ln/>
        </p:spPr>
        <p:txBody>
          <a:bodyPr wrap="square" lIns="0" tIns="0" rIns="0" bIns="0" rtlCol="0" anchor="ctr"/>
          <a:lstStyle/>
          <a:p>
            <a:pPr indent="0" marL="0">
              <a:buNone/>
            </a:pPr>
            <a:r>
              <a:rPr lang="en-US" sz="1650" i="1" dirty="0">
                <a:solidFill>
                  <a:srgbClr val="4A6B5D"/>
                </a:solidFill>
                <a:latin typeface="Georgia" pitchFamily="34" charset="0"/>
                <a:ea typeface="Georgia" pitchFamily="34" charset="-122"/>
                <a:cs typeface="Georgia" pitchFamily="34" charset="-120"/>
              </a:rPr>
              <a:t>Carries forward: the Component 3 print task and website home page in Grade 12 are mise-en-scène problems before they are anything else.</a:t>
            </a:r>
            <a:endParaRPr lang="en-US" sz="1650" dirty="0"/>
          </a:p>
        </p:txBody>
      </p:sp>
      <p:sp>
        <p:nvSpPr>
          <p:cNvPr id="10" name="Shape 8"/>
          <p:cNvSpPr/>
          <p:nvPr/>
        </p:nvSpPr>
        <p:spPr>
          <a:xfrm>
            <a:off x="822960" y="6382512"/>
            <a:ext cx="10543032" cy="0"/>
          </a:xfrm>
          <a:prstGeom prst="line">
            <a:avLst/>
          </a:prstGeom>
          <a:noFill/>
          <a:ln w="9525">
            <a:solidFill>
              <a:srgbClr val="D9D4C4"/>
            </a:solidFill>
            <a:prstDash val="solid"/>
          </a:ln>
        </p:spPr>
      </p:sp>
      <p:sp>
        <p:nvSpPr>
          <p:cNvPr id="11" name="Text 9"/>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7A7F72"/>
                </a:solidFill>
                <a:latin typeface="Arial" pitchFamily="34" charset="0"/>
                <a:ea typeface="Arial" pitchFamily="34" charset="-122"/>
                <a:cs typeface="Arial" pitchFamily="34" charset="-120"/>
              </a:rPr>
              <a:t>MEDIA STUDIES 9607 · SEMESTER I</a:t>
            </a:r>
            <a:endParaRPr lang="en-US" sz="900" dirty="0"/>
          </a:p>
        </p:txBody>
      </p:sp>
      <p:sp>
        <p:nvSpPr>
          <p:cNvPr id="12" name="Text 10"/>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A3C1AD"/>
                </a:solidFill>
                <a:latin typeface="Georgia" pitchFamily="34" charset="0"/>
                <a:ea typeface="Georgia" pitchFamily="34" charset="-122"/>
                <a:cs typeface="Georgia" pitchFamily="34" charset="-120"/>
              </a:rPr>
              <a:t>10</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4A6B5D"/>
        </a:solidFill>
      </p:bgPr>
    </p:bg>
    <p:spTree>
      <p:nvGrpSpPr>
        <p:cNvPr id="1" name=""/>
        <p:cNvGrpSpPr/>
        <p:nvPr/>
      </p:nvGrpSpPr>
      <p:grpSpPr>
        <a:xfrm>
          <a:off x="0" y="0"/>
          <a:ext cx="0" cy="0"/>
          <a:chOff x="0" y="0"/>
          <a:chExt cx="0" cy="0"/>
        </a:xfrm>
      </p:grpSpPr>
      <p:sp>
        <p:nvSpPr>
          <p:cNvPr id="2" name="Text 0"/>
          <p:cNvSpPr/>
          <p:nvPr/>
        </p:nvSpPr>
        <p:spPr>
          <a:xfrm>
            <a:off x="822960" y="2148840"/>
            <a:ext cx="5486400" cy="274320"/>
          </a:xfrm>
          <a:prstGeom prst="rect">
            <a:avLst/>
          </a:prstGeom>
          <a:noFill/>
          <a:ln/>
        </p:spPr>
        <p:txBody>
          <a:bodyPr wrap="square" lIns="0" tIns="0" rIns="0" bIns="0" rtlCol="0" anchor="ctr"/>
          <a:lstStyle/>
          <a:p>
            <a:pPr algn="l" indent="0" marL="0">
              <a:buNone/>
            </a:pPr>
            <a:r>
              <a:rPr lang="en-US" sz="1100" b="1" spc="250" kern="0" dirty="0">
                <a:solidFill>
                  <a:srgbClr val="FAF8F1"/>
                </a:solidFill>
                <a:latin typeface="Arial" pitchFamily="34" charset="0"/>
                <a:ea typeface="Arial" pitchFamily="34" charset="-122"/>
                <a:cs typeface="Arial" pitchFamily="34" charset="-120"/>
              </a:rPr>
              <a:t>NEXT</a:t>
            </a:r>
            <a:endParaRPr lang="en-US" sz="1100" dirty="0"/>
          </a:p>
        </p:txBody>
      </p:sp>
      <p:sp>
        <p:nvSpPr>
          <p:cNvPr id="3" name="Shape 1"/>
          <p:cNvSpPr/>
          <p:nvPr/>
        </p:nvSpPr>
        <p:spPr>
          <a:xfrm>
            <a:off x="822960" y="2514600"/>
            <a:ext cx="3108960" cy="0"/>
          </a:xfrm>
          <a:prstGeom prst="line">
            <a:avLst/>
          </a:prstGeom>
          <a:noFill/>
          <a:ln w="9525">
            <a:solidFill>
              <a:srgbClr val="8AA394"/>
            </a:solidFill>
            <a:prstDash val="solid"/>
          </a:ln>
        </p:spPr>
      </p:sp>
      <p:sp>
        <p:nvSpPr>
          <p:cNvPr id="4" name="Text 2"/>
          <p:cNvSpPr/>
          <p:nvPr/>
        </p:nvSpPr>
        <p:spPr>
          <a:xfrm>
            <a:off x="822960" y="2651760"/>
            <a:ext cx="10241280" cy="1920240"/>
          </a:xfrm>
          <a:prstGeom prst="rect">
            <a:avLst/>
          </a:prstGeom>
          <a:noFill/>
          <a:ln/>
        </p:spPr>
        <p:txBody>
          <a:bodyPr wrap="square" lIns="0" tIns="0" rIns="0" bIns="0" rtlCol="0" anchor="t"/>
          <a:lstStyle/>
          <a:p>
            <a:pPr indent="0" marL="0">
              <a:lnSpc>
                <a:spcPts val="6200"/>
              </a:lnSpc>
              <a:buNone/>
            </a:pPr>
            <a:r>
              <a:rPr lang="en-US" sz="6200" dirty="0">
                <a:solidFill>
                  <a:srgbClr val="FAF8F1"/>
                </a:solidFill>
                <a:latin typeface="Georgia" pitchFamily="34" charset="0"/>
                <a:ea typeface="Georgia" pitchFamily="34" charset="-122"/>
                <a:cs typeface="Georgia" pitchFamily="34" charset="-120"/>
              </a:rPr>
              <a:t>Editing</a:t>
            </a:r>
            <a:endParaRPr lang="en-US" sz="6200" dirty="0"/>
          </a:p>
        </p:txBody>
      </p:sp>
      <p:sp>
        <p:nvSpPr>
          <p:cNvPr id="5" name="Text 3"/>
          <p:cNvSpPr/>
          <p:nvPr/>
        </p:nvSpPr>
        <p:spPr>
          <a:xfrm>
            <a:off x="822960" y="4480560"/>
            <a:ext cx="10241280" cy="822960"/>
          </a:xfrm>
          <a:prstGeom prst="rect">
            <a:avLst/>
          </a:prstGeom>
          <a:noFill/>
          <a:ln/>
        </p:spPr>
        <p:txBody>
          <a:bodyPr wrap="square" lIns="0" tIns="0" rIns="0" bIns="0" rtlCol="0" anchor="t"/>
          <a:lstStyle/>
          <a:p>
            <a:pPr indent="0" marL="0">
              <a:lnSpc>
                <a:spcPts val="2800"/>
              </a:lnSpc>
              <a:buNone/>
            </a:pPr>
            <a:r>
              <a:rPr lang="en-US" sz="2200" i="1" dirty="0">
                <a:solidFill>
                  <a:srgbClr val="E8EFE7"/>
                </a:solidFill>
                <a:latin typeface="Georgia" pitchFamily="34" charset="0"/>
                <a:ea typeface="Georgia" pitchFamily="34" charset="-122"/>
                <a:cs typeface="Georgia" pitchFamily="34" charset="-120"/>
              </a:rPr>
              <a:t>Lesson 06. The system that hides itself, made visible by breaking it on purpose.</a:t>
            </a:r>
            <a:endParaRPr lang="en-US" sz="2200" dirty="0"/>
          </a:p>
        </p:txBody>
      </p:sp>
      <p:sp>
        <p:nvSpPr>
          <p:cNvPr id="6" name="Shape 4"/>
          <p:cNvSpPr/>
          <p:nvPr/>
        </p:nvSpPr>
        <p:spPr>
          <a:xfrm>
            <a:off x="822960" y="6382512"/>
            <a:ext cx="10543032" cy="0"/>
          </a:xfrm>
          <a:prstGeom prst="line">
            <a:avLst/>
          </a:prstGeom>
          <a:noFill/>
          <a:ln w="9525">
            <a:solidFill>
              <a:srgbClr val="6E8A7C"/>
            </a:solidFill>
            <a:prstDash val="solid"/>
          </a:ln>
        </p:spPr>
      </p:sp>
      <p:sp>
        <p:nvSpPr>
          <p:cNvPr id="7" name="Text 5"/>
          <p:cNvSpPr/>
          <p:nvPr/>
        </p:nvSpPr>
        <p:spPr>
          <a:xfrm>
            <a:off x="822960" y="6419088"/>
            <a:ext cx="7315200" cy="274320"/>
          </a:xfrm>
          <a:prstGeom prst="rect">
            <a:avLst/>
          </a:prstGeom>
          <a:noFill/>
          <a:ln/>
        </p:spPr>
        <p:txBody>
          <a:bodyPr wrap="square" lIns="0" tIns="0" rIns="0" bIns="0" rtlCol="0" anchor="ctr"/>
          <a:lstStyle/>
          <a:p>
            <a:pPr indent="0" marL="0">
              <a:buNone/>
            </a:pPr>
            <a:r>
              <a:rPr lang="en-US" sz="900" spc="150" kern="0" dirty="0">
                <a:solidFill>
                  <a:srgbClr val="E8EFE7"/>
                </a:solidFill>
                <a:latin typeface="Arial" pitchFamily="34" charset="0"/>
                <a:ea typeface="Arial" pitchFamily="34" charset="-122"/>
                <a:cs typeface="Arial" pitchFamily="34" charset="-120"/>
              </a:rPr>
              <a:t>MEDIA STUDIES 9607 · SEMESTER I</a:t>
            </a:r>
            <a:endParaRPr lang="en-US" sz="900" dirty="0"/>
          </a:p>
        </p:txBody>
      </p:sp>
      <p:sp>
        <p:nvSpPr>
          <p:cNvPr id="8" name="Text 6"/>
          <p:cNvSpPr/>
          <p:nvPr/>
        </p:nvSpPr>
        <p:spPr>
          <a:xfrm>
            <a:off x="10268712" y="6355080"/>
            <a:ext cx="1097280" cy="365760"/>
          </a:xfrm>
          <a:prstGeom prst="rect">
            <a:avLst/>
          </a:prstGeom>
          <a:noFill/>
          <a:ln/>
        </p:spPr>
        <p:txBody>
          <a:bodyPr wrap="square" lIns="0" tIns="0" rIns="0" bIns="0" rtlCol="0" anchor="ctr"/>
          <a:lstStyle/>
          <a:p>
            <a:pPr algn="r" indent="0" marL="0">
              <a:buNone/>
            </a:pPr>
            <a:r>
              <a:rPr lang="en-US" sz="1600" dirty="0">
                <a:solidFill>
                  <a:srgbClr val="E8EFE7"/>
                </a:solidFill>
                <a:latin typeface="Georgia" pitchFamily="34" charset="0"/>
                <a:ea typeface="Georgia" pitchFamily="34" charset="-122"/>
                <a:cs typeface="Georgia" pitchFamily="34" charset="-120"/>
              </a:rPr>
              <a:t>11</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2026-08-24T08:50:00Z</dcterms:created>
  <dcterms:modified xsi:type="dcterms:W3CDTF">2026-08-24T08:50:00Z</dcterms:modified>
</cp:coreProperties>
</file>