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highest-yield element for ESL learners: costume, lighting and colour are visible, nameable and thick with connotation, and none of it requires hearing dialogue at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them did. That is the whole definition, arrived at by the class rather than given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acting boundary once, plainly, then police it in marking. Students who have done drama will reach for performance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torch demo, live: one volunteer, lights off, four positions in sequence. The room names the effect before the term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as a design brief: where is this, what is everyone wearing and why, which objects are load-bearing, and who does the arrangement of the room privilege. Then ask the same four questions of their own opening. Every element in the frame was built or placed; nothing was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412480" y="822960"/>
            <a:ext cx="301752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V</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7498080" cy="2377440"/>
          </a:xfrm>
          <a:prstGeom prst="rect">
            <a:avLst/>
          </a:prstGeom>
          <a:noFill/>
          <a:ln/>
        </p:spPr>
        <p:txBody>
          <a:bodyPr wrap="square" lIns="0" tIns="0" rIns="0" bIns="0" rtlCol="0" anchor="t"/>
          <a:lstStyle/>
          <a:p>
            <a:pPr indent="0" marL="0">
              <a:lnSpc>
                <a:spcPts val="6600"/>
              </a:lnSpc>
              <a:buNone/>
            </a:pPr>
            <a:r>
              <a:rPr lang="en-US" sz="6200" dirty="0">
                <a:solidFill>
                  <a:srgbClr val="24313F"/>
                </a:solidFill>
                <a:latin typeface="Georgia" pitchFamily="34" charset="0"/>
                <a:ea typeface="Georgia" pitchFamily="34" charset="-122"/>
                <a:cs typeface="Georgia" pitchFamily="34" charset="-120"/>
              </a:rPr>
              <a:t>Mise-en-scène</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05 of 19</a:t>
            </a:r>
            <a:endParaRPr lang="en-US" sz="2200" dirty="0"/>
          </a:p>
        </p:txBody>
      </p:sp>
      <p:sp>
        <p:nvSpPr>
          <p:cNvPr id="7" name="Text 5"/>
          <p:cNvSpPr/>
          <p:nvPr/>
        </p:nvSpPr>
        <p:spPr>
          <a:xfrm>
            <a:off x="822960" y="5029200"/>
            <a:ext cx="96012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Monday 21 to Tuesday 22 September  ·  third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0" y="640080"/>
            <a:ext cx="338328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V</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STARTER</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43200"/>
            <a:ext cx="7315200" cy="2377440"/>
          </a:xfrm>
          <a:prstGeom prst="rect">
            <a:avLst/>
          </a:prstGeom>
          <a:noFill/>
          <a:ln/>
        </p:spPr>
        <p:txBody>
          <a:bodyPr wrap="square" lIns="0" tIns="0" rIns="0" bIns="0" rtlCol="0" anchor="t"/>
          <a:lstStyle/>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List ten things you</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can see. Now: which</a:t>
            </a:r>
            <a:endParaRPr lang="en-US" sz="4000" dirty="0"/>
          </a:p>
          <a:p>
            <a:pPr indent="0" marL="0">
              <a:lnSpc>
                <a:spcPts val="4800"/>
              </a:lnSpc>
              <a:buNone/>
            </a:pPr>
            <a:r>
              <a:rPr lang="en-US" sz="4000" dirty="0">
                <a:solidFill>
                  <a:srgbClr val="FAF8F1"/>
                </a:solidFill>
                <a:latin typeface="Georgia" pitchFamily="34" charset="0"/>
                <a:ea typeface="Georgia" pitchFamily="34" charset="-122"/>
                <a:cs typeface="Georgia" pitchFamily="34" charset="-120"/>
              </a:rPr>
              <a:t>got there by accident?</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SYLLABUS LIST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NO ADDITIONS, AND ONE HARD EXCLUSION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counts as mise-en-scène</a:t>
            </a:r>
            <a:endParaRPr lang="en-US" sz="3200" dirty="0"/>
          </a:p>
        </p:txBody>
      </p:sp>
      <p:sp>
        <p:nvSpPr>
          <p:cNvPr id="6" name="Text 4"/>
          <p:cNvSpPr/>
          <p:nvPr/>
        </p:nvSpPr>
        <p:spPr>
          <a:xfrm>
            <a:off x="822960"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Production design</a:t>
            </a:r>
            <a:endParaRPr lang="en-US" sz="2200" dirty="0"/>
          </a:p>
        </p:txBody>
      </p:sp>
      <p:sp>
        <p:nvSpPr>
          <p:cNvPr id="7" name="Shape 5"/>
          <p:cNvSpPr/>
          <p:nvPr/>
        </p:nvSpPr>
        <p:spPr>
          <a:xfrm>
            <a:off x="822960" y="2377440"/>
            <a:ext cx="3209544" cy="0"/>
          </a:xfrm>
          <a:prstGeom prst="line">
            <a:avLst/>
          </a:prstGeom>
          <a:noFill/>
          <a:ln w="9525">
            <a:solidFill>
              <a:srgbClr val="D9D4C4"/>
            </a:solidFill>
            <a:prstDash val="solid"/>
          </a:ln>
        </p:spPr>
      </p:sp>
      <p:sp>
        <p:nvSpPr>
          <p:cNvPr id="8" name="Text 6"/>
          <p:cNvSpPr/>
          <p:nvPr/>
        </p:nvSpPr>
        <p:spPr>
          <a:xfrm>
            <a:off x="822960"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location  ·  studio  ·  set design</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costume and make-up  ·  properties</a:t>
            </a:r>
            <a:endParaRPr lang="en-US" sz="1650" dirty="0"/>
          </a:p>
        </p:txBody>
      </p:sp>
      <p:sp>
        <p:nvSpPr>
          <p:cNvPr id="9" name="Text 7"/>
          <p:cNvSpPr/>
          <p:nvPr/>
        </p:nvSpPr>
        <p:spPr>
          <a:xfrm>
            <a:off x="4489704"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Lighting</a:t>
            </a:r>
            <a:endParaRPr lang="en-US" sz="2200" dirty="0"/>
          </a:p>
        </p:txBody>
      </p:sp>
      <p:sp>
        <p:nvSpPr>
          <p:cNvPr id="10" name="Shape 8"/>
          <p:cNvSpPr/>
          <p:nvPr/>
        </p:nvSpPr>
        <p:spPr>
          <a:xfrm>
            <a:off x="4489704" y="2377440"/>
            <a:ext cx="3209544" cy="0"/>
          </a:xfrm>
          <a:prstGeom prst="line">
            <a:avLst/>
          </a:prstGeom>
          <a:noFill/>
          <a:ln w="9525">
            <a:solidFill>
              <a:srgbClr val="D9D4C4"/>
            </a:solidFill>
            <a:prstDash val="solid"/>
          </a:ln>
        </p:spPr>
      </p:sp>
      <p:sp>
        <p:nvSpPr>
          <p:cNvPr id="11" name="Text 9"/>
          <p:cNvSpPr/>
          <p:nvPr/>
        </p:nvSpPr>
        <p:spPr>
          <a:xfrm>
            <a:off x="4489704"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direction  ·  quality  ·  contrast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high key  ·  low key</a:t>
            </a:r>
            <a:endParaRPr lang="en-US" sz="1650" dirty="0"/>
          </a:p>
        </p:txBody>
      </p:sp>
      <p:sp>
        <p:nvSpPr>
          <p:cNvPr id="12" name="Text 10"/>
          <p:cNvSpPr/>
          <p:nvPr/>
        </p:nvSpPr>
        <p:spPr>
          <a:xfrm>
            <a:off x="8156448" y="1828800"/>
            <a:ext cx="3209544"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Colour design</a:t>
            </a:r>
            <a:endParaRPr lang="en-US" sz="2200" dirty="0"/>
          </a:p>
        </p:txBody>
      </p:sp>
      <p:sp>
        <p:nvSpPr>
          <p:cNvPr id="13" name="Shape 11"/>
          <p:cNvSpPr/>
          <p:nvPr/>
        </p:nvSpPr>
        <p:spPr>
          <a:xfrm>
            <a:off x="8156448" y="2377440"/>
            <a:ext cx="3209544" cy="0"/>
          </a:xfrm>
          <a:prstGeom prst="line">
            <a:avLst/>
          </a:prstGeom>
          <a:noFill/>
          <a:ln w="9525">
            <a:solidFill>
              <a:srgbClr val="D9D4C4"/>
            </a:solidFill>
            <a:prstDash val="solid"/>
          </a:ln>
        </p:spPr>
      </p:sp>
      <p:sp>
        <p:nvSpPr>
          <p:cNvPr id="14" name="Text 12"/>
          <p:cNvSpPr/>
          <p:nvPr/>
        </p:nvSpPr>
        <p:spPr>
          <a:xfrm>
            <a:off x="8156448" y="2542032"/>
            <a:ext cx="3209544" cy="13716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palette  ·  repetition  ·  assignment</a:t>
            </a:r>
            <a:endParaRPr lang="en-US" sz="1650" dirty="0"/>
          </a:p>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shift that marks a turn</a:t>
            </a:r>
            <a:endParaRPr lang="en-US" sz="1650" dirty="0"/>
          </a:p>
        </p:txBody>
      </p:sp>
      <p:sp>
        <p:nvSpPr>
          <p:cNvPr id="15" name="Shape 13"/>
          <p:cNvSpPr/>
          <p:nvPr/>
        </p:nvSpPr>
        <p:spPr>
          <a:xfrm>
            <a:off x="822960" y="4114800"/>
            <a:ext cx="10543032" cy="1234440"/>
          </a:xfrm>
          <a:prstGeom prst="rect">
            <a:avLst/>
          </a:prstGeom>
          <a:solidFill>
            <a:srgbClr val="E8EFE7"/>
          </a:solidFill>
          <a:ln/>
        </p:spPr>
      </p:sp>
      <p:sp>
        <p:nvSpPr>
          <p:cNvPr id="16" name="Text 14"/>
          <p:cNvSpPr/>
          <p:nvPr/>
        </p:nvSpPr>
        <p:spPr>
          <a:xfrm>
            <a:off x="1097280" y="4251960"/>
            <a:ext cx="9994392" cy="960120"/>
          </a:xfrm>
          <a:prstGeom prst="rect">
            <a:avLst/>
          </a:prstGeom>
          <a:noFill/>
          <a:ln/>
        </p:spPr>
        <p:txBody>
          <a:bodyPr wrap="square" lIns="0" tIns="0" rIns="0" bIns="0" rtlCol="0" anchor="ctr"/>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Not on the list, and candidates cross this line every year: acting and performance. The syllabus states that acting is not a skill assessed in media studies. Write about what was placed in the frame, not how it was played.</a:t>
            </a:r>
            <a:endParaRPr lang="en-US" sz="1750" dirty="0"/>
          </a:p>
        </p:txBody>
      </p:sp>
      <p:sp>
        <p:nvSpPr>
          <p:cNvPr id="17" name="Shape 15"/>
          <p:cNvSpPr/>
          <p:nvPr/>
        </p:nvSpPr>
        <p:spPr>
          <a:xfrm>
            <a:off x="822960" y="6382512"/>
            <a:ext cx="10543032" cy="0"/>
          </a:xfrm>
          <a:prstGeom prst="line">
            <a:avLst/>
          </a:prstGeom>
          <a:noFill/>
          <a:ln w="9525">
            <a:solidFill>
              <a:srgbClr val="D9D4C4"/>
            </a:solidFill>
            <a:prstDash val="solid"/>
          </a:ln>
        </p:spPr>
      </p:sp>
      <p:sp>
        <p:nvSpPr>
          <p:cNvPr id="18"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9"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600"/>
              </a:lnSpc>
              <a:buNone/>
            </a:pPr>
            <a:r>
              <a:rPr lang="en-US" sz="3600" dirty="0">
                <a:solidFill>
                  <a:srgbClr val="24313F"/>
                </a:solidFill>
                <a:latin typeface="Georgia" pitchFamily="34" charset="0"/>
                <a:ea typeface="Georgia" pitchFamily="34" charset="-122"/>
                <a:cs typeface="Georgia" pitchFamily="34" charset="-120"/>
              </a:rPr>
              <a:t>Stills from particular films can be used for mise-en-scène analysis and recorded in the blog as evidence of research.</a:t>
            </a:r>
            <a:endParaRPr lang="en-US" sz="36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caravaggio-matthew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822960" y="82296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LIGHTING · DIRECTION AND CONTRAST</a:t>
            </a:r>
            <a:endParaRPr lang="en-US" sz="1100" dirty="0"/>
          </a:p>
        </p:txBody>
      </p:sp>
      <p:sp>
        <p:nvSpPr>
          <p:cNvPr id="4" name="Shape 1"/>
          <p:cNvSpPr/>
          <p:nvPr/>
        </p:nvSpPr>
        <p:spPr>
          <a:xfrm>
            <a:off x="822960" y="1188720"/>
            <a:ext cx="6400800" cy="0"/>
          </a:xfrm>
          <a:prstGeom prst="line">
            <a:avLst/>
          </a:prstGeom>
          <a:noFill/>
          <a:ln w="9525">
            <a:solidFill>
              <a:srgbClr val="D9D4C4"/>
            </a:solidFill>
            <a:prstDash val="solid"/>
          </a:ln>
        </p:spPr>
      </p:sp>
      <p:sp>
        <p:nvSpPr>
          <p:cNvPr id="5" name="Text 2"/>
          <p:cNvSpPr/>
          <p:nvPr/>
        </p:nvSpPr>
        <p:spPr>
          <a:xfrm>
            <a:off x="822960" y="1371600"/>
            <a:ext cx="6400800" cy="82296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One window does the casting</a:t>
            </a:r>
            <a:endParaRPr lang="en-US" sz="3600" dirty="0"/>
          </a:p>
        </p:txBody>
      </p:sp>
      <p:sp>
        <p:nvSpPr>
          <p:cNvPr id="6" name="Text 3"/>
          <p:cNvSpPr/>
          <p:nvPr/>
        </p:nvSpPr>
        <p:spPr>
          <a:xfrm>
            <a:off x="822960" y="2331720"/>
            <a:ext cx="6400800" cy="32918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light enters high on the right and travels across the room, and wherever it lands a face becomes important. The men it misses are furniture. Nobody has spoken; the lighting has already told you who the scene is about.</a:t>
            </a:r>
            <a:endParaRPr lang="en-US" sz="1700" dirty="0"/>
          </a:p>
          <a:p>
            <a:pPr indent="0" marL="0">
              <a:lnSpc>
                <a:spcPts val="2400"/>
              </a:lnSpc>
              <a:buNone/>
            </a:pPr>
            <a:endParaRPr lang="en-US" sz="1700" dirty="0"/>
          </a:p>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That is low key: hard contrast, deep shadow, a decision about attention rather than about brightness. Thriller and horror use it constantly, and for the same reason.</a:t>
            </a:r>
            <a:endParaRPr lang="en-US" sz="1700" dirty="0"/>
          </a:p>
        </p:txBody>
      </p:sp>
      <p:sp>
        <p:nvSpPr>
          <p:cNvPr id="7" name="Text 4"/>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Caravaggio, The Calling of Saint Matthew, c. 1600</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TEN MINUTES, LIGHTS OFF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ONE VOLUNTEER, ONE PHONE TORCH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positions, in this order</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01</a:t>
            </a:r>
            <a:endParaRPr lang="en-US" sz="2600" dirty="0"/>
          </a:p>
        </p:txBody>
      </p:sp>
      <p:sp>
        <p:nvSpPr>
          <p:cNvPr id="7" name="Text 5"/>
          <p:cNvSpPr/>
          <p:nvPr/>
        </p:nvSpPr>
        <p:spPr>
          <a:xfrm>
            <a:off x="822960"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Front</a:t>
            </a:r>
            <a:endParaRPr lang="en-US" sz="2100" dirty="0"/>
          </a:p>
        </p:txBody>
      </p:sp>
      <p:sp>
        <p:nvSpPr>
          <p:cNvPr id="8" name="Shape 6"/>
          <p:cNvSpPr/>
          <p:nvPr/>
        </p:nvSpPr>
        <p:spPr>
          <a:xfrm>
            <a:off x="822960" y="2798064"/>
            <a:ext cx="2361438" cy="0"/>
          </a:xfrm>
          <a:prstGeom prst="line">
            <a:avLst/>
          </a:prstGeom>
          <a:noFill/>
          <a:ln w="9525">
            <a:solidFill>
              <a:srgbClr val="D9D4C4"/>
            </a:solidFill>
            <a:prstDash val="solid"/>
          </a:ln>
        </p:spPr>
      </p:sp>
      <p:sp>
        <p:nvSpPr>
          <p:cNvPr id="9" name="Text 7"/>
          <p:cNvSpPr/>
          <p:nvPr/>
        </p:nvSpPr>
        <p:spPr>
          <a:xfrm>
            <a:off x="822960"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Flat. Every feature legible, nothing hidden. Honest, and slightly boring: news and lifestyle live here.</a:t>
            </a:r>
            <a:endParaRPr lang="en-US" sz="1450" dirty="0"/>
          </a:p>
        </p:txBody>
      </p:sp>
      <p:sp>
        <p:nvSpPr>
          <p:cNvPr id="10" name="Text 8"/>
          <p:cNvSpPr/>
          <p:nvPr/>
        </p:nvSpPr>
        <p:spPr>
          <a:xfrm>
            <a:off x="3550158"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02</a:t>
            </a:r>
            <a:endParaRPr lang="en-US" sz="2600" dirty="0"/>
          </a:p>
        </p:txBody>
      </p:sp>
      <p:sp>
        <p:nvSpPr>
          <p:cNvPr id="11" name="Text 9"/>
          <p:cNvSpPr/>
          <p:nvPr/>
        </p:nvSpPr>
        <p:spPr>
          <a:xfrm>
            <a:off x="3550158"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Side</a:t>
            </a:r>
            <a:endParaRPr lang="en-US" sz="2100" dirty="0"/>
          </a:p>
        </p:txBody>
      </p:sp>
      <p:sp>
        <p:nvSpPr>
          <p:cNvPr id="12" name="Shape 10"/>
          <p:cNvSpPr/>
          <p:nvPr/>
        </p:nvSpPr>
        <p:spPr>
          <a:xfrm>
            <a:off x="3550158" y="2798064"/>
            <a:ext cx="2361438" cy="0"/>
          </a:xfrm>
          <a:prstGeom prst="line">
            <a:avLst/>
          </a:prstGeom>
          <a:noFill/>
          <a:ln w="9525">
            <a:solidFill>
              <a:srgbClr val="D9D4C4"/>
            </a:solidFill>
            <a:prstDash val="solid"/>
          </a:ln>
        </p:spPr>
      </p:sp>
      <p:sp>
        <p:nvSpPr>
          <p:cNvPr id="13" name="Text 11"/>
          <p:cNvSpPr/>
          <p:nvPr/>
        </p:nvSpPr>
        <p:spPr>
          <a:xfrm>
            <a:off x="3550158"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Half the face given, half withheld. The standard face of a character with something unresolved.</a:t>
            </a:r>
            <a:endParaRPr lang="en-US" sz="1450" dirty="0"/>
          </a:p>
        </p:txBody>
      </p:sp>
      <p:sp>
        <p:nvSpPr>
          <p:cNvPr id="14" name="Text 12"/>
          <p:cNvSpPr/>
          <p:nvPr/>
        </p:nvSpPr>
        <p:spPr>
          <a:xfrm>
            <a:off x="6277356"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03</a:t>
            </a:r>
            <a:endParaRPr lang="en-US" sz="2600" dirty="0"/>
          </a:p>
        </p:txBody>
      </p:sp>
      <p:sp>
        <p:nvSpPr>
          <p:cNvPr id="15" name="Text 13"/>
          <p:cNvSpPr/>
          <p:nvPr/>
        </p:nvSpPr>
        <p:spPr>
          <a:xfrm>
            <a:off x="6277356"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Below</a:t>
            </a:r>
            <a:endParaRPr lang="en-US" sz="2100" dirty="0"/>
          </a:p>
        </p:txBody>
      </p:sp>
      <p:sp>
        <p:nvSpPr>
          <p:cNvPr id="16" name="Shape 14"/>
          <p:cNvSpPr/>
          <p:nvPr/>
        </p:nvSpPr>
        <p:spPr>
          <a:xfrm>
            <a:off x="6277356" y="2798064"/>
            <a:ext cx="2361438" cy="0"/>
          </a:xfrm>
          <a:prstGeom prst="line">
            <a:avLst/>
          </a:prstGeom>
          <a:noFill/>
          <a:ln w="9525">
            <a:solidFill>
              <a:srgbClr val="D9D4C4"/>
            </a:solidFill>
            <a:prstDash val="solid"/>
          </a:ln>
        </p:spPr>
      </p:sp>
      <p:sp>
        <p:nvSpPr>
          <p:cNvPr id="17" name="Text 15"/>
          <p:cNvSpPr/>
          <p:nvPr/>
        </p:nvSpPr>
        <p:spPr>
          <a:xfrm>
            <a:off x="6277356"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Wrong. Light does not come from the floor, and your eye knew that before you could say it. The horror convention.</a:t>
            </a:r>
            <a:endParaRPr lang="en-US" sz="1450" dirty="0"/>
          </a:p>
        </p:txBody>
      </p:sp>
      <p:sp>
        <p:nvSpPr>
          <p:cNvPr id="18" name="Text 16"/>
          <p:cNvSpPr/>
          <p:nvPr/>
        </p:nvSpPr>
        <p:spPr>
          <a:xfrm>
            <a:off x="9004554"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04</a:t>
            </a:r>
            <a:endParaRPr lang="en-US" sz="2600" dirty="0"/>
          </a:p>
        </p:txBody>
      </p:sp>
      <p:sp>
        <p:nvSpPr>
          <p:cNvPr id="19" name="Text 17"/>
          <p:cNvSpPr/>
          <p:nvPr/>
        </p:nvSpPr>
        <p:spPr>
          <a:xfrm>
            <a:off x="9004554" y="2286000"/>
            <a:ext cx="2361438"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Behind</a:t>
            </a:r>
            <a:endParaRPr lang="en-US" sz="2100" dirty="0"/>
          </a:p>
        </p:txBody>
      </p:sp>
      <p:sp>
        <p:nvSpPr>
          <p:cNvPr id="20" name="Shape 18"/>
          <p:cNvSpPr/>
          <p:nvPr/>
        </p:nvSpPr>
        <p:spPr>
          <a:xfrm>
            <a:off x="9004554" y="2798064"/>
            <a:ext cx="2361438" cy="0"/>
          </a:xfrm>
          <a:prstGeom prst="line">
            <a:avLst/>
          </a:prstGeom>
          <a:noFill/>
          <a:ln w="9525">
            <a:solidFill>
              <a:srgbClr val="D9D4C4"/>
            </a:solidFill>
            <a:prstDash val="solid"/>
          </a:ln>
        </p:spPr>
      </p:sp>
      <p:sp>
        <p:nvSpPr>
          <p:cNvPr id="21" name="Text 19"/>
          <p:cNvSpPr/>
          <p:nvPr/>
        </p:nvSpPr>
        <p:spPr>
          <a:xfrm>
            <a:off x="9004554" y="2926080"/>
            <a:ext cx="2361438" cy="2103120"/>
          </a:xfrm>
          <a:prstGeom prst="rect">
            <a:avLst/>
          </a:prstGeom>
          <a:noFill/>
          <a:ln/>
        </p:spPr>
        <p:txBody>
          <a:bodyPr wrap="square" lIns="0" tIns="0" rIns="0" bIns="0" rtlCol="0" anchor="t"/>
          <a:lstStyle/>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subject becomes a shape. Identity withheld entirely, which is why it opens so many thrillers.</a:t>
            </a:r>
            <a:endParaRPr lang="en-US" sz="1450" dirty="0"/>
          </a:p>
        </p:txBody>
      </p:sp>
      <p:sp>
        <p:nvSpPr>
          <p:cNvPr id="22" name="Shape 20"/>
          <p:cNvSpPr/>
          <p:nvPr/>
        </p:nvSpPr>
        <p:spPr>
          <a:xfrm>
            <a:off x="822960" y="5212080"/>
            <a:ext cx="914400" cy="0"/>
          </a:xfrm>
          <a:prstGeom prst="line">
            <a:avLst/>
          </a:prstGeom>
          <a:noFill/>
          <a:ln w="31750">
            <a:solidFill>
              <a:srgbClr val="8C3A38"/>
            </a:solidFill>
            <a:prstDash val="solid"/>
          </a:ln>
        </p:spPr>
      </p:sp>
      <p:sp>
        <p:nvSpPr>
          <p:cNvPr id="23" name="Text 21"/>
          <p:cNvSpPr/>
          <p:nvPr/>
        </p:nvSpPr>
        <p:spPr>
          <a:xfrm>
            <a:off x="822960" y="5394960"/>
            <a:ext cx="10424160" cy="54864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Then the names: key, fill and back light; high key against low key; hard quality against soft. Photograph all four set-ups for your notes.</a:t>
            </a:r>
            <a:endParaRPr lang="en-US" sz="165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PRODUCTION DESIGN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EVERYTHING AT ONCE, ALL OF IT CHOSEN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05840"/>
            <a:ext cx="10543032" cy="342900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gbh-concierge.jpg">    </p:cNvPr>
          <p:cNvPicPr>
            <a:picLocks noChangeAspect="1"/>
          </p:cNvPicPr>
          <p:nvPr/>
        </p:nvPicPr>
        <p:blipFill>
          <a:blip r:embed="rId1"/>
          <a:stretch>
            <a:fillRect/>
          </a:stretch>
        </p:blipFill>
        <p:spPr>
          <a:xfrm>
            <a:off x="2417634" y="1133856"/>
            <a:ext cx="7353684" cy="3172968"/>
          </a:xfrm>
          <a:prstGeom prst="rect">
            <a:avLst/>
          </a:prstGeom>
        </p:spPr>
      </p:pic>
      <p:sp>
        <p:nvSpPr>
          <p:cNvPr id="7" name="Text 4"/>
          <p:cNvSpPr/>
          <p:nvPr/>
        </p:nvSpPr>
        <p:spPr>
          <a:xfrm>
            <a:off x="822960" y="4462272"/>
            <a:ext cx="10543032"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The Grand Budapest Hotel (2014), dir. Wes Anderson. The concierge desk, framed dead centre.</a:t>
            </a:r>
            <a:endParaRPr lang="en-US" sz="950" dirty="0"/>
          </a:p>
        </p:txBody>
      </p:sp>
      <p:sp>
        <p:nvSpPr>
          <p:cNvPr id="8" name="Text 5"/>
          <p:cNvSpPr/>
          <p:nvPr/>
        </p:nvSpPr>
        <p:spPr>
          <a:xfrm>
            <a:off x="822960"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Location</a:t>
            </a:r>
            <a:endParaRPr lang="en-US" sz="1150" dirty="0"/>
          </a:p>
        </p:txBody>
      </p:sp>
      <p:sp>
        <p:nvSpPr>
          <p:cNvPr id="9" name="Text 6"/>
          <p:cNvSpPr/>
          <p:nvPr/>
        </p:nvSpPr>
        <p:spPr>
          <a:xfrm>
            <a:off x="822960"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A built set, not a found lobby: marble, brass keys, the desk raised like an altar.</a:t>
            </a:r>
            <a:endParaRPr lang="en-US" sz="1300" dirty="0"/>
          </a:p>
        </p:txBody>
      </p:sp>
      <p:sp>
        <p:nvSpPr>
          <p:cNvPr id="10" name="Text 7"/>
          <p:cNvSpPr/>
          <p:nvPr/>
        </p:nvSpPr>
        <p:spPr>
          <a:xfrm>
            <a:off x="3550158"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Costume</a:t>
            </a:r>
            <a:endParaRPr lang="en-US" sz="1150" dirty="0"/>
          </a:p>
        </p:txBody>
      </p:sp>
      <p:sp>
        <p:nvSpPr>
          <p:cNvPr id="11" name="Text 8"/>
          <p:cNvSpPr/>
          <p:nvPr/>
        </p:nvSpPr>
        <p:spPr>
          <a:xfrm>
            <a:off x="3550158"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Purple livery ranks everyone at a glance. You know who works here before anyone speaks.</a:t>
            </a:r>
            <a:endParaRPr lang="en-US" sz="1300" dirty="0"/>
          </a:p>
        </p:txBody>
      </p:sp>
      <p:sp>
        <p:nvSpPr>
          <p:cNvPr id="12" name="Text 9"/>
          <p:cNvSpPr/>
          <p:nvPr/>
        </p:nvSpPr>
        <p:spPr>
          <a:xfrm>
            <a:off x="6277356"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Properties</a:t>
            </a:r>
            <a:endParaRPr lang="en-US" sz="1150" dirty="0"/>
          </a:p>
        </p:txBody>
      </p:sp>
      <p:sp>
        <p:nvSpPr>
          <p:cNvPr id="13" name="Text 10"/>
          <p:cNvSpPr/>
          <p:nvPr/>
        </p:nvSpPr>
        <p:spPr>
          <a:xfrm>
            <a:off x="6277356"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The key rack and the ledger are load-bearing: the whole plot passes through that desk.</a:t>
            </a:r>
            <a:endParaRPr lang="en-US" sz="1300" dirty="0"/>
          </a:p>
        </p:txBody>
      </p:sp>
      <p:sp>
        <p:nvSpPr>
          <p:cNvPr id="14" name="Text 11"/>
          <p:cNvSpPr/>
          <p:nvPr/>
        </p:nvSpPr>
        <p:spPr>
          <a:xfrm>
            <a:off x="9004554" y="4846320"/>
            <a:ext cx="2361438" cy="292608"/>
          </a:xfrm>
          <a:prstGeom prst="rect">
            <a:avLst/>
          </a:prstGeom>
          <a:noFill/>
          <a:ln/>
        </p:spPr>
        <p:txBody>
          <a:bodyPr wrap="square" lIns="0" tIns="0" rIns="0" bIns="0" rtlCol="0" anchor="ctr"/>
          <a:lstStyle/>
          <a:p>
            <a:pPr indent="0" marL="0">
              <a:buNone/>
            </a:pPr>
            <a:r>
              <a:rPr lang="en-US" sz="1150" b="1" spc="120" kern="0" dirty="0">
                <a:solidFill>
                  <a:srgbClr val="4A6B5D"/>
                </a:solidFill>
                <a:latin typeface="Arial" pitchFamily="34" charset="0"/>
                <a:ea typeface="Arial" pitchFamily="34" charset="-122"/>
                <a:cs typeface="Arial" pitchFamily="34" charset="-120"/>
              </a:rPr>
              <a:t>Arrangement</a:t>
            </a:r>
            <a:endParaRPr lang="en-US" sz="1150" dirty="0"/>
          </a:p>
        </p:txBody>
      </p:sp>
      <p:sp>
        <p:nvSpPr>
          <p:cNvPr id="15" name="Text 12"/>
          <p:cNvSpPr/>
          <p:nvPr/>
        </p:nvSpPr>
        <p:spPr>
          <a:xfrm>
            <a:off x="9004554" y="5138928"/>
            <a:ext cx="2361438" cy="1051560"/>
          </a:xfrm>
          <a:prstGeom prst="rect">
            <a:avLst/>
          </a:prstGeom>
          <a:noFill/>
          <a:ln/>
        </p:spPr>
        <p:txBody>
          <a:bodyPr wrap="square" lIns="0" tIns="0" rIns="0" bIns="0" rtlCol="0" anchor="t"/>
          <a:lstStyle/>
          <a:p>
            <a:pPr indent="0" marL="0">
              <a:lnSpc>
                <a:spcPts val="1700"/>
              </a:lnSpc>
              <a:buNone/>
            </a:pPr>
            <a:r>
              <a:rPr lang="en-US" sz="1300" dirty="0">
                <a:solidFill>
                  <a:srgbClr val="24313F"/>
                </a:solidFill>
                <a:latin typeface="Georgia" pitchFamily="34" charset="0"/>
                <a:ea typeface="Georgia" pitchFamily="34" charset="-122"/>
                <a:cs typeface="Georgia" pitchFamily="34" charset="-120"/>
              </a:rPr>
              <a:t>One man dead centre, symmetrical staircases. The design crowns the concierge.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TRAP</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ONE FAILURE THAT COSTS THE WHOLE ELEMENT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A moodboard earns nothing</a:t>
            </a:r>
            <a:endParaRPr lang="en-US" sz="3800" dirty="0"/>
          </a:p>
        </p:txBody>
      </p:sp>
      <p:sp>
        <p:nvSpPr>
          <p:cNvPr id="6" name="Text 4"/>
          <p:cNvSpPr/>
          <p:nvPr/>
        </p:nvSpPr>
        <p:spPr>
          <a:xfrm>
            <a:off x="822960" y="2148840"/>
            <a:ext cx="4846320" cy="502920"/>
          </a:xfrm>
          <a:prstGeom prst="rect">
            <a:avLst/>
          </a:prstGeom>
          <a:noFill/>
          <a:ln/>
        </p:spPr>
        <p:txBody>
          <a:bodyPr wrap="square" lIns="0" tIns="0" rIns="0" bIns="0" rtlCol="0" anchor="ctr"/>
          <a:lstStyle/>
          <a:p>
            <a:pPr indent="0" marL="0">
              <a:buNone/>
            </a:pPr>
            <a:r>
              <a:rPr lang="en-US" sz="2500" dirty="0">
                <a:solidFill>
                  <a:srgbClr val="7A7F72"/>
                </a:solidFill>
                <a:latin typeface="Georgia" pitchFamily="34" charset="0"/>
                <a:ea typeface="Georgia" pitchFamily="34" charset="-122"/>
                <a:cs typeface="Georgia" pitchFamily="34" charset="-120"/>
              </a:rPr>
              <a:t>Description</a:t>
            </a:r>
            <a:endParaRPr lang="en-US" sz="2500" dirty="0"/>
          </a:p>
        </p:txBody>
      </p:sp>
      <p:sp>
        <p:nvSpPr>
          <p:cNvPr id="7" name="Shape 5"/>
          <p:cNvSpPr/>
          <p:nvPr/>
        </p:nvSpPr>
        <p:spPr>
          <a:xfrm>
            <a:off x="822960" y="2724912"/>
            <a:ext cx="4754880" cy="0"/>
          </a:xfrm>
          <a:prstGeom prst="line">
            <a:avLst/>
          </a:prstGeom>
          <a:noFill/>
          <a:ln w="9525">
            <a:solidFill>
              <a:srgbClr val="D9D4C4"/>
            </a:solidFill>
            <a:prstDash val="solid"/>
          </a:ln>
        </p:spPr>
      </p:sp>
      <p:sp>
        <p:nvSpPr>
          <p:cNvPr id="8" name="Text 6"/>
          <p:cNvSpPr/>
          <p:nvPr/>
        </p:nvSpPr>
        <p:spPr>
          <a:xfrm>
            <a:off x="8229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room is dark and there is a wooden chair.</a:t>
            </a:r>
            <a:endParaRPr lang="en-US" sz="1750" dirty="0"/>
          </a:p>
        </p:txBody>
      </p:sp>
      <p:sp>
        <p:nvSpPr>
          <p:cNvPr id="9" name="Text 7"/>
          <p:cNvSpPr/>
          <p:nvPr/>
        </p:nvSpPr>
        <p:spPr>
          <a:xfrm>
            <a:off x="8229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Correct, complete, and worth no marks. It reports the frame back to the examiner, who can see it.</a:t>
            </a:r>
            <a:endParaRPr lang="en-US" sz="1250" dirty="0"/>
          </a:p>
        </p:txBody>
      </p:sp>
      <p:sp>
        <p:nvSpPr>
          <p:cNvPr id="10" name="Text 8"/>
          <p:cNvSpPr/>
          <p:nvPr/>
        </p:nvSpPr>
        <p:spPr>
          <a:xfrm>
            <a:off x="6309360" y="2148840"/>
            <a:ext cx="4846320" cy="502920"/>
          </a:xfrm>
          <a:prstGeom prst="rect">
            <a:avLst/>
          </a:prstGeom>
          <a:noFill/>
          <a:ln/>
        </p:spPr>
        <p:txBody>
          <a:bodyPr wrap="square" lIns="0" tIns="0" rIns="0" bIns="0" rtlCol="0" anchor="ctr"/>
          <a:lstStyle/>
          <a:p>
            <a:pPr indent="0" marL="0">
              <a:buNone/>
            </a:pPr>
            <a:r>
              <a:rPr lang="en-US" sz="2500" dirty="0">
                <a:solidFill>
                  <a:srgbClr val="4A6B5D"/>
                </a:solidFill>
                <a:latin typeface="Georgia" pitchFamily="34" charset="0"/>
                <a:ea typeface="Georgia" pitchFamily="34" charset="-122"/>
                <a:cs typeface="Georgia" pitchFamily="34" charset="-120"/>
              </a:rPr>
              <a:t>Analysis</a:t>
            </a:r>
            <a:endParaRPr lang="en-US" sz="2500" dirty="0"/>
          </a:p>
        </p:txBody>
      </p:sp>
      <p:sp>
        <p:nvSpPr>
          <p:cNvPr id="11" name="Shape 9"/>
          <p:cNvSpPr/>
          <p:nvPr/>
        </p:nvSpPr>
        <p:spPr>
          <a:xfrm>
            <a:off x="6309360" y="2724912"/>
            <a:ext cx="4754880" cy="0"/>
          </a:xfrm>
          <a:prstGeom prst="line">
            <a:avLst/>
          </a:prstGeom>
          <a:noFill/>
          <a:ln w="9525">
            <a:solidFill>
              <a:srgbClr val="D9D4C4"/>
            </a:solidFill>
            <a:prstDash val="solid"/>
          </a:ln>
        </p:spPr>
      </p:sp>
      <p:sp>
        <p:nvSpPr>
          <p:cNvPr id="12" name="Text 10"/>
          <p:cNvSpPr/>
          <p:nvPr/>
        </p:nvSpPr>
        <p:spPr>
          <a:xfrm>
            <a:off x="6309360" y="2880360"/>
            <a:ext cx="4846320" cy="1554480"/>
          </a:xfrm>
          <a:prstGeom prst="rect">
            <a:avLst/>
          </a:prstGeom>
          <a:noFill/>
          <a:ln/>
        </p:spPr>
        <p:txBody>
          <a:bodyPr wrap="square" lIns="0" tIns="0" rIns="0" bIns="0" rtlCol="0" anchor="t"/>
          <a:lstStyle/>
          <a:p>
            <a:pPr indent="0" marL="0">
              <a:lnSpc>
                <a:spcPts val="2400"/>
              </a:lnSpc>
              <a:buNone/>
            </a:pPr>
            <a:r>
              <a:rPr lang="en-US" sz="1750" dirty="0">
                <a:solidFill>
                  <a:srgbClr val="24313F"/>
                </a:solidFill>
                <a:latin typeface="Georgia" pitchFamily="34" charset="0"/>
                <a:ea typeface="Georgia" pitchFamily="34" charset="-122"/>
                <a:cs typeface="Georgia" pitchFamily="34" charset="-120"/>
              </a:rPr>
              <a:t>The single chair in an unlit room withholds any sign of company, so the character is constructed as isolated before the scene begins.</a:t>
            </a:r>
            <a:endParaRPr lang="en-US" sz="1750" dirty="0"/>
          </a:p>
        </p:txBody>
      </p:sp>
      <p:sp>
        <p:nvSpPr>
          <p:cNvPr id="13" name="Text 11"/>
          <p:cNvSpPr/>
          <p:nvPr/>
        </p:nvSpPr>
        <p:spPr>
          <a:xfrm>
            <a:off x="6309360" y="4526280"/>
            <a:ext cx="4846320" cy="100584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Same chair. The difference is the clause after the comma.</a:t>
            </a:r>
            <a:endParaRPr lang="en-US" sz="1250" dirty="0"/>
          </a:p>
        </p:txBody>
      </p:sp>
      <p:sp>
        <p:nvSpPr>
          <p:cNvPr id="14" name="Shape 12"/>
          <p:cNvSpPr/>
          <p:nvPr/>
        </p:nvSpPr>
        <p:spPr>
          <a:xfrm>
            <a:off x="822960" y="5669280"/>
            <a:ext cx="914400" cy="0"/>
          </a:xfrm>
          <a:prstGeom prst="line">
            <a:avLst/>
          </a:prstGeom>
          <a:noFill/>
          <a:ln w="31750">
            <a:solidFill>
              <a:srgbClr val="8C3A38"/>
            </a:solidFill>
            <a:prstDash val="solid"/>
          </a:ln>
        </p:spPr>
      </p:sp>
      <p:sp>
        <p:nvSpPr>
          <p:cNvPr id="15" name="Text 13"/>
          <p:cNvSpPr/>
          <p:nvPr/>
        </p:nvSpPr>
        <p:spPr>
          <a:xfrm>
            <a:off x="822960" y="5833872"/>
            <a:ext cx="10424160"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Every cell of tomorrow's board carries a connotation line. No exceptions, including the obvious ones.</a:t>
            </a:r>
            <a:endParaRPr lang="en-US" sz="125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LOCATIONS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COURSEBOOK'S ACTIVITY, RUN IN FOURS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Describe it, and a person appears</a:t>
            </a:r>
            <a:endParaRPr lang="en-US" sz="3200" dirty="0"/>
          </a:p>
        </p:txBody>
      </p:sp>
      <p:sp>
        <p:nvSpPr>
          <p:cNvPr id="6" name="Shape 4"/>
          <p:cNvSpPr/>
          <p:nvPr/>
        </p:nvSpPr>
        <p:spPr>
          <a:xfrm>
            <a:off x="822960" y="1828800"/>
            <a:ext cx="2361438" cy="731520"/>
          </a:xfrm>
          <a:prstGeom prst="rect">
            <a:avLst/>
          </a:prstGeom>
          <a:solidFill>
            <a:srgbClr val="E8EFE7"/>
          </a:solidFill>
          <a:ln/>
        </p:spPr>
      </p:sp>
      <p:sp>
        <p:nvSpPr>
          <p:cNvPr id="7" name="Text 5"/>
          <p:cNvSpPr/>
          <p:nvPr/>
        </p:nvSpPr>
        <p:spPr>
          <a:xfrm>
            <a:off x="987552"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country manor</a:t>
            </a:r>
            <a:endParaRPr lang="en-US" sz="1700" dirty="0"/>
          </a:p>
        </p:txBody>
      </p:sp>
      <p:sp>
        <p:nvSpPr>
          <p:cNvPr id="8" name="Shape 6"/>
          <p:cNvSpPr/>
          <p:nvPr/>
        </p:nvSpPr>
        <p:spPr>
          <a:xfrm>
            <a:off x="3550158" y="1828800"/>
            <a:ext cx="2361438" cy="731520"/>
          </a:xfrm>
          <a:prstGeom prst="rect">
            <a:avLst/>
          </a:prstGeom>
          <a:solidFill>
            <a:srgbClr val="E8EFE7"/>
          </a:solidFill>
          <a:ln/>
        </p:spPr>
      </p:sp>
      <p:sp>
        <p:nvSpPr>
          <p:cNvPr id="9" name="Text 7"/>
          <p:cNvSpPr/>
          <p:nvPr/>
        </p:nvSpPr>
        <p:spPr>
          <a:xfrm>
            <a:off x="3714750"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city apartment</a:t>
            </a:r>
            <a:endParaRPr lang="en-US" sz="1700" dirty="0"/>
          </a:p>
        </p:txBody>
      </p:sp>
      <p:sp>
        <p:nvSpPr>
          <p:cNvPr id="10" name="Shape 8"/>
          <p:cNvSpPr/>
          <p:nvPr/>
        </p:nvSpPr>
        <p:spPr>
          <a:xfrm>
            <a:off x="6277356" y="1828800"/>
            <a:ext cx="2361438" cy="731520"/>
          </a:xfrm>
          <a:prstGeom prst="rect">
            <a:avLst/>
          </a:prstGeom>
          <a:solidFill>
            <a:srgbClr val="E8EFE7"/>
          </a:solidFill>
          <a:ln/>
        </p:spPr>
      </p:sp>
      <p:sp>
        <p:nvSpPr>
          <p:cNvPr id="11" name="Text 9"/>
          <p:cNvSpPr/>
          <p:nvPr/>
        </p:nvSpPr>
        <p:spPr>
          <a:xfrm>
            <a:off x="6441948"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An abandoned building</a:t>
            </a:r>
            <a:endParaRPr lang="en-US" sz="1700" dirty="0"/>
          </a:p>
        </p:txBody>
      </p:sp>
      <p:sp>
        <p:nvSpPr>
          <p:cNvPr id="12" name="Shape 10"/>
          <p:cNvSpPr/>
          <p:nvPr/>
        </p:nvSpPr>
        <p:spPr>
          <a:xfrm>
            <a:off x="9004554" y="1828800"/>
            <a:ext cx="2361438" cy="731520"/>
          </a:xfrm>
          <a:prstGeom prst="rect">
            <a:avLst/>
          </a:prstGeom>
          <a:solidFill>
            <a:srgbClr val="E8EFE7"/>
          </a:solidFill>
          <a:ln/>
        </p:spPr>
      </p:sp>
      <p:sp>
        <p:nvSpPr>
          <p:cNvPr id="13" name="Text 11"/>
          <p:cNvSpPr/>
          <p:nvPr/>
        </p:nvSpPr>
        <p:spPr>
          <a:xfrm>
            <a:off x="9169146" y="1828800"/>
            <a:ext cx="2087118" cy="73152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An office</a:t>
            </a:r>
            <a:endParaRPr lang="en-US" sz="1700" dirty="0"/>
          </a:p>
        </p:txBody>
      </p:sp>
      <p:sp>
        <p:nvSpPr>
          <p:cNvPr id="14" name="Text 12"/>
          <p:cNvSpPr/>
          <p:nvPr/>
        </p:nvSpPr>
        <p:spPr>
          <a:xfrm>
            <a:off x="822960" y="2926080"/>
            <a:ext cx="10241280" cy="100584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Each member takes one and describes it in detail: décor, colour, what is outside the window, furniture and properties. The group then names, for each, the genre and the character it has just implied.</a:t>
            </a:r>
            <a:endParaRPr lang="en-US" sz="1850" dirty="0"/>
          </a:p>
        </p:txBody>
      </p:sp>
      <p:sp>
        <p:nvSpPr>
          <p:cNvPr id="15" name="Shape 13"/>
          <p:cNvSpPr/>
          <p:nvPr/>
        </p:nvSpPr>
        <p:spPr>
          <a:xfrm>
            <a:off x="822960" y="4114800"/>
            <a:ext cx="914400" cy="0"/>
          </a:xfrm>
          <a:prstGeom prst="line">
            <a:avLst/>
          </a:prstGeom>
          <a:noFill/>
          <a:ln w="31750">
            <a:solidFill>
              <a:srgbClr val="8C3A38"/>
            </a:solidFill>
            <a:prstDash val="solid"/>
          </a:ln>
        </p:spPr>
      </p:sp>
      <p:sp>
        <p:nvSpPr>
          <p:cNvPr id="16" name="Text 14"/>
          <p:cNvSpPr/>
          <p:nvPr/>
        </p:nvSpPr>
        <p:spPr>
          <a:xfrm>
            <a:off x="822960" y="4297680"/>
            <a:ext cx="10241280" cy="548640"/>
          </a:xfrm>
          <a:prstGeom prst="rect">
            <a:avLst/>
          </a:prstGeom>
          <a:noFill/>
          <a:ln/>
        </p:spPr>
        <p:txBody>
          <a:bodyPr wrap="square" lIns="0" tIns="0" rIns="0" bIns="0" rtlCol="0" anchor="ctr"/>
          <a:lstStyle/>
          <a:p>
            <a:pPr indent="0" marL="0">
              <a:buNone/>
            </a:pPr>
            <a:r>
              <a:rPr lang="en-US" sz="2000" i="1" dirty="0">
                <a:solidFill>
                  <a:srgbClr val="4A6B5D"/>
                </a:solidFill>
                <a:latin typeface="Georgia" pitchFamily="34" charset="0"/>
                <a:ea typeface="Georgia" pitchFamily="34" charset="-122"/>
                <a:cs typeface="Georgia" pitchFamily="34" charset="-120"/>
              </a:rPr>
              <a:t>Nobody drew a person, and a person appeared anyway. Setting does character work before a character exists.</a:t>
            </a:r>
            <a:endParaRPr lang="en-US" sz="2000" dirty="0"/>
          </a:p>
        </p:txBody>
      </p:sp>
      <p:sp>
        <p:nvSpPr>
          <p:cNvPr id="17" name="Text 15"/>
          <p:cNvSpPr/>
          <p:nvPr/>
        </p:nvSpPr>
        <p:spPr>
          <a:xfrm>
            <a:off x="822960" y="5120640"/>
            <a:ext cx="10424160" cy="457200"/>
          </a:xfrm>
          <a:prstGeom prst="rect">
            <a:avLst/>
          </a:prstGeom>
          <a:noFill/>
          <a:ln/>
        </p:spPr>
        <p:txBody>
          <a:bodyPr wrap="square" lIns="0" tIns="0" rIns="0" bIns="0" rtlCol="0" anchor="ctr"/>
          <a:lstStyle/>
          <a:p>
            <a:pPr indent="0" marL="0">
              <a:buNone/>
            </a:pPr>
            <a:r>
              <a:rPr lang="en-US" sz="1250" dirty="0">
                <a:solidFill>
                  <a:srgbClr val="7A7F72"/>
                </a:solidFill>
                <a:latin typeface="Arial" pitchFamily="34" charset="0"/>
                <a:ea typeface="Arial" pitchFamily="34" charset="-122"/>
                <a:cs typeface="Arial" pitchFamily="34" charset="-120"/>
              </a:rPr>
              <a:t>Extension for fast finishers: the coursebook's revision podcast, defining each element and naming one example of how it builds meaning.</a:t>
            </a:r>
            <a:endParaRPr lang="en-US" sz="12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CS5</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TUESDAY, TWENTY-FIVE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Six cells, six connotation lines</a:t>
            </a:r>
            <a:endParaRPr lang="en-US" sz="3400" dirty="0"/>
          </a:p>
        </p:txBody>
      </p:sp>
      <p:sp>
        <p:nvSpPr>
          <p:cNvPr id="6" name="Shape 4"/>
          <p:cNvSpPr/>
          <p:nvPr/>
        </p:nvSpPr>
        <p:spPr>
          <a:xfrm>
            <a:off x="822960" y="1965960"/>
            <a:ext cx="3270504" cy="1188720"/>
          </a:xfrm>
          <a:prstGeom prst="rect">
            <a:avLst/>
          </a:prstGeom>
          <a:solidFill>
            <a:srgbClr val="FAF8F1"/>
          </a:solidFill>
          <a:ln w="9525">
            <a:solidFill>
              <a:srgbClr val="D9D4C4"/>
            </a:solidFill>
            <a:prstDash val="solid"/>
          </a:ln>
        </p:spPr>
      </p:sp>
      <p:sp>
        <p:nvSpPr>
          <p:cNvPr id="7" name="Text 5"/>
          <p:cNvSpPr/>
          <p:nvPr/>
        </p:nvSpPr>
        <p:spPr>
          <a:xfrm>
            <a:off x="1005840"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01</a:t>
            </a:r>
            <a:endParaRPr lang="en-US" sz="1800" dirty="0"/>
          </a:p>
        </p:txBody>
      </p:sp>
      <p:sp>
        <p:nvSpPr>
          <p:cNvPr id="8" name="Text 6"/>
          <p:cNvSpPr/>
          <p:nvPr/>
        </p:nvSpPr>
        <p:spPr>
          <a:xfrm>
            <a:off x="1005840"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Location</a:t>
            </a:r>
            <a:endParaRPr lang="en-US" sz="1900" dirty="0"/>
          </a:p>
        </p:txBody>
      </p:sp>
      <p:sp>
        <p:nvSpPr>
          <p:cNvPr id="9" name="Text 7"/>
          <p:cNvSpPr/>
          <p:nvPr/>
        </p:nvSpPr>
        <p:spPr>
          <a:xfrm>
            <a:off x="1005840"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with the photograph you took</a:t>
            </a:r>
            <a:endParaRPr lang="en-US" sz="1150" dirty="0"/>
          </a:p>
        </p:txBody>
      </p:sp>
      <p:sp>
        <p:nvSpPr>
          <p:cNvPr id="10" name="Shape 8"/>
          <p:cNvSpPr/>
          <p:nvPr/>
        </p:nvSpPr>
        <p:spPr>
          <a:xfrm>
            <a:off x="4459224" y="1965960"/>
            <a:ext cx="3270504" cy="1188720"/>
          </a:xfrm>
          <a:prstGeom prst="rect">
            <a:avLst/>
          </a:prstGeom>
          <a:solidFill>
            <a:srgbClr val="FAF8F1"/>
          </a:solidFill>
          <a:ln w="9525">
            <a:solidFill>
              <a:srgbClr val="D9D4C4"/>
            </a:solidFill>
            <a:prstDash val="solid"/>
          </a:ln>
        </p:spPr>
      </p:sp>
      <p:sp>
        <p:nvSpPr>
          <p:cNvPr id="11" name="Text 9"/>
          <p:cNvSpPr/>
          <p:nvPr/>
        </p:nvSpPr>
        <p:spPr>
          <a:xfrm>
            <a:off x="4642104"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02</a:t>
            </a:r>
            <a:endParaRPr lang="en-US" sz="1800" dirty="0"/>
          </a:p>
        </p:txBody>
      </p:sp>
      <p:sp>
        <p:nvSpPr>
          <p:cNvPr id="12" name="Text 10"/>
          <p:cNvSpPr/>
          <p:nvPr/>
        </p:nvSpPr>
        <p:spPr>
          <a:xfrm>
            <a:off x="4642104"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Costume</a:t>
            </a:r>
            <a:endParaRPr lang="en-US" sz="1900" dirty="0"/>
          </a:p>
        </p:txBody>
      </p:sp>
      <p:sp>
        <p:nvSpPr>
          <p:cNvPr id="13" name="Text 11"/>
          <p:cNvSpPr/>
          <p:nvPr/>
        </p:nvSpPr>
        <p:spPr>
          <a:xfrm>
            <a:off x="4642104"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for one character</a:t>
            </a:r>
            <a:endParaRPr lang="en-US" sz="1150" dirty="0"/>
          </a:p>
        </p:txBody>
      </p:sp>
      <p:sp>
        <p:nvSpPr>
          <p:cNvPr id="14" name="Shape 12"/>
          <p:cNvSpPr/>
          <p:nvPr/>
        </p:nvSpPr>
        <p:spPr>
          <a:xfrm>
            <a:off x="8095488" y="1965960"/>
            <a:ext cx="3270504" cy="1188720"/>
          </a:xfrm>
          <a:prstGeom prst="rect">
            <a:avLst/>
          </a:prstGeom>
          <a:solidFill>
            <a:srgbClr val="FAF8F1"/>
          </a:solidFill>
          <a:ln w="9525">
            <a:solidFill>
              <a:srgbClr val="D9D4C4"/>
            </a:solidFill>
            <a:prstDash val="solid"/>
          </a:ln>
        </p:spPr>
      </p:sp>
      <p:sp>
        <p:nvSpPr>
          <p:cNvPr id="15" name="Text 13"/>
          <p:cNvSpPr/>
          <p:nvPr/>
        </p:nvSpPr>
        <p:spPr>
          <a:xfrm>
            <a:off x="8278368" y="207568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03</a:t>
            </a:r>
            <a:endParaRPr lang="en-US" sz="1800" dirty="0"/>
          </a:p>
        </p:txBody>
      </p:sp>
      <p:sp>
        <p:nvSpPr>
          <p:cNvPr id="16" name="Text 14"/>
          <p:cNvSpPr/>
          <p:nvPr/>
        </p:nvSpPr>
        <p:spPr>
          <a:xfrm>
            <a:off x="8278368" y="237744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Two properties</a:t>
            </a:r>
            <a:endParaRPr lang="en-US" sz="1900" dirty="0"/>
          </a:p>
        </p:txBody>
      </p:sp>
      <p:sp>
        <p:nvSpPr>
          <p:cNvPr id="17" name="Text 15"/>
          <p:cNvSpPr/>
          <p:nvPr/>
        </p:nvSpPr>
        <p:spPr>
          <a:xfrm>
            <a:off x="8278368" y="274320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that carry meaning</a:t>
            </a:r>
            <a:endParaRPr lang="en-US" sz="1150" dirty="0"/>
          </a:p>
        </p:txBody>
      </p:sp>
      <p:sp>
        <p:nvSpPr>
          <p:cNvPr id="18" name="Shape 16"/>
          <p:cNvSpPr/>
          <p:nvPr/>
        </p:nvSpPr>
        <p:spPr>
          <a:xfrm>
            <a:off x="822960" y="3383280"/>
            <a:ext cx="3270504" cy="1188720"/>
          </a:xfrm>
          <a:prstGeom prst="rect">
            <a:avLst/>
          </a:prstGeom>
          <a:solidFill>
            <a:srgbClr val="FAF8F1"/>
          </a:solidFill>
          <a:ln w="9525">
            <a:solidFill>
              <a:srgbClr val="D9D4C4"/>
            </a:solidFill>
            <a:prstDash val="solid"/>
          </a:ln>
        </p:spPr>
      </p:sp>
      <p:sp>
        <p:nvSpPr>
          <p:cNvPr id="19" name="Text 17"/>
          <p:cNvSpPr/>
          <p:nvPr/>
        </p:nvSpPr>
        <p:spPr>
          <a:xfrm>
            <a:off x="1005840"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04</a:t>
            </a:r>
            <a:endParaRPr lang="en-US" sz="1800" dirty="0"/>
          </a:p>
        </p:txBody>
      </p:sp>
      <p:sp>
        <p:nvSpPr>
          <p:cNvPr id="20" name="Text 18"/>
          <p:cNvSpPr/>
          <p:nvPr/>
        </p:nvSpPr>
        <p:spPr>
          <a:xfrm>
            <a:off x="1005840"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Lighting plan</a:t>
            </a:r>
            <a:endParaRPr lang="en-US" sz="1900" dirty="0"/>
          </a:p>
        </p:txBody>
      </p:sp>
      <p:sp>
        <p:nvSpPr>
          <p:cNvPr id="21" name="Text 19"/>
          <p:cNvSpPr/>
          <p:nvPr/>
        </p:nvSpPr>
        <p:spPr>
          <a:xfrm>
            <a:off x="1005840"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named by set-up and quality</a:t>
            </a:r>
            <a:endParaRPr lang="en-US" sz="1150" dirty="0"/>
          </a:p>
        </p:txBody>
      </p:sp>
      <p:sp>
        <p:nvSpPr>
          <p:cNvPr id="22" name="Shape 20"/>
          <p:cNvSpPr/>
          <p:nvPr/>
        </p:nvSpPr>
        <p:spPr>
          <a:xfrm>
            <a:off x="4459224" y="3383280"/>
            <a:ext cx="3270504" cy="1188720"/>
          </a:xfrm>
          <a:prstGeom prst="rect">
            <a:avLst/>
          </a:prstGeom>
          <a:solidFill>
            <a:srgbClr val="FAF8F1"/>
          </a:solidFill>
          <a:ln w="9525">
            <a:solidFill>
              <a:srgbClr val="D9D4C4"/>
            </a:solidFill>
            <a:prstDash val="solid"/>
          </a:ln>
        </p:spPr>
      </p:sp>
      <p:sp>
        <p:nvSpPr>
          <p:cNvPr id="23" name="Text 21"/>
          <p:cNvSpPr/>
          <p:nvPr/>
        </p:nvSpPr>
        <p:spPr>
          <a:xfrm>
            <a:off x="4642104"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05</a:t>
            </a:r>
            <a:endParaRPr lang="en-US" sz="1800" dirty="0"/>
          </a:p>
        </p:txBody>
      </p:sp>
      <p:sp>
        <p:nvSpPr>
          <p:cNvPr id="24" name="Text 22"/>
          <p:cNvSpPr/>
          <p:nvPr/>
        </p:nvSpPr>
        <p:spPr>
          <a:xfrm>
            <a:off x="4642104"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Colour palette</a:t>
            </a:r>
            <a:endParaRPr lang="en-US" sz="1900" dirty="0"/>
          </a:p>
        </p:txBody>
      </p:sp>
      <p:sp>
        <p:nvSpPr>
          <p:cNvPr id="25" name="Text 23"/>
          <p:cNvSpPr/>
          <p:nvPr/>
        </p:nvSpPr>
        <p:spPr>
          <a:xfrm>
            <a:off x="4642104"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three to five swatches</a:t>
            </a:r>
            <a:endParaRPr lang="en-US" sz="1150" dirty="0"/>
          </a:p>
        </p:txBody>
      </p:sp>
      <p:sp>
        <p:nvSpPr>
          <p:cNvPr id="26" name="Shape 24"/>
          <p:cNvSpPr/>
          <p:nvPr/>
        </p:nvSpPr>
        <p:spPr>
          <a:xfrm>
            <a:off x="8095488" y="3383280"/>
            <a:ext cx="3270504" cy="1188720"/>
          </a:xfrm>
          <a:prstGeom prst="rect">
            <a:avLst/>
          </a:prstGeom>
          <a:solidFill>
            <a:srgbClr val="FAF8F1"/>
          </a:solidFill>
          <a:ln w="9525">
            <a:solidFill>
              <a:srgbClr val="D9D4C4"/>
            </a:solidFill>
            <a:prstDash val="solid"/>
          </a:ln>
        </p:spPr>
      </p:sp>
      <p:sp>
        <p:nvSpPr>
          <p:cNvPr id="27" name="Text 25"/>
          <p:cNvSpPr/>
          <p:nvPr/>
        </p:nvSpPr>
        <p:spPr>
          <a:xfrm>
            <a:off x="8278368" y="3493008"/>
            <a:ext cx="731520" cy="320040"/>
          </a:xfrm>
          <a:prstGeom prst="rect">
            <a:avLst/>
          </a:prstGeom>
          <a:noFill/>
          <a:ln/>
        </p:spPr>
        <p:txBody>
          <a:bodyPr wrap="square" lIns="0" tIns="0" rIns="0" bIns="0" rtlCol="0" anchor="ctr"/>
          <a:lstStyle/>
          <a:p>
            <a:pPr indent="0" marL="0">
              <a:buNone/>
            </a:pPr>
            <a:r>
              <a:rPr lang="en-US" sz="1800" dirty="0">
                <a:solidFill>
                  <a:srgbClr val="A3C1AD"/>
                </a:solidFill>
                <a:latin typeface="Georgia" pitchFamily="34" charset="0"/>
                <a:ea typeface="Georgia" pitchFamily="34" charset="-122"/>
                <a:cs typeface="Georgia" pitchFamily="34" charset="-120"/>
              </a:rPr>
              <a:t>06</a:t>
            </a:r>
            <a:endParaRPr lang="en-US" sz="1800" dirty="0"/>
          </a:p>
        </p:txBody>
      </p:sp>
      <p:sp>
        <p:nvSpPr>
          <p:cNvPr id="28" name="Text 26"/>
          <p:cNvSpPr/>
          <p:nvPr/>
        </p:nvSpPr>
        <p:spPr>
          <a:xfrm>
            <a:off x="8278368" y="3794760"/>
            <a:ext cx="2904744" cy="36576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claim</a:t>
            </a:r>
            <a:endParaRPr lang="en-US" sz="1900" dirty="0"/>
          </a:p>
        </p:txBody>
      </p:sp>
      <p:sp>
        <p:nvSpPr>
          <p:cNvPr id="29" name="Text 27"/>
          <p:cNvSpPr/>
          <p:nvPr/>
        </p:nvSpPr>
        <p:spPr>
          <a:xfrm>
            <a:off x="8278368" y="4160520"/>
            <a:ext cx="2904744" cy="329184"/>
          </a:xfrm>
          <a:prstGeom prst="rect">
            <a:avLst/>
          </a:prstGeom>
          <a:noFill/>
          <a:ln/>
        </p:spPr>
        <p:txBody>
          <a:bodyPr wrap="square" lIns="0" tIns="0" rIns="0" bIns="0" rtlCol="0" anchor="ctr"/>
          <a:lstStyle/>
          <a:p>
            <a:pPr indent="0" marL="0">
              <a:buNone/>
            </a:pPr>
            <a:r>
              <a:rPr lang="en-US" sz="1150" dirty="0">
                <a:solidFill>
                  <a:srgbClr val="7A7F72"/>
                </a:solidFill>
                <a:latin typeface="Arial" pitchFamily="34" charset="0"/>
                <a:ea typeface="Arial" pitchFamily="34" charset="-122"/>
                <a:cs typeface="Arial" pitchFamily="34" charset="-120"/>
              </a:rPr>
              <a:t>one sentence: what does this design say?</a:t>
            </a:r>
            <a:endParaRPr lang="en-US" sz="1150" dirty="0"/>
          </a:p>
        </p:txBody>
      </p:sp>
      <p:sp>
        <p:nvSpPr>
          <p:cNvPr id="30" name="Text 28"/>
          <p:cNvSpPr/>
          <p:nvPr/>
        </p:nvSpPr>
        <p:spPr>
          <a:xfrm>
            <a:off x="822960" y="5029200"/>
            <a:ext cx="10424160" cy="640080"/>
          </a:xfrm>
          <a:prstGeom prst="rect">
            <a:avLst/>
          </a:prstGeom>
          <a:noFill/>
          <a:ln/>
        </p:spPr>
        <p:txBody>
          <a:bodyPr wrap="square" lIns="0" tIns="0" rIns="0" bIns="0" rtlCol="0" anchor="t"/>
          <a:lstStyle/>
          <a:p>
            <a:pPr indent="0" marL="0">
              <a:lnSpc>
                <a:spcPts val="2200"/>
              </a:lnSpc>
              <a:buNone/>
            </a:pPr>
            <a:r>
              <a:rPr lang="en-US" sz="1650" i="1" dirty="0">
                <a:solidFill>
                  <a:srgbClr val="4A6B5D"/>
                </a:solidFill>
                <a:latin typeface="Georgia" pitchFamily="34" charset="0"/>
                <a:ea typeface="Georgia" pitchFamily="34" charset="-122"/>
                <a:cs typeface="Georgia" pitchFamily="34" charset="-120"/>
              </a:rPr>
              <a:t>This is not an exercise about Component 1. It is your group's C1 design document, dated on the blog, and the planning lock checks your costume and properties against it nine days from now.</a:t>
            </a:r>
            <a:endParaRPr lang="en-US" sz="1650" dirty="0"/>
          </a:p>
        </p:txBody>
      </p:sp>
      <p:sp>
        <p:nvSpPr>
          <p:cNvPr id="31" name="Shape 29"/>
          <p:cNvSpPr/>
          <p:nvPr/>
        </p:nvSpPr>
        <p:spPr>
          <a:xfrm>
            <a:off x="822960" y="6382512"/>
            <a:ext cx="10543032" cy="0"/>
          </a:xfrm>
          <a:prstGeom prst="line">
            <a:avLst/>
          </a:prstGeom>
          <a:noFill/>
          <a:ln w="9525">
            <a:solidFill>
              <a:srgbClr val="D9D4C4"/>
            </a:solidFill>
            <a:prstDash val="solid"/>
          </a:ln>
        </p:spPr>
      </p:sp>
      <p:sp>
        <p:nvSpPr>
          <p:cNvPr id="32" name="Text 3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3" name="Text 3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WHY THIS ELEMENT PAYS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VISIBLE, NAMEABLE, DENSE WITH MEANING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one you can read without hearing a word</a:t>
            </a:r>
            <a:endParaRPr lang="en-US" sz="3400" dirty="0"/>
          </a:p>
        </p:txBody>
      </p:sp>
      <p:sp>
        <p:nvSpPr>
          <p:cNvPr id="6" name="Shape 4"/>
          <p:cNvSpPr/>
          <p:nvPr/>
        </p:nvSpPr>
        <p:spPr>
          <a:xfrm>
            <a:off x="822960" y="2286000"/>
            <a:ext cx="914400" cy="0"/>
          </a:xfrm>
          <a:prstGeom prst="line">
            <a:avLst/>
          </a:prstGeom>
          <a:noFill/>
          <a:ln w="31750">
            <a:solidFill>
              <a:srgbClr val="8C3A38"/>
            </a:solidFill>
            <a:prstDash val="solid"/>
          </a:ln>
        </p:spPr>
      </p:sp>
      <p:sp>
        <p:nvSpPr>
          <p:cNvPr id="7" name="Text 5"/>
          <p:cNvSpPr/>
          <p:nvPr/>
        </p:nvSpPr>
        <p:spPr>
          <a:xfrm>
            <a:off x="822960" y="2560320"/>
            <a:ext cx="10241280" cy="182880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Camera needs a moving frame and sound needs a good ear. Mise-en-scène sits still and waits to be described accurately. In an unseen extract played four times, it is the element you can bank before the pressure starts, and the one where a precise vocabulary shows fastest: not dark, but low key; not old-fashioned clothes, but a costume that dates the character against the room.</a:t>
            </a:r>
            <a:endParaRPr lang="en-US" sz="1850" dirty="0"/>
          </a:p>
        </p:txBody>
      </p:sp>
      <p:sp>
        <p:nvSpPr>
          <p:cNvPr id="8" name="Shape 6"/>
          <p:cNvSpPr/>
          <p:nvPr/>
        </p:nvSpPr>
        <p:spPr>
          <a:xfrm>
            <a:off x="822960" y="4526280"/>
            <a:ext cx="10543032" cy="914400"/>
          </a:xfrm>
          <a:prstGeom prst="rect">
            <a:avLst/>
          </a:prstGeom>
          <a:solidFill>
            <a:srgbClr val="E8EFE7"/>
          </a:solidFill>
          <a:ln/>
        </p:spPr>
      </p:sp>
      <p:sp>
        <p:nvSpPr>
          <p:cNvPr id="9" name="Text 7"/>
          <p:cNvSpPr/>
          <p:nvPr/>
        </p:nvSpPr>
        <p:spPr>
          <a:xfrm>
            <a:off x="1097280" y="4617720"/>
            <a:ext cx="9994392" cy="73152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Carries forward: the Component 3 print task and website home page in Grade 12 are mise-en-scène problems before they are anything else.</a:t>
            </a:r>
            <a:endParaRPr lang="en-US" sz="165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Editing</a:t>
            </a:r>
            <a:endParaRPr lang="en-US" sz="62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06. The system that hides itself, made visible by breaking it on purpose.</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2026-08-12T14:04:18Z</dcterms:created>
  <dcterms:modified xsi:type="dcterms:W3CDTF">2026-08-12T14:04:18Z</dcterms:modified>
</cp:coreProperties>
</file>