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highest-yield element for ESL learners: costume, lighting and colour are visible, nameable and thick with connotation, and none of it requires hearing dialogue at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them did. That is the whole definition, arrived at by the class rather than given to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acting boundary once, plainly, then police it in marking. Students who have done drama will reach for performance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the torch demo, live: one volunteer, lights off, four positions in sequence. The room names the effect before the term arrives.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as a design brief: where is this, what is everyone wearing and why, which objects are load-bearing, and who does the arrangement of the room privilege. Then ask the same four questions of their own opening.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412480" y="822960"/>
            <a:ext cx="3017520" cy="4937760"/>
          </a:xfrm>
          <a:prstGeom prst="rect">
            <a:avLst/>
          </a:prstGeom>
          <a:noFill/>
          <a:ln/>
        </p:spPr>
        <p:txBody>
          <a:bodyPr wrap="square" lIns="0" tIns="0" rIns="0" bIns="0" rtlCol="0" anchor="ctr"/>
          <a:lstStyle/>
          <a:p>
            <a:pPr algn="ctr" indent="0" marL="0">
              <a:buNone/>
            </a:pPr>
            <a:r>
              <a:rPr lang="en-US" sz="32000" dirty="0">
                <a:solidFill>
                  <a:srgbClr val="A3C1AD"/>
                </a:solidFill>
                <a:latin typeface="Georgia" pitchFamily="34" charset="0"/>
                <a:ea typeface="Georgia" pitchFamily="34" charset="-122"/>
                <a:cs typeface="Georgia" pitchFamily="34" charset="-120"/>
              </a:rPr>
              <a:t>V</a:t>
            </a:r>
            <a:endParaRPr lang="en-US" sz="32000" dirty="0"/>
          </a:p>
        </p:txBody>
      </p:sp>
      <p:sp>
        <p:nvSpPr>
          <p:cNvPr id="3" name="Text 1"/>
          <p:cNvSpPr/>
          <p:nvPr/>
        </p:nvSpPr>
        <p:spPr>
          <a:xfrm>
            <a:off x="822960" y="123444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MEDIA STUDIES 9607 · UNIT II</a:t>
            </a:r>
            <a:endParaRPr lang="en-US" sz="1100" dirty="0"/>
          </a:p>
        </p:txBody>
      </p:sp>
      <p:sp>
        <p:nvSpPr>
          <p:cNvPr id="4" name="Text 2"/>
          <p:cNvSpPr/>
          <p:nvPr/>
        </p:nvSpPr>
        <p:spPr>
          <a:xfrm>
            <a:off x="822960" y="1737360"/>
            <a:ext cx="7498080" cy="2377440"/>
          </a:xfrm>
          <a:prstGeom prst="rect">
            <a:avLst/>
          </a:prstGeom>
          <a:noFill/>
          <a:ln/>
        </p:spPr>
        <p:txBody>
          <a:bodyPr wrap="square" lIns="0" tIns="0" rIns="0" bIns="0" rtlCol="0" anchor="t"/>
          <a:lstStyle/>
          <a:p>
            <a:pPr indent="0" marL="0">
              <a:lnSpc>
                <a:spcPts val="6600"/>
              </a:lnSpc>
              <a:buNone/>
            </a:pPr>
            <a:r>
              <a:rPr lang="en-US" sz="6200" dirty="0">
                <a:solidFill>
                  <a:srgbClr val="24313F"/>
                </a:solidFill>
                <a:latin typeface="Georgia" pitchFamily="34" charset="0"/>
                <a:ea typeface="Georgia" pitchFamily="34" charset="-122"/>
                <a:cs typeface="Georgia" pitchFamily="34" charset="-120"/>
              </a:rPr>
              <a:t>Mise-en-scène</a:t>
            </a:r>
            <a:endParaRPr lang="en-US" sz="6200" dirty="0"/>
          </a:p>
        </p:txBody>
      </p:sp>
      <p:sp>
        <p:nvSpPr>
          <p:cNvPr id="5" name="Shape 3"/>
          <p:cNvSpPr/>
          <p:nvPr/>
        </p:nvSpPr>
        <p:spPr>
          <a:xfrm>
            <a:off x="822960" y="4343400"/>
            <a:ext cx="914400" cy="0"/>
          </a:xfrm>
          <a:prstGeom prst="line">
            <a:avLst/>
          </a:prstGeom>
          <a:noFill/>
          <a:ln w="31750">
            <a:solidFill>
              <a:srgbClr val="8C3A38"/>
            </a:solidFill>
            <a:prstDash val="solid"/>
          </a:ln>
        </p:spPr>
      </p:sp>
      <p:sp>
        <p:nvSpPr>
          <p:cNvPr id="6" name="Text 4"/>
          <p:cNvSpPr/>
          <p:nvPr/>
        </p:nvSpPr>
        <p:spPr>
          <a:xfrm>
            <a:off x="822960" y="4526280"/>
            <a:ext cx="7315200" cy="457200"/>
          </a:xfrm>
          <a:prstGeom prst="rect">
            <a:avLst/>
          </a:prstGeom>
          <a:noFill/>
          <a:ln/>
        </p:spPr>
        <p:txBody>
          <a:bodyPr wrap="square" lIns="0" tIns="0" rIns="0" bIns="0" rtlCol="0" anchor="ctr"/>
          <a:lstStyle/>
          <a:p>
            <a:pPr indent="0" marL="0">
              <a:buNone/>
            </a:pPr>
            <a:r>
              <a:rPr lang="en-US" sz="2200" i="1" dirty="0">
                <a:solidFill>
                  <a:srgbClr val="7A7F72"/>
                </a:solidFill>
                <a:latin typeface="Georgia" pitchFamily="34" charset="0"/>
                <a:ea typeface="Georgia" pitchFamily="34" charset="-122"/>
                <a:cs typeface="Georgia" pitchFamily="34" charset="-120"/>
              </a:rPr>
              <a:t>Media Language · Lesson 05 of 19</a:t>
            </a:r>
            <a:endParaRPr lang="en-US" sz="2200" dirty="0"/>
          </a:p>
        </p:txBody>
      </p:sp>
      <p:sp>
        <p:nvSpPr>
          <p:cNvPr id="7" name="Text 5"/>
          <p:cNvSpPr/>
          <p:nvPr/>
        </p:nvSpPr>
        <p:spPr>
          <a:xfrm>
            <a:off x="822960" y="5029200"/>
            <a:ext cx="9601200" cy="365760"/>
          </a:xfrm>
          <a:prstGeom prst="rect">
            <a:avLst/>
          </a:prstGeom>
          <a:noFill/>
          <a:ln/>
        </p:spPr>
        <p:txBody>
          <a:bodyPr wrap="square" lIns="0" tIns="0" rIns="0" bIns="0" rtlCol="0" anchor="ctr"/>
          <a:lstStyle/>
          <a:p>
            <a:pPr indent="0" marL="0">
              <a:buNone/>
            </a:pPr>
            <a:r>
              <a:rPr lang="en-US" sz="1300" spc="100" kern="0" dirty="0">
                <a:solidFill>
                  <a:srgbClr val="7A7F72"/>
                </a:solidFill>
                <a:latin typeface="Arial" pitchFamily="34" charset="0"/>
                <a:ea typeface="Arial" pitchFamily="34" charset="-122"/>
                <a:cs typeface="Arial" pitchFamily="34" charset="-120"/>
              </a:rPr>
              <a:t>Two days  ·  Monday 21 to Tuesday 22 September  ·  third of the four technical elements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0" y="640080"/>
            <a:ext cx="3383280" cy="5577840"/>
          </a:xfrm>
          <a:prstGeom prst="rect">
            <a:avLst/>
          </a:prstGeom>
          <a:noFill/>
          <a:ln/>
        </p:spPr>
        <p:txBody>
          <a:bodyPr wrap="square" lIns="0" tIns="0" rIns="0" bIns="0" rtlCol="0" anchor="ctr"/>
          <a:lstStyle/>
          <a:p>
            <a:pPr algn="ctr" indent="0" marL="0">
              <a:buNone/>
            </a:pPr>
            <a:r>
              <a:rPr lang="en-US" sz="38000" dirty="0">
                <a:solidFill>
                  <a:srgbClr val="5C7A6B"/>
                </a:solidFill>
                <a:latin typeface="Georgia" pitchFamily="34" charset="0"/>
                <a:ea typeface="Georgia" pitchFamily="34" charset="-122"/>
                <a:cs typeface="Georgia" pitchFamily="34" charset="-120"/>
              </a:rPr>
              <a:t>V</a:t>
            </a:r>
            <a:endParaRPr lang="en-US" sz="38000" dirty="0"/>
          </a:p>
        </p:txBody>
      </p:sp>
      <p:sp>
        <p:nvSpPr>
          <p:cNvPr id="3" name="Text 1"/>
          <p:cNvSpPr/>
          <p:nvPr/>
        </p:nvSpPr>
        <p:spPr>
          <a:xfrm>
            <a:off x="822960" y="2286000"/>
            <a:ext cx="82296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THE STARTER</a:t>
            </a:r>
            <a:endParaRPr lang="en-US" sz="1100" dirty="0"/>
          </a:p>
        </p:txBody>
      </p:sp>
      <p:sp>
        <p:nvSpPr>
          <p:cNvPr id="4" name="Shape 2"/>
          <p:cNvSpPr/>
          <p:nvPr/>
        </p:nvSpPr>
        <p:spPr>
          <a:xfrm>
            <a:off x="822960" y="2651760"/>
            <a:ext cx="3840480" cy="0"/>
          </a:xfrm>
          <a:prstGeom prst="line">
            <a:avLst/>
          </a:prstGeom>
          <a:noFill/>
          <a:ln w="9525">
            <a:solidFill>
              <a:srgbClr val="8AA394"/>
            </a:solidFill>
            <a:prstDash val="solid"/>
          </a:ln>
        </p:spPr>
      </p:sp>
      <p:sp>
        <p:nvSpPr>
          <p:cNvPr id="5" name="Text 3"/>
          <p:cNvSpPr/>
          <p:nvPr/>
        </p:nvSpPr>
        <p:spPr>
          <a:xfrm>
            <a:off x="822960" y="2743200"/>
            <a:ext cx="7315200" cy="2377440"/>
          </a:xfrm>
          <a:prstGeom prst="rect">
            <a:avLst/>
          </a:prstGeom>
          <a:noFill/>
          <a:ln/>
        </p:spPr>
        <p:txBody>
          <a:bodyPr wrap="square" lIns="0" tIns="0" rIns="0" bIns="0" rtlCol="0" anchor="t"/>
          <a:lstStyle/>
          <a:p>
            <a:pPr indent="0" marL="0">
              <a:lnSpc>
                <a:spcPts val="4800"/>
              </a:lnSpc>
              <a:buNone/>
            </a:pPr>
            <a:r>
              <a:rPr lang="en-US" sz="4000" dirty="0">
                <a:solidFill>
                  <a:srgbClr val="FAF8F1"/>
                </a:solidFill>
                <a:latin typeface="Georgia" pitchFamily="34" charset="0"/>
                <a:ea typeface="Georgia" pitchFamily="34" charset="-122"/>
                <a:cs typeface="Georgia" pitchFamily="34" charset="-120"/>
              </a:rPr>
              <a:t>List ten things you</a:t>
            </a:r>
            <a:endParaRPr lang="en-US" sz="4000" dirty="0"/>
          </a:p>
          <a:p>
            <a:pPr indent="0" marL="0">
              <a:lnSpc>
                <a:spcPts val="4800"/>
              </a:lnSpc>
              <a:buNone/>
            </a:pPr>
            <a:r>
              <a:rPr lang="en-US" sz="4000" dirty="0">
                <a:solidFill>
                  <a:srgbClr val="FAF8F1"/>
                </a:solidFill>
                <a:latin typeface="Georgia" pitchFamily="34" charset="0"/>
                <a:ea typeface="Georgia" pitchFamily="34" charset="-122"/>
                <a:cs typeface="Georgia" pitchFamily="34" charset="-120"/>
              </a:rPr>
              <a:t>can see. Now: which</a:t>
            </a:r>
            <a:endParaRPr lang="en-US" sz="4000" dirty="0"/>
          </a:p>
          <a:p>
            <a:pPr indent="0" marL="0">
              <a:lnSpc>
                <a:spcPts val="4800"/>
              </a:lnSpc>
              <a:buNone/>
            </a:pPr>
            <a:r>
              <a:rPr lang="en-US" sz="4000" dirty="0">
                <a:solidFill>
                  <a:srgbClr val="FAF8F1"/>
                </a:solidFill>
                <a:latin typeface="Georgia" pitchFamily="34" charset="0"/>
                <a:ea typeface="Georgia" pitchFamily="34" charset="-122"/>
                <a:cs typeface="Georgia" pitchFamily="34" charset="-120"/>
              </a:rPr>
              <a:t>got there by accident?</a:t>
            </a:r>
            <a:endParaRPr lang="en-US" sz="4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SYLLABUS LIST</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NO ADDITIONS, AND ONE HARD EXCLUSION</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What counts as mise-en-scène</a:t>
            </a:r>
            <a:endParaRPr lang="en-US" sz="3200" dirty="0"/>
          </a:p>
        </p:txBody>
      </p:sp>
      <p:sp>
        <p:nvSpPr>
          <p:cNvPr id="6" name="Text 4"/>
          <p:cNvSpPr/>
          <p:nvPr/>
        </p:nvSpPr>
        <p:spPr>
          <a:xfrm>
            <a:off x="822960" y="1828800"/>
            <a:ext cx="3209544" cy="457200"/>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Production design</a:t>
            </a:r>
            <a:endParaRPr lang="en-US" sz="2200" dirty="0"/>
          </a:p>
        </p:txBody>
      </p:sp>
      <p:sp>
        <p:nvSpPr>
          <p:cNvPr id="7" name="Shape 5"/>
          <p:cNvSpPr/>
          <p:nvPr/>
        </p:nvSpPr>
        <p:spPr>
          <a:xfrm>
            <a:off x="822960" y="2377440"/>
            <a:ext cx="3209544" cy="0"/>
          </a:xfrm>
          <a:prstGeom prst="line">
            <a:avLst/>
          </a:prstGeom>
          <a:noFill/>
          <a:ln w="9525">
            <a:solidFill>
              <a:srgbClr val="D9D4C4"/>
            </a:solidFill>
            <a:prstDash val="solid"/>
          </a:ln>
        </p:spPr>
      </p:sp>
      <p:sp>
        <p:nvSpPr>
          <p:cNvPr id="8" name="Text 6"/>
          <p:cNvSpPr/>
          <p:nvPr/>
        </p:nvSpPr>
        <p:spPr>
          <a:xfrm>
            <a:off x="822960" y="2542032"/>
            <a:ext cx="3209544" cy="1371600"/>
          </a:xfrm>
          <a:prstGeom prst="rect">
            <a:avLst/>
          </a:prstGeom>
          <a:noFill/>
          <a:ln/>
        </p:spPr>
        <p:txBody>
          <a:bodyPr wrap="square" lIns="0" tIns="0" rIns="0" bIns="0" rtlCol="0" anchor="t"/>
          <a:lstStyle/>
          <a:p>
            <a:pPr indent="0" marL="0">
              <a:lnSpc>
                <a:spcPts val="2400"/>
              </a:lnSpc>
              <a:buNone/>
            </a:pPr>
            <a:r>
              <a:rPr lang="en-US" sz="1650" dirty="0">
                <a:solidFill>
                  <a:srgbClr val="24313F"/>
                </a:solidFill>
                <a:latin typeface="Georgia" pitchFamily="34" charset="0"/>
                <a:ea typeface="Georgia" pitchFamily="34" charset="-122"/>
                <a:cs typeface="Georgia" pitchFamily="34" charset="-120"/>
              </a:rPr>
              <a:t>location  ·  studio  ·  set design</a:t>
            </a:r>
            <a:endParaRPr lang="en-US" sz="1650" dirty="0"/>
          </a:p>
          <a:p>
            <a:pPr indent="0" marL="0">
              <a:lnSpc>
                <a:spcPts val="2400"/>
              </a:lnSpc>
              <a:buNone/>
            </a:pPr>
            <a:r>
              <a:rPr lang="en-US" sz="1650" dirty="0">
                <a:solidFill>
                  <a:srgbClr val="24313F"/>
                </a:solidFill>
                <a:latin typeface="Georgia" pitchFamily="34" charset="0"/>
                <a:ea typeface="Georgia" pitchFamily="34" charset="-122"/>
                <a:cs typeface="Georgia" pitchFamily="34" charset="-120"/>
              </a:rPr>
              <a:t>costume and make-up  ·  properties</a:t>
            </a:r>
            <a:endParaRPr lang="en-US" sz="1650" dirty="0"/>
          </a:p>
        </p:txBody>
      </p:sp>
      <p:sp>
        <p:nvSpPr>
          <p:cNvPr id="9" name="Text 7"/>
          <p:cNvSpPr/>
          <p:nvPr/>
        </p:nvSpPr>
        <p:spPr>
          <a:xfrm>
            <a:off x="4489704" y="1828800"/>
            <a:ext cx="3209544" cy="457200"/>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Lighting</a:t>
            </a:r>
            <a:endParaRPr lang="en-US" sz="2200" dirty="0"/>
          </a:p>
        </p:txBody>
      </p:sp>
      <p:sp>
        <p:nvSpPr>
          <p:cNvPr id="10" name="Shape 8"/>
          <p:cNvSpPr/>
          <p:nvPr/>
        </p:nvSpPr>
        <p:spPr>
          <a:xfrm>
            <a:off x="4489704" y="2377440"/>
            <a:ext cx="3209544" cy="0"/>
          </a:xfrm>
          <a:prstGeom prst="line">
            <a:avLst/>
          </a:prstGeom>
          <a:noFill/>
          <a:ln w="9525">
            <a:solidFill>
              <a:srgbClr val="D9D4C4"/>
            </a:solidFill>
            <a:prstDash val="solid"/>
          </a:ln>
        </p:spPr>
      </p:sp>
      <p:sp>
        <p:nvSpPr>
          <p:cNvPr id="11" name="Text 9"/>
          <p:cNvSpPr/>
          <p:nvPr/>
        </p:nvSpPr>
        <p:spPr>
          <a:xfrm>
            <a:off x="4489704" y="2542032"/>
            <a:ext cx="3209544" cy="1371600"/>
          </a:xfrm>
          <a:prstGeom prst="rect">
            <a:avLst/>
          </a:prstGeom>
          <a:noFill/>
          <a:ln/>
        </p:spPr>
        <p:txBody>
          <a:bodyPr wrap="square" lIns="0" tIns="0" rIns="0" bIns="0" rtlCol="0" anchor="t"/>
          <a:lstStyle/>
          <a:p>
            <a:pPr indent="0" marL="0">
              <a:lnSpc>
                <a:spcPts val="2400"/>
              </a:lnSpc>
              <a:buNone/>
            </a:pPr>
            <a:r>
              <a:rPr lang="en-US" sz="1650" dirty="0">
                <a:solidFill>
                  <a:srgbClr val="24313F"/>
                </a:solidFill>
                <a:latin typeface="Georgia" pitchFamily="34" charset="0"/>
                <a:ea typeface="Georgia" pitchFamily="34" charset="-122"/>
                <a:cs typeface="Georgia" pitchFamily="34" charset="-120"/>
              </a:rPr>
              <a:t>direction  ·  quality  ·  contrast</a:t>
            </a:r>
            <a:endParaRPr lang="en-US" sz="1650" dirty="0"/>
          </a:p>
          <a:p>
            <a:pPr indent="0" marL="0">
              <a:lnSpc>
                <a:spcPts val="2400"/>
              </a:lnSpc>
              <a:buNone/>
            </a:pPr>
            <a:r>
              <a:rPr lang="en-US" sz="1650" dirty="0">
                <a:solidFill>
                  <a:srgbClr val="24313F"/>
                </a:solidFill>
                <a:latin typeface="Georgia" pitchFamily="34" charset="0"/>
                <a:ea typeface="Georgia" pitchFamily="34" charset="-122"/>
                <a:cs typeface="Georgia" pitchFamily="34" charset="-120"/>
              </a:rPr>
              <a:t>high key  ·  low key</a:t>
            </a:r>
            <a:endParaRPr lang="en-US" sz="1650" dirty="0"/>
          </a:p>
        </p:txBody>
      </p:sp>
      <p:sp>
        <p:nvSpPr>
          <p:cNvPr id="12" name="Text 10"/>
          <p:cNvSpPr/>
          <p:nvPr/>
        </p:nvSpPr>
        <p:spPr>
          <a:xfrm>
            <a:off x="8156448" y="1828800"/>
            <a:ext cx="3209544" cy="457200"/>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Colour design</a:t>
            </a:r>
            <a:endParaRPr lang="en-US" sz="2200" dirty="0"/>
          </a:p>
        </p:txBody>
      </p:sp>
      <p:sp>
        <p:nvSpPr>
          <p:cNvPr id="13" name="Shape 11"/>
          <p:cNvSpPr/>
          <p:nvPr/>
        </p:nvSpPr>
        <p:spPr>
          <a:xfrm>
            <a:off x="8156448" y="2377440"/>
            <a:ext cx="3209544" cy="0"/>
          </a:xfrm>
          <a:prstGeom prst="line">
            <a:avLst/>
          </a:prstGeom>
          <a:noFill/>
          <a:ln w="9525">
            <a:solidFill>
              <a:srgbClr val="D9D4C4"/>
            </a:solidFill>
            <a:prstDash val="solid"/>
          </a:ln>
        </p:spPr>
      </p:sp>
      <p:sp>
        <p:nvSpPr>
          <p:cNvPr id="14" name="Text 12"/>
          <p:cNvSpPr/>
          <p:nvPr/>
        </p:nvSpPr>
        <p:spPr>
          <a:xfrm>
            <a:off x="8156448" y="2542032"/>
            <a:ext cx="3209544" cy="1371600"/>
          </a:xfrm>
          <a:prstGeom prst="rect">
            <a:avLst/>
          </a:prstGeom>
          <a:noFill/>
          <a:ln/>
        </p:spPr>
        <p:txBody>
          <a:bodyPr wrap="square" lIns="0" tIns="0" rIns="0" bIns="0" rtlCol="0" anchor="t"/>
          <a:lstStyle/>
          <a:p>
            <a:pPr indent="0" marL="0">
              <a:lnSpc>
                <a:spcPts val="2400"/>
              </a:lnSpc>
              <a:buNone/>
            </a:pPr>
            <a:r>
              <a:rPr lang="en-US" sz="1650" dirty="0">
                <a:solidFill>
                  <a:srgbClr val="24313F"/>
                </a:solidFill>
                <a:latin typeface="Georgia" pitchFamily="34" charset="0"/>
                <a:ea typeface="Georgia" pitchFamily="34" charset="-122"/>
                <a:cs typeface="Georgia" pitchFamily="34" charset="-120"/>
              </a:rPr>
              <a:t>palette  ·  repetition  ·  assignment</a:t>
            </a:r>
            <a:endParaRPr lang="en-US" sz="1650" dirty="0"/>
          </a:p>
          <a:p>
            <a:pPr indent="0" marL="0">
              <a:lnSpc>
                <a:spcPts val="2400"/>
              </a:lnSpc>
              <a:buNone/>
            </a:pPr>
            <a:r>
              <a:rPr lang="en-US" sz="1650" dirty="0">
                <a:solidFill>
                  <a:srgbClr val="24313F"/>
                </a:solidFill>
                <a:latin typeface="Georgia" pitchFamily="34" charset="0"/>
                <a:ea typeface="Georgia" pitchFamily="34" charset="-122"/>
                <a:cs typeface="Georgia" pitchFamily="34" charset="-120"/>
              </a:rPr>
              <a:t>the shift that marks a turn</a:t>
            </a:r>
            <a:endParaRPr lang="en-US" sz="1650" dirty="0"/>
          </a:p>
        </p:txBody>
      </p:sp>
      <p:sp>
        <p:nvSpPr>
          <p:cNvPr id="15" name="Shape 13"/>
          <p:cNvSpPr/>
          <p:nvPr/>
        </p:nvSpPr>
        <p:spPr>
          <a:xfrm>
            <a:off x="822960" y="4114800"/>
            <a:ext cx="10543032" cy="1234440"/>
          </a:xfrm>
          <a:prstGeom prst="rect">
            <a:avLst/>
          </a:prstGeom>
          <a:solidFill>
            <a:srgbClr val="E8EFE7"/>
          </a:solidFill>
          <a:ln/>
        </p:spPr>
      </p:sp>
      <p:sp>
        <p:nvSpPr>
          <p:cNvPr id="16" name="Text 14"/>
          <p:cNvSpPr/>
          <p:nvPr/>
        </p:nvSpPr>
        <p:spPr>
          <a:xfrm>
            <a:off x="1097280" y="4251960"/>
            <a:ext cx="9994392" cy="960120"/>
          </a:xfrm>
          <a:prstGeom prst="rect">
            <a:avLst/>
          </a:prstGeom>
          <a:noFill/>
          <a:ln/>
        </p:spPr>
        <p:txBody>
          <a:bodyPr wrap="square" lIns="0" tIns="0" rIns="0" bIns="0" rtlCol="0" anchor="ctr"/>
          <a:lstStyle/>
          <a:p>
            <a:pPr indent="0" marL="0">
              <a:lnSpc>
                <a:spcPts val="2400"/>
              </a:lnSpc>
              <a:buNone/>
            </a:pPr>
            <a:r>
              <a:rPr lang="en-US" sz="1750" dirty="0">
                <a:solidFill>
                  <a:srgbClr val="24313F"/>
                </a:solidFill>
                <a:latin typeface="Georgia" pitchFamily="34" charset="0"/>
                <a:ea typeface="Georgia" pitchFamily="34" charset="-122"/>
                <a:cs typeface="Georgia" pitchFamily="34" charset="-120"/>
              </a:rPr>
              <a:t>Not on the list, and candidates cross this line every year: acting and performance. The syllabus states that acting is not a skill assessed in media studies. Write about what was placed in the frame, not how it was played.</a:t>
            </a:r>
            <a:endParaRPr lang="en-US" sz="1750" dirty="0"/>
          </a:p>
        </p:txBody>
      </p:sp>
      <p:sp>
        <p:nvSpPr>
          <p:cNvPr id="17" name="Shape 15"/>
          <p:cNvSpPr/>
          <p:nvPr/>
        </p:nvSpPr>
        <p:spPr>
          <a:xfrm>
            <a:off x="822960" y="6382512"/>
            <a:ext cx="10543032" cy="0"/>
          </a:xfrm>
          <a:prstGeom prst="line">
            <a:avLst/>
          </a:prstGeom>
          <a:noFill/>
          <a:ln w="9525">
            <a:solidFill>
              <a:srgbClr val="D9D4C4"/>
            </a:solidFill>
            <a:prstDash val="solid"/>
          </a:ln>
        </p:spPr>
      </p:sp>
      <p:sp>
        <p:nvSpPr>
          <p:cNvPr id="18" name="Text 16"/>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9" name="Text 17"/>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783080"/>
            <a:ext cx="10424160" cy="3291840"/>
          </a:xfrm>
          <a:prstGeom prst="rect">
            <a:avLst/>
          </a:prstGeom>
          <a:noFill/>
          <a:ln/>
        </p:spPr>
        <p:txBody>
          <a:bodyPr wrap="square" lIns="0" tIns="0" rIns="0" bIns="0" rtlCol="0" anchor="ctr"/>
          <a:lstStyle/>
          <a:p>
            <a:pPr indent="0" marL="0">
              <a:lnSpc>
                <a:spcPts val="4600"/>
              </a:lnSpc>
              <a:buNone/>
            </a:pPr>
            <a:r>
              <a:rPr lang="en-US" sz="3600" dirty="0">
                <a:solidFill>
                  <a:srgbClr val="24313F"/>
                </a:solidFill>
                <a:latin typeface="Georgia" pitchFamily="34" charset="0"/>
                <a:ea typeface="Georgia" pitchFamily="34" charset="-122"/>
                <a:cs typeface="Georgia" pitchFamily="34" charset="-120"/>
              </a:rPr>
              <a:t>Stills from particular films can be used for mise-en-scène analysis and recorded in the blog as evidence of research.</a:t>
            </a:r>
            <a:endParaRPr lang="en-US" sz="36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Cambridge Scheme of Work, Foundation Portfolio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1"/>
        </a:solidFill>
      </p:bgPr>
    </p:bg>
    <p:spTree>
      <p:nvGrpSpPr>
        <p:cNvPr id="1" name=""/>
        <p:cNvGrpSpPr/>
        <p:nvPr/>
      </p:nvGrpSpPr>
      <p:grpSpPr>
        <a:xfrm>
          <a:off x="0" y="0"/>
          <a:ext cx="0" cy="0"/>
          <a:chOff x="0" y="0"/>
          <a:chExt cx="0" cy="0"/>
        </a:xfrm>
      </p:grpSpPr>
      <p:pic>
        <p:nvPicPr>
          <p:cNvPr id="2" name="Image 0" descr="/Users/dogan/Documents/Vaults/Courses/wiki/classes/media-studies/decks/_build/img/crops/caravaggio-matthew_a664.jpg">    </p:cNvPr>
          <p:cNvPicPr>
            <a:picLocks noChangeAspect="1"/>
          </p:cNvPicPr>
          <p:nvPr/>
        </p:nvPicPr>
        <p:blipFill>
          <a:blip r:embed="rId1"/>
          <a:stretch>
            <a:fillRect/>
          </a:stretch>
        </p:blipFill>
        <p:spPr>
          <a:xfrm>
            <a:off x="7635240" y="0"/>
            <a:ext cx="4553712" cy="6858000"/>
          </a:xfrm>
          <a:prstGeom prst="rect">
            <a:avLst/>
          </a:prstGeom>
        </p:spPr>
      </p:pic>
      <p:sp>
        <p:nvSpPr>
          <p:cNvPr id="3" name="Text 0"/>
          <p:cNvSpPr/>
          <p:nvPr/>
        </p:nvSpPr>
        <p:spPr>
          <a:xfrm>
            <a:off x="822960" y="82296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LIGHTING · DIRECTION AND CONTRAST</a:t>
            </a:r>
            <a:endParaRPr lang="en-US" sz="1100" dirty="0"/>
          </a:p>
        </p:txBody>
      </p:sp>
      <p:sp>
        <p:nvSpPr>
          <p:cNvPr id="4" name="Shape 1"/>
          <p:cNvSpPr/>
          <p:nvPr/>
        </p:nvSpPr>
        <p:spPr>
          <a:xfrm>
            <a:off x="822960" y="1188720"/>
            <a:ext cx="6400800" cy="0"/>
          </a:xfrm>
          <a:prstGeom prst="line">
            <a:avLst/>
          </a:prstGeom>
          <a:noFill/>
          <a:ln w="9525">
            <a:solidFill>
              <a:srgbClr val="D9D4C4"/>
            </a:solidFill>
            <a:prstDash val="solid"/>
          </a:ln>
        </p:spPr>
      </p:sp>
      <p:sp>
        <p:nvSpPr>
          <p:cNvPr id="5" name="Text 2"/>
          <p:cNvSpPr/>
          <p:nvPr/>
        </p:nvSpPr>
        <p:spPr>
          <a:xfrm>
            <a:off x="822960" y="1371600"/>
            <a:ext cx="6400800" cy="822960"/>
          </a:xfrm>
          <a:prstGeom prst="rect">
            <a:avLst/>
          </a:prstGeom>
          <a:noFill/>
          <a:ln/>
        </p:spPr>
        <p:txBody>
          <a:bodyPr wrap="square" lIns="0" tIns="0" rIns="0" bIns="0" rtlCol="0" anchor="ctr"/>
          <a:lstStyle/>
          <a:p>
            <a:pPr indent="0" marL="0">
              <a:buNone/>
            </a:pPr>
            <a:r>
              <a:rPr lang="en-US" sz="3600" dirty="0">
                <a:solidFill>
                  <a:srgbClr val="24313F"/>
                </a:solidFill>
                <a:latin typeface="Georgia" pitchFamily="34" charset="0"/>
                <a:ea typeface="Georgia" pitchFamily="34" charset="-122"/>
                <a:cs typeface="Georgia" pitchFamily="34" charset="-120"/>
              </a:rPr>
              <a:t>One window does the casting</a:t>
            </a:r>
            <a:endParaRPr lang="en-US" sz="3600" dirty="0"/>
          </a:p>
        </p:txBody>
      </p:sp>
      <p:sp>
        <p:nvSpPr>
          <p:cNvPr id="6" name="Text 3"/>
          <p:cNvSpPr/>
          <p:nvPr/>
        </p:nvSpPr>
        <p:spPr>
          <a:xfrm>
            <a:off x="822960" y="2331720"/>
            <a:ext cx="6400800" cy="3291840"/>
          </a:xfrm>
          <a:prstGeom prst="rect">
            <a:avLst/>
          </a:prstGeom>
          <a:noFill/>
          <a:ln/>
        </p:spPr>
        <p:txBody>
          <a:bodyPr wrap="square" lIns="0" tIns="0" rIns="0" bIns="0" rtlCol="0" anchor="t"/>
          <a:lstStyle/>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The light enters high on the right and travels across the room, and wherever it lands a face becomes important. The men it misses are furniture. Nobody has spoken; the lighting has already told you who the scene is about.</a:t>
            </a:r>
            <a:endParaRPr lang="en-US" sz="1700" dirty="0"/>
          </a:p>
          <a:p>
            <a:pPr indent="0" marL="0">
              <a:lnSpc>
                <a:spcPts val="2400"/>
              </a:lnSpc>
              <a:buNone/>
            </a:pPr>
            <a:endParaRPr lang="en-US" sz="1700" dirty="0"/>
          </a:p>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That is low key: hard contrast, deep shadow, a decision about attention rather than about brightness. Thriller and horror use it constantly, and for the same reason.</a:t>
            </a:r>
            <a:endParaRPr lang="en-US" sz="1700" dirty="0"/>
          </a:p>
        </p:txBody>
      </p:sp>
      <p:sp>
        <p:nvSpPr>
          <p:cNvPr id="7" name="Text 4"/>
          <p:cNvSpPr/>
          <p:nvPr/>
        </p:nvSpPr>
        <p:spPr>
          <a:xfrm>
            <a:off x="7818120" y="6126480"/>
            <a:ext cx="4187952" cy="365760"/>
          </a:xfrm>
          <a:prstGeom prst="rect">
            <a:avLst/>
          </a:prstGeom>
          <a:solidFill>
            <a:srgbClr val="FAF8F1"/>
          </a:solid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Caravaggio, The Calling of Saint Matthew, c. 1600</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TEN MINUTES, LIGHTS OFF</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ONE VOLUNTEER, ONE PHONE TORCH</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Four positions, in this order</a:t>
            </a:r>
            <a:endParaRPr lang="en-US" sz="3200" dirty="0"/>
          </a:p>
        </p:txBody>
      </p:sp>
      <p:sp>
        <p:nvSpPr>
          <p:cNvPr id="6" name="Text 4"/>
          <p:cNvSpPr/>
          <p:nvPr/>
        </p:nvSpPr>
        <p:spPr>
          <a:xfrm>
            <a:off x="822960" y="1828800"/>
            <a:ext cx="914400" cy="457200"/>
          </a:xfrm>
          <a:prstGeom prst="rect">
            <a:avLst/>
          </a:prstGeom>
          <a:noFill/>
          <a:ln/>
        </p:spPr>
        <p:txBody>
          <a:bodyPr wrap="square" lIns="0" tIns="0" rIns="0" bIns="0" rtlCol="0" anchor="ctr"/>
          <a:lstStyle/>
          <a:p>
            <a:pPr indent="0" marL="0">
              <a:buNone/>
            </a:pPr>
            <a:r>
              <a:rPr lang="en-US" sz="2600" dirty="0">
                <a:solidFill>
                  <a:srgbClr val="A3C1AD"/>
                </a:solidFill>
                <a:latin typeface="Georgia" pitchFamily="34" charset="0"/>
                <a:ea typeface="Georgia" pitchFamily="34" charset="-122"/>
                <a:cs typeface="Georgia" pitchFamily="34" charset="-120"/>
              </a:rPr>
              <a:t>01</a:t>
            </a:r>
            <a:endParaRPr lang="en-US" sz="2600" dirty="0"/>
          </a:p>
        </p:txBody>
      </p:sp>
      <p:sp>
        <p:nvSpPr>
          <p:cNvPr id="7" name="Text 5"/>
          <p:cNvSpPr/>
          <p:nvPr/>
        </p:nvSpPr>
        <p:spPr>
          <a:xfrm>
            <a:off x="822960" y="2286000"/>
            <a:ext cx="2361438" cy="45720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Front</a:t>
            </a:r>
            <a:endParaRPr lang="en-US" sz="2100" dirty="0"/>
          </a:p>
        </p:txBody>
      </p:sp>
      <p:sp>
        <p:nvSpPr>
          <p:cNvPr id="8" name="Shape 6"/>
          <p:cNvSpPr/>
          <p:nvPr/>
        </p:nvSpPr>
        <p:spPr>
          <a:xfrm>
            <a:off x="822960" y="2798064"/>
            <a:ext cx="2361438" cy="0"/>
          </a:xfrm>
          <a:prstGeom prst="line">
            <a:avLst/>
          </a:prstGeom>
          <a:noFill/>
          <a:ln w="9525">
            <a:solidFill>
              <a:srgbClr val="D9D4C4"/>
            </a:solidFill>
            <a:prstDash val="solid"/>
          </a:ln>
        </p:spPr>
      </p:sp>
      <p:sp>
        <p:nvSpPr>
          <p:cNvPr id="9" name="Text 7"/>
          <p:cNvSpPr/>
          <p:nvPr/>
        </p:nvSpPr>
        <p:spPr>
          <a:xfrm>
            <a:off x="822960" y="2926080"/>
            <a:ext cx="2361438" cy="2103120"/>
          </a:xfrm>
          <a:prstGeom prst="rect">
            <a:avLst/>
          </a:prstGeom>
          <a:noFill/>
          <a:ln/>
        </p:spPr>
        <p:txBody>
          <a:bodyPr wrap="square" lIns="0" tIns="0" rIns="0" bIns="0" rtlCol="0" anchor="t"/>
          <a:lstStyle/>
          <a:p>
            <a:pPr indent="0" marL="0">
              <a:lnSpc>
                <a:spcPts val="2000"/>
              </a:lnSpc>
              <a:buNone/>
            </a:pPr>
            <a:r>
              <a:rPr lang="en-US" sz="1450" dirty="0">
                <a:solidFill>
                  <a:srgbClr val="24313F"/>
                </a:solidFill>
                <a:latin typeface="Georgia" pitchFamily="34" charset="0"/>
                <a:ea typeface="Georgia" pitchFamily="34" charset="-122"/>
                <a:cs typeface="Georgia" pitchFamily="34" charset="-120"/>
              </a:rPr>
              <a:t>Flat. Every feature legible, nothing hidden. Honest, and slightly boring: news and lifestyle live here.</a:t>
            </a:r>
            <a:endParaRPr lang="en-US" sz="1450" dirty="0"/>
          </a:p>
        </p:txBody>
      </p:sp>
      <p:sp>
        <p:nvSpPr>
          <p:cNvPr id="10" name="Text 8"/>
          <p:cNvSpPr/>
          <p:nvPr/>
        </p:nvSpPr>
        <p:spPr>
          <a:xfrm>
            <a:off x="3550158" y="1828800"/>
            <a:ext cx="914400" cy="457200"/>
          </a:xfrm>
          <a:prstGeom prst="rect">
            <a:avLst/>
          </a:prstGeom>
          <a:noFill/>
          <a:ln/>
        </p:spPr>
        <p:txBody>
          <a:bodyPr wrap="square" lIns="0" tIns="0" rIns="0" bIns="0" rtlCol="0" anchor="ctr"/>
          <a:lstStyle/>
          <a:p>
            <a:pPr indent="0" marL="0">
              <a:buNone/>
            </a:pPr>
            <a:r>
              <a:rPr lang="en-US" sz="2600" dirty="0">
                <a:solidFill>
                  <a:srgbClr val="A3C1AD"/>
                </a:solidFill>
                <a:latin typeface="Georgia" pitchFamily="34" charset="0"/>
                <a:ea typeface="Georgia" pitchFamily="34" charset="-122"/>
                <a:cs typeface="Georgia" pitchFamily="34" charset="-120"/>
              </a:rPr>
              <a:t>02</a:t>
            </a:r>
            <a:endParaRPr lang="en-US" sz="2600" dirty="0"/>
          </a:p>
        </p:txBody>
      </p:sp>
      <p:sp>
        <p:nvSpPr>
          <p:cNvPr id="11" name="Text 9"/>
          <p:cNvSpPr/>
          <p:nvPr/>
        </p:nvSpPr>
        <p:spPr>
          <a:xfrm>
            <a:off x="3550158" y="2286000"/>
            <a:ext cx="2361438" cy="45720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Side</a:t>
            </a:r>
            <a:endParaRPr lang="en-US" sz="2100" dirty="0"/>
          </a:p>
        </p:txBody>
      </p:sp>
      <p:sp>
        <p:nvSpPr>
          <p:cNvPr id="12" name="Shape 10"/>
          <p:cNvSpPr/>
          <p:nvPr/>
        </p:nvSpPr>
        <p:spPr>
          <a:xfrm>
            <a:off x="3550158" y="2798064"/>
            <a:ext cx="2361438" cy="0"/>
          </a:xfrm>
          <a:prstGeom prst="line">
            <a:avLst/>
          </a:prstGeom>
          <a:noFill/>
          <a:ln w="9525">
            <a:solidFill>
              <a:srgbClr val="D9D4C4"/>
            </a:solidFill>
            <a:prstDash val="solid"/>
          </a:ln>
        </p:spPr>
      </p:sp>
      <p:sp>
        <p:nvSpPr>
          <p:cNvPr id="13" name="Text 11"/>
          <p:cNvSpPr/>
          <p:nvPr/>
        </p:nvSpPr>
        <p:spPr>
          <a:xfrm>
            <a:off x="3550158" y="2926080"/>
            <a:ext cx="2361438" cy="2103120"/>
          </a:xfrm>
          <a:prstGeom prst="rect">
            <a:avLst/>
          </a:prstGeom>
          <a:noFill/>
          <a:ln/>
        </p:spPr>
        <p:txBody>
          <a:bodyPr wrap="square" lIns="0" tIns="0" rIns="0" bIns="0" rtlCol="0" anchor="t"/>
          <a:lstStyle/>
          <a:p>
            <a:pPr indent="0" marL="0">
              <a:lnSpc>
                <a:spcPts val="2000"/>
              </a:lnSpc>
              <a:buNone/>
            </a:pPr>
            <a:r>
              <a:rPr lang="en-US" sz="1450" dirty="0">
                <a:solidFill>
                  <a:srgbClr val="24313F"/>
                </a:solidFill>
                <a:latin typeface="Georgia" pitchFamily="34" charset="0"/>
                <a:ea typeface="Georgia" pitchFamily="34" charset="-122"/>
                <a:cs typeface="Georgia" pitchFamily="34" charset="-120"/>
              </a:rPr>
              <a:t>Half the face given, half withheld. The standard face of a character with something unresolved.</a:t>
            </a:r>
            <a:endParaRPr lang="en-US" sz="1450" dirty="0"/>
          </a:p>
        </p:txBody>
      </p:sp>
      <p:sp>
        <p:nvSpPr>
          <p:cNvPr id="14" name="Text 12"/>
          <p:cNvSpPr/>
          <p:nvPr/>
        </p:nvSpPr>
        <p:spPr>
          <a:xfrm>
            <a:off x="6277356" y="1828800"/>
            <a:ext cx="914400" cy="457200"/>
          </a:xfrm>
          <a:prstGeom prst="rect">
            <a:avLst/>
          </a:prstGeom>
          <a:noFill/>
          <a:ln/>
        </p:spPr>
        <p:txBody>
          <a:bodyPr wrap="square" lIns="0" tIns="0" rIns="0" bIns="0" rtlCol="0" anchor="ctr"/>
          <a:lstStyle/>
          <a:p>
            <a:pPr indent="0" marL="0">
              <a:buNone/>
            </a:pPr>
            <a:r>
              <a:rPr lang="en-US" sz="2600" dirty="0">
                <a:solidFill>
                  <a:srgbClr val="A3C1AD"/>
                </a:solidFill>
                <a:latin typeface="Georgia" pitchFamily="34" charset="0"/>
                <a:ea typeface="Georgia" pitchFamily="34" charset="-122"/>
                <a:cs typeface="Georgia" pitchFamily="34" charset="-120"/>
              </a:rPr>
              <a:t>03</a:t>
            </a:r>
            <a:endParaRPr lang="en-US" sz="2600" dirty="0"/>
          </a:p>
        </p:txBody>
      </p:sp>
      <p:sp>
        <p:nvSpPr>
          <p:cNvPr id="15" name="Text 13"/>
          <p:cNvSpPr/>
          <p:nvPr/>
        </p:nvSpPr>
        <p:spPr>
          <a:xfrm>
            <a:off x="6277356" y="2286000"/>
            <a:ext cx="2361438" cy="45720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Below</a:t>
            </a:r>
            <a:endParaRPr lang="en-US" sz="2100" dirty="0"/>
          </a:p>
        </p:txBody>
      </p:sp>
      <p:sp>
        <p:nvSpPr>
          <p:cNvPr id="16" name="Shape 14"/>
          <p:cNvSpPr/>
          <p:nvPr/>
        </p:nvSpPr>
        <p:spPr>
          <a:xfrm>
            <a:off x="6277356" y="2798064"/>
            <a:ext cx="2361438" cy="0"/>
          </a:xfrm>
          <a:prstGeom prst="line">
            <a:avLst/>
          </a:prstGeom>
          <a:noFill/>
          <a:ln w="9525">
            <a:solidFill>
              <a:srgbClr val="D9D4C4"/>
            </a:solidFill>
            <a:prstDash val="solid"/>
          </a:ln>
        </p:spPr>
      </p:sp>
      <p:sp>
        <p:nvSpPr>
          <p:cNvPr id="17" name="Text 15"/>
          <p:cNvSpPr/>
          <p:nvPr/>
        </p:nvSpPr>
        <p:spPr>
          <a:xfrm>
            <a:off x="6277356" y="2926080"/>
            <a:ext cx="2361438" cy="2103120"/>
          </a:xfrm>
          <a:prstGeom prst="rect">
            <a:avLst/>
          </a:prstGeom>
          <a:noFill/>
          <a:ln/>
        </p:spPr>
        <p:txBody>
          <a:bodyPr wrap="square" lIns="0" tIns="0" rIns="0" bIns="0" rtlCol="0" anchor="t"/>
          <a:lstStyle/>
          <a:p>
            <a:pPr indent="0" marL="0">
              <a:lnSpc>
                <a:spcPts val="2000"/>
              </a:lnSpc>
              <a:buNone/>
            </a:pPr>
            <a:r>
              <a:rPr lang="en-US" sz="1450" dirty="0">
                <a:solidFill>
                  <a:srgbClr val="24313F"/>
                </a:solidFill>
                <a:latin typeface="Georgia" pitchFamily="34" charset="0"/>
                <a:ea typeface="Georgia" pitchFamily="34" charset="-122"/>
                <a:cs typeface="Georgia" pitchFamily="34" charset="-120"/>
              </a:rPr>
              <a:t>Wrong. Light does not come from the floor, and your eye knew that before you could say it. The horror convention.</a:t>
            </a:r>
            <a:endParaRPr lang="en-US" sz="1450" dirty="0"/>
          </a:p>
        </p:txBody>
      </p:sp>
      <p:sp>
        <p:nvSpPr>
          <p:cNvPr id="18" name="Text 16"/>
          <p:cNvSpPr/>
          <p:nvPr/>
        </p:nvSpPr>
        <p:spPr>
          <a:xfrm>
            <a:off x="9004554" y="1828800"/>
            <a:ext cx="914400" cy="457200"/>
          </a:xfrm>
          <a:prstGeom prst="rect">
            <a:avLst/>
          </a:prstGeom>
          <a:noFill/>
          <a:ln/>
        </p:spPr>
        <p:txBody>
          <a:bodyPr wrap="square" lIns="0" tIns="0" rIns="0" bIns="0" rtlCol="0" anchor="ctr"/>
          <a:lstStyle/>
          <a:p>
            <a:pPr indent="0" marL="0">
              <a:buNone/>
            </a:pPr>
            <a:r>
              <a:rPr lang="en-US" sz="2600" dirty="0">
                <a:solidFill>
                  <a:srgbClr val="A3C1AD"/>
                </a:solidFill>
                <a:latin typeface="Georgia" pitchFamily="34" charset="0"/>
                <a:ea typeface="Georgia" pitchFamily="34" charset="-122"/>
                <a:cs typeface="Georgia" pitchFamily="34" charset="-120"/>
              </a:rPr>
              <a:t>04</a:t>
            </a:r>
            <a:endParaRPr lang="en-US" sz="2600" dirty="0"/>
          </a:p>
        </p:txBody>
      </p:sp>
      <p:sp>
        <p:nvSpPr>
          <p:cNvPr id="19" name="Text 17"/>
          <p:cNvSpPr/>
          <p:nvPr/>
        </p:nvSpPr>
        <p:spPr>
          <a:xfrm>
            <a:off x="9004554" y="2286000"/>
            <a:ext cx="2361438" cy="45720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Behind</a:t>
            </a:r>
            <a:endParaRPr lang="en-US" sz="2100" dirty="0"/>
          </a:p>
        </p:txBody>
      </p:sp>
      <p:sp>
        <p:nvSpPr>
          <p:cNvPr id="20" name="Shape 18"/>
          <p:cNvSpPr/>
          <p:nvPr/>
        </p:nvSpPr>
        <p:spPr>
          <a:xfrm>
            <a:off x="9004554" y="2798064"/>
            <a:ext cx="2361438" cy="0"/>
          </a:xfrm>
          <a:prstGeom prst="line">
            <a:avLst/>
          </a:prstGeom>
          <a:noFill/>
          <a:ln w="9525">
            <a:solidFill>
              <a:srgbClr val="D9D4C4"/>
            </a:solidFill>
            <a:prstDash val="solid"/>
          </a:ln>
        </p:spPr>
      </p:sp>
      <p:sp>
        <p:nvSpPr>
          <p:cNvPr id="21" name="Text 19"/>
          <p:cNvSpPr/>
          <p:nvPr/>
        </p:nvSpPr>
        <p:spPr>
          <a:xfrm>
            <a:off x="9004554" y="2926080"/>
            <a:ext cx="2361438" cy="2103120"/>
          </a:xfrm>
          <a:prstGeom prst="rect">
            <a:avLst/>
          </a:prstGeom>
          <a:noFill/>
          <a:ln/>
        </p:spPr>
        <p:txBody>
          <a:bodyPr wrap="square" lIns="0" tIns="0" rIns="0" bIns="0" rtlCol="0" anchor="t"/>
          <a:lstStyle/>
          <a:p>
            <a:pPr indent="0" marL="0">
              <a:lnSpc>
                <a:spcPts val="2000"/>
              </a:lnSpc>
              <a:buNone/>
            </a:pPr>
            <a:r>
              <a:rPr lang="en-US" sz="1450" dirty="0">
                <a:solidFill>
                  <a:srgbClr val="24313F"/>
                </a:solidFill>
                <a:latin typeface="Georgia" pitchFamily="34" charset="0"/>
                <a:ea typeface="Georgia" pitchFamily="34" charset="-122"/>
                <a:cs typeface="Georgia" pitchFamily="34" charset="-120"/>
              </a:rPr>
              <a:t>The subject becomes a shape. Identity withheld entirely, which is why it opens so many thrillers.</a:t>
            </a:r>
            <a:endParaRPr lang="en-US" sz="1450" dirty="0"/>
          </a:p>
        </p:txBody>
      </p:sp>
      <p:sp>
        <p:nvSpPr>
          <p:cNvPr id="22" name="Shape 20"/>
          <p:cNvSpPr/>
          <p:nvPr/>
        </p:nvSpPr>
        <p:spPr>
          <a:xfrm>
            <a:off x="822960" y="5212080"/>
            <a:ext cx="914400" cy="0"/>
          </a:xfrm>
          <a:prstGeom prst="line">
            <a:avLst/>
          </a:prstGeom>
          <a:noFill/>
          <a:ln w="31750">
            <a:solidFill>
              <a:srgbClr val="8C3A38"/>
            </a:solidFill>
            <a:prstDash val="solid"/>
          </a:ln>
        </p:spPr>
      </p:sp>
      <p:sp>
        <p:nvSpPr>
          <p:cNvPr id="23" name="Text 21"/>
          <p:cNvSpPr/>
          <p:nvPr/>
        </p:nvSpPr>
        <p:spPr>
          <a:xfrm>
            <a:off x="822960" y="5394960"/>
            <a:ext cx="10424160" cy="548640"/>
          </a:xfrm>
          <a:prstGeom prst="rect">
            <a:avLst/>
          </a:prstGeom>
          <a:noFill/>
          <a:ln/>
        </p:spPr>
        <p:txBody>
          <a:bodyPr wrap="square" lIns="0" tIns="0" rIns="0" bIns="0" rtlCol="0" anchor="ctr"/>
          <a:lstStyle/>
          <a:p>
            <a:pPr indent="0" marL="0">
              <a:buNone/>
            </a:pPr>
            <a:r>
              <a:rPr lang="en-US" sz="1650" i="1" dirty="0">
                <a:solidFill>
                  <a:srgbClr val="4A6B5D"/>
                </a:solidFill>
                <a:latin typeface="Georgia" pitchFamily="34" charset="0"/>
                <a:ea typeface="Georgia" pitchFamily="34" charset="-122"/>
                <a:cs typeface="Georgia" pitchFamily="34" charset="-120"/>
              </a:rPr>
              <a:t>Then the names: key, fill and back light; high key against low key; hard quality against soft. Photograph all four set-ups for your notes.</a:t>
            </a:r>
            <a:endParaRPr lang="en-US" sz="1650" dirty="0"/>
          </a:p>
        </p:txBody>
      </p:sp>
      <p:sp>
        <p:nvSpPr>
          <p:cNvPr id="24" name="Shape 22"/>
          <p:cNvSpPr/>
          <p:nvPr/>
        </p:nvSpPr>
        <p:spPr>
          <a:xfrm>
            <a:off x="822960" y="6382512"/>
            <a:ext cx="10543032" cy="0"/>
          </a:xfrm>
          <a:prstGeom prst="line">
            <a:avLst/>
          </a:prstGeom>
          <a:noFill/>
          <a:ln w="9525">
            <a:solidFill>
              <a:srgbClr val="D9D4C4"/>
            </a:solidFill>
            <a:prstDash val="solid"/>
          </a:ln>
        </p:spPr>
      </p:sp>
      <p:sp>
        <p:nvSpPr>
          <p:cNvPr id="25" name="Text 23"/>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6" name="Text 24"/>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02</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Users/dogan/Documents/Vaults/Courses/wiki/classes/media-studies/decks/_build/img/crops/bruegel-wedding_a1777.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a:off x="502920" y="502920"/>
            <a:ext cx="5120640" cy="502920"/>
          </a:xfrm>
          <a:prstGeom prst="rect">
            <a:avLst/>
          </a:prstGeom>
          <a:solidFill>
            <a:srgbClr val="FAF8F1"/>
          </a:solidFill>
          <a:ln/>
        </p:spPr>
      </p:sp>
      <p:sp>
        <p:nvSpPr>
          <p:cNvPr id="4" name="Text 1"/>
          <p:cNvSpPr/>
          <p:nvPr/>
        </p:nvSpPr>
        <p:spPr>
          <a:xfrm>
            <a:off x="704088" y="521208"/>
            <a:ext cx="484632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PRODUCTION DESIGN · EVERYTHING AT ONCE</a:t>
            </a:r>
            <a:endParaRPr lang="en-US" sz="1100" dirty="0"/>
          </a:p>
        </p:txBody>
      </p:sp>
      <p:sp>
        <p:nvSpPr>
          <p:cNvPr id="5" name="Shape 2"/>
          <p:cNvSpPr/>
          <p:nvPr/>
        </p:nvSpPr>
        <p:spPr>
          <a:xfrm>
            <a:off x="457200" y="5230368"/>
            <a:ext cx="8778240" cy="1243584"/>
          </a:xfrm>
          <a:prstGeom prst="rect">
            <a:avLst/>
          </a:prstGeom>
          <a:solidFill>
            <a:srgbClr val="FAF8F1"/>
          </a:solidFill>
          <a:ln/>
        </p:spPr>
      </p:sp>
      <p:sp>
        <p:nvSpPr>
          <p:cNvPr id="6" name="Shape 3"/>
          <p:cNvSpPr/>
          <p:nvPr/>
        </p:nvSpPr>
        <p:spPr>
          <a:xfrm>
            <a:off x="676656" y="5468112"/>
            <a:ext cx="731520" cy="0"/>
          </a:xfrm>
          <a:prstGeom prst="line">
            <a:avLst/>
          </a:prstGeom>
          <a:noFill/>
          <a:ln w="28575">
            <a:solidFill>
              <a:srgbClr val="8C3A38"/>
            </a:solidFill>
            <a:prstDash val="solid"/>
          </a:ln>
        </p:spPr>
      </p:sp>
      <p:sp>
        <p:nvSpPr>
          <p:cNvPr id="7" name="Text 4"/>
          <p:cNvSpPr/>
          <p:nvPr/>
        </p:nvSpPr>
        <p:spPr>
          <a:xfrm>
            <a:off x="676656" y="5541264"/>
            <a:ext cx="8339328" cy="585216"/>
          </a:xfrm>
          <a:prstGeom prst="rect">
            <a:avLst/>
          </a:prstGeom>
          <a:noFill/>
          <a:ln/>
        </p:spPr>
        <p:txBody>
          <a:bodyPr wrap="square" lIns="0" tIns="0" rIns="0" bIns="0" rtlCol="0" anchor="t"/>
          <a:lstStyle/>
          <a:p>
            <a:pPr indent="0" marL="0">
              <a:lnSpc>
                <a:spcPts val="2200"/>
              </a:lnSpc>
              <a:buNone/>
            </a:pPr>
            <a:r>
              <a:rPr lang="en-US" sz="1800" dirty="0">
                <a:solidFill>
                  <a:srgbClr val="24313F"/>
                </a:solidFill>
                <a:latin typeface="Georgia" pitchFamily="34" charset="0"/>
                <a:ea typeface="Georgia" pitchFamily="34" charset="-122"/>
                <a:cs typeface="Georgia" pitchFamily="34" charset="-120"/>
              </a:rPr>
              <a:t>Location, costume, properties, and the two people the design refuses to centre.</a:t>
            </a:r>
            <a:endParaRPr lang="en-US" sz="1800" dirty="0"/>
          </a:p>
        </p:txBody>
      </p:sp>
      <p:sp>
        <p:nvSpPr>
          <p:cNvPr id="8" name="Text 5"/>
          <p:cNvSpPr/>
          <p:nvPr/>
        </p:nvSpPr>
        <p:spPr>
          <a:xfrm>
            <a:off x="676656" y="6181344"/>
            <a:ext cx="8339328" cy="256032"/>
          </a:xfrm>
          <a:prstGeom prst="rect">
            <a:avLst/>
          </a:prstGeom>
          <a:no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Pieter Bruegel the Elder, The Peasant Wedding, c. 1567</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TRAP</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ONE FAILURE THAT COSTS THE WHOLE ELEMENT</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97280"/>
            <a:ext cx="10543032" cy="822960"/>
          </a:xfrm>
          <a:prstGeom prst="rect">
            <a:avLst/>
          </a:prstGeom>
          <a:noFill/>
          <a:ln/>
        </p:spPr>
        <p:txBody>
          <a:bodyPr wrap="square" lIns="0" tIns="0" rIns="0" bIns="0" rtlCol="0" anchor="ctr"/>
          <a:lstStyle/>
          <a:p>
            <a:pPr indent="0" marL="0">
              <a:buNone/>
            </a:pPr>
            <a:r>
              <a:rPr lang="en-US" sz="3800" dirty="0">
                <a:solidFill>
                  <a:srgbClr val="24313F"/>
                </a:solidFill>
                <a:latin typeface="Georgia" pitchFamily="34" charset="0"/>
                <a:ea typeface="Georgia" pitchFamily="34" charset="-122"/>
                <a:cs typeface="Georgia" pitchFamily="34" charset="-120"/>
              </a:rPr>
              <a:t>A moodboard earns nothing</a:t>
            </a:r>
            <a:endParaRPr lang="en-US" sz="3800" dirty="0"/>
          </a:p>
        </p:txBody>
      </p:sp>
      <p:sp>
        <p:nvSpPr>
          <p:cNvPr id="6" name="Text 4"/>
          <p:cNvSpPr/>
          <p:nvPr/>
        </p:nvSpPr>
        <p:spPr>
          <a:xfrm>
            <a:off x="822960" y="2148840"/>
            <a:ext cx="4846320" cy="502920"/>
          </a:xfrm>
          <a:prstGeom prst="rect">
            <a:avLst/>
          </a:prstGeom>
          <a:noFill/>
          <a:ln/>
        </p:spPr>
        <p:txBody>
          <a:bodyPr wrap="square" lIns="0" tIns="0" rIns="0" bIns="0" rtlCol="0" anchor="ctr"/>
          <a:lstStyle/>
          <a:p>
            <a:pPr indent="0" marL="0">
              <a:buNone/>
            </a:pPr>
            <a:r>
              <a:rPr lang="en-US" sz="2500" dirty="0">
                <a:solidFill>
                  <a:srgbClr val="7A7F72"/>
                </a:solidFill>
                <a:latin typeface="Georgia" pitchFamily="34" charset="0"/>
                <a:ea typeface="Georgia" pitchFamily="34" charset="-122"/>
                <a:cs typeface="Georgia" pitchFamily="34" charset="-120"/>
              </a:rPr>
              <a:t>Description</a:t>
            </a:r>
            <a:endParaRPr lang="en-US" sz="2500" dirty="0"/>
          </a:p>
        </p:txBody>
      </p:sp>
      <p:sp>
        <p:nvSpPr>
          <p:cNvPr id="7" name="Shape 5"/>
          <p:cNvSpPr/>
          <p:nvPr/>
        </p:nvSpPr>
        <p:spPr>
          <a:xfrm>
            <a:off x="822960" y="2724912"/>
            <a:ext cx="4754880" cy="0"/>
          </a:xfrm>
          <a:prstGeom prst="line">
            <a:avLst/>
          </a:prstGeom>
          <a:noFill/>
          <a:ln w="9525">
            <a:solidFill>
              <a:srgbClr val="D9D4C4"/>
            </a:solidFill>
            <a:prstDash val="solid"/>
          </a:ln>
        </p:spPr>
      </p:sp>
      <p:sp>
        <p:nvSpPr>
          <p:cNvPr id="8" name="Text 6"/>
          <p:cNvSpPr/>
          <p:nvPr/>
        </p:nvSpPr>
        <p:spPr>
          <a:xfrm>
            <a:off x="822960" y="2880360"/>
            <a:ext cx="4846320" cy="1554480"/>
          </a:xfrm>
          <a:prstGeom prst="rect">
            <a:avLst/>
          </a:prstGeom>
          <a:noFill/>
          <a:ln/>
        </p:spPr>
        <p:txBody>
          <a:bodyPr wrap="square" lIns="0" tIns="0" rIns="0" bIns="0" rtlCol="0" anchor="t"/>
          <a:lstStyle/>
          <a:p>
            <a:pPr indent="0" marL="0">
              <a:lnSpc>
                <a:spcPts val="2400"/>
              </a:lnSpc>
              <a:buNone/>
            </a:pPr>
            <a:r>
              <a:rPr lang="en-US" sz="1750" dirty="0">
                <a:solidFill>
                  <a:srgbClr val="24313F"/>
                </a:solidFill>
                <a:latin typeface="Georgia" pitchFamily="34" charset="0"/>
                <a:ea typeface="Georgia" pitchFamily="34" charset="-122"/>
                <a:cs typeface="Georgia" pitchFamily="34" charset="-120"/>
              </a:rPr>
              <a:t>The room is dark and there is a wooden chair.</a:t>
            </a:r>
            <a:endParaRPr lang="en-US" sz="1750" dirty="0"/>
          </a:p>
        </p:txBody>
      </p:sp>
      <p:sp>
        <p:nvSpPr>
          <p:cNvPr id="9" name="Text 7"/>
          <p:cNvSpPr/>
          <p:nvPr/>
        </p:nvSpPr>
        <p:spPr>
          <a:xfrm>
            <a:off x="822960" y="4526280"/>
            <a:ext cx="4846320" cy="1005840"/>
          </a:xfrm>
          <a:prstGeom prst="rect">
            <a:avLst/>
          </a:prstGeom>
          <a:noFill/>
          <a:ln/>
        </p:spPr>
        <p:txBody>
          <a:bodyPr wrap="square" lIns="0" tIns="0" rIns="0" bIns="0" rtlCol="0" anchor="t"/>
          <a:lstStyle/>
          <a:p>
            <a:pPr indent="0" marL="0">
              <a:lnSpc>
                <a:spcPts val="1800"/>
              </a:lnSpc>
              <a:buNone/>
            </a:pPr>
            <a:r>
              <a:rPr lang="en-US" sz="1250" i="1" dirty="0">
                <a:solidFill>
                  <a:srgbClr val="7A7F72"/>
                </a:solidFill>
                <a:latin typeface="Arial" pitchFamily="34" charset="0"/>
                <a:ea typeface="Arial" pitchFamily="34" charset="-122"/>
                <a:cs typeface="Arial" pitchFamily="34" charset="-120"/>
              </a:rPr>
              <a:t>Correct, complete, and worth no marks. It reports the frame back to the examiner, who can see it.</a:t>
            </a:r>
            <a:endParaRPr lang="en-US" sz="1250" dirty="0"/>
          </a:p>
        </p:txBody>
      </p:sp>
      <p:sp>
        <p:nvSpPr>
          <p:cNvPr id="10" name="Text 8"/>
          <p:cNvSpPr/>
          <p:nvPr/>
        </p:nvSpPr>
        <p:spPr>
          <a:xfrm>
            <a:off x="6309360" y="2148840"/>
            <a:ext cx="4846320" cy="502920"/>
          </a:xfrm>
          <a:prstGeom prst="rect">
            <a:avLst/>
          </a:prstGeom>
          <a:noFill/>
          <a:ln/>
        </p:spPr>
        <p:txBody>
          <a:bodyPr wrap="square" lIns="0" tIns="0" rIns="0" bIns="0" rtlCol="0" anchor="ctr"/>
          <a:lstStyle/>
          <a:p>
            <a:pPr indent="0" marL="0">
              <a:buNone/>
            </a:pPr>
            <a:r>
              <a:rPr lang="en-US" sz="2500" dirty="0">
                <a:solidFill>
                  <a:srgbClr val="4A6B5D"/>
                </a:solidFill>
                <a:latin typeface="Georgia" pitchFamily="34" charset="0"/>
                <a:ea typeface="Georgia" pitchFamily="34" charset="-122"/>
                <a:cs typeface="Georgia" pitchFamily="34" charset="-120"/>
              </a:rPr>
              <a:t>Analysis</a:t>
            </a:r>
            <a:endParaRPr lang="en-US" sz="2500" dirty="0"/>
          </a:p>
        </p:txBody>
      </p:sp>
      <p:sp>
        <p:nvSpPr>
          <p:cNvPr id="11" name="Shape 9"/>
          <p:cNvSpPr/>
          <p:nvPr/>
        </p:nvSpPr>
        <p:spPr>
          <a:xfrm>
            <a:off x="6309360" y="2724912"/>
            <a:ext cx="4754880" cy="0"/>
          </a:xfrm>
          <a:prstGeom prst="line">
            <a:avLst/>
          </a:prstGeom>
          <a:noFill/>
          <a:ln w="9525">
            <a:solidFill>
              <a:srgbClr val="D9D4C4"/>
            </a:solidFill>
            <a:prstDash val="solid"/>
          </a:ln>
        </p:spPr>
      </p:sp>
      <p:sp>
        <p:nvSpPr>
          <p:cNvPr id="12" name="Text 10"/>
          <p:cNvSpPr/>
          <p:nvPr/>
        </p:nvSpPr>
        <p:spPr>
          <a:xfrm>
            <a:off x="6309360" y="2880360"/>
            <a:ext cx="4846320" cy="1554480"/>
          </a:xfrm>
          <a:prstGeom prst="rect">
            <a:avLst/>
          </a:prstGeom>
          <a:noFill/>
          <a:ln/>
        </p:spPr>
        <p:txBody>
          <a:bodyPr wrap="square" lIns="0" tIns="0" rIns="0" bIns="0" rtlCol="0" anchor="t"/>
          <a:lstStyle/>
          <a:p>
            <a:pPr indent="0" marL="0">
              <a:lnSpc>
                <a:spcPts val="2400"/>
              </a:lnSpc>
              <a:buNone/>
            </a:pPr>
            <a:r>
              <a:rPr lang="en-US" sz="1750" dirty="0">
                <a:solidFill>
                  <a:srgbClr val="24313F"/>
                </a:solidFill>
                <a:latin typeface="Georgia" pitchFamily="34" charset="0"/>
                <a:ea typeface="Georgia" pitchFamily="34" charset="-122"/>
                <a:cs typeface="Georgia" pitchFamily="34" charset="-120"/>
              </a:rPr>
              <a:t>The single chair in an unlit room withholds any sign of company, so the character is constructed as isolated before the scene begins.</a:t>
            </a:r>
            <a:endParaRPr lang="en-US" sz="1750" dirty="0"/>
          </a:p>
        </p:txBody>
      </p:sp>
      <p:sp>
        <p:nvSpPr>
          <p:cNvPr id="13" name="Text 11"/>
          <p:cNvSpPr/>
          <p:nvPr/>
        </p:nvSpPr>
        <p:spPr>
          <a:xfrm>
            <a:off x="6309360" y="4526280"/>
            <a:ext cx="4846320" cy="1005840"/>
          </a:xfrm>
          <a:prstGeom prst="rect">
            <a:avLst/>
          </a:prstGeom>
          <a:noFill/>
          <a:ln/>
        </p:spPr>
        <p:txBody>
          <a:bodyPr wrap="square" lIns="0" tIns="0" rIns="0" bIns="0" rtlCol="0" anchor="t"/>
          <a:lstStyle/>
          <a:p>
            <a:pPr indent="0" marL="0">
              <a:lnSpc>
                <a:spcPts val="1800"/>
              </a:lnSpc>
              <a:buNone/>
            </a:pPr>
            <a:r>
              <a:rPr lang="en-US" sz="1250" i="1" dirty="0">
                <a:solidFill>
                  <a:srgbClr val="7A7F72"/>
                </a:solidFill>
                <a:latin typeface="Arial" pitchFamily="34" charset="0"/>
                <a:ea typeface="Arial" pitchFamily="34" charset="-122"/>
                <a:cs typeface="Arial" pitchFamily="34" charset="-120"/>
              </a:rPr>
              <a:t>Same chair. The difference is the clause after the comma.</a:t>
            </a:r>
            <a:endParaRPr lang="en-US" sz="1250" dirty="0"/>
          </a:p>
        </p:txBody>
      </p:sp>
      <p:sp>
        <p:nvSpPr>
          <p:cNvPr id="14" name="Shape 12"/>
          <p:cNvSpPr/>
          <p:nvPr/>
        </p:nvSpPr>
        <p:spPr>
          <a:xfrm>
            <a:off x="822960" y="5669280"/>
            <a:ext cx="914400" cy="0"/>
          </a:xfrm>
          <a:prstGeom prst="line">
            <a:avLst/>
          </a:prstGeom>
          <a:noFill/>
          <a:ln w="31750">
            <a:solidFill>
              <a:srgbClr val="8C3A38"/>
            </a:solidFill>
            <a:prstDash val="solid"/>
          </a:ln>
        </p:spPr>
      </p:sp>
      <p:sp>
        <p:nvSpPr>
          <p:cNvPr id="15" name="Text 13"/>
          <p:cNvSpPr/>
          <p:nvPr/>
        </p:nvSpPr>
        <p:spPr>
          <a:xfrm>
            <a:off x="822960" y="5833872"/>
            <a:ext cx="10424160" cy="365760"/>
          </a:xfrm>
          <a:prstGeom prst="rect">
            <a:avLst/>
          </a:prstGeom>
          <a:noFill/>
          <a:ln/>
        </p:spPr>
        <p:txBody>
          <a:bodyPr wrap="square" lIns="0" tIns="0" rIns="0" bIns="0" rtlCol="0" anchor="ctr"/>
          <a:lstStyle/>
          <a:p>
            <a:pPr indent="0" marL="0">
              <a:buNone/>
            </a:pPr>
            <a:r>
              <a:rPr lang="en-US" sz="1250" i="1" dirty="0">
                <a:solidFill>
                  <a:srgbClr val="7A7F72"/>
                </a:solidFill>
                <a:latin typeface="Arial" pitchFamily="34" charset="0"/>
                <a:ea typeface="Arial" pitchFamily="34" charset="-122"/>
                <a:cs typeface="Arial" pitchFamily="34" charset="-120"/>
              </a:rPr>
              <a:t>Every cell of tomorrow's board carries a connotation line. No exceptions, including the obvious ones.</a:t>
            </a:r>
            <a:endParaRPr lang="en-US" sz="1250" dirty="0"/>
          </a:p>
        </p:txBody>
      </p:sp>
      <p:sp>
        <p:nvSpPr>
          <p:cNvPr id="16" name="Shape 14"/>
          <p:cNvSpPr/>
          <p:nvPr/>
        </p:nvSpPr>
        <p:spPr>
          <a:xfrm>
            <a:off x="822960" y="6382512"/>
            <a:ext cx="10543032" cy="0"/>
          </a:xfrm>
          <a:prstGeom prst="line">
            <a:avLst/>
          </a:prstGeom>
          <a:noFill/>
          <a:ln w="9525">
            <a:solidFill>
              <a:srgbClr val="D9D4C4"/>
            </a:solidFill>
            <a:prstDash val="solid"/>
          </a:ln>
        </p:spPr>
      </p:sp>
      <p:sp>
        <p:nvSpPr>
          <p:cNvPr id="17" name="Text 1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8" name="Text 1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FOUR LOCATIONS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COURSEBOOK'S ACTIVITY, RUN IN FOURS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Describe it, and a person appears</a:t>
            </a:r>
            <a:endParaRPr lang="en-US" sz="3200" dirty="0"/>
          </a:p>
        </p:txBody>
      </p:sp>
      <p:sp>
        <p:nvSpPr>
          <p:cNvPr id="6" name="Shape 4"/>
          <p:cNvSpPr/>
          <p:nvPr/>
        </p:nvSpPr>
        <p:spPr>
          <a:xfrm>
            <a:off x="822960" y="1828800"/>
            <a:ext cx="2361438" cy="731520"/>
          </a:xfrm>
          <a:prstGeom prst="rect">
            <a:avLst/>
          </a:prstGeom>
          <a:solidFill>
            <a:srgbClr val="E8EFE7"/>
          </a:solidFill>
          <a:ln/>
        </p:spPr>
      </p:sp>
      <p:sp>
        <p:nvSpPr>
          <p:cNvPr id="7" name="Text 5"/>
          <p:cNvSpPr/>
          <p:nvPr/>
        </p:nvSpPr>
        <p:spPr>
          <a:xfrm>
            <a:off x="987552" y="1828800"/>
            <a:ext cx="2087118" cy="731520"/>
          </a:xfrm>
          <a:prstGeom prst="rect">
            <a:avLst/>
          </a:prstGeom>
          <a:noFill/>
          <a:ln/>
        </p:spPr>
        <p:txBody>
          <a:bodyPr wrap="square" lIns="0" tIns="0" rIns="0" bIns="0" rtlCol="0" anchor="ctr"/>
          <a:lstStyle/>
          <a:p>
            <a:pPr indent="0" marL="0">
              <a:buNone/>
            </a:pPr>
            <a:r>
              <a:rPr lang="en-US" sz="1700" dirty="0">
                <a:solidFill>
                  <a:srgbClr val="24313F"/>
                </a:solidFill>
                <a:latin typeface="Georgia" pitchFamily="34" charset="0"/>
                <a:ea typeface="Georgia" pitchFamily="34" charset="-122"/>
                <a:cs typeface="Georgia" pitchFamily="34" charset="-120"/>
              </a:rPr>
              <a:t>A country manor</a:t>
            </a:r>
            <a:endParaRPr lang="en-US" sz="1700" dirty="0"/>
          </a:p>
        </p:txBody>
      </p:sp>
      <p:sp>
        <p:nvSpPr>
          <p:cNvPr id="8" name="Shape 6"/>
          <p:cNvSpPr/>
          <p:nvPr/>
        </p:nvSpPr>
        <p:spPr>
          <a:xfrm>
            <a:off x="3550158" y="1828800"/>
            <a:ext cx="2361438" cy="731520"/>
          </a:xfrm>
          <a:prstGeom prst="rect">
            <a:avLst/>
          </a:prstGeom>
          <a:solidFill>
            <a:srgbClr val="E8EFE7"/>
          </a:solidFill>
          <a:ln/>
        </p:spPr>
      </p:sp>
      <p:sp>
        <p:nvSpPr>
          <p:cNvPr id="9" name="Text 7"/>
          <p:cNvSpPr/>
          <p:nvPr/>
        </p:nvSpPr>
        <p:spPr>
          <a:xfrm>
            <a:off x="3714750" y="1828800"/>
            <a:ext cx="2087118" cy="731520"/>
          </a:xfrm>
          <a:prstGeom prst="rect">
            <a:avLst/>
          </a:prstGeom>
          <a:noFill/>
          <a:ln/>
        </p:spPr>
        <p:txBody>
          <a:bodyPr wrap="square" lIns="0" tIns="0" rIns="0" bIns="0" rtlCol="0" anchor="ctr"/>
          <a:lstStyle/>
          <a:p>
            <a:pPr indent="0" marL="0">
              <a:buNone/>
            </a:pPr>
            <a:r>
              <a:rPr lang="en-US" sz="1700" dirty="0">
                <a:solidFill>
                  <a:srgbClr val="24313F"/>
                </a:solidFill>
                <a:latin typeface="Georgia" pitchFamily="34" charset="0"/>
                <a:ea typeface="Georgia" pitchFamily="34" charset="-122"/>
                <a:cs typeface="Georgia" pitchFamily="34" charset="-120"/>
              </a:rPr>
              <a:t>A city apartment</a:t>
            </a:r>
            <a:endParaRPr lang="en-US" sz="1700" dirty="0"/>
          </a:p>
        </p:txBody>
      </p:sp>
      <p:sp>
        <p:nvSpPr>
          <p:cNvPr id="10" name="Shape 8"/>
          <p:cNvSpPr/>
          <p:nvPr/>
        </p:nvSpPr>
        <p:spPr>
          <a:xfrm>
            <a:off x="6277356" y="1828800"/>
            <a:ext cx="2361438" cy="731520"/>
          </a:xfrm>
          <a:prstGeom prst="rect">
            <a:avLst/>
          </a:prstGeom>
          <a:solidFill>
            <a:srgbClr val="E8EFE7"/>
          </a:solidFill>
          <a:ln/>
        </p:spPr>
      </p:sp>
      <p:sp>
        <p:nvSpPr>
          <p:cNvPr id="11" name="Text 9"/>
          <p:cNvSpPr/>
          <p:nvPr/>
        </p:nvSpPr>
        <p:spPr>
          <a:xfrm>
            <a:off x="6441948" y="1828800"/>
            <a:ext cx="2087118" cy="731520"/>
          </a:xfrm>
          <a:prstGeom prst="rect">
            <a:avLst/>
          </a:prstGeom>
          <a:noFill/>
          <a:ln/>
        </p:spPr>
        <p:txBody>
          <a:bodyPr wrap="square" lIns="0" tIns="0" rIns="0" bIns="0" rtlCol="0" anchor="ctr"/>
          <a:lstStyle/>
          <a:p>
            <a:pPr indent="0" marL="0">
              <a:buNone/>
            </a:pPr>
            <a:r>
              <a:rPr lang="en-US" sz="1700" dirty="0">
                <a:solidFill>
                  <a:srgbClr val="24313F"/>
                </a:solidFill>
                <a:latin typeface="Georgia" pitchFamily="34" charset="0"/>
                <a:ea typeface="Georgia" pitchFamily="34" charset="-122"/>
                <a:cs typeface="Georgia" pitchFamily="34" charset="-120"/>
              </a:rPr>
              <a:t>An abandoned building</a:t>
            </a:r>
            <a:endParaRPr lang="en-US" sz="1700" dirty="0"/>
          </a:p>
        </p:txBody>
      </p:sp>
      <p:sp>
        <p:nvSpPr>
          <p:cNvPr id="12" name="Shape 10"/>
          <p:cNvSpPr/>
          <p:nvPr/>
        </p:nvSpPr>
        <p:spPr>
          <a:xfrm>
            <a:off x="9004554" y="1828800"/>
            <a:ext cx="2361438" cy="731520"/>
          </a:xfrm>
          <a:prstGeom prst="rect">
            <a:avLst/>
          </a:prstGeom>
          <a:solidFill>
            <a:srgbClr val="E8EFE7"/>
          </a:solidFill>
          <a:ln/>
        </p:spPr>
      </p:sp>
      <p:sp>
        <p:nvSpPr>
          <p:cNvPr id="13" name="Text 11"/>
          <p:cNvSpPr/>
          <p:nvPr/>
        </p:nvSpPr>
        <p:spPr>
          <a:xfrm>
            <a:off x="9169146" y="1828800"/>
            <a:ext cx="2087118" cy="731520"/>
          </a:xfrm>
          <a:prstGeom prst="rect">
            <a:avLst/>
          </a:prstGeom>
          <a:noFill/>
          <a:ln/>
        </p:spPr>
        <p:txBody>
          <a:bodyPr wrap="square" lIns="0" tIns="0" rIns="0" bIns="0" rtlCol="0" anchor="ctr"/>
          <a:lstStyle/>
          <a:p>
            <a:pPr indent="0" marL="0">
              <a:buNone/>
            </a:pPr>
            <a:r>
              <a:rPr lang="en-US" sz="1700" dirty="0">
                <a:solidFill>
                  <a:srgbClr val="24313F"/>
                </a:solidFill>
                <a:latin typeface="Georgia" pitchFamily="34" charset="0"/>
                <a:ea typeface="Georgia" pitchFamily="34" charset="-122"/>
                <a:cs typeface="Georgia" pitchFamily="34" charset="-120"/>
              </a:rPr>
              <a:t>An office</a:t>
            </a:r>
            <a:endParaRPr lang="en-US" sz="1700" dirty="0"/>
          </a:p>
        </p:txBody>
      </p:sp>
      <p:sp>
        <p:nvSpPr>
          <p:cNvPr id="14" name="Text 12"/>
          <p:cNvSpPr/>
          <p:nvPr/>
        </p:nvSpPr>
        <p:spPr>
          <a:xfrm>
            <a:off x="822960" y="2926080"/>
            <a:ext cx="10241280" cy="1005840"/>
          </a:xfrm>
          <a:prstGeom prst="rect">
            <a:avLst/>
          </a:prstGeom>
          <a:noFill/>
          <a:ln/>
        </p:spPr>
        <p:txBody>
          <a:bodyPr wrap="square" lIns="0" tIns="0" rIns="0" bIns="0" rtlCol="0" anchor="t"/>
          <a:lstStyle/>
          <a:p>
            <a:pPr indent="0" marL="0">
              <a:lnSpc>
                <a:spcPts val="2600"/>
              </a:lnSpc>
              <a:buNone/>
            </a:pPr>
            <a:r>
              <a:rPr lang="en-US" sz="1850" dirty="0">
                <a:solidFill>
                  <a:srgbClr val="24313F"/>
                </a:solidFill>
                <a:latin typeface="Georgia" pitchFamily="34" charset="0"/>
                <a:ea typeface="Georgia" pitchFamily="34" charset="-122"/>
                <a:cs typeface="Georgia" pitchFamily="34" charset="-120"/>
              </a:rPr>
              <a:t>Each member takes one and describes it in detail: décor, colour, what is outside the window, furniture and properties. The group then names, for each, the genre and the character it has just implied.</a:t>
            </a:r>
            <a:endParaRPr lang="en-US" sz="1850" dirty="0"/>
          </a:p>
        </p:txBody>
      </p:sp>
      <p:sp>
        <p:nvSpPr>
          <p:cNvPr id="15" name="Shape 13"/>
          <p:cNvSpPr/>
          <p:nvPr/>
        </p:nvSpPr>
        <p:spPr>
          <a:xfrm>
            <a:off x="822960" y="4114800"/>
            <a:ext cx="914400" cy="0"/>
          </a:xfrm>
          <a:prstGeom prst="line">
            <a:avLst/>
          </a:prstGeom>
          <a:noFill/>
          <a:ln w="31750">
            <a:solidFill>
              <a:srgbClr val="8C3A38"/>
            </a:solidFill>
            <a:prstDash val="solid"/>
          </a:ln>
        </p:spPr>
      </p:sp>
      <p:sp>
        <p:nvSpPr>
          <p:cNvPr id="16" name="Text 14"/>
          <p:cNvSpPr/>
          <p:nvPr/>
        </p:nvSpPr>
        <p:spPr>
          <a:xfrm>
            <a:off x="822960" y="4297680"/>
            <a:ext cx="10241280" cy="548640"/>
          </a:xfrm>
          <a:prstGeom prst="rect">
            <a:avLst/>
          </a:prstGeom>
          <a:noFill/>
          <a:ln/>
        </p:spPr>
        <p:txBody>
          <a:bodyPr wrap="square" lIns="0" tIns="0" rIns="0" bIns="0" rtlCol="0" anchor="ctr"/>
          <a:lstStyle/>
          <a:p>
            <a:pPr indent="0" marL="0">
              <a:buNone/>
            </a:pPr>
            <a:r>
              <a:rPr lang="en-US" sz="2000" i="1" dirty="0">
                <a:solidFill>
                  <a:srgbClr val="4A6B5D"/>
                </a:solidFill>
                <a:latin typeface="Georgia" pitchFamily="34" charset="0"/>
                <a:ea typeface="Georgia" pitchFamily="34" charset="-122"/>
                <a:cs typeface="Georgia" pitchFamily="34" charset="-120"/>
              </a:rPr>
              <a:t>Nobody drew a person, and a person appeared anyway. Setting does character work before a character exists.</a:t>
            </a:r>
            <a:endParaRPr lang="en-US" sz="2000" dirty="0"/>
          </a:p>
        </p:txBody>
      </p:sp>
      <p:sp>
        <p:nvSpPr>
          <p:cNvPr id="17" name="Text 15"/>
          <p:cNvSpPr/>
          <p:nvPr/>
        </p:nvSpPr>
        <p:spPr>
          <a:xfrm>
            <a:off x="822960" y="5120640"/>
            <a:ext cx="10424160" cy="457200"/>
          </a:xfrm>
          <a:prstGeom prst="rect">
            <a:avLst/>
          </a:prstGeom>
          <a:noFill/>
          <a:ln/>
        </p:spPr>
        <p:txBody>
          <a:bodyPr wrap="square" lIns="0" tIns="0" rIns="0" bIns="0" rtlCol="0" anchor="ctr"/>
          <a:lstStyle/>
          <a:p>
            <a:pPr indent="0" marL="0">
              <a:buNone/>
            </a:pPr>
            <a:r>
              <a:rPr lang="en-US" sz="1250" dirty="0">
                <a:solidFill>
                  <a:srgbClr val="7A7F72"/>
                </a:solidFill>
                <a:latin typeface="Arial" pitchFamily="34" charset="0"/>
                <a:ea typeface="Arial" pitchFamily="34" charset="-122"/>
                <a:cs typeface="Arial" pitchFamily="34" charset="-120"/>
              </a:rPr>
              <a:t>Extension for fast finishers: the coursebook's revision podcast, defining each element and naming one example of how it builds meaning.</a:t>
            </a:r>
            <a:endParaRPr lang="en-US" sz="1250" dirty="0"/>
          </a:p>
        </p:txBody>
      </p:sp>
      <p:sp>
        <p:nvSpPr>
          <p:cNvPr id="18" name="Shape 16"/>
          <p:cNvSpPr/>
          <p:nvPr/>
        </p:nvSpPr>
        <p:spPr>
          <a:xfrm>
            <a:off x="822960" y="6382512"/>
            <a:ext cx="10543032" cy="0"/>
          </a:xfrm>
          <a:prstGeom prst="line">
            <a:avLst/>
          </a:prstGeom>
          <a:noFill/>
          <a:ln w="9525">
            <a:solidFill>
              <a:srgbClr val="D9D4C4"/>
            </a:solidFill>
            <a:prstDash val="solid"/>
          </a:ln>
        </p:spPr>
      </p:sp>
      <p:sp>
        <p:nvSpPr>
          <p:cNvPr id="19" name="Text 17"/>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0" name="Text 18"/>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04</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DELIVERABLE · CS5</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TUESDAY, TWENTY-FIVE MINUTES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10543032" cy="731520"/>
          </a:xfrm>
          <a:prstGeom prst="rect">
            <a:avLst/>
          </a:prstGeom>
          <a:noFill/>
          <a:ln/>
        </p:spPr>
        <p:txBody>
          <a:bodyPr wrap="square" lIns="0" tIns="0" rIns="0" bIns="0" rtlCol="0" anchor="ctr"/>
          <a:lstStyle/>
          <a:p>
            <a:pPr indent="0" marL="0">
              <a:buNone/>
            </a:pPr>
            <a:r>
              <a:rPr lang="en-US" sz="3400" dirty="0">
                <a:solidFill>
                  <a:srgbClr val="24313F"/>
                </a:solidFill>
                <a:latin typeface="Georgia" pitchFamily="34" charset="0"/>
                <a:ea typeface="Georgia" pitchFamily="34" charset="-122"/>
                <a:cs typeface="Georgia" pitchFamily="34" charset="-120"/>
              </a:rPr>
              <a:t>Six cells, six connotation lines</a:t>
            </a:r>
            <a:endParaRPr lang="en-US" sz="3400" dirty="0"/>
          </a:p>
        </p:txBody>
      </p:sp>
      <p:sp>
        <p:nvSpPr>
          <p:cNvPr id="6" name="Shape 4"/>
          <p:cNvSpPr/>
          <p:nvPr/>
        </p:nvSpPr>
        <p:spPr>
          <a:xfrm>
            <a:off x="822960" y="1965960"/>
            <a:ext cx="3270504" cy="1188720"/>
          </a:xfrm>
          <a:prstGeom prst="rect">
            <a:avLst/>
          </a:prstGeom>
          <a:solidFill>
            <a:srgbClr val="FAF8F1"/>
          </a:solidFill>
          <a:ln w="9525">
            <a:solidFill>
              <a:srgbClr val="D9D4C4"/>
            </a:solidFill>
            <a:prstDash val="solid"/>
          </a:ln>
        </p:spPr>
      </p:sp>
      <p:sp>
        <p:nvSpPr>
          <p:cNvPr id="7" name="Text 5"/>
          <p:cNvSpPr/>
          <p:nvPr/>
        </p:nvSpPr>
        <p:spPr>
          <a:xfrm>
            <a:off x="1005840" y="2075688"/>
            <a:ext cx="731520" cy="320040"/>
          </a:xfrm>
          <a:prstGeom prst="rect">
            <a:avLst/>
          </a:prstGeom>
          <a:noFill/>
          <a:ln/>
        </p:spPr>
        <p:txBody>
          <a:bodyPr wrap="square" lIns="0" tIns="0" rIns="0" bIns="0" rtlCol="0" anchor="ctr"/>
          <a:lstStyle/>
          <a:p>
            <a:pPr indent="0" marL="0">
              <a:buNone/>
            </a:pPr>
            <a:r>
              <a:rPr lang="en-US" sz="1800" dirty="0">
                <a:solidFill>
                  <a:srgbClr val="A3C1AD"/>
                </a:solidFill>
                <a:latin typeface="Georgia" pitchFamily="34" charset="0"/>
                <a:ea typeface="Georgia" pitchFamily="34" charset="-122"/>
                <a:cs typeface="Georgia" pitchFamily="34" charset="-120"/>
              </a:rPr>
              <a:t>01</a:t>
            </a:r>
            <a:endParaRPr lang="en-US" sz="1800" dirty="0"/>
          </a:p>
        </p:txBody>
      </p:sp>
      <p:sp>
        <p:nvSpPr>
          <p:cNvPr id="8" name="Text 6"/>
          <p:cNvSpPr/>
          <p:nvPr/>
        </p:nvSpPr>
        <p:spPr>
          <a:xfrm>
            <a:off x="1005840" y="2377440"/>
            <a:ext cx="2904744" cy="36576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Location</a:t>
            </a:r>
            <a:endParaRPr lang="en-US" sz="1900" dirty="0"/>
          </a:p>
        </p:txBody>
      </p:sp>
      <p:sp>
        <p:nvSpPr>
          <p:cNvPr id="9" name="Text 7"/>
          <p:cNvSpPr/>
          <p:nvPr/>
        </p:nvSpPr>
        <p:spPr>
          <a:xfrm>
            <a:off x="1005840" y="2743200"/>
            <a:ext cx="2904744" cy="329184"/>
          </a:xfrm>
          <a:prstGeom prst="rect">
            <a:avLst/>
          </a:prstGeom>
          <a:noFill/>
          <a:ln/>
        </p:spPr>
        <p:txBody>
          <a:bodyPr wrap="square" lIns="0" tIns="0" rIns="0" bIns="0" rtlCol="0" anchor="ctr"/>
          <a:lstStyle/>
          <a:p>
            <a:pPr indent="0" marL="0">
              <a:buNone/>
            </a:pPr>
            <a:r>
              <a:rPr lang="en-US" sz="1150" dirty="0">
                <a:solidFill>
                  <a:srgbClr val="7A7F72"/>
                </a:solidFill>
                <a:latin typeface="Arial" pitchFamily="34" charset="0"/>
                <a:ea typeface="Arial" pitchFamily="34" charset="-122"/>
                <a:cs typeface="Arial" pitchFamily="34" charset="-120"/>
              </a:rPr>
              <a:t>with the photograph you took</a:t>
            </a:r>
            <a:endParaRPr lang="en-US" sz="1150" dirty="0"/>
          </a:p>
        </p:txBody>
      </p:sp>
      <p:sp>
        <p:nvSpPr>
          <p:cNvPr id="10" name="Shape 8"/>
          <p:cNvSpPr/>
          <p:nvPr/>
        </p:nvSpPr>
        <p:spPr>
          <a:xfrm>
            <a:off x="4459224" y="1965960"/>
            <a:ext cx="3270504" cy="1188720"/>
          </a:xfrm>
          <a:prstGeom prst="rect">
            <a:avLst/>
          </a:prstGeom>
          <a:solidFill>
            <a:srgbClr val="FAF8F1"/>
          </a:solidFill>
          <a:ln w="9525">
            <a:solidFill>
              <a:srgbClr val="D9D4C4"/>
            </a:solidFill>
            <a:prstDash val="solid"/>
          </a:ln>
        </p:spPr>
      </p:sp>
      <p:sp>
        <p:nvSpPr>
          <p:cNvPr id="11" name="Text 9"/>
          <p:cNvSpPr/>
          <p:nvPr/>
        </p:nvSpPr>
        <p:spPr>
          <a:xfrm>
            <a:off x="4642104" y="2075688"/>
            <a:ext cx="731520" cy="320040"/>
          </a:xfrm>
          <a:prstGeom prst="rect">
            <a:avLst/>
          </a:prstGeom>
          <a:noFill/>
          <a:ln/>
        </p:spPr>
        <p:txBody>
          <a:bodyPr wrap="square" lIns="0" tIns="0" rIns="0" bIns="0" rtlCol="0" anchor="ctr"/>
          <a:lstStyle/>
          <a:p>
            <a:pPr indent="0" marL="0">
              <a:buNone/>
            </a:pPr>
            <a:r>
              <a:rPr lang="en-US" sz="1800" dirty="0">
                <a:solidFill>
                  <a:srgbClr val="A3C1AD"/>
                </a:solidFill>
                <a:latin typeface="Georgia" pitchFamily="34" charset="0"/>
                <a:ea typeface="Georgia" pitchFamily="34" charset="-122"/>
                <a:cs typeface="Georgia" pitchFamily="34" charset="-120"/>
              </a:rPr>
              <a:t>02</a:t>
            </a:r>
            <a:endParaRPr lang="en-US" sz="1800" dirty="0"/>
          </a:p>
        </p:txBody>
      </p:sp>
      <p:sp>
        <p:nvSpPr>
          <p:cNvPr id="12" name="Text 10"/>
          <p:cNvSpPr/>
          <p:nvPr/>
        </p:nvSpPr>
        <p:spPr>
          <a:xfrm>
            <a:off x="4642104" y="2377440"/>
            <a:ext cx="2904744" cy="36576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Costume</a:t>
            </a:r>
            <a:endParaRPr lang="en-US" sz="1900" dirty="0"/>
          </a:p>
        </p:txBody>
      </p:sp>
      <p:sp>
        <p:nvSpPr>
          <p:cNvPr id="13" name="Text 11"/>
          <p:cNvSpPr/>
          <p:nvPr/>
        </p:nvSpPr>
        <p:spPr>
          <a:xfrm>
            <a:off x="4642104" y="2743200"/>
            <a:ext cx="2904744" cy="329184"/>
          </a:xfrm>
          <a:prstGeom prst="rect">
            <a:avLst/>
          </a:prstGeom>
          <a:noFill/>
          <a:ln/>
        </p:spPr>
        <p:txBody>
          <a:bodyPr wrap="square" lIns="0" tIns="0" rIns="0" bIns="0" rtlCol="0" anchor="ctr"/>
          <a:lstStyle/>
          <a:p>
            <a:pPr indent="0" marL="0">
              <a:buNone/>
            </a:pPr>
            <a:r>
              <a:rPr lang="en-US" sz="1150" dirty="0">
                <a:solidFill>
                  <a:srgbClr val="7A7F72"/>
                </a:solidFill>
                <a:latin typeface="Arial" pitchFamily="34" charset="0"/>
                <a:ea typeface="Arial" pitchFamily="34" charset="-122"/>
                <a:cs typeface="Arial" pitchFamily="34" charset="-120"/>
              </a:rPr>
              <a:t>for one character</a:t>
            </a:r>
            <a:endParaRPr lang="en-US" sz="1150" dirty="0"/>
          </a:p>
        </p:txBody>
      </p:sp>
      <p:sp>
        <p:nvSpPr>
          <p:cNvPr id="14" name="Shape 12"/>
          <p:cNvSpPr/>
          <p:nvPr/>
        </p:nvSpPr>
        <p:spPr>
          <a:xfrm>
            <a:off x="8095488" y="1965960"/>
            <a:ext cx="3270504" cy="1188720"/>
          </a:xfrm>
          <a:prstGeom prst="rect">
            <a:avLst/>
          </a:prstGeom>
          <a:solidFill>
            <a:srgbClr val="FAF8F1"/>
          </a:solidFill>
          <a:ln w="9525">
            <a:solidFill>
              <a:srgbClr val="D9D4C4"/>
            </a:solidFill>
            <a:prstDash val="solid"/>
          </a:ln>
        </p:spPr>
      </p:sp>
      <p:sp>
        <p:nvSpPr>
          <p:cNvPr id="15" name="Text 13"/>
          <p:cNvSpPr/>
          <p:nvPr/>
        </p:nvSpPr>
        <p:spPr>
          <a:xfrm>
            <a:off x="8278368" y="2075688"/>
            <a:ext cx="731520" cy="320040"/>
          </a:xfrm>
          <a:prstGeom prst="rect">
            <a:avLst/>
          </a:prstGeom>
          <a:noFill/>
          <a:ln/>
        </p:spPr>
        <p:txBody>
          <a:bodyPr wrap="square" lIns="0" tIns="0" rIns="0" bIns="0" rtlCol="0" anchor="ctr"/>
          <a:lstStyle/>
          <a:p>
            <a:pPr indent="0" marL="0">
              <a:buNone/>
            </a:pPr>
            <a:r>
              <a:rPr lang="en-US" sz="1800" dirty="0">
                <a:solidFill>
                  <a:srgbClr val="A3C1AD"/>
                </a:solidFill>
                <a:latin typeface="Georgia" pitchFamily="34" charset="0"/>
                <a:ea typeface="Georgia" pitchFamily="34" charset="-122"/>
                <a:cs typeface="Georgia" pitchFamily="34" charset="-120"/>
              </a:rPr>
              <a:t>03</a:t>
            </a:r>
            <a:endParaRPr lang="en-US" sz="1800" dirty="0"/>
          </a:p>
        </p:txBody>
      </p:sp>
      <p:sp>
        <p:nvSpPr>
          <p:cNvPr id="16" name="Text 14"/>
          <p:cNvSpPr/>
          <p:nvPr/>
        </p:nvSpPr>
        <p:spPr>
          <a:xfrm>
            <a:off x="8278368" y="2377440"/>
            <a:ext cx="2904744" cy="36576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Two properties</a:t>
            </a:r>
            <a:endParaRPr lang="en-US" sz="1900" dirty="0"/>
          </a:p>
        </p:txBody>
      </p:sp>
      <p:sp>
        <p:nvSpPr>
          <p:cNvPr id="17" name="Text 15"/>
          <p:cNvSpPr/>
          <p:nvPr/>
        </p:nvSpPr>
        <p:spPr>
          <a:xfrm>
            <a:off x="8278368" y="2743200"/>
            <a:ext cx="2904744" cy="329184"/>
          </a:xfrm>
          <a:prstGeom prst="rect">
            <a:avLst/>
          </a:prstGeom>
          <a:noFill/>
          <a:ln/>
        </p:spPr>
        <p:txBody>
          <a:bodyPr wrap="square" lIns="0" tIns="0" rIns="0" bIns="0" rtlCol="0" anchor="ctr"/>
          <a:lstStyle/>
          <a:p>
            <a:pPr indent="0" marL="0">
              <a:buNone/>
            </a:pPr>
            <a:r>
              <a:rPr lang="en-US" sz="1150" dirty="0">
                <a:solidFill>
                  <a:srgbClr val="7A7F72"/>
                </a:solidFill>
                <a:latin typeface="Arial" pitchFamily="34" charset="0"/>
                <a:ea typeface="Arial" pitchFamily="34" charset="-122"/>
                <a:cs typeface="Arial" pitchFamily="34" charset="-120"/>
              </a:rPr>
              <a:t>that carry meaning</a:t>
            </a:r>
            <a:endParaRPr lang="en-US" sz="1150" dirty="0"/>
          </a:p>
        </p:txBody>
      </p:sp>
      <p:sp>
        <p:nvSpPr>
          <p:cNvPr id="18" name="Shape 16"/>
          <p:cNvSpPr/>
          <p:nvPr/>
        </p:nvSpPr>
        <p:spPr>
          <a:xfrm>
            <a:off x="822960" y="3383280"/>
            <a:ext cx="3270504" cy="1188720"/>
          </a:xfrm>
          <a:prstGeom prst="rect">
            <a:avLst/>
          </a:prstGeom>
          <a:solidFill>
            <a:srgbClr val="FAF8F1"/>
          </a:solidFill>
          <a:ln w="9525">
            <a:solidFill>
              <a:srgbClr val="D9D4C4"/>
            </a:solidFill>
            <a:prstDash val="solid"/>
          </a:ln>
        </p:spPr>
      </p:sp>
      <p:sp>
        <p:nvSpPr>
          <p:cNvPr id="19" name="Text 17"/>
          <p:cNvSpPr/>
          <p:nvPr/>
        </p:nvSpPr>
        <p:spPr>
          <a:xfrm>
            <a:off x="1005840" y="3493008"/>
            <a:ext cx="731520" cy="320040"/>
          </a:xfrm>
          <a:prstGeom prst="rect">
            <a:avLst/>
          </a:prstGeom>
          <a:noFill/>
          <a:ln/>
        </p:spPr>
        <p:txBody>
          <a:bodyPr wrap="square" lIns="0" tIns="0" rIns="0" bIns="0" rtlCol="0" anchor="ctr"/>
          <a:lstStyle/>
          <a:p>
            <a:pPr indent="0" marL="0">
              <a:buNone/>
            </a:pPr>
            <a:r>
              <a:rPr lang="en-US" sz="1800" dirty="0">
                <a:solidFill>
                  <a:srgbClr val="A3C1AD"/>
                </a:solidFill>
                <a:latin typeface="Georgia" pitchFamily="34" charset="0"/>
                <a:ea typeface="Georgia" pitchFamily="34" charset="-122"/>
                <a:cs typeface="Georgia" pitchFamily="34" charset="-120"/>
              </a:rPr>
              <a:t>04</a:t>
            </a:r>
            <a:endParaRPr lang="en-US" sz="1800" dirty="0"/>
          </a:p>
        </p:txBody>
      </p:sp>
      <p:sp>
        <p:nvSpPr>
          <p:cNvPr id="20" name="Text 18"/>
          <p:cNvSpPr/>
          <p:nvPr/>
        </p:nvSpPr>
        <p:spPr>
          <a:xfrm>
            <a:off x="1005840" y="3794760"/>
            <a:ext cx="2904744" cy="36576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Lighting plan</a:t>
            </a:r>
            <a:endParaRPr lang="en-US" sz="1900" dirty="0"/>
          </a:p>
        </p:txBody>
      </p:sp>
      <p:sp>
        <p:nvSpPr>
          <p:cNvPr id="21" name="Text 19"/>
          <p:cNvSpPr/>
          <p:nvPr/>
        </p:nvSpPr>
        <p:spPr>
          <a:xfrm>
            <a:off x="1005840" y="4160520"/>
            <a:ext cx="2904744" cy="329184"/>
          </a:xfrm>
          <a:prstGeom prst="rect">
            <a:avLst/>
          </a:prstGeom>
          <a:noFill/>
          <a:ln/>
        </p:spPr>
        <p:txBody>
          <a:bodyPr wrap="square" lIns="0" tIns="0" rIns="0" bIns="0" rtlCol="0" anchor="ctr"/>
          <a:lstStyle/>
          <a:p>
            <a:pPr indent="0" marL="0">
              <a:buNone/>
            </a:pPr>
            <a:r>
              <a:rPr lang="en-US" sz="1150" dirty="0">
                <a:solidFill>
                  <a:srgbClr val="7A7F72"/>
                </a:solidFill>
                <a:latin typeface="Arial" pitchFamily="34" charset="0"/>
                <a:ea typeface="Arial" pitchFamily="34" charset="-122"/>
                <a:cs typeface="Arial" pitchFamily="34" charset="-120"/>
              </a:rPr>
              <a:t>named by set-up and quality</a:t>
            </a:r>
            <a:endParaRPr lang="en-US" sz="1150" dirty="0"/>
          </a:p>
        </p:txBody>
      </p:sp>
      <p:sp>
        <p:nvSpPr>
          <p:cNvPr id="22" name="Shape 20"/>
          <p:cNvSpPr/>
          <p:nvPr/>
        </p:nvSpPr>
        <p:spPr>
          <a:xfrm>
            <a:off x="4459224" y="3383280"/>
            <a:ext cx="3270504" cy="1188720"/>
          </a:xfrm>
          <a:prstGeom prst="rect">
            <a:avLst/>
          </a:prstGeom>
          <a:solidFill>
            <a:srgbClr val="FAF8F1"/>
          </a:solidFill>
          <a:ln w="9525">
            <a:solidFill>
              <a:srgbClr val="D9D4C4"/>
            </a:solidFill>
            <a:prstDash val="solid"/>
          </a:ln>
        </p:spPr>
      </p:sp>
      <p:sp>
        <p:nvSpPr>
          <p:cNvPr id="23" name="Text 21"/>
          <p:cNvSpPr/>
          <p:nvPr/>
        </p:nvSpPr>
        <p:spPr>
          <a:xfrm>
            <a:off x="4642104" y="3493008"/>
            <a:ext cx="731520" cy="320040"/>
          </a:xfrm>
          <a:prstGeom prst="rect">
            <a:avLst/>
          </a:prstGeom>
          <a:noFill/>
          <a:ln/>
        </p:spPr>
        <p:txBody>
          <a:bodyPr wrap="square" lIns="0" tIns="0" rIns="0" bIns="0" rtlCol="0" anchor="ctr"/>
          <a:lstStyle/>
          <a:p>
            <a:pPr indent="0" marL="0">
              <a:buNone/>
            </a:pPr>
            <a:r>
              <a:rPr lang="en-US" sz="1800" dirty="0">
                <a:solidFill>
                  <a:srgbClr val="A3C1AD"/>
                </a:solidFill>
                <a:latin typeface="Georgia" pitchFamily="34" charset="0"/>
                <a:ea typeface="Georgia" pitchFamily="34" charset="-122"/>
                <a:cs typeface="Georgia" pitchFamily="34" charset="-120"/>
              </a:rPr>
              <a:t>05</a:t>
            </a:r>
            <a:endParaRPr lang="en-US" sz="1800" dirty="0"/>
          </a:p>
        </p:txBody>
      </p:sp>
      <p:sp>
        <p:nvSpPr>
          <p:cNvPr id="24" name="Text 22"/>
          <p:cNvSpPr/>
          <p:nvPr/>
        </p:nvSpPr>
        <p:spPr>
          <a:xfrm>
            <a:off x="4642104" y="3794760"/>
            <a:ext cx="2904744" cy="36576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Colour palette</a:t>
            </a:r>
            <a:endParaRPr lang="en-US" sz="1900" dirty="0"/>
          </a:p>
        </p:txBody>
      </p:sp>
      <p:sp>
        <p:nvSpPr>
          <p:cNvPr id="25" name="Text 23"/>
          <p:cNvSpPr/>
          <p:nvPr/>
        </p:nvSpPr>
        <p:spPr>
          <a:xfrm>
            <a:off x="4642104" y="4160520"/>
            <a:ext cx="2904744" cy="329184"/>
          </a:xfrm>
          <a:prstGeom prst="rect">
            <a:avLst/>
          </a:prstGeom>
          <a:noFill/>
          <a:ln/>
        </p:spPr>
        <p:txBody>
          <a:bodyPr wrap="square" lIns="0" tIns="0" rIns="0" bIns="0" rtlCol="0" anchor="ctr"/>
          <a:lstStyle/>
          <a:p>
            <a:pPr indent="0" marL="0">
              <a:buNone/>
            </a:pPr>
            <a:r>
              <a:rPr lang="en-US" sz="1150" dirty="0">
                <a:solidFill>
                  <a:srgbClr val="7A7F72"/>
                </a:solidFill>
                <a:latin typeface="Arial" pitchFamily="34" charset="0"/>
                <a:ea typeface="Arial" pitchFamily="34" charset="-122"/>
                <a:cs typeface="Arial" pitchFamily="34" charset="-120"/>
              </a:rPr>
              <a:t>three to five swatches</a:t>
            </a:r>
            <a:endParaRPr lang="en-US" sz="1150" dirty="0"/>
          </a:p>
        </p:txBody>
      </p:sp>
      <p:sp>
        <p:nvSpPr>
          <p:cNvPr id="26" name="Shape 24"/>
          <p:cNvSpPr/>
          <p:nvPr/>
        </p:nvSpPr>
        <p:spPr>
          <a:xfrm>
            <a:off x="8095488" y="3383280"/>
            <a:ext cx="3270504" cy="1188720"/>
          </a:xfrm>
          <a:prstGeom prst="rect">
            <a:avLst/>
          </a:prstGeom>
          <a:solidFill>
            <a:srgbClr val="FAF8F1"/>
          </a:solidFill>
          <a:ln w="9525">
            <a:solidFill>
              <a:srgbClr val="D9D4C4"/>
            </a:solidFill>
            <a:prstDash val="solid"/>
          </a:ln>
        </p:spPr>
      </p:sp>
      <p:sp>
        <p:nvSpPr>
          <p:cNvPr id="27" name="Text 25"/>
          <p:cNvSpPr/>
          <p:nvPr/>
        </p:nvSpPr>
        <p:spPr>
          <a:xfrm>
            <a:off x="8278368" y="3493008"/>
            <a:ext cx="731520" cy="320040"/>
          </a:xfrm>
          <a:prstGeom prst="rect">
            <a:avLst/>
          </a:prstGeom>
          <a:noFill/>
          <a:ln/>
        </p:spPr>
        <p:txBody>
          <a:bodyPr wrap="square" lIns="0" tIns="0" rIns="0" bIns="0" rtlCol="0" anchor="ctr"/>
          <a:lstStyle/>
          <a:p>
            <a:pPr indent="0" marL="0">
              <a:buNone/>
            </a:pPr>
            <a:r>
              <a:rPr lang="en-US" sz="1800" dirty="0">
                <a:solidFill>
                  <a:srgbClr val="A3C1AD"/>
                </a:solidFill>
                <a:latin typeface="Georgia" pitchFamily="34" charset="0"/>
                <a:ea typeface="Georgia" pitchFamily="34" charset="-122"/>
                <a:cs typeface="Georgia" pitchFamily="34" charset="-120"/>
              </a:rPr>
              <a:t>06</a:t>
            </a:r>
            <a:endParaRPr lang="en-US" sz="1800" dirty="0"/>
          </a:p>
        </p:txBody>
      </p:sp>
      <p:sp>
        <p:nvSpPr>
          <p:cNvPr id="28" name="Text 26"/>
          <p:cNvSpPr/>
          <p:nvPr/>
        </p:nvSpPr>
        <p:spPr>
          <a:xfrm>
            <a:off x="8278368" y="3794760"/>
            <a:ext cx="2904744" cy="36576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The claim</a:t>
            </a:r>
            <a:endParaRPr lang="en-US" sz="1900" dirty="0"/>
          </a:p>
        </p:txBody>
      </p:sp>
      <p:sp>
        <p:nvSpPr>
          <p:cNvPr id="29" name="Text 27"/>
          <p:cNvSpPr/>
          <p:nvPr/>
        </p:nvSpPr>
        <p:spPr>
          <a:xfrm>
            <a:off x="8278368" y="4160520"/>
            <a:ext cx="2904744" cy="329184"/>
          </a:xfrm>
          <a:prstGeom prst="rect">
            <a:avLst/>
          </a:prstGeom>
          <a:noFill/>
          <a:ln/>
        </p:spPr>
        <p:txBody>
          <a:bodyPr wrap="square" lIns="0" tIns="0" rIns="0" bIns="0" rtlCol="0" anchor="ctr"/>
          <a:lstStyle/>
          <a:p>
            <a:pPr indent="0" marL="0">
              <a:buNone/>
            </a:pPr>
            <a:r>
              <a:rPr lang="en-US" sz="1150" dirty="0">
                <a:solidFill>
                  <a:srgbClr val="7A7F72"/>
                </a:solidFill>
                <a:latin typeface="Arial" pitchFamily="34" charset="0"/>
                <a:ea typeface="Arial" pitchFamily="34" charset="-122"/>
                <a:cs typeface="Arial" pitchFamily="34" charset="-120"/>
              </a:rPr>
              <a:t>one sentence: what does this design say?</a:t>
            </a:r>
            <a:endParaRPr lang="en-US" sz="1150" dirty="0"/>
          </a:p>
        </p:txBody>
      </p:sp>
      <p:sp>
        <p:nvSpPr>
          <p:cNvPr id="30" name="Text 28"/>
          <p:cNvSpPr/>
          <p:nvPr/>
        </p:nvSpPr>
        <p:spPr>
          <a:xfrm>
            <a:off x="822960" y="5029200"/>
            <a:ext cx="10424160" cy="640080"/>
          </a:xfrm>
          <a:prstGeom prst="rect">
            <a:avLst/>
          </a:prstGeom>
          <a:noFill/>
          <a:ln/>
        </p:spPr>
        <p:txBody>
          <a:bodyPr wrap="square" lIns="0" tIns="0" rIns="0" bIns="0" rtlCol="0" anchor="t"/>
          <a:lstStyle/>
          <a:p>
            <a:pPr indent="0" marL="0">
              <a:lnSpc>
                <a:spcPts val="2200"/>
              </a:lnSpc>
              <a:buNone/>
            </a:pPr>
            <a:r>
              <a:rPr lang="en-US" sz="1650" i="1" dirty="0">
                <a:solidFill>
                  <a:srgbClr val="4A6B5D"/>
                </a:solidFill>
                <a:latin typeface="Georgia" pitchFamily="34" charset="0"/>
                <a:ea typeface="Georgia" pitchFamily="34" charset="-122"/>
                <a:cs typeface="Georgia" pitchFamily="34" charset="-120"/>
              </a:rPr>
              <a:t>This is not an exercise about Component 1. It is your group's C1 design document, dated on the blog, and the planning lock checks your costume and properties against it nine days from now.</a:t>
            </a:r>
            <a:endParaRPr lang="en-US" sz="1650" dirty="0"/>
          </a:p>
        </p:txBody>
      </p:sp>
      <p:sp>
        <p:nvSpPr>
          <p:cNvPr id="31" name="Shape 29"/>
          <p:cNvSpPr/>
          <p:nvPr/>
        </p:nvSpPr>
        <p:spPr>
          <a:xfrm>
            <a:off x="822960" y="6382512"/>
            <a:ext cx="10543032" cy="0"/>
          </a:xfrm>
          <a:prstGeom prst="line">
            <a:avLst/>
          </a:prstGeom>
          <a:noFill/>
          <a:ln w="9525">
            <a:solidFill>
              <a:srgbClr val="D9D4C4"/>
            </a:solidFill>
            <a:prstDash val="solid"/>
          </a:ln>
        </p:spPr>
      </p:sp>
      <p:sp>
        <p:nvSpPr>
          <p:cNvPr id="32" name="Text 30"/>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33" name="Text 31"/>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05</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WHY THIS ELEMENT PAYS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VISIBLE, NAMEABLE, DENSE WITH MEANING</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97280"/>
            <a:ext cx="10543032" cy="822960"/>
          </a:xfrm>
          <a:prstGeom prst="rect">
            <a:avLst/>
          </a:prstGeom>
          <a:noFill/>
          <a:ln/>
        </p:spPr>
        <p:txBody>
          <a:bodyPr wrap="square" lIns="0" tIns="0" rIns="0" bIns="0" rtlCol="0" anchor="ctr"/>
          <a:lstStyle/>
          <a:p>
            <a:pPr indent="0" marL="0">
              <a:buNone/>
            </a:pPr>
            <a:r>
              <a:rPr lang="en-US" sz="3400" dirty="0">
                <a:solidFill>
                  <a:srgbClr val="24313F"/>
                </a:solidFill>
                <a:latin typeface="Georgia" pitchFamily="34" charset="0"/>
                <a:ea typeface="Georgia" pitchFamily="34" charset="-122"/>
                <a:cs typeface="Georgia" pitchFamily="34" charset="-120"/>
              </a:rPr>
              <a:t>The one you can read without hearing a word</a:t>
            </a:r>
            <a:endParaRPr lang="en-US" sz="3400" dirty="0"/>
          </a:p>
        </p:txBody>
      </p:sp>
      <p:sp>
        <p:nvSpPr>
          <p:cNvPr id="6" name="Shape 4"/>
          <p:cNvSpPr/>
          <p:nvPr/>
        </p:nvSpPr>
        <p:spPr>
          <a:xfrm>
            <a:off x="822960" y="2286000"/>
            <a:ext cx="914400" cy="0"/>
          </a:xfrm>
          <a:prstGeom prst="line">
            <a:avLst/>
          </a:prstGeom>
          <a:noFill/>
          <a:ln w="31750">
            <a:solidFill>
              <a:srgbClr val="8C3A38"/>
            </a:solidFill>
            <a:prstDash val="solid"/>
          </a:ln>
        </p:spPr>
      </p:sp>
      <p:sp>
        <p:nvSpPr>
          <p:cNvPr id="7" name="Text 5"/>
          <p:cNvSpPr/>
          <p:nvPr/>
        </p:nvSpPr>
        <p:spPr>
          <a:xfrm>
            <a:off x="822960" y="2560320"/>
            <a:ext cx="10241280" cy="1828800"/>
          </a:xfrm>
          <a:prstGeom prst="rect">
            <a:avLst/>
          </a:prstGeom>
          <a:noFill/>
          <a:ln/>
        </p:spPr>
        <p:txBody>
          <a:bodyPr wrap="square" lIns="0" tIns="0" rIns="0" bIns="0" rtlCol="0" anchor="t"/>
          <a:lstStyle/>
          <a:p>
            <a:pPr indent="0" marL="0">
              <a:lnSpc>
                <a:spcPts val="2600"/>
              </a:lnSpc>
              <a:buNone/>
            </a:pPr>
            <a:r>
              <a:rPr lang="en-US" sz="1850" dirty="0">
                <a:solidFill>
                  <a:srgbClr val="24313F"/>
                </a:solidFill>
                <a:latin typeface="Georgia" pitchFamily="34" charset="0"/>
                <a:ea typeface="Georgia" pitchFamily="34" charset="-122"/>
                <a:cs typeface="Georgia" pitchFamily="34" charset="-120"/>
              </a:rPr>
              <a:t>Camera needs a moving frame and sound needs a good ear. Mise-en-scène sits still and waits to be described accurately. In an unseen extract played four times, it is the element you can bank before the pressure starts, and the one where a precise vocabulary shows fastest: not dark, but low key; not old-fashioned clothes, but a costume that dates the character against the room.</a:t>
            </a:r>
            <a:endParaRPr lang="en-US" sz="1850" dirty="0"/>
          </a:p>
        </p:txBody>
      </p:sp>
      <p:sp>
        <p:nvSpPr>
          <p:cNvPr id="8" name="Shape 6"/>
          <p:cNvSpPr/>
          <p:nvPr/>
        </p:nvSpPr>
        <p:spPr>
          <a:xfrm>
            <a:off x="822960" y="4526280"/>
            <a:ext cx="10543032" cy="914400"/>
          </a:xfrm>
          <a:prstGeom prst="rect">
            <a:avLst/>
          </a:prstGeom>
          <a:solidFill>
            <a:srgbClr val="E8EFE7"/>
          </a:solidFill>
          <a:ln/>
        </p:spPr>
      </p:sp>
      <p:sp>
        <p:nvSpPr>
          <p:cNvPr id="9" name="Text 7"/>
          <p:cNvSpPr/>
          <p:nvPr/>
        </p:nvSpPr>
        <p:spPr>
          <a:xfrm>
            <a:off x="1097280" y="4617720"/>
            <a:ext cx="9994392" cy="731520"/>
          </a:xfrm>
          <a:prstGeom prst="rect">
            <a:avLst/>
          </a:prstGeom>
          <a:noFill/>
          <a:ln/>
        </p:spPr>
        <p:txBody>
          <a:bodyPr wrap="square" lIns="0" tIns="0" rIns="0" bIns="0" rtlCol="0" anchor="ctr"/>
          <a:lstStyle/>
          <a:p>
            <a:pPr indent="0" marL="0">
              <a:buNone/>
            </a:pPr>
            <a:r>
              <a:rPr lang="en-US" sz="1650" i="1" dirty="0">
                <a:solidFill>
                  <a:srgbClr val="4A6B5D"/>
                </a:solidFill>
                <a:latin typeface="Georgia" pitchFamily="34" charset="0"/>
                <a:ea typeface="Georgia" pitchFamily="34" charset="-122"/>
                <a:cs typeface="Georgia" pitchFamily="34" charset="-120"/>
              </a:rPr>
              <a:t>Carries forward: the Component 3 print task and website home page in Grade 12 are mise-en-scène problems before they are anything else.</a:t>
            </a:r>
            <a:endParaRPr lang="en-US" sz="1650" dirty="0"/>
          </a:p>
        </p:txBody>
      </p:sp>
      <p:sp>
        <p:nvSpPr>
          <p:cNvPr id="10" name="Shape 8"/>
          <p:cNvSpPr/>
          <p:nvPr/>
        </p:nvSpPr>
        <p:spPr>
          <a:xfrm>
            <a:off x="822960" y="6382512"/>
            <a:ext cx="10543032" cy="0"/>
          </a:xfrm>
          <a:prstGeom prst="line">
            <a:avLst/>
          </a:prstGeom>
          <a:noFill/>
          <a:ln w="9525">
            <a:solidFill>
              <a:srgbClr val="D9D4C4"/>
            </a:solidFill>
            <a:prstDash val="solid"/>
          </a:ln>
        </p:spPr>
      </p:sp>
      <p:sp>
        <p:nvSpPr>
          <p:cNvPr id="11" name="Text 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2" name="Text 1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06</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 y="2148840"/>
            <a:ext cx="54864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NEXT</a:t>
            </a:r>
            <a:endParaRPr lang="en-US" sz="1100" dirty="0"/>
          </a:p>
        </p:txBody>
      </p:sp>
      <p:sp>
        <p:nvSpPr>
          <p:cNvPr id="3" name="Shape 1"/>
          <p:cNvSpPr/>
          <p:nvPr/>
        </p:nvSpPr>
        <p:spPr>
          <a:xfrm>
            <a:off x="822960" y="2514600"/>
            <a:ext cx="3108960" cy="0"/>
          </a:xfrm>
          <a:prstGeom prst="line">
            <a:avLst/>
          </a:prstGeom>
          <a:noFill/>
          <a:ln w="9525">
            <a:solidFill>
              <a:srgbClr val="8AA394"/>
            </a:solidFill>
            <a:prstDash val="solid"/>
          </a:ln>
        </p:spPr>
      </p:sp>
      <p:sp>
        <p:nvSpPr>
          <p:cNvPr id="4" name="Text 2"/>
          <p:cNvSpPr/>
          <p:nvPr/>
        </p:nvSpPr>
        <p:spPr>
          <a:xfrm>
            <a:off x="822960" y="2651760"/>
            <a:ext cx="10241280" cy="1920240"/>
          </a:xfrm>
          <a:prstGeom prst="rect">
            <a:avLst/>
          </a:prstGeom>
          <a:noFill/>
          <a:ln/>
        </p:spPr>
        <p:txBody>
          <a:bodyPr wrap="square" lIns="0" tIns="0" rIns="0" bIns="0" rtlCol="0" anchor="t"/>
          <a:lstStyle/>
          <a:p>
            <a:pPr indent="0" marL="0">
              <a:lnSpc>
                <a:spcPts val="6200"/>
              </a:lnSpc>
              <a:buNone/>
            </a:pPr>
            <a:r>
              <a:rPr lang="en-US" sz="6200" dirty="0">
                <a:solidFill>
                  <a:srgbClr val="FAF8F1"/>
                </a:solidFill>
                <a:latin typeface="Georgia" pitchFamily="34" charset="0"/>
                <a:ea typeface="Georgia" pitchFamily="34" charset="-122"/>
                <a:cs typeface="Georgia" pitchFamily="34" charset="-120"/>
              </a:rPr>
              <a:t>Editing</a:t>
            </a:r>
            <a:endParaRPr lang="en-US" sz="6200" dirty="0"/>
          </a:p>
        </p:txBody>
      </p:sp>
      <p:sp>
        <p:nvSpPr>
          <p:cNvPr id="5" name="Text 3"/>
          <p:cNvSpPr/>
          <p:nvPr/>
        </p:nvSpPr>
        <p:spPr>
          <a:xfrm>
            <a:off x="822960" y="4480560"/>
            <a:ext cx="10241280" cy="822960"/>
          </a:xfrm>
          <a:prstGeom prst="rect">
            <a:avLst/>
          </a:prstGeom>
          <a:noFill/>
          <a:ln/>
        </p:spPr>
        <p:txBody>
          <a:bodyPr wrap="square" lIns="0" tIns="0" rIns="0" bIns="0" rtlCol="0" anchor="t"/>
          <a:lstStyle/>
          <a:p>
            <a:pPr indent="0" marL="0">
              <a:lnSpc>
                <a:spcPts val="2800"/>
              </a:lnSpc>
              <a:buNone/>
            </a:pPr>
            <a:r>
              <a:rPr lang="en-US" sz="2200" i="1" dirty="0">
                <a:solidFill>
                  <a:srgbClr val="E8EFE7"/>
                </a:solidFill>
                <a:latin typeface="Georgia" pitchFamily="34" charset="0"/>
                <a:ea typeface="Georgia" pitchFamily="34" charset="-122"/>
                <a:cs typeface="Georgia" pitchFamily="34" charset="-120"/>
              </a:rPr>
              <a:t>Lesson 06. The system that hides itself, made visible by breaking it on purpose.</a:t>
            </a:r>
            <a:endParaRPr lang="en-US" sz="2200" dirty="0"/>
          </a:p>
        </p:txBody>
      </p:sp>
      <p:sp>
        <p:nvSpPr>
          <p:cNvPr id="6" name="Shape 4"/>
          <p:cNvSpPr/>
          <p:nvPr/>
        </p:nvSpPr>
        <p:spPr>
          <a:xfrm>
            <a:off x="822960" y="6382512"/>
            <a:ext cx="10543032" cy="0"/>
          </a:xfrm>
          <a:prstGeom prst="line">
            <a:avLst/>
          </a:prstGeom>
          <a:noFill/>
          <a:ln w="9525">
            <a:solidFill>
              <a:srgbClr val="6E8A7C"/>
            </a:solidFill>
            <a:prstDash val="solid"/>
          </a:ln>
        </p:spPr>
      </p:sp>
      <p:sp>
        <p:nvSpPr>
          <p:cNvPr id="7" name="Text 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E8EFE7"/>
                </a:solidFill>
                <a:latin typeface="Arial" pitchFamily="34" charset="0"/>
                <a:ea typeface="Arial" pitchFamily="34" charset="-122"/>
                <a:cs typeface="Arial" pitchFamily="34" charset="-120"/>
              </a:rPr>
              <a:t>MEDIA STUDIES 9607 · SEMESTER I</a:t>
            </a:r>
            <a:endParaRPr lang="en-US" sz="900" dirty="0"/>
          </a:p>
        </p:txBody>
      </p:sp>
      <p:sp>
        <p:nvSpPr>
          <p:cNvPr id="8" name="Text 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E8EFE7"/>
                </a:solidFill>
                <a:latin typeface="Georgia" pitchFamily="34" charset="0"/>
                <a:ea typeface="Georgia" pitchFamily="34" charset="-122"/>
                <a:cs typeface="Georgia" pitchFamily="34" charset="-120"/>
              </a:rPr>
              <a:t>07</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2026-08-09T08:05:17Z</dcterms:created>
  <dcterms:modified xsi:type="dcterms:W3CDTF">2026-08-09T08:05:17Z</dcterms:modified>
</cp:coreProperties>
</file>