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highest-yield element for ESL learners: costume, lighting and colour are visible, nameable and thick with connotation, and none of it requires hearing dialogue at speed. D1's starter still is the CUP warehouse frame (cup-warehouse-lowangle in img/): one still, one instruction, list ten things you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them did. That is the whole definition, arrived at by the class rather than given to them. Run it on the CUP warehouse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acting boundary once, plainly, then police it in marking. Students who have done drama will reach for performance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plan's own argument keeps the painting: chiaroscuro reads better in a painting than a screengrab. Re-derived 2026-08-24 from the library original and shown WHOLE (the old slide cropped away the lit faces the headline promised); the Lupin frame pairs it in the exam's medium.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 cells: Aiony Haust (front), Kirill Balobanov (side), Satyam Pathak (behind), all Unsplash, credited in CREDITS. The below cell stays a live demo on purpose; after the first run, replace the cells with the class's own four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images are the CUP Teacher's Resource's own (U6.2, the lighting practical): teaching use cleared, in-vault. The lighting plan cell of tomorrow's board names this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a design brief: where is this, what is everyone wearing and why, which objects are load-bearing, and who does the arrangement of the room privilege. Then ask the same four questions of their own opening. The film's colour system (the pink box, the purple lobby, the red elevator) is worth naming aloud here as colour design's repetition and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brief question: what did the designers decide about each boy before you met him? Every answer is mise-en-scene, none of it is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plan's 15-minute D1 block, previously slide-less. Annotate for production design and colour only; the sequence is deliberately faceless, which is the point. Nine-frame analyses of any other title sequence follow the same protocol (Art of the Title is the named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images AFTER the description round, not before: the reveal is the payoff. Cells: Highclere Castle (Commons, credited), and three Unsplash rooms (credited in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 on coverage, a connotation line per cell, and internal consistency. Tue 22 Sep to the lock on Wed 30 Sep is eight days (the old slide said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412480" y="822960"/>
            <a:ext cx="301752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V</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498080" cy="2377440"/>
          </a:xfrm>
          <a:prstGeom prst="rect">
            <a:avLst/>
          </a:prstGeom>
          <a:noFill/>
          <a:ln/>
        </p:spPr>
        <p:txBody>
          <a:bodyPr wrap="square" lIns="0" tIns="0" rIns="0" bIns="0" rtlCol="0" anchor="t"/>
          <a:lstStyle/>
          <a:p>
            <a:pPr indent="0" marL="0">
              <a:lnSpc>
                <a:spcPts val="6600"/>
              </a:lnSpc>
              <a:buNone/>
            </a:pPr>
            <a:r>
              <a:rPr lang="en-US" sz="6200" dirty="0">
                <a:solidFill>
                  <a:srgbClr val="24313F"/>
                </a:solidFill>
                <a:latin typeface="Georgia" pitchFamily="34" charset="0"/>
                <a:ea typeface="Georgia" pitchFamily="34" charset="-122"/>
                <a:cs typeface="Georgia" pitchFamily="34" charset="-120"/>
              </a:rPr>
              <a:t>Mise-en-scène</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05 of 19</a:t>
            </a:r>
            <a:endParaRPr lang="en-US" sz="2200" dirty="0"/>
          </a:p>
        </p:txBody>
      </p:sp>
      <p:sp>
        <p:nvSpPr>
          <p:cNvPr id="7" name="Text 5"/>
          <p:cNvSpPr/>
          <p:nvPr/>
        </p:nvSpPr>
        <p:spPr>
          <a:xfrm>
            <a:off x="822960" y="5029200"/>
            <a:ext cx="96012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Monday 21 and Thursday 24 September  ·  third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0" y="640080"/>
            <a:ext cx="338328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V</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STARTER</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7315200" cy="2377440"/>
          </a:xfrm>
          <a:prstGeom prst="rect">
            <a:avLst/>
          </a:prstGeom>
          <a:noFill/>
          <a:ln/>
        </p:spPr>
        <p:txBody>
          <a:bodyPr wrap="square" lIns="0" tIns="0" rIns="0" bIns="0" rtlCol="0" anchor="t"/>
          <a:lstStyle/>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List ten things you</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can see. Which ones</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are there by accident?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SYLLABUS LIST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FULL LIST, PLUS ONE HARD RULE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counts as mise-en-scène</a:t>
            </a:r>
            <a:endParaRPr lang="en-US" sz="3200" dirty="0"/>
          </a:p>
        </p:txBody>
      </p:sp>
      <p:sp>
        <p:nvSpPr>
          <p:cNvPr id="6" name="Text 4"/>
          <p:cNvSpPr/>
          <p:nvPr/>
        </p:nvSpPr>
        <p:spPr>
          <a:xfrm>
            <a:off x="822960"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Production design</a:t>
            </a:r>
            <a:endParaRPr lang="en-US" sz="2200" dirty="0"/>
          </a:p>
        </p:txBody>
      </p:sp>
      <p:sp>
        <p:nvSpPr>
          <p:cNvPr id="7" name="Shape 5"/>
          <p:cNvSpPr/>
          <p:nvPr/>
        </p:nvSpPr>
        <p:spPr>
          <a:xfrm>
            <a:off x="822960" y="2377440"/>
            <a:ext cx="3209544" cy="0"/>
          </a:xfrm>
          <a:prstGeom prst="line">
            <a:avLst/>
          </a:prstGeom>
          <a:noFill/>
          <a:ln w="9525">
            <a:solidFill>
              <a:srgbClr val="D9D4C4"/>
            </a:solidFill>
            <a:prstDash val="solid"/>
          </a:ln>
        </p:spPr>
      </p:sp>
      <p:sp>
        <p:nvSpPr>
          <p:cNvPr id="8" name="Text 6"/>
          <p:cNvSpPr/>
          <p:nvPr/>
        </p:nvSpPr>
        <p:spPr>
          <a:xfrm>
            <a:off x="822960"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location  ·  studio  ·  set design</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costume and make-up  ·  properties</a:t>
            </a:r>
            <a:endParaRPr lang="en-US" sz="1650" dirty="0"/>
          </a:p>
        </p:txBody>
      </p:sp>
      <p:sp>
        <p:nvSpPr>
          <p:cNvPr id="9" name="Text 7"/>
          <p:cNvSpPr/>
          <p:nvPr/>
        </p:nvSpPr>
        <p:spPr>
          <a:xfrm>
            <a:off x="4489704"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Lighting</a:t>
            </a:r>
            <a:endParaRPr lang="en-US" sz="2200" dirty="0"/>
          </a:p>
        </p:txBody>
      </p:sp>
      <p:sp>
        <p:nvSpPr>
          <p:cNvPr id="10" name="Shape 8"/>
          <p:cNvSpPr/>
          <p:nvPr/>
        </p:nvSpPr>
        <p:spPr>
          <a:xfrm>
            <a:off x="4489704" y="2377440"/>
            <a:ext cx="3209544" cy="0"/>
          </a:xfrm>
          <a:prstGeom prst="line">
            <a:avLst/>
          </a:prstGeom>
          <a:noFill/>
          <a:ln w="9525">
            <a:solidFill>
              <a:srgbClr val="D9D4C4"/>
            </a:solidFill>
            <a:prstDash val="solid"/>
          </a:ln>
        </p:spPr>
      </p:sp>
      <p:sp>
        <p:nvSpPr>
          <p:cNvPr id="11" name="Text 9"/>
          <p:cNvSpPr/>
          <p:nvPr/>
        </p:nvSpPr>
        <p:spPr>
          <a:xfrm>
            <a:off x="4489704"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direction  ·  quality  ·  contrast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high key  ·  low key</a:t>
            </a:r>
            <a:endParaRPr lang="en-US" sz="1650" dirty="0"/>
          </a:p>
        </p:txBody>
      </p:sp>
      <p:sp>
        <p:nvSpPr>
          <p:cNvPr id="12" name="Text 10"/>
          <p:cNvSpPr/>
          <p:nvPr/>
        </p:nvSpPr>
        <p:spPr>
          <a:xfrm>
            <a:off x="8156448"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Colour design</a:t>
            </a:r>
            <a:endParaRPr lang="en-US" sz="2200" dirty="0"/>
          </a:p>
        </p:txBody>
      </p:sp>
      <p:sp>
        <p:nvSpPr>
          <p:cNvPr id="13" name="Shape 11"/>
          <p:cNvSpPr/>
          <p:nvPr/>
        </p:nvSpPr>
        <p:spPr>
          <a:xfrm>
            <a:off x="8156448" y="2377440"/>
            <a:ext cx="3209544" cy="0"/>
          </a:xfrm>
          <a:prstGeom prst="line">
            <a:avLst/>
          </a:prstGeom>
          <a:noFill/>
          <a:ln w="9525">
            <a:solidFill>
              <a:srgbClr val="D9D4C4"/>
            </a:solidFill>
            <a:prstDash val="solid"/>
          </a:ln>
        </p:spPr>
      </p:sp>
      <p:sp>
        <p:nvSpPr>
          <p:cNvPr id="14" name="Text 12"/>
          <p:cNvSpPr/>
          <p:nvPr/>
        </p:nvSpPr>
        <p:spPr>
          <a:xfrm>
            <a:off x="8156448"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palette  ·  repetition  ·  assignment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shift that marks a turn</a:t>
            </a:r>
            <a:endParaRPr lang="en-US" sz="1650" dirty="0"/>
          </a:p>
        </p:txBody>
      </p:sp>
      <p:sp>
        <p:nvSpPr>
          <p:cNvPr id="15" name="Shape 13"/>
          <p:cNvSpPr/>
          <p:nvPr/>
        </p:nvSpPr>
        <p:spPr>
          <a:xfrm>
            <a:off x="822960" y="4114800"/>
            <a:ext cx="10543032" cy="1234440"/>
          </a:xfrm>
          <a:prstGeom prst="rect">
            <a:avLst/>
          </a:prstGeom>
          <a:solidFill>
            <a:srgbClr val="E8EFE7"/>
          </a:solidFill>
          <a:ln/>
        </p:spPr>
      </p:sp>
      <p:sp>
        <p:nvSpPr>
          <p:cNvPr id="16" name="Text 14"/>
          <p:cNvSpPr/>
          <p:nvPr/>
        </p:nvSpPr>
        <p:spPr>
          <a:xfrm>
            <a:off x="1097280" y="4315968"/>
            <a:ext cx="9994392" cy="868680"/>
          </a:xfrm>
          <a:prstGeom prst="rect">
            <a:avLst/>
          </a:prstGeom>
          <a:noFill/>
          <a:ln/>
        </p:spPr>
        <p:txBody>
          <a:bodyPr wrap="square" lIns="0" tIns="0" rIns="0" bIns="0" rtlCol="0" anchor="t"/>
          <a:lstStyle/>
          <a:p>
            <a:pPr indent="0" marL="0">
              <a:lnSpc>
                <a:spcPts val="2600"/>
              </a:lnSpc>
              <a:buNone/>
            </a:pPr>
            <a:r>
              <a:rPr lang="en-US" sz="1450" b="1" spc="100" kern="0" dirty="0">
                <a:solidFill>
                  <a:srgbClr val="4A6B5D"/>
                </a:solidFill>
                <a:latin typeface="Arial" pitchFamily="34" charset="0"/>
                <a:ea typeface="Arial" pitchFamily="34" charset="-122"/>
                <a:cs typeface="Arial" pitchFamily="34" charset="-120"/>
              </a:rPr>
              <a:t>NOT ASSESSED   </a:t>
            </a:r>
            <a:pPr indent="0" marL="0">
              <a:lnSpc>
                <a:spcPts val="2600"/>
              </a:lnSpc>
              <a:buNone/>
            </a:pPr>
            <a:r>
              <a:rPr lang="en-US" sz="1650" dirty="0">
                <a:solidFill>
                  <a:srgbClr val="24313F"/>
                </a:solidFill>
                <a:latin typeface="Georgia" pitchFamily="34" charset="0"/>
                <a:ea typeface="Georgia" pitchFamily="34" charset="-122"/>
                <a:cs typeface="Georgia" pitchFamily="34" charset="-120"/>
              </a:rPr>
              <a:t>Acting and performance. Acting is not a media studies skill.</a:t>
            </a:r>
            <a:endParaRPr lang="en-US" sz="1450" dirty="0"/>
          </a:p>
          <a:p>
            <a:pPr indent="0" marL="0">
              <a:lnSpc>
                <a:spcPts val="2600"/>
              </a:lnSpc>
              <a:buNone/>
            </a:pPr>
            <a:r>
              <a:rPr lang="en-US" sz="1450" b="1" spc="100" kern="0" dirty="0">
                <a:solidFill>
                  <a:srgbClr val="4A6B5D"/>
                </a:solidFill>
                <a:latin typeface="Arial" pitchFamily="34" charset="0"/>
                <a:ea typeface="Arial" pitchFamily="34" charset="-122"/>
                <a:cs typeface="Arial" pitchFamily="34" charset="-120"/>
              </a:rPr>
              <a:t>RULE   </a:t>
            </a:r>
            <a:pPr indent="0" marL="0">
              <a:lnSpc>
                <a:spcPts val="2600"/>
              </a:lnSpc>
              <a:buNone/>
            </a:pPr>
            <a:r>
              <a:rPr lang="en-US" sz="1650" dirty="0">
                <a:solidFill>
                  <a:srgbClr val="24313F"/>
                </a:solidFill>
                <a:latin typeface="Georgia" pitchFamily="34" charset="0"/>
                <a:ea typeface="Georgia" pitchFamily="34" charset="-122"/>
                <a:cs typeface="Georgia" pitchFamily="34" charset="-120"/>
              </a:rPr>
              <a:t>Write about what is placed in the frame, not how the actors play it.</a:t>
            </a:r>
            <a:endParaRPr lang="en-US" sz="1450" dirty="0"/>
          </a:p>
        </p:txBody>
      </p:sp>
      <p:sp>
        <p:nvSpPr>
          <p:cNvPr id="17" name="Shape 15"/>
          <p:cNvSpPr/>
          <p:nvPr/>
        </p:nvSpPr>
        <p:spPr>
          <a:xfrm>
            <a:off x="822960" y="6382512"/>
            <a:ext cx="10543032" cy="0"/>
          </a:xfrm>
          <a:prstGeom prst="line">
            <a:avLst/>
          </a:prstGeom>
          <a:noFill/>
          <a:ln w="9525">
            <a:solidFill>
              <a:srgbClr val="D9D4C4"/>
            </a:solidFill>
            <a:prstDash val="solid"/>
          </a:ln>
        </p:spPr>
      </p:sp>
      <p:sp>
        <p:nvSpPr>
          <p:cNvPr id="18"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9"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600"/>
              </a:lnSpc>
              <a:buNone/>
            </a:pPr>
            <a:r>
              <a:rPr lang="en-US" sz="3600" dirty="0">
                <a:solidFill>
                  <a:srgbClr val="24313F"/>
                </a:solidFill>
                <a:latin typeface="Georgia" pitchFamily="34" charset="0"/>
                <a:ea typeface="Georgia" pitchFamily="34" charset="-122"/>
                <a:cs typeface="Georgia" pitchFamily="34" charset="-120"/>
              </a:rPr>
              <a:t>Stills from particular films can be used for mise-en-scène analysis and recorded in the blog as evidence of research.</a:t>
            </a:r>
            <a:endParaRPr lang="en-US" sz="3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
        <p:nvSpPr>
          <p:cNvPr id="6" name="Text 4"/>
          <p:cNvSpPr/>
          <p:nvPr/>
        </p:nvSpPr>
        <p:spPr>
          <a:xfrm>
            <a:off x="822960" y="5806440"/>
            <a:ext cx="10424160" cy="640080"/>
          </a:xfrm>
          <a:prstGeom prst="rect">
            <a:avLst/>
          </a:prstGeom>
          <a:noFill/>
          <a:ln/>
        </p:spPr>
        <p:txBody>
          <a:bodyPr wrap="square" lIns="0" tIns="0" rIns="0" bIns="0" rtlCol="0" anchor="t"/>
          <a:lstStyle/>
          <a:p>
            <a:pPr indent="0" marL="0">
              <a:lnSpc>
                <a:spcPts val="1900"/>
              </a:lnSpc>
              <a:buNone/>
            </a:pPr>
            <a:r>
              <a:rPr lang="en-US" sz="1200" b="1" spc="100" kern="0" dirty="0">
                <a:solidFill>
                  <a:srgbClr val="7A7F72"/>
                </a:solidFill>
                <a:latin typeface="Arial" pitchFamily="34" charset="0"/>
                <a:ea typeface="Arial" pitchFamily="34" charset="-122"/>
                <a:cs typeface="Arial" pitchFamily="34" charset="-120"/>
              </a:rPr>
              <a:t>IN PLAIN WORDS   </a:t>
            </a:r>
            <a:pPr indent="0" marL="0">
              <a:lnSpc>
                <a:spcPts val="1900"/>
              </a:lnSpc>
              <a:buNone/>
            </a:pPr>
            <a:r>
              <a:rPr lang="en-US" sz="1400" i="1" dirty="0">
                <a:solidFill>
                  <a:srgbClr val="4A6B5D"/>
                </a:solidFill>
                <a:latin typeface="Georgia" pitchFamily="34" charset="0"/>
                <a:ea typeface="Georgia" pitchFamily="34" charset="-122"/>
                <a:cs typeface="Georgia" pitchFamily="34" charset="-120"/>
              </a:rPr>
              <a:t>Analyze film stills, and post each analysis on your blog. That counts as research evidence.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LIGHTING · DIRECTION AND CONTRAST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LIGHT SOURCE DECIDES THE SCENE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5088636" cy="35204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caravaggio-matthew-whole.jpg">    </p:cNvPr>
          <p:cNvPicPr>
            <a:picLocks noChangeAspect="1"/>
          </p:cNvPicPr>
          <p:nvPr/>
        </p:nvPicPr>
        <p:blipFill>
          <a:blip r:embed="rId1"/>
          <a:stretch>
            <a:fillRect/>
          </a:stretch>
        </p:blipFill>
        <p:spPr>
          <a:xfrm>
            <a:off x="1639316" y="1225296"/>
            <a:ext cx="3455924" cy="3264408"/>
          </a:xfrm>
          <a:prstGeom prst="rect">
            <a:avLst/>
          </a:prstGeom>
        </p:spPr>
      </p:pic>
      <p:sp>
        <p:nvSpPr>
          <p:cNvPr id="7" name="Shape 4"/>
          <p:cNvSpPr/>
          <p:nvPr/>
        </p:nvSpPr>
        <p:spPr>
          <a:xfrm>
            <a:off x="6277356" y="1097280"/>
            <a:ext cx="5088636" cy="352044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lupin-vitrine.jpg">    </p:cNvPr>
          <p:cNvPicPr>
            <a:picLocks noChangeAspect="1"/>
          </p:cNvPicPr>
          <p:nvPr/>
        </p:nvPicPr>
        <p:blipFill>
          <a:blip r:embed="rId2"/>
          <a:stretch>
            <a:fillRect/>
          </a:stretch>
        </p:blipFill>
        <p:spPr>
          <a:xfrm>
            <a:off x="6405372" y="1246632"/>
            <a:ext cx="4832604" cy="3221736"/>
          </a:xfrm>
          <a:prstGeom prst="rect">
            <a:avLst/>
          </a:prstGeom>
        </p:spPr>
      </p:pic>
      <p:sp>
        <p:nvSpPr>
          <p:cNvPr id="9" name="Text 5"/>
          <p:cNvSpPr/>
          <p:nvPr/>
        </p:nvSpPr>
        <p:spPr>
          <a:xfrm>
            <a:off x="822960" y="4681728"/>
            <a:ext cx="5088636"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Caravaggio, The Calling of Saint Matthew, c. 1600. One window lights the scene.</a:t>
            </a:r>
            <a:endParaRPr lang="en-US" sz="1000" dirty="0"/>
          </a:p>
        </p:txBody>
      </p:sp>
      <p:sp>
        <p:nvSpPr>
          <p:cNvPr id="10" name="Text 6"/>
          <p:cNvSpPr/>
          <p:nvPr/>
        </p:nvSpPr>
        <p:spPr>
          <a:xfrm>
            <a:off x="6277356" y="4681728"/>
            <a:ext cx="5088636"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Lupin S1 E1 (Netflix, 2021). One lamp on a glass case does the same job.</a:t>
            </a:r>
            <a:endParaRPr lang="en-US" sz="1000" dirty="0"/>
          </a:p>
        </p:txBody>
      </p:sp>
      <p:sp>
        <p:nvSpPr>
          <p:cNvPr id="11" name="Shape 7"/>
          <p:cNvSpPr/>
          <p:nvPr/>
        </p:nvSpPr>
        <p:spPr>
          <a:xfrm>
            <a:off x="822960" y="5230368"/>
            <a:ext cx="914400" cy="0"/>
          </a:xfrm>
          <a:prstGeom prst="line">
            <a:avLst/>
          </a:prstGeom>
          <a:noFill/>
          <a:ln w="31750">
            <a:solidFill>
              <a:srgbClr val="8C3A38"/>
            </a:solidFill>
            <a:prstDash val="solid"/>
          </a:ln>
        </p:spPr>
      </p:sp>
      <p:sp>
        <p:nvSpPr>
          <p:cNvPr id="12" name="Text 8"/>
          <p:cNvSpPr/>
          <p:nvPr/>
        </p:nvSpPr>
        <p:spPr>
          <a:xfrm>
            <a:off x="822960" y="5376672"/>
            <a:ext cx="10543032" cy="9601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TECHNIQUE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Low-key lighting: one strong light source, high contrast, deep shadows.</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EFFECT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The lit face looks important. The dark hides the rest. It is a choice about attention, not darkness.</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GENRE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Thriller and horror use low-key lighting to create threat and mystery.</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EXAM SENTENCE   </a:t>
            </a:r>
            <a:pPr indent="0" marL="0">
              <a:lnSpc>
                <a:spcPts val="1700"/>
              </a:lnSpc>
              <a:buNone/>
            </a:pPr>
            <a:r>
              <a:rPr lang="en-US" sz="1250" i="1" dirty="0">
                <a:solidFill>
                  <a:srgbClr val="24313F"/>
                </a:solidFill>
                <a:latin typeface="Georgia" pitchFamily="34" charset="0"/>
                <a:ea typeface="Georgia" pitchFamily="34" charset="-122"/>
                <a:cs typeface="Georgia" pitchFamily="34" charset="-120"/>
              </a:rPr>
              <a:t>“The low-key lighting isolates the character and creates a sense of threat.”</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TEN MINUTES, LIGHTS OFF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VOLUNTEER, ONE PHONE TORCH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Four positions, in this order</a:t>
            </a:r>
            <a:endParaRPr lang="en-US" sz="3000" dirty="0"/>
          </a:p>
        </p:txBody>
      </p:sp>
      <p:sp>
        <p:nvSpPr>
          <p:cNvPr id="6" name="Shape 4"/>
          <p:cNvSpPr/>
          <p:nvPr/>
        </p:nvSpPr>
        <p:spPr>
          <a:xfrm>
            <a:off x="822960" y="1554480"/>
            <a:ext cx="2361438" cy="228600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light-front.jpg">    </p:cNvPr>
          <p:cNvPicPr>
            <a:picLocks noChangeAspect="1"/>
          </p:cNvPicPr>
          <p:nvPr/>
        </p:nvPicPr>
        <p:blipFill>
          <a:blip r:embed="rId1"/>
          <a:stretch>
            <a:fillRect/>
          </a:stretch>
        </p:blipFill>
        <p:spPr>
          <a:xfrm>
            <a:off x="1148086" y="1627632"/>
            <a:ext cx="1711186" cy="2139696"/>
          </a:xfrm>
          <a:prstGeom prst="rect">
            <a:avLst/>
          </a:prstGeom>
        </p:spPr>
      </p:pic>
      <p:sp>
        <p:nvSpPr>
          <p:cNvPr id="8" name="Text 5"/>
          <p:cNvSpPr/>
          <p:nvPr/>
        </p:nvSpPr>
        <p:spPr>
          <a:xfrm>
            <a:off x="822960"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Front</a:t>
            </a:r>
            <a:endParaRPr lang="en-US" sz="2000" dirty="0"/>
          </a:p>
        </p:txBody>
      </p:sp>
      <p:sp>
        <p:nvSpPr>
          <p:cNvPr id="9" name="Shape 6"/>
          <p:cNvSpPr/>
          <p:nvPr/>
        </p:nvSpPr>
        <p:spPr>
          <a:xfrm>
            <a:off x="822960" y="4370832"/>
            <a:ext cx="2361438" cy="0"/>
          </a:xfrm>
          <a:prstGeom prst="line">
            <a:avLst/>
          </a:prstGeom>
          <a:noFill/>
          <a:ln w="9525">
            <a:solidFill>
              <a:srgbClr val="D9D4C4"/>
            </a:solidFill>
            <a:prstDash val="solid"/>
          </a:ln>
        </p:spPr>
      </p:sp>
      <p:sp>
        <p:nvSpPr>
          <p:cNvPr id="10" name="Text 7"/>
          <p:cNvSpPr/>
          <p:nvPr/>
        </p:nvSpPr>
        <p:spPr>
          <a:xfrm>
            <a:off x="822960"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Flat, even light. The face is open and clear. Connotation: honesty. Used in news and lifestyle TV.</a:t>
            </a:r>
            <a:endParaRPr lang="en-US" sz="1300" dirty="0"/>
          </a:p>
        </p:txBody>
      </p:sp>
      <p:sp>
        <p:nvSpPr>
          <p:cNvPr id="11" name="Shape 8"/>
          <p:cNvSpPr/>
          <p:nvPr/>
        </p:nvSpPr>
        <p:spPr>
          <a:xfrm>
            <a:off x="3550158" y="1554480"/>
            <a:ext cx="2361438" cy="2286000"/>
          </a:xfrm>
          <a:prstGeom prst="rect">
            <a:avLst/>
          </a:prstGeom>
          <a:solidFill>
            <a:srgbClr val="FAF8F1"/>
          </a:solidFill>
          <a:ln w="9525">
            <a:solidFill>
              <a:srgbClr val="D9D4C4"/>
            </a:solidFill>
            <a:prstDash val="solid"/>
          </a:ln>
        </p:spPr>
      </p:sp>
      <p:pic>
        <p:nvPicPr>
          <p:cNvPr id="12" name="Image 1" descr="/Users/dogan/Documents/Vaults/Courses/wiki/classes/media-studies/decks/_build/img/light-side.jpg">    </p:cNvPr>
          <p:cNvPicPr>
            <a:picLocks noChangeAspect="1"/>
          </p:cNvPicPr>
          <p:nvPr/>
        </p:nvPicPr>
        <p:blipFill>
          <a:blip r:embed="rId2"/>
          <a:stretch>
            <a:fillRect/>
          </a:stretch>
        </p:blipFill>
        <p:spPr>
          <a:xfrm>
            <a:off x="3966472" y="1627632"/>
            <a:ext cx="1528809" cy="2139696"/>
          </a:xfrm>
          <a:prstGeom prst="rect">
            <a:avLst/>
          </a:prstGeom>
        </p:spPr>
      </p:pic>
      <p:sp>
        <p:nvSpPr>
          <p:cNvPr id="13" name="Text 9"/>
          <p:cNvSpPr/>
          <p:nvPr/>
        </p:nvSpPr>
        <p:spPr>
          <a:xfrm>
            <a:off x="3550158"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Side</a:t>
            </a:r>
            <a:endParaRPr lang="en-US" sz="2000" dirty="0"/>
          </a:p>
        </p:txBody>
      </p:sp>
      <p:sp>
        <p:nvSpPr>
          <p:cNvPr id="14" name="Shape 10"/>
          <p:cNvSpPr/>
          <p:nvPr/>
        </p:nvSpPr>
        <p:spPr>
          <a:xfrm>
            <a:off x="3550158" y="4370832"/>
            <a:ext cx="2361438" cy="0"/>
          </a:xfrm>
          <a:prstGeom prst="line">
            <a:avLst/>
          </a:prstGeom>
          <a:noFill/>
          <a:ln w="9525">
            <a:solidFill>
              <a:srgbClr val="D9D4C4"/>
            </a:solidFill>
            <a:prstDash val="solid"/>
          </a:ln>
        </p:spPr>
      </p:sp>
      <p:sp>
        <p:nvSpPr>
          <p:cNvPr id="15" name="Text 11"/>
          <p:cNvSpPr/>
          <p:nvPr/>
        </p:nvSpPr>
        <p:spPr>
          <a:xfrm>
            <a:off x="3550158"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Half the face is bright, half is dark. Connotation: mystery, inner conflict.</a:t>
            </a:r>
            <a:endParaRPr lang="en-US" sz="1300" dirty="0"/>
          </a:p>
        </p:txBody>
      </p:sp>
      <p:sp>
        <p:nvSpPr>
          <p:cNvPr id="16" name="Shape 12"/>
          <p:cNvSpPr/>
          <p:nvPr/>
        </p:nvSpPr>
        <p:spPr>
          <a:xfrm>
            <a:off x="6277356" y="1554480"/>
            <a:ext cx="2361438" cy="2286000"/>
          </a:xfrm>
          <a:prstGeom prst="rect">
            <a:avLst/>
          </a:prstGeom>
          <a:solidFill>
            <a:srgbClr val="E8EFE7"/>
          </a:solidFill>
          <a:ln w="9525">
            <a:solidFill>
              <a:srgbClr val="8AA394"/>
            </a:solidFill>
            <a:prstDash val="solid"/>
          </a:ln>
        </p:spPr>
      </p:sp>
      <p:sp>
        <p:nvSpPr>
          <p:cNvPr id="17" name="Text 13"/>
          <p:cNvSpPr/>
          <p:nvPr/>
        </p:nvSpPr>
        <p:spPr>
          <a:xfrm>
            <a:off x="6277356" y="1554480"/>
            <a:ext cx="2361438" cy="2286000"/>
          </a:xfrm>
          <a:prstGeom prst="rect">
            <a:avLst/>
          </a:prstGeom>
          <a:noFill/>
          <a:ln/>
        </p:spPr>
        <p:txBody>
          <a:bodyPr wrap="square" lIns="0" tIns="0" rIns="0" bIns="0" rtlCol="0" anchor="ctr"/>
          <a:lstStyle/>
          <a:p>
            <a:pPr algn="ctr" indent="0" marL="0">
              <a:lnSpc>
                <a:spcPts val="2400"/>
              </a:lnSpc>
              <a:buNone/>
            </a:pPr>
            <a:r>
              <a:rPr lang="en-US" sz="1600" b="1" spc="200" kern="0" dirty="0">
                <a:solidFill>
                  <a:srgbClr val="4A6B5D"/>
                </a:solidFill>
                <a:latin typeface="Arial" pitchFamily="34" charset="0"/>
                <a:ea typeface="Arial" pitchFamily="34" charset="-122"/>
                <a:cs typeface="Arial" pitchFamily="34" charset="-120"/>
              </a:rPr>
              <a:t>LIVE</a:t>
            </a:r>
            <a:endParaRPr lang="en-US" sz="1600" dirty="0"/>
          </a:p>
          <a:p>
            <a:pPr algn="ctr" indent="0" marL="0">
              <a:lnSpc>
                <a:spcPts val="2400"/>
              </a:lnSpc>
              <a:buNone/>
            </a:pPr>
            <a:r>
              <a:rPr lang="en-US" sz="1600" b="1" spc="200" kern="0" dirty="0">
                <a:solidFill>
                  <a:srgbClr val="4A6B5D"/>
                </a:solidFill>
                <a:latin typeface="Arial" pitchFamily="34" charset="0"/>
                <a:ea typeface="Arial" pitchFamily="34" charset="-122"/>
                <a:cs typeface="Arial" pitchFamily="34" charset="-120"/>
              </a:rPr>
              <a:t>DEMO</a:t>
            </a:r>
            <a:endParaRPr lang="en-US" sz="1600" dirty="0"/>
          </a:p>
        </p:txBody>
      </p:sp>
      <p:sp>
        <p:nvSpPr>
          <p:cNvPr id="18" name="Text 14"/>
          <p:cNvSpPr/>
          <p:nvPr/>
        </p:nvSpPr>
        <p:spPr>
          <a:xfrm>
            <a:off x="6277356"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Below</a:t>
            </a:r>
            <a:endParaRPr lang="en-US" sz="2000" dirty="0"/>
          </a:p>
        </p:txBody>
      </p:sp>
      <p:sp>
        <p:nvSpPr>
          <p:cNvPr id="19" name="Shape 15"/>
          <p:cNvSpPr/>
          <p:nvPr/>
        </p:nvSpPr>
        <p:spPr>
          <a:xfrm>
            <a:off x="6277356" y="4370832"/>
            <a:ext cx="2361438" cy="0"/>
          </a:xfrm>
          <a:prstGeom prst="line">
            <a:avLst/>
          </a:prstGeom>
          <a:noFill/>
          <a:ln w="9525">
            <a:solidFill>
              <a:srgbClr val="D9D4C4"/>
            </a:solidFill>
            <a:prstDash val="solid"/>
          </a:ln>
        </p:spPr>
      </p:sp>
      <p:sp>
        <p:nvSpPr>
          <p:cNvPr id="20" name="Text 16"/>
          <p:cNvSpPr/>
          <p:nvPr/>
        </p:nvSpPr>
        <p:spPr>
          <a:xfrm>
            <a:off x="6277356"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Light from the floor looks unnatural, so it reads as wrong. Connotation: horror, danger. Try it tonight with your phone torch.</a:t>
            </a:r>
            <a:endParaRPr lang="en-US" sz="1300" dirty="0"/>
          </a:p>
        </p:txBody>
      </p:sp>
      <p:sp>
        <p:nvSpPr>
          <p:cNvPr id="21" name="Shape 17"/>
          <p:cNvSpPr/>
          <p:nvPr/>
        </p:nvSpPr>
        <p:spPr>
          <a:xfrm>
            <a:off x="9004554" y="1554480"/>
            <a:ext cx="2361438" cy="2286000"/>
          </a:xfrm>
          <a:prstGeom prst="rect">
            <a:avLst/>
          </a:prstGeom>
          <a:solidFill>
            <a:srgbClr val="FAF8F1"/>
          </a:solidFill>
          <a:ln w="9525">
            <a:solidFill>
              <a:srgbClr val="D9D4C4"/>
            </a:solidFill>
            <a:prstDash val="solid"/>
          </a:ln>
        </p:spPr>
      </p:sp>
      <p:pic>
        <p:nvPicPr>
          <p:cNvPr id="22" name="Image 2" descr="/Users/dogan/Documents/Vaults/Courses/wiki/classes/media-studies/decks/_build/img/light-behind.jpg">    </p:cNvPr>
          <p:cNvPicPr>
            <a:picLocks noChangeAspect="1"/>
          </p:cNvPicPr>
          <p:nvPr/>
        </p:nvPicPr>
        <p:blipFill>
          <a:blip r:embed="rId3"/>
          <a:stretch>
            <a:fillRect/>
          </a:stretch>
        </p:blipFill>
        <p:spPr>
          <a:xfrm>
            <a:off x="9329395" y="1627632"/>
            <a:ext cx="1711757" cy="2139696"/>
          </a:xfrm>
          <a:prstGeom prst="rect">
            <a:avLst/>
          </a:prstGeom>
        </p:spPr>
      </p:pic>
      <p:sp>
        <p:nvSpPr>
          <p:cNvPr id="23" name="Text 18"/>
          <p:cNvSpPr/>
          <p:nvPr/>
        </p:nvSpPr>
        <p:spPr>
          <a:xfrm>
            <a:off x="9004554" y="3931920"/>
            <a:ext cx="2361438" cy="411480"/>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Behind</a:t>
            </a:r>
            <a:endParaRPr lang="en-US" sz="2000" dirty="0"/>
          </a:p>
        </p:txBody>
      </p:sp>
      <p:sp>
        <p:nvSpPr>
          <p:cNvPr id="24" name="Shape 19"/>
          <p:cNvSpPr/>
          <p:nvPr/>
        </p:nvSpPr>
        <p:spPr>
          <a:xfrm>
            <a:off x="9004554" y="4370832"/>
            <a:ext cx="2361438" cy="0"/>
          </a:xfrm>
          <a:prstGeom prst="line">
            <a:avLst/>
          </a:prstGeom>
          <a:noFill/>
          <a:ln w="9525">
            <a:solidFill>
              <a:srgbClr val="D9D4C4"/>
            </a:solidFill>
            <a:prstDash val="solid"/>
          </a:ln>
        </p:spPr>
      </p:sp>
      <p:sp>
        <p:nvSpPr>
          <p:cNvPr id="25" name="Text 20"/>
          <p:cNvSpPr/>
          <p:nvPr/>
        </p:nvSpPr>
        <p:spPr>
          <a:xfrm>
            <a:off x="9004554" y="4480560"/>
            <a:ext cx="2361438" cy="137160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The person becomes a dark shape. We cannot see who it is. Connotation: hidden identity.</a:t>
            </a:r>
            <a:endParaRPr lang="en-US" sz="1300" dirty="0"/>
          </a:p>
        </p:txBody>
      </p:sp>
      <p:sp>
        <p:nvSpPr>
          <p:cNvPr id="26" name="Shape 21"/>
          <p:cNvSpPr/>
          <p:nvPr/>
        </p:nvSpPr>
        <p:spPr>
          <a:xfrm>
            <a:off x="822960" y="5833872"/>
            <a:ext cx="914400" cy="0"/>
          </a:xfrm>
          <a:prstGeom prst="line">
            <a:avLst/>
          </a:prstGeom>
          <a:noFill/>
          <a:ln w="31750">
            <a:solidFill>
              <a:srgbClr val="8C3A38"/>
            </a:solidFill>
            <a:prstDash val="solid"/>
          </a:ln>
        </p:spPr>
      </p:sp>
      <p:sp>
        <p:nvSpPr>
          <p:cNvPr id="27" name="Text 22"/>
          <p:cNvSpPr/>
          <p:nvPr/>
        </p:nvSpPr>
        <p:spPr>
          <a:xfrm>
            <a:off x="822960" y="5943600"/>
            <a:ext cx="10424160" cy="438912"/>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TERMS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Key, fill, and back light. High key or low key. Hard or soft.</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TASK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Photograph all four set-ups tonight for your notes.</a:t>
            </a:r>
            <a:endParaRPr lang="en-US" sz="1000" dirty="0"/>
          </a:p>
        </p:txBody>
      </p:sp>
      <p:sp>
        <p:nvSpPr>
          <p:cNvPr id="28" name="Shape 23"/>
          <p:cNvSpPr/>
          <p:nvPr/>
        </p:nvSpPr>
        <p:spPr>
          <a:xfrm>
            <a:off x="822960" y="6382512"/>
            <a:ext cx="10543032" cy="0"/>
          </a:xfrm>
          <a:prstGeom prst="line">
            <a:avLst/>
          </a:prstGeom>
          <a:noFill/>
          <a:ln w="9525">
            <a:solidFill>
              <a:srgbClr val="D9D4C4"/>
            </a:solidFill>
            <a:prstDash val="solid"/>
          </a:ln>
        </p:spPr>
      </p:sp>
      <p:sp>
        <p:nvSpPr>
          <p:cNvPr id="29" name="Text 2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0" name="Text 2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THREE-POINT LIGHTING</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SET-UP BEHIND ALMOST EVERYTHING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5088636" cy="40233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cup-threepoint-photo.jpg">    </p:cNvPr>
          <p:cNvPicPr>
            <a:picLocks noChangeAspect="1"/>
          </p:cNvPicPr>
          <p:nvPr/>
        </p:nvPicPr>
        <p:blipFill>
          <a:blip r:embed="rId1"/>
          <a:stretch>
            <a:fillRect/>
          </a:stretch>
        </p:blipFill>
        <p:spPr>
          <a:xfrm>
            <a:off x="950976" y="1544819"/>
            <a:ext cx="4832604" cy="3219722"/>
          </a:xfrm>
          <a:prstGeom prst="rect">
            <a:avLst/>
          </a:prstGeom>
        </p:spPr>
      </p:pic>
      <p:sp>
        <p:nvSpPr>
          <p:cNvPr id="7" name="Shape 4"/>
          <p:cNvSpPr/>
          <p:nvPr/>
        </p:nvSpPr>
        <p:spPr>
          <a:xfrm>
            <a:off x="6277356" y="1143000"/>
            <a:ext cx="5088636" cy="402336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cup-threepoint-diagram.jpg">    </p:cNvPr>
          <p:cNvPicPr>
            <a:picLocks noChangeAspect="1"/>
          </p:cNvPicPr>
          <p:nvPr/>
        </p:nvPicPr>
        <p:blipFill>
          <a:blip r:embed="rId2"/>
          <a:stretch>
            <a:fillRect/>
          </a:stretch>
        </p:blipFill>
        <p:spPr>
          <a:xfrm>
            <a:off x="6405372" y="1414943"/>
            <a:ext cx="4832604" cy="3479475"/>
          </a:xfrm>
          <a:prstGeom prst="rect">
            <a:avLst/>
          </a:prstGeom>
        </p:spPr>
      </p:pic>
      <p:sp>
        <p:nvSpPr>
          <p:cNvPr id="9" name="Text 5"/>
          <p:cNvSpPr/>
          <p:nvPr/>
        </p:nvSpPr>
        <p:spPr>
          <a:xfrm>
            <a:off x="822960" y="5212080"/>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set-up, photographed: two softboxes and a back light</a:t>
            </a:r>
            <a:endParaRPr lang="en-US" sz="1000" dirty="0"/>
          </a:p>
        </p:txBody>
      </p:sp>
      <p:sp>
        <p:nvSpPr>
          <p:cNvPr id="10" name="Text 6"/>
          <p:cNvSpPr/>
          <p:nvPr/>
        </p:nvSpPr>
        <p:spPr>
          <a:xfrm>
            <a:off x="6277356" y="5212080"/>
            <a:ext cx="5088636"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same set-up, labelled: key, fill, back, camera</a:t>
            </a:r>
            <a:endParaRPr lang="en-US" sz="1000" dirty="0"/>
          </a:p>
        </p:txBody>
      </p:sp>
      <p:sp>
        <p:nvSpPr>
          <p:cNvPr id="11" name="Shape 7"/>
          <p:cNvSpPr/>
          <p:nvPr/>
        </p:nvSpPr>
        <p:spPr>
          <a:xfrm>
            <a:off x="822960" y="5650992"/>
            <a:ext cx="914400" cy="0"/>
          </a:xfrm>
          <a:prstGeom prst="line">
            <a:avLst/>
          </a:prstGeom>
          <a:noFill/>
          <a:ln w="31750">
            <a:solidFill>
              <a:srgbClr val="8C3A38"/>
            </a:solidFill>
            <a:prstDash val="solid"/>
          </a:ln>
        </p:spPr>
      </p:sp>
      <p:sp>
        <p:nvSpPr>
          <p:cNvPr id="12" name="Text 8"/>
          <p:cNvSpPr/>
          <p:nvPr/>
        </p:nvSpPr>
        <p:spPr>
          <a:xfrm>
            <a:off x="822960" y="576072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THREE LIGHTS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Key is the main light. Fill softens the shadows. Back separates subject from background.</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REMEMBER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Weak fill = low key. Strong fill = high key.</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PRODUCTION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EVERYTHING YOU SEE WAS CHOSEN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05840"/>
            <a:ext cx="10543032" cy="34290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gbh-concierge.jpg">    </p:cNvPr>
          <p:cNvPicPr>
            <a:picLocks noChangeAspect="1"/>
          </p:cNvPicPr>
          <p:nvPr/>
        </p:nvPicPr>
        <p:blipFill>
          <a:blip r:embed="rId1"/>
          <a:stretch>
            <a:fillRect/>
          </a:stretch>
        </p:blipFill>
        <p:spPr>
          <a:xfrm>
            <a:off x="2417634" y="1133856"/>
            <a:ext cx="7353684" cy="3172968"/>
          </a:xfrm>
          <a:prstGeom prst="rect">
            <a:avLst/>
          </a:prstGeom>
        </p:spPr>
      </p:pic>
      <p:sp>
        <p:nvSpPr>
          <p:cNvPr id="7" name="Text 4"/>
          <p:cNvSpPr/>
          <p:nvPr/>
        </p:nvSpPr>
        <p:spPr>
          <a:xfrm>
            <a:off x="822960" y="4462272"/>
            <a:ext cx="10543032"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The Grand Budapest Hotel (2014), dir. Wes Anderson. The concierge desk, framed dead centre.</a:t>
            </a:r>
            <a:endParaRPr lang="en-US" sz="950" dirty="0"/>
          </a:p>
        </p:txBody>
      </p:sp>
      <p:sp>
        <p:nvSpPr>
          <p:cNvPr id="8" name="Text 5"/>
          <p:cNvSpPr/>
          <p:nvPr/>
        </p:nvSpPr>
        <p:spPr>
          <a:xfrm>
            <a:off x="822960"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Location</a:t>
            </a:r>
            <a:endParaRPr lang="en-US" sz="1150" dirty="0"/>
          </a:p>
        </p:txBody>
      </p:sp>
      <p:sp>
        <p:nvSpPr>
          <p:cNvPr id="9" name="Text 6"/>
          <p:cNvSpPr/>
          <p:nvPr/>
        </p:nvSpPr>
        <p:spPr>
          <a:xfrm>
            <a:off x="822960"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A built set, not a real hotel lobby. Marble, brass keys, a raised desk.</a:t>
            </a:r>
            <a:endParaRPr lang="en-US" sz="1300" dirty="0"/>
          </a:p>
        </p:txBody>
      </p:sp>
      <p:sp>
        <p:nvSpPr>
          <p:cNvPr id="10" name="Text 7"/>
          <p:cNvSpPr/>
          <p:nvPr/>
        </p:nvSpPr>
        <p:spPr>
          <a:xfrm>
            <a:off x="3550158"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Costume</a:t>
            </a:r>
            <a:endParaRPr lang="en-US" sz="1150" dirty="0"/>
          </a:p>
        </p:txBody>
      </p:sp>
      <p:sp>
        <p:nvSpPr>
          <p:cNvPr id="11" name="Text 8"/>
          <p:cNvSpPr/>
          <p:nvPr/>
        </p:nvSpPr>
        <p:spPr>
          <a:xfrm>
            <a:off x="3550158"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Purple uniforms show each worker's rank at once, before anyone speaks.</a:t>
            </a:r>
            <a:endParaRPr lang="en-US" sz="1300" dirty="0"/>
          </a:p>
        </p:txBody>
      </p:sp>
      <p:sp>
        <p:nvSpPr>
          <p:cNvPr id="12" name="Text 9"/>
          <p:cNvSpPr/>
          <p:nvPr/>
        </p:nvSpPr>
        <p:spPr>
          <a:xfrm>
            <a:off x="6277356"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Properties</a:t>
            </a:r>
            <a:endParaRPr lang="en-US" sz="1150" dirty="0"/>
          </a:p>
        </p:txBody>
      </p:sp>
      <p:sp>
        <p:nvSpPr>
          <p:cNvPr id="13" name="Text 10"/>
          <p:cNvSpPr/>
          <p:nvPr/>
        </p:nvSpPr>
        <p:spPr>
          <a:xfrm>
            <a:off x="6277356"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Props: the objects in a scene. The key rack and guest book carry the plot.</a:t>
            </a:r>
            <a:endParaRPr lang="en-US" sz="1300" dirty="0"/>
          </a:p>
        </p:txBody>
      </p:sp>
      <p:sp>
        <p:nvSpPr>
          <p:cNvPr id="14" name="Text 11"/>
          <p:cNvSpPr/>
          <p:nvPr/>
        </p:nvSpPr>
        <p:spPr>
          <a:xfrm>
            <a:off x="9004554"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Arrangement</a:t>
            </a:r>
            <a:endParaRPr lang="en-US" sz="1150" dirty="0"/>
          </a:p>
        </p:txBody>
      </p:sp>
      <p:sp>
        <p:nvSpPr>
          <p:cNvPr id="15" name="Text 12"/>
          <p:cNvSpPr/>
          <p:nvPr/>
        </p:nvSpPr>
        <p:spPr>
          <a:xfrm>
            <a:off x="9004554"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One man in the exact center, stairs on both sides: the room says he is in charge.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HIGH KEY, LOW KEY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PROTAGONIST'S ROOM, THE ANTAGONIST'S ROOM</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5088636" cy="36576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toystory-buzz-unwrapped.jpg">    </p:cNvPr>
          <p:cNvPicPr>
            <a:picLocks noChangeAspect="1"/>
          </p:cNvPicPr>
          <p:nvPr/>
        </p:nvPicPr>
        <p:blipFill>
          <a:blip r:embed="rId1"/>
          <a:stretch>
            <a:fillRect/>
          </a:stretch>
        </p:blipFill>
        <p:spPr>
          <a:xfrm>
            <a:off x="950976" y="1410265"/>
            <a:ext cx="4832604" cy="3123070"/>
          </a:xfrm>
          <a:prstGeom prst="rect">
            <a:avLst/>
          </a:prstGeom>
        </p:spPr>
      </p:pic>
      <p:sp>
        <p:nvSpPr>
          <p:cNvPr id="7" name="Shape 4"/>
          <p:cNvSpPr/>
          <p:nvPr/>
        </p:nvSpPr>
        <p:spPr>
          <a:xfrm>
            <a:off x="6277356" y="1143000"/>
            <a:ext cx="5088636" cy="365760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toystory-sids-room.jpg">    </p:cNvPr>
          <p:cNvPicPr>
            <a:picLocks noChangeAspect="1"/>
          </p:cNvPicPr>
          <p:nvPr/>
        </p:nvPicPr>
        <p:blipFill>
          <a:blip r:embed="rId2"/>
          <a:stretch>
            <a:fillRect/>
          </a:stretch>
        </p:blipFill>
        <p:spPr>
          <a:xfrm>
            <a:off x="6405372" y="1617664"/>
            <a:ext cx="4832604" cy="2708272"/>
          </a:xfrm>
          <a:prstGeom prst="rect">
            <a:avLst/>
          </a:prstGeom>
        </p:spPr>
      </p:pic>
      <p:sp>
        <p:nvSpPr>
          <p:cNvPr id="9" name="Text 5"/>
          <p:cNvSpPr/>
          <p:nvPr/>
        </p:nvSpPr>
        <p:spPr>
          <a:xfrm>
            <a:off x="822960" y="4846320"/>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Andy's room, Toy Story (1995, Pixar/Disney): high key, bright, even.</a:t>
            </a:r>
            <a:endParaRPr lang="en-US" sz="1050" dirty="0"/>
          </a:p>
        </p:txBody>
      </p:sp>
      <p:sp>
        <p:nvSpPr>
          <p:cNvPr id="10" name="Text 6"/>
          <p:cNvSpPr/>
          <p:nvPr/>
        </p:nvSpPr>
        <p:spPr>
          <a:xfrm>
            <a:off x="6277356" y="4846320"/>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Sid's room: low key. Hard shadows, one bulb, everything hides.</a:t>
            </a:r>
            <a:endParaRPr lang="en-US" sz="1050" dirty="0"/>
          </a:p>
        </p:txBody>
      </p:sp>
      <p:sp>
        <p:nvSpPr>
          <p:cNvPr id="11" name="Shape 7"/>
          <p:cNvSpPr/>
          <p:nvPr/>
        </p:nvSpPr>
        <p:spPr>
          <a:xfrm>
            <a:off x="822960" y="5349240"/>
            <a:ext cx="914400" cy="0"/>
          </a:xfrm>
          <a:prstGeom prst="line">
            <a:avLst/>
          </a:prstGeom>
          <a:noFill/>
          <a:ln w="31750">
            <a:solidFill>
              <a:srgbClr val="8C3A38"/>
            </a:solidFill>
            <a:prstDash val="solid"/>
          </a:ln>
        </p:spPr>
      </p:sp>
      <p:sp>
        <p:nvSpPr>
          <p:cNvPr id="12" name="Text 8"/>
          <p:cNvSpPr/>
          <p:nvPr/>
        </p:nvSpPr>
        <p:spPr>
          <a:xfrm>
            <a:off x="822960" y="548640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KEY POINT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One film builds two moral worlds from light and set design alone.</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EXAM SENTENCE   </a:t>
            </a:r>
            <a:pPr indent="0" marL="0">
              <a:lnSpc>
                <a:spcPts val="1700"/>
              </a:lnSpc>
              <a:buNone/>
            </a:pPr>
            <a:r>
              <a:rPr lang="en-US" sz="1250" i="1" dirty="0">
                <a:solidFill>
                  <a:srgbClr val="24313F"/>
                </a:solidFill>
                <a:latin typeface="Georgia" pitchFamily="34" charset="0"/>
                <a:ea typeface="Georgia" pitchFamily="34" charset="-122"/>
                <a:cs typeface="Georgia" pitchFamily="34" charset="-120"/>
              </a:rPr>
              <a:t>“The low-key lighting constructs Sid's room as a place of threat.”</a:t>
            </a:r>
            <a:endParaRPr lang="en-US" sz="1050" dirty="0"/>
          </a:p>
        </p:txBody>
      </p:sp>
      <p:sp>
        <p:nvSpPr>
          <p:cNvPr id="13" name="Shape 9"/>
          <p:cNvSpPr/>
          <p:nvPr/>
        </p:nvSpPr>
        <p:spPr>
          <a:xfrm>
            <a:off x="822960" y="6382512"/>
            <a:ext cx="10543032" cy="0"/>
          </a:xfrm>
          <a:prstGeom prst="line">
            <a:avLst/>
          </a:prstGeom>
          <a:noFill/>
          <a:ln w="9525">
            <a:solidFill>
              <a:srgbClr val="D9D4C4"/>
            </a:solidFill>
            <a:prstDash val="solid"/>
          </a:ln>
        </p:spPr>
      </p:sp>
      <p:sp>
        <p:nvSpPr>
          <p:cNvPr id="14"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 TITLE SEQUENCE, READ AS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PROPS BUILD THE WORLD BEFORE ANYONE SPEAKS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143000"/>
            <a:ext cx="3270504" cy="201168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downton-title-1.jpg">    </p:cNvPr>
          <p:cNvPicPr>
            <a:picLocks noChangeAspect="1"/>
          </p:cNvPicPr>
          <p:nvPr/>
        </p:nvPicPr>
        <p:blipFill>
          <a:blip r:embed="rId1"/>
          <a:stretch>
            <a:fillRect/>
          </a:stretch>
        </p:blipFill>
        <p:spPr>
          <a:xfrm>
            <a:off x="896112" y="1270159"/>
            <a:ext cx="3124200" cy="1757362"/>
          </a:xfrm>
          <a:prstGeom prst="rect">
            <a:avLst/>
          </a:prstGeom>
        </p:spPr>
      </p:pic>
      <p:sp>
        <p:nvSpPr>
          <p:cNvPr id="7" name="Shape 4"/>
          <p:cNvSpPr/>
          <p:nvPr/>
        </p:nvSpPr>
        <p:spPr>
          <a:xfrm>
            <a:off x="4459224" y="1143000"/>
            <a:ext cx="3270504" cy="2011680"/>
          </a:xfrm>
          <a:prstGeom prst="rect">
            <a:avLst/>
          </a:prstGeom>
          <a:solidFill>
            <a:srgbClr val="FAF8F1"/>
          </a:solidFill>
          <a:ln w="9525">
            <a:solidFill>
              <a:srgbClr val="D9D4C4"/>
            </a:solidFill>
            <a:prstDash val="solid"/>
          </a:ln>
        </p:spPr>
      </p:sp>
      <p:pic>
        <p:nvPicPr>
          <p:cNvPr id="8" name="Image 1" descr="/Users/dogan/Documents/Vaults/Courses/wiki/classes/media-studies/decks/_build/img/downton-title-2.jpg">    </p:cNvPr>
          <p:cNvPicPr>
            <a:picLocks noChangeAspect="1"/>
          </p:cNvPicPr>
          <p:nvPr/>
        </p:nvPicPr>
        <p:blipFill>
          <a:blip r:embed="rId2"/>
          <a:stretch>
            <a:fillRect/>
          </a:stretch>
        </p:blipFill>
        <p:spPr>
          <a:xfrm>
            <a:off x="4532376" y="1270159"/>
            <a:ext cx="3124200" cy="1757362"/>
          </a:xfrm>
          <a:prstGeom prst="rect">
            <a:avLst/>
          </a:prstGeom>
        </p:spPr>
      </p:pic>
      <p:sp>
        <p:nvSpPr>
          <p:cNvPr id="9" name="Shape 5"/>
          <p:cNvSpPr/>
          <p:nvPr/>
        </p:nvSpPr>
        <p:spPr>
          <a:xfrm>
            <a:off x="8095488" y="1143000"/>
            <a:ext cx="3270504" cy="2011680"/>
          </a:xfrm>
          <a:prstGeom prst="rect">
            <a:avLst/>
          </a:prstGeom>
          <a:solidFill>
            <a:srgbClr val="FAF8F1"/>
          </a:solidFill>
          <a:ln w="9525">
            <a:solidFill>
              <a:srgbClr val="D9D4C4"/>
            </a:solidFill>
            <a:prstDash val="solid"/>
          </a:ln>
        </p:spPr>
      </p:sp>
      <p:pic>
        <p:nvPicPr>
          <p:cNvPr id="10" name="Image 2" descr="/Users/dogan/Documents/Vaults/Courses/wiki/classes/media-studies/decks/_build/img/downton-title-3.jpg">    </p:cNvPr>
          <p:cNvPicPr>
            <a:picLocks noChangeAspect="1"/>
          </p:cNvPicPr>
          <p:nvPr/>
        </p:nvPicPr>
        <p:blipFill>
          <a:blip r:embed="rId3"/>
          <a:stretch>
            <a:fillRect/>
          </a:stretch>
        </p:blipFill>
        <p:spPr>
          <a:xfrm>
            <a:off x="8168640" y="1270159"/>
            <a:ext cx="3124200" cy="1757362"/>
          </a:xfrm>
          <a:prstGeom prst="rect">
            <a:avLst/>
          </a:prstGeom>
        </p:spPr>
      </p:pic>
      <p:sp>
        <p:nvSpPr>
          <p:cNvPr id="11" name="Shape 6"/>
          <p:cNvSpPr/>
          <p:nvPr/>
        </p:nvSpPr>
        <p:spPr>
          <a:xfrm>
            <a:off x="822960" y="3291840"/>
            <a:ext cx="3270504" cy="2011680"/>
          </a:xfrm>
          <a:prstGeom prst="rect">
            <a:avLst/>
          </a:prstGeom>
          <a:solidFill>
            <a:srgbClr val="FAF8F1"/>
          </a:solidFill>
          <a:ln w="9525">
            <a:solidFill>
              <a:srgbClr val="D9D4C4"/>
            </a:solidFill>
            <a:prstDash val="solid"/>
          </a:ln>
        </p:spPr>
      </p:sp>
      <p:pic>
        <p:nvPicPr>
          <p:cNvPr id="12" name="Image 3" descr="/Users/dogan/Documents/Vaults/Courses/wiki/classes/media-studies/decks/_build/img/downton-title-4.jpg">    </p:cNvPr>
          <p:cNvPicPr>
            <a:picLocks noChangeAspect="1"/>
          </p:cNvPicPr>
          <p:nvPr/>
        </p:nvPicPr>
        <p:blipFill>
          <a:blip r:embed="rId4"/>
          <a:stretch>
            <a:fillRect/>
          </a:stretch>
        </p:blipFill>
        <p:spPr>
          <a:xfrm>
            <a:off x="896112" y="3418999"/>
            <a:ext cx="3124200" cy="1757362"/>
          </a:xfrm>
          <a:prstGeom prst="rect">
            <a:avLst/>
          </a:prstGeom>
        </p:spPr>
      </p:pic>
      <p:sp>
        <p:nvSpPr>
          <p:cNvPr id="13" name="Shape 7"/>
          <p:cNvSpPr/>
          <p:nvPr/>
        </p:nvSpPr>
        <p:spPr>
          <a:xfrm>
            <a:off x="4459224" y="3291840"/>
            <a:ext cx="3270504" cy="2011680"/>
          </a:xfrm>
          <a:prstGeom prst="rect">
            <a:avLst/>
          </a:prstGeom>
          <a:solidFill>
            <a:srgbClr val="FAF8F1"/>
          </a:solidFill>
          <a:ln w="9525">
            <a:solidFill>
              <a:srgbClr val="D9D4C4"/>
            </a:solidFill>
            <a:prstDash val="solid"/>
          </a:ln>
        </p:spPr>
      </p:sp>
      <p:pic>
        <p:nvPicPr>
          <p:cNvPr id="14" name="Image 4" descr="/Users/dogan/Documents/Vaults/Courses/wiki/classes/media-studies/decks/_build/img/downton-title-5.jpg">    </p:cNvPr>
          <p:cNvPicPr>
            <a:picLocks noChangeAspect="1"/>
          </p:cNvPicPr>
          <p:nvPr/>
        </p:nvPicPr>
        <p:blipFill>
          <a:blip r:embed="rId5"/>
          <a:stretch>
            <a:fillRect/>
          </a:stretch>
        </p:blipFill>
        <p:spPr>
          <a:xfrm>
            <a:off x="4532376" y="3418999"/>
            <a:ext cx="3124200" cy="1757362"/>
          </a:xfrm>
          <a:prstGeom prst="rect">
            <a:avLst/>
          </a:prstGeom>
        </p:spPr>
      </p:pic>
      <p:sp>
        <p:nvSpPr>
          <p:cNvPr id="15" name="Shape 8"/>
          <p:cNvSpPr/>
          <p:nvPr/>
        </p:nvSpPr>
        <p:spPr>
          <a:xfrm>
            <a:off x="8095488" y="3291840"/>
            <a:ext cx="3270504" cy="2011680"/>
          </a:xfrm>
          <a:prstGeom prst="rect">
            <a:avLst/>
          </a:prstGeom>
          <a:solidFill>
            <a:srgbClr val="FAF8F1"/>
          </a:solidFill>
          <a:ln w="9525">
            <a:solidFill>
              <a:srgbClr val="D9D4C4"/>
            </a:solidFill>
            <a:prstDash val="solid"/>
          </a:ln>
        </p:spPr>
      </p:sp>
      <p:pic>
        <p:nvPicPr>
          <p:cNvPr id="16" name="Image 5" descr="/Users/dogan/Documents/Vaults/Courses/wiki/classes/media-studies/decks/_build/img/downton-title-6.jpg">    </p:cNvPr>
          <p:cNvPicPr>
            <a:picLocks noChangeAspect="1"/>
          </p:cNvPicPr>
          <p:nvPr/>
        </p:nvPicPr>
        <p:blipFill>
          <a:blip r:embed="rId6"/>
          <a:stretch>
            <a:fillRect/>
          </a:stretch>
        </p:blipFill>
        <p:spPr>
          <a:xfrm>
            <a:off x="8168640" y="3418999"/>
            <a:ext cx="3124200" cy="1757362"/>
          </a:xfrm>
          <a:prstGeom prst="rect">
            <a:avLst/>
          </a:prstGeom>
        </p:spPr>
      </p:pic>
      <p:sp>
        <p:nvSpPr>
          <p:cNvPr id="17" name="Text 9"/>
          <p:cNvSpPr/>
          <p:nvPr/>
        </p:nvSpPr>
        <p:spPr>
          <a:xfrm>
            <a:off x="822960" y="5486400"/>
            <a:ext cx="10543032"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Downton Abbey (ITV, 2010), title sequence. Art of the Title's stills.</a:t>
            </a:r>
            <a:endParaRPr lang="en-US" sz="1000" dirty="0"/>
          </a:p>
        </p:txBody>
      </p:sp>
      <p:sp>
        <p:nvSpPr>
          <p:cNvPr id="18" name="Shape 10"/>
          <p:cNvSpPr/>
          <p:nvPr/>
        </p:nvSpPr>
        <p:spPr>
          <a:xfrm>
            <a:off x="822960" y="5760720"/>
            <a:ext cx="914400" cy="0"/>
          </a:xfrm>
          <a:prstGeom prst="line">
            <a:avLst/>
          </a:prstGeom>
          <a:noFill/>
          <a:ln w="31750">
            <a:solidFill>
              <a:srgbClr val="8C3A38"/>
            </a:solidFill>
            <a:prstDash val="solid"/>
          </a:ln>
        </p:spPr>
      </p:sp>
      <p:sp>
        <p:nvSpPr>
          <p:cNvPr id="19" name="Text 11"/>
          <p:cNvSpPr/>
          <p:nvPr/>
        </p:nvSpPr>
        <p:spPr>
          <a:xfrm>
            <a:off x="822960" y="5870448"/>
            <a:ext cx="10543032" cy="457200"/>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KEY POINT   </a:t>
            </a:r>
            <a:pPr indent="0" marL="0">
              <a:lnSpc>
                <a:spcPts val="1600"/>
              </a:lnSpc>
              <a:buNone/>
            </a:pPr>
            <a:r>
              <a:rPr lang="en-US" sz="1200" dirty="0">
                <a:solidFill>
                  <a:srgbClr val="24313F"/>
                </a:solidFill>
                <a:latin typeface="Georgia" pitchFamily="34" charset="0"/>
                <a:ea typeface="Georgia" pitchFamily="34" charset="-122"/>
                <a:cs typeface="Georgia" pitchFamily="34" charset="-120"/>
              </a:rPr>
              <a:t>No faces, no dialogue. Props alone build the world: the era, the wealth, the servants' work.</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EXAM SENTENCE   </a:t>
            </a:r>
            <a:pPr indent="0" marL="0">
              <a:lnSpc>
                <a:spcPts val="1600"/>
              </a:lnSpc>
              <a:buNone/>
            </a:pPr>
            <a:r>
              <a:rPr lang="en-US" sz="1200" i="1" dirty="0">
                <a:solidFill>
                  <a:srgbClr val="24313F"/>
                </a:solidFill>
                <a:latin typeface="Georgia" pitchFamily="34" charset="0"/>
                <a:ea typeface="Georgia" pitchFamily="34" charset="-122"/>
                <a:cs typeface="Georgia" pitchFamily="34" charset="-120"/>
              </a:rPr>
              <a:t>“The props construct a world of wealth that depends on hidden labor.”</a:t>
            </a:r>
            <a:endParaRPr lang="en-US" sz="1000" dirty="0"/>
          </a:p>
        </p:txBody>
      </p:sp>
      <p:sp>
        <p:nvSpPr>
          <p:cNvPr id="20" name="Shape 12"/>
          <p:cNvSpPr/>
          <p:nvPr/>
        </p:nvSpPr>
        <p:spPr>
          <a:xfrm>
            <a:off x="822960" y="6382512"/>
            <a:ext cx="10543032" cy="0"/>
          </a:xfrm>
          <a:prstGeom prst="line">
            <a:avLst/>
          </a:prstGeom>
          <a:noFill/>
          <a:ln w="9525">
            <a:solidFill>
              <a:srgbClr val="D9D4C4"/>
            </a:solidFill>
            <a:prstDash val="solid"/>
          </a:ln>
        </p:spPr>
      </p:sp>
      <p:sp>
        <p:nvSpPr>
          <p:cNvPr id="21"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TRAP</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MOST COMMON WAY TO LOSE MARKS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Description earns no marks</a:t>
            </a:r>
            <a:endParaRPr lang="en-US" sz="38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7A7F72"/>
                </a:solidFill>
                <a:latin typeface="Georgia" pitchFamily="34" charset="0"/>
                <a:ea typeface="Georgia" pitchFamily="34" charset="-122"/>
                <a:cs typeface="Georgia" pitchFamily="34" charset="-120"/>
              </a:rPr>
              <a:t>Description</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room is dark and there is a wooden chair.</a:t>
            </a:r>
            <a:endParaRPr lang="en-US" sz="1750" dirty="0"/>
          </a:p>
        </p:txBody>
      </p:sp>
      <p:sp>
        <p:nvSpPr>
          <p:cNvPr id="9" name="Text 7"/>
          <p:cNvSpPr/>
          <p:nvPr/>
        </p:nvSpPr>
        <p:spPr>
          <a:xfrm>
            <a:off x="8229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True, complete, and worth zero marks. The examiner can already see the frame.</a:t>
            </a:r>
            <a:endParaRPr lang="en-US" sz="1250" dirty="0"/>
          </a:p>
        </p:txBody>
      </p:sp>
      <p:sp>
        <p:nvSpPr>
          <p:cNvPr id="10" name="Text 8"/>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Analysis</a:t>
            </a:r>
            <a:endParaRPr lang="en-US" sz="2500" dirty="0"/>
          </a:p>
        </p:txBody>
      </p:sp>
      <p:sp>
        <p:nvSpPr>
          <p:cNvPr id="11" name="Shape 9"/>
          <p:cNvSpPr/>
          <p:nvPr/>
        </p:nvSpPr>
        <p:spPr>
          <a:xfrm>
            <a:off x="6309360" y="2724912"/>
            <a:ext cx="4754880" cy="0"/>
          </a:xfrm>
          <a:prstGeom prst="line">
            <a:avLst/>
          </a:prstGeom>
          <a:noFill/>
          <a:ln w="9525">
            <a:solidFill>
              <a:srgbClr val="D9D4C4"/>
            </a:solidFill>
            <a:prstDash val="solid"/>
          </a:ln>
        </p:spPr>
      </p:sp>
      <p:sp>
        <p:nvSpPr>
          <p:cNvPr id="12" name="Text 10"/>
          <p:cNvSpPr/>
          <p:nvPr/>
        </p:nvSpPr>
        <p:spPr>
          <a:xfrm>
            <a:off x="63093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dark room and the single empty chair construct the character as isolated before the scene begins.</a:t>
            </a:r>
            <a:endParaRPr lang="en-US" sz="1750" dirty="0"/>
          </a:p>
        </p:txBody>
      </p:sp>
      <p:sp>
        <p:nvSpPr>
          <p:cNvPr id="13" name="Text 11"/>
          <p:cNvSpPr/>
          <p:nvPr/>
        </p:nvSpPr>
        <p:spPr>
          <a:xfrm>
            <a:off x="63093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Same chair. Description says what is there. Analysis says what it means.</a:t>
            </a:r>
            <a:endParaRPr lang="en-US" sz="1250" dirty="0"/>
          </a:p>
        </p:txBody>
      </p:sp>
      <p:sp>
        <p:nvSpPr>
          <p:cNvPr id="14" name="Shape 12"/>
          <p:cNvSpPr/>
          <p:nvPr/>
        </p:nvSpPr>
        <p:spPr>
          <a:xfrm>
            <a:off x="822960" y="5669280"/>
            <a:ext cx="914400" cy="0"/>
          </a:xfrm>
          <a:prstGeom prst="line">
            <a:avLst/>
          </a:prstGeom>
          <a:noFill/>
          <a:ln w="31750">
            <a:solidFill>
              <a:srgbClr val="8C3A38"/>
            </a:solidFill>
            <a:prstDash val="solid"/>
          </a:ln>
        </p:spPr>
      </p:sp>
      <p:sp>
        <p:nvSpPr>
          <p:cNvPr id="15" name="Text 13"/>
          <p:cNvSpPr/>
          <p:nvPr/>
        </p:nvSpPr>
        <p:spPr>
          <a:xfrm>
            <a:off x="822960" y="5797296"/>
            <a:ext cx="10424160" cy="2743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RULE   </a:t>
            </a:r>
            <a:pPr indent="0" marL="0">
              <a:lnSpc>
                <a:spcPts val="1700"/>
              </a:lnSpc>
              <a:buNone/>
            </a:pPr>
            <a:r>
              <a:rPr lang="en-US" sz="1250" dirty="0">
                <a:solidFill>
                  <a:srgbClr val="24313F"/>
                </a:solidFill>
                <a:latin typeface="Georgia" pitchFamily="34" charset="0"/>
                <a:ea typeface="Georgia" pitchFamily="34" charset="-122"/>
                <a:cs typeface="Georgia" pitchFamily="34" charset="-120"/>
              </a:rPr>
              <a:t>Every cell of tomorrow's board needs a connotation line. No exceptions.</a:t>
            </a:r>
            <a:endParaRPr lang="en-US" sz="10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LOCATIONS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DESCRIBE FIRST, SEE THE PHOTOS AFTER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Describe it, and a person appears</a:t>
            </a:r>
            <a:endParaRPr lang="en-US" sz="3000" dirty="0"/>
          </a:p>
        </p:txBody>
      </p:sp>
      <p:sp>
        <p:nvSpPr>
          <p:cNvPr id="6" name="Shape 4"/>
          <p:cNvSpPr/>
          <p:nvPr/>
        </p:nvSpPr>
        <p:spPr>
          <a:xfrm>
            <a:off x="822960" y="1508760"/>
            <a:ext cx="2361438" cy="21031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highclere.jpg">    </p:cNvPr>
          <p:cNvPicPr>
            <a:picLocks noChangeAspect="1"/>
          </p:cNvPicPr>
          <p:nvPr/>
        </p:nvPicPr>
        <p:blipFill>
          <a:blip r:embed="rId1"/>
          <a:stretch>
            <a:fillRect/>
          </a:stretch>
        </p:blipFill>
        <p:spPr>
          <a:xfrm>
            <a:off x="896112" y="1821942"/>
            <a:ext cx="2215134" cy="1476756"/>
          </a:xfrm>
          <a:prstGeom prst="rect">
            <a:avLst/>
          </a:prstGeom>
        </p:spPr>
      </p:pic>
      <p:sp>
        <p:nvSpPr>
          <p:cNvPr id="8" name="Text 5"/>
          <p:cNvSpPr/>
          <p:nvPr/>
        </p:nvSpPr>
        <p:spPr>
          <a:xfrm>
            <a:off x="822960"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 country manor</a:t>
            </a:r>
            <a:endParaRPr lang="en-US" sz="1550" dirty="0"/>
          </a:p>
        </p:txBody>
      </p:sp>
      <p:sp>
        <p:nvSpPr>
          <p:cNvPr id="9" name="Shape 6"/>
          <p:cNvSpPr/>
          <p:nvPr/>
        </p:nvSpPr>
        <p:spPr>
          <a:xfrm>
            <a:off x="3550158" y="1508760"/>
            <a:ext cx="2361438" cy="21031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loc-apartment.jpg">    </p:cNvPr>
          <p:cNvPicPr>
            <a:picLocks noChangeAspect="1"/>
          </p:cNvPicPr>
          <p:nvPr/>
        </p:nvPicPr>
        <p:blipFill>
          <a:blip r:embed="rId2"/>
          <a:stretch>
            <a:fillRect/>
          </a:stretch>
        </p:blipFill>
        <p:spPr>
          <a:xfrm>
            <a:off x="3623310" y="1821942"/>
            <a:ext cx="2215134" cy="1476756"/>
          </a:xfrm>
          <a:prstGeom prst="rect">
            <a:avLst/>
          </a:prstGeom>
        </p:spPr>
      </p:pic>
      <p:sp>
        <p:nvSpPr>
          <p:cNvPr id="11" name="Text 7"/>
          <p:cNvSpPr/>
          <p:nvPr/>
        </p:nvSpPr>
        <p:spPr>
          <a:xfrm>
            <a:off x="3550158"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 city apartment</a:t>
            </a:r>
            <a:endParaRPr lang="en-US" sz="1550" dirty="0"/>
          </a:p>
        </p:txBody>
      </p:sp>
      <p:sp>
        <p:nvSpPr>
          <p:cNvPr id="12" name="Shape 8"/>
          <p:cNvSpPr/>
          <p:nvPr/>
        </p:nvSpPr>
        <p:spPr>
          <a:xfrm>
            <a:off x="6277356" y="1508760"/>
            <a:ext cx="2361438" cy="21031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loc-corridor.jpg">    </p:cNvPr>
          <p:cNvPicPr>
            <a:picLocks noChangeAspect="1"/>
          </p:cNvPicPr>
          <p:nvPr/>
        </p:nvPicPr>
        <p:blipFill>
          <a:blip r:embed="rId3"/>
          <a:stretch>
            <a:fillRect/>
          </a:stretch>
        </p:blipFill>
        <p:spPr>
          <a:xfrm>
            <a:off x="6350508" y="1988539"/>
            <a:ext cx="2215134" cy="1143563"/>
          </a:xfrm>
          <a:prstGeom prst="rect">
            <a:avLst/>
          </a:prstGeom>
        </p:spPr>
      </p:pic>
      <p:sp>
        <p:nvSpPr>
          <p:cNvPr id="14" name="Text 9"/>
          <p:cNvSpPr/>
          <p:nvPr/>
        </p:nvSpPr>
        <p:spPr>
          <a:xfrm>
            <a:off x="6277356"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An abandoned building</a:t>
            </a:r>
            <a:endParaRPr lang="en-US" sz="1550" dirty="0"/>
          </a:p>
        </p:txBody>
      </p:sp>
      <p:sp>
        <p:nvSpPr>
          <p:cNvPr id="15" name="Shape 10"/>
          <p:cNvSpPr/>
          <p:nvPr/>
        </p:nvSpPr>
        <p:spPr>
          <a:xfrm>
            <a:off x="9004554" y="1508760"/>
            <a:ext cx="2361438" cy="21031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loc-office.jpg">    </p:cNvPr>
          <p:cNvPicPr>
            <a:picLocks noChangeAspect="1"/>
          </p:cNvPicPr>
          <p:nvPr/>
        </p:nvPicPr>
        <p:blipFill>
          <a:blip r:embed="rId4"/>
          <a:stretch>
            <a:fillRect/>
          </a:stretch>
        </p:blipFill>
        <p:spPr>
          <a:xfrm>
            <a:off x="9077706" y="1821942"/>
            <a:ext cx="2215134" cy="1476756"/>
          </a:xfrm>
          <a:prstGeom prst="rect">
            <a:avLst/>
          </a:prstGeom>
        </p:spPr>
      </p:pic>
      <p:sp>
        <p:nvSpPr>
          <p:cNvPr id="17" name="Text 11"/>
          <p:cNvSpPr/>
          <p:nvPr/>
        </p:nvSpPr>
        <p:spPr>
          <a:xfrm>
            <a:off x="9004554" y="3657600"/>
            <a:ext cx="2361438" cy="365760"/>
          </a:xfrm>
          <a:prstGeom prst="rect">
            <a:avLst/>
          </a:prstGeom>
          <a:noFill/>
          <a:ln/>
        </p:spPr>
        <p:txBody>
          <a:bodyPr wrap="square" lIns="0" tIns="0" rIns="0" bIns="0" rtlCol="0" anchor="ctr"/>
          <a:lstStyle/>
          <a:p>
            <a:pPr algn="ctr" indent="0" marL="0">
              <a:buNone/>
            </a:pPr>
            <a:r>
              <a:rPr lang="en-US" sz="1550" dirty="0">
                <a:solidFill>
                  <a:srgbClr val="4A6B5D"/>
                </a:solidFill>
                <a:latin typeface="Georgia" pitchFamily="34" charset="0"/>
                <a:ea typeface="Georgia" pitchFamily="34" charset="-122"/>
                <a:cs typeface="Georgia" pitchFamily="34" charset="-120"/>
              </a:rPr>
              <a:t>An office</a:t>
            </a:r>
            <a:endParaRPr lang="en-US" sz="1550" dirty="0"/>
          </a:p>
        </p:txBody>
      </p:sp>
      <p:sp>
        <p:nvSpPr>
          <p:cNvPr id="18" name="Text 12"/>
          <p:cNvSpPr/>
          <p:nvPr/>
        </p:nvSpPr>
        <p:spPr>
          <a:xfrm>
            <a:off x="822960" y="4206240"/>
            <a:ext cx="10241280" cy="777240"/>
          </a:xfrm>
          <a:prstGeom prst="rect">
            <a:avLst/>
          </a:prstGeom>
          <a:noFill/>
          <a:ln/>
        </p:spPr>
        <p:txBody>
          <a:bodyPr wrap="square" lIns="0" tIns="0" rIns="0" bIns="0" rtlCol="0" anchor="t"/>
          <a:lstStyle/>
          <a:p>
            <a:pPr indent="0" marL="0">
              <a:lnSpc>
                <a:spcPts val="2100"/>
              </a:lnSpc>
              <a:buNone/>
            </a:pPr>
            <a:r>
              <a:rPr lang="en-US" sz="1300" b="1" spc="100" kern="0" dirty="0">
                <a:solidFill>
                  <a:srgbClr val="4A6B5D"/>
                </a:solidFill>
                <a:latin typeface="Arial" pitchFamily="34" charset="0"/>
                <a:ea typeface="Arial" pitchFamily="34" charset="-122"/>
                <a:cs typeface="Arial" pitchFamily="34" charset="-120"/>
              </a:rPr>
              <a:t>TASK   </a:t>
            </a:r>
            <a:pPr indent="0" marL="0">
              <a:lnSpc>
                <a:spcPts val="2100"/>
              </a:lnSpc>
              <a:buNone/>
            </a:pPr>
            <a:r>
              <a:rPr lang="en-US" sz="1500" dirty="0">
                <a:solidFill>
                  <a:srgbClr val="24313F"/>
                </a:solidFill>
                <a:latin typeface="Georgia" pitchFamily="34" charset="0"/>
                <a:ea typeface="Georgia" pitchFamily="34" charset="-122"/>
                <a:cs typeface="Georgia" pitchFamily="34" charset="-120"/>
              </a:rPr>
              <a:t>Take one location each. Describe it in detail: colors, furniture, props, the view outside.</a:t>
            </a:r>
            <a:endParaRPr lang="en-US" sz="1300" dirty="0"/>
          </a:p>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Then, as a group, name the genre and the character each room implies.</a:t>
            </a:r>
            <a:endParaRPr lang="en-US" sz="1300" dirty="0"/>
          </a:p>
        </p:txBody>
      </p:sp>
      <p:sp>
        <p:nvSpPr>
          <p:cNvPr id="19" name="Shape 13"/>
          <p:cNvSpPr/>
          <p:nvPr/>
        </p:nvSpPr>
        <p:spPr>
          <a:xfrm>
            <a:off x="822960" y="5212080"/>
            <a:ext cx="914400" cy="0"/>
          </a:xfrm>
          <a:prstGeom prst="line">
            <a:avLst/>
          </a:prstGeom>
          <a:noFill/>
          <a:ln w="31750">
            <a:solidFill>
              <a:srgbClr val="8C3A38"/>
            </a:solidFill>
            <a:prstDash val="solid"/>
          </a:ln>
        </p:spPr>
      </p:sp>
      <p:sp>
        <p:nvSpPr>
          <p:cNvPr id="20" name="Text 14"/>
          <p:cNvSpPr/>
          <p:nvPr/>
        </p:nvSpPr>
        <p:spPr>
          <a:xfrm>
            <a:off x="822960" y="5376672"/>
            <a:ext cx="10241280" cy="365760"/>
          </a:xfrm>
          <a:prstGeom prst="rect">
            <a:avLst/>
          </a:prstGeom>
          <a:noFill/>
          <a:ln/>
        </p:spPr>
        <p:txBody>
          <a:bodyPr wrap="square" lIns="0" tIns="0" rIns="0" bIns="0" rtlCol="0" anchor="t"/>
          <a:lstStyle/>
          <a:p>
            <a:pPr indent="0" marL="0">
              <a:lnSpc>
                <a:spcPts val="2000"/>
              </a:lnSpc>
              <a:buNone/>
            </a:pPr>
            <a:r>
              <a:rPr lang="en-US" sz="1350" b="1" spc="100" kern="0" dirty="0">
                <a:solidFill>
                  <a:srgbClr val="4A6B5D"/>
                </a:solidFill>
                <a:latin typeface="Arial" pitchFamily="34" charset="0"/>
                <a:ea typeface="Arial" pitchFamily="34" charset="-122"/>
                <a:cs typeface="Arial" pitchFamily="34" charset="-120"/>
              </a:rPr>
              <a:t>KEY POINT   </a:t>
            </a:r>
            <a:pPr indent="0" marL="0">
              <a:lnSpc>
                <a:spcPts val="2000"/>
              </a:lnSpc>
              <a:buNone/>
            </a:pPr>
            <a:r>
              <a:rPr lang="en-US" sz="1550" i="1" dirty="0">
                <a:solidFill>
                  <a:srgbClr val="4A6B5D"/>
                </a:solidFill>
                <a:latin typeface="Georgia" pitchFamily="34" charset="0"/>
                <a:ea typeface="Georgia" pitchFamily="34" charset="-122"/>
                <a:cs typeface="Georgia" pitchFamily="34" charset="-120"/>
              </a:rPr>
              <a:t>Nobody described a person, but a person appeared. Setting builds character first.</a:t>
            </a:r>
            <a:endParaRPr lang="en-US" sz="1350" dirty="0"/>
          </a:p>
        </p:txBody>
      </p:sp>
      <p:sp>
        <p:nvSpPr>
          <p:cNvPr id="21" name="Text 15"/>
          <p:cNvSpPr/>
          <p:nvPr/>
        </p:nvSpPr>
        <p:spPr>
          <a:xfrm>
            <a:off x="822960" y="5943600"/>
            <a:ext cx="10424160" cy="365760"/>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Finished early? Listen to the coursebook's revision podcast: each element, one example.</a:t>
            </a:r>
            <a:endParaRPr lang="en-US" sz="1150" dirty="0"/>
          </a:p>
        </p:txBody>
      </p:sp>
      <p:sp>
        <p:nvSpPr>
          <p:cNvPr id="22" name="Shape 16"/>
          <p:cNvSpPr/>
          <p:nvPr/>
        </p:nvSpPr>
        <p:spPr>
          <a:xfrm>
            <a:off x="822960" y="6382512"/>
            <a:ext cx="10543032" cy="0"/>
          </a:xfrm>
          <a:prstGeom prst="line">
            <a:avLst/>
          </a:prstGeom>
          <a:noFill/>
          <a:ln w="9525">
            <a:solidFill>
              <a:srgbClr val="D9D4C4"/>
            </a:solidFill>
            <a:prstDash val="solid"/>
          </a:ln>
        </p:spPr>
      </p:sp>
      <p:sp>
        <p:nvSpPr>
          <p:cNvPr id="23"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CS5</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THURSDAY, TWENTY-FIVE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Six cells, six connotation lines</a:t>
            </a:r>
            <a:endParaRPr lang="en-US" sz="3400" dirty="0"/>
          </a:p>
        </p:txBody>
      </p:sp>
      <p:sp>
        <p:nvSpPr>
          <p:cNvPr id="6" name="Shape 4"/>
          <p:cNvSpPr/>
          <p:nvPr/>
        </p:nvSpPr>
        <p:spPr>
          <a:xfrm>
            <a:off x="822960" y="1965960"/>
            <a:ext cx="3270504" cy="1188720"/>
          </a:xfrm>
          <a:prstGeom prst="rect">
            <a:avLst/>
          </a:prstGeom>
          <a:solidFill>
            <a:srgbClr val="FAF8F1"/>
          </a:solidFill>
          <a:ln w="9525">
            <a:solidFill>
              <a:srgbClr val="D9D4C4"/>
            </a:solidFill>
            <a:prstDash val="solid"/>
          </a:ln>
        </p:spPr>
      </p:sp>
      <p:sp>
        <p:nvSpPr>
          <p:cNvPr id="7" name="Text 5"/>
          <p:cNvSpPr/>
          <p:nvPr/>
        </p:nvSpPr>
        <p:spPr>
          <a:xfrm>
            <a:off x="1005840"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01</a:t>
            </a:r>
            <a:endParaRPr lang="en-US" sz="1800" dirty="0"/>
          </a:p>
        </p:txBody>
      </p:sp>
      <p:sp>
        <p:nvSpPr>
          <p:cNvPr id="8" name="Text 6"/>
          <p:cNvSpPr/>
          <p:nvPr/>
        </p:nvSpPr>
        <p:spPr>
          <a:xfrm>
            <a:off x="1005840"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Location</a:t>
            </a:r>
            <a:endParaRPr lang="en-US" sz="1900" dirty="0"/>
          </a:p>
        </p:txBody>
      </p:sp>
      <p:sp>
        <p:nvSpPr>
          <p:cNvPr id="9" name="Text 7"/>
          <p:cNvSpPr/>
          <p:nvPr/>
        </p:nvSpPr>
        <p:spPr>
          <a:xfrm>
            <a:off x="1005840"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with the photograph you took</a:t>
            </a:r>
            <a:endParaRPr lang="en-US" sz="1150" dirty="0"/>
          </a:p>
        </p:txBody>
      </p:sp>
      <p:sp>
        <p:nvSpPr>
          <p:cNvPr id="10" name="Shape 8"/>
          <p:cNvSpPr/>
          <p:nvPr/>
        </p:nvSpPr>
        <p:spPr>
          <a:xfrm>
            <a:off x="4459224" y="1965960"/>
            <a:ext cx="3270504" cy="1188720"/>
          </a:xfrm>
          <a:prstGeom prst="rect">
            <a:avLst/>
          </a:prstGeom>
          <a:solidFill>
            <a:srgbClr val="FAF8F1"/>
          </a:solidFill>
          <a:ln w="9525">
            <a:solidFill>
              <a:srgbClr val="D9D4C4"/>
            </a:solidFill>
            <a:prstDash val="solid"/>
          </a:ln>
        </p:spPr>
      </p:sp>
      <p:sp>
        <p:nvSpPr>
          <p:cNvPr id="11" name="Text 9"/>
          <p:cNvSpPr/>
          <p:nvPr/>
        </p:nvSpPr>
        <p:spPr>
          <a:xfrm>
            <a:off x="4642104"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02</a:t>
            </a:r>
            <a:endParaRPr lang="en-US" sz="1800" dirty="0"/>
          </a:p>
        </p:txBody>
      </p:sp>
      <p:sp>
        <p:nvSpPr>
          <p:cNvPr id="12" name="Text 10"/>
          <p:cNvSpPr/>
          <p:nvPr/>
        </p:nvSpPr>
        <p:spPr>
          <a:xfrm>
            <a:off x="4642104"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Costume</a:t>
            </a:r>
            <a:endParaRPr lang="en-US" sz="1900" dirty="0"/>
          </a:p>
        </p:txBody>
      </p:sp>
      <p:sp>
        <p:nvSpPr>
          <p:cNvPr id="13" name="Text 11"/>
          <p:cNvSpPr/>
          <p:nvPr/>
        </p:nvSpPr>
        <p:spPr>
          <a:xfrm>
            <a:off x="4642104"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for one character</a:t>
            </a:r>
            <a:endParaRPr lang="en-US" sz="1150" dirty="0"/>
          </a:p>
        </p:txBody>
      </p:sp>
      <p:sp>
        <p:nvSpPr>
          <p:cNvPr id="14" name="Shape 12"/>
          <p:cNvSpPr/>
          <p:nvPr/>
        </p:nvSpPr>
        <p:spPr>
          <a:xfrm>
            <a:off x="8095488" y="1965960"/>
            <a:ext cx="3270504" cy="1188720"/>
          </a:xfrm>
          <a:prstGeom prst="rect">
            <a:avLst/>
          </a:prstGeom>
          <a:solidFill>
            <a:srgbClr val="FAF8F1"/>
          </a:solidFill>
          <a:ln w="9525">
            <a:solidFill>
              <a:srgbClr val="D9D4C4"/>
            </a:solidFill>
            <a:prstDash val="solid"/>
          </a:ln>
        </p:spPr>
      </p:sp>
      <p:sp>
        <p:nvSpPr>
          <p:cNvPr id="15" name="Text 13"/>
          <p:cNvSpPr/>
          <p:nvPr/>
        </p:nvSpPr>
        <p:spPr>
          <a:xfrm>
            <a:off x="8278368"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03</a:t>
            </a:r>
            <a:endParaRPr lang="en-US" sz="1800" dirty="0"/>
          </a:p>
        </p:txBody>
      </p:sp>
      <p:sp>
        <p:nvSpPr>
          <p:cNvPr id="16" name="Text 14"/>
          <p:cNvSpPr/>
          <p:nvPr/>
        </p:nvSpPr>
        <p:spPr>
          <a:xfrm>
            <a:off x="8278368"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Two properties</a:t>
            </a:r>
            <a:endParaRPr lang="en-US" sz="1900" dirty="0"/>
          </a:p>
        </p:txBody>
      </p:sp>
      <p:sp>
        <p:nvSpPr>
          <p:cNvPr id="17" name="Text 15"/>
          <p:cNvSpPr/>
          <p:nvPr/>
        </p:nvSpPr>
        <p:spPr>
          <a:xfrm>
            <a:off x="8278368"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that carry meaning</a:t>
            </a:r>
            <a:endParaRPr lang="en-US" sz="1150" dirty="0"/>
          </a:p>
        </p:txBody>
      </p:sp>
      <p:sp>
        <p:nvSpPr>
          <p:cNvPr id="18" name="Shape 16"/>
          <p:cNvSpPr/>
          <p:nvPr/>
        </p:nvSpPr>
        <p:spPr>
          <a:xfrm>
            <a:off x="822960" y="3383280"/>
            <a:ext cx="3270504" cy="1188720"/>
          </a:xfrm>
          <a:prstGeom prst="rect">
            <a:avLst/>
          </a:prstGeom>
          <a:solidFill>
            <a:srgbClr val="FAF8F1"/>
          </a:solidFill>
          <a:ln w="9525">
            <a:solidFill>
              <a:srgbClr val="D9D4C4"/>
            </a:solidFill>
            <a:prstDash val="solid"/>
          </a:ln>
        </p:spPr>
      </p:sp>
      <p:sp>
        <p:nvSpPr>
          <p:cNvPr id="19" name="Text 17"/>
          <p:cNvSpPr/>
          <p:nvPr/>
        </p:nvSpPr>
        <p:spPr>
          <a:xfrm>
            <a:off x="1005840"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04</a:t>
            </a:r>
            <a:endParaRPr lang="en-US" sz="1800" dirty="0"/>
          </a:p>
        </p:txBody>
      </p:sp>
      <p:sp>
        <p:nvSpPr>
          <p:cNvPr id="20" name="Text 18"/>
          <p:cNvSpPr/>
          <p:nvPr/>
        </p:nvSpPr>
        <p:spPr>
          <a:xfrm>
            <a:off x="1005840"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Lighting plan</a:t>
            </a:r>
            <a:endParaRPr lang="en-US" sz="1900" dirty="0"/>
          </a:p>
        </p:txBody>
      </p:sp>
      <p:sp>
        <p:nvSpPr>
          <p:cNvPr id="21" name="Text 19"/>
          <p:cNvSpPr/>
          <p:nvPr/>
        </p:nvSpPr>
        <p:spPr>
          <a:xfrm>
            <a:off x="1005840"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named by set-up and quality</a:t>
            </a:r>
            <a:endParaRPr lang="en-US" sz="1150" dirty="0"/>
          </a:p>
        </p:txBody>
      </p:sp>
      <p:sp>
        <p:nvSpPr>
          <p:cNvPr id="22" name="Shape 20"/>
          <p:cNvSpPr/>
          <p:nvPr/>
        </p:nvSpPr>
        <p:spPr>
          <a:xfrm>
            <a:off x="4459224" y="3383280"/>
            <a:ext cx="3270504" cy="1188720"/>
          </a:xfrm>
          <a:prstGeom prst="rect">
            <a:avLst/>
          </a:prstGeom>
          <a:solidFill>
            <a:srgbClr val="FAF8F1"/>
          </a:solidFill>
          <a:ln w="9525">
            <a:solidFill>
              <a:srgbClr val="D9D4C4"/>
            </a:solidFill>
            <a:prstDash val="solid"/>
          </a:ln>
        </p:spPr>
      </p:sp>
      <p:sp>
        <p:nvSpPr>
          <p:cNvPr id="23" name="Text 21"/>
          <p:cNvSpPr/>
          <p:nvPr/>
        </p:nvSpPr>
        <p:spPr>
          <a:xfrm>
            <a:off x="4642104"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05</a:t>
            </a:r>
            <a:endParaRPr lang="en-US" sz="1800" dirty="0"/>
          </a:p>
        </p:txBody>
      </p:sp>
      <p:sp>
        <p:nvSpPr>
          <p:cNvPr id="24" name="Text 22"/>
          <p:cNvSpPr/>
          <p:nvPr/>
        </p:nvSpPr>
        <p:spPr>
          <a:xfrm>
            <a:off x="4642104"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Colour palette</a:t>
            </a:r>
            <a:endParaRPr lang="en-US" sz="1900" dirty="0"/>
          </a:p>
        </p:txBody>
      </p:sp>
      <p:sp>
        <p:nvSpPr>
          <p:cNvPr id="25" name="Text 23"/>
          <p:cNvSpPr/>
          <p:nvPr/>
        </p:nvSpPr>
        <p:spPr>
          <a:xfrm>
            <a:off x="4642104"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three to five swatches</a:t>
            </a:r>
            <a:endParaRPr lang="en-US" sz="1150" dirty="0"/>
          </a:p>
        </p:txBody>
      </p:sp>
      <p:sp>
        <p:nvSpPr>
          <p:cNvPr id="26" name="Shape 24"/>
          <p:cNvSpPr/>
          <p:nvPr/>
        </p:nvSpPr>
        <p:spPr>
          <a:xfrm>
            <a:off x="8095488" y="3383280"/>
            <a:ext cx="3270504" cy="1188720"/>
          </a:xfrm>
          <a:prstGeom prst="rect">
            <a:avLst/>
          </a:prstGeom>
          <a:solidFill>
            <a:srgbClr val="FAF8F1"/>
          </a:solidFill>
          <a:ln w="9525">
            <a:solidFill>
              <a:srgbClr val="D9D4C4"/>
            </a:solidFill>
            <a:prstDash val="solid"/>
          </a:ln>
        </p:spPr>
      </p:sp>
      <p:sp>
        <p:nvSpPr>
          <p:cNvPr id="27" name="Text 25"/>
          <p:cNvSpPr/>
          <p:nvPr/>
        </p:nvSpPr>
        <p:spPr>
          <a:xfrm>
            <a:off x="8278368"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06</a:t>
            </a:r>
            <a:endParaRPr lang="en-US" sz="1800" dirty="0"/>
          </a:p>
        </p:txBody>
      </p:sp>
      <p:sp>
        <p:nvSpPr>
          <p:cNvPr id="28" name="Text 26"/>
          <p:cNvSpPr/>
          <p:nvPr/>
        </p:nvSpPr>
        <p:spPr>
          <a:xfrm>
            <a:off x="8278368"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claim</a:t>
            </a:r>
            <a:endParaRPr lang="en-US" sz="1900" dirty="0"/>
          </a:p>
        </p:txBody>
      </p:sp>
      <p:sp>
        <p:nvSpPr>
          <p:cNvPr id="29" name="Text 27"/>
          <p:cNvSpPr/>
          <p:nvPr/>
        </p:nvSpPr>
        <p:spPr>
          <a:xfrm>
            <a:off x="8278368"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one sentence: what does this design say?</a:t>
            </a:r>
            <a:endParaRPr lang="en-US" sz="1150" dirty="0"/>
          </a:p>
        </p:txBody>
      </p:sp>
      <p:sp>
        <p:nvSpPr>
          <p:cNvPr id="30" name="Text 28"/>
          <p:cNvSpPr/>
          <p:nvPr/>
        </p:nvSpPr>
        <p:spPr>
          <a:xfrm>
            <a:off x="822960" y="5029200"/>
            <a:ext cx="10424160" cy="594360"/>
          </a:xfrm>
          <a:prstGeom prst="rect">
            <a:avLst/>
          </a:prstGeom>
          <a:noFill/>
          <a:ln/>
        </p:spPr>
        <p:txBody>
          <a:bodyPr wrap="square" lIns="0" tIns="0" rIns="0" bIns="0" rtlCol="0" anchor="t"/>
          <a:lstStyle/>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THIS COUNTS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board is your group's real Component 1 design document. Post it on the blog, dated.</a:t>
            </a:r>
            <a:endParaRPr lang="en-US" sz="1250" dirty="0"/>
          </a:p>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THE LOCK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In eight days the planning lock checks your costume and props against this board.</a:t>
            </a:r>
            <a:endParaRPr lang="en-US" sz="125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WHY THIS ELEMENT PAYS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VISIBLE, NAMEABLE, FULL OF MEANING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one you can read without hearing a word</a:t>
            </a:r>
            <a:endParaRPr lang="en-US" sz="3400" dirty="0"/>
          </a:p>
        </p:txBody>
      </p:sp>
      <p:sp>
        <p:nvSpPr>
          <p:cNvPr id="6" name="Shape 4"/>
          <p:cNvSpPr/>
          <p:nvPr/>
        </p:nvSpPr>
        <p:spPr>
          <a:xfrm>
            <a:off x="822960" y="2286000"/>
            <a:ext cx="914400" cy="0"/>
          </a:xfrm>
          <a:prstGeom prst="line">
            <a:avLst/>
          </a:prstGeom>
          <a:noFill/>
          <a:ln w="31750">
            <a:solidFill>
              <a:srgbClr val="8C3A38"/>
            </a:solidFill>
            <a:prstDash val="solid"/>
          </a:ln>
        </p:spPr>
      </p:sp>
      <p:sp>
        <p:nvSpPr>
          <p:cNvPr id="7" name="Text 5"/>
          <p:cNvSpPr/>
          <p:nvPr/>
        </p:nvSpPr>
        <p:spPr>
          <a:xfrm>
            <a:off x="822960" y="2606040"/>
            <a:ext cx="10241280" cy="1463040"/>
          </a:xfrm>
          <a:prstGeom prst="rect">
            <a:avLst/>
          </a:prstGeom>
          <a:noFill/>
          <a:ln/>
        </p:spPr>
        <p:txBody>
          <a:bodyPr wrap="square" lIns="0" tIns="0" rIns="0" bIns="0" rtlCol="0" anchor="t"/>
          <a:lstStyle/>
          <a:p>
            <a:pPr indent="0" marL="0">
              <a:lnSpc>
                <a:spcPts val="2600"/>
              </a:lnSpc>
              <a:buNone/>
            </a:pPr>
            <a:r>
              <a:rPr lang="en-US" sz="1500" b="1" spc="100" kern="0" dirty="0">
                <a:solidFill>
                  <a:srgbClr val="4A6B5D"/>
                </a:solidFill>
                <a:latin typeface="Arial" pitchFamily="34" charset="0"/>
                <a:ea typeface="Arial" pitchFamily="34" charset="-122"/>
                <a:cs typeface="Arial" pitchFamily="34" charset="-120"/>
              </a:rPr>
              <a:t>WHY IT PAYS   </a:t>
            </a:r>
            <a:pPr indent="0" marL="0">
              <a:lnSpc>
                <a:spcPts val="2600"/>
              </a:lnSpc>
              <a:buNone/>
            </a:pPr>
            <a:r>
              <a:rPr lang="en-US" sz="1700" dirty="0">
                <a:solidFill>
                  <a:srgbClr val="24313F"/>
                </a:solidFill>
                <a:latin typeface="Georgia" pitchFamily="34" charset="0"/>
                <a:ea typeface="Georgia" pitchFamily="34" charset="-122"/>
                <a:cs typeface="Georgia" pitchFamily="34" charset="-120"/>
              </a:rPr>
              <a:t>Camera needs movement. Sound needs a trained ear. Mise-en-scène sits still.</a:t>
            </a:r>
            <a:endParaRPr lang="en-US" sz="1500" dirty="0"/>
          </a:p>
          <a:p>
            <a:pPr indent="0" marL="0">
              <a:lnSpc>
                <a:spcPts val="2600"/>
              </a:lnSpc>
              <a:buNone/>
            </a:pPr>
            <a:r>
              <a:rPr lang="en-US" sz="1700" dirty="0">
                <a:solidFill>
                  <a:srgbClr val="24313F"/>
                </a:solidFill>
                <a:latin typeface="Georgia" pitchFamily="34" charset="0"/>
                <a:ea typeface="Georgia" pitchFamily="34" charset="-122"/>
                <a:cs typeface="Georgia" pitchFamily="34" charset="-120"/>
              </a:rPr>
              <a:t>In the exam, the extract plays four times. Mise-en-scène is the element you can secure first.</a:t>
            </a:r>
            <a:endParaRPr lang="en-US" sz="1500" dirty="0"/>
          </a:p>
          <a:p>
            <a:pPr indent="0" marL="0">
              <a:lnSpc>
                <a:spcPts val="2600"/>
              </a:lnSpc>
              <a:buNone/>
            </a:pPr>
            <a:r>
              <a:rPr lang="en-US" sz="1500" b="1" spc="100" kern="0" dirty="0">
                <a:solidFill>
                  <a:srgbClr val="4A6B5D"/>
                </a:solidFill>
                <a:latin typeface="Arial" pitchFamily="34" charset="0"/>
                <a:ea typeface="Arial" pitchFamily="34" charset="-122"/>
                <a:cs typeface="Arial" pitchFamily="34" charset="-120"/>
              </a:rPr>
              <a:t>PRECISION   </a:t>
            </a:r>
            <a:pPr indent="0" marL="0">
              <a:lnSpc>
                <a:spcPts val="2600"/>
              </a:lnSpc>
              <a:buNone/>
            </a:pPr>
            <a:r>
              <a:rPr lang="en-US" sz="1700" dirty="0">
                <a:solidFill>
                  <a:srgbClr val="24313F"/>
                </a:solidFill>
                <a:latin typeface="Georgia" pitchFamily="34" charset="0"/>
                <a:ea typeface="Georgia" pitchFamily="34" charset="-122"/>
                <a:cs typeface="Georgia" pitchFamily="34" charset="-120"/>
              </a:rPr>
              <a:t>Not “dark” but “low key”. Not “old” but “a costume that dates the character”.</a:t>
            </a:r>
            <a:endParaRPr lang="en-US" sz="1500" dirty="0"/>
          </a:p>
        </p:txBody>
      </p:sp>
      <p:sp>
        <p:nvSpPr>
          <p:cNvPr id="8" name="Shape 6"/>
          <p:cNvSpPr/>
          <p:nvPr/>
        </p:nvSpPr>
        <p:spPr>
          <a:xfrm>
            <a:off x="822960" y="4526280"/>
            <a:ext cx="10543032" cy="914400"/>
          </a:xfrm>
          <a:prstGeom prst="rect">
            <a:avLst/>
          </a:prstGeom>
          <a:solidFill>
            <a:srgbClr val="E8EFE7"/>
          </a:solidFill>
          <a:ln/>
        </p:spPr>
      </p:sp>
      <p:sp>
        <p:nvSpPr>
          <p:cNvPr id="9" name="Text 7"/>
          <p:cNvSpPr/>
          <p:nvPr/>
        </p:nvSpPr>
        <p:spPr>
          <a:xfrm>
            <a:off x="1097280" y="4773168"/>
            <a:ext cx="9994392" cy="457200"/>
          </a:xfrm>
          <a:prstGeom prst="rect">
            <a:avLst/>
          </a:prstGeom>
          <a:noFill/>
          <a:ln/>
        </p:spPr>
        <p:txBody>
          <a:bodyPr wrap="square" lIns="0" tIns="0" rIns="0" bIns="0" rtlCol="0" anchor="t"/>
          <a:lstStyle/>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LOOKING AHEAD   </a:t>
            </a:r>
            <a:pPr indent="0" marL="0">
              <a:lnSpc>
                <a:spcPts val="2100"/>
              </a:lnSpc>
              <a:buNone/>
            </a:pPr>
            <a:r>
              <a:rPr lang="en-US" sz="1550" i="1" dirty="0">
                <a:solidFill>
                  <a:srgbClr val="4A6B5D"/>
                </a:solidFill>
                <a:latin typeface="Georgia" pitchFamily="34" charset="0"/>
                <a:ea typeface="Georgia" pitchFamily="34" charset="-122"/>
                <a:cs typeface="Georgia" pitchFamily="34" charset="-120"/>
              </a:rPr>
              <a:t>In Grade 12, the Component 3 print task and website are mise-en-scène problems too.</a:t>
            </a:r>
            <a:endParaRPr lang="en-US" sz="13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Editing</a:t>
            </a:r>
            <a:endParaRPr lang="en-US" sz="62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06. Editing normally hides itself. We will break its rules on purpose, to see them.</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2026-08-25T13:06:04Z</dcterms:created>
  <dcterms:modified xsi:type="dcterms:W3CDTF">2026-08-25T13:06:04Z</dcterms:modified>
</cp:coreProperties>
</file>