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2 becomes the destination. Morley explains why the same text reads differently; ownership explains why texts say what they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court photographer's frame belonged to the court. Who pays shapes what gets said, in 1857 as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Gray's imperial commission: a photograph made to a paymaster's brief. Funding follows content, a century and a half before the streaming wars.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Underwood's camera operator high above Fifth Avenue: the institution's chosen vantage point, from which the frame is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7315200" y="822960"/>
            <a:ext cx="4114800" cy="4937760"/>
          </a:xfrm>
          <a:prstGeom prst="rect">
            <a:avLst/>
          </a:prstGeom>
          <a:noFill/>
          <a:ln/>
        </p:spPr>
        <p:txBody>
          <a:bodyPr wrap="square" lIns="0" tIns="0" rIns="0" bIns="0" rtlCol="0" anchor="ctr"/>
          <a:lstStyle/>
          <a:p>
            <a:pPr algn="ctr" indent="0" marL="0">
              <a:buNone/>
            </a:pPr>
            <a:r>
              <a:rPr lang="en-US" sz="23000" dirty="0">
                <a:solidFill>
                  <a:srgbClr val="A3C1AD"/>
                </a:solidFill>
                <a:latin typeface="Georgia" pitchFamily="34" charset="0"/>
                <a:ea typeface="Georgia" pitchFamily="34" charset="-122"/>
                <a:cs typeface="Georgia" pitchFamily="34" charset="-120"/>
              </a:rPr>
              <a:t>XII</a:t>
            </a:r>
            <a:endParaRPr lang="en-US" sz="23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MEDIA STUDIES 9607 · UNIT V</a:t>
            </a:r>
            <a:endParaRPr lang="en-US" sz="1100" dirty="0"/>
          </a:p>
        </p:txBody>
      </p:sp>
      <p:sp>
        <p:nvSpPr>
          <p:cNvPr id="4" name="Text 2"/>
          <p:cNvSpPr/>
          <p:nvPr/>
        </p:nvSpPr>
        <p:spPr>
          <a:xfrm>
            <a:off x="822960" y="1737360"/>
            <a:ext cx="7132320" cy="2377440"/>
          </a:xfrm>
          <a:prstGeom prst="rect">
            <a:avLst/>
          </a:prstGeom>
          <a:noFill/>
          <a:ln/>
        </p:spPr>
        <p:txBody>
          <a:bodyPr wrap="square" lIns="0" tIns="0" rIns="0" bIns="0" rtlCol="0" anchor="t"/>
          <a:lstStyle/>
          <a:p>
            <a:pPr indent="0" marL="0">
              <a:lnSpc>
                <a:spcPts val="5200"/>
              </a:lnSpc>
              <a:buNone/>
            </a:pPr>
            <a:r>
              <a:rPr lang="en-US" sz="5200" dirty="0">
                <a:solidFill>
                  <a:srgbClr val="24313F"/>
                </a:solidFill>
                <a:latin typeface="Georgia" pitchFamily="34" charset="0"/>
                <a:ea typeface="Georgia" pitchFamily="34" charset="-122"/>
                <a:cs typeface="Georgia" pitchFamily="34" charset="-120"/>
              </a:rPr>
              <a:t>Institutions and</a:t>
            </a:r>
            <a:endParaRPr lang="en-US" sz="5200" dirty="0"/>
          </a:p>
          <a:p>
            <a:pPr indent="0" marL="0">
              <a:lnSpc>
                <a:spcPts val="5200"/>
              </a:lnSpc>
              <a:buNone/>
            </a:pPr>
            <a:r>
              <a:rPr lang="en-US" sz="5200" dirty="0">
                <a:solidFill>
                  <a:srgbClr val="24313F"/>
                </a:solidFill>
                <a:latin typeface="Georgia" pitchFamily="34" charset="0"/>
                <a:ea typeface="Georgia" pitchFamily="34" charset="-122"/>
                <a:cs typeface="Georgia" pitchFamily="34" charset="-120"/>
              </a:rPr>
              <a:t>Section A Craft</a:t>
            </a:r>
            <a:endParaRPr lang="en-US" sz="52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3152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Media Contexts · Lesson 12 of 16</a:t>
            </a:r>
            <a:endParaRPr lang="en-US" sz="2200" dirty="0"/>
          </a:p>
        </p:txBody>
      </p:sp>
      <p:sp>
        <p:nvSpPr>
          <p:cNvPr id="7" name="Text 5"/>
          <p:cNvSpPr/>
          <p:nvPr/>
        </p:nvSpPr>
        <p:spPr>
          <a:xfrm>
            <a:off x="822960" y="5029200"/>
            <a:ext cx="82296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Four days  ·  Monday 7 to Friday 11 December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7132320" y="640080"/>
            <a:ext cx="4480560" cy="5577840"/>
          </a:xfrm>
          <a:prstGeom prst="rect">
            <a:avLst/>
          </a:prstGeom>
          <a:noFill/>
          <a:ln/>
        </p:spPr>
        <p:txBody>
          <a:bodyPr wrap="square" lIns="0" tIns="0" rIns="0" bIns="0" rtlCol="0" anchor="ctr"/>
          <a:lstStyle/>
          <a:p>
            <a:pPr algn="ctr" indent="0" marL="0">
              <a:buNone/>
            </a:pPr>
            <a:r>
              <a:rPr lang="en-US" sz="25000" dirty="0">
                <a:solidFill>
                  <a:srgbClr val="5C7A6B"/>
                </a:solidFill>
                <a:latin typeface="Georgia" pitchFamily="34" charset="0"/>
                <a:ea typeface="Georgia" pitchFamily="34" charset="-122"/>
                <a:cs typeface="Georgia" pitchFamily="34" charset="-120"/>
              </a:rPr>
              <a:t>XII</a:t>
            </a:r>
            <a:endParaRPr lang="en-US" sz="25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OWNERSHIP</a:t>
            </a:r>
            <a:endParaRPr lang="en-US" sz="1100" dirty="0"/>
          </a:p>
        </p:txBody>
      </p:sp>
      <p:sp>
        <p:nvSpPr>
          <p:cNvPr id="4" name="Shape 2"/>
          <p:cNvSpPr/>
          <p:nvPr/>
        </p:nvSpPr>
        <p:spPr>
          <a:xfrm>
            <a:off x="822960" y="2651760"/>
            <a:ext cx="3840480" cy="0"/>
          </a:xfrm>
          <a:prstGeom prst="line">
            <a:avLst/>
          </a:prstGeom>
          <a:noFill/>
          <a:ln w="9525">
            <a:solidFill>
              <a:srgbClr val="8AA394"/>
            </a:solidFill>
            <a:prstDash val="solid"/>
          </a:ln>
        </p:spPr>
      </p:sp>
      <p:sp>
        <p:nvSpPr>
          <p:cNvPr id="5" name="Text 3"/>
          <p:cNvSpPr/>
          <p:nvPr/>
        </p:nvSpPr>
        <p:spPr>
          <a:xfrm>
            <a:off x="822960" y="2788920"/>
            <a:ext cx="6766560" cy="2194560"/>
          </a:xfrm>
          <a:prstGeom prst="rect">
            <a:avLst/>
          </a:prstGeom>
          <a:noFill/>
          <a:ln/>
        </p:spPr>
        <p:txBody>
          <a:bodyPr wrap="square" lIns="0" tIns="0" rIns="0" bIns="0" rtlCol="0" anchor="t"/>
          <a:lstStyle/>
          <a:p>
            <a:pPr indent="0" marL="0">
              <a:lnSpc>
                <a:spcPts val="5600"/>
              </a:lnSpc>
              <a:buNone/>
            </a:pPr>
            <a:r>
              <a:rPr lang="en-US" sz="5600" dirty="0">
                <a:solidFill>
                  <a:srgbClr val="FAF8F1"/>
                </a:solidFill>
                <a:latin typeface="Georgia" pitchFamily="34" charset="0"/>
                <a:ea typeface="Georgia" pitchFamily="34" charset="-122"/>
                <a:cs typeface="Georgia" pitchFamily="34" charset="-120"/>
              </a:rPr>
              <a:t>Funding follows</a:t>
            </a:r>
            <a:endParaRPr lang="en-US" sz="5600" dirty="0"/>
          </a:p>
          <a:p>
            <a:pPr indent="0" marL="0">
              <a:lnSpc>
                <a:spcPts val="5600"/>
              </a:lnSpc>
              <a:buNone/>
            </a:pPr>
            <a:r>
              <a:rPr lang="en-US" sz="5600" dirty="0">
                <a:solidFill>
                  <a:srgbClr val="FAF8F1"/>
                </a:solidFill>
                <a:latin typeface="Georgia" pitchFamily="34" charset="0"/>
                <a:ea typeface="Georgia" pitchFamily="34" charset="-122"/>
                <a:cs typeface="Georgia" pitchFamily="34" charset="-120"/>
              </a:rPr>
              <a:t>content.</a:t>
            </a:r>
            <a:endParaRPr lang="en-US" sz="5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MORLEY · THE NATIONWIDE STUDY</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READINGS TRACK SITUATION, NOT INTELLIGENCE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The same broadcast, different readings</a:t>
            </a:r>
            <a:endParaRPr lang="en-US" sz="3000" dirty="0"/>
          </a:p>
        </p:txBody>
      </p:sp>
      <p:sp>
        <p:nvSpPr>
          <p:cNvPr id="6" name="Text 4"/>
          <p:cNvSpPr/>
          <p:nvPr/>
        </p:nvSpPr>
        <p:spPr>
          <a:xfrm>
            <a:off x="822960" y="2011680"/>
            <a:ext cx="4846320" cy="502920"/>
          </a:xfrm>
          <a:prstGeom prst="rect">
            <a:avLst/>
          </a:prstGeom>
          <a:noFill/>
          <a:ln/>
        </p:spPr>
        <p:txBody>
          <a:bodyPr wrap="square" lIns="0" tIns="0" rIns="0" bIns="0" rtlCol="0" anchor="ctr"/>
          <a:lstStyle/>
          <a:p>
            <a:pPr indent="0" marL="0">
              <a:buNone/>
            </a:pPr>
            <a:r>
              <a:rPr lang="en-US" sz="2400" dirty="0">
                <a:solidFill>
                  <a:srgbClr val="4A6B5D"/>
                </a:solidFill>
                <a:latin typeface="Georgia" pitchFamily="34" charset="0"/>
                <a:ea typeface="Georgia" pitchFamily="34" charset="-122"/>
                <a:cs typeface="Georgia" pitchFamily="34" charset="-120"/>
              </a:rPr>
              <a:t>The study</a:t>
            </a:r>
            <a:endParaRPr lang="en-US" sz="2400" dirty="0"/>
          </a:p>
        </p:txBody>
      </p:sp>
      <p:sp>
        <p:nvSpPr>
          <p:cNvPr id="7" name="Shape 5"/>
          <p:cNvSpPr/>
          <p:nvPr/>
        </p:nvSpPr>
        <p:spPr>
          <a:xfrm>
            <a:off x="822960" y="2560320"/>
            <a:ext cx="4754880" cy="0"/>
          </a:xfrm>
          <a:prstGeom prst="line">
            <a:avLst/>
          </a:prstGeom>
          <a:noFill/>
          <a:ln w="9525">
            <a:solidFill>
              <a:srgbClr val="D9D4C4"/>
            </a:solidFill>
            <a:prstDash val="solid"/>
          </a:ln>
        </p:spPr>
      </p:sp>
      <p:sp>
        <p:nvSpPr>
          <p:cNvPr id="8" name="Text 6"/>
          <p:cNvSpPr/>
          <p:nvPr/>
        </p:nvSpPr>
        <p:spPr>
          <a:xfrm>
            <a:off x="822960" y="2697480"/>
            <a:ext cx="484632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Real audience groups were shown the same broadcast, and their readings were gathered and compared.</a:t>
            </a:r>
            <a:endParaRPr lang="en-US" sz="1700" dirty="0"/>
          </a:p>
        </p:txBody>
      </p:sp>
      <p:sp>
        <p:nvSpPr>
          <p:cNvPr id="9" name="Text 7"/>
          <p:cNvSpPr/>
          <p:nvPr/>
        </p:nvSpPr>
        <p:spPr>
          <a:xfrm>
            <a:off x="6309360" y="2011680"/>
            <a:ext cx="4846320" cy="502920"/>
          </a:xfrm>
          <a:prstGeom prst="rect">
            <a:avLst/>
          </a:prstGeom>
          <a:noFill/>
          <a:ln/>
        </p:spPr>
        <p:txBody>
          <a:bodyPr wrap="square" lIns="0" tIns="0" rIns="0" bIns="0" rtlCol="0" anchor="ctr"/>
          <a:lstStyle/>
          <a:p>
            <a:pPr indent="0" marL="0">
              <a:buNone/>
            </a:pPr>
            <a:r>
              <a:rPr lang="en-US" sz="2400" dirty="0">
                <a:solidFill>
                  <a:srgbClr val="5C7A6B"/>
                </a:solidFill>
                <a:latin typeface="Georgia" pitchFamily="34" charset="0"/>
                <a:ea typeface="Georgia" pitchFamily="34" charset="-122"/>
                <a:cs typeface="Georgia" pitchFamily="34" charset="-120"/>
              </a:rPr>
              <a:t>The finding</a:t>
            </a:r>
            <a:endParaRPr lang="en-US" sz="2400" dirty="0"/>
          </a:p>
        </p:txBody>
      </p:sp>
      <p:sp>
        <p:nvSpPr>
          <p:cNvPr id="10" name="Shape 8"/>
          <p:cNvSpPr/>
          <p:nvPr/>
        </p:nvSpPr>
        <p:spPr>
          <a:xfrm>
            <a:off x="6309360" y="2560320"/>
            <a:ext cx="4754880" cy="0"/>
          </a:xfrm>
          <a:prstGeom prst="line">
            <a:avLst/>
          </a:prstGeom>
          <a:noFill/>
          <a:ln w="9525">
            <a:solidFill>
              <a:srgbClr val="D9D4C4"/>
            </a:solidFill>
            <a:prstDash val="solid"/>
          </a:ln>
        </p:spPr>
      </p:sp>
      <p:sp>
        <p:nvSpPr>
          <p:cNvPr id="11" name="Text 9"/>
          <p:cNvSpPr/>
          <p:nvPr/>
        </p:nvSpPr>
        <p:spPr>
          <a:xfrm>
            <a:off x="6309360" y="2697480"/>
            <a:ext cx="484632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The groups produced systematically different readings, and the differences tracked their social situations, not their intelligence.</a:t>
            </a:r>
            <a:endParaRPr lang="en-US" sz="1700" dirty="0"/>
          </a:p>
        </p:txBody>
      </p:sp>
      <p:sp>
        <p:nvSpPr>
          <p:cNvPr id="12" name="Shape 10"/>
          <p:cNvSpPr/>
          <p:nvPr/>
        </p:nvSpPr>
        <p:spPr>
          <a:xfrm>
            <a:off x="822960" y="5212080"/>
            <a:ext cx="914400" cy="0"/>
          </a:xfrm>
          <a:prstGeom prst="line">
            <a:avLst/>
          </a:prstGeom>
          <a:noFill/>
          <a:ln w="31750">
            <a:solidFill>
              <a:srgbClr val="8C3A38"/>
            </a:solidFill>
            <a:prstDash val="solid"/>
          </a:ln>
        </p:spPr>
      </p:sp>
      <p:sp>
        <p:nvSpPr>
          <p:cNvPr id="13" name="Text 11"/>
          <p:cNvSpPr/>
          <p:nvPr/>
        </p:nvSpPr>
        <p:spPr>
          <a:xfrm>
            <a:off x="822960" y="5394960"/>
            <a:ext cx="10058400" cy="45720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If readings differ by situation, then who makes the text matters even more. Tomorrow: ownership.</a:t>
            </a:r>
            <a:endParaRPr lang="en-US" sz="1250" dirty="0"/>
          </a:p>
        </p:txBody>
      </p:sp>
      <p:sp>
        <p:nvSpPr>
          <p:cNvPr id="14" name="Shape 12"/>
          <p:cNvSpPr/>
          <p:nvPr/>
        </p:nvSpPr>
        <p:spPr>
          <a:xfrm>
            <a:off x="822960" y="6382512"/>
            <a:ext cx="10543032" cy="0"/>
          </a:xfrm>
          <a:prstGeom prst="line">
            <a:avLst/>
          </a:prstGeom>
          <a:noFill/>
          <a:ln w="9525">
            <a:solidFill>
              <a:srgbClr val="D9D4C4"/>
            </a:solidFill>
            <a:prstDash val="solid"/>
          </a:ln>
        </p:spPr>
      </p:sp>
      <p:sp>
        <p:nvSpPr>
          <p:cNvPr id="15" name="Text 1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6" name="Text 1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ivate/tmp/claude-501/-Users-dogan-Documents-Vaults-Courses/a3a5132d-721f-4cd4-8ddd-e62e2b37b51b/scratchpad/img/crops/legray-emperor-table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FRAME BELONGED TO THE PAYER</a:t>
            </a:r>
            <a:endParaRPr lang="en-US" sz="1100" dirty="0"/>
          </a:p>
        </p:txBody>
      </p:sp>
      <p:sp>
        <p:nvSpPr>
          <p:cNvPr id="5" name="Shape 2"/>
          <p:cNvSpPr/>
          <p:nvPr/>
        </p:nvSpPr>
        <p:spPr>
          <a:xfrm>
            <a:off x="457200" y="5230368"/>
            <a:ext cx="8778240" cy="1243584"/>
          </a:xfrm>
          <a:prstGeom prst="rect">
            <a:avLst/>
          </a:prstGeom>
          <a:solidFill>
            <a:srgbClr val="FAF8F1"/>
          </a:solidFill>
          <a:ln/>
        </p:spPr>
      </p:sp>
      <p:sp>
        <p:nvSpPr>
          <p:cNvPr id="6" name="Shape 3"/>
          <p:cNvSpPr/>
          <p:nvPr/>
        </p:nvSpPr>
        <p:spPr>
          <a:xfrm>
            <a:off x="676656" y="5468112"/>
            <a:ext cx="731520" cy="0"/>
          </a:xfrm>
          <a:prstGeom prst="line">
            <a:avLst/>
          </a:prstGeom>
          <a:noFill/>
          <a:ln w="28575">
            <a:solidFill>
              <a:srgbClr val="8C3A38"/>
            </a:solidFill>
            <a:prstDash val="solid"/>
          </a:ln>
        </p:spPr>
      </p:sp>
      <p:sp>
        <p:nvSpPr>
          <p:cNvPr id="7" name="Text 4"/>
          <p:cNvSpPr/>
          <p:nvPr/>
        </p:nvSpPr>
        <p:spPr>
          <a:xfrm>
            <a:off x="676656" y="5541264"/>
            <a:ext cx="8339328" cy="585216"/>
          </a:xfrm>
          <a:prstGeom prst="rect">
            <a:avLst/>
          </a:prstGeom>
          <a:noFill/>
          <a:ln/>
        </p:spPr>
        <p:txBody>
          <a:bodyPr wrap="square" lIns="0" tIns="0" rIns="0" bIns="0" rtlCol="0" anchor="t"/>
          <a:lstStyle/>
          <a:p>
            <a:pPr indent="0" marL="0">
              <a:lnSpc>
                <a:spcPts val="2200"/>
              </a:lnSpc>
              <a:buNone/>
            </a:pPr>
            <a:r>
              <a:rPr lang="en-US" sz="1800" dirty="0">
                <a:solidFill>
                  <a:srgbClr val="24313F"/>
                </a:solidFill>
                <a:latin typeface="Georgia" pitchFamily="34" charset="0"/>
                <a:ea typeface="Georgia" pitchFamily="34" charset="-122"/>
                <a:cs typeface="Georgia" pitchFamily="34" charset="-120"/>
              </a:rPr>
              <a:t>Le Gray photographed the Emperor's camp on commission: the frame belonged to who paid, in 1857 as now.</a:t>
            </a:r>
            <a:endParaRPr lang="en-US" sz="1800" dirty="0"/>
          </a:p>
        </p:txBody>
      </p:sp>
      <p:sp>
        <p:nvSpPr>
          <p:cNvPr id="8" name="Text 5"/>
          <p:cNvSpPr/>
          <p:nvPr/>
        </p:nvSpPr>
        <p:spPr>
          <a:xfrm>
            <a:off x="676656" y="6181344"/>
            <a:ext cx="8339328"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Gustave Le Gray, Camp de Chalons, 1857</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WHO PAYS, AND WHAT THEY BUY</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PSB VERSUS COMMERCIAL</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Follow the money</a:t>
            </a:r>
            <a:endParaRPr lang="en-US" sz="3200" dirty="0"/>
          </a:p>
        </p:txBody>
      </p:sp>
      <p:sp>
        <p:nvSpPr>
          <p:cNvPr id="6" name="Shape 4"/>
          <p:cNvSpPr/>
          <p:nvPr/>
        </p:nvSpPr>
        <p:spPr>
          <a:xfrm>
            <a:off x="822960" y="1737360"/>
            <a:ext cx="10543032" cy="0"/>
          </a:xfrm>
          <a:prstGeom prst="line">
            <a:avLst/>
          </a:prstGeom>
          <a:noFill/>
          <a:ln w="12700">
            <a:solidFill>
              <a:srgbClr val="24313F"/>
            </a:solidFill>
            <a:prstDash val="solid"/>
          </a:ln>
        </p:spPr>
      </p:sp>
      <p:sp>
        <p:nvSpPr>
          <p:cNvPr id="7" name="Text 5"/>
          <p:cNvSpPr/>
          <p:nvPr/>
        </p:nvSpPr>
        <p:spPr>
          <a:xfrm>
            <a:off x="822960" y="1737360"/>
            <a:ext cx="4023360" cy="640080"/>
          </a:xfrm>
          <a:prstGeom prst="rect">
            <a:avLst/>
          </a:prstGeom>
          <a:noFill/>
          <a:ln/>
        </p:spPr>
        <p:txBody>
          <a:bodyPr wrap="square" lIns="0" tIns="0" rIns="0" bIns="0" rtlCol="0" anchor="ctr"/>
          <a:lstStyle/>
          <a:p>
            <a:pPr indent="0" marL="0">
              <a:buNone/>
            </a:pPr>
            <a:r>
              <a:rPr lang="en-US" sz="1100" b="1" spc="150" kern="0" dirty="0">
                <a:solidFill>
                  <a:srgbClr val="7A7F72"/>
                </a:solidFill>
                <a:latin typeface="Arial" pitchFamily="34" charset="0"/>
                <a:ea typeface="Arial" pitchFamily="34" charset="-122"/>
                <a:cs typeface="Arial" pitchFamily="34" charset="-120"/>
              </a:rPr>
              <a:t>THE PAYER</a:t>
            </a:r>
            <a:endParaRPr lang="en-US" sz="1100" dirty="0"/>
          </a:p>
        </p:txBody>
      </p:sp>
      <p:sp>
        <p:nvSpPr>
          <p:cNvPr id="8" name="Text 6"/>
          <p:cNvSpPr/>
          <p:nvPr/>
        </p:nvSpPr>
        <p:spPr>
          <a:xfrm>
            <a:off x="5029200" y="1737360"/>
            <a:ext cx="6309360" cy="640080"/>
          </a:xfrm>
          <a:prstGeom prst="rect">
            <a:avLst/>
          </a:prstGeom>
          <a:noFill/>
          <a:ln/>
        </p:spPr>
        <p:txBody>
          <a:bodyPr wrap="square" lIns="0" tIns="0" rIns="0" bIns="0" rtlCol="0" anchor="ctr"/>
          <a:lstStyle/>
          <a:p>
            <a:pPr indent="0" marL="0">
              <a:buNone/>
            </a:pPr>
            <a:r>
              <a:rPr lang="en-US" sz="1100" b="1" spc="150" kern="0" dirty="0">
                <a:solidFill>
                  <a:srgbClr val="7A7F72"/>
                </a:solidFill>
                <a:latin typeface="Arial" pitchFamily="34" charset="0"/>
                <a:ea typeface="Arial" pitchFamily="34" charset="-122"/>
                <a:cs typeface="Arial" pitchFamily="34" charset="-120"/>
              </a:rPr>
              <a:t>WHAT THE MONEY BUYS</a:t>
            </a:r>
            <a:endParaRPr lang="en-US" sz="1100" dirty="0"/>
          </a:p>
        </p:txBody>
      </p:sp>
      <p:sp>
        <p:nvSpPr>
          <p:cNvPr id="9" name="Shape 7"/>
          <p:cNvSpPr/>
          <p:nvPr/>
        </p:nvSpPr>
        <p:spPr>
          <a:xfrm>
            <a:off x="822960" y="2377440"/>
            <a:ext cx="10543032" cy="0"/>
          </a:xfrm>
          <a:prstGeom prst="line">
            <a:avLst/>
          </a:prstGeom>
          <a:noFill/>
          <a:ln w="9525">
            <a:solidFill>
              <a:srgbClr val="D9D4C4"/>
            </a:solidFill>
            <a:prstDash val="solid"/>
          </a:ln>
        </p:spPr>
      </p:sp>
      <p:sp>
        <p:nvSpPr>
          <p:cNvPr id="10" name="Text 8"/>
          <p:cNvSpPr/>
          <p:nvPr/>
        </p:nvSpPr>
        <p:spPr>
          <a:xfrm>
            <a:off x="822960" y="2377440"/>
            <a:ext cx="4023360" cy="64008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Licence fee or state</a:t>
            </a:r>
            <a:endParaRPr lang="en-US" sz="1900" dirty="0"/>
          </a:p>
        </p:txBody>
      </p:sp>
      <p:sp>
        <p:nvSpPr>
          <p:cNvPr id="11" name="Text 9"/>
          <p:cNvSpPr/>
          <p:nvPr/>
        </p:nvSpPr>
        <p:spPr>
          <a:xfrm>
            <a:off x="5029200" y="2377440"/>
            <a:ext cx="6309360" cy="64008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A remit: a duty to inform, educate, reach everyone.</a:t>
            </a:r>
            <a:endParaRPr lang="en-US" sz="1650" dirty="0"/>
          </a:p>
        </p:txBody>
      </p:sp>
      <p:sp>
        <p:nvSpPr>
          <p:cNvPr id="12" name="Shape 10"/>
          <p:cNvSpPr/>
          <p:nvPr/>
        </p:nvSpPr>
        <p:spPr>
          <a:xfrm>
            <a:off x="822960" y="3017520"/>
            <a:ext cx="10543032" cy="0"/>
          </a:xfrm>
          <a:prstGeom prst="line">
            <a:avLst/>
          </a:prstGeom>
          <a:noFill/>
          <a:ln w="9525">
            <a:solidFill>
              <a:srgbClr val="D9D4C4"/>
            </a:solidFill>
            <a:prstDash val="solid"/>
          </a:ln>
        </p:spPr>
      </p:sp>
      <p:sp>
        <p:nvSpPr>
          <p:cNvPr id="13" name="Text 11"/>
          <p:cNvSpPr/>
          <p:nvPr/>
        </p:nvSpPr>
        <p:spPr>
          <a:xfrm>
            <a:off x="822960" y="3017520"/>
            <a:ext cx="4023360" cy="64008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Advertisers</a:t>
            </a:r>
            <a:endParaRPr lang="en-US" sz="1900" dirty="0"/>
          </a:p>
        </p:txBody>
      </p:sp>
      <p:sp>
        <p:nvSpPr>
          <p:cNvPr id="14" name="Text 12"/>
          <p:cNvSpPr/>
          <p:nvPr/>
        </p:nvSpPr>
        <p:spPr>
          <a:xfrm>
            <a:off x="5029200" y="3017520"/>
            <a:ext cx="6309360" cy="64008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Your attention, delivered in the right demographic.</a:t>
            </a:r>
            <a:endParaRPr lang="en-US" sz="1650" dirty="0"/>
          </a:p>
        </p:txBody>
      </p:sp>
      <p:sp>
        <p:nvSpPr>
          <p:cNvPr id="15" name="Shape 13"/>
          <p:cNvSpPr/>
          <p:nvPr/>
        </p:nvSpPr>
        <p:spPr>
          <a:xfrm>
            <a:off x="822960" y="3657600"/>
            <a:ext cx="10543032" cy="0"/>
          </a:xfrm>
          <a:prstGeom prst="line">
            <a:avLst/>
          </a:prstGeom>
          <a:noFill/>
          <a:ln w="9525">
            <a:solidFill>
              <a:srgbClr val="D9D4C4"/>
            </a:solidFill>
            <a:prstDash val="solid"/>
          </a:ln>
        </p:spPr>
      </p:sp>
      <p:sp>
        <p:nvSpPr>
          <p:cNvPr id="16" name="Text 14"/>
          <p:cNvSpPr/>
          <p:nvPr/>
        </p:nvSpPr>
        <p:spPr>
          <a:xfrm>
            <a:off x="822960" y="3657600"/>
            <a:ext cx="4023360" cy="64008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Subscribers</a:t>
            </a:r>
            <a:endParaRPr lang="en-US" sz="1900" dirty="0"/>
          </a:p>
        </p:txBody>
      </p:sp>
      <p:sp>
        <p:nvSpPr>
          <p:cNvPr id="17" name="Text 15"/>
          <p:cNvSpPr/>
          <p:nvPr/>
        </p:nvSpPr>
        <p:spPr>
          <a:xfrm>
            <a:off x="5029200" y="3657600"/>
            <a:ext cx="6309360" cy="64008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A product good enough that you keep paying for it.</a:t>
            </a:r>
            <a:endParaRPr lang="en-US" sz="1650" dirty="0"/>
          </a:p>
        </p:txBody>
      </p:sp>
      <p:sp>
        <p:nvSpPr>
          <p:cNvPr id="18" name="Shape 16"/>
          <p:cNvSpPr/>
          <p:nvPr/>
        </p:nvSpPr>
        <p:spPr>
          <a:xfrm>
            <a:off x="822960" y="4297680"/>
            <a:ext cx="10543032" cy="0"/>
          </a:xfrm>
          <a:prstGeom prst="line">
            <a:avLst/>
          </a:prstGeom>
          <a:noFill/>
          <a:ln w="9525">
            <a:solidFill>
              <a:srgbClr val="D9D4C4"/>
            </a:solidFill>
            <a:prstDash val="solid"/>
          </a:ln>
        </p:spPr>
      </p:sp>
      <p:sp>
        <p:nvSpPr>
          <p:cNvPr id="19" name="Text 17"/>
          <p:cNvSpPr/>
          <p:nvPr/>
        </p:nvSpPr>
        <p:spPr>
          <a:xfrm>
            <a:off x="822960" y="4297680"/>
            <a:ext cx="4023360" cy="64008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The state directly</a:t>
            </a:r>
            <a:endParaRPr lang="en-US" sz="1900" dirty="0"/>
          </a:p>
        </p:txBody>
      </p:sp>
      <p:sp>
        <p:nvSpPr>
          <p:cNvPr id="20" name="Text 18"/>
          <p:cNvSpPr/>
          <p:nvPr/>
        </p:nvSpPr>
        <p:spPr>
          <a:xfrm>
            <a:off x="5029200" y="4297680"/>
            <a:ext cx="6309360" cy="64008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Content that aligns with the payer's interests.</a:t>
            </a:r>
            <a:endParaRPr lang="en-US" sz="1650" dirty="0"/>
          </a:p>
        </p:txBody>
      </p:sp>
      <p:sp>
        <p:nvSpPr>
          <p:cNvPr id="21" name="Shape 19"/>
          <p:cNvSpPr/>
          <p:nvPr/>
        </p:nvSpPr>
        <p:spPr>
          <a:xfrm>
            <a:off x="822960" y="4937760"/>
            <a:ext cx="10543032" cy="0"/>
          </a:xfrm>
          <a:prstGeom prst="line">
            <a:avLst/>
          </a:prstGeom>
          <a:noFill/>
          <a:ln w="9525">
            <a:solidFill>
              <a:srgbClr val="D9D4C4"/>
            </a:solidFill>
            <a:prstDash val="solid"/>
          </a:ln>
        </p:spPr>
      </p:sp>
      <p:sp>
        <p:nvSpPr>
          <p:cNvPr id="22" name="Text 20"/>
          <p:cNvSpPr/>
          <p:nvPr/>
        </p:nvSpPr>
        <p:spPr>
          <a:xfrm>
            <a:off x="822960" y="5074920"/>
            <a:ext cx="10543032" cy="365760"/>
          </a:xfrm>
          <a:prstGeom prst="rect">
            <a:avLst/>
          </a:prstGeom>
          <a:noFill/>
          <a:ln/>
        </p:spPr>
        <p:txBody>
          <a:bodyPr wrap="square" lIns="0" tIns="0" rIns="0" bIns="0" rtlCol="0" anchor="ctr"/>
          <a:lstStyle/>
          <a:p>
            <a:pPr indent="0" marL="0">
              <a:buNone/>
            </a:pPr>
            <a:r>
              <a:rPr lang="en-US" sz="1200" i="1" dirty="0">
                <a:solidFill>
                  <a:srgbClr val="7A7F72"/>
                </a:solidFill>
                <a:latin typeface="Arial" pitchFamily="34" charset="0"/>
                <a:ea typeface="Arial" pitchFamily="34" charset="-122"/>
                <a:cs typeface="Arial" pitchFamily="34" charset="-120"/>
              </a:rPr>
              <a:t>Curran and Seaton: ownership concentration narrows the range of stories that get told.</a:t>
            </a:r>
            <a:endParaRPr lang="en-US" sz="1200" dirty="0"/>
          </a:p>
        </p:txBody>
      </p:sp>
      <p:sp>
        <p:nvSpPr>
          <p:cNvPr id="23" name="Shape 21"/>
          <p:cNvSpPr/>
          <p:nvPr/>
        </p:nvSpPr>
        <p:spPr>
          <a:xfrm>
            <a:off x="822960" y="6382512"/>
            <a:ext cx="10543032" cy="0"/>
          </a:xfrm>
          <a:prstGeom prst="line">
            <a:avLst/>
          </a:prstGeom>
          <a:noFill/>
          <a:ln w="9525">
            <a:solidFill>
              <a:srgbClr val="D9D4C4"/>
            </a:solidFill>
            <a:prstDash val="solid"/>
          </a:ln>
        </p:spPr>
      </p:sp>
      <p:sp>
        <p:nvSpPr>
          <p:cNvPr id="24" name="Text 22"/>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5" name="Text 23"/>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2011680"/>
            <a:ext cx="10424160" cy="3291840"/>
          </a:xfrm>
          <a:prstGeom prst="rect">
            <a:avLst/>
          </a:prstGeom>
          <a:noFill/>
          <a:ln/>
        </p:spPr>
        <p:txBody>
          <a:bodyPr wrap="square" lIns="0" tIns="0" rIns="0" bIns="0" rtlCol="0" anchor="ctr"/>
          <a:lstStyle/>
          <a:p>
            <a:pPr indent="0" marL="0">
              <a:lnSpc>
                <a:spcPts val="5200"/>
              </a:lnSpc>
              <a:buNone/>
            </a:pPr>
            <a:r>
              <a:rPr lang="en-US" sz="4400" dirty="0">
                <a:solidFill>
                  <a:srgbClr val="24313F"/>
                </a:solidFill>
                <a:latin typeface="Georgia" pitchFamily="34" charset="0"/>
                <a:ea typeface="Georgia" pitchFamily="34" charset="-122"/>
                <a:cs typeface="Georgia" pitchFamily="34" charset="-120"/>
              </a:rPr>
              <a:t>Freedom of the press is guaranteed only to those who own one.</a:t>
            </a:r>
            <a:endParaRPr lang="en-US" sz="44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A. J. Liebling, The New Yorker, 1960</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TRACE ONE VISIBLE DECISION</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BACK TO WHO PAYS FOR IT</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The chain</a:t>
            </a:r>
            <a:endParaRPr lang="en-US" sz="3200" dirty="0"/>
          </a:p>
        </p:txBody>
      </p:sp>
      <p:sp>
        <p:nvSpPr>
          <p:cNvPr id="6" name="Shape 4"/>
          <p:cNvSpPr/>
          <p:nvPr/>
        </p:nvSpPr>
        <p:spPr>
          <a:xfrm>
            <a:off x="822960" y="2194560"/>
            <a:ext cx="3200400" cy="2103120"/>
          </a:xfrm>
          <a:prstGeom prst="rect">
            <a:avLst/>
          </a:prstGeom>
          <a:solidFill>
            <a:srgbClr val="FAF8F1"/>
          </a:solidFill>
          <a:ln w="12700">
            <a:solidFill>
              <a:srgbClr val="8AA394"/>
            </a:solidFill>
            <a:prstDash val="solid"/>
          </a:ln>
        </p:spPr>
      </p:sp>
      <p:sp>
        <p:nvSpPr>
          <p:cNvPr id="7" name="Text 5"/>
          <p:cNvSpPr/>
          <p:nvPr/>
        </p:nvSpPr>
        <p:spPr>
          <a:xfrm>
            <a:off x="1051560" y="2423160"/>
            <a:ext cx="2743200"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The decision</a:t>
            </a:r>
            <a:endParaRPr lang="en-US" sz="2100" dirty="0"/>
          </a:p>
        </p:txBody>
      </p:sp>
      <p:sp>
        <p:nvSpPr>
          <p:cNvPr id="8" name="Shape 6"/>
          <p:cNvSpPr/>
          <p:nvPr/>
        </p:nvSpPr>
        <p:spPr>
          <a:xfrm>
            <a:off x="1051560" y="2971800"/>
            <a:ext cx="822960" cy="0"/>
          </a:xfrm>
          <a:prstGeom prst="line">
            <a:avLst/>
          </a:prstGeom>
          <a:noFill/>
          <a:ln w="25400">
            <a:solidFill>
              <a:srgbClr val="8C3A38"/>
            </a:solidFill>
            <a:prstDash val="solid"/>
          </a:ln>
        </p:spPr>
      </p:sp>
      <p:sp>
        <p:nvSpPr>
          <p:cNvPr id="9" name="Text 7"/>
          <p:cNvSpPr/>
          <p:nvPr/>
        </p:nvSpPr>
        <p:spPr>
          <a:xfrm>
            <a:off x="1051560" y="3108960"/>
            <a:ext cx="2743200" cy="1097280"/>
          </a:xfrm>
          <a:prstGeom prst="rect">
            <a:avLst/>
          </a:prstGeom>
          <a:noFill/>
          <a:ln/>
        </p:spPr>
        <p:txBody>
          <a:bodyPr wrap="square" lIns="0" tIns="0" rIns="0" bIns="0" rtlCol="0" anchor="t"/>
          <a:lstStyle/>
          <a:p>
            <a:pPr indent="0" marL="0">
              <a:lnSpc>
                <a:spcPts val="1900"/>
              </a:lnSpc>
              <a:buNone/>
            </a:pPr>
            <a:r>
              <a:rPr lang="en-US" sz="1400" dirty="0">
                <a:solidFill>
                  <a:srgbClr val="24313F"/>
                </a:solidFill>
                <a:latin typeface="Georgia" pitchFamily="34" charset="0"/>
                <a:ea typeface="Georgia" pitchFamily="34" charset="-122"/>
                <a:cs typeface="Georgia" pitchFamily="34" charset="-120"/>
              </a:rPr>
              <a:t>the ad break, the family-friendly cut, the product in shot, the story not covered</a:t>
            </a:r>
            <a:endParaRPr lang="en-US" sz="1400" dirty="0"/>
          </a:p>
        </p:txBody>
      </p:sp>
      <p:sp>
        <p:nvSpPr>
          <p:cNvPr id="10" name="Shape 8"/>
          <p:cNvSpPr/>
          <p:nvPr/>
        </p:nvSpPr>
        <p:spPr>
          <a:xfrm>
            <a:off x="4494276" y="2194560"/>
            <a:ext cx="3200400" cy="2103120"/>
          </a:xfrm>
          <a:prstGeom prst="rect">
            <a:avLst/>
          </a:prstGeom>
          <a:solidFill>
            <a:srgbClr val="FAF8F1"/>
          </a:solidFill>
          <a:ln w="12700">
            <a:solidFill>
              <a:srgbClr val="8AA394"/>
            </a:solidFill>
            <a:prstDash val="solid"/>
          </a:ln>
        </p:spPr>
      </p:sp>
      <p:sp>
        <p:nvSpPr>
          <p:cNvPr id="11" name="Text 9"/>
          <p:cNvSpPr/>
          <p:nvPr/>
        </p:nvSpPr>
        <p:spPr>
          <a:xfrm>
            <a:off x="4722876" y="2423160"/>
            <a:ext cx="2743200"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The incentive</a:t>
            </a:r>
            <a:endParaRPr lang="en-US" sz="2100" dirty="0"/>
          </a:p>
        </p:txBody>
      </p:sp>
      <p:sp>
        <p:nvSpPr>
          <p:cNvPr id="12" name="Shape 10"/>
          <p:cNvSpPr/>
          <p:nvPr/>
        </p:nvSpPr>
        <p:spPr>
          <a:xfrm>
            <a:off x="4722876" y="2971800"/>
            <a:ext cx="822960" cy="0"/>
          </a:xfrm>
          <a:prstGeom prst="line">
            <a:avLst/>
          </a:prstGeom>
          <a:noFill/>
          <a:ln w="25400">
            <a:solidFill>
              <a:srgbClr val="8C3A38"/>
            </a:solidFill>
            <a:prstDash val="solid"/>
          </a:ln>
        </p:spPr>
      </p:sp>
      <p:sp>
        <p:nvSpPr>
          <p:cNvPr id="13" name="Text 11"/>
          <p:cNvSpPr/>
          <p:nvPr/>
        </p:nvSpPr>
        <p:spPr>
          <a:xfrm>
            <a:off x="4722876" y="3108960"/>
            <a:ext cx="2743200" cy="1097280"/>
          </a:xfrm>
          <a:prstGeom prst="rect">
            <a:avLst/>
          </a:prstGeom>
          <a:noFill/>
          <a:ln/>
        </p:spPr>
        <p:txBody>
          <a:bodyPr wrap="square" lIns="0" tIns="0" rIns="0" bIns="0" rtlCol="0" anchor="t"/>
          <a:lstStyle/>
          <a:p>
            <a:pPr indent="0" marL="0">
              <a:lnSpc>
                <a:spcPts val="1900"/>
              </a:lnSpc>
              <a:buNone/>
            </a:pPr>
            <a:r>
              <a:rPr lang="en-US" sz="1400" dirty="0">
                <a:solidFill>
                  <a:srgbClr val="24313F"/>
                </a:solidFill>
                <a:latin typeface="Georgia" pitchFamily="34" charset="0"/>
                <a:ea typeface="Georgia" pitchFamily="34" charset="-122"/>
                <a:cs typeface="Georgia" pitchFamily="34" charset="-120"/>
              </a:rPr>
              <a:t>what that choice protects or earns for the maker</a:t>
            </a:r>
            <a:endParaRPr lang="en-US" sz="1400" dirty="0"/>
          </a:p>
        </p:txBody>
      </p:sp>
      <p:sp>
        <p:nvSpPr>
          <p:cNvPr id="14" name="Text 12"/>
          <p:cNvSpPr/>
          <p:nvPr/>
        </p:nvSpPr>
        <p:spPr>
          <a:xfrm>
            <a:off x="4023360" y="2926080"/>
            <a:ext cx="470916" cy="640080"/>
          </a:xfrm>
          <a:prstGeom prst="rect">
            <a:avLst/>
          </a:prstGeom>
          <a:noFill/>
          <a:ln/>
        </p:spPr>
        <p:txBody>
          <a:bodyPr wrap="square" lIns="0" tIns="0" rIns="0" bIns="0" rtlCol="0" anchor="ctr"/>
          <a:lstStyle/>
          <a:p>
            <a:pPr algn="ctr" indent="0" marL="0">
              <a:buNone/>
            </a:pPr>
            <a:r>
              <a:rPr lang="en-US" sz="3400" dirty="0">
                <a:solidFill>
                  <a:srgbClr val="A3C1AD"/>
                </a:solidFill>
                <a:latin typeface="Georgia" pitchFamily="34" charset="0"/>
                <a:ea typeface="Georgia" pitchFamily="34" charset="-122"/>
                <a:cs typeface="Georgia" pitchFamily="34" charset="-120"/>
              </a:rPr>
              <a:t>←</a:t>
            </a:r>
            <a:endParaRPr lang="en-US" sz="3400" dirty="0"/>
          </a:p>
        </p:txBody>
      </p:sp>
      <p:sp>
        <p:nvSpPr>
          <p:cNvPr id="15" name="Shape 13"/>
          <p:cNvSpPr/>
          <p:nvPr/>
        </p:nvSpPr>
        <p:spPr>
          <a:xfrm>
            <a:off x="8165592" y="2194560"/>
            <a:ext cx="3200400" cy="2103120"/>
          </a:xfrm>
          <a:prstGeom prst="rect">
            <a:avLst/>
          </a:prstGeom>
          <a:solidFill>
            <a:srgbClr val="E8EFE7"/>
          </a:solidFill>
          <a:ln w="12700">
            <a:solidFill>
              <a:srgbClr val="8AA394"/>
            </a:solidFill>
            <a:prstDash val="solid"/>
          </a:ln>
        </p:spPr>
      </p:sp>
      <p:sp>
        <p:nvSpPr>
          <p:cNvPr id="16" name="Text 14"/>
          <p:cNvSpPr/>
          <p:nvPr/>
        </p:nvSpPr>
        <p:spPr>
          <a:xfrm>
            <a:off x="8394192" y="2423160"/>
            <a:ext cx="2743200"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Who pays</a:t>
            </a:r>
            <a:endParaRPr lang="en-US" sz="2100" dirty="0"/>
          </a:p>
        </p:txBody>
      </p:sp>
      <p:sp>
        <p:nvSpPr>
          <p:cNvPr id="17" name="Shape 15"/>
          <p:cNvSpPr/>
          <p:nvPr/>
        </p:nvSpPr>
        <p:spPr>
          <a:xfrm>
            <a:off x="8394192" y="2971800"/>
            <a:ext cx="822960" cy="0"/>
          </a:xfrm>
          <a:prstGeom prst="line">
            <a:avLst/>
          </a:prstGeom>
          <a:noFill/>
          <a:ln w="25400">
            <a:solidFill>
              <a:srgbClr val="8C3A38"/>
            </a:solidFill>
            <a:prstDash val="solid"/>
          </a:ln>
        </p:spPr>
      </p:sp>
      <p:sp>
        <p:nvSpPr>
          <p:cNvPr id="18" name="Text 16"/>
          <p:cNvSpPr/>
          <p:nvPr/>
        </p:nvSpPr>
        <p:spPr>
          <a:xfrm>
            <a:off x="8394192" y="3108960"/>
            <a:ext cx="2743200" cy="1097280"/>
          </a:xfrm>
          <a:prstGeom prst="rect">
            <a:avLst/>
          </a:prstGeom>
          <a:noFill/>
          <a:ln/>
        </p:spPr>
        <p:txBody>
          <a:bodyPr wrap="square" lIns="0" tIns="0" rIns="0" bIns="0" rtlCol="0" anchor="t"/>
          <a:lstStyle/>
          <a:p>
            <a:pPr indent="0" marL="0">
              <a:lnSpc>
                <a:spcPts val="1900"/>
              </a:lnSpc>
              <a:buNone/>
            </a:pPr>
            <a:r>
              <a:rPr lang="en-US" sz="1400" dirty="0">
                <a:solidFill>
                  <a:srgbClr val="24313F"/>
                </a:solidFill>
                <a:latin typeface="Georgia" pitchFamily="34" charset="0"/>
                <a:ea typeface="Georgia" pitchFamily="34" charset="-122"/>
                <a:cs typeface="Georgia" pitchFamily="34" charset="-120"/>
              </a:rPr>
              <a:t>the advertiser, the subscriber, the state, the platform</a:t>
            </a:r>
            <a:endParaRPr lang="en-US" sz="1400" dirty="0"/>
          </a:p>
        </p:txBody>
      </p:sp>
      <p:sp>
        <p:nvSpPr>
          <p:cNvPr id="19" name="Text 17"/>
          <p:cNvSpPr/>
          <p:nvPr/>
        </p:nvSpPr>
        <p:spPr>
          <a:xfrm>
            <a:off x="7694676" y="2926080"/>
            <a:ext cx="470916" cy="640080"/>
          </a:xfrm>
          <a:prstGeom prst="rect">
            <a:avLst/>
          </a:prstGeom>
          <a:noFill/>
          <a:ln/>
        </p:spPr>
        <p:txBody>
          <a:bodyPr wrap="square" lIns="0" tIns="0" rIns="0" bIns="0" rtlCol="0" anchor="ctr"/>
          <a:lstStyle/>
          <a:p>
            <a:pPr algn="ctr" indent="0" marL="0">
              <a:buNone/>
            </a:pPr>
            <a:r>
              <a:rPr lang="en-US" sz="3400" dirty="0">
                <a:solidFill>
                  <a:srgbClr val="A3C1AD"/>
                </a:solidFill>
                <a:latin typeface="Georgia" pitchFamily="34" charset="0"/>
                <a:ea typeface="Georgia" pitchFamily="34" charset="-122"/>
                <a:cs typeface="Georgia" pitchFamily="34" charset="-120"/>
              </a:rPr>
              <a:t>←</a:t>
            </a:r>
            <a:endParaRPr lang="en-US" sz="3400" dirty="0"/>
          </a:p>
        </p:txBody>
      </p:sp>
      <p:sp>
        <p:nvSpPr>
          <p:cNvPr id="20" name="Text 18"/>
          <p:cNvSpPr/>
          <p:nvPr/>
        </p:nvSpPr>
        <p:spPr>
          <a:xfrm>
            <a:off x="822960" y="4892040"/>
            <a:ext cx="10543032" cy="45720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Read it right to left: every decision on screen traces back to who pays. The China hour runs the same chain on CCTV, Tencent, and bilibili's model.</a:t>
            </a:r>
            <a:endParaRPr lang="en-US" sz="1250" dirty="0"/>
          </a:p>
        </p:txBody>
      </p:sp>
      <p:sp>
        <p:nvSpPr>
          <p:cNvPr id="21" name="Shape 19"/>
          <p:cNvSpPr/>
          <p:nvPr/>
        </p:nvSpPr>
        <p:spPr>
          <a:xfrm>
            <a:off x="822960" y="6382512"/>
            <a:ext cx="10543032" cy="0"/>
          </a:xfrm>
          <a:prstGeom prst="line">
            <a:avLst/>
          </a:prstGeom>
          <a:noFill/>
          <a:ln w="9525">
            <a:solidFill>
              <a:srgbClr val="D9D4C4"/>
            </a:solidFill>
            <a:prstDash val="solid"/>
          </a:ln>
        </p:spPr>
      </p:sp>
      <p:sp>
        <p:nvSpPr>
          <p:cNvPr id="22" name="Text 2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3" name="Text 2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pic>
        <p:nvPicPr>
          <p:cNvPr id="2" name="Image 0" descr="/private/tmp/claude-501/-Users-dogan-Documents-Vaults-Courses/a3a5132d-721f-4cd4-8ddd-e62e2b37b51b/scratchpad/img/crops/underwood-fifth-ave_a664.jpg">    </p:cNvPr>
          <p:cNvPicPr>
            <a:picLocks noChangeAspect="1"/>
          </p:cNvPicPr>
          <p:nvPr/>
        </p:nvPicPr>
        <p:blipFill>
          <a:blip r:embed="rId1"/>
          <a:stretch>
            <a:fillRect/>
          </a:stretch>
        </p:blipFill>
        <p:spPr>
          <a:xfrm>
            <a:off x="7635240" y="0"/>
            <a:ext cx="4553712" cy="6858000"/>
          </a:xfrm>
          <a:prstGeom prst="rect">
            <a:avLst/>
          </a:prstGeom>
        </p:spPr>
      </p:pic>
      <p:sp>
        <p:nvSpPr>
          <p:cNvPr id="3" name="Text 0"/>
          <p:cNvSpPr/>
          <p:nvPr/>
        </p:nvSpPr>
        <p:spPr>
          <a:xfrm>
            <a:off x="7818120" y="6126480"/>
            <a:ext cx="418795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Underwood &amp; Underwood, Above Fifth Avenue, Looking North</a:t>
            </a:r>
            <a:endParaRPr lang="en-US" sz="950" dirty="0"/>
          </a:p>
        </p:txBody>
      </p:sp>
      <p:sp>
        <p:nvSpPr>
          <p:cNvPr id="4" name="Text 1"/>
          <p:cNvSpPr/>
          <p:nvPr/>
        </p:nvSpPr>
        <p:spPr>
          <a:xfrm>
            <a:off x="822960" y="685800"/>
            <a:ext cx="54864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VIEW FROM ABOVE</a:t>
            </a:r>
            <a:endParaRPr lang="en-US" sz="1100" dirty="0"/>
          </a:p>
        </p:txBody>
      </p:sp>
      <p:sp>
        <p:nvSpPr>
          <p:cNvPr id="5" name="Shape 2"/>
          <p:cNvSpPr/>
          <p:nvPr/>
        </p:nvSpPr>
        <p:spPr>
          <a:xfrm>
            <a:off x="822960" y="1051560"/>
            <a:ext cx="6492240" cy="0"/>
          </a:xfrm>
          <a:prstGeom prst="line">
            <a:avLst/>
          </a:prstGeom>
          <a:noFill/>
          <a:ln w="9525">
            <a:solidFill>
              <a:srgbClr val="D9D4C4"/>
            </a:solidFill>
            <a:prstDash val="solid"/>
          </a:ln>
        </p:spPr>
      </p:sp>
      <p:sp>
        <p:nvSpPr>
          <p:cNvPr id="6" name="Text 3"/>
          <p:cNvSpPr/>
          <p:nvPr/>
        </p:nvSpPr>
        <p:spPr>
          <a:xfrm>
            <a:off x="822960" y="1234440"/>
            <a:ext cx="6492240" cy="1371600"/>
          </a:xfrm>
          <a:prstGeom prst="rect">
            <a:avLst/>
          </a:prstGeom>
          <a:noFill/>
          <a:ln/>
        </p:spPr>
        <p:txBody>
          <a:bodyPr wrap="square" lIns="0" tIns="0" rIns="0" bIns="0" rtlCol="0" anchor="t"/>
          <a:lstStyle/>
          <a:p>
            <a:pPr indent="0" marL="0">
              <a:lnSpc>
                <a:spcPts val="4200"/>
              </a:lnSpc>
              <a:buNone/>
            </a:pPr>
            <a:r>
              <a:rPr lang="en-US" sz="4000" dirty="0">
                <a:solidFill>
                  <a:srgbClr val="24313F"/>
                </a:solidFill>
                <a:latin typeface="Georgia" pitchFamily="34" charset="0"/>
                <a:ea typeface="Georgia" pitchFamily="34" charset="-122"/>
                <a:cs typeface="Georgia" pitchFamily="34" charset="-120"/>
              </a:rPr>
              <a:t>Who owns the</a:t>
            </a:r>
            <a:endParaRPr lang="en-US" sz="4000" dirty="0"/>
          </a:p>
          <a:p>
            <a:pPr indent="0" marL="0">
              <a:lnSpc>
                <a:spcPts val="4200"/>
              </a:lnSpc>
              <a:buNone/>
            </a:pPr>
            <a:r>
              <a:rPr lang="en-US" sz="4000" dirty="0">
                <a:solidFill>
                  <a:srgbClr val="24313F"/>
                </a:solidFill>
                <a:latin typeface="Georgia" pitchFamily="34" charset="0"/>
                <a:ea typeface="Georgia" pitchFamily="34" charset="-122"/>
                <a:cs typeface="Georgia" pitchFamily="34" charset="-120"/>
              </a:rPr>
              <a:t>vantage point</a:t>
            </a:r>
            <a:endParaRPr lang="en-US" sz="4000" dirty="0"/>
          </a:p>
        </p:txBody>
      </p:sp>
      <p:sp>
        <p:nvSpPr>
          <p:cNvPr id="7" name="Text 4"/>
          <p:cNvSpPr/>
          <p:nvPr/>
        </p:nvSpPr>
        <p:spPr>
          <a:xfrm>
            <a:off x="822960" y="2743200"/>
            <a:ext cx="6583680" cy="2743200"/>
          </a:xfrm>
          <a:prstGeom prst="rect">
            <a:avLst/>
          </a:prstGeom>
          <a:noFill/>
          <a:ln/>
        </p:spPr>
        <p:txBody>
          <a:bodyPr wrap="square" lIns="0" tIns="0" rIns="0" bIns="0" rtlCol="0" anchor="t"/>
          <a:lstStyle/>
          <a:p>
            <a:pPr indent="0" marL="0">
              <a:lnSpc>
                <a:spcPts val="2500"/>
              </a:lnSpc>
              <a:buNone/>
            </a:pPr>
            <a:r>
              <a:rPr lang="en-US" sz="1750" dirty="0">
                <a:solidFill>
                  <a:srgbClr val="24313F"/>
                </a:solidFill>
                <a:latin typeface="Georgia" pitchFamily="34" charset="0"/>
                <a:ea typeface="Georgia" pitchFamily="34" charset="-122"/>
                <a:cs typeface="Georgia" pitchFamily="34" charset="-120"/>
              </a:rPr>
              <a:t>The camera operator on the parapet chooses the frame the city is seen through. Institutions own the vantage point: the platform, the schedule, the budget, the greenlight. What reaches you was chosen by someone standing where you cannot.</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CS8 · SECTION A, DEMYSTIFIED</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MARK SCHEME AS FURNITURE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600" dirty="0">
                <a:solidFill>
                  <a:srgbClr val="24313F"/>
                </a:solidFill>
                <a:latin typeface="Georgia" pitchFamily="34" charset="0"/>
                <a:ea typeface="Georgia" pitchFamily="34" charset="-122"/>
                <a:cs typeface="Georgia" pitchFamily="34" charset="-120"/>
              </a:rPr>
              <a:t>Write it with the answers open</a:t>
            </a:r>
            <a:endParaRPr lang="en-US" sz="3600" dirty="0"/>
          </a:p>
        </p:txBody>
      </p:sp>
      <p:sp>
        <p:nvSpPr>
          <p:cNvPr id="6" name="Shape 4"/>
          <p:cNvSpPr/>
          <p:nvPr/>
        </p:nvSpPr>
        <p:spPr>
          <a:xfrm>
            <a:off x="822960" y="2514600"/>
            <a:ext cx="914400" cy="0"/>
          </a:xfrm>
          <a:prstGeom prst="line">
            <a:avLst/>
          </a:prstGeom>
          <a:noFill/>
          <a:ln w="31750">
            <a:solidFill>
              <a:srgbClr val="8C3A38"/>
            </a:solidFill>
            <a:prstDash val="solid"/>
          </a:ln>
        </p:spPr>
      </p:sp>
      <p:sp>
        <p:nvSpPr>
          <p:cNvPr id="7" name="Text 5"/>
          <p:cNvSpPr/>
          <p:nvPr/>
        </p:nvSpPr>
        <p:spPr>
          <a:xfrm>
            <a:off x="822960" y="2743200"/>
            <a:ext cx="9875520" cy="2194560"/>
          </a:xfrm>
          <a:prstGeom prst="rect">
            <a:avLst/>
          </a:prstGeom>
          <a:noFill/>
          <a:ln/>
        </p:spPr>
        <p:txBody>
          <a:bodyPr wrap="square" lIns="0" tIns="0" rIns="0" bIns="0" rtlCol="0" anchor="t"/>
          <a:lstStyle/>
          <a:p>
            <a:pPr indent="0" marL="0">
              <a:lnSpc>
                <a:spcPts val="2700"/>
              </a:lnSpc>
              <a:buNone/>
            </a:pPr>
            <a:r>
              <a:rPr lang="en-US" sz="1900" dirty="0">
                <a:solidFill>
                  <a:srgbClr val="24313F"/>
                </a:solidFill>
                <a:latin typeface="Georgia" pitchFamily="34" charset="0"/>
                <a:ea typeface="Georgia" pitchFamily="34" charset="-122"/>
                <a:cs typeface="Georgia" pitchFamily="34" charset="-120"/>
              </a:rPr>
              <a:t>The official five-criteria rubric sits on every desk, consultable. Paragraphs are drafted solo, but any student may stop, check the band language, and annotate their own margin: this sentence is my terminology evidence. The mark scheme stops being an enemy the moment it becomes furniture. In review, each student labels which criterion each paragraph earned, and finds the one they never fed.</a:t>
            </a:r>
            <a:endParaRPr lang="en-US" sz="1900" dirty="0"/>
          </a:p>
        </p:txBody>
      </p:sp>
      <p:sp>
        <p:nvSpPr>
          <p:cNvPr id="8" name="Shape 6"/>
          <p:cNvSpPr/>
          <p:nvPr/>
        </p:nvSpPr>
        <p:spPr>
          <a:xfrm>
            <a:off x="822960" y="6382512"/>
            <a:ext cx="10543032" cy="0"/>
          </a:xfrm>
          <a:prstGeom prst="line">
            <a:avLst/>
          </a:prstGeom>
          <a:noFill/>
          <a:ln w="9525">
            <a:solidFill>
              <a:srgbClr val="D9D4C4"/>
            </a:solidFill>
            <a:prstDash val="solid"/>
          </a:ln>
        </p:spPr>
      </p:sp>
      <p:sp>
        <p:nvSpPr>
          <p:cNvPr id="9" name="Text 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0" name="Text 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CASE-STUDY DOCUMENT</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STILL IN USE IN MAY</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One institution, tracked to Paper 2</a:t>
            </a:r>
            <a:endParaRPr lang="en-US" sz="3000" dirty="0"/>
          </a:p>
        </p:txBody>
      </p:sp>
      <p:sp>
        <p:nvSpPr>
          <p:cNvPr id="6" name="Text 4"/>
          <p:cNvSpPr/>
          <p:nvPr/>
        </p:nvSpPr>
        <p:spPr>
          <a:xfrm>
            <a:off x="822960" y="1783080"/>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01</a:t>
            </a:r>
            <a:endParaRPr lang="en-US" sz="1700" dirty="0"/>
          </a:p>
        </p:txBody>
      </p:sp>
      <p:sp>
        <p:nvSpPr>
          <p:cNvPr id="7" name="Text 5"/>
          <p:cNvSpPr/>
          <p:nvPr/>
        </p:nvSpPr>
        <p:spPr>
          <a:xfrm>
            <a:off x="1463040" y="1783080"/>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Identity and ownership</a:t>
            </a:r>
            <a:endParaRPr lang="en-US" sz="1650" dirty="0"/>
          </a:p>
        </p:txBody>
      </p:sp>
      <p:sp>
        <p:nvSpPr>
          <p:cNvPr id="8" name="Shape 6"/>
          <p:cNvSpPr/>
          <p:nvPr/>
        </p:nvSpPr>
        <p:spPr>
          <a:xfrm>
            <a:off x="822960" y="2313432"/>
            <a:ext cx="5029200" cy="0"/>
          </a:xfrm>
          <a:prstGeom prst="line">
            <a:avLst/>
          </a:prstGeom>
          <a:noFill/>
          <a:ln w="9525">
            <a:solidFill>
              <a:srgbClr val="D9D4C4"/>
            </a:solidFill>
            <a:prstDash val="solid"/>
          </a:ln>
        </p:spPr>
      </p:sp>
      <p:sp>
        <p:nvSpPr>
          <p:cNvPr id="9" name="Text 7"/>
          <p:cNvSpPr/>
          <p:nvPr/>
        </p:nvSpPr>
        <p:spPr>
          <a:xfrm>
            <a:off x="822960" y="2441448"/>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02</a:t>
            </a:r>
            <a:endParaRPr lang="en-US" sz="1700" dirty="0"/>
          </a:p>
        </p:txBody>
      </p:sp>
      <p:sp>
        <p:nvSpPr>
          <p:cNvPr id="10" name="Text 8"/>
          <p:cNvSpPr/>
          <p:nvPr/>
        </p:nvSpPr>
        <p:spPr>
          <a:xfrm>
            <a:off x="1463040" y="2441448"/>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Production patterns</a:t>
            </a:r>
            <a:endParaRPr lang="en-US" sz="1650" dirty="0"/>
          </a:p>
        </p:txBody>
      </p:sp>
      <p:sp>
        <p:nvSpPr>
          <p:cNvPr id="11" name="Shape 9"/>
          <p:cNvSpPr/>
          <p:nvPr/>
        </p:nvSpPr>
        <p:spPr>
          <a:xfrm>
            <a:off x="822960" y="2971800"/>
            <a:ext cx="5029200" cy="0"/>
          </a:xfrm>
          <a:prstGeom prst="line">
            <a:avLst/>
          </a:prstGeom>
          <a:noFill/>
          <a:ln w="9525">
            <a:solidFill>
              <a:srgbClr val="D9D4C4"/>
            </a:solidFill>
            <a:prstDash val="solid"/>
          </a:ln>
        </p:spPr>
      </p:sp>
      <p:sp>
        <p:nvSpPr>
          <p:cNvPr id="12" name="Text 10"/>
          <p:cNvSpPr/>
          <p:nvPr/>
        </p:nvSpPr>
        <p:spPr>
          <a:xfrm>
            <a:off x="822960" y="3099816"/>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03</a:t>
            </a:r>
            <a:endParaRPr lang="en-US" sz="1700" dirty="0"/>
          </a:p>
        </p:txBody>
      </p:sp>
      <p:sp>
        <p:nvSpPr>
          <p:cNvPr id="13" name="Text 11"/>
          <p:cNvSpPr/>
          <p:nvPr/>
        </p:nvSpPr>
        <p:spPr>
          <a:xfrm>
            <a:off x="1463040" y="3099816"/>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Distribution and marketing</a:t>
            </a:r>
            <a:endParaRPr lang="en-US" sz="1650" dirty="0"/>
          </a:p>
        </p:txBody>
      </p:sp>
      <p:sp>
        <p:nvSpPr>
          <p:cNvPr id="14" name="Shape 12"/>
          <p:cNvSpPr/>
          <p:nvPr/>
        </p:nvSpPr>
        <p:spPr>
          <a:xfrm>
            <a:off x="822960" y="3630168"/>
            <a:ext cx="5029200" cy="0"/>
          </a:xfrm>
          <a:prstGeom prst="line">
            <a:avLst/>
          </a:prstGeom>
          <a:noFill/>
          <a:ln w="9525">
            <a:solidFill>
              <a:srgbClr val="D9D4C4"/>
            </a:solidFill>
            <a:prstDash val="solid"/>
          </a:ln>
        </p:spPr>
      </p:sp>
      <p:sp>
        <p:nvSpPr>
          <p:cNvPr id="15" name="Text 13"/>
          <p:cNvSpPr/>
          <p:nvPr/>
        </p:nvSpPr>
        <p:spPr>
          <a:xfrm>
            <a:off x="822960" y="3758184"/>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04</a:t>
            </a:r>
            <a:endParaRPr lang="en-US" sz="1700" dirty="0"/>
          </a:p>
        </p:txBody>
      </p:sp>
      <p:sp>
        <p:nvSpPr>
          <p:cNvPr id="16" name="Text 14"/>
          <p:cNvSpPr/>
          <p:nvPr/>
        </p:nvSpPr>
        <p:spPr>
          <a:xfrm>
            <a:off x="1463040" y="3758184"/>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Audience and consumption</a:t>
            </a:r>
            <a:endParaRPr lang="en-US" sz="1650" dirty="0"/>
          </a:p>
        </p:txBody>
      </p:sp>
      <p:sp>
        <p:nvSpPr>
          <p:cNvPr id="17" name="Shape 15"/>
          <p:cNvSpPr/>
          <p:nvPr/>
        </p:nvSpPr>
        <p:spPr>
          <a:xfrm>
            <a:off x="822960" y="4288536"/>
            <a:ext cx="5029200" cy="0"/>
          </a:xfrm>
          <a:prstGeom prst="line">
            <a:avLst/>
          </a:prstGeom>
          <a:noFill/>
          <a:ln w="9525">
            <a:solidFill>
              <a:srgbClr val="D9D4C4"/>
            </a:solidFill>
            <a:prstDash val="solid"/>
          </a:ln>
        </p:spPr>
      </p:sp>
      <p:sp>
        <p:nvSpPr>
          <p:cNvPr id="18" name="Text 16"/>
          <p:cNvSpPr/>
          <p:nvPr/>
        </p:nvSpPr>
        <p:spPr>
          <a:xfrm>
            <a:off x="6217920" y="1783080"/>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05</a:t>
            </a:r>
            <a:endParaRPr lang="en-US" sz="1700" dirty="0"/>
          </a:p>
        </p:txBody>
      </p:sp>
      <p:sp>
        <p:nvSpPr>
          <p:cNvPr id="19" name="Text 17"/>
          <p:cNvSpPr/>
          <p:nvPr/>
        </p:nvSpPr>
        <p:spPr>
          <a:xfrm>
            <a:off x="6858000" y="1783080"/>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Regulation</a:t>
            </a:r>
            <a:endParaRPr lang="en-US" sz="1650" dirty="0"/>
          </a:p>
        </p:txBody>
      </p:sp>
      <p:sp>
        <p:nvSpPr>
          <p:cNvPr id="20" name="Shape 18"/>
          <p:cNvSpPr/>
          <p:nvPr/>
        </p:nvSpPr>
        <p:spPr>
          <a:xfrm>
            <a:off x="6217920" y="2313432"/>
            <a:ext cx="5029200" cy="0"/>
          </a:xfrm>
          <a:prstGeom prst="line">
            <a:avLst/>
          </a:prstGeom>
          <a:noFill/>
          <a:ln w="9525">
            <a:solidFill>
              <a:srgbClr val="D9D4C4"/>
            </a:solidFill>
            <a:prstDash val="solid"/>
          </a:ln>
        </p:spPr>
      </p:sp>
      <p:sp>
        <p:nvSpPr>
          <p:cNvPr id="21" name="Text 19"/>
          <p:cNvSpPr/>
          <p:nvPr/>
        </p:nvSpPr>
        <p:spPr>
          <a:xfrm>
            <a:off x="6217920" y="2441448"/>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06</a:t>
            </a:r>
            <a:endParaRPr lang="en-US" sz="1700" dirty="0"/>
          </a:p>
        </p:txBody>
      </p:sp>
      <p:sp>
        <p:nvSpPr>
          <p:cNvPr id="22" name="Text 20"/>
          <p:cNvSpPr/>
          <p:nvPr/>
        </p:nvSpPr>
        <p:spPr>
          <a:xfrm>
            <a:off x="6858000" y="2441448"/>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Technology</a:t>
            </a:r>
            <a:endParaRPr lang="en-US" sz="1650" dirty="0"/>
          </a:p>
        </p:txBody>
      </p:sp>
      <p:sp>
        <p:nvSpPr>
          <p:cNvPr id="23" name="Shape 21"/>
          <p:cNvSpPr/>
          <p:nvPr/>
        </p:nvSpPr>
        <p:spPr>
          <a:xfrm>
            <a:off x="6217920" y="2971800"/>
            <a:ext cx="5029200" cy="0"/>
          </a:xfrm>
          <a:prstGeom prst="line">
            <a:avLst/>
          </a:prstGeom>
          <a:noFill/>
          <a:ln w="9525">
            <a:solidFill>
              <a:srgbClr val="D9D4C4"/>
            </a:solidFill>
            <a:prstDash val="solid"/>
          </a:ln>
        </p:spPr>
      </p:sp>
      <p:sp>
        <p:nvSpPr>
          <p:cNvPr id="24" name="Text 22"/>
          <p:cNvSpPr/>
          <p:nvPr/>
        </p:nvSpPr>
        <p:spPr>
          <a:xfrm>
            <a:off x="6217920" y="3099816"/>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07</a:t>
            </a:r>
            <a:endParaRPr lang="en-US" sz="1700" dirty="0"/>
          </a:p>
        </p:txBody>
      </p:sp>
      <p:sp>
        <p:nvSpPr>
          <p:cNvPr id="25" name="Text 23"/>
          <p:cNvSpPr/>
          <p:nvPr/>
        </p:nvSpPr>
        <p:spPr>
          <a:xfrm>
            <a:off x="6858000" y="3099816"/>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Dated key facts</a:t>
            </a:r>
            <a:endParaRPr lang="en-US" sz="1650" dirty="0"/>
          </a:p>
        </p:txBody>
      </p:sp>
      <p:sp>
        <p:nvSpPr>
          <p:cNvPr id="26" name="Shape 24"/>
          <p:cNvSpPr/>
          <p:nvPr/>
        </p:nvSpPr>
        <p:spPr>
          <a:xfrm>
            <a:off x="6217920" y="3630168"/>
            <a:ext cx="5029200" cy="0"/>
          </a:xfrm>
          <a:prstGeom prst="line">
            <a:avLst/>
          </a:prstGeom>
          <a:noFill/>
          <a:ln w="9525">
            <a:solidFill>
              <a:srgbClr val="D9D4C4"/>
            </a:solidFill>
            <a:prstDash val="solid"/>
          </a:ln>
        </p:spPr>
      </p:sp>
      <p:sp>
        <p:nvSpPr>
          <p:cNvPr id="27" name="Text 25"/>
          <p:cNvSpPr/>
          <p:nvPr/>
        </p:nvSpPr>
        <p:spPr>
          <a:xfrm>
            <a:off x="6217920" y="3758184"/>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08</a:t>
            </a:r>
            <a:endParaRPr lang="en-US" sz="1700" dirty="0"/>
          </a:p>
        </p:txBody>
      </p:sp>
      <p:sp>
        <p:nvSpPr>
          <p:cNvPr id="28" name="Text 26"/>
          <p:cNvSpPr/>
          <p:nvPr/>
        </p:nvSpPr>
        <p:spPr>
          <a:xfrm>
            <a:off x="6858000" y="3758184"/>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Coverage against the four Key Concepts</a:t>
            </a:r>
            <a:endParaRPr lang="en-US" sz="1650" dirty="0"/>
          </a:p>
        </p:txBody>
      </p:sp>
      <p:sp>
        <p:nvSpPr>
          <p:cNvPr id="29" name="Shape 27"/>
          <p:cNvSpPr/>
          <p:nvPr/>
        </p:nvSpPr>
        <p:spPr>
          <a:xfrm>
            <a:off x="6217920" y="4288536"/>
            <a:ext cx="5029200" cy="0"/>
          </a:xfrm>
          <a:prstGeom prst="line">
            <a:avLst/>
          </a:prstGeom>
          <a:noFill/>
          <a:ln w="9525">
            <a:solidFill>
              <a:srgbClr val="D9D4C4"/>
            </a:solidFill>
            <a:prstDash val="solid"/>
          </a:ln>
        </p:spPr>
      </p:sp>
      <p:sp>
        <p:nvSpPr>
          <p:cNvPr id="30" name="Text 28"/>
          <p:cNvSpPr/>
          <p:nvPr/>
        </p:nvSpPr>
        <p:spPr>
          <a:xfrm>
            <a:off x="822960" y="4754880"/>
            <a:ext cx="10543032" cy="457200"/>
          </a:xfrm>
          <a:prstGeom prst="rect">
            <a:avLst/>
          </a:prstGeom>
          <a:noFill/>
          <a:ln/>
        </p:spPr>
        <p:txBody>
          <a:bodyPr wrap="square" lIns="0" tIns="0" rIns="0" bIns="0" rtlCol="0" anchor="ctr"/>
          <a:lstStyle/>
          <a:p>
            <a:pPr indent="0" marL="0">
              <a:buNone/>
            </a:pPr>
            <a:r>
              <a:rPr lang="en-US" sz="1200" i="1" dirty="0">
                <a:solidFill>
                  <a:srgbClr val="7A7F72"/>
                </a:solidFill>
                <a:latin typeface="Arial" pitchFamily="34" charset="0"/>
                <a:ea typeface="Arial" pitchFamily="34" charset="-122"/>
                <a:cs typeface="Arial" pitchFamily="34" charset="-120"/>
              </a:rPr>
              <a:t>Entries dated from today: the 5-year contemporaneity rule starts mattering now, and it is what makes the document Paper 2-legal in May.</a:t>
            </a:r>
            <a:endParaRPr lang="en-US" sz="1200" dirty="0"/>
          </a:p>
        </p:txBody>
      </p:sp>
      <p:sp>
        <p:nvSpPr>
          <p:cNvPr id="31" name="Shape 29"/>
          <p:cNvSpPr/>
          <p:nvPr/>
        </p:nvSpPr>
        <p:spPr>
          <a:xfrm>
            <a:off x="822960" y="6382512"/>
            <a:ext cx="10543032" cy="0"/>
          </a:xfrm>
          <a:prstGeom prst="line">
            <a:avLst/>
          </a:prstGeom>
          <a:noFill/>
          <a:ln w="9525">
            <a:solidFill>
              <a:srgbClr val="D9D4C4"/>
            </a:solidFill>
            <a:prstDash val="solid"/>
          </a:ln>
        </p:spPr>
      </p:sp>
      <p:sp>
        <p:nvSpPr>
          <p:cNvPr id="32" name="Text 3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33" name="Text 3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DELIVERABLE · CS8</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SCAFFOLD REMOVED NEXT WEEK</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Guided Section A, mark scheme open</a:t>
            </a:r>
            <a:endParaRPr lang="en-US" sz="3200" dirty="0"/>
          </a:p>
        </p:txBody>
      </p:sp>
      <p:sp>
        <p:nvSpPr>
          <p:cNvPr id="6" name="Shape 4"/>
          <p:cNvSpPr/>
          <p:nvPr/>
        </p:nvSpPr>
        <p:spPr>
          <a:xfrm>
            <a:off x="822960" y="2468880"/>
            <a:ext cx="914400" cy="0"/>
          </a:xfrm>
          <a:prstGeom prst="line">
            <a:avLst/>
          </a:prstGeom>
          <a:noFill/>
          <a:ln w="31750">
            <a:solidFill>
              <a:srgbClr val="8C3A38"/>
            </a:solidFill>
            <a:prstDash val="solid"/>
          </a:ln>
        </p:spPr>
      </p:sp>
      <p:sp>
        <p:nvSpPr>
          <p:cNvPr id="7" name="Text 5"/>
          <p:cNvSpPr/>
          <p:nvPr/>
        </p:nvSpPr>
        <p:spPr>
          <a:xfrm>
            <a:off x="822960" y="2697480"/>
            <a:ext cx="9875520" cy="1828800"/>
          </a:xfrm>
          <a:prstGeom prst="rect">
            <a:avLst/>
          </a:prstGeom>
          <a:noFill/>
          <a:ln/>
        </p:spPr>
        <p:txBody>
          <a:bodyPr wrap="square" lIns="0" tIns="0" rIns="0" bIns="0" rtlCol="0" anchor="t"/>
          <a:lstStyle/>
          <a:p>
            <a:pPr indent="0" marL="0">
              <a:lnSpc>
                <a:spcPts val="2800"/>
              </a:lnSpc>
              <a:buNone/>
            </a:pPr>
            <a:r>
              <a:rPr lang="en-US" sz="2000" dirty="0">
                <a:solidFill>
                  <a:srgbClr val="24313F"/>
                </a:solidFill>
                <a:latin typeface="Georgia" pitchFamily="34" charset="0"/>
                <a:ea typeface="Georgia" pitchFamily="34" charset="-122"/>
                <a:cs typeface="Georgia" pitchFamily="34" charset="-120"/>
              </a:rPr>
              <a:t>A Section A response written with the mark scheme visible and consultable, part collaborative by design: the same format family as A4, with the scaffold removed next week. The find-your-unfed-criterion move sets each student's personal A4 target.</a:t>
            </a:r>
            <a:endParaRPr lang="en-US" sz="2000" dirty="0"/>
          </a:p>
        </p:txBody>
      </p:sp>
      <p:sp>
        <p:nvSpPr>
          <p:cNvPr id="8" name="Text 6"/>
          <p:cNvSpPr/>
          <p:nvPr/>
        </p:nvSpPr>
        <p:spPr>
          <a:xfrm>
            <a:off x="822960" y="4846320"/>
            <a:ext cx="9875520" cy="457200"/>
          </a:xfrm>
          <a:prstGeom prst="rect">
            <a:avLst/>
          </a:prstGeom>
          <a:noFill/>
          <a:ln/>
        </p:spPr>
        <p:txBody>
          <a:bodyPr wrap="square" lIns="0" tIns="0" rIns="0" bIns="0" rtlCol="0" anchor="ctr"/>
          <a:lstStyle/>
          <a:p>
            <a:pPr indent="0" marL="0">
              <a:buNone/>
            </a:pPr>
            <a:r>
              <a:rPr lang="en-US" sz="1300" i="1" dirty="0">
                <a:solidFill>
                  <a:srgbClr val="7A7F72"/>
                </a:solidFill>
                <a:latin typeface="Arial" pitchFamily="34" charset="0"/>
                <a:ea typeface="Arial" pitchFamily="34" charset="-122"/>
                <a:cs typeface="Arial" pitchFamily="34" charset="-120"/>
              </a:rPr>
              <a:t>The case-study document feeds A4, the End of Term Exam, and Paper 2: the highest-leverage artifact this side of the blog.</a:t>
            </a:r>
            <a:endParaRPr lang="en-US" sz="1300" dirty="0"/>
          </a:p>
        </p:txBody>
      </p:sp>
      <p:sp>
        <p:nvSpPr>
          <p:cNvPr id="9" name="Shape 7"/>
          <p:cNvSpPr/>
          <p:nvPr/>
        </p:nvSpPr>
        <p:spPr>
          <a:xfrm>
            <a:off x="822960" y="6382512"/>
            <a:ext cx="10543032" cy="0"/>
          </a:xfrm>
          <a:prstGeom prst="line">
            <a:avLst/>
          </a:prstGeom>
          <a:noFill/>
          <a:ln w="9525">
            <a:solidFill>
              <a:srgbClr val="D9D4C4"/>
            </a:solidFill>
            <a:prstDash val="solid"/>
          </a:ln>
        </p:spPr>
      </p:sp>
      <p:sp>
        <p:nvSpPr>
          <p:cNvPr id="10" name="Text 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1" name="Text 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424160" cy="1920240"/>
          </a:xfrm>
          <a:prstGeom prst="rect">
            <a:avLst/>
          </a:prstGeom>
          <a:noFill/>
          <a:ln/>
        </p:spPr>
        <p:txBody>
          <a:bodyPr wrap="square" lIns="0" tIns="0" rIns="0" bIns="0" rtlCol="0" anchor="t"/>
          <a:lstStyle/>
          <a:p>
            <a:pPr indent="0" marL="0">
              <a:lnSpc>
                <a:spcPts val="5200"/>
              </a:lnSpc>
              <a:buNone/>
            </a:pPr>
            <a:r>
              <a:rPr lang="en-US" sz="5000" dirty="0">
                <a:solidFill>
                  <a:srgbClr val="FAF8F1"/>
                </a:solidFill>
                <a:latin typeface="Georgia" pitchFamily="34" charset="0"/>
                <a:ea typeface="Georgia" pitchFamily="34" charset="-122"/>
                <a:cs typeface="Georgia" pitchFamily="34" charset="-120"/>
              </a:rPr>
              <a:t>A4: Section A in</a:t>
            </a:r>
            <a:endParaRPr lang="en-US" sz="5000" dirty="0"/>
          </a:p>
          <a:p>
            <a:pPr indent="0" marL="0">
              <a:lnSpc>
                <a:spcPts val="5200"/>
              </a:lnSpc>
              <a:buNone/>
            </a:pPr>
            <a:r>
              <a:rPr lang="en-US" sz="5000" dirty="0">
                <a:solidFill>
                  <a:srgbClr val="FAF8F1"/>
                </a:solidFill>
                <a:latin typeface="Georgia" pitchFamily="34" charset="0"/>
                <a:ea typeface="Georgia" pitchFamily="34" charset="-122"/>
                <a:cs typeface="Georgia" pitchFamily="34" charset="-120"/>
              </a:rPr>
              <a:t>Authentic Format</a:t>
            </a:r>
            <a:endParaRPr lang="en-US" sz="5000" dirty="0"/>
          </a:p>
        </p:txBody>
      </p:sp>
      <p:sp>
        <p:nvSpPr>
          <p:cNvPr id="5" name="Text 3"/>
          <p:cNvSpPr/>
          <p:nvPr/>
        </p:nvSpPr>
        <p:spPr>
          <a:xfrm>
            <a:off x="822960" y="4846320"/>
            <a:ext cx="10058400" cy="457200"/>
          </a:xfrm>
          <a:prstGeom prst="rect">
            <a:avLst/>
          </a:prstGeom>
          <a:noFill/>
          <a:ln/>
        </p:spPr>
        <p:txBody>
          <a:bodyPr wrap="square" lIns="0" tIns="0" rIns="0" bIns="0" rtlCol="0" anchor="ctr"/>
          <a:lstStyle/>
          <a:p>
            <a:pPr indent="0" marL="0">
              <a:buNone/>
            </a:pPr>
            <a:r>
              <a:rPr lang="en-US" sz="2100" i="1" dirty="0">
                <a:solidFill>
                  <a:srgbClr val="E8EFE7"/>
                </a:solidFill>
                <a:latin typeface="Georgia" pitchFamily="34" charset="0"/>
                <a:ea typeface="Georgia" pitchFamily="34" charset="-122"/>
                <a:cs typeface="Georgia" pitchFamily="34" charset="-120"/>
              </a:rPr>
              <a:t>Lesson 13. Integration, synergy, convergence, and the first authentic Section A sitting.</a:t>
            </a:r>
            <a:endParaRPr lang="en-US" sz="21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MEDIA STUDIES 9607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07</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2026-07-25T04:00:31Z</dcterms:created>
  <dcterms:modified xsi:type="dcterms:W3CDTF">2026-07-25T04:00:31Z</dcterms:modified>
</cp:coreProperties>
</file>