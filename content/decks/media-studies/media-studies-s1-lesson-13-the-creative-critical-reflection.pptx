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week, one artifact: the CCR that carries a fifth of the A3 marks in disguise, because it is where AO2 lives in the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that governs all four days doubles as the success criterion, straight from the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maker examining himself. One honest sentence per draft keeps out the promotional voice, which examiners read as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6858000" y="822960"/>
            <a:ext cx="4572000" cy="4937760"/>
          </a:xfrm>
          <a:prstGeom prst="rect">
            <a:avLst/>
          </a:prstGeom>
          <a:noFill/>
          <a:ln/>
        </p:spPr>
        <p:txBody>
          <a:bodyPr wrap="square" lIns="0" tIns="0" rIns="0" bIns="0" rtlCol="0" anchor="ctr"/>
          <a:lstStyle/>
          <a:p>
            <a:pPr algn="ctr" indent="0" marL="0">
              <a:buNone/>
            </a:pPr>
            <a:r>
              <a:rPr lang="en-US" sz="20000" dirty="0">
                <a:solidFill>
                  <a:srgbClr val="A3C1AD"/>
                </a:solidFill>
                <a:latin typeface="Georgia" pitchFamily="34" charset="0"/>
                <a:ea typeface="Georgia" pitchFamily="34" charset="-122"/>
                <a:cs typeface="Georgia" pitchFamily="34" charset="-120"/>
              </a:rPr>
              <a:t>XIII</a:t>
            </a:r>
            <a:endParaRPr lang="en-US" sz="20000" dirty="0"/>
          </a:p>
        </p:txBody>
      </p:sp>
      <p:sp>
        <p:nvSpPr>
          <p:cNvPr id="3" name="Text 1"/>
          <p:cNvSpPr/>
          <p:nvPr/>
        </p:nvSpPr>
        <p:spPr>
          <a:xfrm>
            <a:off x="822960" y="1234440"/>
            <a:ext cx="82296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MEDIA STUDIES 9607 · UNIT IV</a:t>
            </a:r>
            <a:endParaRPr lang="en-US" sz="1100" dirty="0"/>
          </a:p>
        </p:txBody>
      </p:sp>
      <p:sp>
        <p:nvSpPr>
          <p:cNvPr id="4" name="Text 2"/>
          <p:cNvSpPr/>
          <p:nvPr/>
        </p:nvSpPr>
        <p:spPr>
          <a:xfrm>
            <a:off x="822960" y="1737360"/>
            <a:ext cx="7589520" cy="2377440"/>
          </a:xfrm>
          <a:prstGeom prst="rect">
            <a:avLst/>
          </a:prstGeom>
          <a:noFill/>
          <a:ln/>
        </p:spPr>
        <p:txBody>
          <a:bodyPr wrap="square" lIns="0" tIns="0" rIns="0" bIns="0" rtlCol="0" anchor="t"/>
          <a:lstStyle/>
          <a:p>
            <a:pPr indent="0" marL="0">
              <a:lnSpc>
                <a:spcPts val="5200"/>
              </a:lnSpc>
              <a:buNone/>
            </a:pPr>
            <a:r>
              <a:rPr lang="en-US" sz="5200" dirty="0">
                <a:solidFill>
                  <a:srgbClr val="24313F"/>
                </a:solidFill>
                <a:latin typeface="Georgia" pitchFamily="34" charset="0"/>
                <a:ea typeface="Georgia" pitchFamily="34" charset="-122"/>
                <a:cs typeface="Georgia" pitchFamily="34" charset="-120"/>
              </a:rPr>
              <a:t>The Creative</a:t>
            </a:r>
            <a:endParaRPr lang="en-US" sz="5200" dirty="0"/>
          </a:p>
          <a:p>
            <a:pPr indent="0" marL="0">
              <a:lnSpc>
                <a:spcPts val="5200"/>
              </a:lnSpc>
              <a:buNone/>
            </a:pPr>
            <a:r>
              <a:rPr lang="en-US" sz="5200" dirty="0">
                <a:solidFill>
                  <a:srgbClr val="24313F"/>
                </a:solidFill>
                <a:latin typeface="Georgia" pitchFamily="34" charset="0"/>
                <a:ea typeface="Georgia" pitchFamily="34" charset="-122"/>
                <a:cs typeface="Georgia" pitchFamily="34" charset="-120"/>
              </a:rPr>
              <a:t>Critical Reflection</a:t>
            </a:r>
            <a:endParaRPr lang="en-US" sz="52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315200" cy="457200"/>
          </a:xfrm>
          <a:prstGeom prst="rect">
            <a:avLst/>
          </a:prstGeom>
          <a:noFill/>
          <a:ln/>
        </p:spPr>
        <p:txBody>
          <a:bodyPr wrap="square" lIns="0" tIns="0" rIns="0" bIns="0" rtlCol="0" anchor="ctr"/>
          <a:lstStyle/>
          <a:p>
            <a:pPr indent="0" marL="0">
              <a:buNone/>
            </a:pPr>
            <a:r>
              <a:rPr lang="en-US" sz="2200" i="1" dirty="0">
                <a:solidFill>
                  <a:srgbClr val="7A7F72"/>
                </a:solidFill>
                <a:latin typeface="Georgia" pitchFamily="34" charset="0"/>
                <a:ea typeface="Georgia" pitchFamily="34" charset="-122"/>
                <a:cs typeface="Georgia" pitchFamily="34" charset="-120"/>
              </a:rPr>
              <a:t>Representation · Lesson 13 of 19</a:t>
            </a:r>
            <a:endParaRPr lang="en-US" sz="2200" dirty="0"/>
          </a:p>
        </p:txBody>
      </p:sp>
      <p:sp>
        <p:nvSpPr>
          <p:cNvPr id="7" name="Text 5"/>
          <p:cNvSpPr/>
          <p:nvPr/>
        </p:nvSpPr>
        <p:spPr>
          <a:xfrm>
            <a:off x="822960" y="5029200"/>
            <a:ext cx="822960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Four days  ·  Monday 16 to Friday 20 November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6675120" y="640080"/>
            <a:ext cx="4937760" cy="5577840"/>
          </a:xfrm>
          <a:prstGeom prst="rect">
            <a:avLst/>
          </a:prstGeom>
          <a:noFill/>
          <a:ln/>
        </p:spPr>
        <p:txBody>
          <a:bodyPr wrap="square" lIns="0" tIns="0" rIns="0" bIns="0" rtlCol="0" anchor="ctr"/>
          <a:lstStyle/>
          <a:p>
            <a:pPr algn="ctr" indent="0" marL="0">
              <a:buNone/>
            </a:pPr>
            <a:r>
              <a:rPr lang="en-US" sz="22000" dirty="0">
                <a:solidFill>
                  <a:srgbClr val="5C7A6B"/>
                </a:solidFill>
                <a:latin typeface="Georgia" pitchFamily="34" charset="0"/>
                <a:ea typeface="Georgia" pitchFamily="34" charset="-122"/>
                <a:cs typeface="Georgia" pitchFamily="34" charset="-120"/>
              </a:rPr>
              <a:t>XIII</a:t>
            </a:r>
            <a:endParaRPr lang="en-US" sz="22000" dirty="0"/>
          </a:p>
        </p:txBody>
      </p:sp>
      <p:sp>
        <p:nvSpPr>
          <p:cNvPr id="3" name="Text 1"/>
          <p:cNvSpPr/>
          <p:nvPr/>
        </p:nvSpPr>
        <p:spPr>
          <a:xfrm>
            <a:off x="822960" y="228600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THE RULE AND THE SUCCESS CRITERION</a:t>
            </a:r>
            <a:endParaRPr lang="en-US" sz="1100" dirty="0"/>
          </a:p>
        </p:txBody>
      </p:sp>
      <p:sp>
        <p:nvSpPr>
          <p:cNvPr id="4" name="Shape 2"/>
          <p:cNvSpPr/>
          <p:nvPr/>
        </p:nvSpPr>
        <p:spPr>
          <a:xfrm>
            <a:off x="822960" y="2651760"/>
            <a:ext cx="4206240" cy="0"/>
          </a:xfrm>
          <a:prstGeom prst="line">
            <a:avLst/>
          </a:prstGeom>
          <a:noFill/>
          <a:ln w="9525">
            <a:solidFill>
              <a:srgbClr val="8AA394"/>
            </a:solidFill>
            <a:prstDash val="solid"/>
          </a:ln>
        </p:spPr>
      </p:sp>
      <p:sp>
        <p:nvSpPr>
          <p:cNvPr id="5" name="Text 3"/>
          <p:cNvSpPr/>
          <p:nvPr/>
        </p:nvSpPr>
        <p:spPr>
          <a:xfrm>
            <a:off x="822960" y="2788920"/>
            <a:ext cx="7772400" cy="2194560"/>
          </a:xfrm>
          <a:prstGeom prst="rect">
            <a:avLst/>
          </a:prstGeom>
          <a:noFill/>
          <a:ln/>
        </p:spPr>
        <p:txBody>
          <a:bodyPr wrap="square" lIns="0" tIns="0" rIns="0" bIns="0" rtlCol="0" anchor="t"/>
          <a:lstStyle/>
          <a:p>
            <a:pPr indent="0" marL="0">
              <a:lnSpc>
                <a:spcPts val="4600"/>
              </a:lnSpc>
              <a:buNone/>
            </a:pPr>
            <a:r>
              <a:rPr lang="en-US" sz="4000" dirty="0">
                <a:solidFill>
                  <a:srgbClr val="FAF8F1"/>
                </a:solidFill>
                <a:latin typeface="Georgia" pitchFamily="34" charset="0"/>
                <a:ea typeface="Georgia" pitchFamily="34" charset="-122"/>
                <a:cs typeface="Georgia" pitchFamily="34" charset="-120"/>
              </a:rPr>
              <a:t>Cut every sentence that</a:t>
            </a:r>
            <a:endParaRPr lang="en-US" sz="4000" dirty="0"/>
          </a:p>
          <a:p>
            <a:pPr indent="0" marL="0">
              <a:lnSpc>
                <a:spcPts val="4600"/>
              </a:lnSpc>
              <a:buNone/>
            </a:pPr>
            <a:r>
              <a:rPr lang="en-US" sz="4000" dirty="0">
                <a:solidFill>
                  <a:srgbClr val="FAF8F1"/>
                </a:solidFill>
                <a:latin typeface="Georgia" pitchFamily="34" charset="0"/>
                <a:ea typeface="Georgia" pitchFamily="34" charset="-122"/>
                <a:cs typeface="Georgia" pitchFamily="34" charset="-120"/>
              </a:rPr>
              <a:t>describes instead of reflects.</a:t>
            </a:r>
            <a:endParaRPr lang="en-US"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CCR · FOUR SET QUESTIONS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PRESENTED CREATIVELY, USING TECHNOLOGY</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The four questions</a:t>
            </a:r>
            <a:endParaRPr lang="en-US" sz="3200" dirty="0"/>
          </a:p>
        </p:txBody>
      </p:sp>
      <p:sp>
        <p:nvSpPr>
          <p:cNvPr id="6" name="Text 4"/>
          <p:cNvSpPr/>
          <p:nvPr/>
        </p:nvSpPr>
        <p:spPr>
          <a:xfrm>
            <a:off x="822960" y="1938528"/>
            <a:ext cx="4997196"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Q1 · Conventions</a:t>
            </a:r>
            <a:endParaRPr lang="en-US" sz="2200" dirty="0"/>
          </a:p>
        </p:txBody>
      </p:sp>
      <p:sp>
        <p:nvSpPr>
          <p:cNvPr id="7" name="Shape 5"/>
          <p:cNvSpPr/>
          <p:nvPr/>
        </p:nvSpPr>
        <p:spPr>
          <a:xfrm>
            <a:off x="822960" y="2468880"/>
            <a:ext cx="4814316" cy="0"/>
          </a:xfrm>
          <a:prstGeom prst="line">
            <a:avLst/>
          </a:prstGeom>
          <a:noFill/>
          <a:ln w="9525">
            <a:solidFill>
              <a:srgbClr val="D9D4C4"/>
            </a:solidFill>
            <a:prstDash val="solid"/>
          </a:ln>
        </p:spPr>
      </p:sp>
      <p:sp>
        <p:nvSpPr>
          <p:cNvPr id="8" name="Text 6"/>
          <p:cNvSpPr/>
          <p:nvPr/>
        </p:nvSpPr>
        <p:spPr>
          <a:xfrm>
            <a:off x="822960" y="2578608"/>
            <a:ext cx="4814316" cy="109728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How the product uses or challenges conventions, and how it represents social groups.</a:t>
            </a:r>
            <a:endParaRPr lang="en-US" sz="1550" dirty="0"/>
          </a:p>
        </p:txBody>
      </p:sp>
      <p:sp>
        <p:nvSpPr>
          <p:cNvPr id="9" name="Text 7"/>
          <p:cNvSpPr/>
          <p:nvPr/>
        </p:nvSpPr>
        <p:spPr>
          <a:xfrm>
            <a:off x="6368796" y="1938528"/>
            <a:ext cx="4997196"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Q2 · Audiences</a:t>
            </a:r>
            <a:endParaRPr lang="en-US" sz="2200" dirty="0"/>
          </a:p>
        </p:txBody>
      </p:sp>
      <p:sp>
        <p:nvSpPr>
          <p:cNvPr id="10" name="Shape 8"/>
          <p:cNvSpPr/>
          <p:nvPr/>
        </p:nvSpPr>
        <p:spPr>
          <a:xfrm>
            <a:off x="6368796" y="2468880"/>
            <a:ext cx="4814316" cy="0"/>
          </a:xfrm>
          <a:prstGeom prst="line">
            <a:avLst/>
          </a:prstGeom>
          <a:noFill/>
          <a:ln w="9525">
            <a:solidFill>
              <a:srgbClr val="D9D4C4"/>
            </a:solidFill>
            <a:prstDash val="solid"/>
          </a:ln>
        </p:spPr>
      </p:sp>
      <p:sp>
        <p:nvSpPr>
          <p:cNvPr id="11" name="Text 9"/>
          <p:cNvSpPr/>
          <p:nvPr/>
        </p:nvSpPr>
        <p:spPr>
          <a:xfrm>
            <a:off x="6368796" y="2578608"/>
            <a:ext cx="4814316" cy="109728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Who the product engages, and how it would really reach and circulate to them.</a:t>
            </a:r>
            <a:endParaRPr lang="en-US" sz="1550" dirty="0"/>
          </a:p>
        </p:txBody>
      </p:sp>
      <p:sp>
        <p:nvSpPr>
          <p:cNvPr id="12" name="Text 10"/>
          <p:cNvSpPr/>
          <p:nvPr/>
        </p:nvSpPr>
        <p:spPr>
          <a:xfrm>
            <a:off x="822960" y="4133088"/>
            <a:ext cx="4997196"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Q3 · Skills</a:t>
            </a:r>
            <a:endParaRPr lang="en-US" sz="2200" dirty="0"/>
          </a:p>
        </p:txBody>
      </p:sp>
      <p:sp>
        <p:nvSpPr>
          <p:cNvPr id="13" name="Shape 11"/>
          <p:cNvSpPr/>
          <p:nvPr/>
        </p:nvSpPr>
        <p:spPr>
          <a:xfrm>
            <a:off x="822960" y="4663440"/>
            <a:ext cx="4814316" cy="0"/>
          </a:xfrm>
          <a:prstGeom prst="line">
            <a:avLst/>
          </a:prstGeom>
          <a:noFill/>
          <a:ln w="9525">
            <a:solidFill>
              <a:srgbClr val="D9D4C4"/>
            </a:solidFill>
            <a:prstDash val="solid"/>
          </a:ln>
        </p:spPr>
      </p:sp>
      <p:sp>
        <p:nvSpPr>
          <p:cNvPr id="14" name="Text 12"/>
          <p:cNvSpPr/>
          <p:nvPr/>
        </p:nvSpPr>
        <p:spPr>
          <a:xfrm>
            <a:off x="822960" y="4773168"/>
            <a:ext cx="4814316" cy="109728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What developed from day-one footage to the rough cut, and what changed it.</a:t>
            </a:r>
            <a:endParaRPr lang="en-US" sz="1550" dirty="0"/>
          </a:p>
        </p:txBody>
      </p:sp>
      <p:sp>
        <p:nvSpPr>
          <p:cNvPr id="15" name="Text 13"/>
          <p:cNvSpPr/>
          <p:nvPr/>
        </p:nvSpPr>
        <p:spPr>
          <a:xfrm>
            <a:off x="6368796" y="4133088"/>
            <a:ext cx="4997196"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Q4 · Technology</a:t>
            </a:r>
            <a:endParaRPr lang="en-US" sz="2200" dirty="0"/>
          </a:p>
        </p:txBody>
      </p:sp>
      <p:sp>
        <p:nvSpPr>
          <p:cNvPr id="16" name="Shape 14"/>
          <p:cNvSpPr/>
          <p:nvPr/>
        </p:nvSpPr>
        <p:spPr>
          <a:xfrm>
            <a:off x="6368796" y="4663440"/>
            <a:ext cx="4814316" cy="0"/>
          </a:xfrm>
          <a:prstGeom prst="line">
            <a:avLst/>
          </a:prstGeom>
          <a:noFill/>
          <a:ln w="9525">
            <a:solidFill>
              <a:srgbClr val="D9D4C4"/>
            </a:solidFill>
            <a:prstDash val="solid"/>
          </a:ln>
        </p:spPr>
      </p:sp>
      <p:sp>
        <p:nvSpPr>
          <p:cNvPr id="17" name="Text 15"/>
          <p:cNvSpPr/>
          <p:nvPr/>
        </p:nvSpPr>
        <p:spPr>
          <a:xfrm>
            <a:off x="6368796" y="4773168"/>
            <a:ext cx="4814316" cy="109728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Software, hardware, online: as decisions, we used X so that Y, not an inventory.</a:t>
            </a:r>
            <a:endParaRPr lang="en-US" sz="1550" dirty="0"/>
          </a:p>
        </p:txBody>
      </p:sp>
      <p:sp>
        <p:nvSpPr>
          <p:cNvPr id="18" name="Shape 16"/>
          <p:cNvSpPr/>
          <p:nvPr/>
        </p:nvSpPr>
        <p:spPr>
          <a:xfrm>
            <a:off x="822960" y="6382512"/>
            <a:ext cx="10543032" cy="0"/>
          </a:xfrm>
          <a:prstGeom prst="line">
            <a:avLst/>
          </a:prstGeom>
          <a:noFill/>
          <a:ln w="9525">
            <a:solidFill>
              <a:srgbClr val="D9D4C4"/>
            </a:solidFill>
            <a:prstDash val="solid"/>
          </a:ln>
        </p:spPr>
      </p:sp>
      <p:sp>
        <p:nvSpPr>
          <p:cNvPr id="19" name="Text 1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0" name="Text 1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ONE-LINE TEACHING OF THE WHOLE WEEK</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PUT IT ON THE WALL</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800" dirty="0">
                <a:solidFill>
                  <a:srgbClr val="24313F"/>
                </a:solidFill>
                <a:latin typeface="Georgia" pitchFamily="34" charset="0"/>
                <a:ea typeface="Georgia" pitchFamily="34" charset="-122"/>
                <a:cs typeface="Georgia" pitchFamily="34" charset="-120"/>
              </a:rPr>
              <a:t>The tell</a:t>
            </a:r>
            <a:endParaRPr lang="en-US" sz="3800" dirty="0"/>
          </a:p>
        </p:txBody>
      </p:sp>
      <p:sp>
        <p:nvSpPr>
          <p:cNvPr id="6" name="Text 4"/>
          <p:cNvSpPr/>
          <p:nvPr/>
        </p:nvSpPr>
        <p:spPr>
          <a:xfrm>
            <a:off x="822960" y="2011680"/>
            <a:ext cx="4846320" cy="502920"/>
          </a:xfrm>
          <a:prstGeom prst="rect">
            <a:avLst/>
          </a:prstGeom>
          <a:noFill/>
          <a:ln/>
        </p:spPr>
        <p:txBody>
          <a:bodyPr wrap="square" lIns="0" tIns="0" rIns="0" bIns="0" rtlCol="0" anchor="ctr"/>
          <a:lstStyle/>
          <a:p>
            <a:pPr indent="0" marL="0">
              <a:buNone/>
            </a:pPr>
            <a:r>
              <a:rPr lang="en-US" sz="2400" dirty="0">
                <a:solidFill>
                  <a:srgbClr val="7A7F72"/>
                </a:solidFill>
                <a:latin typeface="Georgia" pitchFamily="34" charset="0"/>
                <a:ea typeface="Georgia" pitchFamily="34" charset="-122"/>
                <a:cs typeface="Georgia" pitchFamily="34" charset="-120"/>
              </a:rPr>
              <a:t>A description</a:t>
            </a:r>
            <a:endParaRPr lang="en-US" sz="2400" dirty="0"/>
          </a:p>
        </p:txBody>
      </p:sp>
      <p:sp>
        <p:nvSpPr>
          <p:cNvPr id="7" name="Shape 5"/>
          <p:cNvSpPr/>
          <p:nvPr/>
        </p:nvSpPr>
        <p:spPr>
          <a:xfrm>
            <a:off x="822960" y="2560320"/>
            <a:ext cx="4754880" cy="0"/>
          </a:xfrm>
          <a:prstGeom prst="line">
            <a:avLst/>
          </a:prstGeom>
          <a:noFill/>
          <a:ln w="9525">
            <a:solidFill>
              <a:srgbClr val="D9D4C4"/>
            </a:solidFill>
            <a:prstDash val="solid"/>
          </a:ln>
        </p:spPr>
      </p:sp>
      <p:sp>
        <p:nvSpPr>
          <p:cNvPr id="8" name="Text 6"/>
          <p:cNvSpPr/>
          <p:nvPr/>
        </p:nvSpPr>
        <p:spPr>
          <a:xfrm>
            <a:off x="822960" y="2697480"/>
            <a:ext cx="484632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contains a sequence of events. It says what you did: we filmed, then we edited, then we uploaded.</a:t>
            </a:r>
            <a:endParaRPr lang="en-US" sz="1700" dirty="0"/>
          </a:p>
        </p:txBody>
      </p:sp>
      <p:sp>
        <p:nvSpPr>
          <p:cNvPr id="9" name="Text 7"/>
          <p:cNvSpPr/>
          <p:nvPr/>
        </p:nvSpPr>
        <p:spPr>
          <a:xfrm>
            <a:off x="6309360" y="2011680"/>
            <a:ext cx="4846320" cy="502920"/>
          </a:xfrm>
          <a:prstGeom prst="rect">
            <a:avLst/>
          </a:prstGeom>
          <a:noFill/>
          <a:ln/>
        </p:spPr>
        <p:txBody>
          <a:bodyPr wrap="square" lIns="0" tIns="0" rIns="0" bIns="0" rtlCol="0" anchor="ctr"/>
          <a:lstStyle/>
          <a:p>
            <a:pPr indent="0" marL="0">
              <a:buNone/>
            </a:pPr>
            <a:r>
              <a:rPr lang="en-US" sz="2400" dirty="0">
                <a:solidFill>
                  <a:srgbClr val="4A6B5D"/>
                </a:solidFill>
                <a:latin typeface="Georgia" pitchFamily="34" charset="0"/>
                <a:ea typeface="Georgia" pitchFamily="34" charset="-122"/>
                <a:cs typeface="Georgia" pitchFamily="34" charset="-120"/>
              </a:rPr>
              <a:t>A reflection</a:t>
            </a:r>
            <a:endParaRPr lang="en-US" sz="2400" dirty="0"/>
          </a:p>
        </p:txBody>
      </p:sp>
      <p:sp>
        <p:nvSpPr>
          <p:cNvPr id="10" name="Shape 8"/>
          <p:cNvSpPr/>
          <p:nvPr/>
        </p:nvSpPr>
        <p:spPr>
          <a:xfrm>
            <a:off x="6309360" y="2560320"/>
            <a:ext cx="4754880" cy="0"/>
          </a:xfrm>
          <a:prstGeom prst="line">
            <a:avLst/>
          </a:prstGeom>
          <a:noFill/>
          <a:ln w="9525">
            <a:solidFill>
              <a:srgbClr val="D9D4C4"/>
            </a:solidFill>
            <a:prstDash val="solid"/>
          </a:ln>
        </p:spPr>
      </p:sp>
      <p:sp>
        <p:nvSpPr>
          <p:cNvPr id="11" name="Text 9"/>
          <p:cNvSpPr/>
          <p:nvPr/>
        </p:nvSpPr>
        <p:spPr>
          <a:xfrm>
            <a:off x="6309360" y="2697480"/>
            <a:ext cx="484632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contains a decision, a reason, or a change. It says why, and what you would do differently.</a:t>
            </a:r>
            <a:endParaRPr lang="en-US" sz="1700" dirty="0"/>
          </a:p>
        </p:txBody>
      </p:sp>
      <p:sp>
        <p:nvSpPr>
          <p:cNvPr id="12" name="Shape 10"/>
          <p:cNvSpPr/>
          <p:nvPr/>
        </p:nvSpPr>
        <p:spPr>
          <a:xfrm>
            <a:off x="822960" y="6382512"/>
            <a:ext cx="10543032" cy="0"/>
          </a:xfrm>
          <a:prstGeom prst="line">
            <a:avLst/>
          </a:prstGeom>
          <a:noFill/>
          <a:ln w="9525">
            <a:solidFill>
              <a:srgbClr val="D9D4C4"/>
            </a:solidFill>
            <a:prstDash val="solid"/>
          </a:ln>
        </p:spPr>
      </p:sp>
      <p:sp>
        <p:nvSpPr>
          <p:cNvPr id="13" name="Text 11"/>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4" name="Text 12"/>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920240"/>
            <a:ext cx="10424160" cy="2194560"/>
          </a:xfrm>
          <a:prstGeom prst="rect">
            <a:avLst/>
          </a:prstGeom>
          <a:noFill/>
          <a:ln/>
        </p:spPr>
        <p:txBody>
          <a:bodyPr wrap="square" lIns="0" tIns="0" rIns="0" bIns="0" rtlCol="0" anchor="ctr"/>
          <a:lstStyle/>
          <a:p>
            <a:pPr indent="0" marL="0">
              <a:lnSpc>
                <a:spcPts val="5600"/>
              </a:lnSpc>
              <a:buNone/>
            </a:pPr>
            <a:r>
              <a:rPr lang="en-US" sz="5000" dirty="0">
                <a:solidFill>
                  <a:srgbClr val="24313F"/>
                </a:solidFill>
                <a:latin typeface="Georgia" pitchFamily="34" charset="0"/>
                <a:ea typeface="Georgia" pitchFamily="34" charset="-122"/>
                <a:cs typeface="Georgia" pitchFamily="34" charset="-120"/>
              </a:rPr>
              <a:t>A decision,</a:t>
            </a:r>
            <a:endParaRPr lang="en-US" sz="5000" dirty="0"/>
          </a:p>
          <a:p>
            <a:pPr indent="0" marL="0">
              <a:lnSpc>
                <a:spcPts val="5600"/>
              </a:lnSpc>
              <a:buNone/>
            </a:pPr>
            <a:r>
              <a:rPr lang="en-US" sz="5000" dirty="0">
                <a:solidFill>
                  <a:srgbClr val="24313F"/>
                </a:solidFill>
                <a:latin typeface="Georgia" pitchFamily="34" charset="0"/>
                <a:ea typeface="Georgia" pitchFamily="34" charset="-122"/>
                <a:cs typeface="Georgia" pitchFamily="34" charset="-120"/>
              </a:rPr>
              <a:t>a reason, or a change.</a:t>
            </a:r>
            <a:endParaRPr lang="en-US" sz="5000" dirty="0"/>
          </a:p>
        </p:txBody>
      </p:sp>
      <p:sp>
        <p:nvSpPr>
          <p:cNvPr id="4" name="Shape 2"/>
          <p:cNvSpPr/>
          <p:nvPr/>
        </p:nvSpPr>
        <p:spPr>
          <a:xfrm>
            <a:off x="822960" y="4663440"/>
            <a:ext cx="914400" cy="0"/>
          </a:xfrm>
          <a:prstGeom prst="line">
            <a:avLst/>
          </a:prstGeom>
          <a:noFill/>
          <a:ln w="31750">
            <a:solidFill>
              <a:srgbClr val="8C3A38"/>
            </a:solidFill>
            <a:prstDash val="solid"/>
          </a:ln>
        </p:spPr>
      </p:sp>
      <p:sp>
        <p:nvSpPr>
          <p:cNvPr id="5" name="Text 3"/>
          <p:cNvSpPr/>
          <p:nvPr/>
        </p:nvSpPr>
        <p:spPr>
          <a:xfrm>
            <a:off x="822960" y="4846320"/>
            <a:ext cx="1024128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Every reflective sentence contains at least one. If a sentence contains none of the three, it is description; cut it or convert it.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1"/>
        </a:solidFill>
      </p:bgPr>
    </p:bg>
    <p:spTree>
      <p:nvGrpSpPr>
        <p:cNvPr id="1" name=""/>
        <p:cNvGrpSpPr/>
        <p:nvPr/>
      </p:nvGrpSpPr>
      <p:grpSpPr>
        <a:xfrm>
          <a:off x="0" y="0"/>
          <a:ext cx="0" cy="0"/>
          <a:chOff x="0" y="0"/>
          <a:chExt cx="0" cy="0"/>
        </a:xfrm>
      </p:grpSpPr>
      <p:pic>
        <p:nvPicPr>
          <p:cNvPr id="2" name="Image 0" descr="/Users/dogan/Documents/Vaults/Courses/wiki/classes/media-studies/decks/_build/img/crops/vangogh-self_a664.jpg">    </p:cNvPr>
          <p:cNvPicPr>
            <a:picLocks noChangeAspect="1"/>
          </p:cNvPicPr>
          <p:nvPr/>
        </p:nvPicPr>
        <p:blipFill>
          <a:blip r:embed="rId1"/>
          <a:stretch>
            <a:fillRect/>
          </a:stretch>
        </p:blipFill>
        <p:spPr>
          <a:xfrm>
            <a:off x="7635240" y="0"/>
            <a:ext cx="4553712" cy="6858000"/>
          </a:xfrm>
          <a:prstGeom prst="rect">
            <a:avLst/>
          </a:prstGeom>
        </p:spPr>
      </p:pic>
      <p:sp>
        <p:nvSpPr>
          <p:cNvPr id="3" name="Text 0"/>
          <p:cNvSpPr/>
          <p:nvPr/>
        </p:nvSpPr>
        <p:spPr>
          <a:xfrm>
            <a:off x="7818120" y="6126480"/>
            <a:ext cx="4187952" cy="365760"/>
          </a:xfrm>
          <a:prstGeom prst="rect">
            <a:avLst/>
          </a:prstGeom>
          <a:solidFill>
            <a:srgbClr val="FAF8F1"/>
          </a:solid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Vincent van Gogh, Self-Portrait, 1889</a:t>
            </a:r>
            <a:endParaRPr lang="en-US" sz="950" dirty="0"/>
          </a:p>
        </p:txBody>
      </p:sp>
      <p:sp>
        <p:nvSpPr>
          <p:cNvPr id="4" name="Text 1"/>
          <p:cNvSpPr/>
          <p:nvPr/>
        </p:nvSpPr>
        <p:spPr>
          <a:xfrm>
            <a:off x="822960" y="685800"/>
            <a:ext cx="54864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MAKER, TURNED INWARD</a:t>
            </a:r>
            <a:endParaRPr lang="en-US" sz="1100" dirty="0"/>
          </a:p>
        </p:txBody>
      </p:sp>
      <p:sp>
        <p:nvSpPr>
          <p:cNvPr id="5" name="Shape 2"/>
          <p:cNvSpPr/>
          <p:nvPr/>
        </p:nvSpPr>
        <p:spPr>
          <a:xfrm>
            <a:off x="822960" y="1051560"/>
            <a:ext cx="6492240" cy="0"/>
          </a:xfrm>
          <a:prstGeom prst="line">
            <a:avLst/>
          </a:prstGeom>
          <a:noFill/>
          <a:ln w="9525">
            <a:solidFill>
              <a:srgbClr val="D9D4C4"/>
            </a:solidFill>
            <a:prstDash val="solid"/>
          </a:ln>
        </p:spPr>
      </p:sp>
      <p:sp>
        <p:nvSpPr>
          <p:cNvPr id="6" name="Text 3"/>
          <p:cNvSpPr/>
          <p:nvPr/>
        </p:nvSpPr>
        <p:spPr>
          <a:xfrm>
            <a:off x="822960" y="1234440"/>
            <a:ext cx="6492240" cy="1371600"/>
          </a:xfrm>
          <a:prstGeom prst="rect">
            <a:avLst/>
          </a:prstGeom>
          <a:noFill/>
          <a:ln/>
        </p:spPr>
        <p:txBody>
          <a:bodyPr wrap="square" lIns="0" tIns="0" rIns="0" bIns="0" rtlCol="0" anchor="t"/>
          <a:lstStyle/>
          <a:p>
            <a:pPr indent="0" marL="0">
              <a:lnSpc>
                <a:spcPts val="4200"/>
              </a:lnSpc>
              <a:buNone/>
            </a:pPr>
            <a:r>
              <a:rPr lang="en-US" sz="4000" dirty="0">
                <a:solidFill>
                  <a:srgbClr val="24313F"/>
                </a:solidFill>
                <a:latin typeface="Georgia" pitchFamily="34" charset="0"/>
                <a:ea typeface="Georgia" pitchFamily="34" charset="-122"/>
                <a:cs typeface="Georgia" pitchFamily="34" charset="-120"/>
              </a:rPr>
              <a:t>Examine your</a:t>
            </a:r>
            <a:endParaRPr lang="en-US" sz="4000" dirty="0"/>
          </a:p>
          <a:p>
            <a:pPr indent="0" marL="0">
              <a:lnSpc>
                <a:spcPts val="4200"/>
              </a:lnSpc>
              <a:buNone/>
            </a:pPr>
            <a:r>
              <a:rPr lang="en-US" sz="4000" dirty="0">
                <a:solidFill>
                  <a:srgbClr val="24313F"/>
                </a:solidFill>
                <a:latin typeface="Georgia" pitchFamily="34" charset="0"/>
                <a:ea typeface="Georgia" pitchFamily="34" charset="-122"/>
                <a:cs typeface="Georgia" pitchFamily="34" charset="-120"/>
              </a:rPr>
              <a:t>own decisions</a:t>
            </a:r>
            <a:endParaRPr lang="en-US" sz="4000" dirty="0"/>
          </a:p>
        </p:txBody>
      </p:sp>
      <p:sp>
        <p:nvSpPr>
          <p:cNvPr id="7" name="Text 4"/>
          <p:cNvSpPr/>
          <p:nvPr/>
        </p:nvSpPr>
        <p:spPr>
          <a:xfrm>
            <a:off x="822960" y="2743200"/>
            <a:ext cx="6583680" cy="292608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A self-portrait is the maker studying the maker. The CCR asks the same of you: not to describe the product, but to examine the person who made the choices. Add one honest sentence that flatters nobody. We chose the location because it was available, and it shows in the lighting. Honesty is what examiners read as reflection.</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PRODUCTION DIARIES PAY OUT</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ISSUED AT THE L05 LOCK, HARVESTED NOW</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280160"/>
            <a:ext cx="10543032" cy="914400"/>
          </a:xfrm>
          <a:prstGeom prst="rect">
            <a:avLst/>
          </a:prstGeom>
          <a:noFill/>
          <a:ln/>
        </p:spPr>
        <p:txBody>
          <a:bodyPr wrap="square" lIns="0" tIns="0" rIns="0" bIns="0" rtlCol="0" anchor="ctr"/>
          <a:lstStyle/>
          <a:p>
            <a:pPr indent="0" marL="0">
              <a:buNone/>
            </a:pPr>
            <a:r>
              <a:rPr lang="en-US" sz="3800" dirty="0">
                <a:solidFill>
                  <a:srgbClr val="24313F"/>
                </a:solidFill>
                <a:latin typeface="Georgia" pitchFamily="34" charset="0"/>
                <a:ea typeface="Georgia" pitchFamily="34" charset="-122"/>
                <a:cs typeface="Georgia" pitchFamily="34" charset="-120"/>
              </a:rPr>
              <a:t>A ready-made reflection bank</a:t>
            </a:r>
            <a:endParaRPr lang="en-US" sz="3800" dirty="0"/>
          </a:p>
        </p:txBody>
      </p:sp>
      <p:sp>
        <p:nvSpPr>
          <p:cNvPr id="6" name="Shape 4"/>
          <p:cNvSpPr/>
          <p:nvPr/>
        </p:nvSpPr>
        <p:spPr>
          <a:xfrm>
            <a:off x="822960" y="2514600"/>
            <a:ext cx="914400" cy="0"/>
          </a:xfrm>
          <a:prstGeom prst="line">
            <a:avLst/>
          </a:prstGeom>
          <a:noFill/>
          <a:ln w="31750">
            <a:solidFill>
              <a:srgbClr val="8C3A38"/>
            </a:solidFill>
            <a:prstDash val="solid"/>
          </a:ln>
        </p:spPr>
      </p:sp>
      <p:sp>
        <p:nvSpPr>
          <p:cNvPr id="7" name="Text 5"/>
          <p:cNvSpPr/>
          <p:nvPr/>
        </p:nvSpPr>
        <p:spPr>
          <a:xfrm>
            <a:off x="822960" y="2743200"/>
            <a:ext cx="9875520" cy="1920240"/>
          </a:xfrm>
          <a:prstGeom prst="rect">
            <a:avLst/>
          </a:prstGeom>
          <a:noFill/>
          <a:ln/>
        </p:spPr>
        <p:txBody>
          <a:bodyPr wrap="square" lIns="0" tIns="0" rIns="0" bIns="0" rtlCol="0" anchor="t"/>
          <a:lstStyle/>
          <a:p>
            <a:pPr indent="0" marL="0">
              <a:lnSpc>
                <a:spcPts val="2800"/>
              </a:lnSpc>
              <a:buNone/>
            </a:pPr>
            <a:r>
              <a:rPr lang="en-US" sz="2000" dirty="0">
                <a:solidFill>
                  <a:srgbClr val="24313F"/>
                </a:solidFill>
                <a:latin typeface="Georgia" pitchFamily="34" charset="0"/>
                <a:ea typeface="Georgia" pitchFamily="34" charset="-122"/>
                <a:cs typeface="Georgia" pitchFamily="34" charset="-120"/>
              </a:rPr>
              <a:t>Open the WS 6.4 diaries next to the drafts. Every entry in the decisions and consequences columns is already a reflection sentence: decided X because Y, consequence Z. This is why the lock's rule was documented decisions, not silent swaps. Transcribe the three best into the drafts.</a:t>
            </a:r>
            <a:endParaRPr lang="en-US" sz="2000" dirty="0"/>
          </a:p>
        </p:txBody>
      </p:sp>
      <p:sp>
        <p:nvSpPr>
          <p:cNvPr id="8" name="Shape 6"/>
          <p:cNvSpPr/>
          <p:nvPr/>
        </p:nvSpPr>
        <p:spPr>
          <a:xfrm>
            <a:off x="822960" y="4846320"/>
            <a:ext cx="10543032" cy="777240"/>
          </a:xfrm>
          <a:prstGeom prst="rect">
            <a:avLst/>
          </a:prstGeom>
          <a:solidFill>
            <a:srgbClr val="E8EFE7"/>
          </a:solidFill>
          <a:ln/>
        </p:spPr>
      </p:sp>
      <p:sp>
        <p:nvSpPr>
          <p:cNvPr id="9" name="Text 7"/>
          <p:cNvSpPr/>
          <p:nvPr/>
        </p:nvSpPr>
        <p:spPr>
          <a:xfrm>
            <a:off x="1097280" y="4846320"/>
            <a:ext cx="9994392" cy="777240"/>
          </a:xfrm>
          <a:prstGeom prst="rect">
            <a:avLst/>
          </a:prstGeom>
          <a:noFill/>
          <a:ln/>
        </p:spPr>
        <p:txBody>
          <a:bodyPr wrap="square" lIns="0" tIns="0" rIns="0" bIns="0" rtlCol="0" anchor="ctr"/>
          <a:lstStyle/>
          <a:p>
            <a:pPr indent="0" marL="0">
              <a:buNone/>
            </a:pPr>
            <a:r>
              <a:rPr lang="en-US" sz="1900" i="1" dirty="0">
                <a:solidFill>
                  <a:srgbClr val="4A6B5D"/>
                </a:solidFill>
                <a:latin typeface="Georgia" pitchFamily="34" charset="0"/>
                <a:ea typeface="Georgia" pitchFamily="34" charset="-122"/>
                <a:cs typeface="Georgia" pitchFamily="34" charset="-120"/>
              </a:rPr>
              <a:t>Decided X, because Y. Consequence: Z.</a:t>
            </a:r>
            <a:endParaRPr lang="en-US" sz="1900" dirty="0"/>
          </a:p>
        </p:txBody>
      </p:sp>
      <p:sp>
        <p:nvSpPr>
          <p:cNvPr id="10" name="Shape 8"/>
          <p:cNvSpPr/>
          <p:nvPr/>
        </p:nvSpPr>
        <p:spPr>
          <a:xfrm>
            <a:off x="822960" y="6382512"/>
            <a:ext cx="10543032" cy="0"/>
          </a:xfrm>
          <a:prstGeom prst="line">
            <a:avLst/>
          </a:prstGeom>
          <a:noFill/>
          <a:ln w="9525">
            <a:solidFill>
              <a:srgbClr val="D9D4C4"/>
            </a:solidFill>
            <a:prstDash val="solid"/>
          </a:ln>
        </p:spPr>
      </p:sp>
      <p:sp>
        <p:nvSpPr>
          <p:cNvPr id="11" name="Text 9"/>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2" name="Text 10"/>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828800"/>
            <a:ext cx="10424160" cy="2194560"/>
          </a:xfrm>
          <a:prstGeom prst="rect">
            <a:avLst/>
          </a:prstGeom>
          <a:noFill/>
          <a:ln/>
        </p:spPr>
        <p:txBody>
          <a:bodyPr wrap="square" lIns="0" tIns="0" rIns="0" bIns="0" rtlCol="0" anchor="ctr"/>
          <a:lstStyle/>
          <a:p>
            <a:pPr indent="0" marL="0">
              <a:lnSpc>
                <a:spcPts val="6000"/>
              </a:lnSpc>
              <a:buNone/>
            </a:pPr>
            <a:r>
              <a:rPr lang="en-US" sz="5400" dirty="0">
                <a:solidFill>
                  <a:srgbClr val="24313F"/>
                </a:solidFill>
                <a:latin typeface="Georgia" pitchFamily="34" charset="0"/>
                <a:ea typeface="Georgia" pitchFamily="34" charset="-122"/>
                <a:cs typeface="Georgia" pitchFamily="34" charset="-120"/>
              </a:rPr>
              <a:t>To see oursels</a:t>
            </a:r>
            <a:endParaRPr lang="en-US" sz="5400" dirty="0"/>
          </a:p>
          <a:p>
            <a:pPr indent="0" marL="0">
              <a:lnSpc>
                <a:spcPts val="6000"/>
              </a:lnSpc>
              <a:buNone/>
            </a:pPr>
            <a:r>
              <a:rPr lang="en-US" sz="5400" dirty="0">
                <a:solidFill>
                  <a:srgbClr val="24313F"/>
                </a:solidFill>
                <a:latin typeface="Georgia" pitchFamily="34" charset="0"/>
                <a:ea typeface="Georgia" pitchFamily="34" charset="-122"/>
                <a:cs typeface="Georgia" pitchFamily="34" charset="-120"/>
              </a:rPr>
              <a:t>as ithers see us.</a:t>
            </a:r>
            <a:endParaRPr lang="en-US" sz="5400" dirty="0"/>
          </a:p>
        </p:txBody>
      </p:sp>
      <p:sp>
        <p:nvSpPr>
          <p:cNvPr id="4" name="Shape 2"/>
          <p:cNvSpPr/>
          <p:nvPr/>
        </p:nvSpPr>
        <p:spPr>
          <a:xfrm>
            <a:off x="822960" y="4754880"/>
            <a:ext cx="914400" cy="0"/>
          </a:xfrm>
          <a:prstGeom prst="line">
            <a:avLst/>
          </a:prstGeom>
          <a:noFill/>
          <a:ln w="31750">
            <a:solidFill>
              <a:srgbClr val="8C3A38"/>
            </a:solidFill>
            <a:prstDash val="solid"/>
          </a:ln>
        </p:spPr>
      </p:sp>
      <p:sp>
        <p:nvSpPr>
          <p:cNvPr id="5" name="Text 3"/>
          <p:cNvSpPr/>
          <p:nvPr/>
        </p:nvSpPr>
        <p:spPr>
          <a:xfrm>
            <a:off x="822960" y="4937760"/>
            <a:ext cx="1024128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Robert Burns, To a Louse, 1786   ·   to see ourselves as others see us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SENTENCE SURGERY</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RUN THE TEST ON YOUR OWN DRAFT</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One sentence, operated on</a:t>
            </a:r>
            <a:endParaRPr lang="en-US" sz="3400" dirty="0"/>
          </a:p>
        </p:txBody>
      </p:sp>
      <p:sp>
        <p:nvSpPr>
          <p:cNvPr id="6" name="Text 4"/>
          <p:cNvSpPr/>
          <p:nvPr/>
        </p:nvSpPr>
        <p:spPr>
          <a:xfrm>
            <a:off x="822960" y="1965960"/>
            <a:ext cx="4846320" cy="365760"/>
          </a:xfrm>
          <a:prstGeom prst="rect">
            <a:avLst/>
          </a:prstGeom>
          <a:noFill/>
          <a:ln/>
        </p:spPr>
        <p:txBody>
          <a:bodyPr wrap="square" lIns="0" tIns="0" rIns="0" bIns="0" rtlCol="0" anchor="ctr"/>
          <a:lstStyle/>
          <a:p>
            <a:pPr indent="0" marL="0">
              <a:buNone/>
            </a:pPr>
            <a:r>
              <a:rPr lang="en-US" sz="1100" b="1" spc="150" kern="0" dirty="0">
                <a:solidFill>
                  <a:srgbClr val="7A7F72"/>
                </a:solidFill>
                <a:latin typeface="Arial" pitchFamily="34" charset="0"/>
                <a:ea typeface="Arial" pitchFamily="34" charset="-122"/>
                <a:cs typeface="Arial" pitchFamily="34" charset="-120"/>
              </a:rPr>
              <a:t>BEFORE  ·  describes</a:t>
            </a:r>
            <a:endParaRPr lang="en-US" sz="1100" dirty="0"/>
          </a:p>
        </p:txBody>
      </p:sp>
      <p:sp>
        <p:nvSpPr>
          <p:cNvPr id="7" name="Shape 5"/>
          <p:cNvSpPr/>
          <p:nvPr/>
        </p:nvSpPr>
        <p:spPr>
          <a:xfrm>
            <a:off x="822960" y="2331720"/>
            <a:ext cx="4846320" cy="1554480"/>
          </a:xfrm>
          <a:prstGeom prst="rect">
            <a:avLst/>
          </a:prstGeom>
          <a:solidFill>
            <a:srgbClr val="FAF8F1"/>
          </a:solidFill>
          <a:ln w="12700">
            <a:solidFill>
              <a:srgbClr val="D9D4C4"/>
            </a:solidFill>
            <a:prstDash val="solid"/>
          </a:ln>
        </p:spPr>
      </p:sp>
      <p:sp>
        <p:nvSpPr>
          <p:cNvPr id="8" name="Text 6"/>
          <p:cNvSpPr/>
          <p:nvPr/>
        </p:nvSpPr>
        <p:spPr>
          <a:xfrm>
            <a:off x="1051560" y="2468880"/>
            <a:ext cx="4389120" cy="1280160"/>
          </a:xfrm>
          <a:prstGeom prst="rect">
            <a:avLst/>
          </a:prstGeom>
          <a:noFill/>
          <a:ln/>
        </p:spPr>
        <p:txBody>
          <a:bodyPr wrap="square" lIns="0" tIns="0" rIns="0" bIns="0" rtlCol="0" anchor="t"/>
          <a:lstStyle/>
          <a:p>
            <a:pPr indent="0" marL="0">
              <a:lnSpc>
                <a:spcPts val="2300"/>
              </a:lnSpc>
              <a:buNone/>
            </a:pPr>
            <a:r>
              <a:rPr lang="en-US" sz="1700" dirty="0">
                <a:solidFill>
                  <a:srgbClr val="7A7F72"/>
                </a:solidFill>
                <a:latin typeface="Georgia" pitchFamily="34" charset="0"/>
                <a:ea typeface="Georgia" pitchFamily="34" charset="-122"/>
                <a:cs typeface="Georgia" pitchFamily="34" charset="-120"/>
              </a:rPr>
              <a:t>We filmed the scene in the car park and then edited it together.</a:t>
            </a:r>
            <a:endParaRPr lang="en-US" sz="1700" dirty="0"/>
          </a:p>
        </p:txBody>
      </p:sp>
      <p:sp>
        <p:nvSpPr>
          <p:cNvPr id="9" name="Text 7"/>
          <p:cNvSpPr/>
          <p:nvPr/>
        </p:nvSpPr>
        <p:spPr>
          <a:xfrm>
            <a:off x="5760720" y="2651760"/>
            <a:ext cx="548640" cy="914400"/>
          </a:xfrm>
          <a:prstGeom prst="rect">
            <a:avLst/>
          </a:prstGeom>
          <a:noFill/>
          <a:ln/>
        </p:spPr>
        <p:txBody>
          <a:bodyPr wrap="square" lIns="0" tIns="0" rIns="0" bIns="0" rtlCol="0" anchor="ctr"/>
          <a:lstStyle/>
          <a:p>
            <a:pPr algn="ctr" indent="0" marL="0">
              <a:buNone/>
            </a:pPr>
            <a:r>
              <a:rPr lang="en-US" sz="3400" dirty="0">
                <a:solidFill>
                  <a:srgbClr val="A3C1AD"/>
                </a:solidFill>
                <a:latin typeface="Georgia" pitchFamily="34" charset="0"/>
                <a:ea typeface="Georgia" pitchFamily="34" charset="-122"/>
                <a:cs typeface="Georgia" pitchFamily="34" charset="-120"/>
              </a:rPr>
              <a:t>→</a:t>
            </a:r>
            <a:endParaRPr lang="en-US" sz="3400" dirty="0"/>
          </a:p>
        </p:txBody>
      </p:sp>
      <p:sp>
        <p:nvSpPr>
          <p:cNvPr id="10" name="Text 8"/>
          <p:cNvSpPr/>
          <p:nvPr/>
        </p:nvSpPr>
        <p:spPr>
          <a:xfrm>
            <a:off x="6492240" y="1965960"/>
            <a:ext cx="4846320" cy="365760"/>
          </a:xfrm>
          <a:prstGeom prst="rect">
            <a:avLst/>
          </a:prstGeom>
          <a:noFill/>
          <a:ln/>
        </p:spPr>
        <p:txBody>
          <a:bodyPr wrap="square" lIns="0" tIns="0" rIns="0" bIns="0" rtlCol="0" anchor="ctr"/>
          <a:lstStyle/>
          <a:p>
            <a:pPr indent="0" marL="0">
              <a:buNone/>
            </a:pPr>
            <a:r>
              <a:rPr lang="en-US" sz="1100" b="1" spc="150" kern="0" dirty="0">
                <a:solidFill>
                  <a:srgbClr val="4A6B5D"/>
                </a:solidFill>
                <a:latin typeface="Arial" pitchFamily="34" charset="0"/>
                <a:ea typeface="Arial" pitchFamily="34" charset="-122"/>
                <a:cs typeface="Arial" pitchFamily="34" charset="-120"/>
              </a:rPr>
              <a:t>AFTER  ·  reflects</a:t>
            </a:r>
            <a:endParaRPr lang="en-US" sz="1100" dirty="0"/>
          </a:p>
        </p:txBody>
      </p:sp>
      <p:sp>
        <p:nvSpPr>
          <p:cNvPr id="11" name="Shape 9"/>
          <p:cNvSpPr/>
          <p:nvPr/>
        </p:nvSpPr>
        <p:spPr>
          <a:xfrm>
            <a:off x="6492240" y="2331720"/>
            <a:ext cx="4846320" cy="1554480"/>
          </a:xfrm>
          <a:prstGeom prst="rect">
            <a:avLst/>
          </a:prstGeom>
          <a:solidFill>
            <a:srgbClr val="E8EFE7"/>
          </a:solidFill>
          <a:ln w="12700">
            <a:solidFill>
              <a:srgbClr val="8AA394"/>
            </a:solidFill>
            <a:prstDash val="solid"/>
          </a:ln>
        </p:spPr>
      </p:sp>
      <p:sp>
        <p:nvSpPr>
          <p:cNvPr id="12" name="Text 10"/>
          <p:cNvSpPr/>
          <p:nvPr/>
        </p:nvSpPr>
        <p:spPr>
          <a:xfrm>
            <a:off x="6720840" y="2450592"/>
            <a:ext cx="4434840" cy="1371600"/>
          </a:xfrm>
          <a:prstGeom prst="rect">
            <a:avLst/>
          </a:prstGeom>
          <a:noFill/>
          <a:ln/>
        </p:spPr>
        <p:txBody>
          <a:bodyPr wrap="square" lIns="0" tIns="0" rIns="0" bIns="0" rtlCol="0" anchor="t"/>
          <a:lstStyle/>
          <a:p>
            <a:pPr indent="0" marL="0">
              <a:lnSpc>
                <a:spcPts val="2000"/>
              </a:lnSpc>
              <a:buNone/>
            </a:pPr>
            <a:r>
              <a:rPr lang="en-US" sz="1550" dirty="0">
                <a:solidFill>
                  <a:srgbClr val="24313F"/>
                </a:solidFill>
                <a:latin typeface="Georgia" pitchFamily="34" charset="0"/>
                <a:ea typeface="Georgia" pitchFamily="34" charset="-122"/>
                <a:cs typeface="Georgia" pitchFamily="34" charset="-120"/>
              </a:rPr>
              <a:t>We chose the car park because it was the only free location, and the flat light shows in the grade; next time we would scout for contrast.</a:t>
            </a:r>
            <a:endParaRPr lang="en-US" sz="1550" dirty="0"/>
          </a:p>
        </p:txBody>
      </p:sp>
      <p:sp>
        <p:nvSpPr>
          <p:cNvPr id="13" name="Text 11"/>
          <p:cNvSpPr/>
          <p:nvPr/>
        </p:nvSpPr>
        <p:spPr>
          <a:xfrm>
            <a:off x="822960" y="4297680"/>
            <a:ext cx="10543032" cy="457200"/>
          </a:xfrm>
          <a:prstGeom prst="rect">
            <a:avLst/>
          </a:prstGeom>
          <a:noFill/>
          <a:ln/>
        </p:spPr>
        <p:txBody>
          <a:bodyPr wrap="square" lIns="0" tIns="0" rIns="0" bIns="0" rtlCol="0" anchor="ctr"/>
          <a:lstStyle/>
          <a:p>
            <a:pPr indent="0" marL="0">
              <a:buNone/>
            </a:pPr>
            <a:r>
              <a:rPr lang="en-US" sz="1700" i="1" dirty="0">
                <a:solidFill>
                  <a:srgbClr val="4A6B5D"/>
                </a:solidFill>
                <a:latin typeface="Georgia" pitchFamily="34" charset="0"/>
                <a:ea typeface="Georgia" pitchFamily="34" charset="-122"/>
                <a:cs typeface="Georgia" pitchFamily="34" charset="-120"/>
              </a:rPr>
              <a:t>Same event. One names a decision, a reason, and a change. That is the whole surgery.</a:t>
            </a:r>
            <a:endParaRPr lang="en-US" sz="1700" dirty="0"/>
          </a:p>
        </p:txBody>
      </p:sp>
      <p:sp>
        <p:nvSpPr>
          <p:cNvPr id="14" name="Text 12"/>
          <p:cNvSpPr/>
          <p:nvPr/>
        </p:nvSpPr>
        <p:spPr>
          <a:xfrm>
            <a:off x="822960" y="4892040"/>
            <a:ext cx="10543032" cy="365760"/>
          </a:xfrm>
          <a:prstGeom prst="rect">
            <a:avLst/>
          </a:prstGeom>
          <a:noFill/>
          <a:ln/>
        </p:spPr>
        <p:txBody>
          <a:bodyPr wrap="square" lIns="0" tIns="0" rIns="0" bIns="0" rtlCol="0" anchor="ctr"/>
          <a:lstStyle/>
          <a:p>
            <a:pPr indent="0" marL="0">
              <a:buNone/>
            </a:pPr>
            <a:r>
              <a:rPr lang="en-US" sz="1250" i="1" dirty="0">
                <a:solidFill>
                  <a:srgbClr val="7A7F72"/>
                </a:solidFill>
                <a:latin typeface="Arial" pitchFamily="34" charset="0"/>
                <a:ea typeface="Arial" pitchFamily="34" charset="-122"/>
                <a:cs typeface="Arial" pitchFamily="34" charset="-120"/>
              </a:rPr>
              <a:t>The surgery closes with format speed-pitches: 60 seconds each in fours, the four votes, format finalized.</a:t>
            </a:r>
            <a:endParaRPr lang="en-US" sz="1250" dirty="0"/>
          </a:p>
        </p:txBody>
      </p:sp>
      <p:sp>
        <p:nvSpPr>
          <p:cNvPr id="15" name="Shape 13"/>
          <p:cNvSpPr/>
          <p:nvPr/>
        </p:nvSpPr>
        <p:spPr>
          <a:xfrm>
            <a:off x="822960" y="6382512"/>
            <a:ext cx="10543032" cy="0"/>
          </a:xfrm>
          <a:prstGeom prst="line">
            <a:avLst/>
          </a:prstGeom>
          <a:noFill/>
          <a:ln w="9525">
            <a:solidFill>
              <a:srgbClr val="D9D4C4"/>
            </a:solidFill>
            <a:prstDash val="solid"/>
          </a:ln>
        </p:spPr>
      </p:sp>
      <p:sp>
        <p:nvSpPr>
          <p:cNvPr id="16" name="Text 14"/>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7" name="Text 15"/>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DELIVERABLE · CS11</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DIRECT PRACTICE FOR A3</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280160"/>
            <a:ext cx="10543032" cy="91440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Reviewed against the real C1 criteria</a:t>
            </a:r>
            <a:endParaRPr lang="en-US" sz="3200" dirty="0"/>
          </a:p>
        </p:txBody>
      </p:sp>
      <p:sp>
        <p:nvSpPr>
          <p:cNvPr id="6" name="Shape 4"/>
          <p:cNvSpPr/>
          <p:nvPr/>
        </p:nvSpPr>
        <p:spPr>
          <a:xfrm>
            <a:off x="822960" y="2423160"/>
            <a:ext cx="914400" cy="0"/>
          </a:xfrm>
          <a:prstGeom prst="line">
            <a:avLst/>
          </a:prstGeom>
          <a:noFill/>
          <a:ln w="31750">
            <a:solidFill>
              <a:srgbClr val="8C3A38"/>
            </a:solidFill>
            <a:prstDash val="solid"/>
          </a:ln>
        </p:spPr>
      </p:sp>
      <p:sp>
        <p:nvSpPr>
          <p:cNvPr id="7" name="Text 5"/>
          <p:cNvSpPr/>
          <p:nvPr/>
        </p:nvSpPr>
        <p:spPr>
          <a:xfrm>
            <a:off x="822960" y="2651760"/>
            <a:ext cx="9875520" cy="2103120"/>
          </a:xfrm>
          <a:prstGeom prst="rect">
            <a:avLst/>
          </a:prstGeom>
          <a:noFill/>
          <a:ln/>
        </p:spPr>
        <p:txBody>
          <a:bodyPr wrap="square" lIns="0" tIns="0" rIns="0" bIns="0" rtlCol="0" anchor="t"/>
          <a:lstStyle/>
          <a:p>
            <a:pPr indent="0" marL="0">
              <a:lnSpc>
                <a:spcPts val="2700"/>
              </a:lnSpc>
              <a:buNone/>
            </a:pPr>
            <a:r>
              <a:rPr lang="en-US" sz="1900" dirty="0">
                <a:solidFill>
                  <a:srgbClr val="24313F"/>
                </a:solidFill>
                <a:latin typeface="Georgia" pitchFamily="34" charset="0"/>
                <a:ea typeface="Georgia" pitchFamily="34" charset="-122"/>
                <a:cs typeface="Georgia" pitchFamily="34" charset="-120"/>
              </a:rPr>
              <a:t>Full drafts reviewed by teacher and peers in the C1 criteria's own language: describe, question, suggest. Every draft leaves with a written action list. The format is chosen by Friday from the coursebook menu, director's commentary, voiceover, podcast, or screencast, and presented creatively using technology is a requirement, not a suggestion.</a:t>
            </a:r>
            <a:endParaRPr lang="en-US" sz="1900" dirty="0"/>
          </a:p>
        </p:txBody>
      </p:sp>
      <p:sp>
        <p:nvSpPr>
          <p:cNvPr id="8" name="Text 6"/>
          <p:cNvSpPr/>
          <p:nvPr/>
        </p:nvSpPr>
        <p:spPr>
          <a:xfrm>
            <a:off x="822960" y="4892040"/>
            <a:ext cx="9875520" cy="457200"/>
          </a:xfrm>
          <a:prstGeom prst="rect">
            <a:avLst/>
          </a:prstGeom>
          <a:noFill/>
          <a:ln/>
        </p:spPr>
        <p:txBody>
          <a:bodyPr wrap="square" lIns="0" tIns="0" rIns="0" bIns="0" rtlCol="0" anchor="ctr"/>
          <a:lstStyle/>
          <a:p>
            <a:pPr indent="0" marL="0">
              <a:buNone/>
            </a:pPr>
            <a:r>
              <a:rPr lang="en-US" sz="1300" i="1" dirty="0">
                <a:solidFill>
                  <a:srgbClr val="7A7F72"/>
                </a:solidFill>
                <a:latin typeface="Arial" pitchFamily="34" charset="0"/>
                <a:ea typeface="Arial" pitchFamily="34" charset="-122"/>
                <a:cs typeface="Arial" pitchFamily="34" charset="-120"/>
              </a:rPr>
              <a:t>This cohort's CCR is the blog-era, four-question, creative-format artifact, coursebook 6.7.</a:t>
            </a:r>
            <a:endParaRPr lang="en-US" sz="1300" dirty="0"/>
          </a:p>
        </p:txBody>
      </p:sp>
      <p:sp>
        <p:nvSpPr>
          <p:cNvPr id="9" name="Shape 7"/>
          <p:cNvSpPr/>
          <p:nvPr/>
        </p:nvSpPr>
        <p:spPr>
          <a:xfrm>
            <a:off x="822960" y="6382512"/>
            <a:ext cx="10543032" cy="0"/>
          </a:xfrm>
          <a:prstGeom prst="line">
            <a:avLst/>
          </a:prstGeom>
          <a:noFill/>
          <a:ln w="9525">
            <a:solidFill>
              <a:srgbClr val="D9D4C4"/>
            </a:solidFill>
            <a:prstDash val="solid"/>
          </a:ln>
        </p:spPr>
      </p:sp>
      <p:sp>
        <p:nvSpPr>
          <p:cNvPr id="10" name="Text 8"/>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1" name="Text 9"/>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54864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NEXT</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651760"/>
            <a:ext cx="10424160" cy="1920240"/>
          </a:xfrm>
          <a:prstGeom prst="rect">
            <a:avLst/>
          </a:prstGeom>
          <a:noFill/>
          <a:ln/>
        </p:spPr>
        <p:txBody>
          <a:bodyPr wrap="square" lIns="0" tIns="0" rIns="0" bIns="0" rtlCol="0" anchor="t"/>
          <a:lstStyle/>
          <a:p>
            <a:pPr indent="0" marL="0">
              <a:lnSpc>
                <a:spcPts val="5200"/>
              </a:lnSpc>
              <a:buNone/>
            </a:pPr>
            <a:r>
              <a:rPr lang="en-US" sz="4800" dirty="0">
                <a:solidFill>
                  <a:srgbClr val="FAF8F1"/>
                </a:solidFill>
                <a:latin typeface="Georgia" pitchFamily="34" charset="0"/>
                <a:ea typeface="Georgia" pitchFamily="34" charset="-122"/>
                <a:cs typeface="Georgia" pitchFamily="34" charset="-120"/>
              </a:rPr>
              <a:t>Audiences, and the</a:t>
            </a:r>
            <a:endParaRPr lang="en-US" sz="4800" dirty="0"/>
          </a:p>
          <a:p>
            <a:pPr indent="0" marL="0">
              <a:lnSpc>
                <a:spcPts val="5200"/>
              </a:lnSpc>
              <a:buNone/>
            </a:pPr>
            <a:r>
              <a:rPr lang="en-US" sz="4800" dirty="0">
                <a:solidFill>
                  <a:srgbClr val="FAF8F1"/>
                </a:solidFill>
                <a:latin typeface="Georgia" pitchFamily="34" charset="0"/>
                <a:ea typeface="Georgia" pitchFamily="34" charset="-122"/>
                <a:cs typeface="Georgia" pitchFamily="34" charset="-120"/>
              </a:rPr>
              <a:t>Portfolio Submission</a:t>
            </a:r>
            <a:endParaRPr lang="en-US" sz="4800" dirty="0"/>
          </a:p>
        </p:txBody>
      </p:sp>
      <p:sp>
        <p:nvSpPr>
          <p:cNvPr id="5" name="Text 3"/>
          <p:cNvSpPr/>
          <p:nvPr/>
        </p:nvSpPr>
        <p:spPr>
          <a:xfrm>
            <a:off x="822960" y="4846320"/>
            <a:ext cx="9875520" cy="457200"/>
          </a:xfrm>
          <a:prstGeom prst="rect">
            <a:avLst/>
          </a:prstGeom>
          <a:noFill/>
          <a:ln/>
        </p:spPr>
        <p:txBody>
          <a:bodyPr wrap="square" lIns="0" tIns="0" rIns="0" bIns="0" rtlCol="0" anchor="ctr"/>
          <a:lstStyle/>
          <a:p>
            <a:pPr indent="0" marL="0">
              <a:buNone/>
            </a:pPr>
            <a:r>
              <a:rPr lang="en-US" sz="2200" i="1" dirty="0">
                <a:solidFill>
                  <a:srgbClr val="E8EFE7"/>
                </a:solidFill>
                <a:latin typeface="Georgia" pitchFamily="34" charset="0"/>
                <a:ea typeface="Georgia" pitchFamily="34" charset="-122"/>
                <a:cs typeface="Georgia" pitchFamily="34" charset="-120"/>
              </a:rPr>
              <a:t>Lesson 14. The Component 1 arc closes: A3 goes in, with no edits after.</a:t>
            </a:r>
            <a:endParaRPr lang="en-US" sz="22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MEDIA STUDIES 9607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2026-08-09T07:47:22Z</dcterms:created>
  <dcterms:modified xsi:type="dcterms:W3CDTF">2026-08-09T07:47:22Z</dcterms:modified>
</cp:coreProperties>
</file>