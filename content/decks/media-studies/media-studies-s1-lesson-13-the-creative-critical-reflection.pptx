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week, one artifact: the CCR that carries a fifth of the A3 marks in disguise, because it is where AO2 lives in the portfolio.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rule that governs all four days doubles as the success criterion, straight from the schedule.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syllabus wording sits behind these student-language versions; the plan issues them EN/ZH, which is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plan promises the four questions issued in student language, EN/ZH; both slides go on the wall. Both languages are legitimate in the room; the CCR itself is written in English.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maxim is ours, not a quotation; it runs the sentence surgery and the CS11 review alike.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Restored 2026-08-24: the lesson names Rivera's 1907 self-portrait, replaced by Van Gogh in July only because the library scan was too small; a larger scan is now in img/. Update CREDITS if this ships.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lock was L07 (the old slide said L05, a pre-rebuild residue). The Q1 evidence base also includes the L11 stereotype-audit findings: a fixed stereotype is a reflection sentence waiting to happen.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surgery sheet is ten sentences, PROPOSED; the banned sentence is any variant of aimed at young people aged 15 to 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exemplars live on the School Support Hub (URLs in the plan's sources; teacher login). Candidate B's CCR strand was the only strand off the top band. This is the plan's strongest teacher note, now on a slide; the format spread is a hard requirement at D1.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protocol runs Deck U6.1's Lerman-style structure. The criteria page on screen is the syllabus's own; the review is conducted in its language so A3's marking holds no surprises.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6858000" y="822960"/>
            <a:ext cx="4572000" cy="4937760"/>
          </a:xfrm>
          <a:prstGeom prst="rect">
            <a:avLst/>
          </a:prstGeom>
          <a:noFill/>
          <a:ln/>
        </p:spPr>
        <p:txBody>
          <a:bodyPr wrap="square" lIns="0" tIns="0" rIns="0" bIns="0" rtlCol="0" anchor="ctr"/>
          <a:lstStyle/>
          <a:p>
            <a:pPr algn="ctr" indent="0" marL="0">
              <a:buNone/>
            </a:pPr>
            <a:r>
              <a:rPr lang="en-US" sz="20000" dirty="0">
                <a:solidFill>
                  <a:srgbClr val="A3C1AD"/>
                </a:solidFill>
                <a:latin typeface="Georgia" pitchFamily="34" charset="0"/>
                <a:ea typeface="Georgia" pitchFamily="34" charset="-122"/>
                <a:cs typeface="Georgia" pitchFamily="34" charset="-120"/>
              </a:rPr>
              <a:t>XIII</a:t>
            </a:r>
            <a:endParaRPr lang="en-US" sz="20000" dirty="0"/>
          </a:p>
        </p:txBody>
      </p:sp>
      <p:sp>
        <p:nvSpPr>
          <p:cNvPr id="3" name="Text 1"/>
          <p:cNvSpPr/>
          <p:nvPr/>
        </p:nvSpPr>
        <p:spPr>
          <a:xfrm>
            <a:off x="822960" y="1234440"/>
            <a:ext cx="82296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MEDIA STUDIES 9607 · UNIT IV</a:t>
            </a:r>
            <a:endParaRPr lang="en-US" sz="1100" dirty="0"/>
          </a:p>
        </p:txBody>
      </p:sp>
      <p:sp>
        <p:nvSpPr>
          <p:cNvPr id="4" name="Text 2"/>
          <p:cNvSpPr/>
          <p:nvPr/>
        </p:nvSpPr>
        <p:spPr>
          <a:xfrm>
            <a:off x="822960" y="1737360"/>
            <a:ext cx="7589520" cy="2377440"/>
          </a:xfrm>
          <a:prstGeom prst="rect">
            <a:avLst/>
          </a:prstGeom>
          <a:noFill/>
          <a:ln/>
        </p:spPr>
        <p:txBody>
          <a:bodyPr wrap="square" lIns="0" tIns="0" rIns="0" bIns="0" rtlCol="0" anchor="t"/>
          <a:lstStyle/>
          <a:p>
            <a:pPr indent="0" marL="0">
              <a:lnSpc>
                <a:spcPts val="5200"/>
              </a:lnSpc>
              <a:buNone/>
            </a:pPr>
            <a:r>
              <a:rPr lang="en-US" sz="5200" dirty="0">
                <a:solidFill>
                  <a:srgbClr val="24313F"/>
                </a:solidFill>
                <a:latin typeface="Georgia" pitchFamily="34" charset="0"/>
                <a:ea typeface="Georgia" pitchFamily="34" charset="-122"/>
                <a:cs typeface="Georgia" pitchFamily="34" charset="-120"/>
              </a:rPr>
              <a:t>The Creative</a:t>
            </a:r>
            <a:endParaRPr lang="en-US" sz="5200" dirty="0"/>
          </a:p>
          <a:p>
            <a:pPr indent="0" marL="0">
              <a:lnSpc>
                <a:spcPts val="5200"/>
              </a:lnSpc>
              <a:buNone/>
            </a:pPr>
            <a:r>
              <a:rPr lang="en-US" sz="5200" dirty="0">
                <a:solidFill>
                  <a:srgbClr val="24313F"/>
                </a:solidFill>
                <a:latin typeface="Georgia" pitchFamily="34" charset="0"/>
                <a:ea typeface="Georgia" pitchFamily="34" charset="-122"/>
                <a:cs typeface="Georgia" pitchFamily="34" charset="-120"/>
              </a:rPr>
              <a:t>Critical Reflection</a:t>
            </a:r>
            <a:endParaRPr lang="en-US" sz="5200" dirty="0"/>
          </a:p>
        </p:txBody>
      </p:sp>
      <p:sp>
        <p:nvSpPr>
          <p:cNvPr id="5" name="Shape 3"/>
          <p:cNvSpPr/>
          <p:nvPr/>
        </p:nvSpPr>
        <p:spPr>
          <a:xfrm>
            <a:off x="822960" y="4343400"/>
            <a:ext cx="914400" cy="0"/>
          </a:xfrm>
          <a:prstGeom prst="line">
            <a:avLst/>
          </a:prstGeom>
          <a:noFill/>
          <a:ln w="31750">
            <a:solidFill>
              <a:srgbClr val="8C3A38"/>
            </a:solidFill>
            <a:prstDash val="solid"/>
          </a:ln>
        </p:spPr>
      </p:sp>
      <p:sp>
        <p:nvSpPr>
          <p:cNvPr id="6" name="Text 4"/>
          <p:cNvSpPr/>
          <p:nvPr/>
        </p:nvSpPr>
        <p:spPr>
          <a:xfrm>
            <a:off x="822960" y="4526280"/>
            <a:ext cx="7315200" cy="457200"/>
          </a:xfrm>
          <a:prstGeom prst="rect">
            <a:avLst/>
          </a:prstGeom>
          <a:noFill/>
          <a:ln/>
        </p:spPr>
        <p:txBody>
          <a:bodyPr wrap="square" lIns="0" tIns="0" rIns="0" bIns="0" rtlCol="0" anchor="ctr"/>
          <a:lstStyle/>
          <a:p>
            <a:pPr indent="0" marL="0">
              <a:buNone/>
            </a:pPr>
            <a:r>
              <a:rPr lang="en-US" sz="2200" i="1" dirty="0">
                <a:solidFill>
                  <a:srgbClr val="7A7F72"/>
                </a:solidFill>
                <a:latin typeface="Georgia" pitchFamily="34" charset="0"/>
                <a:ea typeface="Georgia" pitchFamily="34" charset="-122"/>
                <a:cs typeface="Georgia" pitchFamily="34" charset="-120"/>
              </a:rPr>
              <a:t>Representation · Lesson 13 of 19</a:t>
            </a:r>
            <a:endParaRPr lang="en-US" sz="2200" dirty="0"/>
          </a:p>
        </p:txBody>
      </p:sp>
      <p:sp>
        <p:nvSpPr>
          <p:cNvPr id="7" name="Text 5"/>
          <p:cNvSpPr/>
          <p:nvPr/>
        </p:nvSpPr>
        <p:spPr>
          <a:xfrm>
            <a:off x="822960" y="5029200"/>
            <a:ext cx="8229600" cy="365760"/>
          </a:xfrm>
          <a:prstGeom prst="rect">
            <a:avLst/>
          </a:prstGeom>
          <a:noFill/>
          <a:ln/>
        </p:spPr>
        <p:txBody>
          <a:bodyPr wrap="square" lIns="0" tIns="0" rIns="0" bIns="0" rtlCol="0" anchor="ctr"/>
          <a:lstStyle/>
          <a:p>
            <a:pPr indent="0" marL="0">
              <a:buNone/>
            </a:pPr>
            <a:r>
              <a:rPr lang="en-US" sz="1300" spc="100" kern="0" dirty="0">
                <a:solidFill>
                  <a:srgbClr val="7A7F72"/>
                </a:solidFill>
                <a:latin typeface="Arial" pitchFamily="34" charset="0"/>
                <a:ea typeface="Arial" pitchFamily="34" charset="-122"/>
                <a:cs typeface="Arial" pitchFamily="34" charset="-120"/>
              </a:rPr>
              <a:t>Four days  ·  Monday 16 to Friday 20 November</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4A6B5D"/>
        </a:solidFill>
      </p:bgPr>
    </p:bg>
    <p:spTree>
      <p:nvGrpSpPr>
        <p:cNvPr id="1" name=""/>
        <p:cNvGrpSpPr/>
        <p:nvPr/>
      </p:nvGrpSpPr>
      <p:grpSpPr>
        <a:xfrm>
          <a:off x="0" y="0"/>
          <a:ext cx="0" cy="0"/>
          <a:chOff x="0" y="0"/>
          <a:chExt cx="0" cy="0"/>
        </a:xfrm>
      </p:grpSpPr>
      <p:sp>
        <p:nvSpPr>
          <p:cNvPr id="2" name="Text 0"/>
          <p:cNvSpPr/>
          <p:nvPr/>
        </p:nvSpPr>
        <p:spPr>
          <a:xfrm>
            <a:off x="6675120" y="640080"/>
            <a:ext cx="4937760" cy="5577840"/>
          </a:xfrm>
          <a:prstGeom prst="rect">
            <a:avLst/>
          </a:prstGeom>
          <a:noFill/>
          <a:ln/>
        </p:spPr>
        <p:txBody>
          <a:bodyPr wrap="square" lIns="0" tIns="0" rIns="0" bIns="0" rtlCol="0" anchor="ctr"/>
          <a:lstStyle/>
          <a:p>
            <a:pPr algn="ctr" indent="0" marL="0">
              <a:buNone/>
            </a:pPr>
            <a:r>
              <a:rPr lang="en-US" sz="22000" dirty="0">
                <a:solidFill>
                  <a:srgbClr val="5C7A6B"/>
                </a:solidFill>
                <a:latin typeface="Georgia" pitchFamily="34" charset="0"/>
                <a:ea typeface="Georgia" pitchFamily="34" charset="-122"/>
                <a:cs typeface="Georgia" pitchFamily="34" charset="-120"/>
              </a:rPr>
              <a:t>XIII</a:t>
            </a:r>
            <a:endParaRPr lang="en-US" sz="22000" dirty="0"/>
          </a:p>
        </p:txBody>
      </p:sp>
      <p:sp>
        <p:nvSpPr>
          <p:cNvPr id="3" name="Text 1"/>
          <p:cNvSpPr/>
          <p:nvPr/>
        </p:nvSpPr>
        <p:spPr>
          <a:xfrm>
            <a:off x="822960" y="2286000"/>
            <a:ext cx="8229600" cy="274320"/>
          </a:xfrm>
          <a:prstGeom prst="rect">
            <a:avLst/>
          </a:prstGeom>
          <a:noFill/>
          <a:ln/>
        </p:spPr>
        <p:txBody>
          <a:bodyPr wrap="square" lIns="0" tIns="0" rIns="0" bIns="0" rtlCol="0" anchor="ctr"/>
          <a:lstStyle/>
          <a:p>
            <a:pPr algn="l" indent="0" marL="0">
              <a:buNone/>
            </a:pPr>
            <a:r>
              <a:rPr lang="en-US" sz="1100" b="1" spc="250" kern="0" dirty="0">
                <a:solidFill>
                  <a:srgbClr val="FAF8F1"/>
                </a:solidFill>
                <a:latin typeface="Arial" pitchFamily="34" charset="0"/>
                <a:ea typeface="Arial" pitchFamily="34" charset="-122"/>
                <a:cs typeface="Arial" pitchFamily="34" charset="-120"/>
              </a:rPr>
              <a:t>THE RULE AND THE SUCCESS CRITERION</a:t>
            </a:r>
            <a:endParaRPr lang="en-US" sz="1100" dirty="0"/>
          </a:p>
        </p:txBody>
      </p:sp>
      <p:sp>
        <p:nvSpPr>
          <p:cNvPr id="4" name="Shape 2"/>
          <p:cNvSpPr/>
          <p:nvPr/>
        </p:nvSpPr>
        <p:spPr>
          <a:xfrm>
            <a:off x="822960" y="2651760"/>
            <a:ext cx="4206240" cy="0"/>
          </a:xfrm>
          <a:prstGeom prst="line">
            <a:avLst/>
          </a:prstGeom>
          <a:noFill/>
          <a:ln w="9525">
            <a:solidFill>
              <a:srgbClr val="8AA394"/>
            </a:solidFill>
            <a:prstDash val="solid"/>
          </a:ln>
        </p:spPr>
      </p:sp>
      <p:sp>
        <p:nvSpPr>
          <p:cNvPr id="5" name="Text 3"/>
          <p:cNvSpPr/>
          <p:nvPr/>
        </p:nvSpPr>
        <p:spPr>
          <a:xfrm>
            <a:off x="822960" y="2788920"/>
            <a:ext cx="7772400" cy="2194560"/>
          </a:xfrm>
          <a:prstGeom prst="rect">
            <a:avLst/>
          </a:prstGeom>
          <a:noFill/>
          <a:ln/>
        </p:spPr>
        <p:txBody>
          <a:bodyPr wrap="square" lIns="0" tIns="0" rIns="0" bIns="0" rtlCol="0" anchor="t"/>
          <a:lstStyle/>
          <a:p>
            <a:pPr indent="0" marL="0">
              <a:lnSpc>
                <a:spcPts val="4600"/>
              </a:lnSpc>
              <a:buNone/>
            </a:pPr>
            <a:r>
              <a:rPr lang="en-US" sz="4000" dirty="0">
                <a:solidFill>
                  <a:srgbClr val="FAF8F1"/>
                </a:solidFill>
                <a:latin typeface="Georgia" pitchFamily="34" charset="0"/>
                <a:ea typeface="Georgia" pitchFamily="34" charset="-122"/>
                <a:cs typeface="Georgia" pitchFamily="34" charset="-120"/>
              </a:rPr>
              <a:t>Cut every sentence that</a:t>
            </a:r>
            <a:endParaRPr lang="en-US" sz="4000" dirty="0"/>
          </a:p>
          <a:p>
            <a:pPr indent="0" marL="0">
              <a:lnSpc>
                <a:spcPts val="4600"/>
              </a:lnSpc>
              <a:buNone/>
            </a:pPr>
            <a:r>
              <a:rPr lang="en-US" sz="4000" dirty="0">
                <a:solidFill>
                  <a:srgbClr val="FAF8F1"/>
                </a:solidFill>
                <a:latin typeface="Georgia" pitchFamily="34" charset="0"/>
                <a:ea typeface="Georgia" pitchFamily="34" charset="-122"/>
                <a:cs typeface="Georgia" pitchFamily="34" charset="-120"/>
              </a:rPr>
              <a:t>describes instead of reflects.</a:t>
            </a:r>
            <a:endParaRPr lang="en-US" sz="4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THE CCR · FOUR SET QUESTIONS</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PRESENTED CREATIVELY, USING TECHNOLOGY</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932688"/>
            <a:ext cx="10543032" cy="640080"/>
          </a:xfrm>
          <a:prstGeom prst="rect">
            <a:avLst/>
          </a:prstGeom>
          <a:noFill/>
          <a:ln/>
        </p:spPr>
        <p:txBody>
          <a:bodyPr wrap="square" lIns="0" tIns="0" rIns="0" bIns="0" rtlCol="0" anchor="ctr"/>
          <a:lstStyle/>
          <a:p>
            <a:pPr indent="0" marL="0">
              <a:buNone/>
            </a:pPr>
            <a:r>
              <a:rPr lang="en-US" sz="3200" dirty="0">
                <a:solidFill>
                  <a:srgbClr val="24313F"/>
                </a:solidFill>
                <a:latin typeface="Georgia" pitchFamily="34" charset="0"/>
                <a:ea typeface="Georgia" pitchFamily="34" charset="-122"/>
                <a:cs typeface="Georgia" pitchFamily="34" charset="-120"/>
              </a:rPr>
              <a:t>The four questions</a:t>
            </a:r>
            <a:endParaRPr lang="en-US" sz="3200" dirty="0"/>
          </a:p>
        </p:txBody>
      </p:sp>
      <p:sp>
        <p:nvSpPr>
          <p:cNvPr id="6" name="Text 4"/>
          <p:cNvSpPr/>
          <p:nvPr/>
        </p:nvSpPr>
        <p:spPr>
          <a:xfrm>
            <a:off x="822960" y="1938528"/>
            <a:ext cx="4997196" cy="457200"/>
          </a:xfrm>
          <a:prstGeom prst="rect">
            <a:avLst/>
          </a:prstGeom>
          <a:noFill/>
          <a:ln/>
        </p:spPr>
        <p:txBody>
          <a:bodyPr wrap="square" lIns="0" tIns="0" rIns="0" bIns="0" rtlCol="0" anchor="ctr"/>
          <a:lstStyle/>
          <a:p>
            <a:pPr indent="0" marL="0">
              <a:buNone/>
            </a:pPr>
            <a:r>
              <a:rPr lang="en-US" sz="2200" dirty="0">
                <a:solidFill>
                  <a:srgbClr val="4A6B5D"/>
                </a:solidFill>
                <a:latin typeface="Georgia" pitchFamily="34" charset="0"/>
                <a:ea typeface="Georgia" pitchFamily="34" charset="-122"/>
                <a:cs typeface="Georgia" pitchFamily="34" charset="-120"/>
              </a:rPr>
              <a:t>Q1 · Conventions</a:t>
            </a:r>
            <a:endParaRPr lang="en-US" sz="2200" dirty="0"/>
          </a:p>
        </p:txBody>
      </p:sp>
      <p:sp>
        <p:nvSpPr>
          <p:cNvPr id="7" name="Shape 5"/>
          <p:cNvSpPr/>
          <p:nvPr/>
        </p:nvSpPr>
        <p:spPr>
          <a:xfrm>
            <a:off x="822960" y="2468880"/>
            <a:ext cx="4814316" cy="0"/>
          </a:xfrm>
          <a:prstGeom prst="line">
            <a:avLst/>
          </a:prstGeom>
          <a:noFill/>
          <a:ln w="9525">
            <a:solidFill>
              <a:srgbClr val="D9D4C4"/>
            </a:solidFill>
            <a:prstDash val="solid"/>
          </a:ln>
        </p:spPr>
      </p:sp>
      <p:sp>
        <p:nvSpPr>
          <p:cNvPr id="8" name="Text 6"/>
          <p:cNvSpPr/>
          <p:nvPr/>
        </p:nvSpPr>
        <p:spPr>
          <a:xfrm>
            <a:off x="822960" y="2578608"/>
            <a:ext cx="4814316" cy="1097280"/>
          </a:xfrm>
          <a:prstGeom prst="rect">
            <a:avLst/>
          </a:prstGeom>
          <a:noFill/>
          <a:ln/>
        </p:spPr>
        <p:txBody>
          <a:bodyPr wrap="square" lIns="0" tIns="0" rIns="0" bIns="0" rtlCol="0" anchor="t"/>
          <a:lstStyle/>
          <a:p>
            <a:pPr indent="0" marL="0">
              <a:lnSpc>
                <a:spcPts val="2100"/>
              </a:lnSpc>
              <a:buNone/>
            </a:pPr>
            <a:r>
              <a:rPr lang="en-US" sz="1550" dirty="0">
                <a:solidFill>
                  <a:srgbClr val="24313F"/>
                </a:solidFill>
                <a:latin typeface="Georgia" pitchFamily="34" charset="0"/>
                <a:ea typeface="Georgia" pitchFamily="34" charset="-122"/>
                <a:cs typeface="Georgia" pitchFamily="34" charset="-120"/>
              </a:rPr>
              <a:t>How the product uses or challenges conventions, and how it represents social groups.</a:t>
            </a:r>
            <a:endParaRPr lang="en-US" sz="1550" dirty="0"/>
          </a:p>
        </p:txBody>
      </p:sp>
      <p:sp>
        <p:nvSpPr>
          <p:cNvPr id="9" name="Text 7"/>
          <p:cNvSpPr/>
          <p:nvPr/>
        </p:nvSpPr>
        <p:spPr>
          <a:xfrm>
            <a:off x="6368796" y="1938528"/>
            <a:ext cx="4997196" cy="457200"/>
          </a:xfrm>
          <a:prstGeom prst="rect">
            <a:avLst/>
          </a:prstGeom>
          <a:noFill/>
          <a:ln/>
        </p:spPr>
        <p:txBody>
          <a:bodyPr wrap="square" lIns="0" tIns="0" rIns="0" bIns="0" rtlCol="0" anchor="ctr"/>
          <a:lstStyle/>
          <a:p>
            <a:pPr indent="0" marL="0">
              <a:buNone/>
            </a:pPr>
            <a:r>
              <a:rPr lang="en-US" sz="2200" dirty="0">
                <a:solidFill>
                  <a:srgbClr val="4A6B5D"/>
                </a:solidFill>
                <a:latin typeface="Georgia" pitchFamily="34" charset="0"/>
                <a:ea typeface="Georgia" pitchFamily="34" charset="-122"/>
                <a:cs typeface="Georgia" pitchFamily="34" charset="-120"/>
              </a:rPr>
              <a:t>Q2 · Audiences</a:t>
            </a:r>
            <a:endParaRPr lang="en-US" sz="2200" dirty="0"/>
          </a:p>
        </p:txBody>
      </p:sp>
      <p:sp>
        <p:nvSpPr>
          <p:cNvPr id="10" name="Shape 8"/>
          <p:cNvSpPr/>
          <p:nvPr/>
        </p:nvSpPr>
        <p:spPr>
          <a:xfrm>
            <a:off x="6368796" y="2468880"/>
            <a:ext cx="4814316" cy="0"/>
          </a:xfrm>
          <a:prstGeom prst="line">
            <a:avLst/>
          </a:prstGeom>
          <a:noFill/>
          <a:ln w="9525">
            <a:solidFill>
              <a:srgbClr val="D9D4C4"/>
            </a:solidFill>
            <a:prstDash val="solid"/>
          </a:ln>
        </p:spPr>
      </p:sp>
      <p:sp>
        <p:nvSpPr>
          <p:cNvPr id="11" name="Text 9"/>
          <p:cNvSpPr/>
          <p:nvPr/>
        </p:nvSpPr>
        <p:spPr>
          <a:xfrm>
            <a:off x="6368796" y="2578608"/>
            <a:ext cx="4814316" cy="1097280"/>
          </a:xfrm>
          <a:prstGeom prst="rect">
            <a:avLst/>
          </a:prstGeom>
          <a:noFill/>
          <a:ln/>
        </p:spPr>
        <p:txBody>
          <a:bodyPr wrap="square" lIns="0" tIns="0" rIns="0" bIns="0" rtlCol="0" anchor="t"/>
          <a:lstStyle/>
          <a:p>
            <a:pPr indent="0" marL="0">
              <a:lnSpc>
                <a:spcPts val="2100"/>
              </a:lnSpc>
              <a:buNone/>
            </a:pPr>
            <a:r>
              <a:rPr lang="en-US" sz="1550" dirty="0">
                <a:solidFill>
                  <a:srgbClr val="24313F"/>
                </a:solidFill>
                <a:latin typeface="Georgia" pitchFamily="34" charset="0"/>
                <a:ea typeface="Georgia" pitchFamily="34" charset="-122"/>
                <a:cs typeface="Georgia" pitchFamily="34" charset="-120"/>
              </a:rPr>
              <a:t>Who the product engages, and how it would really reach and circulate to them.</a:t>
            </a:r>
            <a:endParaRPr lang="en-US" sz="1550" dirty="0"/>
          </a:p>
        </p:txBody>
      </p:sp>
      <p:sp>
        <p:nvSpPr>
          <p:cNvPr id="12" name="Text 10"/>
          <p:cNvSpPr/>
          <p:nvPr/>
        </p:nvSpPr>
        <p:spPr>
          <a:xfrm>
            <a:off x="822960" y="4133088"/>
            <a:ext cx="4997196" cy="457200"/>
          </a:xfrm>
          <a:prstGeom prst="rect">
            <a:avLst/>
          </a:prstGeom>
          <a:noFill/>
          <a:ln/>
        </p:spPr>
        <p:txBody>
          <a:bodyPr wrap="square" lIns="0" tIns="0" rIns="0" bIns="0" rtlCol="0" anchor="ctr"/>
          <a:lstStyle/>
          <a:p>
            <a:pPr indent="0" marL="0">
              <a:buNone/>
            </a:pPr>
            <a:r>
              <a:rPr lang="en-US" sz="2200" dirty="0">
                <a:solidFill>
                  <a:srgbClr val="4A6B5D"/>
                </a:solidFill>
                <a:latin typeface="Georgia" pitchFamily="34" charset="0"/>
                <a:ea typeface="Georgia" pitchFamily="34" charset="-122"/>
                <a:cs typeface="Georgia" pitchFamily="34" charset="-120"/>
              </a:rPr>
              <a:t>Q3 · Skills</a:t>
            </a:r>
            <a:endParaRPr lang="en-US" sz="2200" dirty="0"/>
          </a:p>
        </p:txBody>
      </p:sp>
      <p:sp>
        <p:nvSpPr>
          <p:cNvPr id="13" name="Shape 11"/>
          <p:cNvSpPr/>
          <p:nvPr/>
        </p:nvSpPr>
        <p:spPr>
          <a:xfrm>
            <a:off x="822960" y="4663440"/>
            <a:ext cx="4814316" cy="0"/>
          </a:xfrm>
          <a:prstGeom prst="line">
            <a:avLst/>
          </a:prstGeom>
          <a:noFill/>
          <a:ln w="9525">
            <a:solidFill>
              <a:srgbClr val="D9D4C4"/>
            </a:solidFill>
            <a:prstDash val="solid"/>
          </a:ln>
        </p:spPr>
      </p:sp>
      <p:sp>
        <p:nvSpPr>
          <p:cNvPr id="14" name="Text 12"/>
          <p:cNvSpPr/>
          <p:nvPr/>
        </p:nvSpPr>
        <p:spPr>
          <a:xfrm>
            <a:off x="822960" y="4773168"/>
            <a:ext cx="4814316" cy="1097280"/>
          </a:xfrm>
          <a:prstGeom prst="rect">
            <a:avLst/>
          </a:prstGeom>
          <a:noFill/>
          <a:ln/>
        </p:spPr>
        <p:txBody>
          <a:bodyPr wrap="square" lIns="0" tIns="0" rIns="0" bIns="0" rtlCol="0" anchor="t"/>
          <a:lstStyle/>
          <a:p>
            <a:pPr indent="0" marL="0">
              <a:lnSpc>
                <a:spcPts val="2100"/>
              </a:lnSpc>
              <a:buNone/>
            </a:pPr>
            <a:r>
              <a:rPr lang="en-US" sz="1550" dirty="0">
                <a:solidFill>
                  <a:srgbClr val="24313F"/>
                </a:solidFill>
                <a:latin typeface="Georgia" pitchFamily="34" charset="0"/>
                <a:ea typeface="Georgia" pitchFamily="34" charset="-122"/>
                <a:cs typeface="Georgia" pitchFamily="34" charset="-120"/>
              </a:rPr>
              <a:t>What developed from day-one footage to the rough cut, and what changed it.</a:t>
            </a:r>
            <a:endParaRPr lang="en-US" sz="1550" dirty="0"/>
          </a:p>
        </p:txBody>
      </p:sp>
      <p:sp>
        <p:nvSpPr>
          <p:cNvPr id="15" name="Text 13"/>
          <p:cNvSpPr/>
          <p:nvPr/>
        </p:nvSpPr>
        <p:spPr>
          <a:xfrm>
            <a:off x="6368796" y="4133088"/>
            <a:ext cx="4997196" cy="457200"/>
          </a:xfrm>
          <a:prstGeom prst="rect">
            <a:avLst/>
          </a:prstGeom>
          <a:noFill/>
          <a:ln/>
        </p:spPr>
        <p:txBody>
          <a:bodyPr wrap="square" lIns="0" tIns="0" rIns="0" bIns="0" rtlCol="0" anchor="ctr"/>
          <a:lstStyle/>
          <a:p>
            <a:pPr indent="0" marL="0">
              <a:buNone/>
            </a:pPr>
            <a:r>
              <a:rPr lang="en-US" sz="2200" dirty="0">
                <a:solidFill>
                  <a:srgbClr val="4A6B5D"/>
                </a:solidFill>
                <a:latin typeface="Georgia" pitchFamily="34" charset="0"/>
                <a:ea typeface="Georgia" pitchFamily="34" charset="-122"/>
                <a:cs typeface="Georgia" pitchFamily="34" charset="-120"/>
              </a:rPr>
              <a:t>Q4 · Technology</a:t>
            </a:r>
            <a:endParaRPr lang="en-US" sz="2200" dirty="0"/>
          </a:p>
        </p:txBody>
      </p:sp>
      <p:sp>
        <p:nvSpPr>
          <p:cNvPr id="16" name="Shape 14"/>
          <p:cNvSpPr/>
          <p:nvPr/>
        </p:nvSpPr>
        <p:spPr>
          <a:xfrm>
            <a:off x="6368796" y="4663440"/>
            <a:ext cx="4814316" cy="0"/>
          </a:xfrm>
          <a:prstGeom prst="line">
            <a:avLst/>
          </a:prstGeom>
          <a:noFill/>
          <a:ln w="9525">
            <a:solidFill>
              <a:srgbClr val="D9D4C4"/>
            </a:solidFill>
            <a:prstDash val="solid"/>
          </a:ln>
        </p:spPr>
      </p:sp>
      <p:sp>
        <p:nvSpPr>
          <p:cNvPr id="17" name="Text 15"/>
          <p:cNvSpPr/>
          <p:nvPr/>
        </p:nvSpPr>
        <p:spPr>
          <a:xfrm>
            <a:off x="6368796" y="4773168"/>
            <a:ext cx="4814316" cy="1097280"/>
          </a:xfrm>
          <a:prstGeom prst="rect">
            <a:avLst/>
          </a:prstGeom>
          <a:noFill/>
          <a:ln/>
        </p:spPr>
        <p:txBody>
          <a:bodyPr wrap="square" lIns="0" tIns="0" rIns="0" bIns="0" rtlCol="0" anchor="t"/>
          <a:lstStyle/>
          <a:p>
            <a:pPr indent="0" marL="0">
              <a:lnSpc>
                <a:spcPts val="2100"/>
              </a:lnSpc>
              <a:buNone/>
            </a:pPr>
            <a:r>
              <a:rPr lang="en-US" sz="1550" dirty="0">
                <a:solidFill>
                  <a:srgbClr val="24313F"/>
                </a:solidFill>
                <a:latin typeface="Georgia" pitchFamily="34" charset="0"/>
                <a:ea typeface="Georgia" pitchFamily="34" charset="-122"/>
                <a:cs typeface="Georgia" pitchFamily="34" charset="-120"/>
              </a:rPr>
              <a:t>Software, hardware, online: as decisions, we used X so that Y, not an inventory.</a:t>
            </a:r>
            <a:endParaRPr lang="en-US" sz="1550" dirty="0"/>
          </a:p>
        </p:txBody>
      </p:sp>
      <p:sp>
        <p:nvSpPr>
          <p:cNvPr id="18" name="Shape 16"/>
          <p:cNvSpPr/>
          <p:nvPr/>
        </p:nvSpPr>
        <p:spPr>
          <a:xfrm>
            <a:off x="822960" y="6382512"/>
            <a:ext cx="10543032" cy="0"/>
          </a:xfrm>
          <a:prstGeom prst="line">
            <a:avLst/>
          </a:prstGeom>
          <a:noFill/>
          <a:ln w="9525">
            <a:solidFill>
              <a:srgbClr val="D9D4C4"/>
            </a:solidFill>
            <a:prstDash val="solid"/>
          </a:ln>
        </p:spPr>
      </p:sp>
      <p:sp>
        <p:nvSpPr>
          <p:cNvPr id="19" name="Text 17"/>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20" name="Text 18"/>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01</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同样的四个问题</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IN STUDENT LANGUAGE, BOTH LANGUAGES</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932688"/>
            <a:ext cx="10543032" cy="594360"/>
          </a:xfrm>
          <a:prstGeom prst="rect">
            <a:avLst/>
          </a:prstGeom>
          <a:noFill/>
          <a:ln/>
        </p:spPr>
        <p:txBody>
          <a:bodyPr wrap="square" lIns="0" tIns="0" rIns="0" bIns="0" rtlCol="0" anchor="ctr"/>
          <a:lstStyle/>
          <a:p>
            <a:pPr indent="0" marL="0">
              <a:buNone/>
            </a:pPr>
            <a:r>
              <a:rPr lang="en-US" sz="2800" dirty="0">
                <a:solidFill>
                  <a:srgbClr val="24313F"/>
                </a:solidFill>
                <a:latin typeface="Georgia" pitchFamily="34" charset="0"/>
                <a:ea typeface="Georgia" pitchFamily="34" charset="-122"/>
                <a:cs typeface="Georgia" pitchFamily="34" charset="-120"/>
              </a:rPr>
              <a:t>The same four, in both languages</a:t>
            </a:r>
            <a:endParaRPr lang="en-US" sz="2800" dirty="0"/>
          </a:p>
        </p:txBody>
      </p:sp>
      <p:sp>
        <p:nvSpPr>
          <p:cNvPr id="6" name="Text 4"/>
          <p:cNvSpPr/>
          <p:nvPr/>
        </p:nvSpPr>
        <p:spPr>
          <a:xfrm>
            <a:off x="822960" y="1938528"/>
            <a:ext cx="4997196" cy="457200"/>
          </a:xfrm>
          <a:prstGeom prst="rect">
            <a:avLst/>
          </a:prstGeom>
          <a:noFill/>
          <a:ln/>
        </p:spPr>
        <p:txBody>
          <a:bodyPr wrap="square" lIns="0" tIns="0" rIns="0" bIns="0" rtlCol="0" anchor="ctr"/>
          <a:lstStyle/>
          <a:p>
            <a:pPr indent="0" marL="0">
              <a:buNone/>
            </a:pPr>
            <a:r>
              <a:rPr lang="en-US" sz="2100" dirty="0">
                <a:solidFill>
                  <a:srgbClr val="4A6B5D"/>
                </a:solidFill>
                <a:latin typeface="Georgia" pitchFamily="34" charset="0"/>
                <a:ea typeface="Georgia" pitchFamily="34" charset="-122"/>
                <a:cs typeface="Georgia" pitchFamily="34" charset="-120"/>
              </a:rPr>
              <a:t>Q1 · 常规与再现</a:t>
            </a:r>
            <a:endParaRPr lang="en-US" sz="2100" dirty="0"/>
          </a:p>
        </p:txBody>
      </p:sp>
      <p:sp>
        <p:nvSpPr>
          <p:cNvPr id="7" name="Shape 5"/>
          <p:cNvSpPr/>
          <p:nvPr/>
        </p:nvSpPr>
        <p:spPr>
          <a:xfrm>
            <a:off x="822960" y="2468880"/>
            <a:ext cx="4814316" cy="0"/>
          </a:xfrm>
          <a:prstGeom prst="line">
            <a:avLst/>
          </a:prstGeom>
          <a:noFill/>
          <a:ln w="9525">
            <a:solidFill>
              <a:srgbClr val="D9D4C4"/>
            </a:solidFill>
            <a:prstDash val="solid"/>
          </a:ln>
        </p:spPr>
      </p:sp>
      <p:sp>
        <p:nvSpPr>
          <p:cNvPr id="8" name="Text 6"/>
          <p:cNvSpPr/>
          <p:nvPr/>
        </p:nvSpPr>
        <p:spPr>
          <a:xfrm>
            <a:off x="822960" y="2578608"/>
            <a:ext cx="4814316" cy="1097280"/>
          </a:xfrm>
          <a:prstGeom prst="rect">
            <a:avLst/>
          </a:prstGeom>
          <a:noFill/>
          <a:ln/>
        </p:spPr>
        <p:txBody>
          <a:bodyPr wrap="square" lIns="0" tIns="0" rIns="0" bIns="0" rtlCol="0" anchor="t"/>
          <a:lstStyle/>
          <a:p>
            <a:pPr indent="0" marL="0">
              <a:lnSpc>
                <a:spcPts val="2200"/>
              </a:lnSpc>
              <a:buNone/>
            </a:pPr>
            <a:r>
              <a:rPr lang="en-US" sz="1500" dirty="0">
                <a:solidFill>
                  <a:srgbClr val="24313F"/>
                </a:solidFill>
                <a:latin typeface="Georgia" pitchFamily="34" charset="0"/>
                <a:ea typeface="Georgia" pitchFamily="34" charset="-122"/>
                <a:cs typeface="Georgia" pitchFamily="34" charset="-120"/>
              </a:rPr>
              <a:t>你的作品如何运用或挑战媒体常规？它如何再现社会群体或议题？</a:t>
            </a:r>
            <a:endParaRPr lang="en-US" sz="1500" dirty="0"/>
          </a:p>
        </p:txBody>
      </p:sp>
      <p:sp>
        <p:nvSpPr>
          <p:cNvPr id="9" name="Text 7"/>
          <p:cNvSpPr/>
          <p:nvPr/>
        </p:nvSpPr>
        <p:spPr>
          <a:xfrm>
            <a:off x="6368796" y="1938528"/>
            <a:ext cx="4997196" cy="457200"/>
          </a:xfrm>
          <a:prstGeom prst="rect">
            <a:avLst/>
          </a:prstGeom>
          <a:noFill/>
          <a:ln/>
        </p:spPr>
        <p:txBody>
          <a:bodyPr wrap="square" lIns="0" tIns="0" rIns="0" bIns="0" rtlCol="0" anchor="ctr"/>
          <a:lstStyle/>
          <a:p>
            <a:pPr indent="0" marL="0">
              <a:buNone/>
            </a:pPr>
            <a:r>
              <a:rPr lang="en-US" sz="2100" dirty="0">
                <a:solidFill>
                  <a:srgbClr val="4A6B5D"/>
                </a:solidFill>
                <a:latin typeface="Georgia" pitchFamily="34" charset="0"/>
                <a:ea typeface="Georgia" pitchFamily="34" charset="-122"/>
                <a:cs typeface="Georgia" pitchFamily="34" charset="-120"/>
              </a:rPr>
              <a:t>Q2 · 受众与传播</a:t>
            </a:r>
            <a:endParaRPr lang="en-US" sz="2100" dirty="0"/>
          </a:p>
        </p:txBody>
      </p:sp>
      <p:sp>
        <p:nvSpPr>
          <p:cNvPr id="10" name="Shape 8"/>
          <p:cNvSpPr/>
          <p:nvPr/>
        </p:nvSpPr>
        <p:spPr>
          <a:xfrm>
            <a:off x="6368796" y="2468880"/>
            <a:ext cx="4814316" cy="0"/>
          </a:xfrm>
          <a:prstGeom prst="line">
            <a:avLst/>
          </a:prstGeom>
          <a:noFill/>
          <a:ln w="9525">
            <a:solidFill>
              <a:srgbClr val="D9D4C4"/>
            </a:solidFill>
            <a:prstDash val="solid"/>
          </a:ln>
        </p:spPr>
      </p:sp>
      <p:sp>
        <p:nvSpPr>
          <p:cNvPr id="11" name="Text 9"/>
          <p:cNvSpPr/>
          <p:nvPr/>
        </p:nvSpPr>
        <p:spPr>
          <a:xfrm>
            <a:off x="6368796" y="2578608"/>
            <a:ext cx="4814316" cy="1097280"/>
          </a:xfrm>
          <a:prstGeom prst="rect">
            <a:avLst/>
          </a:prstGeom>
          <a:noFill/>
          <a:ln/>
        </p:spPr>
        <p:txBody>
          <a:bodyPr wrap="square" lIns="0" tIns="0" rIns="0" bIns="0" rtlCol="0" anchor="t"/>
          <a:lstStyle/>
          <a:p>
            <a:pPr indent="0" marL="0">
              <a:lnSpc>
                <a:spcPts val="2200"/>
              </a:lnSpc>
              <a:buNone/>
            </a:pPr>
            <a:r>
              <a:rPr lang="en-US" sz="1500" dirty="0">
                <a:solidFill>
                  <a:srgbClr val="24313F"/>
                </a:solidFill>
                <a:latin typeface="Georgia" pitchFamily="34" charset="0"/>
                <a:ea typeface="Georgia" pitchFamily="34" charset="-122"/>
                <a:cs typeface="Georgia" pitchFamily="34" charset="-120"/>
              </a:rPr>
              <a:t>你的作品吸引谁？它会怎样真实地到达并流通给这些受众？</a:t>
            </a:r>
            <a:endParaRPr lang="en-US" sz="1500" dirty="0"/>
          </a:p>
        </p:txBody>
      </p:sp>
      <p:sp>
        <p:nvSpPr>
          <p:cNvPr id="12" name="Text 10"/>
          <p:cNvSpPr/>
          <p:nvPr/>
        </p:nvSpPr>
        <p:spPr>
          <a:xfrm>
            <a:off x="822960" y="4133088"/>
            <a:ext cx="4997196" cy="457200"/>
          </a:xfrm>
          <a:prstGeom prst="rect">
            <a:avLst/>
          </a:prstGeom>
          <a:noFill/>
          <a:ln/>
        </p:spPr>
        <p:txBody>
          <a:bodyPr wrap="square" lIns="0" tIns="0" rIns="0" bIns="0" rtlCol="0" anchor="ctr"/>
          <a:lstStyle/>
          <a:p>
            <a:pPr indent="0" marL="0">
              <a:buNone/>
            </a:pPr>
            <a:r>
              <a:rPr lang="en-US" sz="2100" dirty="0">
                <a:solidFill>
                  <a:srgbClr val="4A6B5D"/>
                </a:solidFill>
                <a:latin typeface="Georgia" pitchFamily="34" charset="0"/>
                <a:ea typeface="Georgia" pitchFamily="34" charset="-122"/>
                <a:cs typeface="Georgia" pitchFamily="34" charset="-120"/>
              </a:rPr>
              <a:t>Q3 · 技能成长</a:t>
            </a:r>
            <a:endParaRPr lang="en-US" sz="2100" dirty="0"/>
          </a:p>
        </p:txBody>
      </p:sp>
      <p:sp>
        <p:nvSpPr>
          <p:cNvPr id="13" name="Shape 11"/>
          <p:cNvSpPr/>
          <p:nvPr/>
        </p:nvSpPr>
        <p:spPr>
          <a:xfrm>
            <a:off x="822960" y="4663440"/>
            <a:ext cx="4814316" cy="0"/>
          </a:xfrm>
          <a:prstGeom prst="line">
            <a:avLst/>
          </a:prstGeom>
          <a:noFill/>
          <a:ln w="9525">
            <a:solidFill>
              <a:srgbClr val="D9D4C4"/>
            </a:solidFill>
            <a:prstDash val="solid"/>
          </a:ln>
        </p:spPr>
      </p:sp>
      <p:sp>
        <p:nvSpPr>
          <p:cNvPr id="14" name="Text 12"/>
          <p:cNvSpPr/>
          <p:nvPr/>
        </p:nvSpPr>
        <p:spPr>
          <a:xfrm>
            <a:off x="822960" y="4773168"/>
            <a:ext cx="4814316" cy="1097280"/>
          </a:xfrm>
          <a:prstGeom prst="rect">
            <a:avLst/>
          </a:prstGeom>
          <a:noFill/>
          <a:ln/>
        </p:spPr>
        <p:txBody>
          <a:bodyPr wrap="square" lIns="0" tIns="0" rIns="0" bIns="0" rtlCol="0" anchor="t"/>
          <a:lstStyle/>
          <a:p>
            <a:pPr indent="0" marL="0">
              <a:lnSpc>
                <a:spcPts val="2200"/>
              </a:lnSpc>
              <a:buNone/>
            </a:pPr>
            <a:r>
              <a:rPr lang="en-US" sz="1500" dirty="0">
                <a:solidFill>
                  <a:srgbClr val="24313F"/>
                </a:solidFill>
                <a:latin typeface="Georgia" pitchFamily="34" charset="0"/>
                <a:ea typeface="Georgia" pitchFamily="34" charset="-122"/>
                <a:cs typeface="Georgia" pitchFamily="34" charset="-120"/>
              </a:rPr>
              <a:t>从第一天的素材到粗剪，你的制作技能如何发展？是什么改变了它？</a:t>
            </a:r>
            <a:endParaRPr lang="en-US" sz="1500" dirty="0"/>
          </a:p>
        </p:txBody>
      </p:sp>
      <p:sp>
        <p:nvSpPr>
          <p:cNvPr id="15" name="Text 13"/>
          <p:cNvSpPr/>
          <p:nvPr/>
        </p:nvSpPr>
        <p:spPr>
          <a:xfrm>
            <a:off x="6368796" y="4133088"/>
            <a:ext cx="4997196" cy="457200"/>
          </a:xfrm>
          <a:prstGeom prst="rect">
            <a:avLst/>
          </a:prstGeom>
          <a:noFill/>
          <a:ln/>
        </p:spPr>
        <p:txBody>
          <a:bodyPr wrap="square" lIns="0" tIns="0" rIns="0" bIns="0" rtlCol="0" anchor="ctr"/>
          <a:lstStyle/>
          <a:p>
            <a:pPr indent="0" marL="0">
              <a:buNone/>
            </a:pPr>
            <a:r>
              <a:rPr lang="en-US" sz="2100" dirty="0">
                <a:solidFill>
                  <a:srgbClr val="4A6B5D"/>
                </a:solidFill>
                <a:latin typeface="Georgia" pitchFamily="34" charset="0"/>
                <a:ea typeface="Georgia" pitchFamily="34" charset="-122"/>
                <a:cs typeface="Georgia" pitchFamily="34" charset="-120"/>
              </a:rPr>
              <a:t>Q4 · 技术整合</a:t>
            </a:r>
            <a:endParaRPr lang="en-US" sz="2100" dirty="0"/>
          </a:p>
        </p:txBody>
      </p:sp>
      <p:sp>
        <p:nvSpPr>
          <p:cNvPr id="16" name="Shape 14"/>
          <p:cNvSpPr/>
          <p:nvPr/>
        </p:nvSpPr>
        <p:spPr>
          <a:xfrm>
            <a:off x="6368796" y="4663440"/>
            <a:ext cx="4814316" cy="0"/>
          </a:xfrm>
          <a:prstGeom prst="line">
            <a:avLst/>
          </a:prstGeom>
          <a:noFill/>
          <a:ln w="9525">
            <a:solidFill>
              <a:srgbClr val="D9D4C4"/>
            </a:solidFill>
            <a:prstDash val="solid"/>
          </a:ln>
        </p:spPr>
      </p:sp>
      <p:sp>
        <p:nvSpPr>
          <p:cNvPr id="17" name="Text 15"/>
          <p:cNvSpPr/>
          <p:nvPr/>
        </p:nvSpPr>
        <p:spPr>
          <a:xfrm>
            <a:off x="6368796" y="4773168"/>
            <a:ext cx="4814316" cy="1097280"/>
          </a:xfrm>
          <a:prstGeom prst="rect">
            <a:avLst/>
          </a:prstGeom>
          <a:noFill/>
          <a:ln/>
        </p:spPr>
        <p:txBody>
          <a:bodyPr wrap="square" lIns="0" tIns="0" rIns="0" bIns="0" rtlCol="0" anchor="t"/>
          <a:lstStyle/>
          <a:p>
            <a:pPr indent="0" marL="0">
              <a:lnSpc>
                <a:spcPts val="2200"/>
              </a:lnSpc>
              <a:buNone/>
            </a:pPr>
            <a:r>
              <a:rPr lang="en-US" sz="1500" dirty="0">
                <a:solidFill>
                  <a:srgbClr val="24313F"/>
                </a:solidFill>
                <a:latin typeface="Georgia" pitchFamily="34" charset="0"/>
                <a:ea typeface="Georgia" pitchFamily="34" charset="-122"/>
                <a:cs typeface="Georgia" pitchFamily="34" charset="-120"/>
              </a:rPr>
              <a:t>软件、硬件、网络：作为决定来写，我们用了X是为了Y，而不是清单。</a:t>
            </a:r>
            <a:endParaRPr lang="en-US" sz="1500" dirty="0"/>
          </a:p>
        </p:txBody>
      </p:sp>
      <p:sp>
        <p:nvSpPr>
          <p:cNvPr id="18" name="Shape 16"/>
          <p:cNvSpPr/>
          <p:nvPr/>
        </p:nvSpPr>
        <p:spPr>
          <a:xfrm>
            <a:off x="822960" y="6382512"/>
            <a:ext cx="10543032" cy="0"/>
          </a:xfrm>
          <a:prstGeom prst="line">
            <a:avLst/>
          </a:prstGeom>
          <a:noFill/>
          <a:ln w="9525">
            <a:solidFill>
              <a:srgbClr val="D9D4C4"/>
            </a:solidFill>
            <a:prstDash val="solid"/>
          </a:ln>
        </p:spPr>
      </p:sp>
      <p:sp>
        <p:nvSpPr>
          <p:cNvPr id="19" name="Text 17"/>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20" name="Text 18"/>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02</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THE ONE-LINE TEACHING OF THE WHOLE WEEK</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PUT IT ON THE WALL</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1005840"/>
            <a:ext cx="10543032" cy="731520"/>
          </a:xfrm>
          <a:prstGeom prst="rect">
            <a:avLst/>
          </a:prstGeom>
          <a:noFill/>
          <a:ln/>
        </p:spPr>
        <p:txBody>
          <a:bodyPr wrap="square" lIns="0" tIns="0" rIns="0" bIns="0" rtlCol="0" anchor="ctr"/>
          <a:lstStyle/>
          <a:p>
            <a:pPr indent="0" marL="0">
              <a:buNone/>
            </a:pPr>
            <a:r>
              <a:rPr lang="en-US" sz="3800" dirty="0">
                <a:solidFill>
                  <a:srgbClr val="24313F"/>
                </a:solidFill>
                <a:latin typeface="Georgia" pitchFamily="34" charset="0"/>
                <a:ea typeface="Georgia" pitchFamily="34" charset="-122"/>
                <a:cs typeface="Georgia" pitchFamily="34" charset="-120"/>
              </a:rPr>
              <a:t>The tell</a:t>
            </a:r>
            <a:endParaRPr lang="en-US" sz="3800" dirty="0"/>
          </a:p>
        </p:txBody>
      </p:sp>
      <p:sp>
        <p:nvSpPr>
          <p:cNvPr id="6" name="Text 4"/>
          <p:cNvSpPr/>
          <p:nvPr/>
        </p:nvSpPr>
        <p:spPr>
          <a:xfrm>
            <a:off x="822960" y="2011680"/>
            <a:ext cx="4846320" cy="502920"/>
          </a:xfrm>
          <a:prstGeom prst="rect">
            <a:avLst/>
          </a:prstGeom>
          <a:noFill/>
          <a:ln/>
        </p:spPr>
        <p:txBody>
          <a:bodyPr wrap="square" lIns="0" tIns="0" rIns="0" bIns="0" rtlCol="0" anchor="ctr"/>
          <a:lstStyle/>
          <a:p>
            <a:pPr indent="0" marL="0">
              <a:buNone/>
            </a:pPr>
            <a:r>
              <a:rPr lang="en-US" sz="2400" dirty="0">
                <a:solidFill>
                  <a:srgbClr val="7A7F72"/>
                </a:solidFill>
                <a:latin typeface="Georgia" pitchFamily="34" charset="0"/>
                <a:ea typeface="Georgia" pitchFamily="34" charset="-122"/>
                <a:cs typeface="Georgia" pitchFamily="34" charset="-120"/>
              </a:rPr>
              <a:t>A description</a:t>
            </a:r>
            <a:endParaRPr lang="en-US" sz="2400" dirty="0"/>
          </a:p>
        </p:txBody>
      </p:sp>
      <p:sp>
        <p:nvSpPr>
          <p:cNvPr id="7" name="Shape 5"/>
          <p:cNvSpPr/>
          <p:nvPr/>
        </p:nvSpPr>
        <p:spPr>
          <a:xfrm>
            <a:off x="822960" y="2560320"/>
            <a:ext cx="4754880" cy="0"/>
          </a:xfrm>
          <a:prstGeom prst="line">
            <a:avLst/>
          </a:prstGeom>
          <a:noFill/>
          <a:ln w="9525">
            <a:solidFill>
              <a:srgbClr val="D9D4C4"/>
            </a:solidFill>
            <a:prstDash val="solid"/>
          </a:ln>
        </p:spPr>
      </p:sp>
      <p:sp>
        <p:nvSpPr>
          <p:cNvPr id="8" name="Text 6"/>
          <p:cNvSpPr/>
          <p:nvPr/>
        </p:nvSpPr>
        <p:spPr>
          <a:xfrm>
            <a:off x="822960" y="2697480"/>
            <a:ext cx="4846320" cy="2194560"/>
          </a:xfrm>
          <a:prstGeom prst="rect">
            <a:avLst/>
          </a:prstGeom>
          <a:noFill/>
          <a:ln/>
        </p:spPr>
        <p:txBody>
          <a:bodyPr wrap="square" lIns="0" tIns="0" rIns="0" bIns="0" rtlCol="0" anchor="t"/>
          <a:lstStyle/>
          <a:p>
            <a:pPr indent="0" marL="0">
              <a:lnSpc>
                <a:spcPts val="2400"/>
              </a:lnSpc>
              <a:buNone/>
            </a:pPr>
            <a:r>
              <a:rPr lang="en-US" sz="1700" dirty="0">
                <a:solidFill>
                  <a:srgbClr val="24313F"/>
                </a:solidFill>
                <a:latin typeface="Georgia" pitchFamily="34" charset="0"/>
                <a:ea typeface="Georgia" pitchFamily="34" charset="-122"/>
                <a:cs typeface="Georgia" pitchFamily="34" charset="-120"/>
              </a:rPr>
              <a:t>contains a sequence of events. It says what you did: we filmed, then we edited, then we uploaded.</a:t>
            </a:r>
            <a:endParaRPr lang="en-US" sz="1700" dirty="0"/>
          </a:p>
        </p:txBody>
      </p:sp>
      <p:sp>
        <p:nvSpPr>
          <p:cNvPr id="9" name="Text 7"/>
          <p:cNvSpPr/>
          <p:nvPr/>
        </p:nvSpPr>
        <p:spPr>
          <a:xfrm>
            <a:off x="6309360" y="2011680"/>
            <a:ext cx="4846320" cy="502920"/>
          </a:xfrm>
          <a:prstGeom prst="rect">
            <a:avLst/>
          </a:prstGeom>
          <a:noFill/>
          <a:ln/>
        </p:spPr>
        <p:txBody>
          <a:bodyPr wrap="square" lIns="0" tIns="0" rIns="0" bIns="0" rtlCol="0" anchor="ctr"/>
          <a:lstStyle/>
          <a:p>
            <a:pPr indent="0" marL="0">
              <a:buNone/>
            </a:pPr>
            <a:r>
              <a:rPr lang="en-US" sz="2400" dirty="0">
                <a:solidFill>
                  <a:srgbClr val="4A6B5D"/>
                </a:solidFill>
                <a:latin typeface="Georgia" pitchFamily="34" charset="0"/>
                <a:ea typeface="Georgia" pitchFamily="34" charset="-122"/>
                <a:cs typeface="Georgia" pitchFamily="34" charset="-120"/>
              </a:rPr>
              <a:t>A reflection</a:t>
            </a:r>
            <a:endParaRPr lang="en-US" sz="2400" dirty="0"/>
          </a:p>
        </p:txBody>
      </p:sp>
      <p:sp>
        <p:nvSpPr>
          <p:cNvPr id="10" name="Shape 8"/>
          <p:cNvSpPr/>
          <p:nvPr/>
        </p:nvSpPr>
        <p:spPr>
          <a:xfrm>
            <a:off x="6309360" y="2560320"/>
            <a:ext cx="4754880" cy="0"/>
          </a:xfrm>
          <a:prstGeom prst="line">
            <a:avLst/>
          </a:prstGeom>
          <a:noFill/>
          <a:ln w="9525">
            <a:solidFill>
              <a:srgbClr val="D9D4C4"/>
            </a:solidFill>
            <a:prstDash val="solid"/>
          </a:ln>
        </p:spPr>
      </p:sp>
      <p:sp>
        <p:nvSpPr>
          <p:cNvPr id="11" name="Text 9"/>
          <p:cNvSpPr/>
          <p:nvPr/>
        </p:nvSpPr>
        <p:spPr>
          <a:xfrm>
            <a:off x="6309360" y="2697480"/>
            <a:ext cx="4846320" cy="2194560"/>
          </a:xfrm>
          <a:prstGeom prst="rect">
            <a:avLst/>
          </a:prstGeom>
          <a:noFill/>
          <a:ln/>
        </p:spPr>
        <p:txBody>
          <a:bodyPr wrap="square" lIns="0" tIns="0" rIns="0" bIns="0" rtlCol="0" anchor="t"/>
          <a:lstStyle/>
          <a:p>
            <a:pPr indent="0" marL="0">
              <a:lnSpc>
                <a:spcPts val="2400"/>
              </a:lnSpc>
              <a:buNone/>
            </a:pPr>
            <a:r>
              <a:rPr lang="en-US" sz="1700" dirty="0">
                <a:solidFill>
                  <a:srgbClr val="24313F"/>
                </a:solidFill>
                <a:latin typeface="Georgia" pitchFamily="34" charset="0"/>
                <a:ea typeface="Georgia" pitchFamily="34" charset="-122"/>
                <a:cs typeface="Georgia" pitchFamily="34" charset="-120"/>
              </a:rPr>
              <a:t>contains a decision, a reason, or a change. It says why, and what you would do differently.</a:t>
            </a:r>
            <a:endParaRPr lang="en-US" sz="1700" dirty="0"/>
          </a:p>
        </p:txBody>
      </p:sp>
      <p:sp>
        <p:nvSpPr>
          <p:cNvPr id="12" name="Shape 10"/>
          <p:cNvSpPr/>
          <p:nvPr/>
        </p:nvSpPr>
        <p:spPr>
          <a:xfrm>
            <a:off x="822960" y="6382512"/>
            <a:ext cx="10543032" cy="0"/>
          </a:xfrm>
          <a:prstGeom prst="line">
            <a:avLst/>
          </a:prstGeom>
          <a:noFill/>
          <a:ln w="9525">
            <a:solidFill>
              <a:srgbClr val="D9D4C4"/>
            </a:solidFill>
            <a:prstDash val="solid"/>
          </a:ln>
        </p:spPr>
      </p:sp>
      <p:sp>
        <p:nvSpPr>
          <p:cNvPr id="13" name="Text 11"/>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14" name="Text 12"/>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03</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8EFE7"/>
        </a:solidFill>
      </p:bgPr>
    </p:bg>
    <p:spTree>
      <p:nvGrpSpPr>
        <p:cNvPr id="1" name=""/>
        <p:cNvGrpSpPr/>
        <p:nvPr/>
      </p:nvGrpSpPr>
      <p:grpSpPr>
        <a:xfrm>
          <a:off x="0" y="0"/>
          <a:ext cx="0" cy="0"/>
          <a:chOff x="0" y="0"/>
          <a:chExt cx="0" cy="0"/>
        </a:xfrm>
      </p:grpSpPr>
      <p:sp>
        <p:nvSpPr>
          <p:cNvPr id="2" name="Text 0"/>
          <p:cNvSpPr/>
          <p:nvPr/>
        </p:nvSpPr>
        <p:spPr>
          <a:xfrm>
            <a:off x="822960" y="1554480"/>
            <a:ext cx="82296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THE TEST EVERY SENTENCE TAKES</a:t>
            </a:r>
            <a:endParaRPr lang="en-US" sz="1100" dirty="0"/>
          </a:p>
        </p:txBody>
      </p:sp>
      <p:sp>
        <p:nvSpPr>
          <p:cNvPr id="3" name="Text 1"/>
          <p:cNvSpPr/>
          <p:nvPr/>
        </p:nvSpPr>
        <p:spPr>
          <a:xfrm>
            <a:off x="822960" y="2103120"/>
            <a:ext cx="10424160" cy="2194560"/>
          </a:xfrm>
          <a:prstGeom prst="rect">
            <a:avLst/>
          </a:prstGeom>
          <a:noFill/>
          <a:ln/>
        </p:spPr>
        <p:txBody>
          <a:bodyPr wrap="square" lIns="0" tIns="0" rIns="0" bIns="0" rtlCol="0" anchor="ctr"/>
          <a:lstStyle/>
          <a:p>
            <a:pPr indent="0" marL="0">
              <a:lnSpc>
                <a:spcPts val="5600"/>
              </a:lnSpc>
              <a:buNone/>
            </a:pPr>
            <a:r>
              <a:rPr lang="en-US" sz="5000" dirty="0">
                <a:solidFill>
                  <a:srgbClr val="24313F"/>
                </a:solidFill>
                <a:latin typeface="Georgia" pitchFamily="34" charset="0"/>
                <a:ea typeface="Georgia" pitchFamily="34" charset="-122"/>
                <a:cs typeface="Georgia" pitchFamily="34" charset="-120"/>
              </a:rPr>
              <a:t>A decision,</a:t>
            </a:r>
            <a:endParaRPr lang="en-US" sz="5000" dirty="0"/>
          </a:p>
          <a:p>
            <a:pPr indent="0" marL="0">
              <a:lnSpc>
                <a:spcPts val="5600"/>
              </a:lnSpc>
              <a:buNone/>
            </a:pPr>
            <a:r>
              <a:rPr lang="en-US" sz="5000" dirty="0">
                <a:solidFill>
                  <a:srgbClr val="24313F"/>
                </a:solidFill>
                <a:latin typeface="Georgia" pitchFamily="34" charset="0"/>
                <a:ea typeface="Georgia" pitchFamily="34" charset="-122"/>
                <a:cs typeface="Georgia" pitchFamily="34" charset="-120"/>
              </a:rPr>
              <a:t>a reason, or a change.</a:t>
            </a:r>
            <a:endParaRPr lang="en-US" sz="5000" dirty="0"/>
          </a:p>
        </p:txBody>
      </p:sp>
      <p:sp>
        <p:nvSpPr>
          <p:cNvPr id="4" name="Shape 2"/>
          <p:cNvSpPr/>
          <p:nvPr/>
        </p:nvSpPr>
        <p:spPr>
          <a:xfrm>
            <a:off x="822960" y="4663440"/>
            <a:ext cx="914400" cy="0"/>
          </a:xfrm>
          <a:prstGeom prst="line">
            <a:avLst/>
          </a:prstGeom>
          <a:noFill/>
          <a:ln w="31750">
            <a:solidFill>
              <a:srgbClr val="8C3A38"/>
            </a:solidFill>
            <a:prstDash val="solid"/>
          </a:ln>
        </p:spPr>
      </p:sp>
      <p:sp>
        <p:nvSpPr>
          <p:cNvPr id="5" name="Text 3"/>
          <p:cNvSpPr/>
          <p:nvPr/>
        </p:nvSpPr>
        <p:spPr>
          <a:xfrm>
            <a:off x="822960" y="4846320"/>
            <a:ext cx="10241280" cy="457200"/>
          </a:xfrm>
          <a:prstGeom prst="rect">
            <a:avLst/>
          </a:prstGeom>
          <a:noFill/>
          <a:ln/>
        </p:spPr>
        <p:txBody>
          <a:bodyPr wrap="square" lIns="0" tIns="0" rIns="0" bIns="0" rtlCol="0" anchor="ctr"/>
          <a:lstStyle/>
          <a:p>
            <a:pPr indent="0" marL="0">
              <a:buNone/>
            </a:pPr>
            <a:r>
              <a:rPr lang="en-US" sz="1400" spc="100" kern="0" dirty="0">
                <a:solidFill>
                  <a:srgbClr val="4A6B5D"/>
                </a:solidFill>
                <a:latin typeface="Arial" pitchFamily="34" charset="0"/>
                <a:ea typeface="Arial" pitchFamily="34" charset="-122"/>
                <a:cs typeface="Arial" pitchFamily="34" charset="-120"/>
              </a:rPr>
              <a:t>Every reflective sentence contains at least one. If a sentence contains none of the three, it is description; cut it or convert it.</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8F1"/>
        </a:solidFill>
      </p:bgPr>
    </p:bg>
    <p:spTree>
      <p:nvGrpSpPr>
        <p:cNvPr id="1" name=""/>
        <p:cNvGrpSpPr/>
        <p:nvPr/>
      </p:nvGrpSpPr>
      <p:grpSpPr>
        <a:xfrm>
          <a:off x="0" y="0"/>
          <a:ext cx="0" cy="0"/>
          <a:chOff x="0" y="0"/>
          <a:chExt cx="0" cy="0"/>
        </a:xfrm>
      </p:grpSpPr>
      <p:pic>
        <p:nvPicPr>
          <p:cNvPr id="2" name="Image 0" descr="/Users/dogan/Documents/Vaults/Courses/wiki/classes/media-studies/decks/_build/img/crops/rivera-self_a664.jpg">    </p:cNvPr>
          <p:cNvPicPr>
            <a:picLocks noChangeAspect="1"/>
          </p:cNvPicPr>
          <p:nvPr/>
        </p:nvPicPr>
        <p:blipFill>
          <a:blip r:embed="rId1"/>
          <a:stretch>
            <a:fillRect/>
          </a:stretch>
        </p:blipFill>
        <p:spPr>
          <a:xfrm>
            <a:off x="7635240" y="0"/>
            <a:ext cx="4553712" cy="6858000"/>
          </a:xfrm>
          <a:prstGeom prst="rect">
            <a:avLst/>
          </a:prstGeom>
        </p:spPr>
      </p:pic>
      <p:sp>
        <p:nvSpPr>
          <p:cNvPr id="3" name="Text 0"/>
          <p:cNvSpPr/>
          <p:nvPr/>
        </p:nvSpPr>
        <p:spPr>
          <a:xfrm>
            <a:off x="7818120" y="6126480"/>
            <a:ext cx="4187952" cy="365760"/>
          </a:xfrm>
          <a:prstGeom prst="rect">
            <a:avLst/>
          </a:prstGeom>
          <a:solidFill>
            <a:srgbClr val="FAF8F1"/>
          </a:solidFill>
          <a:ln/>
        </p:spPr>
        <p:txBody>
          <a:bodyPr wrap="square" lIns="0" tIns="0" rIns="0" bIns="0" rtlCol="0" anchor="ctr"/>
          <a:lstStyle/>
          <a:p>
            <a:pPr indent="0" marL="0">
              <a:buNone/>
            </a:pPr>
            <a:r>
              <a:rPr lang="en-US" sz="950" spc="50" kern="0" dirty="0">
                <a:solidFill>
                  <a:srgbClr val="7A7F72"/>
                </a:solidFill>
                <a:latin typeface="Arial" pitchFamily="34" charset="0"/>
                <a:ea typeface="Arial" pitchFamily="34" charset="-122"/>
                <a:cs typeface="Arial" pitchFamily="34" charset="-120"/>
              </a:rPr>
              <a:t>Diego Rivera, Self-Portrait, 1907</a:t>
            </a:r>
            <a:endParaRPr lang="en-US" sz="950" dirty="0"/>
          </a:p>
        </p:txBody>
      </p:sp>
      <p:sp>
        <p:nvSpPr>
          <p:cNvPr id="4" name="Text 1"/>
          <p:cNvSpPr/>
          <p:nvPr/>
        </p:nvSpPr>
        <p:spPr>
          <a:xfrm>
            <a:off x="822960" y="685800"/>
            <a:ext cx="54864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THE MAKER, TURNED INWARD</a:t>
            </a:r>
            <a:endParaRPr lang="en-US" sz="1100" dirty="0"/>
          </a:p>
        </p:txBody>
      </p:sp>
      <p:sp>
        <p:nvSpPr>
          <p:cNvPr id="5" name="Shape 2"/>
          <p:cNvSpPr/>
          <p:nvPr/>
        </p:nvSpPr>
        <p:spPr>
          <a:xfrm>
            <a:off x="822960" y="1051560"/>
            <a:ext cx="6492240" cy="0"/>
          </a:xfrm>
          <a:prstGeom prst="line">
            <a:avLst/>
          </a:prstGeom>
          <a:noFill/>
          <a:ln w="9525">
            <a:solidFill>
              <a:srgbClr val="D9D4C4"/>
            </a:solidFill>
            <a:prstDash val="solid"/>
          </a:ln>
        </p:spPr>
      </p:sp>
      <p:sp>
        <p:nvSpPr>
          <p:cNvPr id="6" name="Text 3"/>
          <p:cNvSpPr/>
          <p:nvPr/>
        </p:nvSpPr>
        <p:spPr>
          <a:xfrm>
            <a:off x="822960" y="1234440"/>
            <a:ext cx="6492240" cy="1371600"/>
          </a:xfrm>
          <a:prstGeom prst="rect">
            <a:avLst/>
          </a:prstGeom>
          <a:noFill/>
          <a:ln/>
        </p:spPr>
        <p:txBody>
          <a:bodyPr wrap="square" lIns="0" tIns="0" rIns="0" bIns="0" rtlCol="0" anchor="t"/>
          <a:lstStyle/>
          <a:p>
            <a:pPr indent="0" marL="0">
              <a:lnSpc>
                <a:spcPts val="4200"/>
              </a:lnSpc>
              <a:buNone/>
            </a:pPr>
            <a:r>
              <a:rPr lang="en-US" sz="4000" dirty="0">
                <a:solidFill>
                  <a:srgbClr val="24313F"/>
                </a:solidFill>
                <a:latin typeface="Georgia" pitchFamily="34" charset="0"/>
                <a:ea typeface="Georgia" pitchFamily="34" charset="-122"/>
                <a:cs typeface="Georgia" pitchFamily="34" charset="-120"/>
              </a:rPr>
              <a:t>Examine your</a:t>
            </a:r>
            <a:endParaRPr lang="en-US" sz="4000" dirty="0"/>
          </a:p>
          <a:p>
            <a:pPr indent="0" marL="0">
              <a:lnSpc>
                <a:spcPts val="4200"/>
              </a:lnSpc>
              <a:buNone/>
            </a:pPr>
            <a:r>
              <a:rPr lang="en-US" sz="4000" dirty="0">
                <a:solidFill>
                  <a:srgbClr val="24313F"/>
                </a:solidFill>
                <a:latin typeface="Georgia" pitchFamily="34" charset="0"/>
                <a:ea typeface="Georgia" pitchFamily="34" charset="-122"/>
                <a:cs typeface="Georgia" pitchFamily="34" charset="-120"/>
              </a:rPr>
              <a:t>own decisions</a:t>
            </a:r>
            <a:endParaRPr lang="en-US" sz="4000" dirty="0"/>
          </a:p>
        </p:txBody>
      </p:sp>
      <p:sp>
        <p:nvSpPr>
          <p:cNvPr id="7" name="Text 4"/>
          <p:cNvSpPr/>
          <p:nvPr/>
        </p:nvSpPr>
        <p:spPr>
          <a:xfrm>
            <a:off x="822960" y="2743200"/>
            <a:ext cx="6583680" cy="2926080"/>
          </a:xfrm>
          <a:prstGeom prst="rect">
            <a:avLst/>
          </a:prstGeom>
          <a:noFill/>
          <a:ln/>
        </p:spPr>
        <p:txBody>
          <a:bodyPr wrap="square" lIns="0" tIns="0" rIns="0" bIns="0" rtlCol="0" anchor="t"/>
          <a:lstStyle/>
          <a:p>
            <a:pPr indent="0" marL="0">
              <a:lnSpc>
                <a:spcPts val="2400"/>
              </a:lnSpc>
              <a:buNone/>
            </a:pPr>
            <a:r>
              <a:rPr lang="en-US" sz="1700" dirty="0">
                <a:solidFill>
                  <a:srgbClr val="24313F"/>
                </a:solidFill>
                <a:latin typeface="Georgia" pitchFamily="34" charset="0"/>
                <a:ea typeface="Georgia" pitchFamily="34" charset="-122"/>
                <a:cs typeface="Georgia" pitchFamily="34" charset="-120"/>
              </a:rPr>
              <a:t>A self-portrait is the maker studying the maker, and this one is a twenty-year-old art student doing exactly what the CCR asks of you: examining his own work-in-progress self without flattery. The CCR asks the same of you: not to describe the product, but to examine the person who made the choices. Add one honest sentence that flatters nobody. We chose the location because it was available, and it shows in the lighting. Honesty is what examiners read as reflection.</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THE PRODUCTION DIARIES PAY OUT</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ISSUED AT THE L07 LOCK, HARVESTED NOW</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1005840"/>
            <a:ext cx="6309360" cy="731520"/>
          </a:xfrm>
          <a:prstGeom prst="rect">
            <a:avLst/>
          </a:prstGeom>
          <a:noFill/>
          <a:ln/>
        </p:spPr>
        <p:txBody>
          <a:bodyPr wrap="square" lIns="0" tIns="0" rIns="0" bIns="0" rtlCol="0" anchor="ctr"/>
          <a:lstStyle/>
          <a:p>
            <a:pPr indent="0" marL="0">
              <a:buNone/>
            </a:pPr>
            <a:r>
              <a:rPr lang="en-US" sz="3000" dirty="0">
                <a:solidFill>
                  <a:srgbClr val="24313F"/>
                </a:solidFill>
                <a:latin typeface="Georgia" pitchFamily="34" charset="0"/>
                <a:ea typeface="Georgia" pitchFamily="34" charset="-122"/>
                <a:cs typeface="Georgia" pitchFamily="34" charset="-120"/>
              </a:rPr>
              <a:t>A ready-made reflection bank</a:t>
            </a:r>
            <a:endParaRPr lang="en-US" sz="3000" dirty="0"/>
          </a:p>
        </p:txBody>
      </p:sp>
      <p:sp>
        <p:nvSpPr>
          <p:cNvPr id="6" name="Shape 4"/>
          <p:cNvSpPr/>
          <p:nvPr/>
        </p:nvSpPr>
        <p:spPr>
          <a:xfrm>
            <a:off x="822960" y="1920240"/>
            <a:ext cx="914400" cy="0"/>
          </a:xfrm>
          <a:prstGeom prst="line">
            <a:avLst/>
          </a:prstGeom>
          <a:noFill/>
          <a:ln w="31750">
            <a:solidFill>
              <a:srgbClr val="8C3A38"/>
            </a:solidFill>
            <a:prstDash val="solid"/>
          </a:ln>
        </p:spPr>
      </p:sp>
      <p:sp>
        <p:nvSpPr>
          <p:cNvPr id="7" name="Text 5"/>
          <p:cNvSpPr/>
          <p:nvPr/>
        </p:nvSpPr>
        <p:spPr>
          <a:xfrm>
            <a:off x="822960" y="2148840"/>
            <a:ext cx="6309360" cy="2286000"/>
          </a:xfrm>
          <a:prstGeom prst="rect">
            <a:avLst/>
          </a:prstGeom>
          <a:noFill/>
          <a:ln/>
        </p:spPr>
        <p:txBody>
          <a:bodyPr wrap="square" lIns="0" tIns="0" rIns="0" bIns="0" rtlCol="0" anchor="t"/>
          <a:lstStyle/>
          <a:p>
            <a:pPr indent="0" marL="0">
              <a:lnSpc>
                <a:spcPts val="2400"/>
              </a:lnSpc>
              <a:buNone/>
            </a:pPr>
            <a:r>
              <a:rPr lang="en-US" sz="1650" dirty="0">
                <a:solidFill>
                  <a:srgbClr val="24313F"/>
                </a:solidFill>
                <a:latin typeface="Georgia" pitchFamily="34" charset="0"/>
                <a:ea typeface="Georgia" pitchFamily="34" charset="-122"/>
                <a:cs typeface="Georgia" pitchFamily="34" charset="-120"/>
              </a:rPr>
              <a:t>Open the WS 6.4 diaries next to the drafts. Every entry in the decisions and consequences columns is already a reflection sentence: decided X because Y, consequence Z. This is why the lock's rule was documented decisions, not silent swaps. Transcribe the three best into the drafts.</a:t>
            </a:r>
            <a:endParaRPr lang="en-US" sz="1650" dirty="0"/>
          </a:p>
        </p:txBody>
      </p:sp>
      <p:sp>
        <p:nvSpPr>
          <p:cNvPr id="8" name="Shape 6"/>
          <p:cNvSpPr/>
          <p:nvPr/>
        </p:nvSpPr>
        <p:spPr>
          <a:xfrm>
            <a:off x="822960" y="4617720"/>
            <a:ext cx="6309360" cy="777240"/>
          </a:xfrm>
          <a:prstGeom prst="rect">
            <a:avLst/>
          </a:prstGeom>
          <a:solidFill>
            <a:srgbClr val="E8EFE7"/>
          </a:solidFill>
          <a:ln/>
        </p:spPr>
      </p:sp>
      <p:sp>
        <p:nvSpPr>
          <p:cNvPr id="9" name="Text 7"/>
          <p:cNvSpPr/>
          <p:nvPr/>
        </p:nvSpPr>
        <p:spPr>
          <a:xfrm>
            <a:off x="1051560" y="4617720"/>
            <a:ext cx="5852160" cy="777240"/>
          </a:xfrm>
          <a:prstGeom prst="rect">
            <a:avLst/>
          </a:prstGeom>
          <a:noFill/>
          <a:ln/>
        </p:spPr>
        <p:txBody>
          <a:bodyPr wrap="square" lIns="0" tIns="0" rIns="0" bIns="0" rtlCol="0" anchor="ctr"/>
          <a:lstStyle/>
          <a:p>
            <a:pPr indent="0" marL="0">
              <a:buNone/>
            </a:pPr>
            <a:r>
              <a:rPr lang="en-US" sz="1700" i="1" dirty="0">
                <a:solidFill>
                  <a:srgbClr val="4A6B5D"/>
                </a:solidFill>
                <a:latin typeface="Georgia" pitchFamily="34" charset="0"/>
                <a:ea typeface="Georgia" pitchFamily="34" charset="-122"/>
                <a:cs typeface="Georgia" pitchFamily="34" charset="-120"/>
              </a:rPr>
              <a:t>Decided X, because Y. Consequence: Z.</a:t>
            </a:r>
            <a:endParaRPr lang="en-US" sz="1700" dirty="0"/>
          </a:p>
        </p:txBody>
      </p:sp>
      <p:sp>
        <p:nvSpPr>
          <p:cNvPr id="10" name="Shape 8"/>
          <p:cNvSpPr/>
          <p:nvPr/>
        </p:nvSpPr>
        <p:spPr>
          <a:xfrm>
            <a:off x="7452360" y="1097280"/>
            <a:ext cx="3931920" cy="4480560"/>
          </a:xfrm>
          <a:prstGeom prst="rect">
            <a:avLst/>
          </a:prstGeom>
          <a:solidFill>
            <a:srgbClr val="FAF8F1"/>
          </a:solidFill>
          <a:ln w="9525">
            <a:solidFill>
              <a:srgbClr val="D9D4C4"/>
            </a:solidFill>
            <a:prstDash val="solid"/>
          </a:ln>
        </p:spPr>
      </p:sp>
      <p:pic>
        <p:nvPicPr>
          <p:cNvPr id="11" name="Image 0" descr="/Users/dogan/Documents/Vaults/Courses/wiki/classes/media-studies/decks/_build/img/ws64.jpg">    </p:cNvPr>
          <p:cNvPicPr>
            <a:picLocks noChangeAspect="1"/>
          </p:cNvPicPr>
          <p:nvPr/>
        </p:nvPicPr>
        <p:blipFill>
          <a:blip r:embed="rId1"/>
          <a:stretch>
            <a:fillRect/>
          </a:stretch>
        </p:blipFill>
        <p:spPr>
          <a:xfrm>
            <a:off x="7925557" y="1225296"/>
            <a:ext cx="2985526" cy="4224528"/>
          </a:xfrm>
          <a:prstGeom prst="rect">
            <a:avLst/>
          </a:prstGeom>
        </p:spPr>
      </p:pic>
      <p:sp>
        <p:nvSpPr>
          <p:cNvPr id="12" name="Text 9"/>
          <p:cNvSpPr/>
          <p:nvPr/>
        </p:nvSpPr>
        <p:spPr>
          <a:xfrm>
            <a:off x="7452360" y="5596128"/>
            <a:ext cx="3931920" cy="274320"/>
          </a:xfrm>
          <a:prstGeom prst="rect">
            <a:avLst/>
          </a:prstGeom>
          <a:noFill/>
          <a:ln/>
        </p:spPr>
        <p:txBody>
          <a:bodyPr wrap="square" lIns="0" tIns="0" rIns="0" bIns="0" rtlCol="0" anchor="ctr"/>
          <a:lstStyle/>
          <a:p>
            <a:pPr algn="ctr" indent="0" marL="0">
              <a:buNone/>
            </a:pPr>
            <a:r>
              <a:rPr lang="en-US" sz="1000" dirty="0">
                <a:solidFill>
                  <a:srgbClr val="7A7F72"/>
                </a:solidFill>
                <a:latin typeface="Arial" pitchFamily="34" charset="0"/>
                <a:ea typeface="Arial" pitchFamily="34" charset="-122"/>
                <a:cs typeface="Arial" pitchFamily="34" charset="-120"/>
              </a:rPr>
              <a:t>WS 6.4: the diary's own columns, on screen</a:t>
            </a:r>
            <a:endParaRPr lang="en-US" sz="1000" dirty="0"/>
          </a:p>
        </p:txBody>
      </p:sp>
      <p:sp>
        <p:nvSpPr>
          <p:cNvPr id="13" name="Shape 10"/>
          <p:cNvSpPr/>
          <p:nvPr/>
        </p:nvSpPr>
        <p:spPr>
          <a:xfrm>
            <a:off x="822960" y="6382512"/>
            <a:ext cx="10543032" cy="0"/>
          </a:xfrm>
          <a:prstGeom prst="line">
            <a:avLst/>
          </a:prstGeom>
          <a:noFill/>
          <a:ln w="9525">
            <a:solidFill>
              <a:srgbClr val="D9D4C4"/>
            </a:solidFill>
            <a:prstDash val="solid"/>
          </a:ln>
        </p:spPr>
      </p:sp>
      <p:sp>
        <p:nvSpPr>
          <p:cNvPr id="14" name="Text 11"/>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15" name="Text 12"/>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04</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8EFE7"/>
        </a:solidFill>
      </p:bgPr>
    </p:bg>
    <p:spTree>
      <p:nvGrpSpPr>
        <p:cNvPr id="1" name=""/>
        <p:cNvGrpSpPr/>
        <p:nvPr/>
      </p:nvGrpSpPr>
      <p:grpSpPr>
        <a:xfrm>
          <a:off x="0" y="0"/>
          <a:ext cx="0" cy="0"/>
          <a:chOff x="0" y="0"/>
          <a:chExt cx="0" cy="0"/>
        </a:xfrm>
      </p:grpSpPr>
      <p:sp>
        <p:nvSpPr>
          <p:cNvPr id="2" name="Text 0"/>
          <p:cNvSpPr/>
          <p:nvPr/>
        </p:nvSpPr>
        <p:spPr>
          <a:xfrm>
            <a:off x="502920" y="548640"/>
            <a:ext cx="1828800" cy="1828800"/>
          </a:xfrm>
          <a:prstGeom prst="rect">
            <a:avLst/>
          </a:prstGeom>
          <a:noFill/>
          <a:ln/>
        </p:spPr>
        <p:txBody>
          <a:bodyPr wrap="square" lIns="0" tIns="0" rIns="0" bIns="0" rtlCol="0" anchor="t"/>
          <a:lstStyle/>
          <a:p>
            <a:pPr indent="0" marL="0">
              <a:buNone/>
            </a:pPr>
            <a:r>
              <a:rPr lang="en-US" sz="20000" dirty="0">
                <a:solidFill>
                  <a:srgbClr val="A3C1AD"/>
                </a:solidFill>
                <a:latin typeface="Georgia" pitchFamily="34" charset="0"/>
                <a:ea typeface="Georgia" pitchFamily="34" charset="-122"/>
                <a:cs typeface="Georgia" pitchFamily="34" charset="-120"/>
              </a:rPr>
              <a:t>“</a:t>
            </a:r>
            <a:endParaRPr lang="en-US" sz="20000" dirty="0"/>
          </a:p>
        </p:txBody>
      </p:sp>
      <p:sp>
        <p:nvSpPr>
          <p:cNvPr id="3" name="Text 1"/>
          <p:cNvSpPr/>
          <p:nvPr/>
        </p:nvSpPr>
        <p:spPr>
          <a:xfrm>
            <a:off x="822960" y="1828800"/>
            <a:ext cx="10424160" cy="2194560"/>
          </a:xfrm>
          <a:prstGeom prst="rect">
            <a:avLst/>
          </a:prstGeom>
          <a:noFill/>
          <a:ln/>
        </p:spPr>
        <p:txBody>
          <a:bodyPr wrap="square" lIns="0" tIns="0" rIns="0" bIns="0" rtlCol="0" anchor="ctr"/>
          <a:lstStyle/>
          <a:p>
            <a:pPr indent="0" marL="0">
              <a:lnSpc>
                <a:spcPts val="6000"/>
              </a:lnSpc>
              <a:buNone/>
            </a:pPr>
            <a:r>
              <a:rPr lang="en-US" sz="5400" dirty="0">
                <a:solidFill>
                  <a:srgbClr val="24313F"/>
                </a:solidFill>
                <a:latin typeface="Georgia" pitchFamily="34" charset="0"/>
                <a:ea typeface="Georgia" pitchFamily="34" charset="-122"/>
                <a:cs typeface="Georgia" pitchFamily="34" charset="-120"/>
              </a:rPr>
              <a:t>To see oursels</a:t>
            </a:r>
            <a:endParaRPr lang="en-US" sz="5400" dirty="0"/>
          </a:p>
          <a:p>
            <a:pPr indent="0" marL="0">
              <a:lnSpc>
                <a:spcPts val="6000"/>
              </a:lnSpc>
              <a:buNone/>
            </a:pPr>
            <a:r>
              <a:rPr lang="en-US" sz="5400" dirty="0">
                <a:solidFill>
                  <a:srgbClr val="24313F"/>
                </a:solidFill>
                <a:latin typeface="Georgia" pitchFamily="34" charset="0"/>
                <a:ea typeface="Georgia" pitchFamily="34" charset="-122"/>
                <a:cs typeface="Georgia" pitchFamily="34" charset="-120"/>
              </a:rPr>
              <a:t>as ithers see us.</a:t>
            </a:r>
            <a:endParaRPr lang="en-US" sz="5400" dirty="0"/>
          </a:p>
        </p:txBody>
      </p:sp>
      <p:sp>
        <p:nvSpPr>
          <p:cNvPr id="4" name="Shape 2"/>
          <p:cNvSpPr/>
          <p:nvPr/>
        </p:nvSpPr>
        <p:spPr>
          <a:xfrm>
            <a:off x="822960" y="4754880"/>
            <a:ext cx="914400" cy="0"/>
          </a:xfrm>
          <a:prstGeom prst="line">
            <a:avLst/>
          </a:prstGeom>
          <a:noFill/>
          <a:ln w="31750">
            <a:solidFill>
              <a:srgbClr val="8C3A38"/>
            </a:solidFill>
            <a:prstDash val="solid"/>
          </a:ln>
        </p:spPr>
      </p:sp>
      <p:sp>
        <p:nvSpPr>
          <p:cNvPr id="5" name="Text 3"/>
          <p:cNvSpPr/>
          <p:nvPr/>
        </p:nvSpPr>
        <p:spPr>
          <a:xfrm>
            <a:off x="822960" y="4937760"/>
            <a:ext cx="10241280" cy="457200"/>
          </a:xfrm>
          <a:prstGeom prst="rect">
            <a:avLst/>
          </a:prstGeom>
          <a:noFill/>
          <a:ln/>
        </p:spPr>
        <p:txBody>
          <a:bodyPr wrap="square" lIns="0" tIns="0" rIns="0" bIns="0" rtlCol="0" anchor="ctr"/>
          <a:lstStyle/>
          <a:p>
            <a:pPr indent="0" marL="0">
              <a:buNone/>
            </a:pPr>
            <a:r>
              <a:rPr lang="en-US" sz="1400" spc="100" kern="0" dirty="0">
                <a:solidFill>
                  <a:srgbClr val="4A6B5D"/>
                </a:solidFill>
                <a:latin typeface="Arial" pitchFamily="34" charset="0"/>
                <a:ea typeface="Arial" pitchFamily="34" charset="-122"/>
                <a:cs typeface="Arial" pitchFamily="34" charset="-120"/>
              </a:rPr>
              <a:t>Robert Burns, To a Louse, 1786   ·   to see ourselves as others see us</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SENTENCE SURGERY</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RUN THE TEST ON YOUR OWN DRAFT</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1005840"/>
            <a:ext cx="10543032" cy="731520"/>
          </a:xfrm>
          <a:prstGeom prst="rect">
            <a:avLst/>
          </a:prstGeom>
          <a:noFill/>
          <a:ln/>
        </p:spPr>
        <p:txBody>
          <a:bodyPr wrap="square" lIns="0" tIns="0" rIns="0" bIns="0" rtlCol="0" anchor="ctr"/>
          <a:lstStyle/>
          <a:p>
            <a:pPr indent="0" marL="0">
              <a:buNone/>
            </a:pPr>
            <a:r>
              <a:rPr lang="en-US" sz="3400" dirty="0">
                <a:solidFill>
                  <a:srgbClr val="24313F"/>
                </a:solidFill>
                <a:latin typeface="Georgia" pitchFamily="34" charset="0"/>
                <a:ea typeface="Georgia" pitchFamily="34" charset="-122"/>
                <a:cs typeface="Georgia" pitchFamily="34" charset="-120"/>
              </a:rPr>
              <a:t>One sentence, operated on</a:t>
            </a:r>
            <a:endParaRPr lang="en-US" sz="3400" dirty="0"/>
          </a:p>
        </p:txBody>
      </p:sp>
      <p:sp>
        <p:nvSpPr>
          <p:cNvPr id="6" name="Text 4"/>
          <p:cNvSpPr/>
          <p:nvPr/>
        </p:nvSpPr>
        <p:spPr>
          <a:xfrm>
            <a:off x="822960" y="1965960"/>
            <a:ext cx="4846320" cy="365760"/>
          </a:xfrm>
          <a:prstGeom prst="rect">
            <a:avLst/>
          </a:prstGeom>
          <a:noFill/>
          <a:ln/>
        </p:spPr>
        <p:txBody>
          <a:bodyPr wrap="square" lIns="0" tIns="0" rIns="0" bIns="0" rtlCol="0" anchor="ctr"/>
          <a:lstStyle/>
          <a:p>
            <a:pPr indent="0" marL="0">
              <a:buNone/>
            </a:pPr>
            <a:r>
              <a:rPr lang="en-US" sz="1100" b="1" spc="150" kern="0" dirty="0">
                <a:solidFill>
                  <a:srgbClr val="7A7F72"/>
                </a:solidFill>
                <a:latin typeface="Arial" pitchFamily="34" charset="0"/>
                <a:ea typeface="Arial" pitchFamily="34" charset="-122"/>
                <a:cs typeface="Arial" pitchFamily="34" charset="-120"/>
              </a:rPr>
              <a:t>BEFORE  ·  describes</a:t>
            </a:r>
            <a:endParaRPr lang="en-US" sz="1100" dirty="0"/>
          </a:p>
        </p:txBody>
      </p:sp>
      <p:sp>
        <p:nvSpPr>
          <p:cNvPr id="7" name="Shape 5"/>
          <p:cNvSpPr/>
          <p:nvPr/>
        </p:nvSpPr>
        <p:spPr>
          <a:xfrm>
            <a:off x="822960" y="2331720"/>
            <a:ext cx="4846320" cy="1554480"/>
          </a:xfrm>
          <a:prstGeom prst="rect">
            <a:avLst/>
          </a:prstGeom>
          <a:solidFill>
            <a:srgbClr val="FAF8F1"/>
          </a:solidFill>
          <a:ln w="12700">
            <a:solidFill>
              <a:srgbClr val="D9D4C4"/>
            </a:solidFill>
            <a:prstDash val="solid"/>
          </a:ln>
        </p:spPr>
      </p:sp>
      <p:sp>
        <p:nvSpPr>
          <p:cNvPr id="8" name="Text 6"/>
          <p:cNvSpPr/>
          <p:nvPr/>
        </p:nvSpPr>
        <p:spPr>
          <a:xfrm>
            <a:off x="1051560" y="2468880"/>
            <a:ext cx="4389120" cy="1280160"/>
          </a:xfrm>
          <a:prstGeom prst="rect">
            <a:avLst/>
          </a:prstGeom>
          <a:noFill/>
          <a:ln/>
        </p:spPr>
        <p:txBody>
          <a:bodyPr wrap="square" lIns="0" tIns="0" rIns="0" bIns="0" rtlCol="0" anchor="t"/>
          <a:lstStyle/>
          <a:p>
            <a:pPr indent="0" marL="0">
              <a:lnSpc>
                <a:spcPts val="2300"/>
              </a:lnSpc>
              <a:buNone/>
            </a:pPr>
            <a:r>
              <a:rPr lang="en-US" sz="1700" dirty="0">
                <a:solidFill>
                  <a:srgbClr val="7A7F72"/>
                </a:solidFill>
                <a:latin typeface="Georgia" pitchFamily="34" charset="0"/>
                <a:ea typeface="Georgia" pitchFamily="34" charset="-122"/>
                <a:cs typeface="Georgia" pitchFamily="34" charset="-120"/>
              </a:rPr>
              <a:t>We filmed the scene in the car park and then edited it together.</a:t>
            </a:r>
            <a:endParaRPr lang="en-US" sz="1700" dirty="0"/>
          </a:p>
        </p:txBody>
      </p:sp>
      <p:sp>
        <p:nvSpPr>
          <p:cNvPr id="9" name="Text 7"/>
          <p:cNvSpPr/>
          <p:nvPr/>
        </p:nvSpPr>
        <p:spPr>
          <a:xfrm>
            <a:off x="5760720" y="2651760"/>
            <a:ext cx="548640" cy="914400"/>
          </a:xfrm>
          <a:prstGeom prst="rect">
            <a:avLst/>
          </a:prstGeom>
          <a:noFill/>
          <a:ln/>
        </p:spPr>
        <p:txBody>
          <a:bodyPr wrap="square" lIns="0" tIns="0" rIns="0" bIns="0" rtlCol="0" anchor="ctr"/>
          <a:lstStyle/>
          <a:p>
            <a:pPr algn="ctr" indent="0" marL="0">
              <a:buNone/>
            </a:pPr>
            <a:r>
              <a:rPr lang="en-US" sz="3400" dirty="0">
                <a:solidFill>
                  <a:srgbClr val="A3C1AD"/>
                </a:solidFill>
                <a:latin typeface="Georgia" pitchFamily="34" charset="0"/>
                <a:ea typeface="Georgia" pitchFamily="34" charset="-122"/>
                <a:cs typeface="Georgia" pitchFamily="34" charset="-120"/>
              </a:rPr>
              <a:t>→</a:t>
            </a:r>
            <a:endParaRPr lang="en-US" sz="3400" dirty="0"/>
          </a:p>
        </p:txBody>
      </p:sp>
      <p:sp>
        <p:nvSpPr>
          <p:cNvPr id="10" name="Text 8"/>
          <p:cNvSpPr/>
          <p:nvPr/>
        </p:nvSpPr>
        <p:spPr>
          <a:xfrm>
            <a:off x="6492240" y="1965960"/>
            <a:ext cx="4846320" cy="365760"/>
          </a:xfrm>
          <a:prstGeom prst="rect">
            <a:avLst/>
          </a:prstGeom>
          <a:noFill/>
          <a:ln/>
        </p:spPr>
        <p:txBody>
          <a:bodyPr wrap="square" lIns="0" tIns="0" rIns="0" bIns="0" rtlCol="0" anchor="ctr"/>
          <a:lstStyle/>
          <a:p>
            <a:pPr indent="0" marL="0">
              <a:buNone/>
            </a:pPr>
            <a:r>
              <a:rPr lang="en-US" sz="1100" b="1" spc="150" kern="0" dirty="0">
                <a:solidFill>
                  <a:srgbClr val="4A6B5D"/>
                </a:solidFill>
                <a:latin typeface="Arial" pitchFamily="34" charset="0"/>
                <a:ea typeface="Arial" pitchFamily="34" charset="-122"/>
                <a:cs typeface="Arial" pitchFamily="34" charset="-120"/>
              </a:rPr>
              <a:t>AFTER  ·  reflects</a:t>
            </a:r>
            <a:endParaRPr lang="en-US" sz="1100" dirty="0"/>
          </a:p>
        </p:txBody>
      </p:sp>
      <p:sp>
        <p:nvSpPr>
          <p:cNvPr id="11" name="Shape 9"/>
          <p:cNvSpPr/>
          <p:nvPr/>
        </p:nvSpPr>
        <p:spPr>
          <a:xfrm>
            <a:off x="6492240" y="2331720"/>
            <a:ext cx="4846320" cy="1554480"/>
          </a:xfrm>
          <a:prstGeom prst="rect">
            <a:avLst/>
          </a:prstGeom>
          <a:solidFill>
            <a:srgbClr val="E8EFE7"/>
          </a:solidFill>
          <a:ln w="12700">
            <a:solidFill>
              <a:srgbClr val="8AA394"/>
            </a:solidFill>
            <a:prstDash val="solid"/>
          </a:ln>
        </p:spPr>
      </p:sp>
      <p:sp>
        <p:nvSpPr>
          <p:cNvPr id="12" name="Text 10"/>
          <p:cNvSpPr/>
          <p:nvPr/>
        </p:nvSpPr>
        <p:spPr>
          <a:xfrm>
            <a:off x="6720840" y="2450592"/>
            <a:ext cx="4434840" cy="1371600"/>
          </a:xfrm>
          <a:prstGeom prst="rect">
            <a:avLst/>
          </a:prstGeom>
          <a:noFill/>
          <a:ln/>
        </p:spPr>
        <p:txBody>
          <a:bodyPr wrap="square" lIns="0" tIns="0" rIns="0" bIns="0" rtlCol="0" anchor="t"/>
          <a:lstStyle/>
          <a:p>
            <a:pPr indent="0" marL="0">
              <a:lnSpc>
                <a:spcPts val="2000"/>
              </a:lnSpc>
              <a:buNone/>
            </a:pPr>
            <a:r>
              <a:rPr lang="en-US" sz="1550" dirty="0">
                <a:solidFill>
                  <a:srgbClr val="24313F"/>
                </a:solidFill>
                <a:latin typeface="Georgia" pitchFamily="34" charset="0"/>
                <a:ea typeface="Georgia" pitchFamily="34" charset="-122"/>
                <a:cs typeface="Georgia" pitchFamily="34" charset="-120"/>
              </a:rPr>
              <a:t>We chose the car park because it was the only free location, and the flat light shows in the grade; next time we would scout for contrast.</a:t>
            </a:r>
            <a:endParaRPr lang="en-US" sz="1550" dirty="0"/>
          </a:p>
        </p:txBody>
      </p:sp>
      <p:sp>
        <p:nvSpPr>
          <p:cNvPr id="13" name="Text 11"/>
          <p:cNvSpPr/>
          <p:nvPr/>
        </p:nvSpPr>
        <p:spPr>
          <a:xfrm>
            <a:off x="822960" y="4297680"/>
            <a:ext cx="10543032" cy="457200"/>
          </a:xfrm>
          <a:prstGeom prst="rect">
            <a:avLst/>
          </a:prstGeom>
          <a:noFill/>
          <a:ln/>
        </p:spPr>
        <p:txBody>
          <a:bodyPr wrap="square" lIns="0" tIns="0" rIns="0" bIns="0" rtlCol="0" anchor="ctr"/>
          <a:lstStyle/>
          <a:p>
            <a:pPr indent="0" marL="0">
              <a:buNone/>
            </a:pPr>
            <a:r>
              <a:rPr lang="en-US" sz="1700" i="1" dirty="0">
                <a:solidFill>
                  <a:srgbClr val="4A6B5D"/>
                </a:solidFill>
                <a:latin typeface="Georgia" pitchFamily="34" charset="0"/>
                <a:ea typeface="Georgia" pitchFamily="34" charset="-122"/>
                <a:cs typeface="Georgia" pitchFamily="34" charset="-120"/>
              </a:rPr>
              <a:t>Same event. One names a decision, a reason, and a change. That is the whole surgery.</a:t>
            </a:r>
            <a:endParaRPr lang="en-US" sz="1700" dirty="0"/>
          </a:p>
        </p:txBody>
      </p:sp>
      <p:sp>
        <p:nvSpPr>
          <p:cNvPr id="14" name="Text 12"/>
          <p:cNvSpPr/>
          <p:nvPr/>
        </p:nvSpPr>
        <p:spPr>
          <a:xfrm>
            <a:off x="822960" y="4892040"/>
            <a:ext cx="10543032" cy="365760"/>
          </a:xfrm>
          <a:prstGeom prst="rect">
            <a:avLst/>
          </a:prstGeom>
          <a:noFill/>
          <a:ln/>
        </p:spPr>
        <p:txBody>
          <a:bodyPr wrap="square" lIns="0" tIns="0" rIns="0" bIns="0" rtlCol="0" anchor="ctr"/>
          <a:lstStyle/>
          <a:p>
            <a:pPr indent="0" marL="0">
              <a:buNone/>
            </a:pPr>
            <a:r>
              <a:rPr lang="en-US" sz="1250" i="1" dirty="0">
                <a:solidFill>
                  <a:srgbClr val="7A7F72"/>
                </a:solidFill>
                <a:latin typeface="Arial" pitchFamily="34" charset="0"/>
                <a:ea typeface="Arial" pitchFamily="34" charset="-122"/>
                <a:cs typeface="Arial" pitchFamily="34" charset="-120"/>
              </a:rPr>
              <a:t>The surgery closes with format speed-pitches: 60 seconds each in fours, the four votes, format finalized.</a:t>
            </a:r>
            <a:endParaRPr lang="en-US" sz="1250" dirty="0"/>
          </a:p>
        </p:txBody>
      </p:sp>
      <p:sp>
        <p:nvSpPr>
          <p:cNvPr id="15" name="Shape 13"/>
          <p:cNvSpPr/>
          <p:nvPr/>
        </p:nvSpPr>
        <p:spPr>
          <a:xfrm>
            <a:off x="822960" y="6382512"/>
            <a:ext cx="10543032" cy="0"/>
          </a:xfrm>
          <a:prstGeom prst="line">
            <a:avLst/>
          </a:prstGeom>
          <a:noFill/>
          <a:ln w="9525">
            <a:solidFill>
              <a:srgbClr val="D9D4C4"/>
            </a:solidFill>
            <a:prstDash val="solid"/>
          </a:ln>
        </p:spPr>
      </p:sp>
      <p:sp>
        <p:nvSpPr>
          <p:cNvPr id="16" name="Text 14"/>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17" name="Text 15"/>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05</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ONE TOOL IS NOT ENOUGH</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CAMBRIDGE'S TWO PUBLISHED C1 EXEMPLARS</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960120"/>
            <a:ext cx="10543032" cy="640080"/>
          </a:xfrm>
          <a:prstGeom prst="rect">
            <a:avLst/>
          </a:prstGeom>
          <a:noFill/>
          <a:ln/>
        </p:spPr>
        <p:txBody>
          <a:bodyPr wrap="square" lIns="0" tIns="0" rIns="0" bIns="0" rtlCol="0" anchor="ctr"/>
          <a:lstStyle/>
          <a:p>
            <a:pPr indent="0" marL="0">
              <a:buNone/>
            </a:pPr>
            <a:r>
              <a:rPr lang="en-US" sz="2800" dirty="0">
                <a:solidFill>
                  <a:srgbClr val="24313F"/>
                </a:solidFill>
                <a:latin typeface="Georgia" pitchFamily="34" charset="0"/>
                <a:ea typeface="Georgia" pitchFamily="34" charset="-122"/>
                <a:cs typeface="Georgia" pitchFamily="34" charset="-120"/>
              </a:rPr>
              <a:t>The moderators wrote the same criticism twice</a:t>
            </a:r>
            <a:endParaRPr lang="en-US" sz="2800" dirty="0"/>
          </a:p>
        </p:txBody>
      </p:sp>
      <p:sp>
        <p:nvSpPr>
          <p:cNvPr id="6" name="Shape 4"/>
          <p:cNvSpPr/>
          <p:nvPr/>
        </p:nvSpPr>
        <p:spPr>
          <a:xfrm>
            <a:off x="822960" y="1783080"/>
            <a:ext cx="5074920" cy="2011680"/>
          </a:xfrm>
          <a:prstGeom prst="rect">
            <a:avLst/>
          </a:prstGeom>
          <a:solidFill>
            <a:srgbClr val="E8EFE7"/>
          </a:solidFill>
          <a:ln w="12700">
            <a:solidFill>
              <a:srgbClr val="8AA394"/>
            </a:solidFill>
            <a:prstDash val="solid"/>
          </a:ln>
        </p:spPr>
      </p:sp>
      <p:sp>
        <p:nvSpPr>
          <p:cNvPr id="7" name="Text 5"/>
          <p:cNvSpPr/>
          <p:nvPr/>
        </p:nvSpPr>
        <p:spPr>
          <a:xfrm>
            <a:off x="1097280" y="1965960"/>
            <a:ext cx="4572000" cy="411480"/>
          </a:xfrm>
          <a:prstGeom prst="rect">
            <a:avLst/>
          </a:prstGeom>
          <a:noFill/>
          <a:ln/>
        </p:spPr>
        <p:txBody>
          <a:bodyPr wrap="square" lIns="0" tIns="0" rIns="0" bIns="0" rtlCol="0" anchor="ctr"/>
          <a:lstStyle/>
          <a:p>
            <a:pPr indent="0" marL="0">
              <a:buNone/>
            </a:pPr>
            <a:r>
              <a:rPr lang="en-US" sz="2100" dirty="0">
                <a:solidFill>
                  <a:srgbClr val="4A6B5D"/>
                </a:solidFill>
                <a:latin typeface="Georgia" pitchFamily="34" charset="0"/>
                <a:ea typeface="Georgia" pitchFamily="34" charset="-122"/>
                <a:cs typeface="Georgia" pitchFamily="34" charset="-120"/>
              </a:rPr>
              <a:t>Candidate A</a:t>
            </a:r>
            <a:endParaRPr lang="en-US" sz="2100" dirty="0"/>
          </a:p>
        </p:txBody>
      </p:sp>
      <p:sp>
        <p:nvSpPr>
          <p:cNvPr id="8" name="Text 6"/>
          <p:cNvSpPr/>
          <p:nvPr/>
        </p:nvSpPr>
        <p:spPr>
          <a:xfrm>
            <a:off x="1097280" y="2395728"/>
            <a:ext cx="4572000" cy="365760"/>
          </a:xfrm>
          <a:prstGeom prst="rect">
            <a:avLst/>
          </a:prstGeom>
          <a:noFill/>
          <a:ln/>
        </p:spPr>
        <p:txBody>
          <a:bodyPr wrap="square" lIns="0" tIns="0" rIns="0" bIns="0" rtlCol="0" anchor="ctr"/>
          <a:lstStyle/>
          <a:p>
            <a:pPr indent="0" marL="0">
              <a:buNone/>
            </a:pPr>
            <a:r>
              <a:rPr lang="en-US" sz="1200" b="1" spc="100" kern="0" dirty="0">
                <a:solidFill>
                  <a:srgbClr val="7A7F72"/>
                </a:solidFill>
                <a:latin typeface="Arial" pitchFamily="34" charset="0"/>
                <a:ea typeface="Arial" pitchFamily="34" charset="-122"/>
                <a:cs typeface="Arial" pitchFamily="34" charset="-120"/>
              </a:rPr>
              <a:t>Level 3</a:t>
            </a:r>
            <a:endParaRPr lang="en-US" sz="1200" dirty="0"/>
          </a:p>
        </p:txBody>
      </p:sp>
      <p:sp>
        <p:nvSpPr>
          <p:cNvPr id="9" name="Text 7"/>
          <p:cNvSpPr/>
          <p:nvPr/>
        </p:nvSpPr>
        <p:spPr>
          <a:xfrm>
            <a:off x="1097280" y="2834640"/>
            <a:ext cx="4572000" cy="822960"/>
          </a:xfrm>
          <a:prstGeom prst="rect">
            <a:avLst/>
          </a:prstGeom>
          <a:noFill/>
          <a:ln/>
        </p:spPr>
        <p:txBody>
          <a:bodyPr wrap="square" lIns="0" tIns="0" rIns="0" bIns="0" rtlCol="0" anchor="t"/>
          <a:lstStyle/>
          <a:p>
            <a:pPr indent="0" marL="0">
              <a:lnSpc>
                <a:spcPts val="2100"/>
              </a:lnSpc>
              <a:buNone/>
            </a:pPr>
            <a:r>
              <a:rPr lang="en-US" sz="1550" i="1" dirty="0">
                <a:solidFill>
                  <a:srgbClr val="24313F"/>
                </a:solidFill>
                <a:latin typeface="Georgia" pitchFamily="34" charset="0"/>
                <a:ea typeface="Georgia" pitchFamily="34" charset="-122"/>
                <a:cs typeface="Georgia" pitchFamily="34" charset="-120"/>
              </a:rPr>
              <a:t>All four questions answered in a single digital tool</a:t>
            </a:r>
            <a:endParaRPr lang="en-US" sz="1550" dirty="0"/>
          </a:p>
        </p:txBody>
      </p:sp>
      <p:sp>
        <p:nvSpPr>
          <p:cNvPr id="10" name="Shape 8"/>
          <p:cNvSpPr/>
          <p:nvPr/>
        </p:nvSpPr>
        <p:spPr>
          <a:xfrm>
            <a:off x="6309360" y="1783080"/>
            <a:ext cx="5074920" cy="2011680"/>
          </a:xfrm>
          <a:prstGeom prst="rect">
            <a:avLst/>
          </a:prstGeom>
          <a:solidFill>
            <a:srgbClr val="E8EFE7"/>
          </a:solidFill>
          <a:ln w="12700">
            <a:solidFill>
              <a:srgbClr val="8AA394"/>
            </a:solidFill>
            <a:prstDash val="solid"/>
          </a:ln>
        </p:spPr>
      </p:sp>
      <p:sp>
        <p:nvSpPr>
          <p:cNvPr id="11" name="Text 9"/>
          <p:cNvSpPr/>
          <p:nvPr/>
        </p:nvSpPr>
        <p:spPr>
          <a:xfrm>
            <a:off x="6583680" y="1965960"/>
            <a:ext cx="4572000" cy="411480"/>
          </a:xfrm>
          <a:prstGeom prst="rect">
            <a:avLst/>
          </a:prstGeom>
          <a:noFill/>
          <a:ln/>
        </p:spPr>
        <p:txBody>
          <a:bodyPr wrap="square" lIns="0" tIns="0" rIns="0" bIns="0" rtlCol="0" anchor="ctr"/>
          <a:lstStyle/>
          <a:p>
            <a:pPr indent="0" marL="0">
              <a:buNone/>
            </a:pPr>
            <a:r>
              <a:rPr lang="en-US" sz="2100" dirty="0">
                <a:solidFill>
                  <a:srgbClr val="4A6B5D"/>
                </a:solidFill>
                <a:latin typeface="Georgia" pitchFamily="34" charset="0"/>
                <a:ea typeface="Georgia" pitchFamily="34" charset="-122"/>
                <a:cs typeface="Georgia" pitchFamily="34" charset="-120"/>
              </a:rPr>
              <a:t>Candidate B</a:t>
            </a:r>
            <a:endParaRPr lang="en-US" sz="2100" dirty="0"/>
          </a:p>
        </p:txBody>
      </p:sp>
      <p:sp>
        <p:nvSpPr>
          <p:cNvPr id="12" name="Text 10"/>
          <p:cNvSpPr/>
          <p:nvPr/>
        </p:nvSpPr>
        <p:spPr>
          <a:xfrm>
            <a:off x="6583680" y="2395728"/>
            <a:ext cx="4572000" cy="365760"/>
          </a:xfrm>
          <a:prstGeom prst="rect">
            <a:avLst/>
          </a:prstGeom>
          <a:noFill/>
          <a:ln/>
        </p:spPr>
        <p:txBody>
          <a:bodyPr wrap="square" lIns="0" tIns="0" rIns="0" bIns="0" rtlCol="0" anchor="ctr"/>
          <a:lstStyle/>
          <a:p>
            <a:pPr indent="0" marL="0">
              <a:buNone/>
            </a:pPr>
            <a:r>
              <a:rPr lang="en-US" sz="1200" b="1" spc="100" kern="0" dirty="0">
                <a:solidFill>
                  <a:srgbClr val="7A7F72"/>
                </a:solidFill>
                <a:latin typeface="Arial" pitchFamily="34" charset="0"/>
                <a:ea typeface="Arial" pitchFamily="34" charset="-122"/>
                <a:cs typeface="Arial" pitchFamily="34" charset="-120"/>
              </a:rPr>
              <a:t>top of Level 5</a:t>
            </a:r>
            <a:endParaRPr lang="en-US" sz="1200" dirty="0"/>
          </a:p>
        </p:txBody>
      </p:sp>
      <p:sp>
        <p:nvSpPr>
          <p:cNvPr id="13" name="Text 11"/>
          <p:cNvSpPr/>
          <p:nvPr/>
        </p:nvSpPr>
        <p:spPr>
          <a:xfrm>
            <a:off x="6583680" y="2834640"/>
            <a:ext cx="4572000" cy="822960"/>
          </a:xfrm>
          <a:prstGeom prst="rect">
            <a:avLst/>
          </a:prstGeom>
          <a:noFill/>
          <a:ln/>
        </p:spPr>
        <p:txBody>
          <a:bodyPr wrap="square" lIns="0" tIns="0" rIns="0" bIns="0" rtlCol="0" anchor="t"/>
          <a:lstStyle/>
          <a:p>
            <a:pPr indent="0" marL="0">
              <a:lnSpc>
                <a:spcPts val="2100"/>
              </a:lnSpc>
              <a:buNone/>
            </a:pPr>
            <a:r>
              <a:rPr lang="en-US" sz="1550" i="1" dirty="0">
                <a:solidFill>
                  <a:srgbClr val="24313F"/>
                </a:solidFill>
                <a:latin typeface="Georgia" pitchFamily="34" charset="0"/>
                <a:ea typeface="Georgia" pitchFamily="34" charset="-122"/>
                <a:cs typeface="Georgia" pitchFamily="34" charset="-120"/>
              </a:rPr>
              <a:t>All four questions answered in a single digital tool</a:t>
            </a:r>
            <a:endParaRPr lang="en-US" sz="1550" dirty="0"/>
          </a:p>
        </p:txBody>
      </p:sp>
      <p:sp>
        <p:nvSpPr>
          <p:cNvPr id="14" name="Shape 12"/>
          <p:cNvSpPr/>
          <p:nvPr/>
        </p:nvSpPr>
        <p:spPr>
          <a:xfrm>
            <a:off x="822960" y="4114800"/>
            <a:ext cx="914400" cy="0"/>
          </a:xfrm>
          <a:prstGeom prst="line">
            <a:avLst/>
          </a:prstGeom>
          <a:noFill/>
          <a:ln w="31750">
            <a:solidFill>
              <a:srgbClr val="8C3A38"/>
            </a:solidFill>
            <a:prstDash val="solid"/>
          </a:ln>
        </p:spPr>
      </p:sp>
      <p:sp>
        <p:nvSpPr>
          <p:cNvPr id="15" name="Text 13"/>
          <p:cNvSpPr/>
          <p:nvPr/>
        </p:nvSpPr>
        <p:spPr>
          <a:xfrm>
            <a:off x="822960" y="4297680"/>
            <a:ext cx="10543032" cy="1371600"/>
          </a:xfrm>
          <a:prstGeom prst="rect">
            <a:avLst/>
          </a:prstGeom>
          <a:noFill/>
          <a:ln/>
        </p:spPr>
        <p:txBody>
          <a:bodyPr wrap="square" lIns="0" tIns="0" rIns="0" bIns="0" rtlCol="0" anchor="t"/>
          <a:lstStyle/>
          <a:p>
            <a:pPr indent="0" marL="0">
              <a:lnSpc>
                <a:spcPts val="2300"/>
              </a:lnSpc>
              <a:buNone/>
            </a:pPr>
            <a:r>
              <a:rPr lang="en-US" sz="1650" dirty="0">
                <a:solidFill>
                  <a:srgbClr val="24313F"/>
                </a:solidFill>
                <a:latin typeface="Georgia" pitchFamily="34" charset="0"/>
                <a:ea typeface="Georgia" pitchFamily="34" charset="-122"/>
                <a:cs typeface="Georgia" pitchFamily="34" charset="-120"/>
              </a:rPr>
              <a:t>Even the near-perfect portfolio lost its CCR strand to the same defect as the weak one: everything in one tool. Presented creatively, using technology is a spread requirement, not a suggestion: the format menu (director's commentary, voiceover presentation, podcast, screencast) exists to be used across more than one application.</a:t>
            </a:r>
            <a:endParaRPr lang="en-US" sz="1650" dirty="0"/>
          </a:p>
        </p:txBody>
      </p:sp>
      <p:sp>
        <p:nvSpPr>
          <p:cNvPr id="16" name="Shape 14"/>
          <p:cNvSpPr/>
          <p:nvPr/>
        </p:nvSpPr>
        <p:spPr>
          <a:xfrm>
            <a:off x="822960" y="6382512"/>
            <a:ext cx="10543032" cy="0"/>
          </a:xfrm>
          <a:prstGeom prst="line">
            <a:avLst/>
          </a:prstGeom>
          <a:noFill/>
          <a:ln w="9525">
            <a:solidFill>
              <a:srgbClr val="D9D4C4"/>
            </a:solidFill>
            <a:prstDash val="solid"/>
          </a:ln>
        </p:spPr>
      </p:sp>
      <p:sp>
        <p:nvSpPr>
          <p:cNvPr id="17" name="Text 15"/>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18" name="Text 16"/>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06</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DELIVERABLE · CS11</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DIRECT PRACTICE FOR A3</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1005840"/>
            <a:ext cx="6309360" cy="822960"/>
          </a:xfrm>
          <a:prstGeom prst="rect">
            <a:avLst/>
          </a:prstGeom>
          <a:noFill/>
          <a:ln/>
        </p:spPr>
        <p:txBody>
          <a:bodyPr wrap="square" lIns="0" tIns="0" rIns="0" bIns="0" rtlCol="0" anchor="ctr"/>
          <a:lstStyle/>
          <a:p>
            <a:pPr indent="0" marL="0">
              <a:buNone/>
            </a:pPr>
            <a:r>
              <a:rPr lang="en-US" sz="2800" dirty="0">
                <a:solidFill>
                  <a:srgbClr val="24313F"/>
                </a:solidFill>
                <a:latin typeface="Georgia" pitchFamily="34" charset="0"/>
                <a:ea typeface="Georgia" pitchFamily="34" charset="-122"/>
                <a:cs typeface="Georgia" pitchFamily="34" charset="-120"/>
              </a:rPr>
              <a:t>Reviewed against the real C1 criteria</a:t>
            </a:r>
            <a:endParaRPr lang="en-US" sz="2800" dirty="0"/>
          </a:p>
        </p:txBody>
      </p:sp>
      <p:sp>
        <p:nvSpPr>
          <p:cNvPr id="6" name="Shape 4"/>
          <p:cNvSpPr/>
          <p:nvPr/>
        </p:nvSpPr>
        <p:spPr>
          <a:xfrm>
            <a:off x="822960" y="1965960"/>
            <a:ext cx="914400" cy="0"/>
          </a:xfrm>
          <a:prstGeom prst="line">
            <a:avLst/>
          </a:prstGeom>
          <a:noFill/>
          <a:ln w="31750">
            <a:solidFill>
              <a:srgbClr val="8C3A38"/>
            </a:solidFill>
            <a:prstDash val="solid"/>
          </a:ln>
        </p:spPr>
      </p:sp>
      <p:sp>
        <p:nvSpPr>
          <p:cNvPr id="7" name="Text 5"/>
          <p:cNvSpPr/>
          <p:nvPr/>
        </p:nvSpPr>
        <p:spPr>
          <a:xfrm>
            <a:off x="822960" y="2194560"/>
            <a:ext cx="6309360" cy="2377440"/>
          </a:xfrm>
          <a:prstGeom prst="rect">
            <a:avLst/>
          </a:prstGeom>
          <a:noFill/>
          <a:ln/>
        </p:spPr>
        <p:txBody>
          <a:bodyPr wrap="square" lIns="0" tIns="0" rIns="0" bIns="0" rtlCol="0" anchor="t"/>
          <a:lstStyle/>
          <a:p>
            <a:pPr indent="0" marL="0">
              <a:lnSpc>
                <a:spcPts val="2300"/>
              </a:lnSpc>
              <a:buNone/>
            </a:pPr>
            <a:r>
              <a:rPr lang="en-US" sz="1600" dirty="0">
                <a:solidFill>
                  <a:srgbClr val="24313F"/>
                </a:solidFill>
                <a:latin typeface="Georgia" pitchFamily="34" charset="0"/>
                <a:ea typeface="Georgia" pitchFamily="34" charset="-122"/>
                <a:cs typeface="Georgia" pitchFamily="34" charset="-120"/>
              </a:rPr>
              <a:t>Full drafts reviewed by teacher and peers in the C1 criteria's own language: describe, question, suggest. Every draft leaves with a written action list. The format is chosen by Friday from the coursebook menu, and presented creatively using technology is a requirement, not a suggestion.</a:t>
            </a:r>
            <a:endParaRPr lang="en-US" sz="1600" dirty="0"/>
          </a:p>
        </p:txBody>
      </p:sp>
      <p:sp>
        <p:nvSpPr>
          <p:cNvPr id="8" name="Text 6"/>
          <p:cNvSpPr/>
          <p:nvPr/>
        </p:nvSpPr>
        <p:spPr>
          <a:xfrm>
            <a:off x="822960" y="4754880"/>
            <a:ext cx="6309360" cy="640080"/>
          </a:xfrm>
          <a:prstGeom prst="rect">
            <a:avLst/>
          </a:prstGeom>
          <a:noFill/>
          <a:ln/>
        </p:spPr>
        <p:txBody>
          <a:bodyPr wrap="square" lIns="0" tIns="0" rIns="0" bIns="0" rtlCol="0" anchor="t"/>
          <a:lstStyle/>
          <a:p>
            <a:pPr indent="0" marL="0">
              <a:lnSpc>
                <a:spcPts val="1600"/>
              </a:lnSpc>
              <a:buNone/>
            </a:pPr>
            <a:r>
              <a:rPr lang="en-US" sz="1200" i="1" dirty="0">
                <a:solidFill>
                  <a:srgbClr val="7A7F72"/>
                </a:solidFill>
                <a:latin typeface="Arial" pitchFamily="34" charset="0"/>
                <a:ea typeface="Arial" pitchFamily="34" charset="-122"/>
                <a:cs typeface="Arial" pitchFamily="34" charset="-120"/>
              </a:rPr>
              <a:t>This cohort's CCR is the blog-era, four-question, creative-format artifact, coursebook 6.7.</a:t>
            </a:r>
            <a:endParaRPr lang="en-US" sz="1200" dirty="0"/>
          </a:p>
        </p:txBody>
      </p:sp>
      <p:sp>
        <p:nvSpPr>
          <p:cNvPr id="9" name="Shape 7"/>
          <p:cNvSpPr/>
          <p:nvPr/>
        </p:nvSpPr>
        <p:spPr>
          <a:xfrm>
            <a:off x="7452360" y="1097280"/>
            <a:ext cx="3931920" cy="4572000"/>
          </a:xfrm>
          <a:prstGeom prst="rect">
            <a:avLst/>
          </a:prstGeom>
          <a:solidFill>
            <a:srgbClr val="FAF8F1"/>
          </a:solidFill>
          <a:ln w="9525">
            <a:solidFill>
              <a:srgbClr val="D9D4C4"/>
            </a:solidFill>
            <a:prstDash val="solid"/>
          </a:ln>
        </p:spPr>
      </p:sp>
      <p:pic>
        <p:nvPicPr>
          <p:cNvPr id="10" name="Image 0" descr="/Users/dogan/Documents/Vaults/Courses/wiki/classes/media-studies/decks/_build/img/syl-c1-criteria-b.jpg">    </p:cNvPr>
          <p:cNvPicPr>
            <a:picLocks noChangeAspect="1"/>
          </p:cNvPicPr>
          <p:nvPr/>
        </p:nvPicPr>
        <p:blipFill>
          <a:blip r:embed="rId1"/>
          <a:stretch>
            <a:fillRect/>
          </a:stretch>
        </p:blipFill>
        <p:spPr>
          <a:xfrm>
            <a:off x="7580376" y="2083597"/>
            <a:ext cx="3675888" cy="2599367"/>
          </a:xfrm>
          <a:prstGeom prst="rect">
            <a:avLst/>
          </a:prstGeom>
        </p:spPr>
      </p:pic>
      <p:sp>
        <p:nvSpPr>
          <p:cNvPr id="11" name="Text 8"/>
          <p:cNvSpPr/>
          <p:nvPr/>
        </p:nvSpPr>
        <p:spPr>
          <a:xfrm>
            <a:off x="7452360" y="5687568"/>
            <a:ext cx="3931920" cy="274320"/>
          </a:xfrm>
          <a:prstGeom prst="rect">
            <a:avLst/>
          </a:prstGeom>
          <a:noFill/>
          <a:ln/>
        </p:spPr>
        <p:txBody>
          <a:bodyPr wrap="square" lIns="0" tIns="0" rIns="0" bIns="0" rtlCol="0" anchor="ctr"/>
          <a:lstStyle/>
          <a:p>
            <a:pPr algn="ctr" indent="0" marL="0">
              <a:buNone/>
            </a:pPr>
            <a:r>
              <a:rPr lang="en-US" sz="1000" dirty="0">
                <a:solidFill>
                  <a:srgbClr val="7A7F72"/>
                </a:solidFill>
                <a:latin typeface="Arial" pitchFamily="34" charset="0"/>
                <a:ea typeface="Arial" pitchFamily="34" charset="-122"/>
                <a:cs typeface="Arial" pitchFamily="34" charset="-120"/>
              </a:rPr>
              <a:t>The 2027 syllabus's own C1 assessment criteria</a:t>
            </a:r>
            <a:endParaRPr lang="en-US" sz="1000" dirty="0"/>
          </a:p>
        </p:txBody>
      </p:sp>
      <p:sp>
        <p:nvSpPr>
          <p:cNvPr id="12" name="Shape 9"/>
          <p:cNvSpPr/>
          <p:nvPr/>
        </p:nvSpPr>
        <p:spPr>
          <a:xfrm>
            <a:off x="822960" y="6382512"/>
            <a:ext cx="10543032" cy="0"/>
          </a:xfrm>
          <a:prstGeom prst="line">
            <a:avLst/>
          </a:prstGeom>
          <a:noFill/>
          <a:ln w="9525">
            <a:solidFill>
              <a:srgbClr val="D9D4C4"/>
            </a:solidFill>
            <a:prstDash val="solid"/>
          </a:ln>
        </p:spPr>
      </p:sp>
      <p:sp>
        <p:nvSpPr>
          <p:cNvPr id="13" name="Text 10"/>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14" name="Text 11"/>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07</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4A6B5D"/>
        </a:solidFill>
      </p:bgPr>
    </p:bg>
    <p:spTree>
      <p:nvGrpSpPr>
        <p:cNvPr id="1" name=""/>
        <p:cNvGrpSpPr/>
        <p:nvPr/>
      </p:nvGrpSpPr>
      <p:grpSpPr>
        <a:xfrm>
          <a:off x="0" y="0"/>
          <a:ext cx="0" cy="0"/>
          <a:chOff x="0" y="0"/>
          <a:chExt cx="0" cy="0"/>
        </a:xfrm>
      </p:grpSpPr>
      <p:sp>
        <p:nvSpPr>
          <p:cNvPr id="2" name="Text 0"/>
          <p:cNvSpPr/>
          <p:nvPr/>
        </p:nvSpPr>
        <p:spPr>
          <a:xfrm>
            <a:off x="822960" y="2148840"/>
            <a:ext cx="5486400" cy="274320"/>
          </a:xfrm>
          <a:prstGeom prst="rect">
            <a:avLst/>
          </a:prstGeom>
          <a:noFill/>
          <a:ln/>
        </p:spPr>
        <p:txBody>
          <a:bodyPr wrap="square" lIns="0" tIns="0" rIns="0" bIns="0" rtlCol="0" anchor="ctr"/>
          <a:lstStyle/>
          <a:p>
            <a:pPr algn="l" indent="0" marL="0">
              <a:buNone/>
            </a:pPr>
            <a:r>
              <a:rPr lang="en-US" sz="1100" b="1" spc="250" kern="0" dirty="0">
                <a:solidFill>
                  <a:srgbClr val="FAF8F1"/>
                </a:solidFill>
                <a:latin typeface="Arial" pitchFamily="34" charset="0"/>
                <a:ea typeface="Arial" pitchFamily="34" charset="-122"/>
                <a:cs typeface="Arial" pitchFamily="34" charset="-120"/>
              </a:rPr>
              <a:t>NEXT</a:t>
            </a:r>
            <a:endParaRPr lang="en-US" sz="1100" dirty="0"/>
          </a:p>
        </p:txBody>
      </p:sp>
      <p:sp>
        <p:nvSpPr>
          <p:cNvPr id="3" name="Shape 1"/>
          <p:cNvSpPr/>
          <p:nvPr/>
        </p:nvSpPr>
        <p:spPr>
          <a:xfrm>
            <a:off x="822960" y="2514600"/>
            <a:ext cx="3108960" cy="0"/>
          </a:xfrm>
          <a:prstGeom prst="line">
            <a:avLst/>
          </a:prstGeom>
          <a:noFill/>
          <a:ln w="9525">
            <a:solidFill>
              <a:srgbClr val="8AA394"/>
            </a:solidFill>
            <a:prstDash val="solid"/>
          </a:ln>
        </p:spPr>
      </p:sp>
      <p:sp>
        <p:nvSpPr>
          <p:cNvPr id="4" name="Text 2"/>
          <p:cNvSpPr/>
          <p:nvPr/>
        </p:nvSpPr>
        <p:spPr>
          <a:xfrm>
            <a:off x="822960" y="2651760"/>
            <a:ext cx="10424160" cy="1920240"/>
          </a:xfrm>
          <a:prstGeom prst="rect">
            <a:avLst/>
          </a:prstGeom>
          <a:noFill/>
          <a:ln/>
        </p:spPr>
        <p:txBody>
          <a:bodyPr wrap="square" lIns="0" tIns="0" rIns="0" bIns="0" rtlCol="0" anchor="t"/>
          <a:lstStyle/>
          <a:p>
            <a:pPr indent="0" marL="0">
              <a:lnSpc>
                <a:spcPts val="5200"/>
              </a:lnSpc>
              <a:buNone/>
            </a:pPr>
            <a:r>
              <a:rPr lang="en-US" sz="4800" dirty="0">
                <a:solidFill>
                  <a:srgbClr val="FAF8F1"/>
                </a:solidFill>
                <a:latin typeface="Georgia" pitchFamily="34" charset="0"/>
                <a:ea typeface="Georgia" pitchFamily="34" charset="-122"/>
                <a:cs typeface="Georgia" pitchFamily="34" charset="-120"/>
              </a:rPr>
              <a:t>Audiences and the</a:t>
            </a:r>
            <a:endParaRPr lang="en-US" sz="4800" dirty="0"/>
          </a:p>
          <a:p>
            <a:pPr indent="0" marL="0">
              <a:lnSpc>
                <a:spcPts val="5200"/>
              </a:lnSpc>
              <a:buNone/>
            </a:pPr>
            <a:r>
              <a:rPr lang="en-US" sz="4800" dirty="0">
                <a:solidFill>
                  <a:srgbClr val="FAF8F1"/>
                </a:solidFill>
                <a:latin typeface="Georgia" pitchFamily="34" charset="0"/>
                <a:ea typeface="Georgia" pitchFamily="34" charset="-122"/>
                <a:cs typeface="Georgia" pitchFamily="34" charset="-120"/>
              </a:rPr>
              <a:t>Portfolio Submission</a:t>
            </a:r>
            <a:endParaRPr lang="en-US" sz="4800" dirty="0"/>
          </a:p>
        </p:txBody>
      </p:sp>
      <p:sp>
        <p:nvSpPr>
          <p:cNvPr id="5" name="Text 3"/>
          <p:cNvSpPr/>
          <p:nvPr/>
        </p:nvSpPr>
        <p:spPr>
          <a:xfrm>
            <a:off x="822960" y="4846320"/>
            <a:ext cx="9875520" cy="457200"/>
          </a:xfrm>
          <a:prstGeom prst="rect">
            <a:avLst/>
          </a:prstGeom>
          <a:noFill/>
          <a:ln/>
        </p:spPr>
        <p:txBody>
          <a:bodyPr wrap="square" lIns="0" tIns="0" rIns="0" bIns="0" rtlCol="0" anchor="ctr"/>
          <a:lstStyle/>
          <a:p>
            <a:pPr indent="0" marL="0">
              <a:buNone/>
            </a:pPr>
            <a:r>
              <a:rPr lang="en-US" sz="2200" i="1" dirty="0">
                <a:solidFill>
                  <a:srgbClr val="E8EFE7"/>
                </a:solidFill>
                <a:latin typeface="Georgia" pitchFamily="34" charset="0"/>
                <a:ea typeface="Georgia" pitchFamily="34" charset="-122"/>
                <a:cs typeface="Georgia" pitchFamily="34" charset="-120"/>
              </a:rPr>
              <a:t>Lesson 14. The Component 1 arc closes: A3 goes in, with no edits after.</a:t>
            </a:r>
            <a:endParaRPr lang="en-US" sz="2200" dirty="0"/>
          </a:p>
        </p:txBody>
      </p:sp>
      <p:sp>
        <p:nvSpPr>
          <p:cNvPr id="6" name="Shape 4"/>
          <p:cNvSpPr/>
          <p:nvPr/>
        </p:nvSpPr>
        <p:spPr>
          <a:xfrm>
            <a:off x="822960" y="6382512"/>
            <a:ext cx="10543032" cy="0"/>
          </a:xfrm>
          <a:prstGeom prst="line">
            <a:avLst/>
          </a:prstGeom>
          <a:noFill/>
          <a:ln w="9525">
            <a:solidFill>
              <a:srgbClr val="6E8A7C"/>
            </a:solidFill>
            <a:prstDash val="solid"/>
          </a:ln>
        </p:spPr>
      </p:sp>
      <p:sp>
        <p:nvSpPr>
          <p:cNvPr id="7" name="Text 5"/>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E8EFE7"/>
                </a:solidFill>
                <a:latin typeface="Arial" pitchFamily="34" charset="0"/>
                <a:ea typeface="Arial" pitchFamily="34" charset="-122"/>
                <a:cs typeface="Arial" pitchFamily="34" charset="-120"/>
              </a:rPr>
              <a:t>MEDIA STUDIES 9607 · SEMESTER I</a:t>
            </a:r>
            <a:endParaRPr lang="en-US" sz="900" dirty="0"/>
          </a:p>
        </p:txBody>
      </p:sp>
      <p:sp>
        <p:nvSpPr>
          <p:cNvPr id="8" name="Text 6"/>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E8EFE7"/>
                </a:solidFill>
                <a:latin typeface="Georgia" pitchFamily="34" charset="0"/>
                <a:ea typeface="Georgia" pitchFamily="34" charset="-122"/>
                <a:cs typeface="Georgia" pitchFamily="34" charset="-120"/>
              </a:rPr>
              <a:t>08</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2026-08-24T08:50:02Z</dcterms:created>
  <dcterms:modified xsi:type="dcterms:W3CDTF">2026-08-24T08:50:02Z</dcterms:modified>
</cp:coreProperties>
</file>