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week, one artifact: the CCR that carries a fifth of the A3 marks in disguise, because it is where AO2 lives in the portfolio.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 that governs all four days doubles as the success criterion, straight from the schedule.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syllabus wording sits behind these student-language versions; the plan issues them EN/ZH, which is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plan promises the four questions issued in student language, EN/ZH; both slides go on the wall. Both languages are legitimate in the room; the CCR itself is written in English.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maxim is ours, not a quotation; it runs the sentence surgery and the CS11 review alike.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Restored 2026-08-24: the lesson names Rivera's 1907 self-portrait, replaced by Van Gogh in July only because the library scan was too small; a larger scan is now in img/. Update CREDITS if this 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lock was L07 (the old slide said L05, a pre-rebuild residue). The Q1 evidence base also includes the L11 stereotype-audit findings: a fixed stereotype is a reflection sentence waiting to happen.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surgery sheet is ten sentences, PROPOSED; the banned sentence is any variant of aimed at young people aged 15 to 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exemplars live on the School Support Hub (URLs in the plan's sources; teacher login). Candidate B's CCR strand was the only strand off the top band. This is the plan's strongest teacher note, now on a slide; the format spread is a hard requirement at D1.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protocol runs Deck U6.1's Lerman-style structure. The criteria page on screen is the syllabus's own; the review is conducted in its language so A3's marking holds no surprises.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0" y="822960"/>
            <a:ext cx="45720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XIII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7589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Creative</a:t>
            </a:r>
            <a:endParaRPr lang="en-US" sz="52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Reflection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 · Lesson 13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days  ·  Monday 16 to Friday 20 November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75120" y="640080"/>
            <a:ext cx="493776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XIII</a:t>
            </a:r>
            <a:endParaRPr lang="en-US" sz="22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 AND THE SUCCESS CRITERION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420624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Cut every sentence that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describes instead of reflects.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CCR · FOUR SET QUESTIONS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CREATIVELY, USING TECHNOLOGY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questions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93852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Q1 · Conventions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2468880"/>
            <a:ext cx="481431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578608"/>
            <a:ext cx="48143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product uses or challenges conventions, and how it represents social groups.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368796" y="193852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 · Audiences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368796" y="2468880"/>
            <a:ext cx="481431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8796" y="2578608"/>
            <a:ext cx="48143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the product engages, and how it would really reach and circulate to them.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13308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Q3 · Skills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" y="4663440"/>
            <a:ext cx="481431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773168"/>
            <a:ext cx="48143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your skills grew from day-one footage to the rough cut, and what changed them.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368796" y="413308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Q4 · Technology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368796" y="4663440"/>
            <a:ext cx="481431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8796" y="4773168"/>
            <a:ext cx="48143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technology as decisions: we used X so that Y. Not a list of software.</a:t>
            </a:r>
            <a:endParaRPr lang="en-US" sz="155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同样的四个问题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STUDENT LANGUAGE, BOTH LANGUAGES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four, in both languages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193852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Q1 · 常规与再现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822960" y="2468880"/>
            <a:ext cx="481431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578608"/>
            <a:ext cx="48143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你的作品如何运用或挑战媒体常规？它如何再现社会群体或议题？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68796" y="193852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 · 受众与传播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6368796" y="2468880"/>
            <a:ext cx="481431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8796" y="2578608"/>
            <a:ext cx="48143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你的作品吸引谁？它会怎样真实地到达并流通给这些受众？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413308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Q3 · 技能成长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22960" y="4663440"/>
            <a:ext cx="481431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773168"/>
            <a:ext cx="48143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从第一天的素材到粗剪，你的制作技能如何发展？是什么改变了它？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68796" y="413308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Q4 · 技术整合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368796" y="4663440"/>
            <a:ext cx="4814316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8796" y="4773168"/>
            <a:ext cx="48143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软件、硬件、网络：作为决定来写，我们用了X是为了Y，而不是清单。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ONE-LINE TEACHING OF THE WHOLE WEEK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IT ON THE WALL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tell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description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contains a sequence of events. It says what you did: we filmed, then we edited, then we uploaded.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reflection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974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contains a decision, a reason, or a change. It says why, and what you would do differently.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TEST EVERY SENTENCE TAKES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decision,</a:t>
            </a:r>
            <a:endParaRPr lang="en-US" sz="5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5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reason, or a change.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reflective sentence contains at least one. If a sentence contains none of the three, it is description; cut it or convert it.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rivera-self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Diego Rivera, Self-Portrait, 1907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MAKER, TURNED INWARD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4922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Examine your</a:t>
            </a:r>
            <a:endParaRPr lang="en-US" sz="4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 decisions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2743200"/>
            <a:ext cx="65836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self-portrait is the maker studying the maker. Here, a twenty-year-old student examines his own unfinished self, without flattery.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CCR asks the same of you: examine the person who made the choices, not just the product.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HONEST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one sentence that flatters nobody: “We chose the location because it was free, and it shows in the lighting.” Examiners read honesty as reflection.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PRODUCTION DIARIES PAY OUT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ISSUED AT THE L07 LOCK, HARVESTED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ready-made reflection bank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9202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48840"/>
            <a:ext cx="63093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your WS 6.4 diary next to your draft.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entry in the decisions and consequences columns is already a reflection sentence.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Copy the three best entries into the draft.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4617720"/>
            <a:ext cx="6309360" cy="7772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4617720"/>
            <a:ext cx="5852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Decided X, because Y. Consequence: Z.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452360" y="1097280"/>
            <a:ext cx="3931920" cy="44805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1" name="Image 0" descr="/Users/dogan/Documents/Vaults/Courses/wiki/classes/media-studies/decks/_build/img/ws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5557" y="1225296"/>
            <a:ext cx="2985526" cy="422452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452360" y="55961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6.4: the diary's own columns, on screen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see oursels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ithers see us.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822960" y="47548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9377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Robert Burns, To a Louse, 1786   ·   to see ourselves as others see us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 SURGERY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TEST ON YOUR OWN DRAFT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sentence, operated 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 ·  describes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4846320" cy="1554480"/>
          </a:xfrm>
          <a:prstGeom prst="rect">
            <a:avLst/>
          </a:prstGeom>
          <a:solidFill>
            <a:srgbClr val="FAF8F1"/>
          </a:solidFill>
          <a:ln w="12700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468880"/>
            <a:ext cx="4389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filmed the scene in the car park and then edited it together.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760720" y="265176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6492240" y="1965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 ·  reflects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92240" y="2331720"/>
            <a:ext cx="4846320" cy="155448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20840" y="2450592"/>
            <a:ext cx="4434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chose the car park because it was the only free location, and the flat light shows in the grade; next time we would scout for contrast.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22960" y="429768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event. One names a decision, a reason, and a change. That is the whole surgery.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" y="489204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format speed-pitches: 60 seconds each, in groups of four. Vote, and the format is final.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TOOL IS NOT ENOUGH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CAMBRIDGE'S TWO PUBLISHED C1 EXEMPLARS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moderators wrote the same criticism twice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5074920" cy="201168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9659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Candidate A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9728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834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four questions answered in a single digital tool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074920" cy="201168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9659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Candidate B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583680" y="23957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of Level 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0" y="2834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four questions answered in a single digital tool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822960" y="41148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29768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 the near-perfect portfolio lost its CCR marks the same way: everything in one tool.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  </a:t>
            </a:r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“Presented creatively, using technology” means more than one tool across the four questions.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MENU   </a:t>
            </a:r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Director's commentary, voiceover presentation, podcast, screencast.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PRACTICE FOR A3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Reviewed against the real C1 criteria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196596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94560"/>
            <a:ext cx="6309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drafts reviewed by teacher and peers, in the C1 criteria's own words: describe, question, suggest.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WITH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written action list for your draft.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FRIDAY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 chosen from the coursebook menu. More than one tool.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75488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cohort's CCR is the blog-era, four-question, creative-format artifact, coursebook 6.7.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452360" y="1097280"/>
            <a:ext cx="3931920" cy="45720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0" descr="/Users/dogan/Documents/Vaults/Courses/wiki/classes/media-studies/decks/_build/img/syl-c1-criteria-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0376" y="2083597"/>
            <a:ext cx="3675888" cy="259936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52360" y="56875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2027 syllabus's own C1 assessment criteria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424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Audiences and the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Submission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14. The Component 1 arc closes: A3 goes in, with no edits after.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2026-08-25T03:24:05Z</dcterms:created>
  <dcterms:modified xsi:type="dcterms:W3CDTF">2026-08-25T03:24:05Z</dcterms:modified>
</cp:coreProperties>
</file>