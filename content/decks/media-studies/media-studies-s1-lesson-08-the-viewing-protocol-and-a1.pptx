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notesMasterIdLst>
    <p:notesMasterId r:id="rId1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elements taught, four shot, one integrated paragraph written. This week converts that into a method that survives exam pressure.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Until this build that sentence was false: sound and editing shared a fraction of the calendar and mise-en-scene had no session at 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A2 announcement sits on Monday, day one, exactly as the register requires; announcing it at the Wednesday sit would shortchange the notice window. Warm-up frames: Adolescence, Toy Story, The Third Man (the canted canon). The 30-item list is PROPOSED content; note where it lives.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Six passes, identical to L07's list: narrative is not one of them. Narrative theory arrives at L10, after the sit, because Section A's prompt asks for the four technical elements, not for narrative theory. (The full-Ladder claim is contested between L07 and L08 on the routines page; the deck follows the plan until that is settled.)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frame the room mapped for code families at L02 returns under the exam's discipline: same still, deeper read. The rehearsal read on D2 runs on an unseen extract, twice, with a cut count.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worked example on the board (the next two slides), then one deliberately bad example where effect and meaning are the same sentence twice.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bad example matters more than the good one. Students cannot see this defect in their own writing until they have diagnosed it in someone else's. The frame gives the diagnosis a referent: Kane at the podium, the poster behind, the camera below the stage.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Board it live rather than showing it finished if time allows; the crossing-out is the teaching. Then Beat the Examiner lite on one specimen paragraph.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old fourth-viewing label (narrative and meaning) was a pre-rebuild residue; narrative is L10's business, after the sit. The honest label is the integrated pass.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Marked with WS 4.6's rubric and comment bank, banded in the official Paper 2 five-criteria language. The per-criterion band descriptors on WS 4.6 are centre-authored, not Cambridge's; the criteria and band words are Cambridge's 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extract shortlist is PROPOSED and sealed until the sit: no text taught to this cohort. The Your Honor paper stays unscreened, held for the L18 rehearsal per the release strategy.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A2 was announced Monday (see slide 3): due Monday 26 October, posts 1 to 7 to the mid-point standard. Wednesday is the sit only; no announcements share it. Thursday P1 is the stakes-off re-run: retrieval, a fresh extract in protocol order, one PEEM paragraph to time, then Beat the Examiner lite.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jpg"/><Relationship Id="rId2" Type="http://schemas.openxmlformats.org/officeDocument/2006/relationships/image" Target="../media/image-3-2.jpg"/><Relationship Id="rId3" Type="http://schemas.openxmlformats.org/officeDocument/2006/relationships/image" Target="../media/image-3-3.jpg"/><Relationship Id="rId4" Type="http://schemas.openxmlformats.org/officeDocument/2006/relationships/image" Target="../media/image-3-4.jpg"/><Relationship Id="rId5" Type="http://schemas.openxmlformats.org/officeDocument/2006/relationships/slideLayout" Target="../slideLayouts/slideLayout1.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jp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jp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AF8F1"/>
        </a:solidFill>
      </p:bgPr>
    </p:bg>
    <p:spTree>
      <p:nvGrpSpPr>
        <p:cNvPr id="1" name=""/>
        <p:cNvGrpSpPr/>
        <p:nvPr/>
      </p:nvGrpSpPr>
      <p:grpSpPr>
        <a:xfrm>
          <a:off x="0" y="0"/>
          <a:ext cx="0" cy="0"/>
          <a:chOff x="0" y="0"/>
          <a:chExt cx="0" cy="0"/>
        </a:xfrm>
      </p:grpSpPr>
      <p:sp>
        <p:nvSpPr>
          <p:cNvPr id="2" name="Text 0"/>
          <p:cNvSpPr/>
          <p:nvPr/>
        </p:nvSpPr>
        <p:spPr>
          <a:xfrm>
            <a:off x="6583680" y="822960"/>
            <a:ext cx="4846320" cy="4937760"/>
          </a:xfrm>
          <a:prstGeom prst="rect">
            <a:avLst/>
          </a:prstGeom>
          <a:noFill/>
          <a:ln/>
        </p:spPr>
        <p:txBody>
          <a:bodyPr wrap="square" lIns="0" tIns="0" rIns="0" bIns="0" rtlCol="0" anchor="ctr"/>
          <a:lstStyle/>
          <a:p>
            <a:pPr algn="ctr" indent="0" marL="0">
              <a:buNone/>
            </a:pPr>
            <a:r>
              <a:rPr lang="en-US" sz="21000" dirty="0">
                <a:solidFill>
                  <a:srgbClr val="A3C1AD"/>
                </a:solidFill>
                <a:latin typeface="Georgia" pitchFamily="34" charset="0"/>
                <a:ea typeface="Georgia" pitchFamily="34" charset="-122"/>
                <a:cs typeface="Georgia" pitchFamily="34" charset="-120"/>
              </a:rPr>
              <a:t>VIII</a:t>
            </a:r>
            <a:endParaRPr lang="en-US" sz="21000" dirty="0"/>
          </a:p>
        </p:txBody>
      </p:sp>
      <p:sp>
        <p:nvSpPr>
          <p:cNvPr id="3" name="Text 1"/>
          <p:cNvSpPr/>
          <p:nvPr/>
        </p:nvSpPr>
        <p:spPr>
          <a:xfrm>
            <a:off x="822960" y="1234440"/>
            <a:ext cx="8229600" cy="274320"/>
          </a:xfrm>
          <a:prstGeom prst="rect">
            <a:avLst/>
          </a:prstGeom>
          <a:noFill/>
          <a:ln/>
        </p:spPr>
        <p:txBody>
          <a:bodyPr wrap="square" lIns="0" tIns="0" rIns="0" bIns="0" rtlCol="0" anchor="ctr"/>
          <a:lstStyle/>
          <a:p>
            <a:pPr algn="l" indent="0" marL="0">
              <a:buNone/>
            </a:pPr>
            <a:r>
              <a:rPr lang="en-US" sz="1100" b="1" spc="250" kern="0" dirty="0">
                <a:solidFill>
                  <a:srgbClr val="4A6B5D"/>
                </a:solidFill>
                <a:latin typeface="Arial" pitchFamily="34" charset="0"/>
                <a:ea typeface="Arial" pitchFamily="34" charset="-122"/>
                <a:cs typeface="Arial" pitchFamily="34" charset="-120"/>
              </a:rPr>
              <a:t>MEDIA STUDIES 9607 · UNIT III</a:t>
            </a:r>
            <a:endParaRPr lang="en-US" sz="1100" dirty="0"/>
          </a:p>
        </p:txBody>
      </p:sp>
      <p:sp>
        <p:nvSpPr>
          <p:cNvPr id="4" name="Text 2"/>
          <p:cNvSpPr/>
          <p:nvPr/>
        </p:nvSpPr>
        <p:spPr>
          <a:xfrm>
            <a:off x="822960" y="1737360"/>
            <a:ext cx="8046720" cy="2377440"/>
          </a:xfrm>
          <a:prstGeom prst="rect">
            <a:avLst/>
          </a:prstGeom>
          <a:noFill/>
          <a:ln/>
        </p:spPr>
        <p:txBody>
          <a:bodyPr wrap="square" lIns="0" tIns="0" rIns="0" bIns="0" rtlCol="0" anchor="t"/>
          <a:lstStyle/>
          <a:p>
            <a:pPr indent="0" marL="0">
              <a:lnSpc>
                <a:spcPts val="4400"/>
              </a:lnSpc>
              <a:buNone/>
            </a:pPr>
            <a:r>
              <a:rPr lang="en-US" sz="4400" dirty="0">
                <a:solidFill>
                  <a:srgbClr val="24313F"/>
                </a:solidFill>
                <a:latin typeface="Georgia" pitchFamily="34" charset="0"/>
                <a:ea typeface="Georgia" pitchFamily="34" charset="-122"/>
                <a:cs typeface="Georgia" pitchFamily="34" charset="-120"/>
              </a:rPr>
              <a:t>The Viewing Protocol</a:t>
            </a:r>
            <a:endParaRPr lang="en-US" sz="4400" dirty="0"/>
          </a:p>
          <a:p>
            <a:pPr indent="0" marL="0">
              <a:lnSpc>
                <a:spcPts val="4400"/>
              </a:lnSpc>
              <a:buNone/>
            </a:pPr>
            <a:r>
              <a:rPr lang="en-US" sz="4400" dirty="0">
                <a:solidFill>
                  <a:srgbClr val="24313F"/>
                </a:solidFill>
                <a:latin typeface="Georgia" pitchFamily="34" charset="0"/>
                <a:ea typeface="Georgia" pitchFamily="34" charset="-122"/>
                <a:cs typeface="Georgia" pitchFamily="34" charset="-120"/>
              </a:rPr>
              <a:t>and A1</a:t>
            </a:r>
            <a:endParaRPr lang="en-US" sz="4400" dirty="0"/>
          </a:p>
        </p:txBody>
      </p:sp>
      <p:sp>
        <p:nvSpPr>
          <p:cNvPr id="5" name="Shape 3"/>
          <p:cNvSpPr/>
          <p:nvPr/>
        </p:nvSpPr>
        <p:spPr>
          <a:xfrm>
            <a:off x="822960" y="4343400"/>
            <a:ext cx="914400" cy="0"/>
          </a:xfrm>
          <a:prstGeom prst="line">
            <a:avLst/>
          </a:prstGeom>
          <a:noFill/>
          <a:ln w="31750">
            <a:solidFill>
              <a:srgbClr val="8C3A38"/>
            </a:solidFill>
            <a:prstDash val="solid"/>
          </a:ln>
        </p:spPr>
      </p:sp>
      <p:sp>
        <p:nvSpPr>
          <p:cNvPr id="6" name="Text 4"/>
          <p:cNvSpPr/>
          <p:nvPr/>
        </p:nvSpPr>
        <p:spPr>
          <a:xfrm>
            <a:off x="822960" y="4526280"/>
            <a:ext cx="8229600" cy="457200"/>
          </a:xfrm>
          <a:prstGeom prst="rect">
            <a:avLst/>
          </a:prstGeom>
          <a:noFill/>
          <a:ln/>
        </p:spPr>
        <p:txBody>
          <a:bodyPr wrap="square" lIns="0" tIns="0" rIns="0" bIns="0" rtlCol="0" anchor="ctr"/>
          <a:lstStyle/>
          <a:p>
            <a:pPr indent="0" marL="0">
              <a:buNone/>
            </a:pPr>
            <a:r>
              <a:rPr lang="en-US" sz="2200" i="1" dirty="0">
                <a:solidFill>
                  <a:srgbClr val="7A7F72"/>
                </a:solidFill>
                <a:latin typeface="Georgia" pitchFamily="34" charset="0"/>
                <a:ea typeface="Georgia" pitchFamily="34" charset="-122"/>
                <a:cs typeface="Georgia" pitchFamily="34" charset="-120"/>
              </a:rPr>
              <a:t>Macro and Textual Analysis · Lesson 08 of 19</a:t>
            </a:r>
            <a:endParaRPr lang="en-US" sz="2200" dirty="0"/>
          </a:p>
        </p:txBody>
      </p:sp>
      <p:sp>
        <p:nvSpPr>
          <p:cNvPr id="7" name="Text 5"/>
          <p:cNvSpPr/>
          <p:nvPr/>
        </p:nvSpPr>
        <p:spPr>
          <a:xfrm>
            <a:off x="822960" y="5029200"/>
            <a:ext cx="10058400" cy="365760"/>
          </a:xfrm>
          <a:prstGeom prst="rect">
            <a:avLst/>
          </a:prstGeom>
          <a:noFill/>
          <a:ln/>
        </p:spPr>
        <p:txBody>
          <a:bodyPr wrap="square" lIns="0" tIns="0" rIns="0" bIns="0" rtlCol="0" anchor="ctr"/>
          <a:lstStyle/>
          <a:p>
            <a:pPr indent="0" marL="0">
              <a:buNone/>
            </a:pPr>
            <a:r>
              <a:rPr lang="en-US" sz="1300" spc="100" kern="0" dirty="0">
                <a:solidFill>
                  <a:srgbClr val="7A7F72"/>
                </a:solidFill>
                <a:latin typeface="Arial" pitchFamily="34" charset="0"/>
                <a:ea typeface="Arial" pitchFamily="34" charset="-122"/>
                <a:cs typeface="Arial" pitchFamily="34" charset="-120"/>
              </a:rPr>
              <a:t>Three days  ·  Mon 12 · Wed 14 (double) · Thu 15 October  ·  the first attainment</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4A6B5D"/>
        </a:solidFill>
      </p:bgPr>
    </p:bg>
    <p:spTree>
      <p:nvGrpSpPr>
        <p:cNvPr id="1" name=""/>
        <p:cNvGrpSpPr/>
        <p:nvPr/>
      </p:nvGrpSpPr>
      <p:grpSpPr>
        <a:xfrm>
          <a:off x="0" y="0"/>
          <a:ext cx="0" cy="0"/>
          <a:chOff x="0" y="0"/>
          <a:chExt cx="0" cy="0"/>
        </a:xfrm>
      </p:grpSpPr>
      <p:sp>
        <p:nvSpPr>
          <p:cNvPr id="2" name="Text 0"/>
          <p:cNvSpPr/>
          <p:nvPr/>
        </p:nvSpPr>
        <p:spPr>
          <a:xfrm>
            <a:off x="6400800" y="640080"/>
            <a:ext cx="5212080" cy="5577840"/>
          </a:xfrm>
          <a:prstGeom prst="rect">
            <a:avLst/>
          </a:prstGeom>
          <a:noFill/>
          <a:ln/>
        </p:spPr>
        <p:txBody>
          <a:bodyPr wrap="square" lIns="0" tIns="0" rIns="0" bIns="0" rtlCol="0" anchor="ctr"/>
          <a:lstStyle/>
          <a:p>
            <a:pPr algn="ctr" indent="0" marL="0">
              <a:buNone/>
            </a:pPr>
            <a:r>
              <a:rPr lang="en-US" sz="23000" dirty="0">
                <a:solidFill>
                  <a:srgbClr val="5C7A6B"/>
                </a:solidFill>
                <a:latin typeface="Georgia" pitchFamily="34" charset="0"/>
                <a:ea typeface="Georgia" pitchFamily="34" charset="-122"/>
                <a:cs typeface="Georgia" pitchFamily="34" charset="-120"/>
              </a:rPr>
              <a:t>VIII</a:t>
            </a:r>
            <a:endParaRPr lang="en-US" sz="23000" dirty="0"/>
          </a:p>
        </p:txBody>
      </p:sp>
      <p:sp>
        <p:nvSpPr>
          <p:cNvPr id="3" name="Text 1"/>
          <p:cNvSpPr/>
          <p:nvPr/>
        </p:nvSpPr>
        <p:spPr>
          <a:xfrm>
            <a:off x="822960" y="2286000"/>
            <a:ext cx="8229600" cy="274320"/>
          </a:xfrm>
          <a:prstGeom prst="rect">
            <a:avLst/>
          </a:prstGeom>
          <a:noFill/>
          <a:ln/>
        </p:spPr>
        <p:txBody>
          <a:bodyPr wrap="square" lIns="0" tIns="0" rIns="0" bIns="0" rtlCol="0" anchor="ctr"/>
          <a:lstStyle/>
          <a:p>
            <a:pPr algn="l" indent="0" marL="0">
              <a:buNone/>
            </a:pPr>
            <a:r>
              <a:rPr lang="en-US" sz="1100" b="1" spc="250" kern="0" dirty="0">
                <a:solidFill>
                  <a:srgbClr val="FAF8F1"/>
                </a:solidFill>
                <a:latin typeface="Arial" pitchFamily="34" charset="0"/>
                <a:ea typeface="Arial" pitchFamily="34" charset="-122"/>
                <a:cs typeface="Arial" pitchFamily="34" charset="-120"/>
              </a:rPr>
              <a:t>THE CLAIM, NOW TRUE</a:t>
            </a:r>
            <a:endParaRPr lang="en-US" sz="1100" dirty="0"/>
          </a:p>
        </p:txBody>
      </p:sp>
      <p:sp>
        <p:nvSpPr>
          <p:cNvPr id="4" name="Shape 2"/>
          <p:cNvSpPr/>
          <p:nvPr/>
        </p:nvSpPr>
        <p:spPr>
          <a:xfrm>
            <a:off x="822960" y="2651760"/>
            <a:ext cx="3840480" cy="0"/>
          </a:xfrm>
          <a:prstGeom prst="line">
            <a:avLst/>
          </a:prstGeom>
          <a:noFill/>
          <a:ln w="9525">
            <a:solidFill>
              <a:srgbClr val="8AA394"/>
            </a:solidFill>
            <a:prstDash val="solid"/>
          </a:ln>
        </p:spPr>
      </p:sp>
      <p:sp>
        <p:nvSpPr>
          <p:cNvPr id="5" name="Text 3"/>
          <p:cNvSpPr/>
          <p:nvPr/>
        </p:nvSpPr>
        <p:spPr>
          <a:xfrm>
            <a:off x="822960" y="2743200"/>
            <a:ext cx="6949440" cy="2377440"/>
          </a:xfrm>
          <a:prstGeom prst="rect">
            <a:avLst/>
          </a:prstGeom>
          <a:noFill/>
          <a:ln/>
        </p:spPr>
        <p:txBody>
          <a:bodyPr wrap="square" lIns="0" tIns="0" rIns="0" bIns="0" rtlCol="0" anchor="t"/>
          <a:lstStyle/>
          <a:p>
            <a:pPr indent="0" marL="0">
              <a:lnSpc>
                <a:spcPts val="4400"/>
              </a:lnSpc>
              <a:buNone/>
            </a:pPr>
            <a:r>
              <a:rPr lang="en-US" sz="4000" dirty="0">
                <a:solidFill>
                  <a:srgbClr val="FAF8F1"/>
                </a:solidFill>
                <a:latin typeface="Georgia" pitchFamily="34" charset="0"/>
                <a:ea typeface="Georgia" pitchFamily="34" charset="-122"/>
                <a:cs typeface="Georgia" pitchFamily="34" charset="-120"/>
              </a:rPr>
              <a:t>Everything the prompt</a:t>
            </a:r>
            <a:endParaRPr lang="en-US" sz="4000" dirty="0"/>
          </a:p>
          <a:p>
            <a:pPr indent="0" marL="0">
              <a:lnSpc>
                <a:spcPts val="4400"/>
              </a:lnSpc>
              <a:buNone/>
            </a:pPr>
            <a:r>
              <a:rPr lang="en-US" sz="4000" dirty="0">
                <a:solidFill>
                  <a:srgbClr val="FAF8F1"/>
                </a:solidFill>
                <a:latin typeface="Georgia" pitchFamily="34" charset="0"/>
                <a:ea typeface="Georgia" pitchFamily="34" charset="-122"/>
                <a:cs typeface="Georgia" pitchFamily="34" charset="-120"/>
              </a:rPr>
              <a:t>names has been</a:t>
            </a:r>
            <a:endParaRPr lang="en-US" sz="4000" dirty="0"/>
          </a:p>
          <a:p>
            <a:pPr indent="0" marL="0">
              <a:lnSpc>
                <a:spcPts val="4400"/>
              </a:lnSpc>
              <a:buNone/>
            </a:pPr>
            <a:r>
              <a:rPr lang="en-US" sz="4000" dirty="0">
                <a:solidFill>
                  <a:srgbClr val="FAF8F1"/>
                </a:solidFill>
                <a:latin typeface="Georgia" pitchFamily="34" charset="0"/>
                <a:ea typeface="Georgia" pitchFamily="34" charset="-122"/>
                <a:cs typeface="Georgia" pitchFamily="34" charset="-120"/>
              </a:rPr>
              <a:t>taught, and shot.</a:t>
            </a:r>
            <a:endParaRPr lang="en-US" sz="4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AF8F1"/>
        </a:solidFill>
      </p:bgPr>
    </p:bg>
    <p:spTree>
      <p:nvGrpSpPr>
        <p:cNvPr id="1" name=""/>
        <p:cNvGrpSpPr/>
        <p:nvPr/>
      </p:nvGrpSpPr>
      <p:grpSpPr>
        <a:xfrm>
          <a:off x="0" y="0"/>
          <a:ext cx="0" cy="0"/>
          <a:chOff x="0" y="0"/>
          <a:chExt cx="0" cy="0"/>
        </a:xfrm>
      </p:grpSpPr>
      <p:sp>
        <p:nvSpPr>
          <p:cNvPr id="2" name="Text 0"/>
          <p:cNvSpPr/>
          <p:nvPr/>
        </p:nvSpPr>
        <p:spPr>
          <a:xfrm>
            <a:off x="822960" y="457200"/>
            <a:ext cx="6400800" cy="274320"/>
          </a:xfrm>
          <a:prstGeom prst="rect">
            <a:avLst/>
          </a:prstGeom>
          <a:noFill/>
          <a:ln/>
        </p:spPr>
        <p:txBody>
          <a:bodyPr wrap="square" lIns="0" tIns="0" rIns="0" bIns="0" rtlCol="0" anchor="ctr"/>
          <a:lstStyle/>
          <a:p>
            <a:pPr algn="l" indent="0" marL="0">
              <a:buNone/>
            </a:pPr>
            <a:r>
              <a:rPr lang="en-US" sz="1100" b="1" spc="250" kern="0" dirty="0">
                <a:solidFill>
                  <a:srgbClr val="4A6B5D"/>
                </a:solidFill>
                <a:latin typeface="Arial" pitchFamily="34" charset="0"/>
                <a:ea typeface="Arial" pitchFamily="34" charset="-122"/>
                <a:cs typeface="Arial" pitchFamily="34" charset="-120"/>
              </a:rPr>
              <a:t>MONDAY · CS8</a:t>
            </a:r>
            <a:endParaRPr lang="en-US" sz="1100" dirty="0"/>
          </a:p>
        </p:txBody>
      </p:sp>
      <p:sp>
        <p:nvSpPr>
          <p:cNvPr id="3" name="Text 1"/>
          <p:cNvSpPr/>
          <p:nvPr/>
        </p:nvSpPr>
        <p:spPr>
          <a:xfrm>
            <a:off x="6793992" y="457200"/>
            <a:ext cx="4572000" cy="274320"/>
          </a:xfrm>
          <a:prstGeom prst="rect">
            <a:avLst/>
          </a:prstGeom>
          <a:noFill/>
          <a:ln/>
        </p:spPr>
        <p:txBody>
          <a:bodyPr wrap="square" lIns="0" tIns="0" rIns="0" bIns="0" rtlCol="0" anchor="ctr"/>
          <a:lstStyle/>
          <a:p>
            <a:pPr algn="r" indent="0" marL="0">
              <a:buNone/>
            </a:pPr>
            <a:r>
              <a:rPr lang="en-US" sz="1100" b="1" spc="250" kern="0" dirty="0">
                <a:solidFill>
                  <a:srgbClr val="7A7F72"/>
                </a:solidFill>
                <a:latin typeface="Arial" pitchFamily="34" charset="0"/>
                <a:ea typeface="Arial" pitchFamily="34" charset="-122"/>
                <a:cs typeface="Arial" pitchFamily="34" charset="-120"/>
              </a:rPr>
              <a:t>THIRTY ITEMS, TWENTY MINUTES</a:t>
            </a:r>
            <a:endParaRPr lang="en-US" sz="1100" dirty="0"/>
          </a:p>
        </p:txBody>
      </p:sp>
      <p:sp>
        <p:nvSpPr>
          <p:cNvPr id="4" name="Shape 2"/>
          <p:cNvSpPr/>
          <p:nvPr/>
        </p:nvSpPr>
        <p:spPr>
          <a:xfrm>
            <a:off x="822960" y="786384"/>
            <a:ext cx="10543032" cy="0"/>
          </a:xfrm>
          <a:prstGeom prst="line">
            <a:avLst/>
          </a:prstGeom>
          <a:noFill/>
          <a:ln w="9525">
            <a:solidFill>
              <a:srgbClr val="D9D4C4"/>
            </a:solidFill>
            <a:prstDash val="solid"/>
          </a:ln>
        </p:spPr>
      </p:sp>
      <p:sp>
        <p:nvSpPr>
          <p:cNvPr id="5" name="Text 3"/>
          <p:cNvSpPr/>
          <p:nvPr/>
        </p:nvSpPr>
        <p:spPr>
          <a:xfrm>
            <a:off x="822960" y="914400"/>
            <a:ext cx="10543032" cy="548640"/>
          </a:xfrm>
          <a:prstGeom prst="rect">
            <a:avLst/>
          </a:prstGeom>
          <a:noFill/>
          <a:ln/>
        </p:spPr>
        <p:txBody>
          <a:bodyPr wrap="square" lIns="0" tIns="0" rIns="0" bIns="0" rtlCol="0" anchor="ctr"/>
          <a:lstStyle/>
          <a:p>
            <a:pPr indent="0" marL="0">
              <a:buNone/>
            </a:pPr>
            <a:r>
              <a:rPr lang="en-US" sz="3000" dirty="0">
                <a:solidFill>
                  <a:srgbClr val="24313F"/>
                </a:solidFill>
                <a:latin typeface="Georgia" pitchFamily="34" charset="0"/>
                <a:ea typeface="Georgia" pitchFamily="34" charset="-122"/>
                <a:cs typeface="Georgia" pitchFamily="34" charset="-120"/>
              </a:rPr>
              <a:t>The whole lexicon, at last testable</a:t>
            </a:r>
            <a:endParaRPr lang="en-US" sz="3000" dirty="0"/>
          </a:p>
        </p:txBody>
      </p:sp>
      <p:sp>
        <p:nvSpPr>
          <p:cNvPr id="6" name="Shape 4"/>
          <p:cNvSpPr/>
          <p:nvPr/>
        </p:nvSpPr>
        <p:spPr>
          <a:xfrm>
            <a:off x="822960" y="1554480"/>
            <a:ext cx="2361438" cy="1645920"/>
          </a:xfrm>
          <a:prstGeom prst="rect">
            <a:avLst/>
          </a:prstGeom>
          <a:solidFill>
            <a:srgbClr val="FAF8F1"/>
          </a:solidFill>
          <a:ln w="9525">
            <a:solidFill>
              <a:srgbClr val="D9D4C4"/>
            </a:solidFill>
            <a:prstDash val="solid"/>
          </a:ln>
        </p:spPr>
      </p:sp>
      <p:pic>
        <p:nvPicPr>
          <p:cNvPr id="7" name="Image 0" descr="/Users/dogan/Documents/Vaults/Courses/wiki/classes/media-studies/decks/_build/img/adolescence-jamie-cu.jpg">    </p:cNvPr>
          <p:cNvPicPr>
            <a:picLocks noChangeAspect="1"/>
          </p:cNvPicPr>
          <p:nvPr/>
        </p:nvPicPr>
        <p:blipFill>
          <a:blip r:embed="rId1"/>
          <a:stretch>
            <a:fillRect/>
          </a:stretch>
        </p:blipFill>
        <p:spPr>
          <a:xfrm>
            <a:off x="877824" y="1815451"/>
            <a:ext cx="2251710" cy="1123979"/>
          </a:xfrm>
          <a:prstGeom prst="rect">
            <a:avLst/>
          </a:prstGeom>
        </p:spPr>
      </p:pic>
      <p:sp>
        <p:nvSpPr>
          <p:cNvPr id="8" name="Text 5"/>
          <p:cNvSpPr/>
          <p:nvPr/>
        </p:nvSpPr>
        <p:spPr>
          <a:xfrm>
            <a:off x="822960" y="3218688"/>
            <a:ext cx="2361438" cy="292608"/>
          </a:xfrm>
          <a:prstGeom prst="rect">
            <a:avLst/>
          </a:prstGeom>
          <a:noFill/>
          <a:ln/>
        </p:spPr>
        <p:txBody>
          <a:bodyPr wrap="square" lIns="0" tIns="0" rIns="0" bIns="0" rtlCol="0" anchor="ctr"/>
          <a:lstStyle/>
          <a:p>
            <a:pPr algn="ctr" indent="0" marL="0">
              <a:buNone/>
            </a:pPr>
            <a:r>
              <a:rPr lang="en-US" sz="1100" b="1" spc="100" kern="0" dirty="0">
                <a:solidFill>
                  <a:srgbClr val="4A6B5D"/>
                </a:solidFill>
                <a:latin typeface="Arial" pitchFamily="34" charset="0"/>
                <a:ea typeface="Arial" pitchFamily="34" charset="-122"/>
                <a:cs typeface="Arial" pitchFamily="34" charset="-120"/>
              </a:rPr>
              <a:t>name the focus</a:t>
            </a:r>
            <a:endParaRPr lang="en-US" sz="1100" dirty="0"/>
          </a:p>
        </p:txBody>
      </p:sp>
      <p:sp>
        <p:nvSpPr>
          <p:cNvPr id="9" name="Shape 6"/>
          <p:cNvSpPr/>
          <p:nvPr/>
        </p:nvSpPr>
        <p:spPr>
          <a:xfrm>
            <a:off x="3550158" y="1554480"/>
            <a:ext cx="2361438" cy="1645920"/>
          </a:xfrm>
          <a:prstGeom prst="rect">
            <a:avLst/>
          </a:prstGeom>
          <a:solidFill>
            <a:srgbClr val="FAF8F1"/>
          </a:solidFill>
          <a:ln w="9525">
            <a:solidFill>
              <a:srgbClr val="D9D4C4"/>
            </a:solidFill>
            <a:prstDash val="solid"/>
          </a:ln>
        </p:spPr>
      </p:sp>
      <p:pic>
        <p:nvPicPr>
          <p:cNvPr id="10" name="Image 1" descr="/Users/dogan/Documents/Vaults/Courses/wiki/classes/media-studies/decks/_build/img/adolescence-father-ots.jpg">    </p:cNvPr>
          <p:cNvPicPr>
            <a:picLocks noChangeAspect="1"/>
          </p:cNvPicPr>
          <p:nvPr/>
        </p:nvPicPr>
        <p:blipFill>
          <a:blip r:embed="rId2"/>
          <a:stretch>
            <a:fillRect/>
          </a:stretch>
        </p:blipFill>
        <p:spPr>
          <a:xfrm>
            <a:off x="3605022" y="1814227"/>
            <a:ext cx="2251710" cy="1126426"/>
          </a:xfrm>
          <a:prstGeom prst="rect">
            <a:avLst/>
          </a:prstGeom>
        </p:spPr>
      </p:pic>
      <p:sp>
        <p:nvSpPr>
          <p:cNvPr id="11" name="Text 7"/>
          <p:cNvSpPr/>
          <p:nvPr/>
        </p:nvSpPr>
        <p:spPr>
          <a:xfrm>
            <a:off x="3550158" y="3218688"/>
            <a:ext cx="2361438" cy="292608"/>
          </a:xfrm>
          <a:prstGeom prst="rect">
            <a:avLst/>
          </a:prstGeom>
          <a:noFill/>
          <a:ln/>
        </p:spPr>
        <p:txBody>
          <a:bodyPr wrap="square" lIns="0" tIns="0" rIns="0" bIns="0" rtlCol="0" anchor="ctr"/>
          <a:lstStyle/>
          <a:p>
            <a:pPr algn="ctr" indent="0" marL="0">
              <a:buNone/>
            </a:pPr>
            <a:r>
              <a:rPr lang="en-US" sz="1100" b="1" spc="100" kern="0" dirty="0">
                <a:solidFill>
                  <a:srgbClr val="4A6B5D"/>
                </a:solidFill>
                <a:latin typeface="Arial" pitchFamily="34" charset="0"/>
                <a:ea typeface="Arial" pitchFamily="34" charset="-122"/>
                <a:cs typeface="Arial" pitchFamily="34" charset="-120"/>
              </a:rPr>
              <a:t>name the shot</a:t>
            </a:r>
            <a:endParaRPr lang="en-US" sz="1100" dirty="0"/>
          </a:p>
        </p:txBody>
      </p:sp>
      <p:sp>
        <p:nvSpPr>
          <p:cNvPr id="12" name="Shape 8"/>
          <p:cNvSpPr/>
          <p:nvPr/>
        </p:nvSpPr>
        <p:spPr>
          <a:xfrm>
            <a:off x="6277356" y="1554480"/>
            <a:ext cx="2361438" cy="1645920"/>
          </a:xfrm>
          <a:prstGeom prst="rect">
            <a:avLst/>
          </a:prstGeom>
          <a:solidFill>
            <a:srgbClr val="FAF8F1"/>
          </a:solidFill>
          <a:ln w="9525">
            <a:solidFill>
              <a:srgbClr val="D9D4C4"/>
            </a:solidFill>
            <a:prstDash val="solid"/>
          </a:ln>
        </p:spPr>
      </p:sp>
      <p:pic>
        <p:nvPicPr>
          <p:cNvPr id="13" name="Image 2" descr="/Users/dogan/Documents/Vaults/Courses/wiki/classes/media-studies/decks/_build/img/toystory-staffmeeting.jpg">    </p:cNvPr>
          <p:cNvPicPr>
            <a:picLocks noChangeAspect="1"/>
          </p:cNvPicPr>
          <p:nvPr/>
        </p:nvPicPr>
        <p:blipFill>
          <a:blip r:embed="rId3"/>
          <a:stretch>
            <a:fillRect/>
          </a:stretch>
        </p:blipFill>
        <p:spPr>
          <a:xfrm>
            <a:off x="6332220" y="1649856"/>
            <a:ext cx="2251710" cy="1455168"/>
          </a:xfrm>
          <a:prstGeom prst="rect">
            <a:avLst/>
          </a:prstGeom>
        </p:spPr>
      </p:pic>
      <p:sp>
        <p:nvSpPr>
          <p:cNvPr id="14" name="Text 9"/>
          <p:cNvSpPr/>
          <p:nvPr/>
        </p:nvSpPr>
        <p:spPr>
          <a:xfrm>
            <a:off x="6277356" y="3218688"/>
            <a:ext cx="2361438" cy="292608"/>
          </a:xfrm>
          <a:prstGeom prst="rect">
            <a:avLst/>
          </a:prstGeom>
          <a:noFill/>
          <a:ln/>
        </p:spPr>
        <p:txBody>
          <a:bodyPr wrap="square" lIns="0" tIns="0" rIns="0" bIns="0" rtlCol="0" anchor="ctr"/>
          <a:lstStyle/>
          <a:p>
            <a:pPr algn="ctr" indent="0" marL="0">
              <a:buNone/>
            </a:pPr>
            <a:r>
              <a:rPr lang="en-US" sz="1100" b="1" spc="100" kern="0" dirty="0">
                <a:solidFill>
                  <a:srgbClr val="4A6B5D"/>
                </a:solidFill>
                <a:latin typeface="Arial" pitchFamily="34" charset="0"/>
                <a:ea typeface="Arial" pitchFamily="34" charset="-122"/>
                <a:cs typeface="Arial" pitchFamily="34" charset="-120"/>
              </a:rPr>
              <a:t>name the lighting</a:t>
            </a:r>
            <a:endParaRPr lang="en-US" sz="1100" dirty="0"/>
          </a:p>
        </p:txBody>
      </p:sp>
      <p:sp>
        <p:nvSpPr>
          <p:cNvPr id="15" name="Shape 10"/>
          <p:cNvSpPr/>
          <p:nvPr/>
        </p:nvSpPr>
        <p:spPr>
          <a:xfrm>
            <a:off x="9004554" y="1554480"/>
            <a:ext cx="2361438" cy="1645920"/>
          </a:xfrm>
          <a:prstGeom prst="rect">
            <a:avLst/>
          </a:prstGeom>
          <a:solidFill>
            <a:srgbClr val="FAF8F1"/>
          </a:solidFill>
          <a:ln w="9525">
            <a:solidFill>
              <a:srgbClr val="D9D4C4"/>
            </a:solidFill>
            <a:prstDash val="solid"/>
          </a:ln>
        </p:spPr>
      </p:sp>
      <p:pic>
        <p:nvPicPr>
          <p:cNvPr id="16" name="Image 3" descr="/Users/dogan/Documents/Vaults/Courses/wiki/classes/media-studies/decks/_build/img/thirdman-canted.jpg">    </p:cNvPr>
          <p:cNvPicPr>
            <a:picLocks noChangeAspect="1"/>
          </p:cNvPicPr>
          <p:nvPr/>
        </p:nvPicPr>
        <p:blipFill>
          <a:blip r:embed="rId4"/>
          <a:stretch>
            <a:fillRect/>
          </a:stretch>
        </p:blipFill>
        <p:spPr>
          <a:xfrm>
            <a:off x="9174861" y="1609344"/>
            <a:ext cx="2020824" cy="1536192"/>
          </a:xfrm>
          <a:prstGeom prst="rect">
            <a:avLst/>
          </a:prstGeom>
        </p:spPr>
      </p:pic>
      <p:sp>
        <p:nvSpPr>
          <p:cNvPr id="17" name="Text 11"/>
          <p:cNvSpPr/>
          <p:nvPr/>
        </p:nvSpPr>
        <p:spPr>
          <a:xfrm>
            <a:off x="9004554" y="3218688"/>
            <a:ext cx="2361438" cy="292608"/>
          </a:xfrm>
          <a:prstGeom prst="rect">
            <a:avLst/>
          </a:prstGeom>
          <a:noFill/>
          <a:ln/>
        </p:spPr>
        <p:txBody>
          <a:bodyPr wrap="square" lIns="0" tIns="0" rIns="0" bIns="0" rtlCol="0" anchor="ctr"/>
          <a:lstStyle/>
          <a:p>
            <a:pPr algn="ctr" indent="0" marL="0">
              <a:buNone/>
            </a:pPr>
            <a:r>
              <a:rPr lang="en-US" sz="1100" b="1" spc="100" kern="0" dirty="0">
                <a:solidFill>
                  <a:srgbClr val="4A6B5D"/>
                </a:solidFill>
                <a:latin typeface="Arial" pitchFamily="34" charset="0"/>
                <a:ea typeface="Arial" pitchFamily="34" charset="-122"/>
                <a:cs typeface="Arial" pitchFamily="34" charset="-120"/>
              </a:rPr>
              <a:t>name the angle</a:t>
            </a:r>
            <a:endParaRPr lang="en-US" sz="1100" dirty="0"/>
          </a:p>
        </p:txBody>
      </p:sp>
      <p:sp>
        <p:nvSpPr>
          <p:cNvPr id="18" name="Text 12"/>
          <p:cNvSpPr/>
          <p:nvPr/>
        </p:nvSpPr>
        <p:spPr>
          <a:xfrm>
            <a:off x="822960" y="3703320"/>
            <a:ext cx="10241280" cy="777240"/>
          </a:xfrm>
          <a:prstGeom prst="rect">
            <a:avLst/>
          </a:prstGeom>
          <a:noFill/>
          <a:ln/>
        </p:spPr>
        <p:txBody>
          <a:bodyPr wrap="square" lIns="0" tIns="0" rIns="0" bIns="0" rtlCol="0" anchor="t"/>
          <a:lstStyle/>
          <a:p>
            <a:pPr indent="0" marL="0">
              <a:lnSpc>
                <a:spcPts val="1900"/>
              </a:lnSpc>
              <a:buNone/>
            </a:pPr>
            <a:r>
              <a:rPr lang="en-US" sz="1300" b="1" spc="100" kern="0" dirty="0">
                <a:solidFill>
                  <a:srgbClr val="4A6B5D"/>
                </a:solidFill>
                <a:latin typeface="Arial" pitchFamily="34" charset="0"/>
                <a:ea typeface="Arial" pitchFamily="34" charset="-122"/>
                <a:cs typeface="Arial" pitchFamily="34" charset="-120"/>
              </a:rPr>
              <a:t>WARM-UP   </a:t>
            </a:r>
            <a:pPr indent="0" marL="0">
              <a:lnSpc>
                <a:spcPts val="1900"/>
              </a:lnSpc>
              <a:buNone/>
            </a:pPr>
            <a:r>
              <a:rPr lang="en-US" sz="1500" dirty="0">
                <a:solidFill>
                  <a:srgbClr val="24313F"/>
                </a:solidFill>
                <a:latin typeface="Georgia" pitchFamily="34" charset="0"/>
                <a:ea typeface="Georgia" pitchFamily="34" charset="-122"/>
                <a:cs typeface="Georgia" pitchFamily="34" charset="-120"/>
              </a:rPr>
              <a:t>The answers: shallow focus, over-the-shoulder, high key, canted.</a:t>
            </a:r>
            <a:endParaRPr lang="en-US" sz="1300" dirty="0"/>
          </a:p>
          <a:p>
            <a:pPr indent="0" marL="0">
              <a:lnSpc>
                <a:spcPts val="1900"/>
              </a:lnSpc>
              <a:buNone/>
            </a:pPr>
            <a:r>
              <a:rPr lang="en-US" sz="1300" b="1" spc="100" kern="0" dirty="0">
                <a:solidFill>
                  <a:srgbClr val="4A6B5D"/>
                </a:solidFill>
                <a:latin typeface="Arial" pitchFamily="34" charset="0"/>
                <a:ea typeface="Arial" pitchFamily="34" charset="-122"/>
                <a:cs typeface="Arial" pitchFamily="34" charset="-120"/>
              </a:rPr>
              <a:t>THE QUIZ   </a:t>
            </a:r>
            <a:pPr indent="0" marL="0">
              <a:lnSpc>
                <a:spcPts val="1900"/>
              </a:lnSpc>
              <a:buNone/>
            </a:pPr>
            <a:r>
              <a:rPr lang="en-US" sz="1500" dirty="0">
                <a:solidFill>
                  <a:srgbClr val="24313F"/>
                </a:solidFill>
                <a:latin typeface="Georgia" pitchFamily="34" charset="0"/>
                <a:ea typeface="Georgia" pitchFamily="34" charset="-122"/>
                <a:cs typeface="Georgia" pitchFamily="34" charset="-120"/>
              </a:rPr>
              <a:t>Thirty items across all four elements. At least four each on sound and editing, because scripts forget those two.</a:t>
            </a:r>
            <a:endParaRPr lang="en-US" sz="1300" dirty="0"/>
          </a:p>
        </p:txBody>
      </p:sp>
      <p:sp>
        <p:nvSpPr>
          <p:cNvPr id="19" name="Text 13"/>
          <p:cNvSpPr/>
          <p:nvPr/>
        </p:nvSpPr>
        <p:spPr>
          <a:xfrm>
            <a:off x="822960" y="4617720"/>
            <a:ext cx="3209544" cy="365760"/>
          </a:xfrm>
          <a:prstGeom prst="rect">
            <a:avLst/>
          </a:prstGeom>
          <a:noFill/>
          <a:ln/>
        </p:spPr>
        <p:txBody>
          <a:bodyPr wrap="square" lIns="0" tIns="0" rIns="0" bIns="0" rtlCol="0" anchor="ctr"/>
          <a:lstStyle/>
          <a:p>
            <a:pPr indent="0" marL="0">
              <a:buNone/>
            </a:pPr>
            <a:r>
              <a:rPr lang="en-US" sz="1700" dirty="0">
                <a:solidFill>
                  <a:srgbClr val="4A6B5D"/>
                </a:solidFill>
                <a:latin typeface="Georgia" pitchFamily="34" charset="0"/>
                <a:ea typeface="Georgia" pitchFamily="34" charset="-122"/>
                <a:cs typeface="Georgia" pitchFamily="34" charset="-120"/>
              </a:rPr>
              <a:t>Define the term</a:t>
            </a:r>
            <a:endParaRPr lang="en-US" sz="1700" dirty="0"/>
          </a:p>
        </p:txBody>
      </p:sp>
      <p:sp>
        <p:nvSpPr>
          <p:cNvPr id="20" name="Text 14"/>
          <p:cNvSpPr/>
          <p:nvPr/>
        </p:nvSpPr>
        <p:spPr>
          <a:xfrm>
            <a:off x="822960" y="5010912"/>
            <a:ext cx="3209544" cy="685800"/>
          </a:xfrm>
          <a:prstGeom prst="rect">
            <a:avLst/>
          </a:prstGeom>
          <a:noFill/>
          <a:ln/>
        </p:spPr>
        <p:txBody>
          <a:bodyPr wrap="square" lIns="0" tIns="0" rIns="0" bIns="0" rtlCol="0" anchor="t"/>
          <a:lstStyle/>
          <a:p>
            <a:pPr indent="0" marL="0">
              <a:lnSpc>
                <a:spcPts val="1600"/>
              </a:lnSpc>
              <a:buNone/>
            </a:pPr>
            <a:r>
              <a:rPr lang="en-US" sz="1250" dirty="0">
                <a:solidFill>
                  <a:srgbClr val="24313F"/>
                </a:solidFill>
                <a:latin typeface="Georgia" pitchFamily="34" charset="0"/>
                <a:ea typeface="Georgia" pitchFamily="34" charset="-122"/>
                <a:cs typeface="Georgia" pitchFamily="34" charset="-120"/>
              </a:rPr>
              <a:t>shot bridge, canted, high key, ellipsis, sound perspective</a:t>
            </a:r>
            <a:endParaRPr lang="en-US" sz="1250" dirty="0"/>
          </a:p>
        </p:txBody>
      </p:sp>
      <p:sp>
        <p:nvSpPr>
          <p:cNvPr id="21" name="Text 15"/>
          <p:cNvSpPr/>
          <p:nvPr/>
        </p:nvSpPr>
        <p:spPr>
          <a:xfrm>
            <a:off x="4489704" y="4617720"/>
            <a:ext cx="3209544" cy="365760"/>
          </a:xfrm>
          <a:prstGeom prst="rect">
            <a:avLst/>
          </a:prstGeom>
          <a:noFill/>
          <a:ln/>
        </p:spPr>
        <p:txBody>
          <a:bodyPr wrap="square" lIns="0" tIns="0" rIns="0" bIns="0" rtlCol="0" anchor="ctr"/>
          <a:lstStyle/>
          <a:p>
            <a:pPr indent="0" marL="0">
              <a:buNone/>
            </a:pPr>
            <a:r>
              <a:rPr lang="en-US" sz="1700" dirty="0">
                <a:solidFill>
                  <a:srgbClr val="4A6B5D"/>
                </a:solidFill>
                <a:latin typeface="Georgia" pitchFamily="34" charset="0"/>
                <a:ea typeface="Georgia" pitchFamily="34" charset="-122"/>
                <a:cs typeface="Georgia" pitchFamily="34" charset="-120"/>
              </a:rPr>
              <a:t>Label the example</a:t>
            </a:r>
            <a:endParaRPr lang="en-US" sz="1700" dirty="0"/>
          </a:p>
        </p:txBody>
      </p:sp>
      <p:sp>
        <p:nvSpPr>
          <p:cNvPr id="22" name="Text 16"/>
          <p:cNvSpPr/>
          <p:nvPr/>
        </p:nvSpPr>
        <p:spPr>
          <a:xfrm>
            <a:off x="4489704" y="5010912"/>
            <a:ext cx="3209544" cy="685800"/>
          </a:xfrm>
          <a:prstGeom prst="rect">
            <a:avLst/>
          </a:prstGeom>
          <a:noFill/>
          <a:ln/>
        </p:spPr>
        <p:txBody>
          <a:bodyPr wrap="square" lIns="0" tIns="0" rIns="0" bIns="0" rtlCol="0" anchor="t"/>
          <a:lstStyle/>
          <a:p>
            <a:pPr indent="0" marL="0">
              <a:lnSpc>
                <a:spcPts val="1600"/>
              </a:lnSpc>
              <a:buNone/>
            </a:pPr>
            <a:r>
              <a:rPr lang="en-US" sz="1250" dirty="0">
                <a:solidFill>
                  <a:srgbClr val="24313F"/>
                </a:solidFill>
                <a:latin typeface="Georgia" pitchFamily="34" charset="0"/>
                <a:ea typeface="Georgia" pitchFamily="34" charset="-122"/>
                <a:cs typeface="Georgia" pitchFamily="34" charset="-120"/>
              </a:rPr>
              <a:t>a named move, from a still or a short clip</a:t>
            </a:r>
            <a:endParaRPr lang="en-US" sz="1250" dirty="0"/>
          </a:p>
        </p:txBody>
      </p:sp>
      <p:sp>
        <p:nvSpPr>
          <p:cNvPr id="23" name="Text 17"/>
          <p:cNvSpPr/>
          <p:nvPr/>
        </p:nvSpPr>
        <p:spPr>
          <a:xfrm>
            <a:off x="8156448" y="4617720"/>
            <a:ext cx="3209544" cy="365760"/>
          </a:xfrm>
          <a:prstGeom prst="rect">
            <a:avLst/>
          </a:prstGeom>
          <a:noFill/>
          <a:ln/>
        </p:spPr>
        <p:txBody>
          <a:bodyPr wrap="square" lIns="0" tIns="0" rIns="0" bIns="0" rtlCol="0" anchor="ctr"/>
          <a:lstStyle/>
          <a:p>
            <a:pPr indent="0" marL="0">
              <a:buNone/>
            </a:pPr>
            <a:r>
              <a:rPr lang="en-US" sz="1700" dirty="0">
                <a:solidFill>
                  <a:srgbClr val="4A6B5D"/>
                </a:solidFill>
                <a:latin typeface="Georgia" pitchFamily="34" charset="0"/>
                <a:ea typeface="Georgia" pitchFamily="34" charset="-122"/>
                <a:cs typeface="Georgia" pitchFamily="34" charset="-120"/>
              </a:rPr>
              <a:t>Then self-mark</a:t>
            </a:r>
            <a:endParaRPr lang="en-US" sz="1700" dirty="0"/>
          </a:p>
        </p:txBody>
      </p:sp>
      <p:sp>
        <p:nvSpPr>
          <p:cNvPr id="24" name="Text 18"/>
          <p:cNvSpPr/>
          <p:nvPr/>
        </p:nvSpPr>
        <p:spPr>
          <a:xfrm>
            <a:off x="8156448" y="5010912"/>
            <a:ext cx="3209544" cy="685800"/>
          </a:xfrm>
          <a:prstGeom prst="rect">
            <a:avLst/>
          </a:prstGeom>
          <a:noFill/>
          <a:ln/>
        </p:spPr>
        <p:txBody>
          <a:bodyPr wrap="square" lIns="0" tIns="0" rIns="0" bIns="0" rtlCol="0" anchor="t"/>
          <a:lstStyle/>
          <a:p>
            <a:pPr indent="0" marL="0">
              <a:lnSpc>
                <a:spcPts val="1600"/>
              </a:lnSpc>
              <a:buNone/>
            </a:pPr>
            <a:r>
              <a:rPr lang="en-US" sz="1250" dirty="0">
                <a:solidFill>
                  <a:srgbClr val="24313F"/>
                </a:solidFill>
                <a:latin typeface="Georgia" pitchFamily="34" charset="0"/>
                <a:ea typeface="Georgia" pitchFamily="34" charset="-122"/>
                <a:cs typeface="Georgia" pitchFamily="34" charset="-120"/>
              </a:rPr>
              <a:t>immediately, against the definitions on screen</a:t>
            </a:r>
            <a:endParaRPr lang="en-US" sz="1250" dirty="0"/>
          </a:p>
        </p:txBody>
      </p:sp>
      <p:sp>
        <p:nvSpPr>
          <p:cNvPr id="25" name="Shape 19"/>
          <p:cNvSpPr/>
          <p:nvPr/>
        </p:nvSpPr>
        <p:spPr>
          <a:xfrm>
            <a:off x="822960" y="5760720"/>
            <a:ext cx="914400" cy="0"/>
          </a:xfrm>
          <a:prstGeom prst="line">
            <a:avLst/>
          </a:prstGeom>
          <a:noFill/>
          <a:ln w="31750">
            <a:solidFill>
              <a:srgbClr val="8C3A38"/>
            </a:solidFill>
            <a:prstDash val="solid"/>
          </a:ln>
        </p:spPr>
      </p:sp>
      <p:sp>
        <p:nvSpPr>
          <p:cNvPr id="26" name="Text 20"/>
          <p:cNvSpPr/>
          <p:nvPr/>
        </p:nvSpPr>
        <p:spPr>
          <a:xfrm>
            <a:off x="822960" y="5888736"/>
            <a:ext cx="10424160" cy="438912"/>
          </a:xfrm>
          <a:prstGeom prst="rect">
            <a:avLst/>
          </a:prstGeom>
          <a:noFill/>
          <a:ln/>
        </p:spPr>
        <p:txBody>
          <a:bodyPr wrap="square" lIns="0" tIns="0" rIns="0" bIns="0" rtlCol="0" anchor="t"/>
          <a:lstStyle/>
          <a:p>
            <a:pPr indent="0" marL="0">
              <a:lnSpc>
                <a:spcPts val="1600"/>
              </a:lnSpc>
              <a:buNone/>
            </a:pPr>
            <a:r>
              <a:rPr lang="en-US" sz="1000" b="1" spc="100" kern="0" dirty="0">
                <a:solidFill>
                  <a:srgbClr val="4A6B5D"/>
                </a:solidFill>
                <a:latin typeface="Arial" pitchFamily="34" charset="0"/>
                <a:ea typeface="Arial" pitchFamily="34" charset="-122"/>
                <a:cs typeface="Arial" pitchFamily="34" charset="-120"/>
              </a:rPr>
              <a:t>YOUR LIST   </a:t>
            </a:r>
            <a:pPr indent="0" marL="0">
              <a:lnSpc>
                <a:spcPts val="1600"/>
              </a:lnSpc>
              <a:buNone/>
            </a:pPr>
            <a:r>
              <a:rPr lang="en-US" sz="1200" dirty="0">
                <a:solidFill>
                  <a:srgbClr val="7A7F72"/>
                </a:solidFill>
                <a:latin typeface="Georgia" pitchFamily="34" charset="0"/>
                <a:ea typeface="Georgia" pitchFamily="34" charset="-122"/>
                <a:cs typeface="Georgia" pitchFamily="34" charset="-120"/>
              </a:rPr>
              <a:t>Whatever you miss becomes your revision list for Wednesday.</a:t>
            </a:r>
            <a:endParaRPr lang="en-US" sz="1000" dirty="0"/>
          </a:p>
          <a:p>
            <a:pPr indent="0" marL="0">
              <a:lnSpc>
                <a:spcPts val="1600"/>
              </a:lnSpc>
              <a:buNone/>
            </a:pPr>
            <a:r>
              <a:rPr lang="en-US" sz="1000" b="1" spc="100" kern="0" dirty="0">
                <a:solidFill>
                  <a:srgbClr val="4A6B5D"/>
                </a:solidFill>
                <a:latin typeface="Arial" pitchFamily="34" charset="0"/>
                <a:ea typeface="Arial" pitchFamily="34" charset="-122"/>
                <a:cs typeface="Arial" pitchFamily="34" charset="-120"/>
              </a:rPr>
              <a:t>ALSO MONDAY   </a:t>
            </a:r>
            <a:pPr indent="0" marL="0">
              <a:lnSpc>
                <a:spcPts val="1600"/>
              </a:lnSpc>
              <a:buNone/>
            </a:pPr>
            <a:r>
              <a:rPr lang="en-US" sz="1200" dirty="0">
                <a:solidFill>
                  <a:srgbClr val="7A7F72"/>
                </a:solidFill>
                <a:latin typeface="Georgia" pitchFamily="34" charset="0"/>
                <a:ea typeface="Georgia" pitchFamily="34" charset="-122"/>
                <a:cs typeface="Georgia" pitchFamily="34" charset="-120"/>
              </a:rPr>
              <a:t>A2 announced: due Monday 26 October, blog posts 1 to 7 at the mid-point standard.</a:t>
            </a:r>
            <a:endParaRPr lang="en-US" sz="1000" dirty="0"/>
          </a:p>
        </p:txBody>
      </p:sp>
      <p:sp>
        <p:nvSpPr>
          <p:cNvPr id="27" name="Shape 21"/>
          <p:cNvSpPr/>
          <p:nvPr/>
        </p:nvSpPr>
        <p:spPr>
          <a:xfrm>
            <a:off x="822960" y="6382512"/>
            <a:ext cx="10543032" cy="0"/>
          </a:xfrm>
          <a:prstGeom prst="line">
            <a:avLst/>
          </a:prstGeom>
          <a:noFill/>
          <a:ln w="9525">
            <a:solidFill>
              <a:srgbClr val="D9D4C4"/>
            </a:solidFill>
            <a:prstDash val="solid"/>
          </a:ln>
        </p:spPr>
      </p:sp>
      <p:sp>
        <p:nvSpPr>
          <p:cNvPr id="28" name="Text 22"/>
          <p:cNvSpPr/>
          <p:nvPr/>
        </p:nvSpPr>
        <p:spPr>
          <a:xfrm>
            <a:off x="822960" y="6419088"/>
            <a:ext cx="7315200" cy="274320"/>
          </a:xfrm>
          <a:prstGeom prst="rect">
            <a:avLst/>
          </a:prstGeom>
          <a:noFill/>
          <a:ln/>
        </p:spPr>
        <p:txBody>
          <a:bodyPr wrap="square" lIns="0" tIns="0" rIns="0" bIns="0" rtlCol="0" anchor="ctr"/>
          <a:lstStyle/>
          <a:p>
            <a:pPr indent="0" marL="0">
              <a:buNone/>
            </a:pPr>
            <a:r>
              <a:rPr lang="en-US" sz="900" spc="150" kern="0" dirty="0">
                <a:solidFill>
                  <a:srgbClr val="7A7F72"/>
                </a:solidFill>
                <a:latin typeface="Arial" pitchFamily="34" charset="0"/>
                <a:ea typeface="Arial" pitchFamily="34" charset="-122"/>
                <a:cs typeface="Arial" pitchFamily="34" charset="-120"/>
              </a:rPr>
              <a:t>MEDIA STUDIES 9607 · SEMESTER I</a:t>
            </a:r>
            <a:endParaRPr lang="en-US" sz="900" dirty="0"/>
          </a:p>
        </p:txBody>
      </p:sp>
      <p:sp>
        <p:nvSpPr>
          <p:cNvPr id="29" name="Text 23"/>
          <p:cNvSpPr/>
          <p:nvPr/>
        </p:nvSpPr>
        <p:spPr>
          <a:xfrm>
            <a:off x="10268712" y="6355080"/>
            <a:ext cx="1097280" cy="365760"/>
          </a:xfrm>
          <a:prstGeom prst="rect">
            <a:avLst/>
          </a:prstGeom>
          <a:noFill/>
          <a:ln/>
        </p:spPr>
        <p:txBody>
          <a:bodyPr wrap="square" lIns="0" tIns="0" rIns="0" bIns="0" rtlCol="0" anchor="ctr"/>
          <a:lstStyle/>
          <a:p>
            <a:pPr algn="r" indent="0" marL="0">
              <a:buNone/>
            </a:pPr>
            <a:r>
              <a:rPr lang="en-US" sz="1600" dirty="0">
                <a:solidFill>
                  <a:srgbClr val="A3C1AD"/>
                </a:solidFill>
                <a:latin typeface="Georgia" pitchFamily="34" charset="0"/>
                <a:ea typeface="Georgia" pitchFamily="34" charset="-122"/>
                <a:cs typeface="Georgia" pitchFamily="34" charset="-120"/>
              </a:rPr>
              <a:t>01</a:t>
            </a:r>
            <a:endParaRPr lang="en-US" sz="16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AF8F1"/>
        </a:solidFill>
      </p:bgPr>
    </p:bg>
    <p:spTree>
      <p:nvGrpSpPr>
        <p:cNvPr id="1" name=""/>
        <p:cNvGrpSpPr/>
        <p:nvPr/>
      </p:nvGrpSpPr>
      <p:grpSpPr>
        <a:xfrm>
          <a:off x="0" y="0"/>
          <a:ext cx="0" cy="0"/>
          <a:chOff x="0" y="0"/>
          <a:chExt cx="0" cy="0"/>
        </a:xfrm>
      </p:grpSpPr>
      <p:sp>
        <p:nvSpPr>
          <p:cNvPr id="2" name="Text 0"/>
          <p:cNvSpPr/>
          <p:nvPr/>
        </p:nvSpPr>
        <p:spPr>
          <a:xfrm>
            <a:off x="822960" y="457200"/>
            <a:ext cx="6400800" cy="274320"/>
          </a:xfrm>
          <a:prstGeom prst="rect">
            <a:avLst/>
          </a:prstGeom>
          <a:noFill/>
          <a:ln/>
        </p:spPr>
        <p:txBody>
          <a:bodyPr wrap="square" lIns="0" tIns="0" rIns="0" bIns="0" rtlCol="0" anchor="ctr"/>
          <a:lstStyle/>
          <a:p>
            <a:pPr algn="l" indent="0" marL="0">
              <a:buNone/>
            </a:pPr>
            <a:r>
              <a:rPr lang="en-US" sz="1100" b="1" spc="250" kern="0" dirty="0">
                <a:solidFill>
                  <a:srgbClr val="4A6B5D"/>
                </a:solidFill>
                <a:latin typeface="Arial" pitchFamily="34" charset="0"/>
                <a:ea typeface="Arial" pitchFamily="34" charset="-122"/>
                <a:cs typeface="Arial" pitchFamily="34" charset="-120"/>
              </a:rPr>
              <a:t>THE SYSTEMATIC READING ORDER</a:t>
            </a:r>
            <a:endParaRPr lang="en-US" sz="1100" dirty="0"/>
          </a:p>
        </p:txBody>
      </p:sp>
      <p:sp>
        <p:nvSpPr>
          <p:cNvPr id="3" name="Text 1"/>
          <p:cNvSpPr/>
          <p:nvPr/>
        </p:nvSpPr>
        <p:spPr>
          <a:xfrm>
            <a:off x="6793992" y="457200"/>
            <a:ext cx="4572000" cy="274320"/>
          </a:xfrm>
          <a:prstGeom prst="rect">
            <a:avLst/>
          </a:prstGeom>
          <a:noFill/>
          <a:ln/>
        </p:spPr>
        <p:txBody>
          <a:bodyPr wrap="square" lIns="0" tIns="0" rIns="0" bIns="0" rtlCol="0" anchor="ctr"/>
          <a:lstStyle/>
          <a:p>
            <a:pPr algn="r" indent="0" marL="0">
              <a:buNone/>
            </a:pPr>
            <a:r>
              <a:rPr lang="en-US" sz="1100" b="1" spc="250" kern="0" dirty="0">
                <a:solidFill>
                  <a:srgbClr val="7A7F72"/>
                </a:solidFill>
                <a:latin typeface="Arial" pitchFamily="34" charset="0"/>
                <a:ea typeface="Arial" pitchFamily="34" charset="-122"/>
                <a:cs typeface="Arial" pitchFamily="34" charset="-120"/>
              </a:rPr>
              <a:t>SAME ORDER AS THE LOCK, AND FOREVER</a:t>
            </a:r>
            <a:endParaRPr lang="en-US" sz="1100" dirty="0"/>
          </a:p>
        </p:txBody>
      </p:sp>
      <p:sp>
        <p:nvSpPr>
          <p:cNvPr id="4" name="Shape 2"/>
          <p:cNvSpPr/>
          <p:nvPr/>
        </p:nvSpPr>
        <p:spPr>
          <a:xfrm>
            <a:off x="822960" y="786384"/>
            <a:ext cx="10543032" cy="0"/>
          </a:xfrm>
          <a:prstGeom prst="line">
            <a:avLst/>
          </a:prstGeom>
          <a:noFill/>
          <a:ln w="9525">
            <a:solidFill>
              <a:srgbClr val="D9D4C4"/>
            </a:solidFill>
            <a:prstDash val="solid"/>
          </a:ln>
        </p:spPr>
      </p:sp>
      <p:sp>
        <p:nvSpPr>
          <p:cNvPr id="5" name="Text 3"/>
          <p:cNvSpPr/>
          <p:nvPr/>
        </p:nvSpPr>
        <p:spPr>
          <a:xfrm>
            <a:off x="822960" y="932688"/>
            <a:ext cx="10543032" cy="640080"/>
          </a:xfrm>
          <a:prstGeom prst="rect">
            <a:avLst/>
          </a:prstGeom>
          <a:noFill/>
          <a:ln/>
        </p:spPr>
        <p:txBody>
          <a:bodyPr wrap="square" lIns="0" tIns="0" rIns="0" bIns="0" rtlCol="0" anchor="ctr"/>
          <a:lstStyle/>
          <a:p>
            <a:pPr indent="0" marL="0">
              <a:buNone/>
            </a:pPr>
            <a:r>
              <a:rPr lang="en-US" sz="3200" dirty="0">
                <a:solidFill>
                  <a:srgbClr val="24313F"/>
                </a:solidFill>
                <a:latin typeface="Georgia" pitchFamily="34" charset="0"/>
                <a:ea typeface="Georgia" pitchFamily="34" charset="-122"/>
                <a:cs typeface="Georgia" pitchFamily="34" charset="-120"/>
              </a:rPr>
              <a:t>The order is the discipline</a:t>
            </a:r>
            <a:endParaRPr lang="en-US" sz="3200" dirty="0"/>
          </a:p>
        </p:txBody>
      </p:sp>
      <p:sp>
        <p:nvSpPr>
          <p:cNvPr id="6" name="Text 4"/>
          <p:cNvSpPr/>
          <p:nvPr/>
        </p:nvSpPr>
        <p:spPr>
          <a:xfrm>
            <a:off x="822960" y="1828800"/>
            <a:ext cx="457200" cy="457200"/>
          </a:xfrm>
          <a:prstGeom prst="ellipse">
            <a:avLst/>
          </a:prstGeom>
          <a:solidFill>
            <a:srgbClr val="A3C1AD"/>
          </a:solidFill>
          <a:ln/>
        </p:spPr>
        <p:txBody>
          <a:bodyPr wrap="square" lIns="0" tIns="0" rIns="0" bIns="0" rtlCol="0" anchor="ctr"/>
          <a:lstStyle/>
          <a:p>
            <a:pPr algn="ctr" indent="0" marL="0">
              <a:buNone/>
            </a:pPr>
            <a:r>
              <a:rPr lang="en-US" sz="1700" dirty="0">
                <a:solidFill>
                  <a:srgbClr val="FAF8F1"/>
                </a:solidFill>
                <a:latin typeface="Georgia" pitchFamily="34" charset="0"/>
                <a:ea typeface="Georgia" pitchFamily="34" charset="-122"/>
                <a:cs typeface="Georgia" pitchFamily="34" charset="-120"/>
              </a:rPr>
              <a:t>1</a:t>
            </a:r>
            <a:endParaRPr lang="en-US" sz="1700" dirty="0"/>
          </a:p>
        </p:txBody>
      </p:sp>
      <p:sp>
        <p:nvSpPr>
          <p:cNvPr id="7" name="Text 5"/>
          <p:cNvSpPr/>
          <p:nvPr/>
        </p:nvSpPr>
        <p:spPr>
          <a:xfrm>
            <a:off x="1508760" y="1828800"/>
            <a:ext cx="3291840" cy="457200"/>
          </a:xfrm>
          <a:prstGeom prst="rect">
            <a:avLst/>
          </a:prstGeom>
          <a:noFill/>
          <a:ln/>
        </p:spPr>
        <p:txBody>
          <a:bodyPr wrap="square" lIns="0" tIns="0" rIns="0" bIns="0" rtlCol="0" anchor="ctr"/>
          <a:lstStyle/>
          <a:p>
            <a:pPr indent="0" marL="0">
              <a:buNone/>
            </a:pPr>
            <a:r>
              <a:rPr lang="en-US" sz="1900" dirty="0">
                <a:solidFill>
                  <a:srgbClr val="4A6B5D"/>
                </a:solidFill>
                <a:latin typeface="Georgia" pitchFamily="34" charset="0"/>
                <a:ea typeface="Georgia" pitchFamily="34" charset="-122"/>
                <a:cs typeface="Georgia" pitchFamily="34" charset="-120"/>
              </a:rPr>
              <a:t>Framing</a:t>
            </a:r>
            <a:endParaRPr lang="en-US" sz="1900" dirty="0"/>
          </a:p>
        </p:txBody>
      </p:sp>
      <p:sp>
        <p:nvSpPr>
          <p:cNvPr id="8" name="Text 6"/>
          <p:cNvSpPr/>
          <p:nvPr/>
        </p:nvSpPr>
        <p:spPr>
          <a:xfrm>
            <a:off x="4846320" y="1828800"/>
            <a:ext cx="6400800" cy="457200"/>
          </a:xfrm>
          <a:prstGeom prst="rect">
            <a:avLst/>
          </a:prstGeom>
          <a:noFill/>
          <a:ln/>
        </p:spPr>
        <p:txBody>
          <a:bodyPr wrap="square" lIns="0" tIns="0" rIns="0" bIns="0" rtlCol="0" anchor="ctr"/>
          <a:lstStyle/>
          <a:p>
            <a:pPr indent="0" marL="0">
              <a:buNone/>
            </a:pPr>
            <a:r>
              <a:rPr lang="en-US" sz="1500" dirty="0">
                <a:solidFill>
                  <a:srgbClr val="24313F"/>
                </a:solidFill>
                <a:latin typeface="Georgia" pitchFamily="34" charset="0"/>
                <a:ea typeface="Georgia" pitchFamily="34" charset="-122"/>
                <a:cs typeface="Georgia" pitchFamily="34" charset="-120"/>
              </a:rPr>
              <a:t>what is in, what is out</a:t>
            </a:r>
            <a:endParaRPr lang="en-US" sz="1500" dirty="0"/>
          </a:p>
        </p:txBody>
      </p:sp>
      <p:sp>
        <p:nvSpPr>
          <p:cNvPr id="9" name="Shape 7"/>
          <p:cNvSpPr/>
          <p:nvPr/>
        </p:nvSpPr>
        <p:spPr>
          <a:xfrm>
            <a:off x="1051560" y="2286000"/>
            <a:ext cx="0" cy="164592"/>
          </a:xfrm>
          <a:prstGeom prst="line">
            <a:avLst/>
          </a:prstGeom>
          <a:noFill/>
          <a:ln w="19050">
            <a:solidFill>
              <a:srgbClr val="8AA394"/>
            </a:solidFill>
            <a:prstDash val="solid"/>
          </a:ln>
        </p:spPr>
      </p:sp>
      <p:sp>
        <p:nvSpPr>
          <p:cNvPr id="10" name="Text 8"/>
          <p:cNvSpPr/>
          <p:nvPr/>
        </p:nvSpPr>
        <p:spPr>
          <a:xfrm>
            <a:off x="822960" y="2468880"/>
            <a:ext cx="457200" cy="457200"/>
          </a:xfrm>
          <a:prstGeom prst="ellipse">
            <a:avLst/>
          </a:prstGeom>
          <a:solidFill>
            <a:srgbClr val="A3C1AD"/>
          </a:solidFill>
          <a:ln/>
        </p:spPr>
        <p:txBody>
          <a:bodyPr wrap="square" lIns="0" tIns="0" rIns="0" bIns="0" rtlCol="0" anchor="ctr"/>
          <a:lstStyle/>
          <a:p>
            <a:pPr algn="ctr" indent="0" marL="0">
              <a:buNone/>
            </a:pPr>
            <a:r>
              <a:rPr lang="en-US" sz="1700" dirty="0">
                <a:solidFill>
                  <a:srgbClr val="FAF8F1"/>
                </a:solidFill>
                <a:latin typeface="Georgia" pitchFamily="34" charset="0"/>
                <a:ea typeface="Georgia" pitchFamily="34" charset="-122"/>
                <a:cs typeface="Georgia" pitchFamily="34" charset="-120"/>
              </a:rPr>
              <a:t>2</a:t>
            </a:r>
            <a:endParaRPr lang="en-US" sz="1700" dirty="0"/>
          </a:p>
        </p:txBody>
      </p:sp>
      <p:sp>
        <p:nvSpPr>
          <p:cNvPr id="11" name="Text 9"/>
          <p:cNvSpPr/>
          <p:nvPr/>
        </p:nvSpPr>
        <p:spPr>
          <a:xfrm>
            <a:off x="1508760" y="2468880"/>
            <a:ext cx="3291840" cy="457200"/>
          </a:xfrm>
          <a:prstGeom prst="rect">
            <a:avLst/>
          </a:prstGeom>
          <a:noFill/>
          <a:ln/>
        </p:spPr>
        <p:txBody>
          <a:bodyPr wrap="square" lIns="0" tIns="0" rIns="0" bIns="0" rtlCol="0" anchor="ctr"/>
          <a:lstStyle/>
          <a:p>
            <a:pPr indent="0" marL="0">
              <a:buNone/>
            </a:pPr>
            <a:r>
              <a:rPr lang="en-US" sz="1900" dirty="0">
                <a:solidFill>
                  <a:srgbClr val="4A6B5D"/>
                </a:solidFill>
                <a:latin typeface="Georgia" pitchFamily="34" charset="0"/>
                <a:ea typeface="Georgia" pitchFamily="34" charset="-122"/>
                <a:cs typeface="Georgia" pitchFamily="34" charset="-120"/>
              </a:rPr>
              <a:t>Camera</a:t>
            </a:r>
            <a:endParaRPr lang="en-US" sz="1900" dirty="0"/>
          </a:p>
        </p:txBody>
      </p:sp>
      <p:sp>
        <p:nvSpPr>
          <p:cNvPr id="12" name="Text 10"/>
          <p:cNvSpPr/>
          <p:nvPr/>
        </p:nvSpPr>
        <p:spPr>
          <a:xfrm>
            <a:off x="4846320" y="2468880"/>
            <a:ext cx="6400800" cy="457200"/>
          </a:xfrm>
          <a:prstGeom prst="rect">
            <a:avLst/>
          </a:prstGeom>
          <a:noFill/>
          <a:ln/>
        </p:spPr>
        <p:txBody>
          <a:bodyPr wrap="square" lIns="0" tIns="0" rIns="0" bIns="0" rtlCol="0" anchor="ctr"/>
          <a:lstStyle/>
          <a:p>
            <a:pPr indent="0" marL="0">
              <a:buNone/>
            </a:pPr>
            <a:r>
              <a:rPr lang="en-US" sz="1500" dirty="0">
                <a:solidFill>
                  <a:srgbClr val="24313F"/>
                </a:solidFill>
                <a:latin typeface="Georgia" pitchFamily="34" charset="0"/>
                <a:ea typeface="Georgia" pitchFamily="34" charset="-122"/>
                <a:cs typeface="Georgia" pitchFamily="34" charset="-120"/>
              </a:rPr>
              <a:t>shot, angle, movement</a:t>
            </a:r>
            <a:endParaRPr lang="en-US" sz="1500" dirty="0"/>
          </a:p>
        </p:txBody>
      </p:sp>
      <p:sp>
        <p:nvSpPr>
          <p:cNvPr id="13" name="Shape 11"/>
          <p:cNvSpPr/>
          <p:nvPr/>
        </p:nvSpPr>
        <p:spPr>
          <a:xfrm>
            <a:off x="1051560" y="2926080"/>
            <a:ext cx="0" cy="164592"/>
          </a:xfrm>
          <a:prstGeom prst="line">
            <a:avLst/>
          </a:prstGeom>
          <a:noFill/>
          <a:ln w="19050">
            <a:solidFill>
              <a:srgbClr val="8AA394"/>
            </a:solidFill>
            <a:prstDash val="solid"/>
          </a:ln>
        </p:spPr>
      </p:sp>
      <p:sp>
        <p:nvSpPr>
          <p:cNvPr id="14" name="Text 12"/>
          <p:cNvSpPr/>
          <p:nvPr/>
        </p:nvSpPr>
        <p:spPr>
          <a:xfrm>
            <a:off x="822960" y="3108960"/>
            <a:ext cx="457200" cy="457200"/>
          </a:xfrm>
          <a:prstGeom prst="ellipse">
            <a:avLst/>
          </a:prstGeom>
          <a:solidFill>
            <a:srgbClr val="A3C1AD"/>
          </a:solidFill>
          <a:ln/>
        </p:spPr>
        <p:txBody>
          <a:bodyPr wrap="square" lIns="0" tIns="0" rIns="0" bIns="0" rtlCol="0" anchor="ctr"/>
          <a:lstStyle/>
          <a:p>
            <a:pPr algn="ctr" indent="0" marL="0">
              <a:buNone/>
            </a:pPr>
            <a:r>
              <a:rPr lang="en-US" sz="1700" dirty="0">
                <a:solidFill>
                  <a:srgbClr val="FAF8F1"/>
                </a:solidFill>
                <a:latin typeface="Georgia" pitchFamily="34" charset="0"/>
                <a:ea typeface="Georgia" pitchFamily="34" charset="-122"/>
                <a:cs typeface="Georgia" pitchFamily="34" charset="-120"/>
              </a:rPr>
              <a:t>3</a:t>
            </a:r>
            <a:endParaRPr lang="en-US" sz="1700" dirty="0"/>
          </a:p>
        </p:txBody>
      </p:sp>
      <p:sp>
        <p:nvSpPr>
          <p:cNvPr id="15" name="Text 13"/>
          <p:cNvSpPr/>
          <p:nvPr/>
        </p:nvSpPr>
        <p:spPr>
          <a:xfrm>
            <a:off x="1508760" y="3108960"/>
            <a:ext cx="3291840" cy="457200"/>
          </a:xfrm>
          <a:prstGeom prst="rect">
            <a:avLst/>
          </a:prstGeom>
          <a:noFill/>
          <a:ln/>
        </p:spPr>
        <p:txBody>
          <a:bodyPr wrap="square" lIns="0" tIns="0" rIns="0" bIns="0" rtlCol="0" anchor="ctr"/>
          <a:lstStyle/>
          <a:p>
            <a:pPr indent="0" marL="0">
              <a:buNone/>
            </a:pPr>
            <a:r>
              <a:rPr lang="en-US" sz="1900" dirty="0">
                <a:solidFill>
                  <a:srgbClr val="4A6B5D"/>
                </a:solidFill>
                <a:latin typeface="Georgia" pitchFamily="34" charset="0"/>
                <a:ea typeface="Georgia" pitchFamily="34" charset="-122"/>
                <a:cs typeface="Georgia" pitchFamily="34" charset="-120"/>
              </a:rPr>
              <a:t>Light</a:t>
            </a:r>
            <a:endParaRPr lang="en-US" sz="1900" dirty="0"/>
          </a:p>
        </p:txBody>
      </p:sp>
      <p:sp>
        <p:nvSpPr>
          <p:cNvPr id="16" name="Text 14"/>
          <p:cNvSpPr/>
          <p:nvPr/>
        </p:nvSpPr>
        <p:spPr>
          <a:xfrm>
            <a:off x="4846320" y="3108960"/>
            <a:ext cx="6400800" cy="457200"/>
          </a:xfrm>
          <a:prstGeom prst="rect">
            <a:avLst/>
          </a:prstGeom>
          <a:noFill/>
          <a:ln/>
        </p:spPr>
        <p:txBody>
          <a:bodyPr wrap="square" lIns="0" tIns="0" rIns="0" bIns="0" rtlCol="0" anchor="ctr"/>
          <a:lstStyle/>
          <a:p>
            <a:pPr indent="0" marL="0">
              <a:buNone/>
            </a:pPr>
            <a:r>
              <a:rPr lang="en-US" sz="1500" dirty="0">
                <a:solidFill>
                  <a:srgbClr val="24313F"/>
                </a:solidFill>
                <a:latin typeface="Georgia" pitchFamily="34" charset="0"/>
                <a:ea typeface="Georgia" pitchFamily="34" charset="-122"/>
                <a:cs typeface="Georgia" pitchFamily="34" charset="-120"/>
              </a:rPr>
              <a:t>source, direction, mood</a:t>
            </a:r>
            <a:endParaRPr lang="en-US" sz="1500" dirty="0"/>
          </a:p>
        </p:txBody>
      </p:sp>
      <p:sp>
        <p:nvSpPr>
          <p:cNvPr id="17" name="Shape 15"/>
          <p:cNvSpPr/>
          <p:nvPr/>
        </p:nvSpPr>
        <p:spPr>
          <a:xfrm>
            <a:off x="1051560" y="3566160"/>
            <a:ext cx="0" cy="164592"/>
          </a:xfrm>
          <a:prstGeom prst="line">
            <a:avLst/>
          </a:prstGeom>
          <a:noFill/>
          <a:ln w="19050">
            <a:solidFill>
              <a:srgbClr val="8AA394"/>
            </a:solidFill>
            <a:prstDash val="solid"/>
          </a:ln>
        </p:spPr>
      </p:sp>
      <p:sp>
        <p:nvSpPr>
          <p:cNvPr id="18" name="Text 16"/>
          <p:cNvSpPr/>
          <p:nvPr/>
        </p:nvSpPr>
        <p:spPr>
          <a:xfrm>
            <a:off x="822960" y="3749040"/>
            <a:ext cx="457200" cy="457200"/>
          </a:xfrm>
          <a:prstGeom prst="ellipse">
            <a:avLst/>
          </a:prstGeom>
          <a:solidFill>
            <a:srgbClr val="A3C1AD"/>
          </a:solidFill>
          <a:ln/>
        </p:spPr>
        <p:txBody>
          <a:bodyPr wrap="square" lIns="0" tIns="0" rIns="0" bIns="0" rtlCol="0" anchor="ctr"/>
          <a:lstStyle/>
          <a:p>
            <a:pPr algn="ctr" indent="0" marL="0">
              <a:buNone/>
            </a:pPr>
            <a:r>
              <a:rPr lang="en-US" sz="1700" dirty="0">
                <a:solidFill>
                  <a:srgbClr val="FAF8F1"/>
                </a:solidFill>
                <a:latin typeface="Georgia" pitchFamily="34" charset="0"/>
                <a:ea typeface="Georgia" pitchFamily="34" charset="-122"/>
                <a:cs typeface="Georgia" pitchFamily="34" charset="-120"/>
              </a:rPr>
              <a:t>4</a:t>
            </a:r>
            <a:endParaRPr lang="en-US" sz="1700" dirty="0"/>
          </a:p>
        </p:txBody>
      </p:sp>
      <p:sp>
        <p:nvSpPr>
          <p:cNvPr id="19" name="Text 17"/>
          <p:cNvSpPr/>
          <p:nvPr/>
        </p:nvSpPr>
        <p:spPr>
          <a:xfrm>
            <a:off x="1508760" y="3749040"/>
            <a:ext cx="3291840" cy="457200"/>
          </a:xfrm>
          <a:prstGeom prst="rect">
            <a:avLst/>
          </a:prstGeom>
          <a:noFill/>
          <a:ln/>
        </p:spPr>
        <p:txBody>
          <a:bodyPr wrap="square" lIns="0" tIns="0" rIns="0" bIns="0" rtlCol="0" anchor="ctr"/>
          <a:lstStyle/>
          <a:p>
            <a:pPr indent="0" marL="0">
              <a:buNone/>
            </a:pPr>
            <a:r>
              <a:rPr lang="en-US" sz="1900" dirty="0">
                <a:solidFill>
                  <a:srgbClr val="4A6B5D"/>
                </a:solidFill>
                <a:latin typeface="Georgia" pitchFamily="34" charset="0"/>
                <a:ea typeface="Georgia" pitchFamily="34" charset="-122"/>
                <a:cs typeface="Georgia" pitchFamily="34" charset="-120"/>
              </a:rPr>
              <a:t>Mise-en-scene</a:t>
            </a:r>
            <a:endParaRPr lang="en-US" sz="1900" dirty="0"/>
          </a:p>
        </p:txBody>
      </p:sp>
      <p:sp>
        <p:nvSpPr>
          <p:cNvPr id="20" name="Text 18"/>
          <p:cNvSpPr/>
          <p:nvPr/>
        </p:nvSpPr>
        <p:spPr>
          <a:xfrm>
            <a:off x="4846320" y="3749040"/>
            <a:ext cx="6400800" cy="457200"/>
          </a:xfrm>
          <a:prstGeom prst="rect">
            <a:avLst/>
          </a:prstGeom>
          <a:noFill/>
          <a:ln/>
        </p:spPr>
        <p:txBody>
          <a:bodyPr wrap="square" lIns="0" tIns="0" rIns="0" bIns="0" rtlCol="0" anchor="ctr"/>
          <a:lstStyle/>
          <a:p>
            <a:pPr indent="0" marL="0">
              <a:buNone/>
            </a:pPr>
            <a:r>
              <a:rPr lang="en-US" sz="1500" dirty="0">
                <a:solidFill>
                  <a:srgbClr val="24313F"/>
                </a:solidFill>
                <a:latin typeface="Georgia" pitchFamily="34" charset="0"/>
                <a:ea typeface="Georgia" pitchFamily="34" charset="-122"/>
                <a:cs typeface="Georgia" pitchFamily="34" charset="-120"/>
              </a:rPr>
              <a:t>setting, props, dress, gesture</a:t>
            </a:r>
            <a:endParaRPr lang="en-US" sz="1500" dirty="0"/>
          </a:p>
        </p:txBody>
      </p:sp>
      <p:sp>
        <p:nvSpPr>
          <p:cNvPr id="21" name="Shape 19"/>
          <p:cNvSpPr/>
          <p:nvPr/>
        </p:nvSpPr>
        <p:spPr>
          <a:xfrm>
            <a:off x="1051560" y="4206240"/>
            <a:ext cx="0" cy="164592"/>
          </a:xfrm>
          <a:prstGeom prst="line">
            <a:avLst/>
          </a:prstGeom>
          <a:noFill/>
          <a:ln w="19050">
            <a:solidFill>
              <a:srgbClr val="8AA394"/>
            </a:solidFill>
            <a:prstDash val="solid"/>
          </a:ln>
        </p:spPr>
      </p:sp>
      <p:sp>
        <p:nvSpPr>
          <p:cNvPr id="22" name="Text 20"/>
          <p:cNvSpPr/>
          <p:nvPr/>
        </p:nvSpPr>
        <p:spPr>
          <a:xfrm>
            <a:off x="822960" y="4389120"/>
            <a:ext cx="457200" cy="457200"/>
          </a:xfrm>
          <a:prstGeom prst="ellipse">
            <a:avLst/>
          </a:prstGeom>
          <a:solidFill>
            <a:srgbClr val="A3C1AD"/>
          </a:solidFill>
          <a:ln/>
        </p:spPr>
        <p:txBody>
          <a:bodyPr wrap="square" lIns="0" tIns="0" rIns="0" bIns="0" rtlCol="0" anchor="ctr"/>
          <a:lstStyle/>
          <a:p>
            <a:pPr algn="ctr" indent="0" marL="0">
              <a:buNone/>
            </a:pPr>
            <a:r>
              <a:rPr lang="en-US" sz="1700" dirty="0">
                <a:solidFill>
                  <a:srgbClr val="FAF8F1"/>
                </a:solidFill>
                <a:latin typeface="Georgia" pitchFamily="34" charset="0"/>
                <a:ea typeface="Georgia" pitchFamily="34" charset="-122"/>
                <a:cs typeface="Georgia" pitchFamily="34" charset="-120"/>
              </a:rPr>
              <a:t>5</a:t>
            </a:r>
            <a:endParaRPr lang="en-US" sz="1700" dirty="0"/>
          </a:p>
        </p:txBody>
      </p:sp>
      <p:sp>
        <p:nvSpPr>
          <p:cNvPr id="23" name="Text 21"/>
          <p:cNvSpPr/>
          <p:nvPr/>
        </p:nvSpPr>
        <p:spPr>
          <a:xfrm>
            <a:off x="1508760" y="4389120"/>
            <a:ext cx="3291840" cy="457200"/>
          </a:xfrm>
          <a:prstGeom prst="rect">
            <a:avLst/>
          </a:prstGeom>
          <a:noFill/>
          <a:ln/>
        </p:spPr>
        <p:txBody>
          <a:bodyPr wrap="square" lIns="0" tIns="0" rIns="0" bIns="0" rtlCol="0" anchor="ctr"/>
          <a:lstStyle/>
          <a:p>
            <a:pPr indent="0" marL="0">
              <a:buNone/>
            </a:pPr>
            <a:r>
              <a:rPr lang="en-US" sz="1900" dirty="0">
                <a:solidFill>
                  <a:srgbClr val="4A6B5D"/>
                </a:solidFill>
                <a:latin typeface="Georgia" pitchFamily="34" charset="0"/>
                <a:ea typeface="Georgia" pitchFamily="34" charset="-122"/>
                <a:cs typeface="Georgia" pitchFamily="34" charset="-120"/>
              </a:rPr>
              <a:t>Sound</a:t>
            </a:r>
            <a:endParaRPr lang="en-US" sz="1900" dirty="0"/>
          </a:p>
        </p:txBody>
      </p:sp>
      <p:sp>
        <p:nvSpPr>
          <p:cNvPr id="24" name="Text 22"/>
          <p:cNvSpPr/>
          <p:nvPr/>
        </p:nvSpPr>
        <p:spPr>
          <a:xfrm>
            <a:off x="4846320" y="4389120"/>
            <a:ext cx="6400800" cy="457200"/>
          </a:xfrm>
          <a:prstGeom prst="rect">
            <a:avLst/>
          </a:prstGeom>
          <a:noFill/>
          <a:ln/>
        </p:spPr>
        <p:txBody>
          <a:bodyPr wrap="square" lIns="0" tIns="0" rIns="0" bIns="0" rtlCol="0" anchor="ctr"/>
          <a:lstStyle/>
          <a:p>
            <a:pPr indent="0" marL="0">
              <a:buNone/>
            </a:pPr>
            <a:r>
              <a:rPr lang="en-US" sz="1500" dirty="0">
                <a:solidFill>
                  <a:srgbClr val="24313F"/>
                </a:solidFill>
                <a:latin typeface="Georgia" pitchFamily="34" charset="0"/>
                <a:ea typeface="Georgia" pitchFamily="34" charset="-122"/>
                <a:cs typeface="Georgia" pitchFamily="34" charset="-120"/>
              </a:rPr>
              <a:t>music, silence, diegetic sound</a:t>
            </a:r>
            <a:endParaRPr lang="en-US" sz="1500" dirty="0"/>
          </a:p>
        </p:txBody>
      </p:sp>
      <p:sp>
        <p:nvSpPr>
          <p:cNvPr id="25" name="Shape 23"/>
          <p:cNvSpPr/>
          <p:nvPr/>
        </p:nvSpPr>
        <p:spPr>
          <a:xfrm>
            <a:off x="1051560" y="4846320"/>
            <a:ext cx="0" cy="164592"/>
          </a:xfrm>
          <a:prstGeom prst="line">
            <a:avLst/>
          </a:prstGeom>
          <a:noFill/>
          <a:ln w="19050">
            <a:solidFill>
              <a:srgbClr val="8AA394"/>
            </a:solidFill>
            <a:prstDash val="solid"/>
          </a:ln>
        </p:spPr>
      </p:sp>
      <p:sp>
        <p:nvSpPr>
          <p:cNvPr id="26" name="Text 24"/>
          <p:cNvSpPr/>
          <p:nvPr/>
        </p:nvSpPr>
        <p:spPr>
          <a:xfrm>
            <a:off x="822960" y="5029200"/>
            <a:ext cx="457200" cy="457200"/>
          </a:xfrm>
          <a:prstGeom prst="ellipse">
            <a:avLst/>
          </a:prstGeom>
          <a:solidFill>
            <a:srgbClr val="A3C1AD"/>
          </a:solidFill>
          <a:ln/>
        </p:spPr>
        <p:txBody>
          <a:bodyPr wrap="square" lIns="0" tIns="0" rIns="0" bIns="0" rtlCol="0" anchor="ctr"/>
          <a:lstStyle/>
          <a:p>
            <a:pPr algn="ctr" indent="0" marL="0">
              <a:buNone/>
            </a:pPr>
            <a:r>
              <a:rPr lang="en-US" sz="1700" dirty="0">
                <a:solidFill>
                  <a:srgbClr val="FAF8F1"/>
                </a:solidFill>
                <a:latin typeface="Georgia" pitchFamily="34" charset="0"/>
                <a:ea typeface="Georgia" pitchFamily="34" charset="-122"/>
                <a:cs typeface="Georgia" pitchFamily="34" charset="-120"/>
              </a:rPr>
              <a:t>6</a:t>
            </a:r>
            <a:endParaRPr lang="en-US" sz="1700" dirty="0"/>
          </a:p>
        </p:txBody>
      </p:sp>
      <p:sp>
        <p:nvSpPr>
          <p:cNvPr id="27" name="Text 25"/>
          <p:cNvSpPr/>
          <p:nvPr/>
        </p:nvSpPr>
        <p:spPr>
          <a:xfrm>
            <a:off x="1508760" y="5029200"/>
            <a:ext cx="3291840" cy="457200"/>
          </a:xfrm>
          <a:prstGeom prst="rect">
            <a:avLst/>
          </a:prstGeom>
          <a:noFill/>
          <a:ln/>
        </p:spPr>
        <p:txBody>
          <a:bodyPr wrap="square" lIns="0" tIns="0" rIns="0" bIns="0" rtlCol="0" anchor="ctr"/>
          <a:lstStyle/>
          <a:p>
            <a:pPr indent="0" marL="0">
              <a:buNone/>
            </a:pPr>
            <a:r>
              <a:rPr lang="en-US" sz="1900" dirty="0">
                <a:solidFill>
                  <a:srgbClr val="4A6B5D"/>
                </a:solidFill>
                <a:latin typeface="Georgia" pitchFamily="34" charset="0"/>
                <a:ea typeface="Georgia" pitchFamily="34" charset="-122"/>
                <a:cs typeface="Georgia" pitchFamily="34" charset="-120"/>
              </a:rPr>
              <a:t>Edit</a:t>
            </a:r>
            <a:endParaRPr lang="en-US" sz="1900" dirty="0"/>
          </a:p>
        </p:txBody>
      </p:sp>
      <p:sp>
        <p:nvSpPr>
          <p:cNvPr id="28" name="Text 26"/>
          <p:cNvSpPr/>
          <p:nvPr/>
        </p:nvSpPr>
        <p:spPr>
          <a:xfrm>
            <a:off x="4846320" y="5029200"/>
            <a:ext cx="6400800" cy="457200"/>
          </a:xfrm>
          <a:prstGeom prst="rect">
            <a:avLst/>
          </a:prstGeom>
          <a:noFill/>
          <a:ln/>
        </p:spPr>
        <p:txBody>
          <a:bodyPr wrap="square" lIns="0" tIns="0" rIns="0" bIns="0" rtlCol="0" anchor="ctr"/>
          <a:lstStyle/>
          <a:p>
            <a:pPr indent="0" marL="0">
              <a:buNone/>
            </a:pPr>
            <a:r>
              <a:rPr lang="en-US" sz="1500" dirty="0">
                <a:solidFill>
                  <a:srgbClr val="24313F"/>
                </a:solidFill>
                <a:latin typeface="Georgia" pitchFamily="34" charset="0"/>
                <a:ea typeface="Georgia" pitchFamily="34" charset="-122"/>
                <a:cs typeface="Georgia" pitchFamily="34" charset="-120"/>
              </a:rPr>
              <a:t>cut, pace, transition</a:t>
            </a:r>
            <a:endParaRPr lang="en-US" sz="1500" dirty="0"/>
          </a:p>
        </p:txBody>
      </p:sp>
      <p:sp>
        <p:nvSpPr>
          <p:cNvPr id="29" name="Text 27"/>
          <p:cNvSpPr/>
          <p:nvPr/>
        </p:nvSpPr>
        <p:spPr>
          <a:xfrm>
            <a:off x="4846320" y="5870448"/>
            <a:ext cx="6400800" cy="365760"/>
          </a:xfrm>
          <a:prstGeom prst="rect">
            <a:avLst/>
          </a:prstGeom>
          <a:noFill/>
          <a:ln/>
        </p:spPr>
        <p:txBody>
          <a:bodyPr wrap="square" lIns="0" tIns="0" rIns="0" bIns="0" rtlCol="0" anchor="ctr"/>
          <a:lstStyle/>
          <a:p>
            <a:pPr indent="0" marL="0">
              <a:buNone/>
            </a:pPr>
            <a:r>
              <a:rPr lang="en-US" sz="1150" i="1" dirty="0">
                <a:solidFill>
                  <a:srgbClr val="7A7F72"/>
                </a:solidFill>
                <a:latin typeface="Arial" pitchFamily="34" charset="0"/>
                <a:ea typeface="Arial" pitchFamily="34" charset="-122"/>
                <a:cs typeface="Arial" pitchFamily="34" charset="-120"/>
              </a:rPr>
              <a:t>The Ladder is complete: this order climbs rungs one and two. PEEM climbs the rest.</a:t>
            </a:r>
            <a:endParaRPr lang="en-US" sz="1150" dirty="0"/>
          </a:p>
        </p:txBody>
      </p:sp>
      <p:sp>
        <p:nvSpPr>
          <p:cNvPr id="30" name="Shape 28"/>
          <p:cNvSpPr/>
          <p:nvPr/>
        </p:nvSpPr>
        <p:spPr>
          <a:xfrm>
            <a:off x="822960" y="6382512"/>
            <a:ext cx="10543032" cy="0"/>
          </a:xfrm>
          <a:prstGeom prst="line">
            <a:avLst/>
          </a:prstGeom>
          <a:noFill/>
          <a:ln w="9525">
            <a:solidFill>
              <a:srgbClr val="D9D4C4"/>
            </a:solidFill>
            <a:prstDash val="solid"/>
          </a:ln>
        </p:spPr>
      </p:sp>
      <p:sp>
        <p:nvSpPr>
          <p:cNvPr id="31" name="Text 29"/>
          <p:cNvSpPr/>
          <p:nvPr/>
        </p:nvSpPr>
        <p:spPr>
          <a:xfrm>
            <a:off x="822960" y="6419088"/>
            <a:ext cx="7315200" cy="274320"/>
          </a:xfrm>
          <a:prstGeom prst="rect">
            <a:avLst/>
          </a:prstGeom>
          <a:noFill/>
          <a:ln/>
        </p:spPr>
        <p:txBody>
          <a:bodyPr wrap="square" lIns="0" tIns="0" rIns="0" bIns="0" rtlCol="0" anchor="ctr"/>
          <a:lstStyle/>
          <a:p>
            <a:pPr indent="0" marL="0">
              <a:buNone/>
            </a:pPr>
            <a:r>
              <a:rPr lang="en-US" sz="900" spc="150" kern="0" dirty="0">
                <a:solidFill>
                  <a:srgbClr val="7A7F72"/>
                </a:solidFill>
                <a:latin typeface="Arial" pitchFamily="34" charset="0"/>
                <a:ea typeface="Arial" pitchFamily="34" charset="-122"/>
                <a:cs typeface="Arial" pitchFamily="34" charset="-120"/>
              </a:rPr>
              <a:t>MEDIA STUDIES 9607 · SEMESTER I</a:t>
            </a:r>
            <a:endParaRPr lang="en-US" sz="900" dirty="0"/>
          </a:p>
        </p:txBody>
      </p:sp>
      <p:sp>
        <p:nvSpPr>
          <p:cNvPr id="32" name="Text 30"/>
          <p:cNvSpPr/>
          <p:nvPr/>
        </p:nvSpPr>
        <p:spPr>
          <a:xfrm>
            <a:off x="10268712" y="6355080"/>
            <a:ext cx="1097280" cy="365760"/>
          </a:xfrm>
          <a:prstGeom prst="rect">
            <a:avLst/>
          </a:prstGeom>
          <a:noFill/>
          <a:ln/>
        </p:spPr>
        <p:txBody>
          <a:bodyPr wrap="square" lIns="0" tIns="0" rIns="0" bIns="0" rtlCol="0" anchor="ctr"/>
          <a:lstStyle/>
          <a:p>
            <a:pPr algn="r" indent="0" marL="0">
              <a:buNone/>
            </a:pPr>
            <a:r>
              <a:rPr lang="en-US" sz="1600" dirty="0">
                <a:solidFill>
                  <a:srgbClr val="A3C1AD"/>
                </a:solidFill>
                <a:latin typeface="Georgia" pitchFamily="34" charset="0"/>
                <a:ea typeface="Georgia" pitchFamily="34" charset="-122"/>
                <a:cs typeface="Georgia" pitchFamily="34" charset="-120"/>
              </a:rPr>
              <a:t>02</a:t>
            </a:r>
            <a:endParaRPr lang="en-US" sz="16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AF8F1"/>
        </a:solidFill>
      </p:bgPr>
    </p:bg>
    <p:spTree>
      <p:nvGrpSpPr>
        <p:cNvPr id="1" name=""/>
        <p:cNvGrpSpPr/>
        <p:nvPr/>
      </p:nvGrpSpPr>
      <p:grpSpPr>
        <a:xfrm>
          <a:off x="0" y="0"/>
          <a:ext cx="0" cy="0"/>
          <a:chOff x="0" y="0"/>
          <a:chExt cx="0" cy="0"/>
        </a:xfrm>
      </p:grpSpPr>
      <p:sp>
        <p:nvSpPr>
          <p:cNvPr id="2" name="Text 0"/>
          <p:cNvSpPr/>
          <p:nvPr/>
        </p:nvSpPr>
        <p:spPr>
          <a:xfrm>
            <a:off x="822960" y="457200"/>
            <a:ext cx="6400800" cy="274320"/>
          </a:xfrm>
          <a:prstGeom prst="rect">
            <a:avLst/>
          </a:prstGeom>
          <a:noFill/>
          <a:ln/>
        </p:spPr>
        <p:txBody>
          <a:bodyPr wrap="square" lIns="0" tIns="0" rIns="0" bIns="0" rtlCol="0" anchor="ctr"/>
          <a:lstStyle/>
          <a:p>
            <a:pPr algn="l" indent="0" marL="0">
              <a:buNone/>
            </a:pPr>
            <a:r>
              <a:rPr lang="en-US" sz="1100" b="1" spc="250" kern="0" dirty="0">
                <a:solidFill>
                  <a:srgbClr val="4A6B5D"/>
                </a:solidFill>
                <a:latin typeface="Arial" pitchFamily="34" charset="0"/>
                <a:ea typeface="Arial" pitchFamily="34" charset="-122"/>
                <a:cs typeface="Arial" pitchFamily="34" charset="-120"/>
              </a:rPr>
              <a:t>THE DISCIPLINE, APPLIED</a:t>
            </a:r>
            <a:endParaRPr lang="en-US" sz="1100" dirty="0"/>
          </a:p>
        </p:txBody>
      </p:sp>
      <p:sp>
        <p:nvSpPr>
          <p:cNvPr id="3" name="Text 1"/>
          <p:cNvSpPr/>
          <p:nvPr/>
        </p:nvSpPr>
        <p:spPr>
          <a:xfrm>
            <a:off x="6793992" y="457200"/>
            <a:ext cx="4572000" cy="274320"/>
          </a:xfrm>
          <a:prstGeom prst="rect">
            <a:avLst/>
          </a:prstGeom>
          <a:noFill/>
          <a:ln/>
        </p:spPr>
        <p:txBody>
          <a:bodyPr wrap="square" lIns="0" tIns="0" rIns="0" bIns="0" rtlCol="0" anchor="ctr"/>
          <a:lstStyle/>
          <a:p>
            <a:pPr algn="r" indent="0" marL="0">
              <a:buNone/>
            </a:pPr>
            <a:r>
              <a:rPr lang="en-US" sz="1100" b="1" spc="250" kern="0" dirty="0">
                <a:solidFill>
                  <a:srgbClr val="7A7F72"/>
                </a:solidFill>
                <a:latin typeface="Arial" pitchFamily="34" charset="0"/>
                <a:ea typeface="Arial" pitchFamily="34" charset="-122"/>
                <a:cs typeface="Arial" pitchFamily="34" charset="-120"/>
              </a:rPr>
              <a:t>ONE DENSE FRAME, READ IN ORDER</a:t>
            </a:r>
            <a:endParaRPr lang="en-US" sz="1100" dirty="0"/>
          </a:p>
        </p:txBody>
      </p:sp>
      <p:sp>
        <p:nvSpPr>
          <p:cNvPr id="4" name="Shape 2"/>
          <p:cNvSpPr/>
          <p:nvPr/>
        </p:nvSpPr>
        <p:spPr>
          <a:xfrm>
            <a:off x="822960" y="786384"/>
            <a:ext cx="10543032" cy="0"/>
          </a:xfrm>
          <a:prstGeom prst="line">
            <a:avLst/>
          </a:prstGeom>
          <a:noFill/>
          <a:ln w="9525">
            <a:solidFill>
              <a:srgbClr val="D9D4C4"/>
            </a:solidFill>
            <a:prstDash val="solid"/>
          </a:ln>
        </p:spPr>
      </p:sp>
      <p:sp>
        <p:nvSpPr>
          <p:cNvPr id="5" name="Shape 3"/>
          <p:cNvSpPr/>
          <p:nvPr/>
        </p:nvSpPr>
        <p:spPr>
          <a:xfrm>
            <a:off x="822960" y="1097280"/>
            <a:ext cx="6309360" cy="3977640"/>
          </a:xfrm>
          <a:prstGeom prst="rect">
            <a:avLst/>
          </a:prstGeom>
          <a:solidFill>
            <a:srgbClr val="FAF8F1"/>
          </a:solidFill>
          <a:ln w="9525">
            <a:solidFill>
              <a:srgbClr val="D9D4C4"/>
            </a:solidFill>
            <a:prstDash val="solid"/>
          </a:ln>
        </p:spPr>
      </p:sp>
      <p:pic>
        <p:nvPicPr>
          <p:cNvPr id="6" name="Image 0" descr="/Users/dogan/Documents/Vaults/Courses/wiki/classes/media-studies/decks/_build/img/adolescence-interview.jpg">    </p:cNvPr>
          <p:cNvPicPr>
            <a:picLocks noChangeAspect="1"/>
          </p:cNvPicPr>
          <p:nvPr/>
        </p:nvPicPr>
        <p:blipFill>
          <a:blip r:embed="rId1"/>
          <a:stretch>
            <a:fillRect/>
          </a:stretch>
        </p:blipFill>
        <p:spPr>
          <a:xfrm>
            <a:off x="950976" y="1564175"/>
            <a:ext cx="6053328" cy="3043850"/>
          </a:xfrm>
          <a:prstGeom prst="rect">
            <a:avLst/>
          </a:prstGeom>
        </p:spPr>
      </p:pic>
      <p:sp>
        <p:nvSpPr>
          <p:cNvPr id="7" name="Text 4"/>
          <p:cNvSpPr/>
          <p:nvPr/>
        </p:nvSpPr>
        <p:spPr>
          <a:xfrm>
            <a:off x="822960" y="5120640"/>
            <a:ext cx="6309360" cy="274320"/>
          </a:xfrm>
          <a:prstGeom prst="rect">
            <a:avLst/>
          </a:prstGeom>
          <a:noFill/>
          <a:ln/>
        </p:spPr>
        <p:txBody>
          <a:bodyPr wrap="square" lIns="0" tIns="0" rIns="0" bIns="0" rtlCol="0" anchor="ctr"/>
          <a:lstStyle/>
          <a:p>
            <a:pPr algn="ctr" indent="0" marL="0">
              <a:buNone/>
            </a:pPr>
            <a:r>
              <a:rPr lang="en-US" sz="950" dirty="0">
                <a:solidFill>
                  <a:srgbClr val="7A7F72"/>
                </a:solidFill>
                <a:latin typeface="Arial" pitchFamily="34" charset="0"/>
                <a:ea typeface="Arial" pitchFamily="34" charset="-122"/>
                <a:cs typeface="Arial" pitchFamily="34" charset="-120"/>
              </a:rPr>
              <a:t>Adolescence (Netflix, 2025): the interview room</a:t>
            </a:r>
            <a:endParaRPr lang="en-US" sz="950" dirty="0"/>
          </a:p>
        </p:txBody>
      </p:sp>
      <p:sp>
        <p:nvSpPr>
          <p:cNvPr id="8" name="Text 5"/>
          <p:cNvSpPr/>
          <p:nvPr/>
        </p:nvSpPr>
        <p:spPr>
          <a:xfrm>
            <a:off x="7452360" y="1188720"/>
            <a:ext cx="1600200" cy="685800"/>
          </a:xfrm>
          <a:prstGeom prst="rect">
            <a:avLst/>
          </a:prstGeom>
          <a:noFill/>
          <a:ln/>
        </p:spPr>
        <p:txBody>
          <a:bodyPr wrap="square" lIns="0" tIns="0" rIns="0" bIns="0" rtlCol="0" anchor="t"/>
          <a:lstStyle/>
          <a:p>
            <a:pPr indent="0" marL="0">
              <a:buNone/>
            </a:pPr>
            <a:r>
              <a:rPr lang="en-US" sz="1100" b="1" spc="50" kern="0" dirty="0">
                <a:solidFill>
                  <a:srgbClr val="4A6B5D"/>
                </a:solidFill>
                <a:latin typeface="Arial" pitchFamily="34" charset="0"/>
                <a:ea typeface="Arial" pitchFamily="34" charset="-122"/>
                <a:cs typeface="Arial" pitchFamily="34" charset="-120"/>
              </a:rPr>
              <a:t>1 Framing</a:t>
            </a:r>
            <a:endParaRPr lang="en-US" sz="1100" dirty="0"/>
          </a:p>
        </p:txBody>
      </p:sp>
      <p:sp>
        <p:nvSpPr>
          <p:cNvPr id="9" name="Text 6"/>
          <p:cNvSpPr/>
          <p:nvPr/>
        </p:nvSpPr>
        <p:spPr>
          <a:xfrm>
            <a:off x="9052560" y="1188720"/>
            <a:ext cx="2331720" cy="685800"/>
          </a:xfrm>
          <a:prstGeom prst="rect">
            <a:avLst/>
          </a:prstGeom>
          <a:noFill/>
          <a:ln/>
        </p:spPr>
        <p:txBody>
          <a:bodyPr wrap="square" lIns="0" tIns="0" rIns="0" bIns="0" rtlCol="0" anchor="t"/>
          <a:lstStyle/>
          <a:p>
            <a:pPr indent="0" marL="0">
              <a:lnSpc>
                <a:spcPts val="1500"/>
              </a:lnSpc>
              <a:buNone/>
            </a:pPr>
            <a:r>
              <a:rPr lang="en-US" sz="1200" dirty="0">
                <a:solidFill>
                  <a:srgbClr val="24313F"/>
                </a:solidFill>
                <a:latin typeface="Georgia" pitchFamily="34" charset="0"/>
                <a:ea typeface="Georgia" pitchFamily="34" charset="-122"/>
                <a:cs typeface="Georgia" pitchFamily="34" charset="-120"/>
              </a:rPr>
              <a:t>three figures, a table, an empty corner</a:t>
            </a:r>
            <a:endParaRPr lang="en-US" sz="1200" dirty="0"/>
          </a:p>
        </p:txBody>
      </p:sp>
      <p:sp>
        <p:nvSpPr>
          <p:cNvPr id="10" name="Text 7"/>
          <p:cNvSpPr/>
          <p:nvPr/>
        </p:nvSpPr>
        <p:spPr>
          <a:xfrm>
            <a:off x="7452360" y="1938528"/>
            <a:ext cx="1600200" cy="685800"/>
          </a:xfrm>
          <a:prstGeom prst="rect">
            <a:avLst/>
          </a:prstGeom>
          <a:noFill/>
          <a:ln/>
        </p:spPr>
        <p:txBody>
          <a:bodyPr wrap="square" lIns="0" tIns="0" rIns="0" bIns="0" rtlCol="0" anchor="t"/>
          <a:lstStyle/>
          <a:p>
            <a:pPr indent="0" marL="0">
              <a:buNone/>
            </a:pPr>
            <a:r>
              <a:rPr lang="en-US" sz="1100" b="1" spc="50" kern="0" dirty="0">
                <a:solidFill>
                  <a:srgbClr val="4A6B5D"/>
                </a:solidFill>
                <a:latin typeface="Arial" pitchFamily="34" charset="0"/>
                <a:ea typeface="Arial" pitchFamily="34" charset="-122"/>
                <a:cs typeface="Arial" pitchFamily="34" charset="-120"/>
              </a:rPr>
              <a:t>2 Camera</a:t>
            </a:r>
            <a:endParaRPr lang="en-US" sz="1100" dirty="0"/>
          </a:p>
        </p:txBody>
      </p:sp>
      <p:sp>
        <p:nvSpPr>
          <p:cNvPr id="11" name="Text 8"/>
          <p:cNvSpPr/>
          <p:nvPr/>
        </p:nvSpPr>
        <p:spPr>
          <a:xfrm>
            <a:off x="9052560" y="1938528"/>
            <a:ext cx="2331720" cy="685800"/>
          </a:xfrm>
          <a:prstGeom prst="rect">
            <a:avLst/>
          </a:prstGeom>
          <a:noFill/>
          <a:ln/>
        </p:spPr>
        <p:txBody>
          <a:bodyPr wrap="square" lIns="0" tIns="0" rIns="0" bIns="0" rtlCol="0" anchor="t"/>
          <a:lstStyle/>
          <a:p>
            <a:pPr indent="0" marL="0">
              <a:lnSpc>
                <a:spcPts val="1500"/>
              </a:lnSpc>
              <a:buNone/>
            </a:pPr>
            <a:r>
              <a:rPr lang="en-US" sz="1200" dirty="0">
                <a:solidFill>
                  <a:srgbClr val="24313F"/>
                </a:solidFill>
                <a:latin typeface="Georgia" pitchFamily="34" charset="0"/>
                <a:ea typeface="Georgia" pitchFamily="34" charset="-122"/>
                <a:cs typeface="Georgia" pitchFamily="34" charset="-120"/>
              </a:rPr>
              <a:t>wide, eye level, static: procedure</a:t>
            </a:r>
            <a:endParaRPr lang="en-US" sz="1200" dirty="0"/>
          </a:p>
        </p:txBody>
      </p:sp>
      <p:sp>
        <p:nvSpPr>
          <p:cNvPr id="12" name="Text 9"/>
          <p:cNvSpPr/>
          <p:nvPr/>
        </p:nvSpPr>
        <p:spPr>
          <a:xfrm>
            <a:off x="7452360" y="2688336"/>
            <a:ext cx="1600200" cy="685800"/>
          </a:xfrm>
          <a:prstGeom prst="rect">
            <a:avLst/>
          </a:prstGeom>
          <a:noFill/>
          <a:ln/>
        </p:spPr>
        <p:txBody>
          <a:bodyPr wrap="square" lIns="0" tIns="0" rIns="0" bIns="0" rtlCol="0" anchor="t"/>
          <a:lstStyle/>
          <a:p>
            <a:pPr indent="0" marL="0">
              <a:buNone/>
            </a:pPr>
            <a:r>
              <a:rPr lang="en-US" sz="1100" b="1" spc="50" kern="0" dirty="0">
                <a:solidFill>
                  <a:srgbClr val="4A6B5D"/>
                </a:solidFill>
                <a:latin typeface="Arial" pitchFamily="34" charset="0"/>
                <a:ea typeface="Arial" pitchFamily="34" charset="-122"/>
                <a:cs typeface="Arial" pitchFamily="34" charset="-120"/>
              </a:rPr>
              <a:t>3 Light</a:t>
            </a:r>
            <a:endParaRPr lang="en-US" sz="1100" dirty="0"/>
          </a:p>
        </p:txBody>
      </p:sp>
      <p:sp>
        <p:nvSpPr>
          <p:cNvPr id="13" name="Text 10"/>
          <p:cNvSpPr/>
          <p:nvPr/>
        </p:nvSpPr>
        <p:spPr>
          <a:xfrm>
            <a:off x="9052560" y="2688336"/>
            <a:ext cx="2331720" cy="685800"/>
          </a:xfrm>
          <a:prstGeom prst="rect">
            <a:avLst/>
          </a:prstGeom>
          <a:noFill/>
          <a:ln/>
        </p:spPr>
        <p:txBody>
          <a:bodyPr wrap="square" lIns="0" tIns="0" rIns="0" bIns="0" rtlCol="0" anchor="t"/>
          <a:lstStyle/>
          <a:p>
            <a:pPr indent="0" marL="0">
              <a:lnSpc>
                <a:spcPts val="1500"/>
              </a:lnSpc>
              <a:buNone/>
            </a:pPr>
            <a:r>
              <a:rPr lang="en-US" sz="1200" dirty="0">
                <a:solidFill>
                  <a:srgbClr val="24313F"/>
                </a:solidFill>
                <a:latin typeface="Georgia" pitchFamily="34" charset="0"/>
                <a:ea typeface="Georgia" pitchFamily="34" charset="-122"/>
                <a:cs typeface="Georgia" pitchFamily="34" charset="-120"/>
              </a:rPr>
              <a:t>cold, even, institutional</a:t>
            </a:r>
            <a:endParaRPr lang="en-US" sz="1200" dirty="0"/>
          </a:p>
        </p:txBody>
      </p:sp>
      <p:sp>
        <p:nvSpPr>
          <p:cNvPr id="14" name="Text 11"/>
          <p:cNvSpPr/>
          <p:nvPr/>
        </p:nvSpPr>
        <p:spPr>
          <a:xfrm>
            <a:off x="7452360" y="3438144"/>
            <a:ext cx="1600200" cy="685800"/>
          </a:xfrm>
          <a:prstGeom prst="rect">
            <a:avLst/>
          </a:prstGeom>
          <a:noFill/>
          <a:ln/>
        </p:spPr>
        <p:txBody>
          <a:bodyPr wrap="square" lIns="0" tIns="0" rIns="0" bIns="0" rtlCol="0" anchor="t"/>
          <a:lstStyle/>
          <a:p>
            <a:pPr indent="0" marL="0">
              <a:buNone/>
            </a:pPr>
            <a:r>
              <a:rPr lang="en-US" sz="1100" b="1" spc="50" kern="0" dirty="0">
                <a:solidFill>
                  <a:srgbClr val="4A6B5D"/>
                </a:solidFill>
                <a:latin typeface="Arial" pitchFamily="34" charset="0"/>
                <a:ea typeface="Arial" pitchFamily="34" charset="-122"/>
                <a:cs typeface="Arial" pitchFamily="34" charset="-120"/>
              </a:rPr>
              <a:t>4 Mise-en-scene</a:t>
            </a:r>
            <a:endParaRPr lang="en-US" sz="1100" dirty="0"/>
          </a:p>
        </p:txBody>
      </p:sp>
      <p:sp>
        <p:nvSpPr>
          <p:cNvPr id="15" name="Text 12"/>
          <p:cNvSpPr/>
          <p:nvPr/>
        </p:nvSpPr>
        <p:spPr>
          <a:xfrm>
            <a:off x="9052560" y="3438144"/>
            <a:ext cx="2331720" cy="685800"/>
          </a:xfrm>
          <a:prstGeom prst="rect">
            <a:avLst/>
          </a:prstGeom>
          <a:noFill/>
          <a:ln/>
        </p:spPr>
        <p:txBody>
          <a:bodyPr wrap="square" lIns="0" tIns="0" rIns="0" bIns="0" rtlCol="0" anchor="t"/>
          <a:lstStyle/>
          <a:p>
            <a:pPr indent="0" marL="0">
              <a:lnSpc>
                <a:spcPts val="1500"/>
              </a:lnSpc>
              <a:buNone/>
            </a:pPr>
            <a:r>
              <a:rPr lang="en-US" sz="1200" dirty="0">
                <a:solidFill>
                  <a:srgbClr val="24313F"/>
                </a:solidFill>
                <a:latin typeface="Georgia" pitchFamily="34" charset="0"/>
                <a:ea typeface="Georgia" pitchFamily="34" charset="-122"/>
                <a:cs typeface="Georgia" pitchFamily="34" charset="-120"/>
              </a:rPr>
              <a:t>the notice, the forms, the sweatshirt</a:t>
            </a:r>
            <a:endParaRPr lang="en-US" sz="1200" dirty="0"/>
          </a:p>
        </p:txBody>
      </p:sp>
      <p:sp>
        <p:nvSpPr>
          <p:cNvPr id="16" name="Text 13"/>
          <p:cNvSpPr/>
          <p:nvPr/>
        </p:nvSpPr>
        <p:spPr>
          <a:xfrm>
            <a:off x="7452360" y="4187952"/>
            <a:ext cx="1600200" cy="685800"/>
          </a:xfrm>
          <a:prstGeom prst="rect">
            <a:avLst/>
          </a:prstGeom>
          <a:noFill/>
          <a:ln/>
        </p:spPr>
        <p:txBody>
          <a:bodyPr wrap="square" lIns="0" tIns="0" rIns="0" bIns="0" rtlCol="0" anchor="t"/>
          <a:lstStyle/>
          <a:p>
            <a:pPr indent="0" marL="0">
              <a:buNone/>
            </a:pPr>
            <a:r>
              <a:rPr lang="en-US" sz="1100" b="1" spc="50" kern="0" dirty="0">
                <a:solidFill>
                  <a:srgbClr val="4A6B5D"/>
                </a:solidFill>
                <a:latin typeface="Arial" pitchFamily="34" charset="0"/>
                <a:ea typeface="Arial" pitchFamily="34" charset="-122"/>
                <a:cs typeface="Arial" pitchFamily="34" charset="-120"/>
              </a:rPr>
              <a:t>5 Sound</a:t>
            </a:r>
            <a:endParaRPr lang="en-US" sz="1100" dirty="0"/>
          </a:p>
        </p:txBody>
      </p:sp>
      <p:sp>
        <p:nvSpPr>
          <p:cNvPr id="17" name="Text 14"/>
          <p:cNvSpPr/>
          <p:nvPr/>
        </p:nvSpPr>
        <p:spPr>
          <a:xfrm>
            <a:off x="9052560" y="4187952"/>
            <a:ext cx="2331720" cy="685800"/>
          </a:xfrm>
          <a:prstGeom prst="rect">
            <a:avLst/>
          </a:prstGeom>
          <a:noFill/>
          <a:ln/>
        </p:spPr>
        <p:txBody>
          <a:bodyPr wrap="square" lIns="0" tIns="0" rIns="0" bIns="0" rtlCol="0" anchor="t"/>
          <a:lstStyle/>
          <a:p>
            <a:pPr indent="0" marL="0">
              <a:lnSpc>
                <a:spcPts val="1500"/>
              </a:lnSpc>
              <a:buNone/>
            </a:pPr>
            <a:r>
              <a:rPr lang="en-US" sz="1200" dirty="0">
                <a:solidFill>
                  <a:srgbClr val="24313F"/>
                </a:solidFill>
                <a:latin typeface="Georgia" pitchFamily="34" charset="0"/>
                <a:ea typeface="Georgia" pitchFamily="34" charset="-122"/>
                <a:cs typeface="Georgia" pitchFamily="34" charset="-120"/>
              </a:rPr>
              <a:t>a still cannot show it: name that too</a:t>
            </a:r>
            <a:endParaRPr lang="en-US" sz="1200" dirty="0"/>
          </a:p>
        </p:txBody>
      </p:sp>
      <p:sp>
        <p:nvSpPr>
          <p:cNvPr id="18" name="Text 15"/>
          <p:cNvSpPr/>
          <p:nvPr/>
        </p:nvSpPr>
        <p:spPr>
          <a:xfrm>
            <a:off x="7452360" y="4937760"/>
            <a:ext cx="1600200" cy="685800"/>
          </a:xfrm>
          <a:prstGeom prst="rect">
            <a:avLst/>
          </a:prstGeom>
          <a:noFill/>
          <a:ln/>
        </p:spPr>
        <p:txBody>
          <a:bodyPr wrap="square" lIns="0" tIns="0" rIns="0" bIns="0" rtlCol="0" anchor="t"/>
          <a:lstStyle/>
          <a:p>
            <a:pPr indent="0" marL="0">
              <a:buNone/>
            </a:pPr>
            <a:r>
              <a:rPr lang="en-US" sz="1100" b="1" spc="50" kern="0" dirty="0">
                <a:solidFill>
                  <a:srgbClr val="4A6B5D"/>
                </a:solidFill>
                <a:latin typeface="Arial" pitchFamily="34" charset="0"/>
                <a:ea typeface="Arial" pitchFamily="34" charset="-122"/>
                <a:cs typeface="Arial" pitchFamily="34" charset="-120"/>
              </a:rPr>
              <a:t>6 Edit</a:t>
            </a:r>
            <a:endParaRPr lang="en-US" sz="1100" dirty="0"/>
          </a:p>
        </p:txBody>
      </p:sp>
      <p:sp>
        <p:nvSpPr>
          <p:cNvPr id="19" name="Text 16"/>
          <p:cNvSpPr/>
          <p:nvPr/>
        </p:nvSpPr>
        <p:spPr>
          <a:xfrm>
            <a:off x="9052560" y="4937760"/>
            <a:ext cx="2331720" cy="685800"/>
          </a:xfrm>
          <a:prstGeom prst="rect">
            <a:avLst/>
          </a:prstGeom>
          <a:noFill/>
          <a:ln/>
        </p:spPr>
        <p:txBody>
          <a:bodyPr wrap="square" lIns="0" tIns="0" rIns="0" bIns="0" rtlCol="0" anchor="t"/>
          <a:lstStyle/>
          <a:p>
            <a:pPr indent="0" marL="0">
              <a:lnSpc>
                <a:spcPts val="1500"/>
              </a:lnSpc>
              <a:buNone/>
            </a:pPr>
            <a:r>
              <a:rPr lang="en-US" sz="1200" dirty="0">
                <a:solidFill>
                  <a:srgbClr val="24313F"/>
                </a:solidFill>
                <a:latin typeface="Georgia" pitchFamily="34" charset="0"/>
                <a:ea typeface="Georgia" pitchFamily="34" charset="-122"/>
                <a:cs typeface="Georgia" pitchFamily="34" charset="-120"/>
              </a:rPr>
              <a:t>one take; the reframings do the cutting</a:t>
            </a:r>
            <a:endParaRPr lang="en-US" sz="1200" dirty="0"/>
          </a:p>
        </p:txBody>
      </p:sp>
      <p:sp>
        <p:nvSpPr>
          <p:cNvPr id="20" name="Shape 17"/>
          <p:cNvSpPr/>
          <p:nvPr/>
        </p:nvSpPr>
        <p:spPr>
          <a:xfrm>
            <a:off x="822960" y="5623560"/>
            <a:ext cx="914400" cy="0"/>
          </a:xfrm>
          <a:prstGeom prst="line">
            <a:avLst/>
          </a:prstGeom>
          <a:noFill/>
          <a:ln w="31750">
            <a:solidFill>
              <a:srgbClr val="8C3A38"/>
            </a:solidFill>
            <a:prstDash val="solid"/>
          </a:ln>
        </p:spPr>
      </p:sp>
      <p:sp>
        <p:nvSpPr>
          <p:cNvPr id="21" name="Text 18"/>
          <p:cNvSpPr/>
          <p:nvPr/>
        </p:nvSpPr>
        <p:spPr>
          <a:xfrm>
            <a:off x="822960" y="5760720"/>
            <a:ext cx="10543032" cy="320040"/>
          </a:xfrm>
          <a:prstGeom prst="rect">
            <a:avLst/>
          </a:prstGeom>
          <a:noFill/>
          <a:ln/>
        </p:spPr>
        <p:txBody>
          <a:bodyPr wrap="square" lIns="0" tIns="0" rIns="0" bIns="0" rtlCol="0" anchor="t"/>
          <a:lstStyle/>
          <a:p>
            <a:pPr indent="0" marL="0">
              <a:lnSpc>
                <a:spcPts val="1800"/>
              </a:lnSpc>
              <a:buNone/>
            </a:pPr>
            <a:r>
              <a:rPr lang="en-US" sz="1150" b="1" spc="100" kern="0" dirty="0">
                <a:solidFill>
                  <a:srgbClr val="4A6B5D"/>
                </a:solidFill>
                <a:latin typeface="Arial" pitchFamily="34" charset="0"/>
                <a:ea typeface="Arial" pitchFamily="34" charset="-122"/>
                <a:cs typeface="Arial" pitchFamily="34" charset="-120"/>
              </a:rPr>
              <a:t>KEY POINT   </a:t>
            </a:r>
            <a:pPr indent="0" marL="0">
              <a:lnSpc>
                <a:spcPts val="1800"/>
              </a:lnSpc>
              <a:buNone/>
            </a:pPr>
            <a:r>
              <a:rPr lang="en-US" sz="1350" i="1" dirty="0">
                <a:solidFill>
                  <a:srgbClr val="4A6B5D"/>
                </a:solidFill>
                <a:latin typeface="Georgia" pitchFamily="34" charset="0"/>
                <a:ea typeface="Georgia" pitchFamily="34" charset="-122"/>
                <a:cs typeface="Georgia" pitchFamily="34" charset="-120"/>
              </a:rPr>
              <a:t>Systematic reading is a habit, not a talent. Same order, every text, every time.</a:t>
            </a:r>
            <a:endParaRPr lang="en-US" sz="1150" dirty="0"/>
          </a:p>
        </p:txBody>
      </p:sp>
      <p:sp>
        <p:nvSpPr>
          <p:cNvPr id="22" name="Shape 19"/>
          <p:cNvSpPr/>
          <p:nvPr/>
        </p:nvSpPr>
        <p:spPr>
          <a:xfrm>
            <a:off x="822960" y="6382512"/>
            <a:ext cx="10543032" cy="0"/>
          </a:xfrm>
          <a:prstGeom prst="line">
            <a:avLst/>
          </a:prstGeom>
          <a:noFill/>
          <a:ln w="9525">
            <a:solidFill>
              <a:srgbClr val="D9D4C4"/>
            </a:solidFill>
            <a:prstDash val="solid"/>
          </a:ln>
        </p:spPr>
      </p:sp>
      <p:sp>
        <p:nvSpPr>
          <p:cNvPr id="23" name="Text 20"/>
          <p:cNvSpPr/>
          <p:nvPr/>
        </p:nvSpPr>
        <p:spPr>
          <a:xfrm>
            <a:off x="822960" y="6419088"/>
            <a:ext cx="7315200" cy="274320"/>
          </a:xfrm>
          <a:prstGeom prst="rect">
            <a:avLst/>
          </a:prstGeom>
          <a:noFill/>
          <a:ln/>
        </p:spPr>
        <p:txBody>
          <a:bodyPr wrap="square" lIns="0" tIns="0" rIns="0" bIns="0" rtlCol="0" anchor="ctr"/>
          <a:lstStyle/>
          <a:p>
            <a:pPr indent="0" marL="0">
              <a:buNone/>
            </a:pPr>
            <a:r>
              <a:rPr lang="en-US" sz="900" spc="150" kern="0" dirty="0">
                <a:solidFill>
                  <a:srgbClr val="7A7F72"/>
                </a:solidFill>
                <a:latin typeface="Arial" pitchFamily="34" charset="0"/>
                <a:ea typeface="Arial" pitchFamily="34" charset="-122"/>
                <a:cs typeface="Arial" pitchFamily="34" charset="-120"/>
              </a:rPr>
              <a:t>MEDIA STUDIES 9607 · SEMESTER I</a:t>
            </a:r>
            <a:endParaRPr lang="en-US" sz="900" dirty="0"/>
          </a:p>
        </p:txBody>
      </p:sp>
      <p:sp>
        <p:nvSpPr>
          <p:cNvPr id="24" name="Text 21"/>
          <p:cNvSpPr/>
          <p:nvPr/>
        </p:nvSpPr>
        <p:spPr>
          <a:xfrm>
            <a:off x="10268712" y="6355080"/>
            <a:ext cx="1097280" cy="365760"/>
          </a:xfrm>
          <a:prstGeom prst="rect">
            <a:avLst/>
          </a:prstGeom>
          <a:noFill/>
          <a:ln/>
        </p:spPr>
        <p:txBody>
          <a:bodyPr wrap="square" lIns="0" tIns="0" rIns="0" bIns="0" rtlCol="0" anchor="ctr"/>
          <a:lstStyle/>
          <a:p>
            <a:pPr algn="r" indent="0" marL="0">
              <a:buNone/>
            </a:pPr>
            <a:r>
              <a:rPr lang="en-US" sz="1600" dirty="0">
                <a:solidFill>
                  <a:srgbClr val="A3C1AD"/>
                </a:solidFill>
                <a:latin typeface="Georgia" pitchFamily="34" charset="0"/>
                <a:ea typeface="Georgia" pitchFamily="34" charset="-122"/>
                <a:cs typeface="Georgia" pitchFamily="34" charset="-120"/>
              </a:rPr>
              <a:t>03</a:t>
            </a:r>
            <a:endParaRPr lang="en-US" sz="16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AF8F1"/>
        </a:solidFill>
      </p:bgPr>
    </p:bg>
    <p:spTree>
      <p:nvGrpSpPr>
        <p:cNvPr id="1" name=""/>
        <p:cNvGrpSpPr/>
        <p:nvPr/>
      </p:nvGrpSpPr>
      <p:grpSpPr>
        <a:xfrm>
          <a:off x="0" y="0"/>
          <a:ext cx="0" cy="0"/>
          <a:chOff x="0" y="0"/>
          <a:chExt cx="0" cy="0"/>
        </a:xfrm>
      </p:grpSpPr>
      <p:sp>
        <p:nvSpPr>
          <p:cNvPr id="2" name="Text 0"/>
          <p:cNvSpPr/>
          <p:nvPr/>
        </p:nvSpPr>
        <p:spPr>
          <a:xfrm>
            <a:off x="822960" y="457200"/>
            <a:ext cx="6400800" cy="274320"/>
          </a:xfrm>
          <a:prstGeom prst="rect">
            <a:avLst/>
          </a:prstGeom>
          <a:noFill/>
          <a:ln/>
        </p:spPr>
        <p:txBody>
          <a:bodyPr wrap="square" lIns="0" tIns="0" rIns="0" bIns="0" rtlCol="0" anchor="ctr"/>
          <a:lstStyle/>
          <a:p>
            <a:pPr algn="l" indent="0" marL="0">
              <a:buNone/>
            </a:pPr>
            <a:r>
              <a:rPr lang="en-US" sz="1100" b="1" spc="250" kern="0" dirty="0">
                <a:solidFill>
                  <a:srgbClr val="4A6B5D"/>
                </a:solidFill>
                <a:latin typeface="Arial" pitchFamily="34" charset="0"/>
                <a:ea typeface="Arial" pitchFamily="34" charset="-122"/>
                <a:cs typeface="Arial" pitchFamily="34" charset="-120"/>
              </a:rPr>
              <a:t>PEEM</a:t>
            </a:r>
            <a:endParaRPr lang="en-US" sz="1100" dirty="0"/>
          </a:p>
        </p:txBody>
      </p:sp>
      <p:sp>
        <p:nvSpPr>
          <p:cNvPr id="3" name="Text 1"/>
          <p:cNvSpPr/>
          <p:nvPr/>
        </p:nvSpPr>
        <p:spPr>
          <a:xfrm>
            <a:off x="6793992" y="457200"/>
            <a:ext cx="4572000" cy="274320"/>
          </a:xfrm>
          <a:prstGeom prst="rect">
            <a:avLst/>
          </a:prstGeom>
          <a:noFill/>
          <a:ln/>
        </p:spPr>
        <p:txBody>
          <a:bodyPr wrap="square" lIns="0" tIns="0" rIns="0" bIns="0" rtlCol="0" anchor="ctr"/>
          <a:lstStyle/>
          <a:p>
            <a:pPr algn="r" indent="0" marL="0">
              <a:buNone/>
            </a:pPr>
            <a:r>
              <a:rPr lang="en-US" sz="1100" b="1" spc="250" kern="0" dirty="0">
                <a:solidFill>
                  <a:srgbClr val="7A7F72"/>
                </a:solidFill>
                <a:latin typeface="Arial" pitchFamily="34" charset="0"/>
                <a:ea typeface="Arial" pitchFamily="34" charset="-122"/>
                <a:cs typeface="Arial" pitchFamily="34" charset="-120"/>
              </a:rPr>
              <a:t>THE PARAGRAPH THAT PROVES</a:t>
            </a:r>
            <a:endParaRPr lang="en-US" sz="1100" dirty="0"/>
          </a:p>
        </p:txBody>
      </p:sp>
      <p:sp>
        <p:nvSpPr>
          <p:cNvPr id="4" name="Shape 2"/>
          <p:cNvSpPr/>
          <p:nvPr/>
        </p:nvSpPr>
        <p:spPr>
          <a:xfrm>
            <a:off x="822960" y="786384"/>
            <a:ext cx="10543032" cy="0"/>
          </a:xfrm>
          <a:prstGeom prst="line">
            <a:avLst/>
          </a:prstGeom>
          <a:noFill/>
          <a:ln w="9525">
            <a:solidFill>
              <a:srgbClr val="D9D4C4"/>
            </a:solidFill>
            <a:prstDash val="solid"/>
          </a:ln>
        </p:spPr>
      </p:sp>
      <p:sp>
        <p:nvSpPr>
          <p:cNvPr id="5" name="Text 3"/>
          <p:cNvSpPr/>
          <p:nvPr/>
        </p:nvSpPr>
        <p:spPr>
          <a:xfrm>
            <a:off x="822960" y="932688"/>
            <a:ext cx="10543032" cy="640080"/>
          </a:xfrm>
          <a:prstGeom prst="rect">
            <a:avLst/>
          </a:prstGeom>
          <a:noFill/>
          <a:ln/>
        </p:spPr>
        <p:txBody>
          <a:bodyPr wrap="square" lIns="0" tIns="0" rIns="0" bIns="0" rtlCol="0" anchor="ctr"/>
          <a:lstStyle/>
          <a:p>
            <a:pPr indent="0" marL="0">
              <a:buNone/>
            </a:pPr>
            <a:r>
              <a:rPr lang="en-US" sz="3200" dirty="0">
                <a:solidFill>
                  <a:srgbClr val="24313F"/>
                </a:solidFill>
                <a:latin typeface="Georgia" pitchFamily="34" charset="0"/>
                <a:ea typeface="Georgia" pitchFamily="34" charset="-122"/>
                <a:cs typeface="Georgia" pitchFamily="34" charset="-120"/>
              </a:rPr>
              <a:t>Prove, do not assert</a:t>
            </a:r>
            <a:endParaRPr lang="en-US" sz="3200" dirty="0"/>
          </a:p>
        </p:txBody>
      </p:sp>
      <p:sp>
        <p:nvSpPr>
          <p:cNvPr id="6" name="Shape 4"/>
          <p:cNvSpPr/>
          <p:nvPr/>
        </p:nvSpPr>
        <p:spPr>
          <a:xfrm>
            <a:off x="2140839" y="3383280"/>
            <a:ext cx="7907274" cy="0"/>
          </a:xfrm>
          <a:prstGeom prst="line">
            <a:avLst/>
          </a:prstGeom>
          <a:noFill/>
          <a:ln w="19050">
            <a:solidFill>
              <a:srgbClr val="8AA394"/>
            </a:solidFill>
            <a:prstDash val="solid"/>
          </a:ln>
        </p:spPr>
      </p:sp>
      <p:sp>
        <p:nvSpPr>
          <p:cNvPr id="7" name="Text 5"/>
          <p:cNvSpPr/>
          <p:nvPr/>
        </p:nvSpPr>
        <p:spPr>
          <a:xfrm>
            <a:off x="1820799" y="3063240"/>
            <a:ext cx="640080" cy="640080"/>
          </a:xfrm>
          <a:prstGeom prst="ellipse">
            <a:avLst/>
          </a:prstGeom>
          <a:solidFill>
            <a:srgbClr val="4A6B5D"/>
          </a:solidFill>
          <a:ln/>
        </p:spPr>
        <p:txBody>
          <a:bodyPr wrap="square" lIns="0" tIns="0" rIns="0" bIns="0" rtlCol="0" anchor="ctr"/>
          <a:lstStyle/>
          <a:p>
            <a:pPr algn="ctr" indent="0" marL="0">
              <a:buNone/>
            </a:pPr>
            <a:r>
              <a:rPr lang="en-US" sz="2600" dirty="0">
                <a:solidFill>
                  <a:srgbClr val="FAF8F1"/>
                </a:solidFill>
                <a:latin typeface="Georgia" pitchFamily="34" charset="0"/>
                <a:ea typeface="Georgia" pitchFamily="34" charset="-122"/>
                <a:cs typeface="Georgia" pitchFamily="34" charset="-120"/>
              </a:rPr>
              <a:t>P</a:t>
            </a:r>
            <a:endParaRPr lang="en-US" sz="2600" dirty="0"/>
          </a:p>
        </p:txBody>
      </p:sp>
      <p:sp>
        <p:nvSpPr>
          <p:cNvPr id="8" name="Text 6"/>
          <p:cNvSpPr/>
          <p:nvPr/>
        </p:nvSpPr>
        <p:spPr>
          <a:xfrm>
            <a:off x="914400" y="2286000"/>
            <a:ext cx="2452878" cy="548640"/>
          </a:xfrm>
          <a:prstGeom prst="rect">
            <a:avLst/>
          </a:prstGeom>
          <a:noFill/>
          <a:ln/>
        </p:spPr>
        <p:txBody>
          <a:bodyPr wrap="square" lIns="0" tIns="0" rIns="0" bIns="0" rtlCol="0" anchor="b"/>
          <a:lstStyle/>
          <a:p>
            <a:pPr algn="ctr" indent="0" marL="0">
              <a:buNone/>
            </a:pPr>
            <a:r>
              <a:rPr lang="en-US" sz="2200" dirty="0">
                <a:solidFill>
                  <a:srgbClr val="24313F"/>
                </a:solidFill>
                <a:latin typeface="Georgia" pitchFamily="34" charset="0"/>
                <a:ea typeface="Georgia" pitchFamily="34" charset="-122"/>
                <a:cs typeface="Georgia" pitchFamily="34" charset="-120"/>
              </a:rPr>
              <a:t>Point</a:t>
            </a:r>
            <a:endParaRPr lang="en-US" sz="2200" dirty="0"/>
          </a:p>
        </p:txBody>
      </p:sp>
      <p:sp>
        <p:nvSpPr>
          <p:cNvPr id="9" name="Text 7"/>
          <p:cNvSpPr/>
          <p:nvPr/>
        </p:nvSpPr>
        <p:spPr>
          <a:xfrm>
            <a:off x="960120" y="3931920"/>
            <a:ext cx="2361438" cy="914400"/>
          </a:xfrm>
          <a:prstGeom prst="rect">
            <a:avLst/>
          </a:prstGeom>
          <a:noFill/>
          <a:ln/>
        </p:spPr>
        <p:txBody>
          <a:bodyPr wrap="square" lIns="0" tIns="0" rIns="0" bIns="0" rtlCol="0" anchor="t"/>
          <a:lstStyle/>
          <a:p>
            <a:pPr algn="ctr" indent="0" marL="0">
              <a:lnSpc>
                <a:spcPts val="1800"/>
              </a:lnSpc>
              <a:buNone/>
            </a:pPr>
            <a:r>
              <a:rPr lang="en-US" sz="1400" dirty="0">
                <a:solidFill>
                  <a:srgbClr val="24313F"/>
                </a:solidFill>
                <a:latin typeface="Georgia" pitchFamily="34" charset="0"/>
                <a:ea typeface="Georgia" pitchFamily="34" charset="-122"/>
                <a:cs typeface="Georgia" pitchFamily="34" charset="-120"/>
              </a:rPr>
              <a:t>the claim you are making</a:t>
            </a:r>
            <a:endParaRPr lang="en-US" sz="1400" dirty="0"/>
          </a:p>
        </p:txBody>
      </p:sp>
      <p:sp>
        <p:nvSpPr>
          <p:cNvPr id="10" name="Text 8"/>
          <p:cNvSpPr/>
          <p:nvPr/>
        </p:nvSpPr>
        <p:spPr>
          <a:xfrm>
            <a:off x="4456557" y="3063240"/>
            <a:ext cx="640080" cy="640080"/>
          </a:xfrm>
          <a:prstGeom prst="ellipse">
            <a:avLst/>
          </a:prstGeom>
          <a:solidFill>
            <a:srgbClr val="4A6B5D"/>
          </a:solidFill>
          <a:ln/>
        </p:spPr>
        <p:txBody>
          <a:bodyPr wrap="square" lIns="0" tIns="0" rIns="0" bIns="0" rtlCol="0" anchor="ctr"/>
          <a:lstStyle/>
          <a:p>
            <a:pPr algn="ctr" indent="0" marL="0">
              <a:buNone/>
            </a:pPr>
            <a:r>
              <a:rPr lang="en-US" sz="2600" dirty="0">
                <a:solidFill>
                  <a:srgbClr val="FAF8F1"/>
                </a:solidFill>
                <a:latin typeface="Georgia" pitchFamily="34" charset="0"/>
                <a:ea typeface="Georgia" pitchFamily="34" charset="-122"/>
                <a:cs typeface="Georgia" pitchFamily="34" charset="-120"/>
              </a:rPr>
              <a:t>E</a:t>
            </a:r>
            <a:endParaRPr lang="en-US" sz="2600" dirty="0"/>
          </a:p>
        </p:txBody>
      </p:sp>
      <p:sp>
        <p:nvSpPr>
          <p:cNvPr id="11" name="Text 9"/>
          <p:cNvSpPr/>
          <p:nvPr/>
        </p:nvSpPr>
        <p:spPr>
          <a:xfrm>
            <a:off x="3550158" y="2286000"/>
            <a:ext cx="2452878" cy="548640"/>
          </a:xfrm>
          <a:prstGeom prst="rect">
            <a:avLst/>
          </a:prstGeom>
          <a:noFill/>
          <a:ln/>
        </p:spPr>
        <p:txBody>
          <a:bodyPr wrap="square" lIns="0" tIns="0" rIns="0" bIns="0" rtlCol="0" anchor="b"/>
          <a:lstStyle/>
          <a:p>
            <a:pPr algn="ctr" indent="0" marL="0">
              <a:buNone/>
            </a:pPr>
            <a:r>
              <a:rPr lang="en-US" sz="2200" dirty="0">
                <a:solidFill>
                  <a:srgbClr val="24313F"/>
                </a:solidFill>
                <a:latin typeface="Georgia" pitchFamily="34" charset="0"/>
                <a:ea typeface="Georgia" pitchFamily="34" charset="-122"/>
                <a:cs typeface="Georgia" pitchFamily="34" charset="-120"/>
              </a:rPr>
              <a:t>Evidence</a:t>
            </a:r>
            <a:endParaRPr lang="en-US" sz="2200" dirty="0"/>
          </a:p>
        </p:txBody>
      </p:sp>
      <p:sp>
        <p:nvSpPr>
          <p:cNvPr id="12" name="Text 10"/>
          <p:cNvSpPr/>
          <p:nvPr/>
        </p:nvSpPr>
        <p:spPr>
          <a:xfrm>
            <a:off x="3595878" y="3931920"/>
            <a:ext cx="2361438" cy="914400"/>
          </a:xfrm>
          <a:prstGeom prst="rect">
            <a:avLst/>
          </a:prstGeom>
          <a:noFill/>
          <a:ln/>
        </p:spPr>
        <p:txBody>
          <a:bodyPr wrap="square" lIns="0" tIns="0" rIns="0" bIns="0" rtlCol="0" anchor="t"/>
          <a:lstStyle/>
          <a:p>
            <a:pPr algn="ctr" indent="0" marL="0">
              <a:lnSpc>
                <a:spcPts val="1800"/>
              </a:lnSpc>
              <a:buNone/>
            </a:pPr>
            <a:r>
              <a:rPr lang="en-US" sz="1400" dirty="0">
                <a:solidFill>
                  <a:srgbClr val="24313F"/>
                </a:solidFill>
                <a:latin typeface="Georgia" pitchFamily="34" charset="0"/>
                <a:ea typeface="Georgia" pitchFamily="34" charset="-122"/>
                <a:cs typeface="Georgia" pitchFamily="34" charset="-120"/>
              </a:rPr>
              <a:t>pinned to a signifier in frame</a:t>
            </a:r>
            <a:endParaRPr lang="en-US" sz="1400" dirty="0"/>
          </a:p>
        </p:txBody>
      </p:sp>
      <p:sp>
        <p:nvSpPr>
          <p:cNvPr id="13" name="Text 11"/>
          <p:cNvSpPr/>
          <p:nvPr/>
        </p:nvSpPr>
        <p:spPr>
          <a:xfrm>
            <a:off x="7092315" y="3063240"/>
            <a:ext cx="640080" cy="640080"/>
          </a:xfrm>
          <a:prstGeom prst="ellipse">
            <a:avLst/>
          </a:prstGeom>
          <a:solidFill>
            <a:srgbClr val="4A6B5D"/>
          </a:solidFill>
          <a:ln/>
        </p:spPr>
        <p:txBody>
          <a:bodyPr wrap="square" lIns="0" tIns="0" rIns="0" bIns="0" rtlCol="0" anchor="ctr"/>
          <a:lstStyle/>
          <a:p>
            <a:pPr algn="ctr" indent="0" marL="0">
              <a:buNone/>
            </a:pPr>
            <a:r>
              <a:rPr lang="en-US" sz="2600" dirty="0">
                <a:solidFill>
                  <a:srgbClr val="FAF8F1"/>
                </a:solidFill>
                <a:latin typeface="Georgia" pitchFamily="34" charset="0"/>
                <a:ea typeface="Georgia" pitchFamily="34" charset="-122"/>
                <a:cs typeface="Georgia" pitchFamily="34" charset="-120"/>
              </a:rPr>
              <a:t>E</a:t>
            </a:r>
            <a:endParaRPr lang="en-US" sz="2600" dirty="0"/>
          </a:p>
        </p:txBody>
      </p:sp>
      <p:sp>
        <p:nvSpPr>
          <p:cNvPr id="14" name="Text 12"/>
          <p:cNvSpPr/>
          <p:nvPr/>
        </p:nvSpPr>
        <p:spPr>
          <a:xfrm>
            <a:off x="6185916" y="2286000"/>
            <a:ext cx="2452878" cy="548640"/>
          </a:xfrm>
          <a:prstGeom prst="rect">
            <a:avLst/>
          </a:prstGeom>
          <a:noFill/>
          <a:ln/>
        </p:spPr>
        <p:txBody>
          <a:bodyPr wrap="square" lIns="0" tIns="0" rIns="0" bIns="0" rtlCol="0" anchor="b"/>
          <a:lstStyle/>
          <a:p>
            <a:pPr algn="ctr" indent="0" marL="0">
              <a:buNone/>
            </a:pPr>
            <a:r>
              <a:rPr lang="en-US" sz="2200" dirty="0">
                <a:solidFill>
                  <a:srgbClr val="24313F"/>
                </a:solidFill>
                <a:latin typeface="Georgia" pitchFamily="34" charset="0"/>
                <a:ea typeface="Georgia" pitchFamily="34" charset="-122"/>
                <a:cs typeface="Georgia" pitchFamily="34" charset="-120"/>
              </a:rPr>
              <a:t>Effect</a:t>
            </a:r>
            <a:endParaRPr lang="en-US" sz="2200" dirty="0"/>
          </a:p>
        </p:txBody>
      </p:sp>
      <p:sp>
        <p:nvSpPr>
          <p:cNvPr id="15" name="Text 13"/>
          <p:cNvSpPr/>
          <p:nvPr/>
        </p:nvSpPr>
        <p:spPr>
          <a:xfrm>
            <a:off x="6231636" y="3931920"/>
            <a:ext cx="2361438" cy="914400"/>
          </a:xfrm>
          <a:prstGeom prst="rect">
            <a:avLst/>
          </a:prstGeom>
          <a:noFill/>
          <a:ln/>
        </p:spPr>
        <p:txBody>
          <a:bodyPr wrap="square" lIns="0" tIns="0" rIns="0" bIns="0" rtlCol="0" anchor="t"/>
          <a:lstStyle/>
          <a:p>
            <a:pPr algn="ctr" indent="0" marL="0">
              <a:lnSpc>
                <a:spcPts val="1800"/>
              </a:lnSpc>
              <a:buNone/>
            </a:pPr>
            <a:r>
              <a:rPr lang="en-US" sz="1400" dirty="0">
                <a:solidFill>
                  <a:srgbClr val="24313F"/>
                </a:solidFill>
                <a:latin typeface="Georgia" pitchFamily="34" charset="0"/>
                <a:ea typeface="Georgia" pitchFamily="34" charset="-122"/>
                <a:cs typeface="Georgia" pitchFamily="34" charset="-120"/>
              </a:rPr>
              <a:t>what it does to the viewer</a:t>
            </a:r>
            <a:endParaRPr lang="en-US" sz="1400" dirty="0"/>
          </a:p>
        </p:txBody>
      </p:sp>
      <p:sp>
        <p:nvSpPr>
          <p:cNvPr id="16" name="Text 14"/>
          <p:cNvSpPr/>
          <p:nvPr/>
        </p:nvSpPr>
        <p:spPr>
          <a:xfrm>
            <a:off x="9728073" y="3063240"/>
            <a:ext cx="640080" cy="640080"/>
          </a:xfrm>
          <a:prstGeom prst="ellipse">
            <a:avLst/>
          </a:prstGeom>
          <a:solidFill>
            <a:srgbClr val="4A6B5D"/>
          </a:solidFill>
          <a:ln/>
        </p:spPr>
        <p:txBody>
          <a:bodyPr wrap="square" lIns="0" tIns="0" rIns="0" bIns="0" rtlCol="0" anchor="ctr"/>
          <a:lstStyle/>
          <a:p>
            <a:pPr algn="ctr" indent="0" marL="0">
              <a:buNone/>
            </a:pPr>
            <a:r>
              <a:rPr lang="en-US" sz="2600" dirty="0">
                <a:solidFill>
                  <a:srgbClr val="FAF8F1"/>
                </a:solidFill>
                <a:latin typeface="Georgia" pitchFamily="34" charset="0"/>
                <a:ea typeface="Georgia" pitchFamily="34" charset="-122"/>
                <a:cs typeface="Georgia" pitchFamily="34" charset="-120"/>
              </a:rPr>
              <a:t>M</a:t>
            </a:r>
            <a:endParaRPr lang="en-US" sz="2600" dirty="0"/>
          </a:p>
        </p:txBody>
      </p:sp>
      <p:sp>
        <p:nvSpPr>
          <p:cNvPr id="17" name="Text 15"/>
          <p:cNvSpPr/>
          <p:nvPr/>
        </p:nvSpPr>
        <p:spPr>
          <a:xfrm>
            <a:off x="8821674" y="2286000"/>
            <a:ext cx="2452878" cy="548640"/>
          </a:xfrm>
          <a:prstGeom prst="rect">
            <a:avLst/>
          </a:prstGeom>
          <a:noFill/>
          <a:ln/>
        </p:spPr>
        <p:txBody>
          <a:bodyPr wrap="square" lIns="0" tIns="0" rIns="0" bIns="0" rtlCol="0" anchor="b"/>
          <a:lstStyle/>
          <a:p>
            <a:pPr algn="ctr" indent="0" marL="0">
              <a:buNone/>
            </a:pPr>
            <a:r>
              <a:rPr lang="en-US" sz="2200" dirty="0">
                <a:solidFill>
                  <a:srgbClr val="24313F"/>
                </a:solidFill>
                <a:latin typeface="Georgia" pitchFamily="34" charset="0"/>
                <a:ea typeface="Georgia" pitchFamily="34" charset="-122"/>
                <a:cs typeface="Georgia" pitchFamily="34" charset="-120"/>
              </a:rPr>
              <a:t>Meaning</a:t>
            </a:r>
            <a:endParaRPr lang="en-US" sz="2200" dirty="0"/>
          </a:p>
        </p:txBody>
      </p:sp>
      <p:sp>
        <p:nvSpPr>
          <p:cNvPr id="18" name="Text 16"/>
          <p:cNvSpPr/>
          <p:nvPr/>
        </p:nvSpPr>
        <p:spPr>
          <a:xfrm>
            <a:off x="8867394" y="3931920"/>
            <a:ext cx="2361438" cy="914400"/>
          </a:xfrm>
          <a:prstGeom prst="rect">
            <a:avLst/>
          </a:prstGeom>
          <a:noFill/>
          <a:ln/>
        </p:spPr>
        <p:txBody>
          <a:bodyPr wrap="square" lIns="0" tIns="0" rIns="0" bIns="0" rtlCol="0" anchor="t"/>
          <a:lstStyle/>
          <a:p>
            <a:pPr algn="ctr" indent="0" marL="0">
              <a:lnSpc>
                <a:spcPts val="1800"/>
              </a:lnSpc>
              <a:buNone/>
            </a:pPr>
            <a:r>
              <a:rPr lang="en-US" sz="1400" dirty="0">
                <a:solidFill>
                  <a:srgbClr val="24313F"/>
                </a:solidFill>
                <a:latin typeface="Georgia" pitchFamily="34" charset="0"/>
                <a:ea typeface="Georgia" pitchFamily="34" charset="-122"/>
                <a:cs typeface="Georgia" pitchFamily="34" charset="-120"/>
              </a:rPr>
              <a:t>tied back to the concept</a:t>
            </a:r>
            <a:endParaRPr lang="en-US" sz="1400" dirty="0"/>
          </a:p>
        </p:txBody>
      </p:sp>
      <p:sp>
        <p:nvSpPr>
          <p:cNvPr id="19" name="Text 17"/>
          <p:cNvSpPr/>
          <p:nvPr/>
        </p:nvSpPr>
        <p:spPr>
          <a:xfrm>
            <a:off x="822960" y="5212080"/>
            <a:ext cx="10543032" cy="502920"/>
          </a:xfrm>
          <a:prstGeom prst="rect">
            <a:avLst/>
          </a:prstGeom>
          <a:noFill/>
          <a:ln/>
        </p:spPr>
        <p:txBody>
          <a:bodyPr wrap="square" lIns="0" tIns="0" rIns="0" bIns="0" rtlCol="0" anchor="t"/>
          <a:lstStyle/>
          <a:p>
            <a:pPr indent="0" marL="0">
              <a:lnSpc>
                <a:spcPts val="1700"/>
              </a:lnSpc>
              <a:buNone/>
            </a:pPr>
            <a:r>
              <a:rPr lang="en-US" sz="1050" b="1" spc="100" kern="0" dirty="0">
                <a:solidFill>
                  <a:srgbClr val="4A6B5D"/>
                </a:solidFill>
                <a:latin typeface="Arial" pitchFamily="34" charset="0"/>
                <a:ea typeface="Arial" pitchFamily="34" charset="-122"/>
                <a:cs typeface="Arial" pitchFamily="34" charset="-120"/>
              </a:rPr>
              <a:t>THE PROBLEM   </a:t>
            </a:r>
            <a:pPr indent="0" marL="0">
              <a:lnSpc>
                <a:spcPts val="1700"/>
              </a:lnSpc>
              <a:buNone/>
            </a:pPr>
            <a:r>
              <a:rPr lang="en-US" sz="1250" dirty="0">
                <a:solidFill>
                  <a:srgbClr val="7A7F72"/>
                </a:solidFill>
                <a:latin typeface="Georgia" pitchFamily="34" charset="0"/>
                <a:ea typeface="Georgia" pitchFamily="34" charset="-122"/>
                <a:cs typeface="Georgia" pitchFamily="34" charset="-120"/>
              </a:rPr>
              <a:t>The most common A1 failure is assertion: a claim with no evidence, no effect, no link.</a:t>
            </a:r>
            <a:endParaRPr lang="en-US" sz="1050" dirty="0"/>
          </a:p>
          <a:p>
            <a:pPr indent="0" marL="0">
              <a:lnSpc>
                <a:spcPts val="1700"/>
              </a:lnSpc>
              <a:buNone/>
            </a:pPr>
            <a:r>
              <a:rPr lang="en-US" sz="1050" b="1" spc="100" kern="0" dirty="0">
                <a:solidFill>
                  <a:srgbClr val="4A6B5D"/>
                </a:solidFill>
                <a:latin typeface="Arial" pitchFamily="34" charset="0"/>
                <a:ea typeface="Arial" pitchFamily="34" charset="-122"/>
                <a:cs typeface="Arial" pitchFamily="34" charset="-120"/>
              </a:rPr>
              <a:t>THE FIX   </a:t>
            </a:r>
            <a:pPr indent="0" marL="0">
              <a:lnSpc>
                <a:spcPts val="1700"/>
              </a:lnSpc>
              <a:buNone/>
            </a:pPr>
            <a:r>
              <a:rPr lang="en-US" sz="1250" dirty="0">
                <a:solidFill>
                  <a:srgbClr val="7A7F72"/>
                </a:solidFill>
                <a:latin typeface="Georgia" pitchFamily="34" charset="0"/>
                <a:ea typeface="Georgia" pitchFamily="34" charset="-122"/>
                <a:cs typeface="Georgia" pitchFamily="34" charset="-120"/>
              </a:rPr>
              <a:t>PEEM. Every claim carries its evidence, its effect, and its meaning.</a:t>
            </a:r>
            <a:endParaRPr lang="en-US" sz="1050" dirty="0"/>
          </a:p>
        </p:txBody>
      </p:sp>
      <p:sp>
        <p:nvSpPr>
          <p:cNvPr id="20" name="Shape 18"/>
          <p:cNvSpPr/>
          <p:nvPr/>
        </p:nvSpPr>
        <p:spPr>
          <a:xfrm>
            <a:off x="822960" y="6382512"/>
            <a:ext cx="10543032" cy="0"/>
          </a:xfrm>
          <a:prstGeom prst="line">
            <a:avLst/>
          </a:prstGeom>
          <a:noFill/>
          <a:ln w="9525">
            <a:solidFill>
              <a:srgbClr val="D9D4C4"/>
            </a:solidFill>
            <a:prstDash val="solid"/>
          </a:ln>
        </p:spPr>
      </p:sp>
      <p:sp>
        <p:nvSpPr>
          <p:cNvPr id="21" name="Text 19"/>
          <p:cNvSpPr/>
          <p:nvPr/>
        </p:nvSpPr>
        <p:spPr>
          <a:xfrm>
            <a:off x="822960" y="6419088"/>
            <a:ext cx="7315200" cy="274320"/>
          </a:xfrm>
          <a:prstGeom prst="rect">
            <a:avLst/>
          </a:prstGeom>
          <a:noFill/>
          <a:ln/>
        </p:spPr>
        <p:txBody>
          <a:bodyPr wrap="square" lIns="0" tIns="0" rIns="0" bIns="0" rtlCol="0" anchor="ctr"/>
          <a:lstStyle/>
          <a:p>
            <a:pPr indent="0" marL="0">
              <a:buNone/>
            </a:pPr>
            <a:r>
              <a:rPr lang="en-US" sz="900" spc="150" kern="0" dirty="0">
                <a:solidFill>
                  <a:srgbClr val="7A7F72"/>
                </a:solidFill>
                <a:latin typeface="Arial" pitchFamily="34" charset="0"/>
                <a:ea typeface="Arial" pitchFamily="34" charset="-122"/>
                <a:cs typeface="Arial" pitchFamily="34" charset="-120"/>
              </a:rPr>
              <a:t>MEDIA STUDIES 9607 · SEMESTER I</a:t>
            </a:r>
            <a:endParaRPr lang="en-US" sz="900" dirty="0"/>
          </a:p>
        </p:txBody>
      </p:sp>
      <p:sp>
        <p:nvSpPr>
          <p:cNvPr id="22" name="Text 20"/>
          <p:cNvSpPr/>
          <p:nvPr/>
        </p:nvSpPr>
        <p:spPr>
          <a:xfrm>
            <a:off x="10268712" y="6355080"/>
            <a:ext cx="1097280" cy="365760"/>
          </a:xfrm>
          <a:prstGeom prst="rect">
            <a:avLst/>
          </a:prstGeom>
          <a:noFill/>
          <a:ln/>
        </p:spPr>
        <p:txBody>
          <a:bodyPr wrap="square" lIns="0" tIns="0" rIns="0" bIns="0" rtlCol="0" anchor="ctr"/>
          <a:lstStyle/>
          <a:p>
            <a:pPr algn="r" indent="0" marL="0">
              <a:buNone/>
            </a:pPr>
            <a:r>
              <a:rPr lang="en-US" sz="1600" dirty="0">
                <a:solidFill>
                  <a:srgbClr val="A3C1AD"/>
                </a:solidFill>
                <a:latin typeface="Georgia" pitchFamily="34" charset="0"/>
                <a:ea typeface="Georgia" pitchFamily="34" charset="-122"/>
                <a:cs typeface="Georgia" pitchFamily="34" charset="-120"/>
              </a:rPr>
              <a:t>04</a:t>
            </a:r>
            <a:endParaRPr lang="en-US" sz="16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AF8F1"/>
        </a:solidFill>
      </p:bgPr>
    </p:bg>
    <p:spTree>
      <p:nvGrpSpPr>
        <p:cNvPr id="1" name=""/>
        <p:cNvGrpSpPr/>
        <p:nvPr/>
      </p:nvGrpSpPr>
      <p:grpSpPr>
        <a:xfrm>
          <a:off x="0" y="0"/>
          <a:ext cx="0" cy="0"/>
          <a:chOff x="0" y="0"/>
          <a:chExt cx="0" cy="0"/>
        </a:xfrm>
      </p:grpSpPr>
      <p:sp>
        <p:nvSpPr>
          <p:cNvPr id="2" name="Text 0"/>
          <p:cNvSpPr/>
          <p:nvPr/>
        </p:nvSpPr>
        <p:spPr>
          <a:xfrm>
            <a:off x="822960" y="457200"/>
            <a:ext cx="6400800" cy="274320"/>
          </a:xfrm>
          <a:prstGeom prst="rect">
            <a:avLst/>
          </a:prstGeom>
          <a:noFill/>
          <a:ln/>
        </p:spPr>
        <p:txBody>
          <a:bodyPr wrap="square" lIns="0" tIns="0" rIns="0" bIns="0" rtlCol="0" anchor="ctr"/>
          <a:lstStyle/>
          <a:p>
            <a:pPr algn="l" indent="0" marL="0">
              <a:buNone/>
            </a:pPr>
            <a:r>
              <a:rPr lang="en-US" sz="1100" b="1" spc="250" kern="0" dirty="0">
                <a:solidFill>
                  <a:srgbClr val="4A6B5D"/>
                </a:solidFill>
                <a:latin typeface="Arial" pitchFamily="34" charset="0"/>
                <a:ea typeface="Arial" pitchFamily="34" charset="-122"/>
                <a:cs typeface="Arial" pitchFamily="34" charset="-120"/>
              </a:rPr>
              <a:t>THE DEFECT TO DIAGNOSE</a:t>
            </a:r>
            <a:endParaRPr lang="en-US" sz="1100" dirty="0"/>
          </a:p>
        </p:txBody>
      </p:sp>
      <p:sp>
        <p:nvSpPr>
          <p:cNvPr id="3" name="Text 1"/>
          <p:cNvSpPr/>
          <p:nvPr/>
        </p:nvSpPr>
        <p:spPr>
          <a:xfrm>
            <a:off x="6793992" y="457200"/>
            <a:ext cx="4572000" cy="274320"/>
          </a:xfrm>
          <a:prstGeom prst="rect">
            <a:avLst/>
          </a:prstGeom>
          <a:noFill/>
          <a:ln/>
        </p:spPr>
        <p:txBody>
          <a:bodyPr wrap="square" lIns="0" tIns="0" rIns="0" bIns="0" rtlCol="0" anchor="ctr"/>
          <a:lstStyle/>
          <a:p>
            <a:pPr algn="r" indent="0" marL="0">
              <a:buNone/>
            </a:pPr>
            <a:r>
              <a:rPr lang="en-US" sz="1100" b="1" spc="250" kern="0" dirty="0">
                <a:solidFill>
                  <a:srgbClr val="7A7F72"/>
                </a:solidFill>
                <a:latin typeface="Arial" pitchFamily="34" charset="0"/>
                <a:ea typeface="Arial" pitchFamily="34" charset="-122"/>
                <a:cs typeface="Arial" pitchFamily="34" charset="-120"/>
              </a:rPr>
              <a:t>EFFECT AND MEANING COLLAPSED INTO ONE</a:t>
            </a:r>
            <a:endParaRPr lang="en-US" sz="1100" dirty="0"/>
          </a:p>
        </p:txBody>
      </p:sp>
      <p:sp>
        <p:nvSpPr>
          <p:cNvPr id="4" name="Shape 2"/>
          <p:cNvSpPr/>
          <p:nvPr/>
        </p:nvSpPr>
        <p:spPr>
          <a:xfrm>
            <a:off x="822960" y="786384"/>
            <a:ext cx="10543032" cy="0"/>
          </a:xfrm>
          <a:prstGeom prst="line">
            <a:avLst/>
          </a:prstGeom>
          <a:noFill/>
          <a:ln w="9525">
            <a:solidFill>
              <a:srgbClr val="D9D4C4"/>
            </a:solidFill>
            <a:prstDash val="solid"/>
          </a:ln>
        </p:spPr>
      </p:sp>
      <p:sp>
        <p:nvSpPr>
          <p:cNvPr id="5" name="Text 3"/>
          <p:cNvSpPr/>
          <p:nvPr/>
        </p:nvSpPr>
        <p:spPr>
          <a:xfrm>
            <a:off x="822960" y="1005840"/>
            <a:ext cx="6309360" cy="1280160"/>
          </a:xfrm>
          <a:prstGeom prst="rect">
            <a:avLst/>
          </a:prstGeom>
          <a:noFill/>
          <a:ln/>
        </p:spPr>
        <p:txBody>
          <a:bodyPr wrap="square" lIns="0" tIns="0" rIns="0" bIns="0" rtlCol="0" anchor="t"/>
          <a:lstStyle/>
          <a:p>
            <a:pPr indent="0" marL="0">
              <a:lnSpc>
                <a:spcPts val="3400"/>
              </a:lnSpc>
              <a:buNone/>
            </a:pPr>
            <a:r>
              <a:rPr lang="en-US" sz="2800" dirty="0">
                <a:solidFill>
                  <a:srgbClr val="24313F"/>
                </a:solidFill>
                <a:latin typeface="Georgia" pitchFamily="34" charset="0"/>
                <a:ea typeface="Georgia" pitchFamily="34" charset="-122"/>
                <a:cs typeface="Georgia" pitchFamily="34" charset="-120"/>
              </a:rPr>
              <a:t>If your two sentences</a:t>
            </a:r>
            <a:endParaRPr lang="en-US" sz="2800" dirty="0"/>
          </a:p>
          <a:p>
            <a:pPr indent="0" marL="0">
              <a:lnSpc>
                <a:spcPts val="3400"/>
              </a:lnSpc>
              <a:buNone/>
            </a:pPr>
            <a:r>
              <a:rPr lang="en-US" sz="2800" dirty="0">
                <a:solidFill>
                  <a:srgbClr val="24313F"/>
                </a:solidFill>
                <a:latin typeface="Georgia" pitchFamily="34" charset="0"/>
                <a:ea typeface="Georgia" pitchFamily="34" charset="-122"/>
                <a:cs typeface="Georgia" pitchFamily="34" charset="-120"/>
              </a:rPr>
              <a:t>could swap places</a:t>
            </a:r>
            <a:endParaRPr lang="en-US" sz="2800" dirty="0"/>
          </a:p>
        </p:txBody>
      </p:sp>
      <p:sp>
        <p:nvSpPr>
          <p:cNvPr id="6" name="Shape 4"/>
          <p:cNvSpPr/>
          <p:nvPr/>
        </p:nvSpPr>
        <p:spPr>
          <a:xfrm>
            <a:off x="822960" y="2468880"/>
            <a:ext cx="6309360" cy="1234440"/>
          </a:xfrm>
          <a:prstGeom prst="rect">
            <a:avLst/>
          </a:prstGeom>
          <a:solidFill>
            <a:srgbClr val="E8EFE7"/>
          </a:solidFill>
          <a:ln/>
        </p:spPr>
      </p:sp>
      <p:sp>
        <p:nvSpPr>
          <p:cNvPr id="7" name="Text 5"/>
          <p:cNvSpPr/>
          <p:nvPr/>
        </p:nvSpPr>
        <p:spPr>
          <a:xfrm>
            <a:off x="1051560" y="2560320"/>
            <a:ext cx="5852160" cy="1005840"/>
          </a:xfrm>
          <a:prstGeom prst="rect">
            <a:avLst/>
          </a:prstGeom>
          <a:noFill/>
          <a:ln/>
        </p:spPr>
        <p:txBody>
          <a:bodyPr wrap="square" lIns="0" tIns="0" rIns="0" bIns="0" rtlCol="0" anchor="ctr"/>
          <a:lstStyle/>
          <a:p>
            <a:pPr indent="0" marL="0">
              <a:lnSpc>
                <a:spcPts val="2200"/>
              </a:lnSpc>
              <a:buNone/>
            </a:pPr>
            <a:r>
              <a:rPr lang="en-US" sz="1650" i="1" dirty="0">
                <a:solidFill>
                  <a:srgbClr val="7A7F72"/>
                </a:solidFill>
                <a:latin typeface="Georgia" pitchFamily="34" charset="0"/>
                <a:ea typeface="Georgia" pitchFamily="34" charset="-122"/>
                <a:cs typeface="Georgia" pitchFamily="34" charset="-120"/>
              </a:rPr>
              <a:t>The low angle makes him look powerful, which shows he has power in the scene.</a:t>
            </a:r>
            <a:endParaRPr lang="en-US" sz="1650" dirty="0"/>
          </a:p>
        </p:txBody>
      </p:sp>
      <p:sp>
        <p:nvSpPr>
          <p:cNvPr id="8" name="Text 6"/>
          <p:cNvSpPr/>
          <p:nvPr/>
        </p:nvSpPr>
        <p:spPr>
          <a:xfrm>
            <a:off x="822960" y="3840480"/>
            <a:ext cx="6309360" cy="502920"/>
          </a:xfrm>
          <a:prstGeom prst="rect">
            <a:avLst/>
          </a:prstGeom>
          <a:noFill/>
          <a:ln/>
        </p:spPr>
        <p:txBody>
          <a:bodyPr wrap="square" lIns="0" tIns="0" rIns="0" bIns="0" rtlCol="0" anchor="t"/>
          <a:lstStyle/>
          <a:p>
            <a:pPr indent="0" marL="0">
              <a:lnSpc>
                <a:spcPts val="1500"/>
              </a:lnSpc>
              <a:buNone/>
            </a:pPr>
            <a:r>
              <a:rPr lang="en-US" sz="1150" i="1" dirty="0">
                <a:solidFill>
                  <a:srgbClr val="7A7F72"/>
                </a:solidFill>
                <a:latin typeface="Arial" pitchFamily="34" charset="0"/>
                <a:ea typeface="Arial" pitchFamily="34" charset="-122"/>
                <a:cs typeface="Arial" pitchFamily="34" charset="-120"/>
              </a:rPr>
              <a:t>One idea, written twice. The second half adds nothing new. Mid-band scripts are full of this.</a:t>
            </a:r>
            <a:endParaRPr lang="en-US" sz="1150" dirty="0"/>
          </a:p>
        </p:txBody>
      </p:sp>
      <p:sp>
        <p:nvSpPr>
          <p:cNvPr id="9" name="Shape 7"/>
          <p:cNvSpPr/>
          <p:nvPr/>
        </p:nvSpPr>
        <p:spPr>
          <a:xfrm>
            <a:off x="822960" y="4526280"/>
            <a:ext cx="914400" cy="0"/>
          </a:xfrm>
          <a:prstGeom prst="line">
            <a:avLst/>
          </a:prstGeom>
          <a:noFill/>
          <a:ln w="31750">
            <a:solidFill>
              <a:srgbClr val="8C3A38"/>
            </a:solidFill>
            <a:prstDash val="solid"/>
          </a:ln>
        </p:spPr>
      </p:sp>
      <p:sp>
        <p:nvSpPr>
          <p:cNvPr id="10" name="Text 8"/>
          <p:cNvSpPr/>
          <p:nvPr/>
        </p:nvSpPr>
        <p:spPr>
          <a:xfrm>
            <a:off x="822960" y="4709160"/>
            <a:ext cx="6309360" cy="594360"/>
          </a:xfrm>
          <a:prstGeom prst="rect">
            <a:avLst/>
          </a:prstGeom>
          <a:noFill/>
          <a:ln/>
        </p:spPr>
        <p:txBody>
          <a:bodyPr wrap="square" lIns="0" tIns="0" rIns="0" bIns="0" rtlCol="0" anchor="t"/>
          <a:lstStyle/>
          <a:p>
            <a:pPr indent="0" marL="0">
              <a:lnSpc>
                <a:spcPts val="2100"/>
              </a:lnSpc>
              <a:buNone/>
            </a:pPr>
            <a:r>
              <a:rPr lang="en-US" sz="1350" b="1" spc="100" kern="0" dirty="0">
                <a:solidFill>
                  <a:srgbClr val="4A6B5D"/>
                </a:solidFill>
                <a:latin typeface="Arial" pitchFamily="34" charset="0"/>
                <a:ea typeface="Arial" pitchFamily="34" charset="-122"/>
                <a:cs typeface="Arial" pitchFamily="34" charset="-120"/>
              </a:rPr>
              <a:t>EFFECT   </a:t>
            </a:r>
            <a:pPr indent="0" marL="0">
              <a:lnSpc>
                <a:spcPts val="2100"/>
              </a:lnSpc>
              <a:buNone/>
            </a:pPr>
            <a:r>
              <a:rPr lang="en-US" sz="1550" dirty="0">
                <a:solidFill>
                  <a:srgbClr val="24313F"/>
                </a:solidFill>
                <a:latin typeface="Georgia" pitchFamily="34" charset="0"/>
                <a:ea typeface="Georgia" pitchFamily="34" charset="-122"/>
                <a:cs typeface="Georgia" pitchFamily="34" charset="-120"/>
              </a:rPr>
              <a:t>what the technique does to the viewer.</a:t>
            </a:r>
            <a:endParaRPr lang="en-US" sz="1350" dirty="0"/>
          </a:p>
          <a:p>
            <a:pPr indent="0" marL="0">
              <a:lnSpc>
                <a:spcPts val="2100"/>
              </a:lnSpc>
              <a:buNone/>
            </a:pPr>
            <a:r>
              <a:rPr lang="en-US" sz="1350" b="1" spc="100" kern="0" dirty="0">
                <a:solidFill>
                  <a:srgbClr val="4A6B5D"/>
                </a:solidFill>
                <a:latin typeface="Arial" pitchFamily="34" charset="0"/>
                <a:ea typeface="Arial" pitchFamily="34" charset="-122"/>
                <a:cs typeface="Arial" pitchFamily="34" charset="-120"/>
              </a:rPr>
              <a:t>MEANING   </a:t>
            </a:r>
            <a:pPr indent="0" marL="0">
              <a:lnSpc>
                <a:spcPts val="2100"/>
              </a:lnSpc>
              <a:buNone/>
            </a:pPr>
            <a:r>
              <a:rPr lang="en-US" sz="1550" dirty="0">
                <a:solidFill>
                  <a:srgbClr val="24313F"/>
                </a:solidFill>
                <a:latin typeface="Georgia" pitchFamily="34" charset="0"/>
                <a:ea typeface="Georgia" pitchFamily="34" charset="-122"/>
                <a:cs typeface="Georgia" pitchFamily="34" charset="-120"/>
              </a:rPr>
              <a:t>what it therefore says about the person, place, or event.</a:t>
            </a:r>
            <a:endParaRPr lang="en-US" sz="1350" dirty="0"/>
          </a:p>
        </p:txBody>
      </p:sp>
      <p:pic>
        <p:nvPicPr>
          <p:cNvPr id="11" name="Image 0" descr="/Users/dogan/Documents/Vaults/Courses/wiki/classes/media-studies/decks/_build/img/crops/kane-rally_a935.jpg">    </p:cNvPr>
          <p:cNvPicPr>
            <a:picLocks noChangeAspect="1"/>
          </p:cNvPicPr>
          <p:nvPr/>
        </p:nvPicPr>
        <p:blipFill>
          <a:blip r:embed="rId1"/>
          <a:stretch>
            <a:fillRect/>
          </a:stretch>
        </p:blipFill>
        <p:spPr>
          <a:xfrm>
            <a:off x="7452360" y="1097280"/>
            <a:ext cx="3931920" cy="4206240"/>
          </a:xfrm>
          <a:prstGeom prst="rect">
            <a:avLst/>
          </a:prstGeom>
        </p:spPr>
      </p:pic>
      <p:sp>
        <p:nvSpPr>
          <p:cNvPr id="12" name="Text 9"/>
          <p:cNvSpPr/>
          <p:nvPr/>
        </p:nvSpPr>
        <p:spPr>
          <a:xfrm>
            <a:off x="7452360" y="5349240"/>
            <a:ext cx="3931920" cy="457200"/>
          </a:xfrm>
          <a:prstGeom prst="rect">
            <a:avLst/>
          </a:prstGeom>
          <a:noFill/>
          <a:ln/>
        </p:spPr>
        <p:txBody>
          <a:bodyPr wrap="square" lIns="0" tIns="0" rIns="0" bIns="0" rtlCol="0" anchor="t"/>
          <a:lstStyle/>
          <a:p>
            <a:pPr algn="ctr" indent="0" marL="0">
              <a:lnSpc>
                <a:spcPts val="1300"/>
              </a:lnSpc>
              <a:buNone/>
            </a:pPr>
            <a:r>
              <a:rPr lang="en-US" sz="1000" dirty="0">
                <a:solidFill>
                  <a:srgbClr val="7A7F72"/>
                </a:solidFill>
                <a:latin typeface="Arial" pitchFamily="34" charset="0"/>
                <a:ea typeface="Arial" pitchFamily="34" charset="-122"/>
                <a:cs typeface="Arial" pitchFamily="34" charset="-120"/>
              </a:rPr>
              <a:t>Citizen Kane (1941): the low angle the sentences argue about</a:t>
            </a:r>
            <a:endParaRPr lang="en-US" sz="1000" dirty="0"/>
          </a:p>
        </p:txBody>
      </p:sp>
      <p:sp>
        <p:nvSpPr>
          <p:cNvPr id="13" name="Shape 10"/>
          <p:cNvSpPr/>
          <p:nvPr/>
        </p:nvSpPr>
        <p:spPr>
          <a:xfrm>
            <a:off x="822960" y="6382512"/>
            <a:ext cx="10543032" cy="0"/>
          </a:xfrm>
          <a:prstGeom prst="line">
            <a:avLst/>
          </a:prstGeom>
          <a:noFill/>
          <a:ln w="9525">
            <a:solidFill>
              <a:srgbClr val="D9D4C4"/>
            </a:solidFill>
            <a:prstDash val="solid"/>
          </a:ln>
        </p:spPr>
      </p:sp>
      <p:sp>
        <p:nvSpPr>
          <p:cNvPr id="14" name="Text 11"/>
          <p:cNvSpPr/>
          <p:nvPr/>
        </p:nvSpPr>
        <p:spPr>
          <a:xfrm>
            <a:off x="822960" y="6419088"/>
            <a:ext cx="7315200" cy="274320"/>
          </a:xfrm>
          <a:prstGeom prst="rect">
            <a:avLst/>
          </a:prstGeom>
          <a:noFill/>
          <a:ln/>
        </p:spPr>
        <p:txBody>
          <a:bodyPr wrap="square" lIns="0" tIns="0" rIns="0" bIns="0" rtlCol="0" anchor="ctr"/>
          <a:lstStyle/>
          <a:p>
            <a:pPr indent="0" marL="0">
              <a:buNone/>
            </a:pPr>
            <a:r>
              <a:rPr lang="en-US" sz="900" spc="150" kern="0" dirty="0">
                <a:solidFill>
                  <a:srgbClr val="7A7F72"/>
                </a:solidFill>
                <a:latin typeface="Arial" pitchFamily="34" charset="0"/>
                <a:ea typeface="Arial" pitchFamily="34" charset="-122"/>
                <a:cs typeface="Arial" pitchFamily="34" charset="-120"/>
              </a:rPr>
              <a:t>MEDIA STUDIES 9607 · SEMESTER I</a:t>
            </a:r>
            <a:endParaRPr lang="en-US" sz="900" dirty="0"/>
          </a:p>
        </p:txBody>
      </p:sp>
      <p:sp>
        <p:nvSpPr>
          <p:cNvPr id="15" name="Text 12"/>
          <p:cNvSpPr/>
          <p:nvPr/>
        </p:nvSpPr>
        <p:spPr>
          <a:xfrm>
            <a:off x="10268712" y="6355080"/>
            <a:ext cx="1097280" cy="365760"/>
          </a:xfrm>
          <a:prstGeom prst="rect">
            <a:avLst/>
          </a:prstGeom>
          <a:noFill/>
          <a:ln/>
        </p:spPr>
        <p:txBody>
          <a:bodyPr wrap="square" lIns="0" tIns="0" rIns="0" bIns="0" rtlCol="0" anchor="ctr"/>
          <a:lstStyle/>
          <a:p>
            <a:pPr algn="r" indent="0" marL="0">
              <a:buNone/>
            </a:pPr>
            <a:r>
              <a:rPr lang="en-US" sz="1600" dirty="0">
                <a:solidFill>
                  <a:srgbClr val="A3C1AD"/>
                </a:solidFill>
                <a:latin typeface="Georgia" pitchFamily="34" charset="0"/>
                <a:ea typeface="Georgia" pitchFamily="34" charset="-122"/>
                <a:cs typeface="Georgia" pitchFamily="34" charset="-120"/>
              </a:rPr>
              <a:t>05</a:t>
            </a:r>
            <a:endParaRPr lang="en-US" sz="16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AF8F1"/>
        </a:solidFill>
      </p:bgPr>
    </p:bg>
    <p:spTree>
      <p:nvGrpSpPr>
        <p:cNvPr id="1" name=""/>
        <p:cNvGrpSpPr/>
        <p:nvPr/>
      </p:nvGrpSpPr>
      <p:grpSpPr>
        <a:xfrm>
          <a:off x="0" y="0"/>
          <a:ext cx="0" cy="0"/>
          <a:chOff x="0" y="0"/>
          <a:chExt cx="0" cy="0"/>
        </a:xfrm>
      </p:grpSpPr>
      <p:sp>
        <p:nvSpPr>
          <p:cNvPr id="2" name="Text 0"/>
          <p:cNvSpPr/>
          <p:nvPr/>
        </p:nvSpPr>
        <p:spPr>
          <a:xfrm>
            <a:off x="822960" y="457200"/>
            <a:ext cx="6400800" cy="274320"/>
          </a:xfrm>
          <a:prstGeom prst="rect">
            <a:avLst/>
          </a:prstGeom>
          <a:noFill/>
          <a:ln/>
        </p:spPr>
        <p:txBody>
          <a:bodyPr wrap="square" lIns="0" tIns="0" rIns="0" bIns="0" rtlCol="0" anchor="ctr"/>
          <a:lstStyle/>
          <a:p>
            <a:pPr algn="l" indent="0" marL="0">
              <a:buNone/>
            </a:pPr>
            <a:r>
              <a:rPr lang="en-US" sz="1100" b="1" spc="250" kern="0" dirty="0">
                <a:solidFill>
                  <a:srgbClr val="4A6B5D"/>
                </a:solidFill>
                <a:latin typeface="Arial" pitchFamily="34" charset="0"/>
                <a:ea typeface="Arial" pitchFamily="34" charset="-122"/>
                <a:cs typeface="Arial" pitchFamily="34" charset="-120"/>
              </a:rPr>
              <a:t>THE WORKED EXAMPLE</a:t>
            </a:r>
            <a:endParaRPr lang="en-US" sz="1100" dirty="0"/>
          </a:p>
        </p:txBody>
      </p:sp>
      <p:sp>
        <p:nvSpPr>
          <p:cNvPr id="3" name="Text 1"/>
          <p:cNvSpPr/>
          <p:nvPr/>
        </p:nvSpPr>
        <p:spPr>
          <a:xfrm>
            <a:off x="6793992" y="457200"/>
            <a:ext cx="4572000" cy="274320"/>
          </a:xfrm>
          <a:prstGeom prst="rect">
            <a:avLst/>
          </a:prstGeom>
          <a:noFill/>
          <a:ln/>
        </p:spPr>
        <p:txBody>
          <a:bodyPr wrap="square" lIns="0" tIns="0" rIns="0" bIns="0" rtlCol="0" anchor="ctr"/>
          <a:lstStyle/>
          <a:p>
            <a:pPr algn="r" indent="0" marL="0">
              <a:buNone/>
            </a:pPr>
            <a:r>
              <a:rPr lang="en-US" sz="1100" b="1" spc="250" kern="0" dirty="0">
                <a:solidFill>
                  <a:srgbClr val="7A7F72"/>
                </a:solidFill>
                <a:latin typeface="Arial" pitchFamily="34" charset="0"/>
                <a:ea typeface="Arial" pitchFamily="34" charset="-122"/>
                <a:cs typeface="Arial" pitchFamily="34" charset="-120"/>
              </a:rPr>
              <a:t>PEEM, ALL FOUR MOVES, ONE PARAGRAPH</a:t>
            </a:r>
            <a:endParaRPr lang="en-US" sz="1100" dirty="0"/>
          </a:p>
        </p:txBody>
      </p:sp>
      <p:sp>
        <p:nvSpPr>
          <p:cNvPr id="4" name="Shape 2"/>
          <p:cNvSpPr/>
          <p:nvPr/>
        </p:nvSpPr>
        <p:spPr>
          <a:xfrm>
            <a:off x="822960" y="786384"/>
            <a:ext cx="10543032" cy="0"/>
          </a:xfrm>
          <a:prstGeom prst="line">
            <a:avLst/>
          </a:prstGeom>
          <a:noFill/>
          <a:ln w="9525">
            <a:solidFill>
              <a:srgbClr val="D9D4C4"/>
            </a:solidFill>
            <a:prstDash val="solid"/>
          </a:ln>
        </p:spPr>
      </p:sp>
      <p:sp>
        <p:nvSpPr>
          <p:cNvPr id="5" name="Text 3"/>
          <p:cNvSpPr/>
          <p:nvPr/>
        </p:nvSpPr>
        <p:spPr>
          <a:xfrm>
            <a:off x="822960" y="960120"/>
            <a:ext cx="10543032" cy="640080"/>
          </a:xfrm>
          <a:prstGeom prst="rect">
            <a:avLst/>
          </a:prstGeom>
          <a:noFill/>
          <a:ln/>
        </p:spPr>
        <p:txBody>
          <a:bodyPr wrap="square" lIns="0" tIns="0" rIns="0" bIns="0" rtlCol="0" anchor="ctr"/>
          <a:lstStyle/>
          <a:p>
            <a:pPr indent="0" marL="0">
              <a:buNone/>
            </a:pPr>
            <a:r>
              <a:rPr lang="en-US" sz="3200" dirty="0">
                <a:solidFill>
                  <a:srgbClr val="24313F"/>
                </a:solidFill>
                <a:latin typeface="Georgia" pitchFamily="34" charset="0"/>
                <a:ea typeface="Georgia" pitchFamily="34" charset="-122"/>
                <a:cs typeface="Georgia" pitchFamily="34" charset="-120"/>
              </a:rPr>
              <a:t>What good looks like</a:t>
            </a:r>
            <a:endParaRPr lang="en-US" sz="3200" dirty="0"/>
          </a:p>
        </p:txBody>
      </p:sp>
      <p:sp>
        <p:nvSpPr>
          <p:cNvPr id="6" name="Shape 4"/>
          <p:cNvSpPr/>
          <p:nvPr/>
        </p:nvSpPr>
        <p:spPr>
          <a:xfrm>
            <a:off x="822960" y="1828800"/>
            <a:ext cx="10543032" cy="2377440"/>
          </a:xfrm>
          <a:prstGeom prst="rect">
            <a:avLst/>
          </a:prstGeom>
          <a:solidFill>
            <a:srgbClr val="E8EFE7"/>
          </a:solidFill>
          <a:ln/>
        </p:spPr>
      </p:sp>
      <p:sp>
        <p:nvSpPr>
          <p:cNvPr id="7" name="Text 5"/>
          <p:cNvSpPr/>
          <p:nvPr/>
        </p:nvSpPr>
        <p:spPr>
          <a:xfrm>
            <a:off x="1143000" y="2011680"/>
            <a:ext cx="9902952" cy="2011680"/>
          </a:xfrm>
          <a:prstGeom prst="rect">
            <a:avLst/>
          </a:prstGeom>
          <a:noFill/>
          <a:ln/>
        </p:spPr>
        <p:txBody>
          <a:bodyPr wrap="square" lIns="0" tIns="0" rIns="0" bIns="0" rtlCol="0" anchor="ctr"/>
          <a:lstStyle/>
          <a:p>
            <a:pPr indent="0" marL="0">
              <a:lnSpc>
                <a:spcPts val="2800"/>
              </a:lnSpc>
              <a:buNone/>
            </a:pPr>
            <a:r>
              <a:rPr lang="en-US" sz="1900" dirty="0">
                <a:solidFill>
                  <a:srgbClr val="24313F"/>
                </a:solidFill>
                <a:latin typeface="Georgia" pitchFamily="34" charset="0"/>
                <a:ea typeface="Georgia" pitchFamily="34" charset="-122"/>
                <a:cs typeface="Georgia" pitchFamily="34" charset="-120"/>
              </a:rPr>
              <a:t>The extract repeatedly frames the detective in low-angle mid-shots [Evidence]. This constructs his institutional authority [Point]. The viewer is positioned beneath him, so his power feels like a physical fact of the room [Effect]. The police are therefore represented as a power that does not need to argue for itself [Meaning].</a:t>
            </a:r>
            <a:endParaRPr lang="en-US" sz="1900" dirty="0"/>
          </a:p>
        </p:txBody>
      </p:sp>
      <p:sp>
        <p:nvSpPr>
          <p:cNvPr id="8" name="Text 6"/>
          <p:cNvSpPr/>
          <p:nvPr/>
        </p:nvSpPr>
        <p:spPr>
          <a:xfrm>
            <a:off x="822960" y="4480560"/>
            <a:ext cx="10543032" cy="594360"/>
          </a:xfrm>
          <a:prstGeom prst="rect">
            <a:avLst/>
          </a:prstGeom>
          <a:noFill/>
          <a:ln/>
        </p:spPr>
        <p:txBody>
          <a:bodyPr wrap="square" lIns="0" tIns="0" rIns="0" bIns="0" rtlCol="0" anchor="t"/>
          <a:lstStyle/>
          <a:p>
            <a:pPr indent="0" marL="0">
              <a:lnSpc>
                <a:spcPts val="1900"/>
              </a:lnSpc>
              <a:buNone/>
            </a:pPr>
            <a:r>
              <a:rPr lang="en-US" sz="1200" b="1" spc="100" kern="0" dirty="0">
                <a:solidFill>
                  <a:srgbClr val="4A6B5D"/>
                </a:solidFill>
                <a:latin typeface="Arial" pitchFamily="34" charset="0"/>
                <a:ea typeface="Arial" pitchFamily="34" charset="-122"/>
                <a:cs typeface="Arial" pitchFamily="34" charset="-120"/>
              </a:rPr>
              <a:t>CHECK   </a:t>
            </a:r>
            <a:pPr indent="0" marL="0">
              <a:lnSpc>
                <a:spcPts val="1900"/>
              </a:lnSpc>
              <a:buNone/>
            </a:pPr>
            <a:r>
              <a:rPr lang="en-US" sz="1400" dirty="0">
                <a:solidFill>
                  <a:srgbClr val="4A6B5D"/>
                </a:solidFill>
                <a:latin typeface="Georgia" pitchFamily="34" charset="0"/>
                <a:ea typeface="Georgia" pitchFamily="34" charset="-122"/>
                <a:cs typeface="Georgia" pitchFamily="34" charset="-120"/>
              </a:rPr>
              <a:t>No sentence could swap places with another. Each adds something new.</a:t>
            </a:r>
            <a:endParaRPr lang="en-US" sz="1200" dirty="0"/>
          </a:p>
          <a:p>
            <a:pPr indent="0" marL="0">
              <a:lnSpc>
                <a:spcPts val="1900"/>
              </a:lnSpc>
              <a:buNone/>
            </a:pPr>
            <a:r>
              <a:rPr lang="en-US" sz="1200" b="1" spc="100" kern="0" dirty="0">
                <a:solidFill>
                  <a:srgbClr val="4A6B5D"/>
                </a:solidFill>
                <a:latin typeface="Arial" pitchFamily="34" charset="0"/>
                <a:ea typeface="Arial" pitchFamily="34" charset="-122"/>
                <a:cs typeface="Arial" pitchFamily="34" charset="-120"/>
              </a:rPr>
              <a:t>TASK   </a:t>
            </a:r>
            <a:pPr indent="0" marL="0">
              <a:lnSpc>
                <a:spcPts val="1900"/>
              </a:lnSpc>
              <a:buNone/>
            </a:pPr>
            <a:r>
              <a:rPr lang="en-US" sz="1400" dirty="0">
                <a:solidFill>
                  <a:srgbClr val="4A6B5D"/>
                </a:solidFill>
                <a:latin typeface="Georgia" pitchFamily="34" charset="0"/>
                <a:ea typeface="Georgia" pitchFamily="34" charset="-122"/>
                <a:cs typeface="Georgia" pitchFamily="34" charset="-120"/>
              </a:rPr>
              <a:t>Write the four labels in the margin of your CS7 rewrite. On Wednesday, the labels come off.</a:t>
            </a:r>
            <a:endParaRPr lang="en-US" sz="1200" dirty="0"/>
          </a:p>
        </p:txBody>
      </p:sp>
      <p:sp>
        <p:nvSpPr>
          <p:cNvPr id="9" name="Shape 7"/>
          <p:cNvSpPr/>
          <p:nvPr/>
        </p:nvSpPr>
        <p:spPr>
          <a:xfrm>
            <a:off x="822960" y="6382512"/>
            <a:ext cx="10543032" cy="0"/>
          </a:xfrm>
          <a:prstGeom prst="line">
            <a:avLst/>
          </a:prstGeom>
          <a:noFill/>
          <a:ln w="9525">
            <a:solidFill>
              <a:srgbClr val="D9D4C4"/>
            </a:solidFill>
            <a:prstDash val="solid"/>
          </a:ln>
        </p:spPr>
      </p:sp>
      <p:sp>
        <p:nvSpPr>
          <p:cNvPr id="10" name="Text 8"/>
          <p:cNvSpPr/>
          <p:nvPr/>
        </p:nvSpPr>
        <p:spPr>
          <a:xfrm>
            <a:off x="822960" y="6419088"/>
            <a:ext cx="7315200" cy="274320"/>
          </a:xfrm>
          <a:prstGeom prst="rect">
            <a:avLst/>
          </a:prstGeom>
          <a:noFill/>
          <a:ln/>
        </p:spPr>
        <p:txBody>
          <a:bodyPr wrap="square" lIns="0" tIns="0" rIns="0" bIns="0" rtlCol="0" anchor="ctr"/>
          <a:lstStyle/>
          <a:p>
            <a:pPr indent="0" marL="0">
              <a:buNone/>
            </a:pPr>
            <a:r>
              <a:rPr lang="en-US" sz="900" spc="150" kern="0" dirty="0">
                <a:solidFill>
                  <a:srgbClr val="7A7F72"/>
                </a:solidFill>
                <a:latin typeface="Arial" pitchFamily="34" charset="0"/>
                <a:ea typeface="Arial" pitchFamily="34" charset="-122"/>
                <a:cs typeface="Arial" pitchFamily="34" charset="-120"/>
              </a:rPr>
              <a:t>MEDIA STUDIES 9607 · SEMESTER I</a:t>
            </a:r>
            <a:endParaRPr lang="en-US" sz="900" dirty="0"/>
          </a:p>
        </p:txBody>
      </p:sp>
      <p:sp>
        <p:nvSpPr>
          <p:cNvPr id="11" name="Text 9"/>
          <p:cNvSpPr/>
          <p:nvPr/>
        </p:nvSpPr>
        <p:spPr>
          <a:xfrm>
            <a:off x="10268712" y="6355080"/>
            <a:ext cx="1097280" cy="365760"/>
          </a:xfrm>
          <a:prstGeom prst="rect">
            <a:avLst/>
          </a:prstGeom>
          <a:noFill/>
          <a:ln/>
        </p:spPr>
        <p:txBody>
          <a:bodyPr wrap="square" lIns="0" tIns="0" rIns="0" bIns="0" rtlCol="0" anchor="ctr"/>
          <a:lstStyle/>
          <a:p>
            <a:pPr algn="r" indent="0" marL="0">
              <a:buNone/>
            </a:pPr>
            <a:r>
              <a:rPr lang="en-US" sz="1600" dirty="0">
                <a:solidFill>
                  <a:srgbClr val="A3C1AD"/>
                </a:solidFill>
                <a:latin typeface="Georgia" pitchFamily="34" charset="0"/>
                <a:ea typeface="Georgia" pitchFamily="34" charset="-122"/>
                <a:cs typeface="Georgia" pitchFamily="34" charset="-120"/>
              </a:rPr>
              <a:t>06</a:t>
            </a:r>
            <a:endParaRPr lang="en-US" sz="16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AF8F1"/>
        </a:solidFill>
      </p:bgPr>
    </p:bg>
    <p:spTree>
      <p:nvGrpSpPr>
        <p:cNvPr id="1" name=""/>
        <p:cNvGrpSpPr/>
        <p:nvPr/>
      </p:nvGrpSpPr>
      <p:grpSpPr>
        <a:xfrm>
          <a:off x="0" y="0"/>
          <a:ext cx="0" cy="0"/>
          <a:chOff x="0" y="0"/>
          <a:chExt cx="0" cy="0"/>
        </a:xfrm>
      </p:grpSpPr>
      <p:sp>
        <p:nvSpPr>
          <p:cNvPr id="2" name="Text 0"/>
          <p:cNvSpPr/>
          <p:nvPr/>
        </p:nvSpPr>
        <p:spPr>
          <a:xfrm>
            <a:off x="822960" y="457200"/>
            <a:ext cx="6400800" cy="274320"/>
          </a:xfrm>
          <a:prstGeom prst="rect">
            <a:avLst/>
          </a:prstGeom>
          <a:noFill/>
          <a:ln/>
        </p:spPr>
        <p:txBody>
          <a:bodyPr wrap="square" lIns="0" tIns="0" rIns="0" bIns="0" rtlCol="0" anchor="ctr"/>
          <a:lstStyle/>
          <a:p>
            <a:pPr algn="l" indent="0" marL="0">
              <a:buNone/>
            </a:pPr>
            <a:r>
              <a:rPr lang="en-US" sz="1100" b="1" spc="250" kern="0" dirty="0">
                <a:solidFill>
                  <a:srgbClr val="4A6B5D"/>
                </a:solidFill>
                <a:latin typeface="Arial" pitchFamily="34" charset="0"/>
                <a:ea typeface="Arial" pitchFamily="34" charset="-122"/>
                <a:cs typeface="Arial" pitchFamily="34" charset="-120"/>
              </a:rPr>
              <a:t>THE SCREENING PROTOCOL</a:t>
            </a:r>
            <a:endParaRPr lang="en-US" sz="1100" dirty="0"/>
          </a:p>
        </p:txBody>
      </p:sp>
      <p:sp>
        <p:nvSpPr>
          <p:cNvPr id="3" name="Text 1"/>
          <p:cNvSpPr/>
          <p:nvPr/>
        </p:nvSpPr>
        <p:spPr>
          <a:xfrm>
            <a:off x="6793992" y="457200"/>
            <a:ext cx="4572000" cy="274320"/>
          </a:xfrm>
          <a:prstGeom prst="rect">
            <a:avLst/>
          </a:prstGeom>
          <a:noFill/>
          <a:ln/>
        </p:spPr>
        <p:txBody>
          <a:bodyPr wrap="square" lIns="0" tIns="0" rIns="0" bIns="0" rtlCol="0" anchor="ctr"/>
          <a:lstStyle/>
          <a:p>
            <a:pPr algn="r" indent="0" marL="0">
              <a:buNone/>
            </a:pPr>
            <a:r>
              <a:rPr lang="en-US" sz="1100" b="1" spc="250" kern="0" dirty="0">
                <a:solidFill>
                  <a:srgbClr val="7A7F72"/>
                </a:solidFill>
                <a:latin typeface="Arial" pitchFamily="34" charset="0"/>
                <a:ea typeface="Arial" pitchFamily="34" charset="-122"/>
                <a:cs typeface="Arial" pitchFamily="34" charset="-120"/>
              </a:rPr>
              <a:t>THE PAPER'S RULE, OUR SPLIT</a:t>
            </a:r>
            <a:endParaRPr lang="en-US" sz="1100" dirty="0"/>
          </a:p>
        </p:txBody>
      </p:sp>
      <p:sp>
        <p:nvSpPr>
          <p:cNvPr id="4" name="Shape 2"/>
          <p:cNvSpPr/>
          <p:nvPr/>
        </p:nvSpPr>
        <p:spPr>
          <a:xfrm>
            <a:off x="822960" y="786384"/>
            <a:ext cx="10543032" cy="0"/>
          </a:xfrm>
          <a:prstGeom prst="line">
            <a:avLst/>
          </a:prstGeom>
          <a:noFill/>
          <a:ln w="9525">
            <a:solidFill>
              <a:srgbClr val="D9D4C4"/>
            </a:solidFill>
            <a:prstDash val="solid"/>
          </a:ln>
        </p:spPr>
      </p:sp>
      <p:sp>
        <p:nvSpPr>
          <p:cNvPr id="5" name="Text 3"/>
          <p:cNvSpPr/>
          <p:nvPr/>
        </p:nvSpPr>
        <p:spPr>
          <a:xfrm>
            <a:off x="822960" y="932688"/>
            <a:ext cx="10543032" cy="640080"/>
          </a:xfrm>
          <a:prstGeom prst="rect">
            <a:avLst/>
          </a:prstGeom>
          <a:noFill/>
          <a:ln/>
        </p:spPr>
        <p:txBody>
          <a:bodyPr wrap="square" lIns="0" tIns="0" rIns="0" bIns="0" rtlCol="0" anchor="ctr"/>
          <a:lstStyle/>
          <a:p>
            <a:pPr indent="0" marL="0">
              <a:buNone/>
            </a:pPr>
            <a:r>
              <a:rPr lang="en-US" sz="3200" dirty="0">
                <a:solidFill>
                  <a:srgbClr val="24313F"/>
                </a:solidFill>
                <a:latin typeface="Georgia" pitchFamily="34" charset="0"/>
                <a:ea typeface="Georgia" pitchFamily="34" charset="-122"/>
                <a:cs typeface="Georgia" pitchFamily="34" charset="-120"/>
              </a:rPr>
              <a:t>Four viewings, one extract</a:t>
            </a:r>
            <a:endParaRPr lang="en-US" sz="3200" dirty="0"/>
          </a:p>
        </p:txBody>
      </p:sp>
      <p:sp>
        <p:nvSpPr>
          <p:cNvPr id="6" name="Shape 4"/>
          <p:cNvSpPr/>
          <p:nvPr/>
        </p:nvSpPr>
        <p:spPr>
          <a:xfrm>
            <a:off x="2140839" y="3200400"/>
            <a:ext cx="7907274" cy="0"/>
          </a:xfrm>
          <a:prstGeom prst="line">
            <a:avLst/>
          </a:prstGeom>
          <a:noFill/>
          <a:ln w="19050">
            <a:solidFill>
              <a:srgbClr val="8AA394"/>
            </a:solidFill>
            <a:prstDash val="solid"/>
          </a:ln>
        </p:spPr>
      </p:sp>
      <p:sp>
        <p:nvSpPr>
          <p:cNvPr id="7" name="Text 5"/>
          <p:cNvSpPr/>
          <p:nvPr/>
        </p:nvSpPr>
        <p:spPr>
          <a:xfrm>
            <a:off x="1866519" y="2926080"/>
            <a:ext cx="548640" cy="548640"/>
          </a:xfrm>
          <a:prstGeom prst="ellipse">
            <a:avLst/>
          </a:prstGeom>
          <a:solidFill>
            <a:srgbClr val="4A6B5D"/>
          </a:solidFill>
          <a:ln/>
        </p:spPr>
        <p:txBody>
          <a:bodyPr wrap="square" lIns="0" tIns="0" rIns="0" bIns="0" rtlCol="0" anchor="ctr"/>
          <a:lstStyle/>
          <a:p>
            <a:pPr algn="ctr" indent="0" marL="0">
              <a:buNone/>
            </a:pPr>
            <a:r>
              <a:rPr lang="en-US" sz="2200" dirty="0">
                <a:solidFill>
                  <a:srgbClr val="FAF8F1"/>
                </a:solidFill>
                <a:latin typeface="Georgia" pitchFamily="34" charset="0"/>
                <a:ea typeface="Georgia" pitchFamily="34" charset="-122"/>
                <a:cs typeface="Georgia" pitchFamily="34" charset="-120"/>
              </a:rPr>
              <a:t>1</a:t>
            </a:r>
            <a:endParaRPr lang="en-US" sz="2200" dirty="0"/>
          </a:p>
        </p:txBody>
      </p:sp>
      <p:sp>
        <p:nvSpPr>
          <p:cNvPr id="8" name="Text 6"/>
          <p:cNvSpPr/>
          <p:nvPr/>
        </p:nvSpPr>
        <p:spPr>
          <a:xfrm>
            <a:off x="932688" y="2240280"/>
            <a:ext cx="2416302" cy="457200"/>
          </a:xfrm>
          <a:prstGeom prst="rect">
            <a:avLst/>
          </a:prstGeom>
          <a:noFill/>
          <a:ln/>
        </p:spPr>
        <p:txBody>
          <a:bodyPr wrap="square" lIns="0" tIns="0" rIns="0" bIns="0" rtlCol="0" anchor="b"/>
          <a:lstStyle/>
          <a:p>
            <a:pPr algn="ctr" indent="0" marL="0">
              <a:buNone/>
            </a:pPr>
            <a:r>
              <a:rPr lang="en-US" sz="1800" dirty="0">
                <a:solidFill>
                  <a:srgbClr val="24313F"/>
                </a:solidFill>
                <a:latin typeface="Georgia" pitchFamily="34" charset="0"/>
                <a:ea typeface="Georgia" pitchFamily="34" charset="-122"/>
                <a:cs typeface="Georgia" pitchFamily="34" charset="-120"/>
              </a:rPr>
              <a:t>First</a:t>
            </a:r>
            <a:endParaRPr lang="en-US" sz="1800" dirty="0"/>
          </a:p>
        </p:txBody>
      </p:sp>
      <p:sp>
        <p:nvSpPr>
          <p:cNvPr id="9" name="Text 7"/>
          <p:cNvSpPr/>
          <p:nvPr/>
        </p:nvSpPr>
        <p:spPr>
          <a:xfrm>
            <a:off x="932688" y="3611880"/>
            <a:ext cx="2416302" cy="320040"/>
          </a:xfrm>
          <a:prstGeom prst="rect">
            <a:avLst/>
          </a:prstGeom>
          <a:noFill/>
          <a:ln/>
        </p:spPr>
        <p:txBody>
          <a:bodyPr wrap="square" lIns="0" tIns="0" rIns="0" bIns="0" rtlCol="0" anchor="ctr"/>
          <a:lstStyle/>
          <a:p>
            <a:pPr algn="ctr" indent="0" marL="0">
              <a:buNone/>
            </a:pPr>
            <a:r>
              <a:rPr lang="en-US" sz="950" b="1" spc="50" kern="0" dirty="0">
                <a:solidFill>
                  <a:srgbClr val="4A6B5D"/>
                </a:solidFill>
                <a:latin typeface="Arial" pitchFamily="34" charset="0"/>
                <a:ea typeface="Arial" pitchFamily="34" charset="-122"/>
                <a:cs typeface="Arial" pitchFamily="34" charset="-120"/>
              </a:rPr>
              <a:t>JUST WATCH</a:t>
            </a:r>
            <a:endParaRPr lang="en-US" sz="950" dirty="0"/>
          </a:p>
        </p:txBody>
      </p:sp>
      <p:sp>
        <p:nvSpPr>
          <p:cNvPr id="10" name="Text 8"/>
          <p:cNvSpPr/>
          <p:nvPr/>
        </p:nvSpPr>
        <p:spPr>
          <a:xfrm>
            <a:off x="969264" y="3977640"/>
            <a:ext cx="2343150" cy="1188720"/>
          </a:xfrm>
          <a:prstGeom prst="rect">
            <a:avLst/>
          </a:prstGeom>
          <a:noFill/>
          <a:ln/>
        </p:spPr>
        <p:txBody>
          <a:bodyPr wrap="square" lIns="0" tIns="0" rIns="0" bIns="0" rtlCol="0" anchor="t"/>
          <a:lstStyle/>
          <a:p>
            <a:pPr algn="ctr" indent="0" marL="0">
              <a:lnSpc>
                <a:spcPts val="1600"/>
              </a:lnSpc>
              <a:buNone/>
            </a:pPr>
            <a:r>
              <a:rPr lang="en-US" sz="1250" dirty="0">
                <a:solidFill>
                  <a:srgbClr val="24313F"/>
                </a:solidFill>
                <a:latin typeface="Georgia" pitchFamily="34" charset="0"/>
                <a:ea typeface="Georgia" pitchFamily="34" charset="-122"/>
                <a:cs typeface="Georgia" pitchFamily="34" charset="-120"/>
              </a:rPr>
              <a:t>No notes: the paper's own rule. See the whole thing before you dissect it.</a:t>
            </a:r>
            <a:endParaRPr lang="en-US" sz="1250" dirty="0"/>
          </a:p>
        </p:txBody>
      </p:sp>
      <p:sp>
        <p:nvSpPr>
          <p:cNvPr id="11" name="Text 9"/>
          <p:cNvSpPr/>
          <p:nvPr/>
        </p:nvSpPr>
        <p:spPr>
          <a:xfrm>
            <a:off x="4502277" y="2926080"/>
            <a:ext cx="548640" cy="548640"/>
          </a:xfrm>
          <a:prstGeom prst="ellipse">
            <a:avLst/>
          </a:prstGeom>
          <a:solidFill>
            <a:srgbClr val="4A6B5D"/>
          </a:solidFill>
          <a:ln/>
        </p:spPr>
        <p:txBody>
          <a:bodyPr wrap="square" lIns="0" tIns="0" rIns="0" bIns="0" rtlCol="0" anchor="ctr"/>
          <a:lstStyle/>
          <a:p>
            <a:pPr algn="ctr" indent="0" marL="0">
              <a:buNone/>
            </a:pPr>
            <a:r>
              <a:rPr lang="en-US" sz="2200" dirty="0">
                <a:solidFill>
                  <a:srgbClr val="FAF8F1"/>
                </a:solidFill>
                <a:latin typeface="Georgia" pitchFamily="34" charset="0"/>
                <a:ea typeface="Georgia" pitchFamily="34" charset="-122"/>
                <a:cs typeface="Georgia" pitchFamily="34" charset="-120"/>
              </a:rPr>
              <a:t>2</a:t>
            </a:r>
            <a:endParaRPr lang="en-US" sz="2200" dirty="0"/>
          </a:p>
        </p:txBody>
      </p:sp>
      <p:sp>
        <p:nvSpPr>
          <p:cNvPr id="12" name="Text 10"/>
          <p:cNvSpPr/>
          <p:nvPr/>
        </p:nvSpPr>
        <p:spPr>
          <a:xfrm>
            <a:off x="3568446" y="2240280"/>
            <a:ext cx="2416302" cy="457200"/>
          </a:xfrm>
          <a:prstGeom prst="rect">
            <a:avLst/>
          </a:prstGeom>
          <a:noFill/>
          <a:ln/>
        </p:spPr>
        <p:txBody>
          <a:bodyPr wrap="square" lIns="0" tIns="0" rIns="0" bIns="0" rtlCol="0" anchor="b"/>
          <a:lstStyle/>
          <a:p>
            <a:pPr algn="ctr" indent="0" marL="0">
              <a:buNone/>
            </a:pPr>
            <a:r>
              <a:rPr lang="en-US" sz="1800" dirty="0">
                <a:solidFill>
                  <a:srgbClr val="24313F"/>
                </a:solidFill>
                <a:latin typeface="Georgia" pitchFamily="34" charset="0"/>
                <a:ea typeface="Georgia" pitchFamily="34" charset="-122"/>
                <a:cs typeface="Georgia" pitchFamily="34" charset="-120"/>
              </a:rPr>
              <a:t>Second</a:t>
            </a:r>
            <a:endParaRPr lang="en-US" sz="1800" dirty="0"/>
          </a:p>
        </p:txBody>
      </p:sp>
      <p:sp>
        <p:nvSpPr>
          <p:cNvPr id="13" name="Text 11"/>
          <p:cNvSpPr/>
          <p:nvPr/>
        </p:nvSpPr>
        <p:spPr>
          <a:xfrm>
            <a:off x="3568446" y="3611880"/>
            <a:ext cx="2416302" cy="320040"/>
          </a:xfrm>
          <a:prstGeom prst="rect">
            <a:avLst/>
          </a:prstGeom>
          <a:noFill/>
          <a:ln/>
        </p:spPr>
        <p:txBody>
          <a:bodyPr wrap="square" lIns="0" tIns="0" rIns="0" bIns="0" rtlCol="0" anchor="ctr"/>
          <a:lstStyle/>
          <a:p>
            <a:pPr algn="ctr" indent="0" marL="0">
              <a:buNone/>
            </a:pPr>
            <a:r>
              <a:rPr lang="en-US" sz="950" b="1" spc="50" kern="0" dirty="0">
                <a:solidFill>
                  <a:srgbClr val="4A6B5D"/>
                </a:solidFill>
                <a:latin typeface="Arial" pitchFamily="34" charset="0"/>
                <a:ea typeface="Arial" pitchFamily="34" charset="-122"/>
                <a:cs typeface="Arial" pitchFamily="34" charset="-120"/>
              </a:rPr>
              <a:t>CAMERA &amp; EDITING</a:t>
            </a:r>
            <a:endParaRPr lang="en-US" sz="950" dirty="0"/>
          </a:p>
        </p:txBody>
      </p:sp>
      <p:sp>
        <p:nvSpPr>
          <p:cNvPr id="14" name="Text 12"/>
          <p:cNvSpPr/>
          <p:nvPr/>
        </p:nvSpPr>
        <p:spPr>
          <a:xfrm>
            <a:off x="3605022" y="3977640"/>
            <a:ext cx="2343150" cy="1188720"/>
          </a:xfrm>
          <a:prstGeom prst="rect">
            <a:avLst/>
          </a:prstGeom>
          <a:noFill/>
          <a:ln/>
        </p:spPr>
        <p:txBody>
          <a:bodyPr wrap="square" lIns="0" tIns="0" rIns="0" bIns="0" rtlCol="0" anchor="t"/>
          <a:lstStyle/>
          <a:p>
            <a:pPr algn="ctr" indent="0" marL="0">
              <a:lnSpc>
                <a:spcPts val="1600"/>
              </a:lnSpc>
              <a:buNone/>
            </a:pPr>
            <a:r>
              <a:rPr lang="en-US" sz="1250" dirty="0">
                <a:solidFill>
                  <a:srgbClr val="24313F"/>
                </a:solidFill>
                <a:latin typeface="Georgia" pitchFamily="34" charset="0"/>
                <a:ea typeface="Georgia" pitchFamily="34" charset="-122"/>
                <a:cs typeface="Georgia" pitchFamily="34" charset="-120"/>
              </a:rPr>
              <a:t>Track the technical codes: shots, angles, movement, cuts, pace.</a:t>
            </a:r>
            <a:endParaRPr lang="en-US" sz="1250" dirty="0"/>
          </a:p>
        </p:txBody>
      </p:sp>
      <p:sp>
        <p:nvSpPr>
          <p:cNvPr id="15" name="Text 13"/>
          <p:cNvSpPr/>
          <p:nvPr/>
        </p:nvSpPr>
        <p:spPr>
          <a:xfrm>
            <a:off x="7138035" y="2926080"/>
            <a:ext cx="548640" cy="548640"/>
          </a:xfrm>
          <a:prstGeom prst="ellipse">
            <a:avLst/>
          </a:prstGeom>
          <a:solidFill>
            <a:srgbClr val="4A6B5D"/>
          </a:solidFill>
          <a:ln/>
        </p:spPr>
        <p:txBody>
          <a:bodyPr wrap="square" lIns="0" tIns="0" rIns="0" bIns="0" rtlCol="0" anchor="ctr"/>
          <a:lstStyle/>
          <a:p>
            <a:pPr algn="ctr" indent="0" marL="0">
              <a:buNone/>
            </a:pPr>
            <a:r>
              <a:rPr lang="en-US" sz="2200" dirty="0">
                <a:solidFill>
                  <a:srgbClr val="FAF8F1"/>
                </a:solidFill>
                <a:latin typeface="Georgia" pitchFamily="34" charset="0"/>
                <a:ea typeface="Georgia" pitchFamily="34" charset="-122"/>
                <a:cs typeface="Georgia" pitchFamily="34" charset="-120"/>
              </a:rPr>
              <a:t>3</a:t>
            </a:r>
            <a:endParaRPr lang="en-US" sz="2200" dirty="0"/>
          </a:p>
        </p:txBody>
      </p:sp>
      <p:sp>
        <p:nvSpPr>
          <p:cNvPr id="16" name="Text 14"/>
          <p:cNvSpPr/>
          <p:nvPr/>
        </p:nvSpPr>
        <p:spPr>
          <a:xfrm>
            <a:off x="6204204" y="2240280"/>
            <a:ext cx="2416302" cy="457200"/>
          </a:xfrm>
          <a:prstGeom prst="rect">
            <a:avLst/>
          </a:prstGeom>
          <a:noFill/>
          <a:ln/>
        </p:spPr>
        <p:txBody>
          <a:bodyPr wrap="square" lIns="0" tIns="0" rIns="0" bIns="0" rtlCol="0" anchor="b"/>
          <a:lstStyle/>
          <a:p>
            <a:pPr algn="ctr" indent="0" marL="0">
              <a:buNone/>
            </a:pPr>
            <a:r>
              <a:rPr lang="en-US" sz="1800" dirty="0">
                <a:solidFill>
                  <a:srgbClr val="24313F"/>
                </a:solidFill>
                <a:latin typeface="Georgia" pitchFamily="34" charset="0"/>
                <a:ea typeface="Georgia" pitchFamily="34" charset="-122"/>
                <a:cs typeface="Georgia" pitchFamily="34" charset="-120"/>
              </a:rPr>
              <a:t>Third</a:t>
            </a:r>
            <a:endParaRPr lang="en-US" sz="1800" dirty="0"/>
          </a:p>
        </p:txBody>
      </p:sp>
      <p:sp>
        <p:nvSpPr>
          <p:cNvPr id="17" name="Text 15"/>
          <p:cNvSpPr/>
          <p:nvPr/>
        </p:nvSpPr>
        <p:spPr>
          <a:xfrm>
            <a:off x="6204204" y="3611880"/>
            <a:ext cx="2416302" cy="320040"/>
          </a:xfrm>
          <a:prstGeom prst="rect">
            <a:avLst/>
          </a:prstGeom>
          <a:noFill/>
          <a:ln/>
        </p:spPr>
        <p:txBody>
          <a:bodyPr wrap="square" lIns="0" tIns="0" rIns="0" bIns="0" rtlCol="0" anchor="ctr"/>
          <a:lstStyle/>
          <a:p>
            <a:pPr algn="ctr" indent="0" marL="0">
              <a:buNone/>
            </a:pPr>
            <a:r>
              <a:rPr lang="en-US" sz="950" b="1" spc="50" kern="0" dirty="0">
                <a:solidFill>
                  <a:srgbClr val="4A6B5D"/>
                </a:solidFill>
                <a:latin typeface="Arial" pitchFamily="34" charset="0"/>
                <a:ea typeface="Arial" pitchFamily="34" charset="-122"/>
                <a:cs typeface="Arial" pitchFamily="34" charset="-120"/>
              </a:rPr>
              <a:t>SOUND &amp; MISE-EN-SCENE</a:t>
            </a:r>
            <a:endParaRPr lang="en-US" sz="950" dirty="0"/>
          </a:p>
        </p:txBody>
      </p:sp>
      <p:sp>
        <p:nvSpPr>
          <p:cNvPr id="18" name="Text 16"/>
          <p:cNvSpPr/>
          <p:nvPr/>
        </p:nvSpPr>
        <p:spPr>
          <a:xfrm>
            <a:off x="6240780" y="3977640"/>
            <a:ext cx="2343150" cy="1188720"/>
          </a:xfrm>
          <a:prstGeom prst="rect">
            <a:avLst/>
          </a:prstGeom>
          <a:noFill/>
          <a:ln/>
        </p:spPr>
        <p:txBody>
          <a:bodyPr wrap="square" lIns="0" tIns="0" rIns="0" bIns="0" rtlCol="0" anchor="t"/>
          <a:lstStyle/>
          <a:p>
            <a:pPr algn="ctr" indent="0" marL="0">
              <a:lnSpc>
                <a:spcPts val="1600"/>
              </a:lnSpc>
              <a:buNone/>
            </a:pPr>
            <a:r>
              <a:rPr lang="en-US" sz="1250" dirty="0">
                <a:solidFill>
                  <a:srgbClr val="24313F"/>
                </a:solidFill>
                <a:latin typeface="Georgia" pitchFamily="34" charset="0"/>
                <a:ea typeface="Georgia" pitchFamily="34" charset="-122"/>
                <a:cs typeface="Georgia" pitchFamily="34" charset="-120"/>
              </a:rPr>
              <a:t>Music, silence, diegetic sound; setting, props, dress, gesture.</a:t>
            </a:r>
            <a:endParaRPr lang="en-US" sz="1250" dirty="0"/>
          </a:p>
        </p:txBody>
      </p:sp>
      <p:sp>
        <p:nvSpPr>
          <p:cNvPr id="19" name="Text 17"/>
          <p:cNvSpPr/>
          <p:nvPr/>
        </p:nvSpPr>
        <p:spPr>
          <a:xfrm>
            <a:off x="9773793" y="2926080"/>
            <a:ext cx="548640" cy="548640"/>
          </a:xfrm>
          <a:prstGeom prst="ellipse">
            <a:avLst/>
          </a:prstGeom>
          <a:solidFill>
            <a:srgbClr val="4A6B5D"/>
          </a:solidFill>
          <a:ln/>
        </p:spPr>
        <p:txBody>
          <a:bodyPr wrap="square" lIns="0" tIns="0" rIns="0" bIns="0" rtlCol="0" anchor="ctr"/>
          <a:lstStyle/>
          <a:p>
            <a:pPr algn="ctr" indent="0" marL="0">
              <a:buNone/>
            </a:pPr>
            <a:r>
              <a:rPr lang="en-US" sz="2200" dirty="0">
                <a:solidFill>
                  <a:srgbClr val="FAF8F1"/>
                </a:solidFill>
                <a:latin typeface="Georgia" pitchFamily="34" charset="0"/>
                <a:ea typeface="Georgia" pitchFamily="34" charset="-122"/>
                <a:cs typeface="Georgia" pitchFamily="34" charset="-120"/>
              </a:rPr>
              <a:t>4</a:t>
            </a:r>
            <a:endParaRPr lang="en-US" sz="2200" dirty="0"/>
          </a:p>
        </p:txBody>
      </p:sp>
      <p:sp>
        <p:nvSpPr>
          <p:cNvPr id="20" name="Text 18"/>
          <p:cNvSpPr/>
          <p:nvPr/>
        </p:nvSpPr>
        <p:spPr>
          <a:xfrm>
            <a:off x="8839962" y="2240280"/>
            <a:ext cx="2416302" cy="457200"/>
          </a:xfrm>
          <a:prstGeom prst="rect">
            <a:avLst/>
          </a:prstGeom>
          <a:noFill/>
          <a:ln/>
        </p:spPr>
        <p:txBody>
          <a:bodyPr wrap="square" lIns="0" tIns="0" rIns="0" bIns="0" rtlCol="0" anchor="b"/>
          <a:lstStyle/>
          <a:p>
            <a:pPr algn="ctr" indent="0" marL="0">
              <a:buNone/>
            </a:pPr>
            <a:r>
              <a:rPr lang="en-US" sz="1800" dirty="0">
                <a:solidFill>
                  <a:srgbClr val="24313F"/>
                </a:solidFill>
                <a:latin typeface="Georgia" pitchFamily="34" charset="0"/>
                <a:ea typeface="Georgia" pitchFamily="34" charset="-122"/>
                <a:cs typeface="Georgia" pitchFamily="34" charset="-120"/>
              </a:rPr>
              <a:t>Fourth</a:t>
            </a:r>
            <a:endParaRPr lang="en-US" sz="1800" dirty="0"/>
          </a:p>
        </p:txBody>
      </p:sp>
      <p:sp>
        <p:nvSpPr>
          <p:cNvPr id="21" name="Text 19"/>
          <p:cNvSpPr/>
          <p:nvPr/>
        </p:nvSpPr>
        <p:spPr>
          <a:xfrm>
            <a:off x="8839962" y="3611880"/>
            <a:ext cx="2416302" cy="320040"/>
          </a:xfrm>
          <a:prstGeom prst="rect">
            <a:avLst/>
          </a:prstGeom>
          <a:noFill/>
          <a:ln/>
        </p:spPr>
        <p:txBody>
          <a:bodyPr wrap="square" lIns="0" tIns="0" rIns="0" bIns="0" rtlCol="0" anchor="ctr"/>
          <a:lstStyle/>
          <a:p>
            <a:pPr algn="ctr" indent="0" marL="0">
              <a:buNone/>
            </a:pPr>
            <a:r>
              <a:rPr lang="en-US" sz="950" b="1" spc="50" kern="0" dirty="0">
                <a:solidFill>
                  <a:srgbClr val="4A6B5D"/>
                </a:solidFill>
                <a:latin typeface="Arial" pitchFamily="34" charset="0"/>
                <a:ea typeface="Arial" pitchFamily="34" charset="-122"/>
                <a:cs typeface="Arial" pitchFamily="34" charset="-120"/>
              </a:rPr>
              <a:t>THE INTEGRATED PASS</a:t>
            </a:r>
            <a:endParaRPr lang="en-US" sz="950" dirty="0"/>
          </a:p>
        </p:txBody>
      </p:sp>
      <p:sp>
        <p:nvSpPr>
          <p:cNvPr id="22" name="Text 20"/>
          <p:cNvSpPr/>
          <p:nvPr/>
        </p:nvSpPr>
        <p:spPr>
          <a:xfrm>
            <a:off x="8876538" y="3977640"/>
            <a:ext cx="2343150" cy="1188720"/>
          </a:xfrm>
          <a:prstGeom prst="rect">
            <a:avLst/>
          </a:prstGeom>
          <a:noFill/>
          <a:ln/>
        </p:spPr>
        <p:txBody>
          <a:bodyPr wrap="square" lIns="0" tIns="0" rIns="0" bIns="0" rtlCol="0" anchor="t"/>
          <a:lstStyle/>
          <a:p>
            <a:pPr algn="ctr" indent="0" marL="0">
              <a:lnSpc>
                <a:spcPts val="1600"/>
              </a:lnSpc>
              <a:buNone/>
            </a:pPr>
            <a:r>
              <a:rPr lang="en-US" sz="1250" dirty="0">
                <a:solidFill>
                  <a:srgbClr val="24313F"/>
                </a:solidFill>
                <a:latin typeface="Georgia" pitchFamily="34" charset="0"/>
                <a:ea typeface="Georgia" pitchFamily="34" charset="-122"/>
                <a:cs typeface="Georgia" pitchFamily="34" charset="-120"/>
              </a:rPr>
              <a:t>Meaning assembled: what the extract argues, and which codes carry it.</a:t>
            </a:r>
            <a:endParaRPr lang="en-US" sz="1250" dirty="0"/>
          </a:p>
        </p:txBody>
      </p:sp>
      <p:sp>
        <p:nvSpPr>
          <p:cNvPr id="23" name="Text 21"/>
          <p:cNvSpPr/>
          <p:nvPr/>
        </p:nvSpPr>
        <p:spPr>
          <a:xfrm>
            <a:off x="822960" y="5257800"/>
            <a:ext cx="10543032" cy="457200"/>
          </a:xfrm>
          <a:prstGeom prst="rect">
            <a:avLst/>
          </a:prstGeom>
          <a:noFill/>
          <a:ln/>
        </p:spPr>
        <p:txBody>
          <a:bodyPr wrap="square" lIns="0" tIns="0" rIns="0" bIns="0" rtlCol="0" anchor="t"/>
          <a:lstStyle/>
          <a:p>
            <a:pPr indent="0" marL="0">
              <a:lnSpc>
                <a:spcPts val="1600"/>
              </a:lnSpc>
              <a:buNone/>
            </a:pPr>
            <a:r>
              <a:rPr lang="en-US" sz="1000" b="1" spc="100" kern="0" dirty="0">
                <a:solidFill>
                  <a:srgbClr val="4A6B5D"/>
                </a:solidFill>
                <a:latin typeface="Arial" pitchFamily="34" charset="0"/>
                <a:ea typeface="Arial" pitchFamily="34" charset="-122"/>
                <a:cs typeface="Arial" pitchFamily="34" charset="-120"/>
              </a:rPr>
              <a:t>THE PAPER'S RULE   </a:t>
            </a:r>
            <a:pPr indent="0" marL="0">
              <a:lnSpc>
                <a:spcPts val="1600"/>
              </a:lnSpc>
              <a:buNone/>
            </a:pPr>
            <a:r>
              <a:rPr lang="en-US" sz="1200" dirty="0">
                <a:solidFill>
                  <a:srgbClr val="7A7F72"/>
                </a:solidFill>
                <a:latin typeface="Georgia" pitchFamily="34" charset="0"/>
                <a:ea typeface="Georgia" pitchFamily="34" charset="-122"/>
                <a:cs typeface="Georgia" pitchFamily="34" charset="-120"/>
              </a:rPr>
              <a:t>Four screenings, and no notes during the first. Cambridge fixes only that.</a:t>
            </a:r>
            <a:endParaRPr lang="en-US" sz="1000" dirty="0"/>
          </a:p>
          <a:p>
            <a:pPr indent="0" marL="0">
              <a:lnSpc>
                <a:spcPts val="1600"/>
              </a:lnSpc>
              <a:buNone/>
            </a:pPr>
            <a:r>
              <a:rPr lang="en-US" sz="1000" b="1" spc="100" kern="0" dirty="0">
                <a:solidFill>
                  <a:srgbClr val="4A6B5D"/>
                </a:solidFill>
                <a:latin typeface="Arial" pitchFamily="34" charset="0"/>
                <a:ea typeface="Arial" pitchFamily="34" charset="-122"/>
                <a:cs typeface="Arial" pitchFamily="34" charset="-120"/>
              </a:rPr>
              <a:t>OUR SPLIT   </a:t>
            </a:r>
            <a:pPr indent="0" marL="0">
              <a:lnSpc>
                <a:spcPts val="1600"/>
              </a:lnSpc>
              <a:buNone/>
            </a:pPr>
            <a:r>
              <a:rPr lang="en-US" sz="1200" dirty="0">
                <a:solidFill>
                  <a:srgbClr val="7A7F72"/>
                </a:solidFill>
                <a:latin typeface="Georgia" pitchFamily="34" charset="0"/>
                <a:ea typeface="Georgia" pitchFamily="34" charset="-122"/>
                <a:cs typeface="Georgia" pitchFamily="34" charset="-120"/>
              </a:rPr>
              <a:t>The per-viewing focus is this course's method. Use it because it works.</a:t>
            </a:r>
            <a:endParaRPr lang="en-US" sz="1000" dirty="0"/>
          </a:p>
        </p:txBody>
      </p:sp>
      <p:sp>
        <p:nvSpPr>
          <p:cNvPr id="24" name="Shape 22"/>
          <p:cNvSpPr/>
          <p:nvPr/>
        </p:nvSpPr>
        <p:spPr>
          <a:xfrm>
            <a:off x="822960" y="6382512"/>
            <a:ext cx="10543032" cy="0"/>
          </a:xfrm>
          <a:prstGeom prst="line">
            <a:avLst/>
          </a:prstGeom>
          <a:noFill/>
          <a:ln w="9525">
            <a:solidFill>
              <a:srgbClr val="D9D4C4"/>
            </a:solidFill>
            <a:prstDash val="solid"/>
          </a:ln>
        </p:spPr>
      </p:sp>
      <p:sp>
        <p:nvSpPr>
          <p:cNvPr id="25" name="Text 23"/>
          <p:cNvSpPr/>
          <p:nvPr/>
        </p:nvSpPr>
        <p:spPr>
          <a:xfrm>
            <a:off x="822960" y="6419088"/>
            <a:ext cx="7315200" cy="274320"/>
          </a:xfrm>
          <a:prstGeom prst="rect">
            <a:avLst/>
          </a:prstGeom>
          <a:noFill/>
          <a:ln/>
        </p:spPr>
        <p:txBody>
          <a:bodyPr wrap="square" lIns="0" tIns="0" rIns="0" bIns="0" rtlCol="0" anchor="ctr"/>
          <a:lstStyle/>
          <a:p>
            <a:pPr indent="0" marL="0">
              <a:buNone/>
            </a:pPr>
            <a:r>
              <a:rPr lang="en-US" sz="900" spc="150" kern="0" dirty="0">
                <a:solidFill>
                  <a:srgbClr val="7A7F72"/>
                </a:solidFill>
                <a:latin typeface="Arial" pitchFamily="34" charset="0"/>
                <a:ea typeface="Arial" pitchFamily="34" charset="-122"/>
                <a:cs typeface="Arial" pitchFamily="34" charset="-120"/>
              </a:rPr>
              <a:t>MEDIA STUDIES 9607 · SEMESTER I</a:t>
            </a:r>
            <a:endParaRPr lang="en-US" sz="900" dirty="0"/>
          </a:p>
        </p:txBody>
      </p:sp>
      <p:sp>
        <p:nvSpPr>
          <p:cNvPr id="26" name="Text 24"/>
          <p:cNvSpPr/>
          <p:nvPr/>
        </p:nvSpPr>
        <p:spPr>
          <a:xfrm>
            <a:off x="10268712" y="6355080"/>
            <a:ext cx="1097280" cy="365760"/>
          </a:xfrm>
          <a:prstGeom prst="rect">
            <a:avLst/>
          </a:prstGeom>
          <a:noFill/>
          <a:ln/>
        </p:spPr>
        <p:txBody>
          <a:bodyPr wrap="square" lIns="0" tIns="0" rIns="0" bIns="0" rtlCol="0" anchor="ctr"/>
          <a:lstStyle/>
          <a:p>
            <a:pPr algn="r" indent="0" marL="0">
              <a:buNone/>
            </a:pPr>
            <a:r>
              <a:rPr lang="en-US" sz="1600" dirty="0">
                <a:solidFill>
                  <a:srgbClr val="A3C1AD"/>
                </a:solidFill>
                <a:latin typeface="Georgia" pitchFamily="34" charset="0"/>
                <a:ea typeface="Georgia" pitchFamily="34" charset="-122"/>
                <a:cs typeface="Georgia" pitchFamily="34" charset="-120"/>
              </a:rPr>
              <a:t>07</a:t>
            </a:r>
            <a:endParaRPr lang="en-US" sz="16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AF8F1"/>
        </a:solidFill>
      </p:bgPr>
    </p:bg>
    <p:spTree>
      <p:nvGrpSpPr>
        <p:cNvPr id="1" name=""/>
        <p:cNvGrpSpPr/>
        <p:nvPr/>
      </p:nvGrpSpPr>
      <p:grpSpPr>
        <a:xfrm>
          <a:off x="0" y="0"/>
          <a:ext cx="0" cy="0"/>
          <a:chOff x="0" y="0"/>
          <a:chExt cx="0" cy="0"/>
        </a:xfrm>
      </p:grpSpPr>
      <p:sp>
        <p:nvSpPr>
          <p:cNvPr id="2" name="Text 0"/>
          <p:cNvSpPr/>
          <p:nvPr/>
        </p:nvSpPr>
        <p:spPr>
          <a:xfrm>
            <a:off x="822960" y="457200"/>
            <a:ext cx="6400800" cy="274320"/>
          </a:xfrm>
          <a:prstGeom prst="rect">
            <a:avLst/>
          </a:prstGeom>
          <a:noFill/>
          <a:ln/>
        </p:spPr>
        <p:txBody>
          <a:bodyPr wrap="square" lIns="0" tIns="0" rIns="0" bIns="0" rtlCol="0" anchor="ctr"/>
          <a:lstStyle/>
          <a:p>
            <a:pPr algn="l" indent="0" marL="0">
              <a:buNone/>
            </a:pPr>
            <a:r>
              <a:rPr lang="en-US" sz="1100" b="1" spc="250" kern="0" dirty="0">
                <a:solidFill>
                  <a:srgbClr val="4A6B5D"/>
                </a:solidFill>
                <a:latin typeface="Arial" pitchFamily="34" charset="0"/>
                <a:ea typeface="Arial" pitchFamily="34" charset="-122"/>
                <a:cs typeface="Arial" pitchFamily="34" charset="-120"/>
              </a:rPr>
              <a:t>HOW A1 IS MARKED</a:t>
            </a:r>
            <a:endParaRPr lang="en-US" sz="1100" dirty="0"/>
          </a:p>
        </p:txBody>
      </p:sp>
      <p:sp>
        <p:nvSpPr>
          <p:cNvPr id="3" name="Text 1"/>
          <p:cNvSpPr/>
          <p:nvPr/>
        </p:nvSpPr>
        <p:spPr>
          <a:xfrm>
            <a:off x="6793992" y="457200"/>
            <a:ext cx="4572000" cy="274320"/>
          </a:xfrm>
          <a:prstGeom prst="rect">
            <a:avLst/>
          </a:prstGeom>
          <a:noFill/>
          <a:ln/>
        </p:spPr>
        <p:txBody>
          <a:bodyPr wrap="square" lIns="0" tIns="0" rIns="0" bIns="0" rtlCol="0" anchor="ctr"/>
          <a:lstStyle/>
          <a:p>
            <a:pPr algn="r" indent="0" marL="0">
              <a:buNone/>
            </a:pPr>
            <a:r>
              <a:rPr lang="en-US" sz="1100" b="1" spc="250" kern="0" dirty="0">
                <a:solidFill>
                  <a:srgbClr val="7A7F72"/>
                </a:solidFill>
                <a:latin typeface="Arial" pitchFamily="34" charset="0"/>
                <a:ea typeface="Arial" pitchFamily="34" charset="-122"/>
                <a:cs typeface="Arial" pitchFamily="34" charset="-120"/>
              </a:rPr>
              <a:t>IN THE OFFICIAL PAPER 2 LANGUAGE</a:t>
            </a:r>
            <a:endParaRPr lang="en-US" sz="1100" dirty="0"/>
          </a:p>
        </p:txBody>
      </p:sp>
      <p:sp>
        <p:nvSpPr>
          <p:cNvPr id="4" name="Shape 2"/>
          <p:cNvSpPr/>
          <p:nvPr/>
        </p:nvSpPr>
        <p:spPr>
          <a:xfrm>
            <a:off x="822960" y="786384"/>
            <a:ext cx="10543032" cy="0"/>
          </a:xfrm>
          <a:prstGeom prst="line">
            <a:avLst/>
          </a:prstGeom>
          <a:noFill/>
          <a:ln w="9525">
            <a:solidFill>
              <a:srgbClr val="D9D4C4"/>
            </a:solidFill>
            <a:prstDash val="solid"/>
          </a:ln>
        </p:spPr>
      </p:sp>
      <p:sp>
        <p:nvSpPr>
          <p:cNvPr id="5" name="Text 3"/>
          <p:cNvSpPr/>
          <p:nvPr/>
        </p:nvSpPr>
        <p:spPr>
          <a:xfrm>
            <a:off x="822960" y="932688"/>
            <a:ext cx="10543032" cy="640080"/>
          </a:xfrm>
          <a:prstGeom prst="rect">
            <a:avLst/>
          </a:prstGeom>
          <a:noFill/>
          <a:ln/>
        </p:spPr>
        <p:txBody>
          <a:bodyPr wrap="square" lIns="0" tIns="0" rIns="0" bIns="0" rtlCol="0" anchor="ctr"/>
          <a:lstStyle/>
          <a:p>
            <a:pPr indent="0" marL="0">
              <a:buNone/>
            </a:pPr>
            <a:r>
              <a:rPr lang="en-US" sz="3000" dirty="0">
                <a:solidFill>
                  <a:srgbClr val="24313F"/>
                </a:solidFill>
                <a:latin typeface="Georgia" pitchFamily="34" charset="0"/>
                <a:ea typeface="Georgia" pitchFamily="34" charset="-122"/>
                <a:cs typeface="Georgia" pitchFamily="34" charset="-120"/>
              </a:rPr>
              <a:t>Five criteria, best-fit, 0 to 5 each</a:t>
            </a:r>
            <a:endParaRPr lang="en-US" sz="3000" dirty="0"/>
          </a:p>
        </p:txBody>
      </p:sp>
      <p:sp>
        <p:nvSpPr>
          <p:cNvPr id="6" name="Shape 4"/>
          <p:cNvSpPr/>
          <p:nvPr/>
        </p:nvSpPr>
        <p:spPr>
          <a:xfrm>
            <a:off x="822960" y="1737360"/>
            <a:ext cx="10543032" cy="0"/>
          </a:xfrm>
          <a:prstGeom prst="line">
            <a:avLst/>
          </a:prstGeom>
          <a:noFill/>
          <a:ln w="12700">
            <a:solidFill>
              <a:srgbClr val="24313F"/>
            </a:solidFill>
            <a:prstDash val="solid"/>
          </a:ln>
        </p:spPr>
      </p:sp>
      <p:sp>
        <p:nvSpPr>
          <p:cNvPr id="7" name="Text 5"/>
          <p:cNvSpPr/>
          <p:nvPr/>
        </p:nvSpPr>
        <p:spPr>
          <a:xfrm>
            <a:off x="822960" y="1737360"/>
            <a:ext cx="1463040" cy="548640"/>
          </a:xfrm>
          <a:prstGeom prst="rect">
            <a:avLst/>
          </a:prstGeom>
          <a:noFill/>
          <a:ln/>
        </p:spPr>
        <p:txBody>
          <a:bodyPr wrap="square" lIns="0" tIns="0" rIns="0" bIns="0" rtlCol="0" anchor="ctr"/>
          <a:lstStyle/>
          <a:p>
            <a:pPr indent="0" marL="0">
              <a:buNone/>
            </a:pPr>
            <a:r>
              <a:rPr lang="en-US" sz="1100" b="1" spc="100" kern="0" dirty="0">
                <a:solidFill>
                  <a:srgbClr val="7A7F72"/>
                </a:solidFill>
                <a:latin typeface="Arial" pitchFamily="34" charset="0"/>
                <a:ea typeface="Arial" pitchFamily="34" charset="-122"/>
                <a:cs typeface="Arial" pitchFamily="34" charset="-120"/>
              </a:rPr>
              <a:t>AO</a:t>
            </a:r>
            <a:endParaRPr lang="en-US" sz="1100" dirty="0"/>
          </a:p>
        </p:txBody>
      </p:sp>
      <p:sp>
        <p:nvSpPr>
          <p:cNvPr id="8" name="Text 6"/>
          <p:cNvSpPr/>
          <p:nvPr/>
        </p:nvSpPr>
        <p:spPr>
          <a:xfrm>
            <a:off x="2377440" y="1737360"/>
            <a:ext cx="7315200" cy="548640"/>
          </a:xfrm>
          <a:prstGeom prst="rect">
            <a:avLst/>
          </a:prstGeom>
          <a:noFill/>
          <a:ln/>
        </p:spPr>
        <p:txBody>
          <a:bodyPr wrap="square" lIns="0" tIns="0" rIns="0" bIns="0" rtlCol="0" anchor="ctr"/>
          <a:lstStyle/>
          <a:p>
            <a:pPr indent="0" marL="0">
              <a:buNone/>
            </a:pPr>
            <a:r>
              <a:rPr lang="en-US" sz="1100" b="1" spc="100" kern="0" dirty="0">
                <a:solidFill>
                  <a:srgbClr val="7A7F72"/>
                </a:solidFill>
                <a:latin typeface="Arial" pitchFamily="34" charset="0"/>
                <a:ea typeface="Arial" pitchFamily="34" charset="-122"/>
                <a:cs typeface="Arial" pitchFamily="34" charset="-120"/>
              </a:rPr>
              <a:t>Criterion</a:t>
            </a:r>
            <a:endParaRPr lang="en-US" sz="1100" dirty="0"/>
          </a:p>
        </p:txBody>
      </p:sp>
      <p:sp>
        <p:nvSpPr>
          <p:cNvPr id="9" name="Text 7"/>
          <p:cNvSpPr/>
          <p:nvPr/>
        </p:nvSpPr>
        <p:spPr>
          <a:xfrm>
            <a:off x="9875520" y="1737360"/>
            <a:ext cx="1463040" cy="548640"/>
          </a:xfrm>
          <a:prstGeom prst="rect">
            <a:avLst/>
          </a:prstGeom>
          <a:noFill/>
          <a:ln/>
        </p:spPr>
        <p:txBody>
          <a:bodyPr wrap="square" lIns="0" tIns="0" rIns="0" bIns="0" rtlCol="0" anchor="ctr"/>
          <a:lstStyle/>
          <a:p>
            <a:pPr algn="r" indent="0" marL="0">
              <a:buNone/>
            </a:pPr>
            <a:r>
              <a:rPr lang="en-US" sz="1100" b="1" spc="100" kern="0" dirty="0">
                <a:solidFill>
                  <a:srgbClr val="7A7F72"/>
                </a:solidFill>
                <a:latin typeface="Arial" pitchFamily="34" charset="0"/>
                <a:ea typeface="Arial" pitchFamily="34" charset="-122"/>
                <a:cs typeface="Arial" pitchFamily="34" charset="-120"/>
              </a:rPr>
              <a:t>Band</a:t>
            </a:r>
            <a:endParaRPr lang="en-US" sz="1100" dirty="0"/>
          </a:p>
        </p:txBody>
      </p:sp>
      <p:sp>
        <p:nvSpPr>
          <p:cNvPr id="10" name="Shape 8"/>
          <p:cNvSpPr/>
          <p:nvPr/>
        </p:nvSpPr>
        <p:spPr>
          <a:xfrm>
            <a:off x="822960" y="2286000"/>
            <a:ext cx="10543032" cy="0"/>
          </a:xfrm>
          <a:prstGeom prst="line">
            <a:avLst/>
          </a:prstGeom>
          <a:noFill/>
          <a:ln w="9525">
            <a:solidFill>
              <a:srgbClr val="D9D4C4"/>
            </a:solidFill>
            <a:prstDash val="solid"/>
          </a:ln>
        </p:spPr>
      </p:sp>
      <p:sp>
        <p:nvSpPr>
          <p:cNvPr id="11" name="Text 9"/>
          <p:cNvSpPr/>
          <p:nvPr/>
        </p:nvSpPr>
        <p:spPr>
          <a:xfrm>
            <a:off x="822960" y="2286000"/>
            <a:ext cx="1463040" cy="548640"/>
          </a:xfrm>
          <a:prstGeom prst="rect">
            <a:avLst/>
          </a:prstGeom>
          <a:noFill/>
          <a:ln/>
        </p:spPr>
        <p:txBody>
          <a:bodyPr wrap="square" lIns="0" tIns="0" rIns="0" bIns="0" rtlCol="0" anchor="ctr"/>
          <a:lstStyle/>
          <a:p>
            <a:pPr indent="0" marL="0">
              <a:buNone/>
            </a:pPr>
            <a:r>
              <a:rPr lang="en-US" sz="1300" b="1" spc="100" kern="0" dirty="0">
                <a:solidFill>
                  <a:srgbClr val="4A6B5D"/>
                </a:solidFill>
                <a:latin typeface="Arial" pitchFamily="34" charset="0"/>
                <a:ea typeface="Arial" pitchFamily="34" charset="-122"/>
                <a:cs typeface="Arial" pitchFamily="34" charset="-120"/>
              </a:rPr>
              <a:t>AO1</a:t>
            </a:r>
            <a:endParaRPr lang="en-US" sz="1300" dirty="0"/>
          </a:p>
        </p:txBody>
      </p:sp>
      <p:sp>
        <p:nvSpPr>
          <p:cNvPr id="12" name="Text 10"/>
          <p:cNvSpPr/>
          <p:nvPr/>
        </p:nvSpPr>
        <p:spPr>
          <a:xfrm>
            <a:off x="2377440" y="2286000"/>
            <a:ext cx="7315200" cy="548640"/>
          </a:xfrm>
          <a:prstGeom prst="rect">
            <a:avLst/>
          </a:prstGeom>
          <a:noFill/>
          <a:ln/>
        </p:spPr>
        <p:txBody>
          <a:bodyPr wrap="square" lIns="0" tIns="0" rIns="0" bIns="0" rtlCol="0" anchor="ctr"/>
          <a:lstStyle/>
          <a:p>
            <a:pPr indent="0" marL="0">
              <a:buNone/>
            </a:pPr>
            <a:r>
              <a:rPr lang="en-US" sz="1600" dirty="0">
                <a:solidFill>
                  <a:srgbClr val="24313F"/>
                </a:solidFill>
                <a:latin typeface="Georgia" pitchFamily="34" charset="0"/>
                <a:ea typeface="Georgia" pitchFamily="34" charset="-122"/>
                <a:cs typeface="Georgia" pitchFamily="34" charset="-120"/>
              </a:rPr>
              <a:t>Media Concepts: language and representation</a:t>
            </a:r>
            <a:endParaRPr lang="en-US" sz="1600" dirty="0"/>
          </a:p>
        </p:txBody>
      </p:sp>
      <p:sp>
        <p:nvSpPr>
          <p:cNvPr id="13" name="Text 11"/>
          <p:cNvSpPr/>
          <p:nvPr/>
        </p:nvSpPr>
        <p:spPr>
          <a:xfrm>
            <a:off x="9875520" y="2286000"/>
            <a:ext cx="1463040" cy="548640"/>
          </a:xfrm>
          <a:prstGeom prst="rect">
            <a:avLst/>
          </a:prstGeom>
          <a:noFill/>
          <a:ln/>
        </p:spPr>
        <p:txBody>
          <a:bodyPr wrap="square" lIns="0" tIns="0" rIns="0" bIns="0" rtlCol="0" anchor="ctr"/>
          <a:lstStyle/>
          <a:p>
            <a:pPr algn="r" indent="0" marL="0">
              <a:buNone/>
            </a:pPr>
            <a:r>
              <a:rPr lang="en-US" sz="1300" b="1" dirty="0">
                <a:solidFill>
                  <a:srgbClr val="A3C1AD"/>
                </a:solidFill>
                <a:latin typeface="Arial" pitchFamily="34" charset="0"/>
                <a:ea typeface="Arial" pitchFamily="34" charset="-122"/>
                <a:cs typeface="Arial" pitchFamily="34" charset="-120"/>
              </a:rPr>
              <a:t>/5</a:t>
            </a:r>
            <a:endParaRPr lang="en-US" sz="1300" dirty="0"/>
          </a:p>
        </p:txBody>
      </p:sp>
      <p:sp>
        <p:nvSpPr>
          <p:cNvPr id="14" name="Shape 12"/>
          <p:cNvSpPr/>
          <p:nvPr/>
        </p:nvSpPr>
        <p:spPr>
          <a:xfrm>
            <a:off x="822960" y="2834640"/>
            <a:ext cx="10543032" cy="0"/>
          </a:xfrm>
          <a:prstGeom prst="line">
            <a:avLst/>
          </a:prstGeom>
          <a:noFill/>
          <a:ln w="9525">
            <a:solidFill>
              <a:srgbClr val="D9D4C4"/>
            </a:solidFill>
            <a:prstDash val="solid"/>
          </a:ln>
        </p:spPr>
      </p:sp>
      <p:sp>
        <p:nvSpPr>
          <p:cNvPr id="15" name="Text 13"/>
          <p:cNvSpPr/>
          <p:nvPr/>
        </p:nvSpPr>
        <p:spPr>
          <a:xfrm>
            <a:off x="822960" y="2834640"/>
            <a:ext cx="1463040" cy="548640"/>
          </a:xfrm>
          <a:prstGeom prst="rect">
            <a:avLst/>
          </a:prstGeom>
          <a:noFill/>
          <a:ln/>
        </p:spPr>
        <p:txBody>
          <a:bodyPr wrap="square" lIns="0" tIns="0" rIns="0" bIns="0" rtlCol="0" anchor="ctr"/>
          <a:lstStyle/>
          <a:p>
            <a:pPr indent="0" marL="0">
              <a:buNone/>
            </a:pPr>
            <a:r>
              <a:rPr lang="en-US" sz="1300" b="1" spc="100" kern="0" dirty="0">
                <a:solidFill>
                  <a:srgbClr val="4A6B5D"/>
                </a:solidFill>
                <a:latin typeface="Arial" pitchFamily="34" charset="0"/>
                <a:ea typeface="Arial" pitchFamily="34" charset="-122"/>
                <a:cs typeface="Arial" pitchFamily="34" charset="-120"/>
              </a:rPr>
              <a:t>AO1</a:t>
            </a:r>
            <a:endParaRPr lang="en-US" sz="1300" dirty="0"/>
          </a:p>
        </p:txBody>
      </p:sp>
      <p:sp>
        <p:nvSpPr>
          <p:cNvPr id="16" name="Text 14"/>
          <p:cNvSpPr/>
          <p:nvPr/>
        </p:nvSpPr>
        <p:spPr>
          <a:xfrm>
            <a:off x="2377440" y="2834640"/>
            <a:ext cx="7315200" cy="548640"/>
          </a:xfrm>
          <a:prstGeom prst="rect">
            <a:avLst/>
          </a:prstGeom>
          <a:noFill/>
          <a:ln/>
        </p:spPr>
        <p:txBody>
          <a:bodyPr wrap="square" lIns="0" tIns="0" rIns="0" bIns="0" rtlCol="0" anchor="ctr"/>
          <a:lstStyle/>
          <a:p>
            <a:pPr indent="0" marL="0">
              <a:buNone/>
            </a:pPr>
            <a:r>
              <a:rPr lang="en-US" sz="1600" dirty="0">
                <a:solidFill>
                  <a:srgbClr val="24313F"/>
                </a:solidFill>
                <a:latin typeface="Georgia" pitchFamily="34" charset="0"/>
                <a:ea typeface="Georgia" pitchFamily="34" charset="-122"/>
                <a:cs typeface="Georgia" pitchFamily="34" charset="-120"/>
              </a:rPr>
              <a:t>Contexts and Critical Debates</a:t>
            </a:r>
            <a:endParaRPr lang="en-US" sz="1600" dirty="0"/>
          </a:p>
        </p:txBody>
      </p:sp>
      <p:sp>
        <p:nvSpPr>
          <p:cNvPr id="17" name="Text 15"/>
          <p:cNvSpPr/>
          <p:nvPr/>
        </p:nvSpPr>
        <p:spPr>
          <a:xfrm>
            <a:off x="9875520" y="2834640"/>
            <a:ext cx="1463040" cy="548640"/>
          </a:xfrm>
          <a:prstGeom prst="rect">
            <a:avLst/>
          </a:prstGeom>
          <a:noFill/>
          <a:ln/>
        </p:spPr>
        <p:txBody>
          <a:bodyPr wrap="square" lIns="0" tIns="0" rIns="0" bIns="0" rtlCol="0" anchor="ctr"/>
          <a:lstStyle/>
          <a:p>
            <a:pPr algn="r" indent="0" marL="0">
              <a:buNone/>
            </a:pPr>
            <a:r>
              <a:rPr lang="en-US" sz="1300" b="1" dirty="0">
                <a:solidFill>
                  <a:srgbClr val="A3C1AD"/>
                </a:solidFill>
                <a:latin typeface="Arial" pitchFamily="34" charset="0"/>
                <a:ea typeface="Arial" pitchFamily="34" charset="-122"/>
                <a:cs typeface="Arial" pitchFamily="34" charset="-120"/>
              </a:rPr>
              <a:t>/5</a:t>
            </a:r>
            <a:endParaRPr lang="en-US" sz="1300" dirty="0"/>
          </a:p>
        </p:txBody>
      </p:sp>
      <p:sp>
        <p:nvSpPr>
          <p:cNvPr id="18" name="Shape 16"/>
          <p:cNvSpPr/>
          <p:nvPr/>
        </p:nvSpPr>
        <p:spPr>
          <a:xfrm>
            <a:off x="822960" y="3383280"/>
            <a:ext cx="10543032" cy="0"/>
          </a:xfrm>
          <a:prstGeom prst="line">
            <a:avLst/>
          </a:prstGeom>
          <a:noFill/>
          <a:ln w="9525">
            <a:solidFill>
              <a:srgbClr val="D9D4C4"/>
            </a:solidFill>
            <a:prstDash val="solid"/>
          </a:ln>
        </p:spPr>
      </p:sp>
      <p:sp>
        <p:nvSpPr>
          <p:cNvPr id="19" name="Text 17"/>
          <p:cNvSpPr/>
          <p:nvPr/>
        </p:nvSpPr>
        <p:spPr>
          <a:xfrm>
            <a:off x="822960" y="3383280"/>
            <a:ext cx="1463040" cy="548640"/>
          </a:xfrm>
          <a:prstGeom prst="rect">
            <a:avLst/>
          </a:prstGeom>
          <a:noFill/>
          <a:ln/>
        </p:spPr>
        <p:txBody>
          <a:bodyPr wrap="square" lIns="0" tIns="0" rIns="0" bIns="0" rtlCol="0" anchor="ctr"/>
          <a:lstStyle/>
          <a:p>
            <a:pPr indent="0" marL="0">
              <a:buNone/>
            </a:pPr>
            <a:r>
              <a:rPr lang="en-US" sz="1300" b="1" spc="100" kern="0" dirty="0">
                <a:solidFill>
                  <a:srgbClr val="4A6B5D"/>
                </a:solidFill>
                <a:latin typeface="Arial" pitchFamily="34" charset="0"/>
                <a:ea typeface="Arial" pitchFamily="34" charset="-122"/>
                <a:cs typeface="Arial" pitchFamily="34" charset="-120"/>
              </a:rPr>
              <a:t>AO1</a:t>
            </a:r>
            <a:endParaRPr lang="en-US" sz="1300" dirty="0"/>
          </a:p>
        </p:txBody>
      </p:sp>
      <p:sp>
        <p:nvSpPr>
          <p:cNvPr id="20" name="Text 18"/>
          <p:cNvSpPr/>
          <p:nvPr/>
        </p:nvSpPr>
        <p:spPr>
          <a:xfrm>
            <a:off x="2377440" y="3383280"/>
            <a:ext cx="7315200" cy="548640"/>
          </a:xfrm>
          <a:prstGeom prst="rect">
            <a:avLst/>
          </a:prstGeom>
          <a:noFill/>
          <a:ln/>
        </p:spPr>
        <p:txBody>
          <a:bodyPr wrap="square" lIns="0" tIns="0" rIns="0" bIns="0" rtlCol="0" anchor="ctr"/>
          <a:lstStyle/>
          <a:p>
            <a:pPr indent="0" marL="0">
              <a:buNone/>
            </a:pPr>
            <a:r>
              <a:rPr lang="en-US" sz="1600" dirty="0">
                <a:solidFill>
                  <a:srgbClr val="24313F"/>
                </a:solidFill>
                <a:latin typeface="Georgia" pitchFamily="34" charset="0"/>
                <a:ea typeface="Georgia" pitchFamily="34" charset="-122"/>
                <a:cs typeface="Georgia" pitchFamily="34" charset="-120"/>
              </a:rPr>
              <a:t>Use of Terminology</a:t>
            </a:r>
            <a:endParaRPr lang="en-US" sz="1600" dirty="0"/>
          </a:p>
        </p:txBody>
      </p:sp>
      <p:sp>
        <p:nvSpPr>
          <p:cNvPr id="21" name="Text 19"/>
          <p:cNvSpPr/>
          <p:nvPr/>
        </p:nvSpPr>
        <p:spPr>
          <a:xfrm>
            <a:off x="9875520" y="3383280"/>
            <a:ext cx="1463040" cy="548640"/>
          </a:xfrm>
          <a:prstGeom prst="rect">
            <a:avLst/>
          </a:prstGeom>
          <a:noFill/>
          <a:ln/>
        </p:spPr>
        <p:txBody>
          <a:bodyPr wrap="square" lIns="0" tIns="0" rIns="0" bIns="0" rtlCol="0" anchor="ctr"/>
          <a:lstStyle/>
          <a:p>
            <a:pPr algn="r" indent="0" marL="0">
              <a:buNone/>
            </a:pPr>
            <a:r>
              <a:rPr lang="en-US" sz="1300" b="1" dirty="0">
                <a:solidFill>
                  <a:srgbClr val="A3C1AD"/>
                </a:solidFill>
                <a:latin typeface="Arial" pitchFamily="34" charset="0"/>
                <a:ea typeface="Arial" pitchFamily="34" charset="-122"/>
                <a:cs typeface="Arial" pitchFamily="34" charset="-120"/>
              </a:rPr>
              <a:t>/5</a:t>
            </a:r>
            <a:endParaRPr lang="en-US" sz="1300" dirty="0"/>
          </a:p>
        </p:txBody>
      </p:sp>
      <p:sp>
        <p:nvSpPr>
          <p:cNvPr id="22" name="Shape 20"/>
          <p:cNvSpPr/>
          <p:nvPr/>
        </p:nvSpPr>
        <p:spPr>
          <a:xfrm>
            <a:off x="822960" y="3931920"/>
            <a:ext cx="10543032" cy="0"/>
          </a:xfrm>
          <a:prstGeom prst="line">
            <a:avLst/>
          </a:prstGeom>
          <a:noFill/>
          <a:ln w="9525">
            <a:solidFill>
              <a:srgbClr val="D9D4C4"/>
            </a:solidFill>
            <a:prstDash val="solid"/>
          </a:ln>
        </p:spPr>
      </p:sp>
      <p:sp>
        <p:nvSpPr>
          <p:cNvPr id="23" name="Text 21"/>
          <p:cNvSpPr/>
          <p:nvPr/>
        </p:nvSpPr>
        <p:spPr>
          <a:xfrm>
            <a:off x="822960" y="3931920"/>
            <a:ext cx="1463040" cy="548640"/>
          </a:xfrm>
          <a:prstGeom prst="rect">
            <a:avLst/>
          </a:prstGeom>
          <a:noFill/>
          <a:ln/>
        </p:spPr>
        <p:txBody>
          <a:bodyPr wrap="square" lIns="0" tIns="0" rIns="0" bIns="0" rtlCol="0" anchor="ctr"/>
          <a:lstStyle/>
          <a:p>
            <a:pPr indent="0" marL="0">
              <a:buNone/>
            </a:pPr>
            <a:r>
              <a:rPr lang="en-US" sz="1300" b="1" spc="100" kern="0" dirty="0">
                <a:solidFill>
                  <a:srgbClr val="4A6B5D"/>
                </a:solidFill>
                <a:latin typeface="Arial" pitchFamily="34" charset="0"/>
                <a:ea typeface="Arial" pitchFamily="34" charset="-122"/>
                <a:cs typeface="Arial" pitchFamily="34" charset="-120"/>
              </a:rPr>
              <a:t>AO2</a:t>
            </a:r>
            <a:endParaRPr lang="en-US" sz="1300" dirty="0"/>
          </a:p>
        </p:txBody>
      </p:sp>
      <p:sp>
        <p:nvSpPr>
          <p:cNvPr id="24" name="Text 22"/>
          <p:cNvSpPr/>
          <p:nvPr/>
        </p:nvSpPr>
        <p:spPr>
          <a:xfrm>
            <a:off x="2377440" y="3931920"/>
            <a:ext cx="7315200" cy="548640"/>
          </a:xfrm>
          <a:prstGeom prst="rect">
            <a:avLst/>
          </a:prstGeom>
          <a:noFill/>
          <a:ln/>
        </p:spPr>
        <p:txBody>
          <a:bodyPr wrap="square" lIns="0" tIns="0" rIns="0" bIns="0" rtlCol="0" anchor="ctr"/>
          <a:lstStyle/>
          <a:p>
            <a:pPr indent="0" marL="0">
              <a:buNone/>
            </a:pPr>
            <a:r>
              <a:rPr lang="en-US" sz="1600" dirty="0">
                <a:solidFill>
                  <a:srgbClr val="24313F"/>
                </a:solidFill>
                <a:latin typeface="Georgia" pitchFamily="34" charset="0"/>
                <a:ea typeface="Georgia" pitchFamily="34" charset="-122"/>
                <a:cs typeface="Georgia" pitchFamily="34" charset="-120"/>
              </a:rPr>
              <a:t>Analysis of how meaning is created</a:t>
            </a:r>
            <a:endParaRPr lang="en-US" sz="1600" dirty="0"/>
          </a:p>
        </p:txBody>
      </p:sp>
      <p:sp>
        <p:nvSpPr>
          <p:cNvPr id="25" name="Text 23"/>
          <p:cNvSpPr/>
          <p:nvPr/>
        </p:nvSpPr>
        <p:spPr>
          <a:xfrm>
            <a:off x="9875520" y="3931920"/>
            <a:ext cx="1463040" cy="548640"/>
          </a:xfrm>
          <a:prstGeom prst="rect">
            <a:avLst/>
          </a:prstGeom>
          <a:noFill/>
          <a:ln/>
        </p:spPr>
        <p:txBody>
          <a:bodyPr wrap="square" lIns="0" tIns="0" rIns="0" bIns="0" rtlCol="0" anchor="ctr"/>
          <a:lstStyle/>
          <a:p>
            <a:pPr algn="r" indent="0" marL="0">
              <a:buNone/>
            </a:pPr>
            <a:r>
              <a:rPr lang="en-US" sz="1300" b="1" dirty="0">
                <a:solidFill>
                  <a:srgbClr val="A3C1AD"/>
                </a:solidFill>
                <a:latin typeface="Arial" pitchFamily="34" charset="0"/>
                <a:ea typeface="Arial" pitchFamily="34" charset="-122"/>
                <a:cs typeface="Arial" pitchFamily="34" charset="-120"/>
              </a:rPr>
              <a:t>/5</a:t>
            </a:r>
            <a:endParaRPr lang="en-US" sz="1300" dirty="0"/>
          </a:p>
        </p:txBody>
      </p:sp>
      <p:sp>
        <p:nvSpPr>
          <p:cNvPr id="26" name="Shape 24"/>
          <p:cNvSpPr/>
          <p:nvPr/>
        </p:nvSpPr>
        <p:spPr>
          <a:xfrm>
            <a:off x="822960" y="4480560"/>
            <a:ext cx="10543032" cy="0"/>
          </a:xfrm>
          <a:prstGeom prst="line">
            <a:avLst/>
          </a:prstGeom>
          <a:noFill/>
          <a:ln w="9525">
            <a:solidFill>
              <a:srgbClr val="D9D4C4"/>
            </a:solidFill>
            <a:prstDash val="solid"/>
          </a:ln>
        </p:spPr>
      </p:sp>
      <p:sp>
        <p:nvSpPr>
          <p:cNvPr id="27" name="Text 25"/>
          <p:cNvSpPr/>
          <p:nvPr/>
        </p:nvSpPr>
        <p:spPr>
          <a:xfrm>
            <a:off x="822960" y="4480560"/>
            <a:ext cx="1463040" cy="548640"/>
          </a:xfrm>
          <a:prstGeom prst="rect">
            <a:avLst/>
          </a:prstGeom>
          <a:noFill/>
          <a:ln/>
        </p:spPr>
        <p:txBody>
          <a:bodyPr wrap="square" lIns="0" tIns="0" rIns="0" bIns="0" rtlCol="0" anchor="ctr"/>
          <a:lstStyle/>
          <a:p>
            <a:pPr indent="0" marL="0">
              <a:buNone/>
            </a:pPr>
            <a:r>
              <a:rPr lang="en-US" sz="1300" b="1" spc="100" kern="0" dirty="0">
                <a:solidFill>
                  <a:srgbClr val="4A6B5D"/>
                </a:solidFill>
                <a:latin typeface="Arial" pitchFamily="34" charset="0"/>
                <a:ea typeface="Arial" pitchFamily="34" charset="-122"/>
                <a:cs typeface="Arial" pitchFamily="34" charset="-120"/>
              </a:rPr>
              <a:t>AO2</a:t>
            </a:r>
            <a:endParaRPr lang="en-US" sz="1300" dirty="0"/>
          </a:p>
        </p:txBody>
      </p:sp>
      <p:sp>
        <p:nvSpPr>
          <p:cNvPr id="28" name="Text 26"/>
          <p:cNvSpPr/>
          <p:nvPr/>
        </p:nvSpPr>
        <p:spPr>
          <a:xfrm>
            <a:off x="2377440" y="4480560"/>
            <a:ext cx="7315200" cy="548640"/>
          </a:xfrm>
          <a:prstGeom prst="rect">
            <a:avLst/>
          </a:prstGeom>
          <a:noFill/>
          <a:ln/>
        </p:spPr>
        <p:txBody>
          <a:bodyPr wrap="square" lIns="0" tIns="0" rIns="0" bIns="0" rtlCol="0" anchor="ctr"/>
          <a:lstStyle/>
          <a:p>
            <a:pPr indent="0" marL="0">
              <a:buNone/>
            </a:pPr>
            <a:r>
              <a:rPr lang="en-US" sz="1600" dirty="0">
                <a:solidFill>
                  <a:srgbClr val="24313F"/>
                </a:solidFill>
                <a:latin typeface="Georgia" pitchFamily="34" charset="0"/>
                <a:ea typeface="Georgia" pitchFamily="34" charset="-122"/>
                <a:cs typeface="Georgia" pitchFamily="34" charset="-120"/>
              </a:rPr>
              <a:t>Use of Examples</a:t>
            </a:r>
            <a:endParaRPr lang="en-US" sz="1600" dirty="0"/>
          </a:p>
        </p:txBody>
      </p:sp>
      <p:sp>
        <p:nvSpPr>
          <p:cNvPr id="29" name="Text 27"/>
          <p:cNvSpPr/>
          <p:nvPr/>
        </p:nvSpPr>
        <p:spPr>
          <a:xfrm>
            <a:off x="9875520" y="4480560"/>
            <a:ext cx="1463040" cy="548640"/>
          </a:xfrm>
          <a:prstGeom prst="rect">
            <a:avLst/>
          </a:prstGeom>
          <a:noFill/>
          <a:ln/>
        </p:spPr>
        <p:txBody>
          <a:bodyPr wrap="square" lIns="0" tIns="0" rIns="0" bIns="0" rtlCol="0" anchor="ctr"/>
          <a:lstStyle/>
          <a:p>
            <a:pPr algn="r" indent="0" marL="0">
              <a:buNone/>
            </a:pPr>
            <a:r>
              <a:rPr lang="en-US" sz="1300" b="1" dirty="0">
                <a:solidFill>
                  <a:srgbClr val="A3C1AD"/>
                </a:solidFill>
                <a:latin typeface="Arial" pitchFamily="34" charset="0"/>
                <a:ea typeface="Arial" pitchFamily="34" charset="-122"/>
                <a:cs typeface="Arial" pitchFamily="34" charset="-120"/>
              </a:rPr>
              <a:t>/5</a:t>
            </a:r>
            <a:endParaRPr lang="en-US" sz="1300" dirty="0"/>
          </a:p>
        </p:txBody>
      </p:sp>
      <p:sp>
        <p:nvSpPr>
          <p:cNvPr id="30" name="Shape 28"/>
          <p:cNvSpPr/>
          <p:nvPr/>
        </p:nvSpPr>
        <p:spPr>
          <a:xfrm>
            <a:off x="822960" y="5029200"/>
            <a:ext cx="10543032" cy="0"/>
          </a:xfrm>
          <a:prstGeom prst="line">
            <a:avLst/>
          </a:prstGeom>
          <a:noFill/>
          <a:ln w="9525">
            <a:solidFill>
              <a:srgbClr val="D9D4C4"/>
            </a:solidFill>
            <a:prstDash val="solid"/>
          </a:ln>
        </p:spPr>
      </p:sp>
      <p:sp>
        <p:nvSpPr>
          <p:cNvPr id="31" name="Text 29"/>
          <p:cNvSpPr/>
          <p:nvPr/>
        </p:nvSpPr>
        <p:spPr>
          <a:xfrm>
            <a:off x="822960" y="5212080"/>
            <a:ext cx="10543032" cy="365760"/>
          </a:xfrm>
          <a:prstGeom prst="rect">
            <a:avLst/>
          </a:prstGeom>
          <a:noFill/>
          <a:ln/>
        </p:spPr>
        <p:txBody>
          <a:bodyPr wrap="square" lIns="0" tIns="0" rIns="0" bIns="0" rtlCol="0" anchor="ctr"/>
          <a:lstStyle/>
          <a:p>
            <a:pPr indent="0" marL="0">
              <a:buNone/>
            </a:pPr>
            <a:r>
              <a:rPr lang="en-US" sz="1200" i="1" dirty="0">
                <a:solidFill>
                  <a:srgbClr val="7A7F72"/>
                </a:solidFill>
                <a:latin typeface="Arial" pitchFamily="34" charset="0"/>
                <a:ea typeface="Arial" pitchFamily="34" charset="-122"/>
                <a:cs typeface="Arial" pitchFamily="34" charset="-120"/>
              </a:rPr>
              <a:t>Band words: 5 Sophisticated  ·  4 Thorough  ·  3 Clear  ·  2 Limited  ·  1 Basic. So A1 is AO1 60 / AO2 40.</a:t>
            </a:r>
            <a:endParaRPr lang="en-US" sz="1200" dirty="0"/>
          </a:p>
        </p:txBody>
      </p:sp>
      <p:sp>
        <p:nvSpPr>
          <p:cNvPr id="32" name="Shape 30"/>
          <p:cNvSpPr/>
          <p:nvPr/>
        </p:nvSpPr>
        <p:spPr>
          <a:xfrm>
            <a:off x="822960" y="6382512"/>
            <a:ext cx="10543032" cy="0"/>
          </a:xfrm>
          <a:prstGeom prst="line">
            <a:avLst/>
          </a:prstGeom>
          <a:noFill/>
          <a:ln w="9525">
            <a:solidFill>
              <a:srgbClr val="D9D4C4"/>
            </a:solidFill>
            <a:prstDash val="solid"/>
          </a:ln>
        </p:spPr>
      </p:sp>
      <p:sp>
        <p:nvSpPr>
          <p:cNvPr id="33" name="Text 31"/>
          <p:cNvSpPr/>
          <p:nvPr/>
        </p:nvSpPr>
        <p:spPr>
          <a:xfrm>
            <a:off x="822960" y="6419088"/>
            <a:ext cx="7315200" cy="274320"/>
          </a:xfrm>
          <a:prstGeom prst="rect">
            <a:avLst/>
          </a:prstGeom>
          <a:noFill/>
          <a:ln/>
        </p:spPr>
        <p:txBody>
          <a:bodyPr wrap="square" lIns="0" tIns="0" rIns="0" bIns="0" rtlCol="0" anchor="ctr"/>
          <a:lstStyle/>
          <a:p>
            <a:pPr indent="0" marL="0">
              <a:buNone/>
            </a:pPr>
            <a:r>
              <a:rPr lang="en-US" sz="900" spc="150" kern="0" dirty="0">
                <a:solidFill>
                  <a:srgbClr val="7A7F72"/>
                </a:solidFill>
                <a:latin typeface="Arial" pitchFamily="34" charset="0"/>
                <a:ea typeface="Arial" pitchFamily="34" charset="-122"/>
                <a:cs typeface="Arial" pitchFamily="34" charset="-120"/>
              </a:rPr>
              <a:t>MEDIA STUDIES 9607 · SEMESTER I</a:t>
            </a:r>
            <a:endParaRPr lang="en-US" sz="900" dirty="0"/>
          </a:p>
        </p:txBody>
      </p:sp>
      <p:sp>
        <p:nvSpPr>
          <p:cNvPr id="34" name="Text 32"/>
          <p:cNvSpPr/>
          <p:nvPr/>
        </p:nvSpPr>
        <p:spPr>
          <a:xfrm>
            <a:off x="10268712" y="6355080"/>
            <a:ext cx="1097280" cy="365760"/>
          </a:xfrm>
          <a:prstGeom prst="rect">
            <a:avLst/>
          </a:prstGeom>
          <a:noFill/>
          <a:ln/>
        </p:spPr>
        <p:txBody>
          <a:bodyPr wrap="square" lIns="0" tIns="0" rIns="0" bIns="0" rtlCol="0" anchor="ctr"/>
          <a:lstStyle/>
          <a:p>
            <a:pPr algn="r" indent="0" marL="0">
              <a:buNone/>
            </a:pPr>
            <a:r>
              <a:rPr lang="en-US" sz="1600" dirty="0">
                <a:solidFill>
                  <a:srgbClr val="A3C1AD"/>
                </a:solidFill>
                <a:latin typeface="Georgia" pitchFamily="34" charset="0"/>
                <a:ea typeface="Georgia" pitchFamily="34" charset="-122"/>
                <a:cs typeface="Georgia" pitchFamily="34" charset="-120"/>
              </a:rPr>
              <a:t>08</a:t>
            </a:r>
            <a:endParaRPr lang="en-US" sz="16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E8EFE7"/>
        </a:solidFill>
      </p:bgPr>
    </p:bg>
    <p:spTree>
      <p:nvGrpSpPr>
        <p:cNvPr id="1" name=""/>
        <p:cNvGrpSpPr/>
        <p:nvPr/>
      </p:nvGrpSpPr>
      <p:grpSpPr>
        <a:xfrm>
          <a:off x="0" y="0"/>
          <a:ext cx="0" cy="0"/>
          <a:chOff x="0" y="0"/>
          <a:chExt cx="0" cy="0"/>
        </a:xfrm>
      </p:grpSpPr>
      <p:sp>
        <p:nvSpPr>
          <p:cNvPr id="2" name="Text 0"/>
          <p:cNvSpPr/>
          <p:nvPr/>
        </p:nvSpPr>
        <p:spPr>
          <a:xfrm>
            <a:off x="822960" y="1554480"/>
            <a:ext cx="8229600" cy="274320"/>
          </a:xfrm>
          <a:prstGeom prst="rect">
            <a:avLst/>
          </a:prstGeom>
          <a:noFill/>
          <a:ln/>
        </p:spPr>
        <p:txBody>
          <a:bodyPr wrap="square" lIns="0" tIns="0" rIns="0" bIns="0" rtlCol="0" anchor="ctr"/>
          <a:lstStyle/>
          <a:p>
            <a:pPr algn="l" indent="0" marL="0">
              <a:buNone/>
            </a:pPr>
            <a:r>
              <a:rPr lang="en-US" sz="1100" b="1" spc="250" kern="0" dirty="0">
                <a:solidFill>
                  <a:srgbClr val="4A6B5D"/>
                </a:solidFill>
                <a:latin typeface="Arial" pitchFamily="34" charset="0"/>
                <a:ea typeface="Arial" pitchFamily="34" charset="-122"/>
                <a:cs typeface="Arial" pitchFamily="34" charset="-120"/>
              </a:rPr>
              <a:t>WEDNESDAY, FULL CONDITIONS</a:t>
            </a:r>
            <a:endParaRPr lang="en-US" sz="1100" dirty="0"/>
          </a:p>
        </p:txBody>
      </p:sp>
      <p:sp>
        <p:nvSpPr>
          <p:cNvPr id="3" name="Text 1"/>
          <p:cNvSpPr/>
          <p:nvPr/>
        </p:nvSpPr>
        <p:spPr>
          <a:xfrm>
            <a:off x="822960" y="2103120"/>
            <a:ext cx="10424160" cy="2194560"/>
          </a:xfrm>
          <a:prstGeom prst="rect">
            <a:avLst/>
          </a:prstGeom>
          <a:noFill/>
          <a:ln/>
        </p:spPr>
        <p:txBody>
          <a:bodyPr wrap="square" lIns="0" tIns="0" rIns="0" bIns="0" rtlCol="0" anchor="ctr"/>
          <a:lstStyle/>
          <a:p>
            <a:pPr indent="0" marL="0">
              <a:lnSpc>
                <a:spcPts val="5600"/>
              </a:lnSpc>
              <a:buNone/>
            </a:pPr>
            <a:r>
              <a:rPr lang="en-US" sz="5000" dirty="0">
                <a:solidFill>
                  <a:srgbClr val="24313F"/>
                </a:solidFill>
                <a:latin typeface="Georgia" pitchFamily="34" charset="0"/>
                <a:ea typeface="Georgia" pitchFamily="34" charset="-122"/>
                <a:cs typeface="Georgia" pitchFamily="34" charset="-120"/>
              </a:rPr>
              <a:t>Sixty minutes.</a:t>
            </a:r>
            <a:endParaRPr lang="en-US" sz="5000" dirty="0"/>
          </a:p>
          <a:p>
            <a:pPr indent="0" marL="0">
              <a:lnSpc>
                <a:spcPts val="5600"/>
              </a:lnSpc>
              <a:buNone/>
            </a:pPr>
            <a:r>
              <a:rPr lang="en-US" sz="5000" dirty="0">
                <a:solidFill>
                  <a:srgbClr val="24313F"/>
                </a:solidFill>
                <a:latin typeface="Georgia" pitchFamily="34" charset="0"/>
                <a:ea typeface="Georgia" pitchFamily="34" charset="-122"/>
                <a:cs typeface="Georgia" pitchFamily="34" charset="-120"/>
              </a:rPr>
              <a:t>One unseen extract.</a:t>
            </a:r>
            <a:endParaRPr lang="en-US" sz="5000" dirty="0"/>
          </a:p>
        </p:txBody>
      </p:sp>
      <p:sp>
        <p:nvSpPr>
          <p:cNvPr id="4" name="Shape 2"/>
          <p:cNvSpPr/>
          <p:nvPr/>
        </p:nvSpPr>
        <p:spPr>
          <a:xfrm>
            <a:off x="822960" y="4572000"/>
            <a:ext cx="914400" cy="0"/>
          </a:xfrm>
          <a:prstGeom prst="line">
            <a:avLst/>
          </a:prstGeom>
          <a:noFill/>
          <a:ln w="31750">
            <a:solidFill>
              <a:srgbClr val="8C3A38"/>
            </a:solidFill>
            <a:prstDash val="solid"/>
          </a:ln>
        </p:spPr>
      </p:sp>
      <p:sp>
        <p:nvSpPr>
          <p:cNvPr id="5" name="Text 3"/>
          <p:cNvSpPr/>
          <p:nvPr/>
        </p:nvSpPr>
        <p:spPr>
          <a:xfrm>
            <a:off x="822960" y="4754880"/>
            <a:ext cx="10058400" cy="548640"/>
          </a:xfrm>
          <a:prstGeom prst="rect">
            <a:avLst/>
          </a:prstGeom>
          <a:noFill/>
          <a:ln/>
        </p:spPr>
        <p:txBody>
          <a:bodyPr wrap="square" lIns="0" tIns="0" rIns="0" bIns="0" rtlCol="0" anchor="t"/>
          <a:lstStyle/>
          <a:p>
            <a:pPr indent="0" marL="0">
              <a:lnSpc>
                <a:spcPts val="1900"/>
              </a:lnSpc>
              <a:buNone/>
            </a:pPr>
            <a:r>
              <a:rPr lang="en-US" sz="1400" spc="100" kern="0" dirty="0">
                <a:solidFill>
                  <a:srgbClr val="4A6B5D"/>
                </a:solidFill>
                <a:latin typeface="Arial" pitchFamily="34" charset="0"/>
                <a:ea typeface="Arial" pitchFamily="34" charset="-122"/>
                <a:cs typeface="Arial" pitchFamily="34" charset="-120"/>
              </a:rPr>
              <a:t>The question follows the Paper 2 stem: how does the extract construct meaning through camera, sound, mise-en-scene and editing? Everything since Week 1 counts.</a:t>
            </a:r>
            <a:endParaRPr lang="en-US" sz="14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AF8F1"/>
        </a:solidFill>
      </p:bgPr>
    </p:bg>
    <p:spTree>
      <p:nvGrpSpPr>
        <p:cNvPr id="1" name=""/>
        <p:cNvGrpSpPr/>
        <p:nvPr/>
      </p:nvGrpSpPr>
      <p:grpSpPr>
        <a:xfrm>
          <a:off x="0" y="0"/>
          <a:ext cx="0" cy="0"/>
          <a:chOff x="0" y="0"/>
          <a:chExt cx="0" cy="0"/>
        </a:xfrm>
      </p:grpSpPr>
      <p:sp>
        <p:nvSpPr>
          <p:cNvPr id="2" name="Text 0"/>
          <p:cNvSpPr/>
          <p:nvPr/>
        </p:nvSpPr>
        <p:spPr>
          <a:xfrm>
            <a:off x="822960" y="457200"/>
            <a:ext cx="6400800" cy="274320"/>
          </a:xfrm>
          <a:prstGeom prst="rect">
            <a:avLst/>
          </a:prstGeom>
          <a:noFill/>
          <a:ln/>
        </p:spPr>
        <p:txBody>
          <a:bodyPr wrap="square" lIns="0" tIns="0" rIns="0" bIns="0" rtlCol="0" anchor="ctr"/>
          <a:lstStyle/>
          <a:p>
            <a:pPr algn="l" indent="0" marL="0">
              <a:buNone/>
            </a:pPr>
            <a:r>
              <a:rPr lang="en-US" sz="1100" b="1" spc="250" kern="0" dirty="0">
                <a:solidFill>
                  <a:srgbClr val="4A6B5D"/>
                </a:solidFill>
                <a:latin typeface="Arial" pitchFamily="34" charset="0"/>
                <a:ea typeface="Arial" pitchFamily="34" charset="-122"/>
                <a:cs typeface="Arial" pitchFamily="34" charset="-120"/>
              </a:rPr>
              <a:t>ASSESSMENT · A1</a:t>
            </a:r>
            <a:endParaRPr lang="en-US" sz="1100" dirty="0"/>
          </a:p>
        </p:txBody>
      </p:sp>
      <p:sp>
        <p:nvSpPr>
          <p:cNvPr id="3" name="Text 1"/>
          <p:cNvSpPr/>
          <p:nvPr/>
        </p:nvSpPr>
        <p:spPr>
          <a:xfrm>
            <a:off x="6793992" y="457200"/>
            <a:ext cx="4572000" cy="274320"/>
          </a:xfrm>
          <a:prstGeom prst="rect">
            <a:avLst/>
          </a:prstGeom>
          <a:noFill/>
          <a:ln/>
        </p:spPr>
        <p:txBody>
          <a:bodyPr wrap="square" lIns="0" tIns="0" rIns="0" bIns="0" rtlCol="0" anchor="ctr"/>
          <a:lstStyle/>
          <a:p>
            <a:pPr algn="r" indent="0" marL="0">
              <a:buNone/>
            </a:pPr>
            <a:r>
              <a:rPr lang="en-US" sz="1100" b="1" spc="250" kern="0" dirty="0">
                <a:solidFill>
                  <a:srgbClr val="7A7F72"/>
                </a:solidFill>
                <a:latin typeface="Arial" pitchFamily="34" charset="0"/>
                <a:ea typeface="Arial" pitchFamily="34" charset="-122"/>
                <a:cs typeface="Arial" pitchFamily="34" charset="-120"/>
              </a:rPr>
              <a:t>THE FIRST ATTAINMENT</a:t>
            </a:r>
            <a:endParaRPr lang="en-US" sz="1100" dirty="0"/>
          </a:p>
        </p:txBody>
      </p:sp>
      <p:sp>
        <p:nvSpPr>
          <p:cNvPr id="4" name="Shape 2"/>
          <p:cNvSpPr/>
          <p:nvPr/>
        </p:nvSpPr>
        <p:spPr>
          <a:xfrm>
            <a:off x="822960" y="786384"/>
            <a:ext cx="10543032" cy="0"/>
          </a:xfrm>
          <a:prstGeom prst="line">
            <a:avLst/>
          </a:prstGeom>
          <a:noFill/>
          <a:ln w="9525">
            <a:solidFill>
              <a:srgbClr val="D9D4C4"/>
            </a:solidFill>
            <a:prstDash val="solid"/>
          </a:ln>
        </p:spPr>
      </p:sp>
      <p:sp>
        <p:nvSpPr>
          <p:cNvPr id="5" name="Text 3"/>
          <p:cNvSpPr/>
          <p:nvPr/>
        </p:nvSpPr>
        <p:spPr>
          <a:xfrm>
            <a:off x="822960" y="1280160"/>
            <a:ext cx="10543032" cy="914400"/>
          </a:xfrm>
          <a:prstGeom prst="rect">
            <a:avLst/>
          </a:prstGeom>
          <a:noFill/>
          <a:ln/>
        </p:spPr>
        <p:txBody>
          <a:bodyPr wrap="square" lIns="0" tIns="0" rIns="0" bIns="0" rtlCol="0" anchor="ctr"/>
          <a:lstStyle/>
          <a:p>
            <a:pPr indent="0" marL="0">
              <a:buNone/>
            </a:pPr>
            <a:r>
              <a:rPr lang="en-US" sz="3400" dirty="0">
                <a:solidFill>
                  <a:srgbClr val="24313F"/>
                </a:solidFill>
                <a:latin typeface="Georgia" pitchFamily="34" charset="0"/>
                <a:ea typeface="Georgia" pitchFamily="34" charset="-122"/>
                <a:cs typeface="Georgia" pitchFamily="34" charset="-120"/>
              </a:rPr>
              <a:t>A1 sits Wednesday 14 October</a:t>
            </a:r>
            <a:endParaRPr lang="en-US" sz="3400" dirty="0"/>
          </a:p>
        </p:txBody>
      </p:sp>
      <p:sp>
        <p:nvSpPr>
          <p:cNvPr id="6" name="Shape 4"/>
          <p:cNvSpPr/>
          <p:nvPr/>
        </p:nvSpPr>
        <p:spPr>
          <a:xfrm>
            <a:off x="822960" y="2468880"/>
            <a:ext cx="914400" cy="0"/>
          </a:xfrm>
          <a:prstGeom prst="line">
            <a:avLst/>
          </a:prstGeom>
          <a:noFill/>
          <a:ln w="31750">
            <a:solidFill>
              <a:srgbClr val="8C3A38"/>
            </a:solidFill>
            <a:prstDash val="solid"/>
          </a:ln>
        </p:spPr>
      </p:sp>
      <p:sp>
        <p:nvSpPr>
          <p:cNvPr id="7" name="Text 5"/>
          <p:cNvSpPr/>
          <p:nvPr/>
        </p:nvSpPr>
        <p:spPr>
          <a:xfrm>
            <a:off x="822960" y="2697480"/>
            <a:ext cx="9875520" cy="1920240"/>
          </a:xfrm>
          <a:prstGeom prst="rect">
            <a:avLst/>
          </a:prstGeom>
          <a:noFill/>
          <a:ln/>
        </p:spPr>
        <p:txBody>
          <a:bodyPr wrap="square" lIns="0" tIns="0" rIns="0" bIns="0" rtlCol="0" anchor="t"/>
          <a:lstStyle/>
          <a:p>
            <a:pPr indent="0" marL="0">
              <a:lnSpc>
                <a:spcPts val="2500"/>
              </a:lnSpc>
              <a:buNone/>
            </a:pPr>
            <a:r>
              <a:rPr lang="en-US" sz="1500" b="1" spc="100" kern="0" dirty="0">
                <a:solidFill>
                  <a:srgbClr val="4A6B5D"/>
                </a:solidFill>
                <a:latin typeface="Arial" pitchFamily="34" charset="0"/>
                <a:ea typeface="Arial" pitchFamily="34" charset="-122"/>
                <a:cs typeface="Arial" pitchFamily="34" charset="-120"/>
              </a:rPr>
              <a:t>FORMAT   </a:t>
            </a:r>
            <a:pPr indent="0" marL="0">
              <a:lnSpc>
                <a:spcPts val="2500"/>
              </a:lnSpc>
              <a:buNone/>
            </a:pPr>
            <a:r>
              <a:rPr lang="en-US" sz="1700" dirty="0">
                <a:solidFill>
                  <a:srgbClr val="24313F"/>
                </a:solidFill>
                <a:latin typeface="Georgia" pitchFamily="34" charset="0"/>
                <a:ea typeface="Georgia" pitchFamily="34" charset="-122"/>
                <a:cs typeface="Georgia" pitchFamily="34" charset="-120"/>
              </a:rPr>
              <a:t>Sixty minutes, full exam conditions. Media language analysis of an unseen TV-drama extract.</a:t>
            </a:r>
            <a:endParaRPr lang="en-US" sz="1500" dirty="0"/>
          </a:p>
          <a:p>
            <a:pPr indent="0" marL="0">
              <a:lnSpc>
                <a:spcPts val="2500"/>
              </a:lnSpc>
              <a:buNone/>
            </a:pPr>
            <a:r>
              <a:rPr lang="en-US" sz="1500" b="1" spc="100" kern="0" dirty="0">
                <a:solidFill>
                  <a:srgbClr val="4A6B5D"/>
                </a:solidFill>
                <a:latin typeface="Arial" pitchFamily="34" charset="0"/>
                <a:ea typeface="Arial" pitchFamily="34" charset="-122"/>
                <a:cs typeface="Arial" pitchFamily="34" charset="-120"/>
              </a:rPr>
              <a:t>MARKED   </a:t>
            </a:r>
            <a:pPr indent="0" marL="0">
              <a:lnSpc>
                <a:spcPts val="2500"/>
              </a:lnSpc>
              <a:buNone/>
            </a:pPr>
            <a:r>
              <a:rPr lang="en-US" sz="1700" dirty="0">
                <a:solidFill>
                  <a:srgbClr val="24313F"/>
                </a:solidFill>
                <a:latin typeface="Georgia" pitchFamily="34" charset="0"/>
                <a:ea typeface="Georgia" pitchFamily="34" charset="-122"/>
                <a:cs typeface="Georgia" pitchFamily="34" charset="-120"/>
              </a:rPr>
              <a:t>With the WS 4.6 rubric, in the official five-criteria language. It transfers straight to Paper 2.</a:t>
            </a:r>
            <a:endParaRPr lang="en-US" sz="1500" dirty="0"/>
          </a:p>
          <a:p>
            <a:pPr indent="0" marL="0">
              <a:lnSpc>
                <a:spcPts val="2500"/>
              </a:lnSpc>
              <a:buNone/>
            </a:pPr>
            <a:r>
              <a:rPr lang="en-US" sz="1500" b="1" spc="100" kern="0" dirty="0">
                <a:solidFill>
                  <a:srgbClr val="4A6B5D"/>
                </a:solidFill>
                <a:latin typeface="Arial" pitchFamily="34" charset="0"/>
                <a:ea typeface="Arial" pitchFamily="34" charset="-122"/>
                <a:cs typeface="Arial" pitchFamily="34" charset="-120"/>
              </a:rPr>
              <a:t>RETURNED   </a:t>
            </a:r>
            <a:pPr indent="0" marL="0">
              <a:lnSpc>
                <a:spcPts val="2500"/>
              </a:lnSpc>
              <a:buNone/>
            </a:pPr>
            <a:r>
              <a:rPr lang="en-US" sz="1700" dirty="0">
                <a:solidFill>
                  <a:srgbClr val="24313F"/>
                </a:solidFill>
                <a:latin typeface="Georgia" pitchFamily="34" charset="0"/>
                <a:ea typeface="Georgia" pitchFamily="34" charset="-122"/>
                <a:cs typeface="Georgia" pitchFamily="34" charset="-120"/>
              </a:rPr>
              <a:t>Scripts come back within five working days.</a:t>
            </a:r>
            <a:endParaRPr lang="en-US" sz="1500" dirty="0"/>
          </a:p>
        </p:txBody>
      </p:sp>
      <p:sp>
        <p:nvSpPr>
          <p:cNvPr id="8" name="Text 6"/>
          <p:cNvSpPr/>
          <p:nvPr/>
        </p:nvSpPr>
        <p:spPr>
          <a:xfrm>
            <a:off x="822960" y="4846320"/>
            <a:ext cx="9875520" cy="457200"/>
          </a:xfrm>
          <a:prstGeom prst="rect">
            <a:avLst/>
          </a:prstGeom>
          <a:noFill/>
          <a:ln/>
        </p:spPr>
        <p:txBody>
          <a:bodyPr wrap="square" lIns="0" tIns="0" rIns="0" bIns="0" rtlCol="0" anchor="ctr"/>
          <a:lstStyle/>
          <a:p>
            <a:pPr indent="0" marL="0">
              <a:buNone/>
            </a:pPr>
            <a:r>
              <a:rPr lang="en-US" sz="1300" i="1" dirty="0">
                <a:solidFill>
                  <a:srgbClr val="7A7F72"/>
                </a:solidFill>
                <a:latin typeface="Arial" pitchFamily="34" charset="0"/>
                <a:ea typeface="Arial" pitchFamily="34" charset="-122"/>
                <a:cs typeface="Arial" pitchFamily="34" charset="-120"/>
              </a:rPr>
              <a:t>Personal code checklists, built at L02, are returned at the door on the way in.</a:t>
            </a:r>
            <a:endParaRPr lang="en-US" sz="1300" dirty="0"/>
          </a:p>
        </p:txBody>
      </p:sp>
      <p:sp>
        <p:nvSpPr>
          <p:cNvPr id="9" name="Shape 7"/>
          <p:cNvSpPr/>
          <p:nvPr/>
        </p:nvSpPr>
        <p:spPr>
          <a:xfrm>
            <a:off x="822960" y="6382512"/>
            <a:ext cx="10543032" cy="0"/>
          </a:xfrm>
          <a:prstGeom prst="line">
            <a:avLst/>
          </a:prstGeom>
          <a:noFill/>
          <a:ln w="9525">
            <a:solidFill>
              <a:srgbClr val="D9D4C4"/>
            </a:solidFill>
            <a:prstDash val="solid"/>
          </a:ln>
        </p:spPr>
      </p:sp>
      <p:sp>
        <p:nvSpPr>
          <p:cNvPr id="10" name="Text 8"/>
          <p:cNvSpPr/>
          <p:nvPr/>
        </p:nvSpPr>
        <p:spPr>
          <a:xfrm>
            <a:off x="822960" y="6419088"/>
            <a:ext cx="7315200" cy="274320"/>
          </a:xfrm>
          <a:prstGeom prst="rect">
            <a:avLst/>
          </a:prstGeom>
          <a:noFill/>
          <a:ln/>
        </p:spPr>
        <p:txBody>
          <a:bodyPr wrap="square" lIns="0" tIns="0" rIns="0" bIns="0" rtlCol="0" anchor="ctr"/>
          <a:lstStyle/>
          <a:p>
            <a:pPr indent="0" marL="0">
              <a:buNone/>
            </a:pPr>
            <a:r>
              <a:rPr lang="en-US" sz="900" spc="150" kern="0" dirty="0">
                <a:solidFill>
                  <a:srgbClr val="7A7F72"/>
                </a:solidFill>
                <a:latin typeface="Arial" pitchFamily="34" charset="0"/>
                <a:ea typeface="Arial" pitchFamily="34" charset="-122"/>
                <a:cs typeface="Arial" pitchFamily="34" charset="-120"/>
              </a:rPr>
              <a:t>MEDIA STUDIES 9607 · SEMESTER I</a:t>
            </a:r>
            <a:endParaRPr lang="en-US" sz="900" dirty="0"/>
          </a:p>
        </p:txBody>
      </p:sp>
      <p:sp>
        <p:nvSpPr>
          <p:cNvPr id="11" name="Text 9"/>
          <p:cNvSpPr/>
          <p:nvPr/>
        </p:nvSpPr>
        <p:spPr>
          <a:xfrm>
            <a:off x="10268712" y="6355080"/>
            <a:ext cx="1097280" cy="365760"/>
          </a:xfrm>
          <a:prstGeom prst="rect">
            <a:avLst/>
          </a:prstGeom>
          <a:noFill/>
          <a:ln/>
        </p:spPr>
        <p:txBody>
          <a:bodyPr wrap="square" lIns="0" tIns="0" rIns="0" bIns="0" rtlCol="0" anchor="ctr"/>
          <a:lstStyle/>
          <a:p>
            <a:pPr algn="r" indent="0" marL="0">
              <a:buNone/>
            </a:pPr>
            <a:r>
              <a:rPr lang="en-US" sz="1600" dirty="0">
                <a:solidFill>
                  <a:srgbClr val="A3C1AD"/>
                </a:solidFill>
                <a:latin typeface="Georgia" pitchFamily="34" charset="0"/>
                <a:ea typeface="Georgia" pitchFamily="34" charset="-122"/>
                <a:cs typeface="Georgia" pitchFamily="34" charset="-120"/>
              </a:rPr>
              <a:t>09</a:t>
            </a:r>
            <a:endParaRPr lang="en-US" sz="16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4A6B5D"/>
        </a:solidFill>
      </p:bgPr>
    </p:bg>
    <p:spTree>
      <p:nvGrpSpPr>
        <p:cNvPr id="1" name=""/>
        <p:cNvGrpSpPr/>
        <p:nvPr/>
      </p:nvGrpSpPr>
      <p:grpSpPr>
        <a:xfrm>
          <a:off x="0" y="0"/>
          <a:ext cx="0" cy="0"/>
          <a:chOff x="0" y="0"/>
          <a:chExt cx="0" cy="0"/>
        </a:xfrm>
      </p:grpSpPr>
      <p:sp>
        <p:nvSpPr>
          <p:cNvPr id="2" name="Text 0"/>
          <p:cNvSpPr/>
          <p:nvPr/>
        </p:nvSpPr>
        <p:spPr>
          <a:xfrm>
            <a:off x="822960" y="2148840"/>
            <a:ext cx="5486400" cy="274320"/>
          </a:xfrm>
          <a:prstGeom prst="rect">
            <a:avLst/>
          </a:prstGeom>
          <a:noFill/>
          <a:ln/>
        </p:spPr>
        <p:txBody>
          <a:bodyPr wrap="square" lIns="0" tIns="0" rIns="0" bIns="0" rtlCol="0" anchor="ctr"/>
          <a:lstStyle/>
          <a:p>
            <a:pPr algn="l" indent="0" marL="0">
              <a:buNone/>
            </a:pPr>
            <a:r>
              <a:rPr lang="en-US" sz="1100" b="1" spc="250" kern="0" dirty="0">
                <a:solidFill>
                  <a:srgbClr val="FAF8F1"/>
                </a:solidFill>
                <a:latin typeface="Arial" pitchFamily="34" charset="0"/>
                <a:ea typeface="Arial" pitchFamily="34" charset="-122"/>
                <a:cs typeface="Arial" pitchFamily="34" charset="-120"/>
              </a:rPr>
              <a:t>NEXT</a:t>
            </a:r>
            <a:endParaRPr lang="en-US" sz="1100" dirty="0"/>
          </a:p>
        </p:txBody>
      </p:sp>
      <p:sp>
        <p:nvSpPr>
          <p:cNvPr id="3" name="Shape 1"/>
          <p:cNvSpPr/>
          <p:nvPr/>
        </p:nvSpPr>
        <p:spPr>
          <a:xfrm>
            <a:off x="822960" y="2514600"/>
            <a:ext cx="3108960" cy="0"/>
          </a:xfrm>
          <a:prstGeom prst="line">
            <a:avLst/>
          </a:prstGeom>
          <a:noFill/>
          <a:ln w="9525">
            <a:solidFill>
              <a:srgbClr val="8AA394"/>
            </a:solidFill>
            <a:prstDash val="solid"/>
          </a:ln>
        </p:spPr>
      </p:sp>
      <p:sp>
        <p:nvSpPr>
          <p:cNvPr id="4" name="Text 2"/>
          <p:cNvSpPr/>
          <p:nvPr/>
        </p:nvSpPr>
        <p:spPr>
          <a:xfrm>
            <a:off x="822960" y="2651760"/>
            <a:ext cx="10241280" cy="2103120"/>
          </a:xfrm>
          <a:prstGeom prst="rect">
            <a:avLst/>
          </a:prstGeom>
          <a:noFill/>
          <a:ln/>
        </p:spPr>
        <p:txBody>
          <a:bodyPr wrap="square" lIns="0" tIns="0" rIns="0" bIns="0" rtlCol="0" anchor="t"/>
          <a:lstStyle/>
          <a:p>
            <a:pPr indent="0" marL="0">
              <a:lnSpc>
                <a:spcPts val="6600"/>
              </a:lnSpc>
              <a:buNone/>
            </a:pPr>
            <a:r>
              <a:rPr lang="en-US" sz="6200" dirty="0">
                <a:solidFill>
                  <a:srgbClr val="FAF8F1"/>
                </a:solidFill>
                <a:latin typeface="Georgia" pitchFamily="34" charset="0"/>
                <a:ea typeface="Georgia" pitchFamily="34" charset="-122"/>
                <a:cs typeface="Georgia" pitchFamily="34" charset="-120"/>
              </a:rPr>
              <a:t>Genre</a:t>
            </a:r>
            <a:endParaRPr lang="en-US" sz="6200" dirty="0"/>
          </a:p>
        </p:txBody>
      </p:sp>
      <p:sp>
        <p:nvSpPr>
          <p:cNvPr id="5" name="Text 3"/>
          <p:cNvSpPr/>
          <p:nvPr/>
        </p:nvSpPr>
        <p:spPr>
          <a:xfrm>
            <a:off x="822960" y="4617720"/>
            <a:ext cx="10241280" cy="822960"/>
          </a:xfrm>
          <a:prstGeom prst="rect">
            <a:avLst/>
          </a:prstGeom>
          <a:noFill/>
          <a:ln/>
        </p:spPr>
        <p:txBody>
          <a:bodyPr wrap="square" lIns="0" tIns="0" rIns="0" bIns="0" rtlCol="0" anchor="t"/>
          <a:lstStyle/>
          <a:p>
            <a:pPr indent="0" marL="0">
              <a:lnSpc>
                <a:spcPts val="2800"/>
              </a:lnSpc>
              <a:buNone/>
            </a:pPr>
            <a:r>
              <a:rPr lang="en-US" sz="2200" i="1" dirty="0">
                <a:solidFill>
                  <a:srgbClr val="E8EFE7"/>
                </a:solidFill>
                <a:latin typeface="Georgia" pitchFamily="34" charset="0"/>
                <a:ea typeface="Georgia" pitchFamily="34" charset="-122"/>
                <a:cs typeface="Georgia" pitchFamily="34" charset="-120"/>
              </a:rPr>
              <a:t>Lesson 09. Neale, Altman, and a genre claim defended with the codes you spent a month shooting.</a:t>
            </a:r>
            <a:endParaRPr lang="en-US" sz="2200" dirty="0"/>
          </a:p>
        </p:txBody>
      </p:sp>
      <p:sp>
        <p:nvSpPr>
          <p:cNvPr id="6" name="Shape 4"/>
          <p:cNvSpPr/>
          <p:nvPr/>
        </p:nvSpPr>
        <p:spPr>
          <a:xfrm>
            <a:off x="822960" y="6382512"/>
            <a:ext cx="10543032" cy="0"/>
          </a:xfrm>
          <a:prstGeom prst="line">
            <a:avLst/>
          </a:prstGeom>
          <a:noFill/>
          <a:ln w="9525">
            <a:solidFill>
              <a:srgbClr val="6E8A7C"/>
            </a:solidFill>
            <a:prstDash val="solid"/>
          </a:ln>
        </p:spPr>
      </p:sp>
      <p:sp>
        <p:nvSpPr>
          <p:cNvPr id="7" name="Text 5"/>
          <p:cNvSpPr/>
          <p:nvPr/>
        </p:nvSpPr>
        <p:spPr>
          <a:xfrm>
            <a:off x="822960" y="6419088"/>
            <a:ext cx="7315200" cy="274320"/>
          </a:xfrm>
          <a:prstGeom prst="rect">
            <a:avLst/>
          </a:prstGeom>
          <a:noFill/>
          <a:ln/>
        </p:spPr>
        <p:txBody>
          <a:bodyPr wrap="square" lIns="0" tIns="0" rIns="0" bIns="0" rtlCol="0" anchor="ctr"/>
          <a:lstStyle/>
          <a:p>
            <a:pPr indent="0" marL="0">
              <a:buNone/>
            </a:pPr>
            <a:r>
              <a:rPr lang="en-US" sz="900" spc="150" kern="0" dirty="0">
                <a:solidFill>
                  <a:srgbClr val="E8EFE7"/>
                </a:solidFill>
                <a:latin typeface="Arial" pitchFamily="34" charset="0"/>
                <a:ea typeface="Arial" pitchFamily="34" charset="-122"/>
                <a:cs typeface="Arial" pitchFamily="34" charset="-120"/>
              </a:rPr>
              <a:t>MEDIA STUDIES 9607 · SEMESTER I</a:t>
            </a:r>
            <a:endParaRPr lang="en-US" sz="900" dirty="0"/>
          </a:p>
        </p:txBody>
      </p:sp>
      <p:sp>
        <p:nvSpPr>
          <p:cNvPr id="8" name="Text 6"/>
          <p:cNvSpPr/>
          <p:nvPr/>
        </p:nvSpPr>
        <p:spPr>
          <a:xfrm>
            <a:off x="10268712" y="6355080"/>
            <a:ext cx="1097280" cy="365760"/>
          </a:xfrm>
          <a:prstGeom prst="rect">
            <a:avLst/>
          </a:prstGeom>
          <a:noFill/>
          <a:ln/>
        </p:spPr>
        <p:txBody>
          <a:bodyPr wrap="square" lIns="0" tIns="0" rIns="0" bIns="0" rtlCol="0" anchor="ctr"/>
          <a:lstStyle/>
          <a:p>
            <a:pPr algn="r" indent="0" marL="0">
              <a:buNone/>
            </a:pPr>
            <a:r>
              <a:rPr lang="en-US" sz="1600" dirty="0">
                <a:solidFill>
                  <a:srgbClr val="E8EFE7"/>
                </a:solidFill>
                <a:latin typeface="Georgia" pitchFamily="34" charset="0"/>
                <a:ea typeface="Georgia" pitchFamily="34" charset="-122"/>
                <a:cs typeface="Georgia" pitchFamily="34" charset="-120"/>
              </a:rPr>
              <a:t>10</a:t>
            </a:r>
            <a:endParaRPr lang="en-US" sz="1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2026-08-25T13:06:05Z</dcterms:created>
  <dcterms:modified xsi:type="dcterms:W3CDTF">2026-08-25T13:06:05Z</dcterms:modified>
</cp:coreProperties>
</file>