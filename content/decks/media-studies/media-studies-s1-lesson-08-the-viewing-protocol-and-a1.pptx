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elements taught, four shot, one integrated paragraph written. This week converts that into a method that survives exam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this build that sentence was false: sound and editing had twenty shared minutes and mise-en-scene had no session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shows the attention the exam rewards. Same order, no hurry, nothing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 example matters more than the good one. Students cannot see this defect in their own writing until they have diagnosed it in someone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6583680" y="822960"/>
            <a:ext cx="4846320" cy="4937760"/>
          </a:xfrm>
          <a:prstGeom prst="rect">
            <a:avLst/>
          </a:prstGeom>
          <a:noFill/>
          <a:ln/>
        </p:spPr>
        <p:txBody>
          <a:bodyPr wrap="square" lIns="0" tIns="0" rIns="0" bIns="0" rtlCol="0" anchor="ctr"/>
          <a:lstStyle/>
          <a:p>
            <a:pPr algn="ctr" indent="0" marL="0">
              <a:buNone/>
            </a:pPr>
            <a:r>
              <a:rPr lang="en-US" sz="21000" dirty="0">
                <a:solidFill>
                  <a:srgbClr val="A3C1AD"/>
                </a:solidFill>
                <a:latin typeface="Georgia" pitchFamily="34" charset="0"/>
                <a:ea typeface="Georgia" pitchFamily="34" charset="-122"/>
                <a:cs typeface="Georgia" pitchFamily="34" charset="-120"/>
              </a:rPr>
              <a:t>VIII</a:t>
            </a:r>
            <a:endParaRPr lang="en-US" sz="21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III</a:t>
            </a:r>
            <a:endParaRPr lang="en-US" sz="1100" dirty="0"/>
          </a:p>
        </p:txBody>
      </p:sp>
      <p:sp>
        <p:nvSpPr>
          <p:cNvPr id="4" name="Text 2"/>
          <p:cNvSpPr/>
          <p:nvPr/>
        </p:nvSpPr>
        <p:spPr>
          <a:xfrm>
            <a:off x="822960" y="1737360"/>
            <a:ext cx="8046720" cy="2377440"/>
          </a:xfrm>
          <a:prstGeom prst="rect">
            <a:avLst/>
          </a:prstGeom>
          <a:noFill/>
          <a:ln/>
        </p:spPr>
        <p:txBody>
          <a:bodyPr wrap="square" lIns="0" tIns="0" rIns="0" bIns="0" rtlCol="0" anchor="t"/>
          <a:lstStyle/>
          <a:p>
            <a:pPr indent="0" marL="0">
              <a:lnSpc>
                <a:spcPts val="4400"/>
              </a:lnSpc>
              <a:buNone/>
            </a:pPr>
            <a:r>
              <a:rPr lang="en-US" sz="4400" dirty="0">
                <a:solidFill>
                  <a:srgbClr val="24313F"/>
                </a:solidFill>
                <a:latin typeface="Georgia" pitchFamily="34" charset="0"/>
                <a:ea typeface="Georgia" pitchFamily="34" charset="-122"/>
                <a:cs typeface="Georgia" pitchFamily="34" charset="-120"/>
              </a:rPr>
              <a:t>The Viewing Protocol</a:t>
            </a:r>
            <a:endParaRPr lang="en-US" sz="4400" dirty="0"/>
          </a:p>
          <a:p>
            <a:pPr indent="0" marL="0">
              <a:lnSpc>
                <a:spcPts val="4400"/>
              </a:lnSpc>
              <a:buNone/>
            </a:pPr>
            <a:r>
              <a:rPr lang="en-US" sz="4400" dirty="0">
                <a:solidFill>
                  <a:srgbClr val="24313F"/>
                </a:solidFill>
                <a:latin typeface="Georgia" pitchFamily="34" charset="0"/>
                <a:ea typeface="Georgia" pitchFamily="34" charset="-122"/>
                <a:cs typeface="Georgia" pitchFamily="34" charset="-120"/>
              </a:rPr>
              <a:t>and A1</a:t>
            </a:r>
            <a:endParaRPr lang="en-US" sz="44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82296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Macro and Textual Analysis · Lesson 08 of 19</a:t>
            </a:r>
            <a:endParaRPr lang="en-US" sz="2200" dirty="0"/>
          </a:p>
        </p:txBody>
      </p:sp>
      <p:sp>
        <p:nvSpPr>
          <p:cNvPr id="7" name="Text 5"/>
          <p:cNvSpPr/>
          <p:nvPr/>
        </p:nvSpPr>
        <p:spPr>
          <a:xfrm>
            <a:off x="822960" y="5029200"/>
            <a:ext cx="100584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Three days  ·  Monday 12 to Wednesday 14 October  ·  the first attainment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6400800" y="640080"/>
            <a:ext cx="5212080" cy="5577840"/>
          </a:xfrm>
          <a:prstGeom prst="rect">
            <a:avLst/>
          </a:prstGeom>
          <a:noFill/>
          <a:ln/>
        </p:spPr>
        <p:txBody>
          <a:bodyPr wrap="square" lIns="0" tIns="0" rIns="0" bIns="0" rtlCol="0" anchor="ctr"/>
          <a:lstStyle/>
          <a:p>
            <a:pPr algn="ctr" indent="0" marL="0">
              <a:buNone/>
            </a:pPr>
            <a:r>
              <a:rPr lang="en-US" sz="23000" dirty="0">
                <a:solidFill>
                  <a:srgbClr val="5C7A6B"/>
                </a:solidFill>
                <a:latin typeface="Georgia" pitchFamily="34" charset="0"/>
                <a:ea typeface="Georgia" pitchFamily="34" charset="-122"/>
                <a:cs typeface="Georgia" pitchFamily="34" charset="-120"/>
              </a:rPr>
              <a:t>VIII</a:t>
            </a:r>
            <a:endParaRPr lang="en-US" sz="23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CLAIM, NOW TRUE</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43200"/>
            <a:ext cx="6949440" cy="2377440"/>
          </a:xfrm>
          <a:prstGeom prst="rect">
            <a:avLst/>
          </a:prstGeom>
          <a:noFill/>
          <a:ln/>
        </p:spPr>
        <p:txBody>
          <a:bodyPr wrap="square" lIns="0" tIns="0" rIns="0" bIns="0" rtlCol="0" anchor="t"/>
          <a:lstStyle/>
          <a:p>
            <a:pPr indent="0" marL="0">
              <a:lnSpc>
                <a:spcPts val="4400"/>
              </a:lnSpc>
              <a:buNone/>
            </a:pPr>
            <a:r>
              <a:rPr lang="en-US" sz="4000" dirty="0">
                <a:solidFill>
                  <a:srgbClr val="FAF8F1"/>
                </a:solidFill>
                <a:latin typeface="Georgia" pitchFamily="34" charset="0"/>
                <a:ea typeface="Georgia" pitchFamily="34" charset="-122"/>
                <a:cs typeface="Georgia" pitchFamily="34" charset="-120"/>
              </a:rPr>
              <a:t>Everything the prompt</a:t>
            </a:r>
            <a:endParaRPr lang="en-US" sz="4000" dirty="0"/>
          </a:p>
          <a:p>
            <a:pPr indent="0" marL="0">
              <a:lnSpc>
                <a:spcPts val="4400"/>
              </a:lnSpc>
              <a:buNone/>
            </a:pPr>
            <a:r>
              <a:rPr lang="en-US" sz="4000" dirty="0">
                <a:solidFill>
                  <a:srgbClr val="FAF8F1"/>
                </a:solidFill>
                <a:latin typeface="Georgia" pitchFamily="34" charset="0"/>
                <a:ea typeface="Georgia" pitchFamily="34" charset="-122"/>
                <a:cs typeface="Georgia" pitchFamily="34" charset="-120"/>
              </a:rPr>
              <a:t>names has been</a:t>
            </a:r>
            <a:endParaRPr lang="en-US" sz="4000" dirty="0"/>
          </a:p>
          <a:p>
            <a:pPr indent="0" marL="0">
              <a:lnSpc>
                <a:spcPts val="4400"/>
              </a:lnSpc>
              <a:buNone/>
            </a:pPr>
            <a:r>
              <a:rPr lang="en-US" sz="4000" dirty="0">
                <a:solidFill>
                  <a:srgbClr val="FAF8F1"/>
                </a:solidFill>
                <a:latin typeface="Georgia" pitchFamily="34" charset="0"/>
                <a:ea typeface="Georgia" pitchFamily="34" charset="-122"/>
                <a:cs typeface="Georgia" pitchFamily="34" charset="-120"/>
              </a:rPr>
              <a:t>taught, and shot.</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MONDAY · CS8</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THIRTY ITEMS, TWENTY MINUTES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5156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The whole lexicon, at last testable</a:t>
            </a:r>
            <a:endParaRPr lang="en-US" sz="3400" dirty="0"/>
          </a:p>
        </p:txBody>
      </p:sp>
      <p:sp>
        <p:nvSpPr>
          <p:cNvPr id="6" name="Text 4"/>
          <p:cNvSpPr/>
          <p:nvPr/>
        </p:nvSpPr>
        <p:spPr>
          <a:xfrm>
            <a:off x="822960" y="1828800"/>
            <a:ext cx="10241280" cy="1280160"/>
          </a:xfrm>
          <a:prstGeom prst="rect">
            <a:avLst/>
          </a:prstGeom>
          <a:noFill/>
          <a:ln/>
        </p:spPr>
        <p:txBody>
          <a:bodyPr wrap="square" lIns="0" tIns="0" rIns="0" bIns="0" rtlCol="0" anchor="t"/>
          <a:lstStyle/>
          <a:p>
            <a:pPr indent="0" marL="0">
              <a:lnSpc>
                <a:spcPts val="2600"/>
              </a:lnSpc>
              <a:buNone/>
            </a:pPr>
            <a:r>
              <a:rPr lang="en-US" sz="1850" dirty="0">
                <a:solidFill>
                  <a:srgbClr val="24313F"/>
                </a:solidFill>
                <a:latin typeface="Georgia" pitchFamily="34" charset="0"/>
                <a:ea typeface="Georgia" pitchFamily="34" charset="-122"/>
                <a:cs typeface="Georgia" pitchFamily="34" charset="-120"/>
              </a:rPr>
              <a:t>This quiz used to sit in week three and cover semiotics alone. It now sits two days before A1 and draws on all four technical elements plus the semiotic base, with at least four items on sound and four on editing, because those are the families scripts drop.</a:t>
            </a:r>
            <a:endParaRPr lang="en-US" sz="1850" dirty="0"/>
          </a:p>
        </p:txBody>
      </p:sp>
      <p:sp>
        <p:nvSpPr>
          <p:cNvPr id="7" name="Text 5"/>
          <p:cNvSpPr/>
          <p:nvPr/>
        </p:nvSpPr>
        <p:spPr>
          <a:xfrm>
            <a:off x="822960" y="3383280"/>
            <a:ext cx="3209544"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Define the term</a:t>
            </a:r>
            <a:endParaRPr lang="en-US" sz="2100" dirty="0"/>
          </a:p>
        </p:txBody>
      </p:sp>
      <p:sp>
        <p:nvSpPr>
          <p:cNvPr id="8" name="Shape 6"/>
          <p:cNvSpPr/>
          <p:nvPr/>
        </p:nvSpPr>
        <p:spPr>
          <a:xfrm>
            <a:off x="822960" y="3895344"/>
            <a:ext cx="3209544" cy="0"/>
          </a:xfrm>
          <a:prstGeom prst="line">
            <a:avLst/>
          </a:prstGeom>
          <a:noFill/>
          <a:ln w="9525">
            <a:solidFill>
              <a:srgbClr val="D9D4C4"/>
            </a:solidFill>
            <a:prstDash val="solid"/>
          </a:ln>
        </p:spPr>
      </p:sp>
      <p:sp>
        <p:nvSpPr>
          <p:cNvPr id="9" name="Text 7"/>
          <p:cNvSpPr/>
          <p:nvPr/>
        </p:nvSpPr>
        <p:spPr>
          <a:xfrm>
            <a:off x="822960" y="4069080"/>
            <a:ext cx="3209544"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shot bridge, canted, high key, ellipsis, sound perspective</a:t>
            </a:r>
            <a:endParaRPr lang="en-US" sz="1550" dirty="0"/>
          </a:p>
        </p:txBody>
      </p:sp>
      <p:sp>
        <p:nvSpPr>
          <p:cNvPr id="10" name="Text 8"/>
          <p:cNvSpPr/>
          <p:nvPr/>
        </p:nvSpPr>
        <p:spPr>
          <a:xfrm>
            <a:off x="4489704" y="3383280"/>
            <a:ext cx="3209544"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Label the example</a:t>
            </a:r>
            <a:endParaRPr lang="en-US" sz="2100" dirty="0"/>
          </a:p>
        </p:txBody>
      </p:sp>
      <p:sp>
        <p:nvSpPr>
          <p:cNvPr id="11" name="Shape 9"/>
          <p:cNvSpPr/>
          <p:nvPr/>
        </p:nvSpPr>
        <p:spPr>
          <a:xfrm>
            <a:off x="4489704" y="3895344"/>
            <a:ext cx="3209544" cy="0"/>
          </a:xfrm>
          <a:prstGeom prst="line">
            <a:avLst/>
          </a:prstGeom>
          <a:noFill/>
          <a:ln w="9525">
            <a:solidFill>
              <a:srgbClr val="D9D4C4"/>
            </a:solidFill>
            <a:prstDash val="solid"/>
          </a:ln>
        </p:spPr>
      </p:sp>
      <p:sp>
        <p:nvSpPr>
          <p:cNvPr id="12" name="Text 10"/>
          <p:cNvSpPr/>
          <p:nvPr/>
        </p:nvSpPr>
        <p:spPr>
          <a:xfrm>
            <a:off x="4489704" y="4069080"/>
            <a:ext cx="3209544"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a named move, from a still or a short clip</a:t>
            </a:r>
            <a:endParaRPr lang="en-US" sz="1550" dirty="0"/>
          </a:p>
        </p:txBody>
      </p:sp>
      <p:sp>
        <p:nvSpPr>
          <p:cNvPr id="13" name="Text 11"/>
          <p:cNvSpPr/>
          <p:nvPr/>
        </p:nvSpPr>
        <p:spPr>
          <a:xfrm>
            <a:off x="8156448" y="3383280"/>
            <a:ext cx="3209544" cy="457200"/>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Then self-mark</a:t>
            </a:r>
            <a:endParaRPr lang="en-US" sz="2100" dirty="0"/>
          </a:p>
        </p:txBody>
      </p:sp>
      <p:sp>
        <p:nvSpPr>
          <p:cNvPr id="14" name="Shape 12"/>
          <p:cNvSpPr/>
          <p:nvPr/>
        </p:nvSpPr>
        <p:spPr>
          <a:xfrm>
            <a:off x="8156448" y="3895344"/>
            <a:ext cx="3209544" cy="0"/>
          </a:xfrm>
          <a:prstGeom prst="line">
            <a:avLst/>
          </a:prstGeom>
          <a:noFill/>
          <a:ln w="9525">
            <a:solidFill>
              <a:srgbClr val="D9D4C4"/>
            </a:solidFill>
            <a:prstDash val="solid"/>
          </a:ln>
        </p:spPr>
      </p:sp>
      <p:sp>
        <p:nvSpPr>
          <p:cNvPr id="15" name="Text 13"/>
          <p:cNvSpPr/>
          <p:nvPr/>
        </p:nvSpPr>
        <p:spPr>
          <a:xfrm>
            <a:off x="8156448" y="4069080"/>
            <a:ext cx="3209544" cy="109728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immediately, against the definitions on screen</a:t>
            </a:r>
            <a:endParaRPr lang="en-US" sz="1550" dirty="0"/>
          </a:p>
        </p:txBody>
      </p:sp>
      <p:sp>
        <p:nvSpPr>
          <p:cNvPr id="16" name="Shape 14"/>
          <p:cNvSpPr/>
          <p:nvPr/>
        </p:nvSpPr>
        <p:spPr>
          <a:xfrm>
            <a:off x="822960" y="5349240"/>
            <a:ext cx="914400" cy="0"/>
          </a:xfrm>
          <a:prstGeom prst="line">
            <a:avLst/>
          </a:prstGeom>
          <a:noFill/>
          <a:ln w="31750">
            <a:solidFill>
              <a:srgbClr val="8C3A38"/>
            </a:solidFill>
            <a:prstDash val="solid"/>
          </a:ln>
        </p:spPr>
      </p:sp>
      <p:sp>
        <p:nvSpPr>
          <p:cNvPr id="17" name="Text 15"/>
          <p:cNvSpPr/>
          <p:nvPr/>
        </p:nvSpPr>
        <p:spPr>
          <a:xfrm>
            <a:off x="822960" y="5532120"/>
            <a:ext cx="10424160"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The self-marking does more teaching than the quiz. Whatever you miss here is your revision list for Wednesday.</a:t>
            </a:r>
            <a:endParaRPr lang="en-US" sz="125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SYSTEMATIC READING ORDER</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SAME ORDER, EVERY EXTRACT, EVERY TIME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order is the discipline</a:t>
            </a:r>
            <a:endParaRPr lang="en-US" sz="3200" dirty="0"/>
          </a:p>
        </p:txBody>
      </p:sp>
      <p:sp>
        <p:nvSpPr>
          <p:cNvPr id="6" name="Text 4"/>
          <p:cNvSpPr/>
          <p:nvPr/>
        </p:nvSpPr>
        <p:spPr>
          <a:xfrm>
            <a:off x="822960" y="1783080"/>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1</a:t>
            </a:r>
            <a:endParaRPr lang="en-US" sz="1700" dirty="0"/>
          </a:p>
        </p:txBody>
      </p:sp>
      <p:sp>
        <p:nvSpPr>
          <p:cNvPr id="7" name="Text 5"/>
          <p:cNvSpPr/>
          <p:nvPr/>
        </p:nvSpPr>
        <p:spPr>
          <a:xfrm>
            <a:off x="1508760" y="1783080"/>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Framing</a:t>
            </a:r>
            <a:endParaRPr lang="en-US" sz="1900" dirty="0"/>
          </a:p>
        </p:txBody>
      </p:sp>
      <p:sp>
        <p:nvSpPr>
          <p:cNvPr id="8" name="Text 6"/>
          <p:cNvSpPr/>
          <p:nvPr/>
        </p:nvSpPr>
        <p:spPr>
          <a:xfrm>
            <a:off x="4846320" y="1783080"/>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what is in, what is out</a:t>
            </a:r>
            <a:endParaRPr lang="en-US" sz="1500" dirty="0"/>
          </a:p>
        </p:txBody>
      </p:sp>
      <p:sp>
        <p:nvSpPr>
          <p:cNvPr id="9" name="Shape 7"/>
          <p:cNvSpPr/>
          <p:nvPr/>
        </p:nvSpPr>
        <p:spPr>
          <a:xfrm>
            <a:off x="1051560" y="2240280"/>
            <a:ext cx="0" cy="109728"/>
          </a:xfrm>
          <a:prstGeom prst="line">
            <a:avLst/>
          </a:prstGeom>
          <a:noFill/>
          <a:ln w="19050">
            <a:solidFill>
              <a:srgbClr val="8AA394"/>
            </a:solidFill>
            <a:prstDash val="solid"/>
          </a:ln>
        </p:spPr>
      </p:sp>
      <p:sp>
        <p:nvSpPr>
          <p:cNvPr id="10" name="Text 8"/>
          <p:cNvSpPr/>
          <p:nvPr/>
        </p:nvSpPr>
        <p:spPr>
          <a:xfrm>
            <a:off x="822960" y="2350008"/>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2</a:t>
            </a:r>
            <a:endParaRPr lang="en-US" sz="1700" dirty="0"/>
          </a:p>
        </p:txBody>
      </p:sp>
      <p:sp>
        <p:nvSpPr>
          <p:cNvPr id="11" name="Text 9"/>
          <p:cNvSpPr/>
          <p:nvPr/>
        </p:nvSpPr>
        <p:spPr>
          <a:xfrm>
            <a:off x="1508760" y="2350008"/>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Camera</a:t>
            </a:r>
            <a:endParaRPr lang="en-US" sz="1900" dirty="0"/>
          </a:p>
        </p:txBody>
      </p:sp>
      <p:sp>
        <p:nvSpPr>
          <p:cNvPr id="12" name="Text 10"/>
          <p:cNvSpPr/>
          <p:nvPr/>
        </p:nvSpPr>
        <p:spPr>
          <a:xfrm>
            <a:off x="4846320" y="2350008"/>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shot, angle, movement</a:t>
            </a:r>
            <a:endParaRPr lang="en-US" sz="1500" dirty="0"/>
          </a:p>
        </p:txBody>
      </p:sp>
      <p:sp>
        <p:nvSpPr>
          <p:cNvPr id="13" name="Shape 11"/>
          <p:cNvSpPr/>
          <p:nvPr/>
        </p:nvSpPr>
        <p:spPr>
          <a:xfrm>
            <a:off x="1051560" y="2807208"/>
            <a:ext cx="0" cy="109728"/>
          </a:xfrm>
          <a:prstGeom prst="line">
            <a:avLst/>
          </a:prstGeom>
          <a:noFill/>
          <a:ln w="19050">
            <a:solidFill>
              <a:srgbClr val="8AA394"/>
            </a:solidFill>
            <a:prstDash val="solid"/>
          </a:ln>
        </p:spPr>
      </p:sp>
      <p:sp>
        <p:nvSpPr>
          <p:cNvPr id="14" name="Text 12"/>
          <p:cNvSpPr/>
          <p:nvPr/>
        </p:nvSpPr>
        <p:spPr>
          <a:xfrm>
            <a:off x="822960" y="2916936"/>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3</a:t>
            </a:r>
            <a:endParaRPr lang="en-US" sz="1700" dirty="0"/>
          </a:p>
        </p:txBody>
      </p:sp>
      <p:sp>
        <p:nvSpPr>
          <p:cNvPr id="15" name="Text 13"/>
          <p:cNvSpPr/>
          <p:nvPr/>
        </p:nvSpPr>
        <p:spPr>
          <a:xfrm>
            <a:off x="1508760" y="2916936"/>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Light</a:t>
            </a:r>
            <a:endParaRPr lang="en-US" sz="1900" dirty="0"/>
          </a:p>
        </p:txBody>
      </p:sp>
      <p:sp>
        <p:nvSpPr>
          <p:cNvPr id="16" name="Text 14"/>
          <p:cNvSpPr/>
          <p:nvPr/>
        </p:nvSpPr>
        <p:spPr>
          <a:xfrm>
            <a:off x="4846320" y="2916936"/>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source, direction, mood</a:t>
            </a:r>
            <a:endParaRPr lang="en-US" sz="1500" dirty="0"/>
          </a:p>
        </p:txBody>
      </p:sp>
      <p:sp>
        <p:nvSpPr>
          <p:cNvPr id="17" name="Shape 15"/>
          <p:cNvSpPr/>
          <p:nvPr/>
        </p:nvSpPr>
        <p:spPr>
          <a:xfrm>
            <a:off x="1051560" y="3374136"/>
            <a:ext cx="0" cy="109728"/>
          </a:xfrm>
          <a:prstGeom prst="line">
            <a:avLst/>
          </a:prstGeom>
          <a:noFill/>
          <a:ln w="19050">
            <a:solidFill>
              <a:srgbClr val="8AA394"/>
            </a:solidFill>
            <a:prstDash val="solid"/>
          </a:ln>
        </p:spPr>
      </p:sp>
      <p:sp>
        <p:nvSpPr>
          <p:cNvPr id="18" name="Text 16"/>
          <p:cNvSpPr/>
          <p:nvPr/>
        </p:nvSpPr>
        <p:spPr>
          <a:xfrm>
            <a:off x="822960" y="3483864"/>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4</a:t>
            </a:r>
            <a:endParaRPr lang="en-US" sz="1700" dirty="0"/>
          </a:p>
        </p:txBody>
      </p:sp>
      <p:sp>
        <p:nvSpPr>
          <p:cNvPr id="19" name="Text 17"/>
          <p:cNvSpPr/>
          <p:nvPr/>
        </p:nvSpPr>
        <p:spPr>
          <a:xfrm>
            <a:off x="1508760" y="3483864"/>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Mise-en-scene</a:t>
            </a:r>
            <a:endParaRPr lang="en-US" sz="1900" dirty="0"/>
          </a:p>
        </p:txBody>
      </p:sp>
      <p:sp>
        <p:nvSpPr>
          <p:cNvPr id="20" name="Text 18"/>
          <p:cNvSpPr/>
          <p:nvPr/>
        </p:nvSpPr>
        <p:spPr>
          <a:xfrm>
            <a:off x="4846320" y="3483864"/>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setting, props, dress, gesture</a:t>
            </a:r>
            <a:endParaRPr lang="en-US" sz="1500" dirty="0"/>
          </a:p>
        </p:txBody>
      </p:sp>
      <p:sp>
        <p:nvSpPr>
          <p:cNvPr id="21" name="Shape 19"/>
          <p:cNvSpPr/>
          <p:nvPr/>
        </p:nvSpPr>
        <p:spPr>
          <a:xfrm>
            <a:off x="1051560" y="3941064"/>
            <a:ext cx="0" cy="109728"/>
          </a:xfrm>
          <a:prstGeom prst="line">
            <a:avLst/>
          </a:prstGeom>
          <a:noFill/>
          <a:ln w="19050">
            <a:solidFill>
              <a:srgbClr val="8AA394"/>
            </a:solidFill>
            <a:prstDash val="solid"/>
          </a:ln>
        </p:spPr>
      </p:sp>
      <p:sp>
        <p:nvSpPr>
          <p:cNvPr id="22" name="Text 20"/>
          <p:cNvSpPr/>
          <p:nvPr/>
        </p:nvSpPr>
        <p:spPr>
          <a:xfrm>
            <a:off x="822960" y="4050792"/>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5</a:t>
            </a:r>
            <a:endParaRPr lang="en-US" sz="1700" dirty="0"/>
          </a:p>
        </p:txBody>
      </p:sp>
      <p:sp>
        <p:nvSpPr>
          <p:cNvPr id="23" name="Text 21"/>
          <p:cNvSpPr/>
          <p:nvPr/>
        </p:nvSpPr>
        <p:spPr>
          <a:xfrm>
            <a:off x="1508760" y="4050792"/>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Sound</a:t>
            </a:r>
            <a:endParaRPr lang="en-US" sz="1900" dirty="0"/>
          </a:p>
        </p:txBody>
      </p:sp>
      <p:sp>
        <p:nvSpPr>
          <p:cNvPr id="24" name="Text 22"/>
          <p:cNvSpPr/>
          <p:nvPr/>
        </p:nvSpPr>
        <p:spPr>
          <a:xfrm>
            <a:off x="4846320" y="4050792"/>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music, silence, diegetic sound</a:t>
            </a:r>
            <a:endParaRPr lang="en-US" sz="1500" dirty="0"/>
          </a:p>
        </p:txBody>
      </p:sp>
      <p:sp>
        <p:nvSpPr>
          <p:cNvPr id="25" name="Shape 23"/>
          <p:cNvSpPr/>
          <p:nvPr/>
        </p:nvSpPr>
        <p:spPr>
          <a:xfrm>
            <a:off x="1051560" y="4507992"/>
            <a:ext cx="0" cy="109728"/>
          </a:xfrm>
          <a:prstGeom prst="line">
            <a:avLst/>
          </a:prstGeom>
          <a:noFill/>
          <a:ln w="19050">
            <a:solidFill>
              <a:srgbClr val="8AA394"/>
            </a:solidFill>
            <a:prstDash val="solid"/>
          </a:ln>
        </p:spPr>
      </p:sp>
      <p:sp>
        <p:nvSpPr>
          <p:cNvPr id="26" name="Text 24"/>
          <p:cNvSpPr/>
          <p:nvPr/>
        </p:nvSpPr>
        <p:spPr>
          <a:xfrm>
            <a:off x="822960" y="4617720"/>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6</a:t>
            </a:r>
            <a:endParaRPr lang="en-US" sz="1700" dirty="0"/>
          </a:p>
        </p:txBody>
      </p:sp>
      <p:sp>
        <p:nvSpPr>
          <p:cNvPr id="27" name="Text 25"/>
          <p:cNvSpPr/>
          <p:nvPr/>
        </p:nvSpPr>
        <p:spPr>
          <a:xfrm>
            <a:off x="1508760" y="4617720"/>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Edit</a:t>
            </a:r>
            <a:endParaRPr lang="en-US" sz="1900" dirty="0"/>
          </a:p>
        </p:txBody>
      </p:sp>
      <p:sp>
        <p:nvSpPr>
          <p:cNvPr id="28" name="Text 26"/>
          <p:cNvSpPr/>
          <p:nvPr/>
        </p:nvSpPr>
        <p:spPr>
          <a:xfrm>
            <a:off x="4846320" y="4617720"/>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cut, pace, transition</a:t>
            </a:r>
            <a:endParaRPr lang="en-US" sz="1500" dirty="0"/>
          </a:p>
        </p:txBody>
      </p:sp>
      <p:sp>
        <p:nvSpPr>
          <p:cNvPr id="29" name="Shape 27"/>
          <p:cNvSpPr/>
          <p:nvPr/>
        </p:nvSpPr>
        <p:spPr>
          <a:xfrm>
            <a:off x="1051560" y="5074920"/>
            <a:ext cx="0" cy="109728"/>
          </a:xfrm>
          <a:prstGeom prst="line">
            <a:avLst/>
          </a:prstGeom>
          <a:noFill/>
          <a:ln w="19050">
            <a:solidFill>
              <a:srgbClr val="8AA394"/>
            </a:solidFill>
            <a:prstDash val="solid"/>
          </a:ln>
        </p:spPr>
      </p:sp>
      <p:sp>
        <p:nvSpPr>
          <p:cNvPr id="30" name="Text 28"/>
          <p:cNvSpPr/>
          <p:nvPr/>
        </p:nvSpPr>
        <p:spPr>
          <a:xfrm>
            <a:off x="822960" y="5184648"/>
            <a:ext cx="457200" cy="457200"/>
          </a:xfrm>
          <a:prstGeom prst="ellipse">
            <a:avLst/>
          </a:prstGeom>
          <a:solidFill>
            <a:srgbClr val="A3C1AD"/>
          </a:solidFill>
          <a:ln/>
        </p:spPr>
        <p:txBody>
          <a:bodyPr wrap="square" lIns="0" tIns="0" rIns="0" bIns="0" rtlCol="0" anchor="ctr"/>
          <a:lstStyle/>
          <a:p>
            <a:pPr algn="ctr" indent="0" marL="0">
              <a:buNone/>
            </a:pPr>
            <a:r>
              <a:rPr lang="en-US" sz="1700" dirty="0">
                <a:solidFill>
                  <a:srgbClr val="FAF8F1"/>
                </a:solidFill>
                <a:latin typeface="Georgia" pitchFamily="34" charset="0"/>
                <a:ea typeface="Georgia" pitchFamily="34" charset="-122"/>
                <a:cs typeface="Georgia" pitchFamily="34" charset="-120"/>
              </a:rPr>
              <a:t>7</a:t>
            </a:r>
            <a:endParaRPr lang="en-US" sz="1700" dirty="0"/>
          </a:p>
        </p:txBody>
      </p:sp>
      <p:sp>
        <p:nvSpPr>
          <p:cNvPr id="31" name="Text 29"/>
          <p:cNvSpPr/>
          <p:nvPr/>
        </p:nvSpPr>
        <p:spPr>
          <a:xfrm>
            <a:off x="1508760" y="5184648"/>
            <a:ext cx="3291840" cy="45720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Narrative codes</a:t>
            </a:r>
            <a:endParaRPr lang="en-US" sz="1900" dirty="0"/>
          </a:p>
        </p:txBody>
      </p:sp>
      <p:sp>
        <p:nvSpPr>
          <p:cNvPr id="32" name="Text 30"/>
          <p:cNvSpPr/>
          <p:nvPr/>
        </p:nvSpPr>
        <p:spPr>
          <a:xfrm>
            <a:off x="4846320" y="5184648"/>
            <a:ext cx="6400800" cy="457200"/>
          </a:xfrm>
          <a:prstGeom prst="rect">
            <a:avLst/>
          </a:prstGeom>
          <a:noFill/>
          <a:ln/>
        </p:spPr>
        <p:txBody>
          <a:bodyPr wrap="square" lIns="0" tIns="0" rIns="0" bIns="0" rtlCol="0" anchor="ctr"/>
          <a:lstStyle/>
          <a:p>
            <a:pPr indent="0" marL="0">
              <a:buNone/>
            </a:pPr>
            <a:r>
              <a:rPr lang="en-US" sz="1500" dirty="0">
                <a:solidFill>
                  <a:srgbClr val="24313F"/>
                </a:solidFill>
                <a:latin typeface="Georgia" pitchFamily="34" charset="0"/>
                <a:ea typeface="Georgia" pitchFamily="34" charset="-122"/>
                <a:cs typeface="Georgia" pitchFamily="34" charset="-120"/>
              </a:rPr>
              <a:t>enigma, action, structure</a:t>
            </a:r>
            <a:endParaRPr lang="en-US" sz="1500" dirty="0"/>
          </a:p>
        </p:txBody>
      </p:sp>
      <p:sp>
        <p:nvSpPr>
          <p:cNvPr id="33" name="Text 31"/>
          <p:cNvSpPr/>
          <p:nvPr/>
        </p:nvSpPr>
        <p:spPr>
          <a:xfrm>
            <a:off x="4846320" y="5870448"/>
            <a:ext cx="6400800" cy="365760"/>
          </a:xfrm>
          <a:prstGeom prst="rect">
            <a:avLst/>
          </a:prstGeom>
          <a:noFill/>
          <a:ln/>
        </p:spPr>
        <p:txBody>
          <a:bodyPr wrap="square" lIns="0" tIns="0" rIns="0" bIns="0" rtlCol="0" anchor="ctr"/>
          <a:lstStyle/>
          <a:p>
            <a:pPr indent="0" marL="0">
              <a:buNone/>
            </a:pPr>
            <a:r>
              <a:rPr lang="en-US" sz="1150" i="1" dirty="0">
                <a:solidFill>
                  <a:srgbClr val="7A7F72"/>
                </a:solidFill>
                <a:latin typeface="Arial" pitchFamily="34" charset="0"/>
                <a:ea typeface="Arial" pitchFamily="34" charset="-122"/>
                <a:cs typeface="Arial" pitchFamily="34" charset="-120"/>
              </a:rPr>
              <a:t>The Ladder arrives in full: the order climbs rungs one and two; PEEM climbs the rest.</a:t>
            </a:r>
            <a:endParaRPr lang="en-US" sz="1150" dirty="0"/>
          </a:p>
        </p:txBody>
      </p:sp>
      <p:sp>
        <p:nvSpPr>
          <p:cNvPr id="34" name="Shape 32"/>
          <p:cNvSpPr/>
          <p:nvPr/>
        </p:nvSpPr>
        <p:spPr>
          <a:xfrm>
            <a:off x="822960" y="6382512"/>
            <a:ext cx="10543032" cy="0"/>
          </a:xfrm>
          <a:prstGeom prst="line">
            <a:avLst/>
          </a:prstGeom>
          <a:noFill/>
          <a:ln w="9525">
            <a:solidFill>
              <a:srgbClr val="D9D4C4"/>
            </a:solidFill>
            <a:prstDash val="solid"/>
          </a:ln>
        </p:spPr>
      </p:sp>
      <p:sp>
        <p:nvSpPr>
          <p:cNvPr id="35" name="Text 3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6" name="Text 3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dogan/Documents/Vaults/Courses/wiki/classes/media-studies/decks/_build/img/crops/johnston-literature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DISCIPLINE IS THE SKILL</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Systematic reading is a habit you build, not a talent: the same order, every text, every time.</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Frances Benjamin Johnston, an English Literature class, Hampton, c. 1899</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PEEM</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PARAGRAPH THAT PROVES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Prove, do not assert</a:t>
            </a:r>
            <a:endParaRPr lang="en-US" sz="3200" dirty="0"/>
          </a:p>
        </p:txBody>
      </p:sp>
      <p:sp>
        <p:nvSpPr>
          <p:cNvPr id="6" name="Shape 4"/>
          <p:cNvSpPr/>
          <p:nvPr/>
        </p:nvSpPr>
        <p:spPr>
          <a:xfrm>
            <a:off x="2140839" y="3383280"/>
            <a:ext cx="7907274" cy="0"/>
          </a:xfrm>
          <a:prstGeom prst="line">
            <a:avLst/>
          </a:prstGeom>
          <a:noFill/>
          <a:ln w="19050">
            <a:solidFill>
              <a:srgbClr val="8AA394"/>
            </a:solidFill>
            <a:prstDash val="solid"/>
          </a:ln>
        </p:spPr>
      </p:sp>
      <p:sp>
        <p:nvSpPr>
          <p:cNvPr id="7" name="Text 5"/>
          <p:cNvSpPr/>
          <p:nvPr/>
        </p:nvSpPr>
        <p:spPr>
          <a:xfrm>
            <a:off x="1820799" y="3063240"/>
            <a:ext cx="640080" cy="640080"/>
          </a:xfrm>
          <a:prstGeom prst="ellipse">
            <a:avLst/>
          </a:prstGeom>
          <a:solidFill>
            <a:srgbClr val="4A6B5D"/>
          </a:solidFill>
          <a:ln/>
        </p:spPr>
        <p:txBody>
          <a:bodyPr wrap="square" lIns="0" tIns="0" rIns="0" bIns="0" rtlCol="0" anchor="ctr"/>
          <a:lstStyle/>
          <a:p>
            <a:pPr algn="ctr" indent="0" marL="0">
              <a:buNone/>
            </a:pPr>
            <a:r>
              <a:rPr lang="en-US" sz="2600" dirty="0">
                <a:solidFill>
                  <a:srgbClr val="FAF8F1"/>
                </a:solidFill>
                <a:latin typeface="Georgia" pitchFamily="34" charset="0"/>
                <a:ea typeface="Georgia" pitchFamily="34" charset="-122"/>
                <a:cs typeface="Georgia" pitchFamily="34" charset="-120"/>
              </a:rPr>
              <a:t>P</a:t>
            </a:r>
            <a:endParaRPr lang="en-US" sz="2600" dirty="0"/>
          </a:p>
        </p:txBody>
      </p:sp>
      <p:sp>
        <p:nvSpPr>
          <p:cNvPr id="8" name="Text 6"/>
          <p:cNvSpPr/>
          <p:nvPr/>
        </p:nvSpPr>
        <p:spPr>
          <a:xfrm>
            <a:off x="914400" y="2286000"/>
            <a:ext cx="2452878" cy="548640"/>
          </a:xfrm>
          <a:prstGeom prst="rect">
            <a:avLst/>
          </a:prstGeom>
          <a:noFill/>
          <a:ln/>
        </p:spPr>
        <p:txBody>
          <a:bodyPr wrap="square" lIns="0" tIns="0" rIns="0" bIns="0" rtlCol="0" anchor="b"/>
          <a:lstStyle/>
          <a:p>
            <a:pPr algn="ctr" indent="0" marL="0">
              <a:buNone/>
            </a:pPr>
            <a:r>
              <a:rPr lang="en-US" sz="2200" dirty="0">
                <a:solidFill>
                  <a:srgbClr val="24313F"/>
                </a:solidFill>
                <a:latin typeface="Georgia" pitchFamily="34" charset="0"/>
                <a:ea typeface="Georgia" pitchFamily="34" charset="-122"/>
                <a:cs typeface="Georgia" pitchFamily="34" charset="-120"/>
              </a:rPr>
              <a:t>Point</a:t>
            </a:r>
            <a:endParaRPr lang="en-US" sz="2200" dirty="0"/>
          </a:p>
        </p:txBody>
      </p:sp>
      <p:sp>
        <p:nvSpPr>
          <p:cNvPr id="9" name="Text 7"/>
          <p:cNvSpPr/>
          <p:nvPr/>
        </p:nvSpPr>
        <p:spPr>
          <a:xfrm>
            <a:off x="960120" y="3931920"/>
            <a:ext cx="2361438" cy="914400"/>
          </a:xfrm>
          <a:prstGeom prst="rect">
            <a:avLst/>
          </a:prstGeom>
          <a:noFill/>
          <a:ln/>
        </p:spPr>
        <p:txBody>
          <a:bodyPr wrap="square" lIns="0" tIns="0" rIns="0" bIns="0" rtlCol="0" anchor="t"/>
          <a:lstStyle/>
          <a:p>
            <a:pPr algn="ctr" indent="0" marL="0">
              <a:lnSpc>
                <a:spcPts val="1800"/>
              </a:lnSpc>
              <a:buNone/>
            </a:pPr>
            <a:r>
              <a:rPr lang="en-US" sz="1400" dirty="0">
                <a:solidFill>
                  <a:srgbClr val="24313F"/>
                </a:solidFill>
                <a:latin typeface="Georgia" pitchFamily="34" charset="0"/>
                <a:ea typeface="Georgia" pitchFamily="34" charset="-122"/>
                <a:cs typeface="Georgia" pitchFamily="34" charset="-120"/>
              </a:rPr>
              <a:t>the claim you are making</a:t>
            </a:r>
            <a:endParaRPr lang="en-US" sz="1400" dirty="0"/>
          </a:p>
        </p:txBody>
      </p:sp>
      <p:sp>
        <p:nvSpPr>
          <p:cNvPr id="10" name="Text 8"/>
          <p:cNvSpPr/>
          <p:nvPr/>
        </p:nvSpPr>
        <p:spPr>
          <a:xfrm>
            <a:off x="4456557" y="3063240"/>
            <a:ext cx="640080" cy="640080"/>
          </a:xfrm>
          <a:prstGeom prst="ellipse">
            <a:avLst/>
          </a:prstGeom>
          <a:solidFill>
            <a:srgbClr val="4A6B5D"/>
          </a:solidFill>
          <a:ln/>
        </p:spPr>
        <p:txBody>
          <a:bodyPr wrap="square" lIns="0" tIns="0" rIns="0" bIns="0" rtlCol="0" anchor="ctr"/>
          <a:lstStyle/>
          <a:p>
            <a:pPr algn="ctr" indent="0" marL="0">
              <a:buNone/>
            </a:pPr>
            <a:r>
              <a:rPr lang="en-US" sz="2600" dirty="0">
                <a:solidFill>
                  <a:srgbClr val="FAF8F1"/>
                </a:solidFill>
                <a:latin typeface="Georgia" pitchFamily="34" charset="0"/>
                <a:ea typeface="Georgia" pitchFamily="34" charset="-122"/>
                <a:cs typeface="Georgia" pitchFamily="34" charset="-120"/>
              </a:rPr>
              <a:t>E</a:t>
            </a:r>
            <a:endParaRPr lang="en-US" sz="2600" dirty="0"/>
          </a:p>
        </p:txBody>
      </p:sp>
      <p:sp>
        <p:nvSpPr>
          <p:cNvPr id="11" name="Text 9"/>
          <p:cNvSpPr/>
          <p:nvPr/>
        </p:nvSpPr>
        <p:spPr>
          <a:xfrm>
            <a:off x="3550158" y="2286000"/>
            <a:ext cx="2452878" cy="548640"/>
          </a:xfrm>
          <a:prstGeom prst="rect">
            <a:avLst/>
          </a:prstGeom>
          <a:noFill/>
          <a:ln/>
        </p:spPr>
        <p:txBody>
          <a:bodyPr wrap="square" lIns="0" tIns="0" rIns="0" bIns="0" rtlCol="0" anchor="b"/>
          <a:lstStyle/>
          <a:p>
            <a:pPr algn="ctr" indent="0" marL="0">
              <a:buNone/>
            </a:pPr>
            <a:r>
              <a:rPr lang="en-US" sz="2200" dirty="0">
                <a:solidFill>
                  <a:srgbClr val="24313F"/>
                </a:solidFill>
                <a:latin typeface="Georgia" pitchFamily="34" charset="0"/>
                <a:ea typeface="Georgia" pitchFamily="34" charset="-122"/>
                <a:cs typeface="Georgia" pitchFamily="34" charset="-120"/>
              </a:rPr>
              <a:t>Evidence</a:t>
            </a:r>
            <a:endParaRPr lang="en-US" sz="2200" dirty="0"/>
          </a:p>
        </p:txBody>
      </p:sp>
      <p:sp>
        <p:nvSpPr>
          <p:cNvPr id="12" name="Text 10"/>
          <p:cNvSpPr/>
          <p:nvPr/>
        </p:nvSpPr>
        <p:spPr>
          <a:xfrm>
            <a:off x="3595878" y="3931920"/>
            <a:ext cx="2361438" cy="914400"/>
          </a:xfrm>
          <a:prstGeom prst="rect">
            <a:avLst/>
          </a:prstGeom>
          <a:noFill/>
          <a:ln/>
        </p:spPr>
        <p:txBody>
          <a:bodyPr wrap="square" lIns="0" tIns="0" rIns="0" bIns="0" rtlCol="0" anchor="t"/>
          <a:lstStyle/>
          <a:p>
            <a:pPr algn="ctr" indent="0" marL="0">
              <a:lnSpc>
                <a:spcPts val="1800"/>
              </a:lnSpc>
              <a:buNone/>
            </a:pPr>
            <a:r>
              <a:rPr lang="en-US" sz="1400" dirty="0">
                <a:solidFill>
                  <a:srgbClr val="24313F"/>
                </a:solidFill>
                <a:latin typeface="Georgia" pitchFamily="34" charset="0"/>
                <a:ea typeface="Georgia" pitchFamily="34" charset="-122"/>
                <a:cs typeface="Georgia" pitchFamily="34" charset="-120"/>
              </a:rPr>
              <a:t>pinned to a signifier in frame</a:t>
            </a:r>
            <a:endParaRPr lang="en-US" sz="1400" dirty="0"/>
          </a:p>
        </p:txBody>
      </p:sp>
      <p:sp>
        <p:nvSpPr>
          <p:cNvPr id="13" name="Text 11"/>
          <p:cNvSpPr/>
          <p:nvPr/>
        </p:nvSpPr>
        <p:spPr>
          <a:xfrm>
            <a:off x="7092315" y="3063240"/>
            <a:ext cx="640080" cy="640080"/>
          </a:xfrm>
          <a:prstGeom prst="ellipse">
            <a:avLst/>
          </a:prstGeom>
          <a:solidFill>
            <a:srgbClr val="4A6B5D"/>
          </a:solidFill>
          <a:ln/>
        </p:spPr>
        <p:txBody>
          <a:bodyPr wrap="square" lIns="0" tIns="0" rIns="0" bIns="0" rtlCol="0" anchor="ctr"/>
          <a:lstStyle/>
          <a:p>
            <a:pPr algn="ctr" indent="0" marL="0">
              <a:buNone/>
            </a:pPr>
            <a:r>
              <a:rPr lang="en-US" sz="2600" dirty="0">
                <a:solidFill>
                  <a:srgbClr val="FAF8F1"/>
                </a:solidFill>
                <a:latin typeface="Georgia" pitchFamily="34" charset="0"/>
                <a:ea typeface="Georgia" pitchFamily="34" charset="-122"/>
                <a:cs typeface="Georgia" pitchFamily="34" charset="-120"/>
              </a:rPr>
              <a:t>E</a:t>
            </a:r>
            <a:endParaRPr lang="en-US" sz="2600" dirty="0"/>
          </a:p>
        </p:txBody>
      </p:sp>
      <p:sp>
        <p:nvSpPr>
          <p:cNvPr id="14" name="Text 12"/>
          <p:cNvSpPr/>
          <p:nvPr/>
        </p:nvSpPr>
        <p:spPr>
          <a:xfrm>
            <a:off x="6185916" y="2286000"/>
            <a:ext cx="2452878" cy="548640"/>
          </a:xfrm>
          <a:prstGeom prst="rect">
            <a:avLst/>
          </a:prstGeom>
          <a:noFill/>
          <a:ln/>
        </p:spPr>
        <p:txBody>
          <a:bodyPr wrap="square" lIns="0" tIns="0" rIns="0" bIns="0" rtlCol="0" anchor="b"/>
          <a:lstStyle/>
          <a:p>
            <a:pPr algn="ctr" indent="0" marL="0">
              <a:buNone/>
            </a:pPr>
            <a:r>
              <a:rPr lang="en-US" sz="2200" dirty="0">
                <a:solidFill>
                  <a:srgbClr val="24313F"/>
                </a:solidFill>
                <a:latin typeface="Georgia" pitchFamily="34" charset="0"/>
                <a:ea typeface="Georgia" pitchFamily="34" charset="-122"/>
                <a:cs typeface="Georgia" pitchFamily="34" charset="-120"/>
              </a:rPr>
              <a:t>Effect</a:t>
            </a:r>
            <a:endParaRPr lang="en-US" sz="2200" dirty="0"/>
          </a:p>
        </p:txBody>
      </p:sp>
      <p:sp>
        <p:nvSpPr>
          <p:cNvPr id="15" name="Text 13"/>
          <p:cNvSpPr/>
          <p:nvPr/>
        </p:nvSpPr>
        <p:spPr>
          <a:xfrm>
            <a:off x="6231636" y="3931920"/>
            <a:ext cx="2361438" cy="914400"/>
          </a:xfrm>
          <a:prstGeom prst="rect">
            <a:avLst/>
          </a:prstGeom>
          <a:noFill/>
          <a:ln/>
        </p:spPr>
        <p:txBody>
          <a:bodyPr wrap="square" lIns="0" tIns="0" rIns="0" bIns="0" rtlCol="0" anchor="t"/>
          <a:lstStyle/>
          <a:p>
            <a:pPr algn="ctr" indent="0" marL="0">
              <a:lnSpc>
                <a:spcPts val="1800"/>
              </a:lnSpc>
              <a:buNone/>
            </a:pPr>
            <a:r>
              <a:rPr lang="en-US" sz="1400" dirty="0">
                <a:solidFill>
                  <a:srgbClr val="24313F"/>
                </a:solidFill>
                <a:latin typeface="Georgia" pitchFamily="34" charset="0"/>
                <a:ea typeface="Georgia" pitchFamily="34" charset="-122"/>
                <a:cs typeface="Georgia" pitchFamily="34" charset="-120"/>
              </a:rPr>
              <a:t>what it does to the viewer</a:t>
            </a:r>
            <a:endParaRPr lang="en-US" sz="1400" dirty="0"/>
          </a:p>
        </p:txBody>
      </p:sp>
      <p:sp>
        <p:nvSpPr>
          <p:cNvPr id="16" name="Text 14"/>
          <p:cNvSpPr/>
          <p:nvPr/>
        </p:nvSpPr>
        <p:spPr>
          <a:xfrm>
            <a:off x="9728073" y="3063240"/>
            <a:ext cx="640080" cy="640080"/>
          </a:xfrm>
          <a:prstGeom prst="ellipse">
            <a:avLst/>
          </a:prstGeom>
          <a:solidFill>
            <a:srgbClr val="4A6B5D"/>
          </a:solidFill>
          <a:ln/>
        </p:spPr>
        <p:txBody>
          <a:bodyPr wrap="square" lIns="0" tIns="0" rIns="0" bIns="0" rtlCol="0" anchor="ctr"/>
          <a:lstStyle/>
          <a:p>
            <a:pPr algn="ctr" indent="0" marL="0">
              <a:buNone/>
            </a:pPr>
            <a:r>
              <a:rPr lang="en-US" sz="2600" dirty="0">
                <a:solidFill>
                  <a:srgbClr val="FAF8F1"/>
                </a:solidFill>
                <a:latin typeface="Georgia" pitchFamily="34" charset="0"/>
                <a:ea typeface="Georgia" pitchFamily="34" charset="-122"/>
                <a:cs typeface="Georgia" pitchFamily="34" charset="-120"/>
              </a:rPr>
              <a:t>M</a:t>
            </a:r>
            <a:endParaRPr lang="en-US" sz="2600" dirty="0"/>
          </a:p>
        </p:txBody>
      </p:sp>
      <p:sp>
        <p:nvSpPr>
          <p:cNvPr id="17" name="Text 15"/>
          <p:cNvSpPr/>
          <p:nvPr/>
        </p:nvSpPr>
        <p:spPr>
          <a:xfrm>
            <a:off x="8821674" y="2286000"/>
            <a:ext cx="2452878" cy="548640"/>
          </a:xfrm>
          <a:prstGeom prst="rect">
            <a:avLst/>
          </a:prstGeom>
          <a:noFill/>
          <a:ln/>
        </p:spPr>
        <p:txBody>
          <a:bodyPr wrap="square" lIns="0" tIns="0" rIns="0" bIns="0" rtlCol="0" anchor="b"/>
          <a:lstStyle/>
          <a:p>
            <a:pPr algn="ctr" indent="0" marL="0">
              <a:buNone/>
            </a:pPr>
            <a:r>
              <a:rPr lang="en-US" sz="2200" dirty="0">
                <a:solidFill>
                  <a:srgbClr val="24313F"/>
                </a:solidFill>
                <a:latin typeface="Georgia" pitchFamily="34" charset="0"/>
                <a:ea typeface="Georgia" pitchFamily="34" charset="-122"/>
                <a:cs typeface="Georgia" pitchFamily="34" charset="-120"/>
              </a:rPr>
              <a:t>Meaning</a:t>
            </a:r>
            <a:endParaRPr lang="en-US" sz="2200" dirty="0"/>
          </a:p>
        </p:txBody>
      </p:sp>
      <p:sp>
        <p:nvSpPr>
          <p:cNvPr id="18" name="Text 16"/>
          <p:cNvSpPr/>
          <p:nvPr/>
        </p:nvSpPr>
        <p:spPr>
          <a:xfrm>
            <a:off x="8867394" y="3931920"/>
            <a:ext cx="2361438" cy="914400"/>
          </a:xfrm>
          <a:prstGeom prst="rect">
            <a:avLst/>
          </a:prstGeom>
          <a:noFill/>
          <a:ln/>
        </p:spPr>
        <p:txBody>
          <a:bodyPr wrap="square" lIns="0" tIns="0" rIns="0" bIns="0" rtlCol="0" anchor="t"/>
          <a:lstStyle/>
          <a:p>
            <a:pPr algn="ctr" indent="0" marL="0">
              <a:lnSpc>
                <a:spcPts val="1800"/>
              </a:lnSpc>
              <a:buNone/>
            </a:pPr>
            <a:r>
              <a:rPr lang="en-US" sz="1400" dirty="0">
                <a:solidFill>
                  <a:srgbClr val="24313F"/>
                </a:solidFill>
                <a:latin typeface="Georgia" pitchFamily="34" charset="0"/>
                <a:ea typeface="Georgia" pitchFamily="34" charset="-122"/>
                <a:cs typeface="Georgia" pitchFamily="34" charset="-120"/>
              </a:rPr>
              <a:t>tied back to the concept</a:t>
            </a:r>
            <a:endParaRPr lang="en-US" sz="1400" dirty="0"/>
          </a:p>
        </p:txBody>
      </p:sp>
      <p:sp>
        <p:nvSpPr>
          <p:cNvPr id="19" name="Text 17"/>
          <p:cNvSpPr/>
          <p:nvPr/>
        </p:nvSpPr>
        <p:spPr>
          <a:xfrm>
            <a:off x="822960" y="5212080"/>
            <a:ext cx="10543032" cy="640080"/>
          </a:xfrm>
          <a:prstGeom prst="rect">
            <a:avLst/>
          </a:prstGeom>
          <a:noFill/>
          <a:ln/>
        </p:spPr>
        <p:txBody>
          <a:bodyPr wrap="square" lIns="0" tIns="0" rIns="0" bIns="0" rtlCol="0" anchor="t"/>
          <a:lstStyle/>
          <a:p>
            <a:pPr indent="0" marL="0">
              <a:lnSpc>
                <a:spcPts val="1700"/>
              </a:lnSpc>
              <a:buNone/>
            </a:pPr>
            <a:r>
              <a:rPr lang="en-US" sz="1250" i="1" dirty="0">
                <a:solidFill>
                  <a:srgbClr val="7A7F72"/>
                </a:solidFill>
                <a:latin typeface="Arial" pitchFamily="34" charset="0"/>
                <a:ea typeface="Arial" pitchFamily="34" charset="-122"/>
                <a:cs typeface="Arial" pitchFamily="34" charset="-120"/>
              </a:rPr>
              <a:t>The A1 pile's commonest failure is assertion: a claim with no evidence, no effect, no link. PEEM is the repair: rungs three to five of the Ladder, climbed by cold call.</a:t>
            </a:r>
            <a:endParaRPr lang="en-US" sz="1250" dirty="0"/>
          </a:p>
        </p:txBody>
      </p:sp>
      <p:sp>
        <p:nvSpPr>
          <p:cNvPr id="20" name="Shape 18"/>
          <p:cNvSpPr/>
          <p:nvPr/>
        </p:nvSpPr>
        <p:spPr>
          <a:xfrm>
            <a:off x="822960" y="6382512"/>
            <a:ext cx="10543032" cy="0"/>
          </a:xfrm>
          <a:prstGeom prst="line">
            <a:avLst/>
          </a:prstGeom>
          <a:noFill/>
          <a:ln w="9525">
            <a:solidFill>
              <a:srgbClr val="D9D4C4"/>
            </a:solidFill>
            <a:prstDash val="solid"/>
          </a:ln>
        </p:spPr>
      </p:sp>
      <p:sp>
        <p:nvSpPr>
          <p:cNvPr id="21" name="Text 1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2" name="Text 2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DEFECT TO DIAGNOSE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EFFECT AND MEANING COLLAPSED INTO ONE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51560"/>
            <a:ext cx="10543032" cy="82296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If your two sentences could swap places</a:t>
            </a:r>
            <a:endParaRPr lang="en-US" sz="3400" dirty="0"/>
          </a:p>
        </p:txBody>
      </p:sp>
      <p:sp>
        <p:nvSpPr>
          <p:cNvPr id="6" name="Shape 4"/>
          <p:cNvSpPr/>
          <p:nvPr/>
        </p:nvSpPr>
        <p:spPr>
          <a:xfrm>
            <a:off x="822960" y="2103120"/>
            <a:ext cx="10543032" cy="1371600"/>
          </a:xfrm>
          <a:prstGeom prst="rect">
            <a:avLst/>
          </a:prstGeom>
          <a:solidFill>
            <a:srgbClr val="E8EFE7"/>
          </a:solidFill>
          <a:ln/>
        </p:spPr>
      </p:sp>
      <p:sp>
        <p:nvSpPr>
          <p:cNvPr id="7" name="Text 5"/>
          <p:cNvSpPr/>
          <p:nvPr/>
        </p:nvSpPr>
        <p:spPr>
          <a:xfrm>
            <a:off x="1143000" y="2240280"/>
            <a:ext cx="9902952" cy="1097280"/>
          </a:xfrm>
          <a:prstGeom prst="rect">
            <a:avLst/>
          </a:prstGeom>
          <a:noFill/>
          <a:ln/>
        </p:spPr>
        <p:txBody>
          <a:bodyPr wrap="square" lIns="0" tIns="0" rIns="0" bIns="0" rtlCol="0" anchor="ctr"/>
          <a:lstStyle/>
          <a:p>
            <a:pPr indent="0" marL="0">
              <a:lnSpc>
                <a:spcPts val="2800"/>
              </a:lnSpc>
              <a:buNone/>
            </a:pPr>
            <a:r>
              <a:rPr lang="en-US" sz="2100" i="1" dirty="0">
                <a:solidFill>
                  <a:srgbClr val="7A7F72"/>
                </a:solidFill>
                <a:latin typeface="Georgia" pitchFamily="34" charset="0"/>
                <a:ea typeface="Georgia" pitchFamily="34" charset="-122"/>
                <a:cs typeface="Georgia" pitchFamily="34" charset="-120"/>
              </a:rPr>
              <a:t>The low angle makes him look powerful, which shows he has power in the scene.</a:t>
            </a:r>
            <a:endParaRPr lang="en-US" sz="2100" dirty="0"/>
          </a:p>
        </p:txBody>
      </p:sp>
      <p:sp>
        <p:nvSpPr>
          <p:cNvPr id="8" name="Text 6"/>
          <p:cNvSpPr/>
          <p:nvPr/>
        </p:nvSpPr>
        <p:spPr>
          <a:xfrm>
            <a:off x="822960" y="3611880"/>
            <a:ext cx="10424160" cy="45720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One move, written twice. Nothing after the comma is new, and mid-band scripts are full of it.</a:t>
            </a:r>
            <a:endParaRPr lang="en-US" sz="1250" dirty="0"/>
          </a:p>
        </p:txBody>
      </p:sp>
      <p:sp>
        <p:nvSpPr>
          <p:cNvPr id="9" name="Shape 7"/>
          <p:cNvSpPr/>
          <p:nvPr/>
        </p:nvSpPr>
        <p:spPr>
          <a:xfrm>
            <a:off x="822960" y="4251960"/>
            <a:ext cx="914400" cy="0"/>
          </a:xfrm>
          <a:prstGeom prst="line">
            <a:avLst/>
          </a:prstGeom>
          <a:noFill/>
          <a:ln w="31750">
            <a:solidFill>
              <a:srgbClr val="8C3A38"/>
            </a:solidFill>
            <a:prstDash val="solid"/>
          </a:ln>
        </p:spPr>
      </p:sp>
      <p:sp>
        <p:nvSpPr>
          <p:cNvPr id="10" name="Text 8"/>
          <p:cNvSpPr/>
          <p:nvPr/>
        </p:nvSpPr>
        <p:spPr>
          <a:xfrm>
            <a:off x="822960" y="4434840"/>
            <a:ext cx="10424160" cy="1554480"/>
          </a:xfrm>
          <a:prstGeom prst="rect">
            <a:avLst/>
          </a:prstGeom>
          <a:noFill/>
          <a:ln/>
        </p:spPr>
        <p:txBody>
          <a:bodyPr wrap="square" lIns="0" tIns="0" rIns="0" bIns="0" rtlCol="0" anchor="t"/>
          <a:lstStyle/>
          <a:p>
            <a:pPr indent="0" marL="0">
              <a:lnSpc>
                <a:spcPts val="2500"/>
              </a:lnSpc>
              <a:buNone/>
            </a:pPr>
            <a:r>
              <a:rPr lang="en-US" sz="1800" dirty="0">
                <a:solidFill>
                  <a:srgbClr val="24313F"/>
                </a:solidFill>
                <a:latin typeface="Georgia" pitchFamily="34" charset="0"/>
                <a:ea typeface="Georgia" pitchFamily="34" charset="-122"/>
                <a:cs typeface="Georgia" pitchFamily="34" charset="-120"/>
              </a:rPr>
              <a:t>Effect is what it does to the viewer. Meaning is what it therefore says about the person, place or event being represented. The viewer is placed beneath him, so institutional power is constructed as a physical fact of the room rather than something argued for.</a:t>
            </a:r>
            <a:endParaRPr lang="en-US" sz="1800" dirty="0"/>
          </a:p>
        </p:txBody>
      </p:sp>
      <p:sp>
        <p:nvSpPr>
          <p:cNvPr id="11" name="Shape 9"/>
          <p:cNvSpPr/>
          <p:nvPr/>
        </p:nvSpPr>
        <p:spPr>
          <a:xfrm>
            <a:off x="822960" y="6382512"/>
            <a:ext cx="10543032" cy="0"/>
          </a:xfrm>
          <a:prstGeom prst="line">
            <a:avLst/>
          </a:prstGeom>
          <a:noFill/>
          <a:ln w="9525">
            <a:solidFill>
              <a:srgbClr val="D9D4C4"/>
            </a:solidFill>
            <a:prstDash val="solid"/>
          </a:ln>
        </p:spPr>
      </p:sp>
      <p:sp>
        <p:nvSpPr>
          <p:cNvPr id="12"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3"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SCREENING PROTOCOL</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EXAM'S OWN RUBRIC</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Four viewings, one extract</a:t>
            </a:r>
            <a:endParaRPr lang="en-US" sz="3200" dirty="0"/>
          </a:p>
        </p:txBody>
      </p:sp>
      <p:sp>
        <p:nvSpPr>
          <p:cNvPr id="6" name="Shape 4"/>
          <p:cNvSpPr/>
          <p:nvPr/>
        </p:nvSpPr>
        <p:spPr>
          <a:xfrm>
            <a:off x="2140839" y="3200400"/>
            <a:ext cx="7907274" cy="0"/>
          </a:xfrm>
          <a:prstGeom prst="line">
            <a:avLst/>
          </a:prstGeom>
          <a:noFill/>
          <a:ln w="19050">
            <a:solidFill>
              <a:srgbClr val="8AA394"/>
            </a:solidFill>
            <a:prstDash val="solid"/>
          </a:ln>
        </p:spPr>
      </p:sp>
      <p:sp>
        <p:nvSpPr>
          <p:cNvPr id="7" name="Text 5"/>
          <p:cNvSpPr/>
          <p:nvPr/>
        </p:nvSpPr>
        <p:spPr>
          <a:xfrm>
            <a:off x="1866519" y="29260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932688" y="2240280"/>
            <a:ext cx="2416302" cy="457200"/>
          </a:xfrm>
          <a:prstGeom prst="rect">
            <a:avLst/>
          </a:prstGeom>
          <a:noFill/>
          <a:ln/>
        </p:spPr>
        <p:txBody>
          <a:bodyPr wrap="square" lIns="0" tIns="0" rIns="0" bIns="0" rtlCol="0" anchor="b"/>
          <a:lstStyle/>
          <a:p>
            <a:pPr algn="ctr" indent="0" marL="0">
              <a:buNone/>
            </a:pPr>
            <a:r>
              <a:rPr lang="en-US" sz="1800" dirty="0">
                <a:solidFill>
                  <a:srgbClr val="24313F"/>
                </a:solidFill>
                <a:latin typeface="Georgia" pitchFamily="34" charset="0"/>
                <a:ea typeface="Georgia" pitchFamily="34" charset="-122"/>
                <a:cs typeface="Georgia" pitchFamily="34" charset="-120"/>
              </a:rPr>
              <a:t>First</a:t>
            </a:r>
            <a:endParaRPr lang="en-US" sz="1800" dirty="0"/>
          </a:p>
        </p:txBody>
      </p:sp>
      <p:sp>
        <p:nvSpPr>
          <p:cNvPr id="9" name="Text 7"/>
          <p:cNvSpPr/>
          <p:nvPr/>
        </p:nvSpPr>
        <p:spPr>
          <a:xfrm>
            <a:off x="932688" y="3611880"/>
            <a:ext cx="2416302" cy="320040"/>
          </a:xfrm>
          <a:prstGeom prst="rect">
            <a:avLst/>
          </a:prstGeom>
          <a:noFill/>
          <a:ln/>
        </p:spPr>
        <p:txBody>
          <a:bodyPr wrap="square" lIns="0" tIns="0" rIns="0" bIns="0" rtlCol="0" anchor="ctr"/>
          <a:lstStyle/>
          <a:p>
            <a:pPr algn="ctr" indent="0" marL="0">
              <a:buNone/>
            </a:pPr>
            <a:r>
              <a:rPr lang="en-US" sz="950" b="1" spc="50" kern="0" dirty="0">
                <a:solidFill>
                  <a:srgbClr val="4A6B5D"/>
                </a:solidFill>
                <a:latin typeface="Arial" pitchFamily="34" charset="0"/>
                <a:ea typeface="Arial" pitchFamily="34" charset="-122"/>
                <a:cs typeface="Arial" pitchFamily="34" charset="-120"/>
              </a:rPr>
              <a:t>JUST WATCH</a:t>
            </a:r>
            <a:endParaRPr lang="en-US" sz="950" dirty="0"/>
          </a:p>
        </p:txBody>
      </p:sp>
      <p:sp>
        <p:nvSpPr>
          <p:cNvPr id="10" name="Text 8"/>
          <p:cNvSpPr/>
          <p:nvPr/>
        </p:nvSpPr>
        <p:spPr>
          <a:xfrm>
            <a:off x="969264" y="3977640"/>
            <a:ext cx="2343150" cy="1188720"/>
          </a:xfrm>
          <a:prstGeom prst="rect">
            <a:avLst/>
          </a:prstGeom>
          <a:noFill/>
          <a:ln/>
        </p:spPr>
        <p:txBody>
          <a:bodyPr wrap="square" lIns="0" tIns="0" rIns="0" bIns="0" rtlCol="0" anchor="t"/>
          <a:lstStyle/>
          <a:p>
            <a:pPr algn="ctr" indent="0" marL="0">
              <a:lnSpc>
                <a:spcPts val="1600"/>
              </a:lnSpc>
              <a:buNone/>
            </a:pPr>
            <a:r>
              <a:rPr lang="en-US" sz="1250" dirty="0">
                <a:solidFill>
                  <a:srgbClr val="24313F"/>
                </a:solidFill>
                <a:latin typeface="Georgia" pitchFamily="34" charset="0"/>
                <a:ea typeface="Georgia" pitchFamily="34" charset="-122"/>
                <a:cs typeface="Georgia" pitchFamily="34" charset="-120"/>
              </a:rPr>
              <a:t>No notes. See the whole thing before you dissect it.</a:t>
            </a:r>
            <a:endParaRPr lang="en-US" sz="1250" dirty="0"/>
          </a:p>
        </p:txBody>
      </p:sp>
      <p:sp>
        <p:nvSpPr>
          <p:cNvPr id="11" name="Text 9"/>
          <p:cNvSpPr/>
          <p:nvPr/>
        </p:nvSpPr>
        <p:spPr>
          <a:xfrm>
            <a:off x="4502277" y="29260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3568446" y="2240280"/>
            <a:ext cx="2416302" cy="457200"/>
          </a:xfrm>
          <a:prstGeom prst="rect">
            <a:avLst/>
          </a:prstGeom>
          <a:noFill/>
          <a:ln/>
        </p:spPr>
        <p:txBody>
          <a:bodyPr wrap="square" lIns="0" tIns="0" rIns="0" bIns="0" rtlCol="0" anchor="b"/>
          <a:lstStyle/>
          <a:p>
            <a:pPr algn="ctr" indent="0" marL="0">
              <a:buNone/>
            </a:pPr>
            <a:r>
              <a:rPr lang="en-US" sz="1800" dirty="0">
                <a:solidFill>
                  <a:srgbClr val="24313F"/>
                </a:solidFill>
                <a:latin typeface="Georgia" pitchFamily="34" charset="0"/>
                <a:ea typeface="Georgia" pitchFamily="34" charset="-122"/>
                <a:cs typeface="Georgia" pitchFamily="34" charset="-120"/>
              </a:rPr>
              <a:t>Second</a:t>
            </a:r>
            <a:endParaRPr lang="en-US" sz="1800" dirty="0"/>
          </a:p>
        </p:txBody>
      </p:sp>
      <p:sp>
        <p:nvSpPr>
          <p:cNvPr id="13" name="Text 11"/>
          <p:cNvSpPr/>
          <p:nvPr/>
        </p:nvSpPr>
        <p:spPr>
          <a:xfrm>
            <a:off x="3568446" y="3611880"/>
            <a:ext cx="2416302" cy="320040"/>
          </a:xfrm>
          <a:prstGeom prst="rect">
            <a:avLst/>
          </a:prstGeom>
          <a:noFill/>
          <a:ln/>
        </p:spPr>
        <p:txBody>
          <a:bodyPr wrap="square" lIns="0" tIns="0" rIns="0" bIns="0" rtlCol="0" anchor="ctr"/>
          <a:lstStyle/>
          <a:p>
            <a:pPr algn="ctr" indent="0" marL="0">
              <a:buNone/>
            </a:pPr>
            <a:r>
              <a:rPr lang="en-US" sz="950" b="1" spc="50" kern="0" dirty="0">
                <a:solidFill>
                  <a:srgbClr val="4A6B5D"/>
                </a:solidFill>
                <a:latin typeface="Arial" pitchFamily="34" charset="0"/>
                <a:ea typeface="Arial" pitchFamily="34" charset="-122"/>
                <a:cs typeface="Arial" pitchFamily="34" charset="-120"/>
              </a:rPr>
              <a:t>CAMERA &amp; EDITING</a:t>
            </a:r>
            <a:endParaRPr lang="en-US" sz="950" dirty="0"/>
          </a:p>
        </p:txBody>
      </p:sp>
      <p:sp>
        <p:nvSpPr>
          <p:cNvPr id="14" name="Text 12"/>
          <p:cNvSpPr/>
          <p:nvPr/>
        </p:nvSpPr>
        <p:spPr>
          <a:xfrm>
            <a:off x="3605022" y="3977640"/>
            <a:ext cx="2343150" cy="1188720"/>
          </a:xfrm>
          <a:prstGeom prst="rect">
            <a:avLst/>
          </a:prstGeom>
          <a:noFill/>
          <a:ln/>
        </p:spPr>
        <p:txBody>
          <a:bodyPr wrap="square" lIns="0" tIns="0" rIns="0" bIns="0" rtlCol="0" anchor="t"/>
          <a:lstStyle/>
          <a:p>
            <a:pPr algn="ctr" indent="0" marL="0">
              <a:lnSpc>
                <a:spcPts val="1600"/>
              </a:lnSpc>
              <a:buNone/>
            </a:pPr>
            <a:r>
              <a:rPr lang="en-US" sz="1250" dirty="0">
                <a:solidFill>
                  <a:srgbClr val="24313F"/>
                </a:solidFill>
                <a:latin typeface="Georgia" pitchFamily="34" charset="0"/>
                <a:ea typeface="Georgia" pitchFamily="34" charset="-122"/>
                <a:cs typeface="Georgia" pitchFamily="34" charset="-120"/>
              </a:rPr>
              <a:t>Track the technical codes: shots, angles, movement, cuts, pace.</a:t>
            </a:r>
            <a:endParaRPr lang="en-US" sz="1250" dirty="0"/>
          </a:p>
        </p:txBody>
      </p:sp>
      <p:sp>
        <p:nvSpPr>
          <p:cNvPr id="15" name="Text 13"/>
          <p:cNvSpPr/>
          <p:nvPr/>
        </p:nvSpPr>
        <p:spPr>
          <a:xfrm>
            <a:off x="7138035" y="29260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3</a:t>
            </a:r>
            <a:endParaRPr lang="en-US" sz="2200" dirty="0"/>
          </a:p>
        </p:txBody>
      </p:sp>
      <p:sp>
        <p:nvSpPr>
          <p:cNvPr id="16" name="Text 14"/>
          <p:cNvSpPr/>
          <p:nvPr/>
        </p:nvSpPr>
        <p:spPr>
          <a:xfrm>
            <a:off x="6204204" y="2240280"/>
            <a:ext cx="2416302" cy="457200"/>
          </a:xfrm>
          <a:prstGeom prst="rect">
            <a:avLst/>
          </a:prstGeom>
          <a:noFill/>
          <a:ln/>
        </p:spPr>
        <p:txBody>
          <a:bodyPr wrap="square" lIns="0" tIns="0" rIns="0" bIns="0" rtlCol="0" anchor="b"/>
          <a:lstStyle/>
          <a:p>
            <a:pPr algn="ctr" indent="0" marL="0">
              <a:buNone/>
            </a:pPr>
            <a:r>
              <a:rPr lang="en-US" sz="1800" dirty="0">
                <a:solidFill>
                  <a:srgbClr val="24313F"/>
                </a:solidFill>
                <a:latin typeface="Georgia" pitchFamily="34" charset="0"/>
                <a:ea typeface="Georgia" pitchFamily="34" charset="-122"/>
                <a:cs typeface="Georgia" pitchFamily="34" charset="-120"/>
              </a:rPr>
              <a:t>Third</a:t>
            </a:r>
            <a:endParaRPr lang="en-US" sz="1800" dirty="0"/>
          </a:p>
        </p:txBody>
      </p:sp>
      <p:sp>
        <p:nvSpPr>
          <p:cNvPr id="17" name="Text 15"/>
          <p:cNvSpPr/>
          <p:nvPr/>
        </p:nvSpPr>
        <p:spPr>
          <a:xfrm>
            <a:off x="6204204" y="3611880"/>
            <a:ext cx="2416302" cy="320040"/>
          </a:xfrm>
          <a:prstGeom prst="rect">
            <a:avLst/>
          </a:prstGeom>
          <a:noFill/>
          <a:ln/>
        </p:spPr>
        <p:txBody>
          <a:bodyPr wrap="square" lIns="0" tIns="0" rIns="0" bIns="0" rtlCol="0" anchor="ctr"/>
          <a:lstStyle/>
          <a:p>
            <a:pPr algn="ctr" indent="0" marL="0">
              <a:buNone/>
            </a:pPr>
            <a:r>
              <a:rPr lang="en-US" sz="950" b="1" spc="50" kern="0" dirty="0">
                <a:solidFill>
                  <a:srgbClr val="4A6B5D"/>
                </a:solidFill>
                <a:latin typeface="Arial" pitchFamily="34" charset="0"/>
                <a:ea typeface="Arial" pitchFamily="34" charset="-122"/>
                <a:cs typeface="Arial" pitchFamily="34" charset="-120"/>
              </a:rPr>
              <a:t>SOUND &amp; MISE-EN-SCENE</a:t>
            </a:r>
            <a:endParaRPr lang="en-US" sz="950" dirty="0"/>
          </a:p>
        </p:txBody>
      </p:sp>
      <p:sp>
        <p:nvSpPr>
          <p:cNvPr id="18" name="Text 16"/>
          <p:cNvSpPr/>
          <p:nvPr/>
        </p:nvSpPr>
        <p:spPr>
          <a:xfrm>
            <a:off x="6240780" y="3977640"/>
            <a:ext cx="2343150" cy="1188720"/>
          </a:xfrm>
          <a:prstGeom prst="rect">
            <a:avLst/>
          </a:prstGeom>
          <a:noFill/>
          <a:ln/>
        </p:spPr>
        <p:txBody>
          <a:bodyPr wrap="square" lIns="0" tIns="0" rIns="0" bIns="0" rtlCol="0" anchor="t"/>
          <a:lstStyle/>
          <a:p>
            <a:pPr algn="ctr" indent="0" marL="0">
              <a:lnSpc>
                <a:spcPts val="1600"/>
              </a:lnSpc>
              <a:buNone/>
            </a:pPr>
            <a:r>
              <a:rPr lang="en-US" sz="1250" dirty="0">
                <a:solidFill>
                  <a:srgbClr val="24313F"/>
                </a:solidFill>
                <a:latin typeface="Georgia" pitchFamily="34" charset="0"/>
                <a:ea typeface="Georgia" pitchFamily="34" charset="-122"/>
                <a:cs typeface="Georgia" pitchFamily="34" charset="-120"/>
              </a:rPr>
              <a:t>Music, silence, diegetic sound; setting, props, dress, gesture.</a:t>
            </a:r>
            <a:endParaRPr lang="en-US" sz="1250" dirty="0"/>
          </a:p>
        </p:txBody>
      </p:sp>
      <p:sp>
        <p:nvSpPr>
          <p:cNvPr id="19" name="Text 17"/>
          <p:cNvSpPr/>
          <p:nvPr/>
        </p:nvSpPr>
        <p:spPr>
          <a:xfrm>
            <a:off x="9773793" y="2926080"/>
            <a:ext cx="548640" cy="548640"/>
          </a:xfrm>
          <a:prstGeom prst="ellipse">
            <a:avLst/>
          </a:prstGeom>
          <a:solidFill>
            <a:srgbClr val="4A6B5D"/>
          </a:solidFill>
          <a:ln/>
        </p:spPr>
        <p:txBody>
          <a:bodyPr wrap="square" lIns="0" tIns="0" rIns="0" bIns="0" rtlCol="0" anchor="ctr"/>
          <a:lstStyle/>
          <a:p>
            <a:pPr algn="ctr" indent="0" marL="0">
              <a:buNone/>
            </a:pPr>
            <a:r>
              <a:rPr lang="en-US" sz="2200" dirty="0">
                <a:solidFill>
                  <a:srgbClr val="FAF8F1"/>
                </a:solidFill>
                <a:latin typeface="Georgia" pitchFamily="34" charset="0"/>
                <a:ea typeface="Georgia" pitchFamily="34" charset="-122"/>
                <a:cs typeface="Georgia" pitchFamily="34" charset="-120"/>
              </a:rPr>
              <a:t>4</a:t>
            </a:r>
            <a:endParaRPr lang="en-US" sz="2200" dirty="0"/>
          </a:p>
        </p:txBody>
      </p:sp>
      <p:sp>
        <p:nvSpPr>
          <p:cNvPr id="20" name="Text 18"/>
          <p:cNvSpPr/>
          <p:nvPr/>
        </p:nvSpPr>
        <p:spPr>
          <a:xfrm>
            <a:off x="8839962" y="2240280"/>
            <a:ext cx="2416302" cy="457200"/>
          </a:xfrm>
          <a:prstGeom prst="rect">
            <a:avLst/>
          </a:prstGeom>
          <a:noFill/>
          <a:ln/>
        </p:spPr>
        <p:txBody>
          <a:bodyPr wrap="square" lIns="0" tIns="0" rIns="0" bIns="0" rtlCol="0" anchor="b"/>
          <a:lstStyle/>
          <a:p>
            <a:pPr algn="ctr" indent="0" marL="0">
              <a:buNone/>
            </a:pPr>
            <a:r>
              <a:rPr lang="en-US" sz="1800" dirty="0">
                <a:solidFill>
                  <a:srgbClr val="24313F"/>
                </a:solidFill>
                <a:latin typeface="Georgia" pitchFamily="34" charset="0"/>
                <a:ea typeface="Georgia" pitchFamily="34" charset="-122"/>
                <a:cs typeface="Georgia" pitchFamily="34" charset="-120"/>
              </a:rPr>
              <a:t>Fourth</a:t>
            </a:r>
            <a:endParaRPr lang="en-US" sz="1800" dirty="0"/>
          </a:p>
        </p:txBody>
      </p:sp>
      <p:sp>
        <p:nvSpPr>
          <p:cNvPr id="21" name="Text 19"/>
          <p:cNvSpPr/>
          <p:nvPr/>
        </p:nvSpPr>
        <p:spPr>
          <a:xfrm>
            <a:off x="8839962" y="3611880"/>
            <a:ext cx="2416302" cy="320040"/>
          </a:xfrm>
          <a:prstGeom prst="rect">
            <a:avLst/>
          </a:prstGeom>
          <a:noFill/>
          <a:ln/>
        </p:spPr>
        <p:txBody>
          <a:bodyPr wrap="square" lIns="0" tIns="0" rIns="0" bIns="0" rtlCol="0" anchor="ctr"/>
          <a:lstStyle/>
          <a:p>
            <a:pPr algn="ctr" indent="0" marL="0">
              <a:buNone/>
            </a:pPr>
            <a:r>
              <a:rPr lang="en-US" sz="950" b="1" spc="50" kern="0" dirty="0">
                <a:solidFill>
                  <a:srgbClr val="4A6B5D"/>
                </a:solidFill>
                <a:latin typeface="Arial" pitchFamily="34" charset="0"/>
                <a:ea typeface="Arial" pitchFamily="34" charset="-122"/>
                <a:cs typeface="Arial" pitchFamily="34" charset="-120"/>
              </a:rPr>
              <a:t>NARRATIVE &amp; MEANING</a:t>
            </a:r>
            <a:endParaRPr lang="en-US" sz="950" dirty="0"/>
          </a:p>
        </p:txBody>
      </p:sp>
      <p:sp>
        <p:nvSpPr>
          <p:cNvPr id="22" name="Text 20"/>
          <p:cNvSpPr/>
          <p:nvPr/>
        </p:nvSpPr>
        <p:spPr>
          <a:xfrm>
            <a:off x="8876538" y="3977640"/>
            <a:ext cx="2343150" cy="1188720"/>
          </a:xfrm>
          <a:prstGeom prst="rect">
            <a:avLst/>
          </a:prstGeom>
          <a:noFill/>
          <a:ln/>
        </p:spPr>
        <p:txBody>
          <a:bodyPr wrap="square" lIns="0" tIns="0" rIns="0" bIns="0" rtlCol="0" anchor="t"/>
          <a:lstStyle/>
          <a:p>
            <a:pPr algn="ctr" indent="0" marL="0">
              <a:lnSpc>
                <a:spcPts val="1600"/>
              </a:lnSpc>
              <a:buNone/>
            </a:pPr>
            <a:r>
              <a:rPr lang="en-US" sz="1250" dirty="0">
                <a:solidFill>
                  <a:srgbClr val="24313F"/>
                </a:solidFill>
                <a:latin typeface="Georgia" pitchFamily="34" charset="0"/>
                <a:ea typeface="Georgia" pitchFamily="34" charset="-122"/>
                <a:cs typeface="Georgia" pitchFamily="34" charset="-120"/>
              </a:rPr>
              <a:t>Structure, enigma, what the extract argues, and where it strains.</a:t>
            </a:r>
            <a:endParaRPr lang="en-US" sz="1250" dirty="0"/>
          </a:p>
        </p:txBody>
      </p:sp>
      <p:sp>
        <p:nvSpPr>
          <p:cNvPr id="23" name="Shape 21"/>
          <p:cNvSpPr/>
          <p:nvPr/>
        </p:nvSpPr>
        <p:spPr>
          <a:xfrm>
            <a:off x="822960" y="6382512"/>
            <a:ext cx="10543032" cy="0"/>
          </a:xfrm>
          <a:prstGeom prst="line">
            <a:avLst/>
          </a:prstGeom>
          <a:noFill/>
          <a:ln w="9525">
            <a:solidFill>
              <a:srgbClr val="D9D4C4"/>
            </a:solidFill>
            <a:prstDash val="solid"/>
          </a:ln>
        </p:spPr>
      </p:sp>
      <p:sp>
        <p:nvSpPr>
          <p:cNvPr id="24" name="Text 22"/>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5" name="Text 23"/>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A1 IS MARKED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OFFICIAL PAPER 2 RUBRIC</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Five criteria, best-fit, 0 to 5 each</a:t>
            </a:r>
            <a:endParaRPr lang="en-US" sz="3000" dirty="0"/>
          </a:p>
        </p:txBody>
      </p:sp>
      <p:sp>
        <p:nvSpPr>
          <p:cNvPr id="6" name="Shape 4"/>
          <p:cNvSpPr/>
          <p:nvPr/>
        </p:nvSpPr>
        <p:spPr>
          <a:xfrm>
            <a:off x="822960" y="1737360"/>
            <a:ext cx="10543032" cy="0"/>
          </a:xfrm>
          <a:prstGeom prst="line">
            <a:avLst/>
          </a:prstGeom>
          <a:noFill/>
          <a:ln w="12700">
            <a:solidFill>
              <a:srgbClr val="24313F"/>
            </a:solidFill>
            <a:prstDash val="solid"/>
          </a:ln>
        </p:spPr>
      </p:sp>
      <p:sp>
        <p:nvSpPr>
          <p:cNvPr id="7" name="Text 5"/>
          <p:cNvSpPr/>
          <p:nvPr/>
        </p:nvSpPr>
        <p:spPr>
          <a:xfrm>
            <a:off x="822960" y="1737360"/>
            <a:ext cx="1463040" cy="548640"/>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AO</a:t>
            </a:r>
            <a:endParaRPr lang="en-US" sz="1100" dirty="0"/>
          </a:p>
        </p:txBody>
      </p:sp>
      <p:sp>
        <p:nvSpPr>
          <p:cNvPr id="8" name="Text 6"/>
          <p:cNvSpPr/>
          <p:nvPr/>
        </p:nvSpPr>
        <p:spPr>
          <a:xfrm>
            <a:off x="2377440" y="1737360"/>
            <a:ext cx="7315200" cy="548640"/>
          </a:xfrm>
          <a:prstGeom prst="rect">
            <a:avLst/>
          </a:prstGeom>
          <a:noFill/>
          <a:ln/>
        </p:spPr>
        <p:txBody>
          <a:bodyPr wrap="square" lIns="0" tIns="0" rIns="0" bIns="0" rtlCol="0" anchor="ctr"/>
          <a:lstStyle/>
          <a:p>
            <a:pPr indent="0" marL="0">
              <a:buNone/>
            </a:pPr>
            <a:r>
              <a:rPr lang="en-US" sz="1100" b="1" spc="100" kern="0" dirty="0">
                <a:solidFill>
                  <a:srgbClr val="7A7F72"/>
                </a:solidFill>
                <a:latin typeface="Arial" pitchFamily="34" charset="0"/>
                <a:ea typeface="Arial" pitchFamily="34" charset="-122"/>
                <a:cs typeface="Arial" pitchFamily="34" charset="-120"/>
              </a:rPr>
              <a:t>Criterion</a:t>
            </a:r>
            <a:endParaRPr lang="en-US" sz="1100" dirty="0"/>
          </a:p>
        </p:txBody>
      </p:sp>
      <p:sp>
        <p:nvSpPr>
          <p:cNvPr id="9" name="Text 7"/>
          <p:cNvSpPr/>
          <p:nvPr/>
        </p:nvSpPr>
        <p:spPr>
          <a:xfrm>
            <a:off x="9875520" y="1737360"/>
            <a:ext cx="1463040" cy="548640"/>
          </a:xfrm>
          <a:prstGeom prst="rect">
            <a:avLst/>
          </a:prstGeom>
          <a:noFill/>
          <a:ln/>
        </p:spPr>
        <p:txBody>
          <a:bodyPr wrap="square" lIns="0" tIns="0" rIns="0" bIns="0" rtlCol="0" anchor="ctr"/>
          <a:lstStyle/>
          <a:p>
            <a:pPr algn="r" indent="0" marL="0">
              <a:buNone/>
            </a:pPr>
            <a:r>
              <a:rPr lang="en-US" sz="1100" b="1" spc="100" kern="0" dirty="0">
                <a:solidFill>
                  <a:srgbClr val="7A7F72"/>
                </a:solidFill>
                <a:latin typeface="Arial" pitchFamily="34" charset="0"/>
                <a:ea typeface="Arial" pitchFamily="34" charset="-122"/>
                <a:cs typeface="Arial" pitchFamily="34" charset="-120"/>
              </a:rPr>
              <a:t>Band</a:t>
            </a:r>
            <a:endParaRPr lang="en-US" sz="1100" dirty="0"/>
          </a:p>
        </p:txBody>
      </p:sp>
      <p:sp>
        <p:nvSpPr>
          <p:cNvPr id="10" name="Shape 8"/>
          <p:cNvSpPr/>
          <p:nvPr/>
        </p:nvSpPr>
        <p:spPr>
          <a:xfrm>
            <a:off x="822960" y="2286000"/>
            <a:ext cx="10543032" cy="0"/>
          </a:xfrm>
          <a:prstGeom prst="line">
            <a:avLst/>
          </a:prstGeom>
          <a:noFill/>
          <a:ln w="9525">
            <a:solidFill>
              <a:srgbClr val="D9D4C4"/>
            </a:solidFill>
            <a:prstDash val="solid"/>
          </a:ln>
        </p:spPr>
      </p:sp>
      <p:sp>
        <p:nvSpPr>
          <p:cNvPr id="11" name="Text 9"/>
          <p:cNvSpPr/>
          <p:nvPr/>
        </p:nvSpPr>
        <p:spPr>
          <a:xfrm>
            <a:off x="822960" y="2286000"/>
            <a:ext cx="1463040" cy="548640"/>
          </a:xfrm>
          <a:prstGeom prst="rect">
            <a:avLst/>
          </a:prstGeom>
          <a:noFill/>
          <a:ln/>
        </p:spPr>
        <p:txBody>
          <a:bodyPr wrap="square" lIns="0" tIns="0" rIns="0" bIns="0" rtlCol="0" anchor="ctr"/>
          <a:lstStyle/>
          <a:p>
            <a:pPr indent="0" marL="0">
              <a:buNone/>
            </a:pPr>
            <a:r>
              <a:rPr lang="en-US" sz="1300" b="1" spc="100" kern="0" dirty="0">
                <a:solidFill>
                  <a:srgbClr val="4A6B5D"/>
                </a:solidFill>
                <a:latin typeface="Arial" pitchFamily="34" charset="0"/>
                <a:ea typeface="Arial" pitchFamily="34" charset="-122"/>
                <a:cs typeface="Arial" pitchFamily="34" charset="-120"/>
              </a:rPr>
              <a:t>AO1</a:t>
            </a:r>
            <a:endParaRPr lang="en-US" sz="1300" dirty="0"/>
          </a:p>
        </p:txBody>
      </p:sp>
      <p:sp>
        <p:nvSpPr>
          <p:cNvPr id="12" name="Text 10"/>
          <p:cNvSpPr/>
          <p:nvPr/>
        </p:nvSpPr>
        <p:spPr>
          <a:xfrm>
            <a:off x="2377440" y="2286000"/>
            <a:ext cx="731520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Media Concepts: language and representation</a:t>
            </a:r>
            <a:endParaRPr lang="en-US" sz="1600" dirty="0"/>
          </a:p>
        </p:txBody>
      </p:sp>
      <p:sp>
        <p:nvSpPr>
          <p:cNvPr id="13" name="Text 11"/>
          <p:cNvSpPr/>
          <p:nvPr/>
        </p:nvSpPr>
        <p:spPr>
          <a:xfrm>
            <a:off x="9875520" y="2286000"/>
            <a:ext cx="1463040" cy="548640"/>
          </a:xfrm>
          <a:prstGeom prst="rect">
            <a:avLst/>
          </a:prstGeom>
          <a:noFill/>
          <a:ln/>
        </p:spPr>
        <p:txBody>
          <a:bodyPr wrap="square" lIns="0" tIns="0" rIns="0" bIns="0" rtlCol="0" anchor="ctr"/>
          <a:lstStyle/>
          <a:p>
            <a:pPr algn="r" indent="0" marL="0">
              <a:buNone/>
            </a:pPr>
            <a:r>
              <a:rPr lang="en-US" sz="1300" b="1" dirty="0">
                <a:solidFill>
                  <a:srgbClr val="A3C1AD"/>
                </a:solidFill>
                <a:latin typeface="Arial" pitchFamily="34" charset="0"/>
                <a:ea typeface="Arial" pitchFamily="34" charset="-122"/>
                <a:cs typeface="Arial" pitchFamily="34" charset="-120"/>
              </a:rPr>
              <a:t>/5</a:t>
            </a:r>
            <a:endParaRPr lang="en-US" sz="1300" dirty="0"/>
          </a:p>
        </p:txBody>
      </p:sp>
      <p:sp>
        <p:nvSpPr>
          <p:cNvPr id="14" name="Shape 12"/>
          <p:cNvSpPr/>
          <p:nvPr/>
        </p:nvSpPr>
        <p:spPr>
          <a:xfrm>
            <a:off x="822960" y="2834640"/>
            <a:ext cx="10543032" cy="0"/>
          </a:xfrm>
          <a:prstGeom prst="line">
            <a:avLst/>
          </a:prstGeom>
          <a:noFill/>
          <a:ln w="9525">
            <a:solidFill>
              <a:srgbClr val="D9D4C4"/>
            </a:solidFill>
            <a:prstDash val="solid"/>
          </a:ln>
        </p:spPr>
      </p:sp>
      <p:sp>
        <p:nvSpPr>
          <p:cNvPr id="15" name="Text 13"/>
          <p:cNvSpPr/>
          <p:nvPr/>
        </p:nvSpPr>
        <p:spPr>
          <a:xfrm>
            <a:off x="822960" y="2834640"/>
            <a:ext cx="1463040" cy="548640"/>
          </a:xfrm>
          <a:prstGeom prst="rect">
            <a:avLst/>
          </a:prstGeom>
          <a:noFill/>
          <a:ln/>
        </p:spPr>
        <p:txBody>
          <a:bodyPr wrap="square" lIns="0" tIns="0" rIns="0" bIns="0" rtlCol="0" anchor="ctr"/>
          <a:lstStyle/>
          <a:p>
            <a:pPr indent="0" marL="0">
              <a:buNone/>
            </a:pPr>
            <a:r>
              <a:rPr lang="en-US" sz="1300" b="1" spc="100" kern="0" dirty="0">
                <a:solidFill>
                  <a:srgbClr val="4A6B5D"/>
                </a:solidFill>
                <a:latin typeface="Arial" pitchFamily="34" charset="0"/>
                <a:ea typeface="Arial" pitchFamily="34" charset="-122"/>
                <a:cs typeface="Arial" pitchFamily="34" charset="-120"/>
              </a:rPr>
              <a:t>AO1</a:t>
            </a:r>
            <a:endParaRPr lang="en-US" sz="1300" dirty="0"/>
          </a:p>
        </p:txBody>
      </p:sp>
      <p:sp>
        <p:nvSpPr>
          <p:cNvPr id="16" name="Text 14"/>
          <p:cNvSpPr/>
          <p:nvPr/>
        </p:nvSpPr>
        <p:spPr>
          <a:xfrm>
            <a:off x="2377440" y="2834640"/>
            <a:ext cx="731520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Contexts and Critical Debates</a:t>
            </a:r>
            <a:endParaRPr lang="en-US" sz="1600" dirty="0"/>
          </a:p>
        </p:txBody>
      </p:sp>
      <p:sp>
        <p:nvSpPr>
          <p:cNvPr id="17" name="Text 15"/>
          <p:cNvSpPr/>
          <p:nvPr/>
        </p:nvSpPr>
        <p:spPr>
          <a:xfrm>
            <a:off x="9875520" y="2834640"/>
            <a:ext cx="1463040" cy="548640"/>
          </a:xfrm>
          <a:prstGeom prst="rect">
            <a:avLst/>
          </a:prstGeom>
          <a:noFill/>
          <a:ln/>
        </p:spPr>
        <p:txBody>
          <a:bodyPr wrap="square" lIns="0" tIns="0" rIns="0" bIns="0" rtlCol="0" anchor="ctr"/>
          <a:lstStyle/>
          <a:p>
            <a:pPr algn="r" indent="0" marL="0">
              <a:buNone/>
            </a:pPr>
            <a:r>
              <a:rPr lang="en-US" sz="1300" b="1" dirty="0">
                <a:solidFill>
                  <a:srgbClr val="A3C1AD"/>
                </a:solidFill>
                <a:latin typeface="Arial" pitchFamily="34" charset="0"/>
                <a:ea typeface="Arial" pitchFamily="34" charset="-122"/>
                <a:cs typeface="Arial" pitchFamily="34" charset="-120"/>
              </a:rPr>
              <a:t>/5</a:t>
            </a:r>
            <a:endParaRPr lang="en-US" sz="1300" dirty="0"/>
          </a:p>
        </p:txBody>
      </p:sp>
      <p:sp>
        <p:nvSpPr>
          <p:cNvPr id="18" name="Shape 16"/>
          <p:cNvSpPr/>
          <p:nvPr/>
        </p:nvSpPr>
        <p:spPr>
          <a:xfrm>
            <a:off x="822960" y="3383280"/>
            <a:ext cx="10543032" cy="0"/>
          </a:xfrm>
          <a:prstGeom prst="line">
            <a:avLst/>
          </a:prstGeom>
          <a:noFill/>
          <a:ln w="9525">
            <a:solidFill>
              <a:srgbClr val="D9D4C4"/>
            </a:solidFill>
            <a:prstDash val="solid"/>
          </a:ln>
        </p:spPr>
      </p:sp>
      <p:sp>
        <p:nvSpPr>
          <p:cNvPr id="19" name="Text 17"/>
          <p:cNvSpPr/>
          <p:nvPr/>
        </p:nvSpPr>
        <p:spPr>
          <a:xfrm>
            <a:off x="822960" y="3383280"/>
            <a:ext cx="1463040" cy="548640"/>
          </a:xfrm>
          <a:prstGeom prst="rect">
            <a:avLst/>
          </a:prstGeom>
          <a:noFill/>
          <a:ln/>
        </p:spPr>
        <p:txBody>
          <a:bodyPr wrap="square" lIns="0" tIns="0" rIns="0" bIns="0" rtlCol="0" anchor="ctr"/>
          <a:lstStyle/>
          <a:p>
            <a:pPr indent="0" marL="0">
              <a:buNone/>
            </a:pPr>
            <a:r>
              <a:rPr lang="en-US" sz="1300" b="1" spc="100" kern="0" dirty="0">
                <a:solidFill>
                  <a:srgbClr val="4A6B5D"/>
                </a:solidFill>
                <a:latin typeface="Arial" pitchFamily="34" charset="0"/>
                <a:ea typeface="Arial" pitchFamily="34" charset="-122"/>
                <a:cs typeface="Arial" pitchFamily="34" charset="-120"/>
              </a:rPr>
              <a:t>AO1</a:t>
            </a:r>
            <a:endParaRPr lang="en-US" sz="1300" dirty="0"/>
          </a:p>
        </p:txBody>
      </p:sp>
      <p:sp>
        <p:nvSpPr>
          <p:cNvPr id="20" name="Text 18"/>
          <p:cNvSpPr/>
          <p:nvPr/>
        </p:nvSpPr>
        <p:spPr>
          <a:xfrm>
            <a:off x="2377440" y="3383280"/>
            <a:ext cx="731520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Use of Terminology</a:t>
            </a:r>
            <a:endParaRPr lang="en-US" sz="1600" dirty="0"/>
          </a:p>
        </p:txBody>
      </p:sp>
      <p:sp>
        <p:nvSpPr>
          <p:cNvPr id="21" name="Text 19"/>
          <p:cNvSpPr/>
          <p:nvPr/>
        </p:nvSpPr>
        <p:spPr>
          <a:xfrm>
            <a:off x="9875520" y="3383280"/>
            <a:ext cx="1463040" cy="548640"/>
          </a:xfrm>
          <a:prstGeom prst="rect">
            <a:avLst/>
          </a:prstGeom>
          <a:noFill/>
          <a:ln/>
        </p:spPr>
        <p:txBody>
          <a:bodyPr wrap="square" lIns="0" tIns="0" rIns="0" bIns="0" rtlCol="0" anchor="ctr"/>
          <a:lstStyle/>
          <a:p>
            <a:pPr algn="r" indent="0" marL="0">
              <a:buNone/>
            </a:pPr>
            <a:r>
              <a:rPr lang="en-US" sz="1300" b="1" dirty="0">
                <a:solidFill>
                  <a:srgbClr val="A3C1AD"/>
                </a:solidFill>
                <a:latin typeface="Arial" pitchFamily="34" charset="0"/>
                <a:ea typeface="Arial" pitchFamily="34" charset="-122"/>
                <a:cs typeface="Arial" pitchFamily="34" charset="-120"/>
              </a:rPr>
              <a:t>/5</a:t>
            </a:r>
            <a:endParaRPr lang="en-US" sz="1300" dirty="0"/>
          </a:p>
        </p:txBody>
      </p:sp>
      <p:sp>
        <p:nvSpPr>
          <p:cNvPr id="22" name="Shape 20"/>
          <p:cNvSpPr/>
          <p:nvPr/>
        </p:nvSpPr>
        <p:spPr>
          <a:xfrm>
            <a:off x="822960" y="3931920"/>
            <a:ext cx="10543032" cy="0"/>
          </a:xfrm>
          <a:prstGeom prst="line">
            <a:avLst/>
          </a:prstGeom>
          <a:noFill/>
          <a:ln w="9525">
            <a:solidFill>
              <a:srgbClr val="D9D4C4"/>
            </a:solidFill>
            <a:prstDash val="solid"/>
          </a:ln>
        </p:spPr>
      </p:sp>
      <p:sp>
        <p:nvSpPr>
          <p:cNvPr id="23" name="Text 21"/>
          <p:cNvSpPr/>
          <p:nvPr/>
        </p:nvSpPr>
        <p:spPr>
          <a:xfrm>
            <a:off x="822960" y="3931920"/>
            <a:ext cx="1463040" cy="548640"/>
          </a:xfrm>
          <a:prstGeom prst="rect">
            <a:avLst/>
          </a:prstGeom>
          <a:noFill/>
          <a:ln/>
        </p:spPr>
        <p:txBody>
          <a:bodyPr wrap="square" lIns="0" tIns="0" rIns="0" bIns="0" rtlCol="0" anchor="ctr"/>
          <a:lstStyle/>
          <a:p>
            <a:pPr indent="0" marL="0">
              <a:buNone/>
            </a:pPr>
            <a:r>
              <a:rPr lang="en-US" sz="1300" b="1" spc="100" kern="0" dirty="0">
                <a:solidFill>
                  <a:srgbClr val="4A6B5D"/>
                </a:solidFill>
                <a:latin typeface="Arial" pitchFamily="34" charset="0"/>
                <a:ea typeface="Arial" pitchFamily="34" charset="-122"/>
                <a:cs typeface="Arial" pitchFamily="34" charset="-120"/>
              </a:rPr>
              <a:t>AO2</a:t>
            </a:r>
            <a:endParaRPr lang="en-US" sz="1300" dirty="0"/>
          </a:p>
        </p:txBody>
      </p:sp>
      <p:sp>
        <p:nvSpPr>
          <p:cNvPr id="24" name="Text 22"/>
          <p:cNvSpPr/>
          <p:nvPr/>
        </p:nvSpPr>
        <p:spPr>
          <a:xfrm>
            <a:off x="2377440" y="3931920"/>
            <a:ext cx="731520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Analysis of how meaning is created</a:t>
            </a:r>
            <a:endParaRPr lang="en-US" sz="1600" dirty="0"/>
          </a:p>
        </p:txBody>
      </p:sp>
      <p:sp>
        <p:nvSpPr>
          <p:cNvPr id="25" name="Text 23"/>
          <p:cNvSpPr/>
          <p:nvPr/>
        </p:nvSpPr>
        <p:spPr>
          <a:xfrm>
            <a:off x="9875520" y="3931920"/>
            <a:ext cx="1463040" cy="548640"/>
          </a:xfrm>
          <a:prstGeom prst="rect">
            <a:avLst/>
          </a:prstGeom>
          <a:noFill/>
          <a:ln/>
        </p:spPr>
        <p:txBody>
          <a:bodyPr wrap="square" lIns="0" tIns="0" rIns="0" bIns="0" rtlCol="0" anchor="ctr"/>
          <a:lstStyle/>
          <a:p>
            <a:pPr algn="r" indent="0" marL="0">
              <a:buNone/>
            </a:pPr>
            <a:r>
              <a:rPr lang="en-US" sz="1300" b="1" dirty="0">
                <a:solidFill>
                  <a:srgbClr val="A3C1AD"/>
                </a:solidFill>
                <a:latin typeface="Arial" pitchFamily="34" charset="0"/>
                <a:ea typeface="Arial" pitchFamily="34" charset="-122"/>
                <a:cs typeface="Arial" pitchFamily="34" charset="-120"/>
              </a:rPr>
              <a:t>/5</a:t>
            </a:r>
            <a:endParaRPr lang="en-US" sz="1300" dirty="0"/>
          </a:p>
        </p:txBody>
      </p:sp>
      <p:sp>
        <p:nvSpPr>
          <p:cNvPr id="26" name="Shape 24"/>
          <p:cNvSpPr/>
          <p:nvPr/>
        </p:nvSpPr>
        <p:spPr>
          <a:xfrm>
            <a:off x="822960" y="4480560"/>
            <a:ext cx="10543032" cy="0"/>
          </a:xfrm>
          <a:prstGeom prst="line">
            <a:avLst/>
          </a:prstGeom>
          <a:noFill/>
          <a:ln w="9525">
            <a:solidFill>
              <a:srgbClr val="D9D4C4"/>
            </a:solidFill>
            <a:prstDash val="solid"/>
          </a:ln>
        </p:spPr>
      </p:sp>
      <p:sp>
        <p:nvSpPr>
          <p:cNvPr id="27" name="Text 25"/>
          <p:cNvSpPr/>
          <p:nvPr/>
        </p:nvSpPr>
        <p:spPr>
          <a:xfrm>
            <a:off x="822960" y="4480560"/>
            <a:ext cx="1463040" cy="548640"/>
          </a:xfrm>
          <a:prstGeom prst="rect">
            <a:avLst/>
          </a:prstGeom>
          <a:noFill/>
          <a:ln/>
        </p:spPr>
        <p:txBody>
          <a:bodyPr wrap="square" lIns="0" tIns="0" rIns="0" bIns="0" rtlCol="0" anchor="ctr"/>
          <a:lstStyle/>
          <a:p>
            <a:pPr indent="0" marL="0">
              <a:buNone/>
            </a:pPr>
            <a:r>
              <a:rPr lang="en-US" sz="1300" b="1" spc="100" kern="0" dirty="0">
                <a:solidFill>
                  <a:srgbClr val="4A6B5D"/>
                </a:solidFill>
                <a:latin typeface="Arial" pitchFamily="34" charset="0"/>
                <a:ea typeface="Arial" pitchFamily="34" charset="-122"/>
                <a:cs typeface="Arial" pitchFamily="34" charset="-120"/>
              </a:rPr>
              <a:t>AO2</a:t>
            </a:r>
            <a:endParaRPr lang="en-US" sz="1300" dirty="0"/>
          </a:p>
        </p:txBody>
      </p:sp>
      <p:sp>
        <p:nvSpPr>
          <p:cNvPr id="28" name="Text 26"/>
          <p:cNvSpPr/>
          <p:nvPr/>
        </p:nvSpPr>
        <p:spPr>
          <a:xfrm>
            <a:off x="2377440" y="4480560"/>
            <a:ext cx="7315200" cy="548640"/>
          </a:xfrm>
          <a:prstGeom prst="rect">
            <a:avLst/>
          </a:prstGeom>
          <a:noFill/>
          <a:ln/>
        </p:spPr>
        <p:txBody>
          <a:bodyPr wrap="square" lIns="0" tIns="0" rIns="0" bIns="0" rtlCol="0" anchor="ctr"/>
          <a:lstStyle/>
          <a:p>
            <a:pPr indent="0" marL="0">
              <a:buNone/>
            </a:pPr>
            <a:r>
              <a:rPr lang="en-US" sz="1600" dirty="0">
                <a:solidFill>
                  <a:srgbClr val="24313F"/>
                </a:solidFill>
                <a:latin typeface="Georgia" pitchFamily="34" charset="0"/>
                <a:ea typeface="Georgia" pitchFamily="34" charset="-122"/>
                <a:cs typeface="Georgia" pitchFamily="34" charset="-120"/>
              </a:rPr>
              <a:t>Use of Examples</a:t>
            </a:r>
            <a:endParaRPr lang="en-US" sz="1600" dirty="0"/>
          </a:p>
        </p:txBody>
      </p:sp>
      <p:sp>
        <p:nvSpPr>
          <p:cNvPr id="29" name="Text 27"/>
          <p:cNvSpPr/>
          <p:nvPr/>
        </p:nvSpPr>
        <p:spPr>
          <a:xfrm>
            <a:off x="9875520" y="4480560"/>
            <a:ext cx="1463040" cy="548640"/>
          </a:xfrm>
          <a:prstGeom prst="rect">
            <a:avLst/>
          </a:prstGeom>
          <a:noFill/>
          <a:ln/>
        </p:spPr>
        <p:txBody>
          <a:bodyPr wrap="square" lIns="0" tIns="0" rIns="0" bIns="0" rtlCol="0" anchor="ctr"/>
          <a:lstStyle/>
          <a:p>
            <a:pPr algn="r" indent="0" marL="0">
              <a:buNone/>
            </a:pPr>
            <a:r>
              <a:rPr lang="en-US" sz="1300" b="1" dirty="0">
                <a:solidFill>
                  <a:srgbClr val="A3C1AD"/>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22960" y="5029200"/>
            <a:ext cx="10543032" cy="0"/>
          </a:xfrm>
          <a:prstGeom prst="line">
            <a:avLst/>
          </a:prstGeom>
          <a:noFill/>
          <a:ln w="9525">
            <a:solidFill>
              <a:srgbClr val="D9D4C4"/>
            </a:solidFill>
            <a:prstDash val="solid"/>
          </a:ln>
        </p:spPr>
      </p:sp>
      <p:sp>
        <p:nvSpPr>
          <p:cNvPr id="31" name="Text 29"/>
          <p:cNvSpPr/>
          <p:nvPr/>
        </p:nvSpPr>
        <p:spPr>
          <a:xfrm>
            <a:off x="822960" y="5212080"/>
            <a:ext cx="10543032" cy="365760"/>
          </a:xfrm>
          <a:prstGeom prst="rect">
            <a:avLst/>
          </a:prstGeom>
          <a:noFill/>
          <a:ln/>
        </p:spPr>
        <p:txBody>
          <a:bodyPr wrap="square" lIns="0" tIns="0" rIns="0" bIns="0" rtlCol="0" anchor="ctr"/>
          <a:lstStyle/>
          <a:p>
            <a:pPr indent="0" marL="0">
              <a:buNone/>
            </a:pPr>
            <a:r>
              <a:rPr lang="en-US" sz="1200" i="1" dirty="0">
                <a:solidFill>
                  <a:srgbClr val="7A7F72"/>
                </a:solidFill>
                <a:latin typeface="Arial" pitchFamily="34" charset="0"/>
                <a:ea typeface="Arial" pitchFamily="34" charset="-122"/>
                <a:cs typeface="Arial" pitchFamily="34" charset="-120"/>
              </a:rPr>
              <a:t>Band words: 5 Sophisticated  ·  4 Thorough  ·  3 Clear  ·  2 Limited  ·  1 Basic. So A1 is AO1 60 / AO2 40.</a:t>
            </a:r>
            <a:endParaRPr lang="en-US" sz="1200" dirty="0"/>
          </a:p>
        </p:txBody>
      </p:sp>
      <p:sp>
        <p:nvSpPr>
          <p:cNvPr id="32" name="Shape 30"/>
          <p:cNvSpPr/>
          <p:nvPr/>
        </p:nvSpPr>
        <p:spPr>
          <a:xfrm>
            <a:off x="822960" y="6382512"/>
            <a:ext cx="10543032" cy="0"/>
          </a:xfrm>
          <a:prstGeom prst="line">
            <a:avLst/>
          </a:prstGeom>
          <a:noFill/>
          <a:ln w="9525">
            <a:solidFill>
              <a:srgbClr val="D9D4C4"/>
            </a:solidFill>
            <a:prstDash val="solid"/>
          </a:ln>
        </p:spPr>
      </p:sp>
      <p:sp>
        <p:nvSpPr>
          <p:cNvPr id="33" name="Text 3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4" name="Text 3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920240"/>
            <a:ext cx="10424160" cy="2194560"/>
          </a:xfrm>
          <a:prstGeom prst="rect">
            <a:avLst/>
          </a:prstGeom>
          <a:noFill/>
          <a:ln/>
        </p:spPr>
        <p:txBody>
          <a:bodyPr wrap="square" lIns="0" tIns="0" rIns="0" bIns="0" rtlCol="0" anchor="ctr"/>
          <a:lstStyle/>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Sixty minutes.</a:t>
            </a:r>
            <a:endParaRPr lang="en-US" sz="5000" dirty="0"/>
          </a:p>
          <a:p>
            <a:pPr indent="0" marL="0">
              <a:lnSpc>
                <a:spcPts val="5600"/>
              </a:lnSpc>
              <a:buNone/>
            </a:pPr>
            <a:r>
              <a:rPr lang="en-US" sz="5000" dirty="0">
                <a:solidFill>
                  <a:srgbClr val="24313F"/>
                </a:solidFill>
                <a:latin typeface="Georgia" pitchFamily="34" charset="0"/>
                <a:ea typeface="Georgia" pitchFamily="34" charset="-122"/>
                <a:cs typeface="Georgia" pitchFamily="34" charset="-120"/>
              </a:rPr>
              <a:t>One unseen extract.</a:t>
            </a:r>
            <a:endParaRPr lang="en-US" sz="5000" dirty="0"/>
          </a:p>
        </p:txBody>
      </p:sp>
      <p:sp>
        <p:nvSpPr>
          <p:cNvPr id="4" name="Shape 2"/>
          <p:cNvSpPr/>
          <p:nvPr/>
        </p:nvSpPr>
        <p:spPr>
          <a:xfrm>
            <a:off x="822960" y="4572000"/>
            <a:ext cx="914400" cy="0"/>
          </a:xfrm>
          <a:prstGeom prst="line">
            <a:avLst/>
          </a:prstGeom>
          <a:noFill/>
          <a:ln w="31750">
            <a:solidFill>
              <a:srgbClr val="8C3A38"/>
            </a:solidFill>
            <a:prstDash val="solid"/>
          </a:ln>
        </p:spPr>
      </p:sp>
      <p:sp>
        <p:nvSpPr>
          <p:cNvPr id="5" name="Text 3"/>
          <p:cNvSpPr/>
          <p:nvPr/>
        </p:nvSpPr>
        <p:spPr>
          <a:xfrm>
            <a:off x="822960" y="47548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How the extract constructs meaning through camera, sound, mise-en-scene, editing. Everything since Week 1 is in play.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ASSESSMENT · A1</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FIRST ATTAINMENT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280160"/>
            <a:ext cx="10543032" cy="91440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A1 sits Wednesday 14 October</a:t>
            </a:r>
            <a:endParaRPr lang="en-US" sz="3400" dirty="0"/>
          </a:p>
        </p:txBody>
      </p:sp>
      <p:sp>
        <p:nvSpPr>
          <p:cNvPr id="6" name="Shape 4"/>
          <p:cNvSpPr/>
          <p:nvPr/>
        </p:nvSpPr>
        <p:spPr>
          <a:xfrm>
            <a:off x="822960" y="2468880"/>
            <a:ext cx="914400" cy="0"/>
          </a:xfrm>
          <a:prstGeom prst="line">
            <a:avLst/>
          </a:prstGeom>
          <a:noFill/>
          <a:ln w="31750">
            <a:solidFill>
              <a:srgbClr val="8C3A38"/>
            </a:solidFill>
            <a:prstDash val="solid"/>
          </a:ln>
        </p:spPr>
      </p:sp>
      <p:sp>
        <p:nvSpPr>
          <p:cNvPr id="7" name="Text 5"/>
          <p:cNvSpPr/>
          <p:nvPr/>
        </p:nvSpPr>
        <p:spPr>
          <a:xfrm>
            <a:off x="822960" y="2697480"/>
            <a:ext cx="9875520" cy="1828800"/>
          </a:xfrm>
          <a:prstGeom prst="rect">
            <a:avLst/>
          </a:prstGeom>
          <a:noFill/>
          <a:ln/>
        </p:spPr>
        <p:txBody>
          <a:bodyPr wrap="square" lIns="0" tIns="0" rIns="0" bIns="0" rtlCol="0" anchor="t"/>
          <a:lstStyle/>
          <a:p>
            <a:pPr indent="0" marL="0">
              <a:lnSpc>
                <a:spcPts val="2700"/>
              </a:lnSpc>
              <a:buNone/>
            </a:pPr>
            <a:r>
              <a:rPr lang="en-US" sz="1900" dirty="0">
                <a:solidFill>
                  <a:srgbClr val="24313F"/>
                </a:solidFill>
                <a:latin typeface="Georgia" pitchFamily="34" charset="0"/>
                <a:ea typeface="Georgia" pitchFamily="34" charset="-122"/>
                <a:cs typeface="Georgia" pitchFamily="34" charset="-120"/>
              </a:rPr>
              <a:t>Timed media language analysis of an unseen TV-drama extract, sixty minutes, full exam conditions. Marked with WS 4.6's rubric in the official five-criteria language, so the feedback transfers straight to Paper 2. Scripts back within five working days.</a:t>
            </a:r>
            <a:endParaRPr lang="en-US" sz="1900" dirty="0"/>
          </a:p>
        </p:txBody>
      </p:sp>
      <p:sp>
        <p:nvSpPr>
          <p:cNvPr id="8" name="Text 6"/>
          <p:cNvSpPr/>
          <p:nvPr/>
        </p:nvSpPr>
        <p:spPr>
          <a:xfrm>
            <a:off x="822960" y="4846320"/>
            <a:ext cx="987552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Also today: A2 announced, due Monday 26 October, blog posts 1 to 7 to the mid-point standard.</a:t>
            </a:r>
            <a:endParaRPr lang="en-US" sz="1300" dirty="0"/>
          </a:p>
        </p:txBody>
      </p:sp>
      <p:sp>
        <p:nvSpPr>
          <p:cNvPr id="9" name="Shape 7"/>
          <p:cNvSpPr/>
          <p:nvPr/>
        </p:nvSpPr>
        <p:spPr>
          <a:xfrm>
            <a:off x="822960" y="6382512"/>
            <a:ext cx="10543032" cy="0"/>
          </a:xfrm>
          <a:prstGeom prst="line">
            <a:avLst/>
          </a:prstGeom>
          <a:noFill/>
          <a:ln w="9525">
            <a:solidFill>
              <a:srgbClr val="D9D4C4"/>
            </a:solidFill>
            <a:prstDash val="solid"/>
          </a:ln>
        </p:spPr>
      </p:sp>
      <p:sp>
        <p:nvSpPr>
          <p:cNvPr id="10" name="Text 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1" name="Text 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241280" cy="2103120"/>
          </a:xfrm>
          <a:prstGeom prst="rect">
            <a:avLst/>
          </a:prstGeom>
          <a:noFill/>
          <a:ln/>
        </p:spPr>
        <p:txBody>
          <a:bodyPr wrap="square" lIns="0" tIns="0" rIns="0" bIns="0" rtlCol="0" anchor="t"/>
          <a:lstStyle/>
          <a:p>
            <a:pPr indent="0" marL="0">
              <a:lnSpc>
                <a:spcPts val="6600"/>
              </a:lnSpc>
              <a:buNone/>
            </a:pPr>
            <a:r>
              <a:rPr lang="en-US" sz="6200" dirty="0">
                <a:solidFill>
                  <a:srgbClr val="FAF8F1"/>
                </a:solidFill>
                <a:latin typeface="Georgia" pitchFamily="34" charset="0"/>
                <a:ea typeface="Georgia" pitchFamily="34" charset="-122"/>
                <a:cs typeface="Georgia" pitchFamily="34" charset="-120"/>
              </a:rPr>
              <a:t>Genre</a:t>
            </a:r>
            <a:endParaRPr lang="en-US" sz="6200" dirty="0"/>
          </a:p>
        </p:txBody>
      </p:sp>
      <p:sp>
        <p:nvSpPr>
          <p:cNvPr id="5" name="Text 3"/>
          <p:cNvSpPr/>
          <p:nvPr/>
        </p:nvSpPr>
        <p:spPr>
          <a:xfrm>
            <a:off x="822960" y="4617720"/>
            <a:ext cx="10241280" cy="822960"/>
          </a:xfrm>
          <a:prstGeom prst="rect">
            <a:avLst/>
          </a:prstGeom>
          <a:noFill/>
          <a:ln/>
        </p:spPr>
        <p:txBody>
          <a:bodyPr wrap="square" lIns="0" tIns="0" rIns="0" bIns="0" rtlCol="0" anchor="t"/>
          <a:lstStyle/>
          <a:p>
            <a:pPr indent="0" marL="0">
              <a:lnSpc>
                <a:spcPts val="2800"/>
              </a:lnSpc>
              <a:buNone/>
            </a:pPr>
            <a:r>
              <a:rPr lang="en-US" sz="2200" i="1" dirty="0">
                <a:solidFill>
                  <a:srgbClr val="E8EFE7"/>
                </a:solidFill>
                <a:latin typeface="Georgia" pitchFamily="34" charset="0"/>
                <a:ea typeface="Georgia" pitchFamily="34" charset="-122"/>
                <a:cs typeface="Georgia" pitchFamily="34" charset="-120"/>
              </a:rPr>
              <a:t>Lesson 09. Neale, Altman, and a genre attribution defended from the codes you spent a month shooting.</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2026-08-09T08:10:22Z</dcterms:created>
  <dcterms:modified xsi:type="dcterms:W3CDTF">2026-08-09T08:10:22Z</dcterms:modified>
</cp:coreProperties>
</file>