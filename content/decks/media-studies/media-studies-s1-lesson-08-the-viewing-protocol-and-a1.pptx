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elements taught, four shot, one integrated paragraph written. This week converts that into a method that survives exam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this build that sentence was false: sound and editing shared a fraction of the calendar and mise-en-scene had no session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A2 announcement sits on Monday, day one, exactly as the register requires; announcing it at the Wednesday sit would shortchange the notice window. Warm-up frames: Adolescence, Toy Story, The Third Man (the canted canon). The 30-item list is PROPOSED content; note where it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passes, identical to L07's list: narrative is not one of them. Narrative theory arrives at L10, after the sit, because Section A's prompt asks for the four technical elements, not for narrative theory. (The full-Ladder claim is contested between L07 and L08 on the routines page; the deck follows the plan until that is settled.)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the room mapped for code families at L02 returns under the exam's discipline: same still, deeper read. The rehearsal read on D2 runs on an unseen extract, twice, with a cut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worked example on the board (the next two slides), then one deliberately bad example where effect and meaning are the same sentence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bad example matters more than the good one. Students cannot see this defect in their own writing until they have diagnosed it in someone else's. The frame gives the diagnosis a referent: Kane at the podium, the poster behind, the camera below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it live rather than showing it finished if time allows; the crossing-out is the teaching. Then Beat the Examiner lite on one specimen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fourth-viewing label (narrative and meaning) was a pre-rebuild residue; narrative is L10's business, after the sit. The honest label is the integrated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Marked with WS 4.6's rubric and comment bank, banded in the official Paper 2 five-criteria language. The per-criterion band descriptors on WS 4.6 are centre-authored, not Cambridge's; the criteria and band words are Cambridge's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extract shortlist is PROPOSED and sealed until the sit: no text taught to this cohort. The Your Honor paper stays unscreened, held for the L18 rehearsal per the release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was announced Monday (see slide 3): due Monday 26 October, posts 1 to 7 to the mid-point standard. Wednesday is the sit only; no announcements share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6583680" y="822960"/>
            <a:ext cx="4846320" cy="4937760"/>
          </a:xfrm>
          <a:prstGeom prst="rect">
            <a:avLst/>
          </a:prstGeom>
          <a:noFill/>
          <a:ln/>
        </p:spPr>
        <p:txBody>
          <a:bodyPr wrap="square" lIns="0" tIns="0" rIns="0" bIns="0" rtlCol="0" anchor="ctr"/>
          <a:lstStyle/>
          <a:p>
            <a:pPr algn="ctr" indent="0" marL="0">
              <a:buNone/>
            </a:pPr>
            <a:r>
              <a:rPr lang="en-US" sz="21000" dirty="0">
                <a:solidFill>
                  <a:srgbClr val="A3C1AD"/>
                </a:solidFill>
                <a:latin typeface="Georgia" pitchFamily="34" charset="0"/>
                <a:ea typeface="Georgia" pitchFamily="34" charset="-122"/>
                <a:cs typeface="Georgia" pitchFamily="34" charset="-120"/>
              </a:rPr>
              <a:t>VIII</a:t>
            </a:r>
            <a:endParaRPr lang="en-US" sz="21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III</a:t>
            </a:r>
            <a:endParaRPr lang="en-US" sz="1100" dirty="0"/>
          </a:p>
        </p:txBody>
      </p:sp>
      <p:sp>
        <p:nvSpPr>
          <p:cNvPr id="4" name="Text 2"/>
          <p:cNvSpPr/>
          <p:nvPr/>
        </p:nvSpPr>
        <p:spPr>
          <a:xfrm>
            <a:off x="822960" y="1737360"/>
            <a:ext cx="8046720" cy="2377440"/>
          </a:xfrm>
          <a:prstGeom prst="rect">
            <a:avLst/>
          </a:prstGeom>
          <a:noFill/>
          <a:ln/>
        </p:spPr>
        <p:txBody>
          <a:bodyPr wrap="square" lIns="0" tIns="0" rIns="0" bIns="0" rtlCol="0" anchor="t"/>
          <a:lstStyle/>
          <a:p>
            <a:pPr indent="0" marL="0">
              <a:lnSpc>
                <a:spcPts val="4400"/>
              </a:lnSpc>
              <a:buNone/>
            </a:pPr>
            <a:r>
              <a:rPr lang="en-US" sz="4400" dirty="0">
                <a:solidFill>
                  <a:srgbClr val="24313F"/>
                </a:solidFill>
                <a:latin typeface="Georgia" pitchFamily="34" charset="0"/>
                <a:ea typeface="Georgia" pitchFamily="34" charset="-122"/>
                <a:cs typeface="Georgia" pitchFamily="34" charset="-120"/>
              </a:rPr>
              <a:t>The Viewing Protocol</a:t>
            </a:r>
            <a:endParaRPr lang="en-US" sz="4400" dirty="0"/>
          </a:p>
          <a:p>
            <a:pPr indent="0" marL="0">
              <a:lnSpc>
                <a:spcPts val="4400"/>
              </a:lnSpc>
              <a:buNone/>
            </a:pPr>
            <a:r>
              <a:rPr lang="en-US" sz="4400" dirty="0">
                <a:solidFill>
                  <a:srgbClr val="24313F"/>
                </a:solidFill>
                <a:latin typeface="Georgia" pitchFamily="34" charset="0"/>
                <a:ea typeface="Georgia" pitchFamily="34" charset="-122"/>
                <a:cs typeface="Georgia" pitchFamily="34" charset="-120"/>
              </a:rPr>
              <a:t>and A1</a:t>
            </a:r>
            <a:endParaRPr lang="en-US" sz="4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82296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Macro and Textual Analysis · Lesson 08 of 19</a:t>
            </a:r>
            <a:endParaRPr lang="en-US" sz="2200" dirty="0"/>
          </a:p>
        </p:txBody>
      </p:sp>
      <p:sp>
        <p:nvSpPr>
          <p:cNvPr id="7" name="Text 5"/>
          <p:cNvSpPr/>
          <p:nvPr/>
        </p:nvSpPr>
        <p:spPr>
          <a:xfrm>
            <a:off x="822960" y="5029200"/>
            <a:ext cx="100584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Monday 12 to Wednesday 14 October  ·  the first attainment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6400800" y="640080"/>
            <a:ext cx="5212080" cy="5577840"/>
          </a:xfrm>
          <a:prstGeom prst="rect">
            <a:avLst/>
          </a:prstGeom>
          <a:noFill/>
          <a:ln/>
        </p:spPr>
        <p:txBody>
          <a:bodyPr wrap="square" lIns="0" tIns="0" rIns="0" bIns="0" rtlCol="0" anchor="ctr"/>
          <a:lstStyle/>
          <a:p>
            <a:pPr algn="ctr" indent="0" marL="0">
              <a:buNone/>
            </a:pPr>
            <a:r>
              <a:rPr lang="en-US" sz="23000" dirty="0">
                <a:solidFill>
                  <a:srgbClr val="5C7A6B"/>
                </a:solidFill>
                <a:latin typeface="Georgia" pitchFamily="34" charset="0"/>
                <a:ea typeface="Georgia" pitchFamily="34" charset="-122"/>
                <a:cs typeface="Georgia" pitchFamily="34" charset="-120"/>
              </a:rPr>
              <a:t>VIII</a:t>
            </a:r>
            <a:endParaRPr lang="en-US" sz="23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CLAIM, NOW TRUE</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43200"/>
            <a:ext cx="6949440" cy="2377440"/>
          </a:xfrm>
          <a:prstGeom prst="rect">
            <a:avLst/>
          </a:prstGeom>
          <a:noFill/>
          <a:ln/>
        </p:spPr>
        <p:txBody>
          <a:bodyPr wrap="square" lIns="0" tIns="0" rIns="0" bIns="0" rtlCol="0" anchor="t"/>
          <a:lstStyle/>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Everything the prompt</a:t>
            </a:r>
            <a:endParaRPr lang="en-US" sz="4000" dirty="0"/>
          </a:p>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names has been</a:t>
            </a:r>
            <a:endParaRPr lang="en-US" sz="4000" dirty="0"/>
          </a:p>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taught, and shot.</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MONDAY · CS8</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THIRTY ITEMS, TWENTY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The whole lexicon, at last testable</a:t>
            </a:r>
            <a:endParaRPr lang="en-US" sz="3000" dirty="0"/>
          </a:p>
        </p:txBody>
      </p:sp>
      <p:sp>
        <p:nvSpPr>
          <p:cNvPr id="6" name="Shape 4"/>
          <p:cNvSpPr/>
          <p:nvPr/>
        </p:nvSpPr>
        <p:spPr>
          <a:xfrm>
            <a:off x="822960" y="1554480"/>
            <a:ext cx="2361438" cy="164592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adolescence-jamie-cu.jpg">    </p:cNvPr>
          <p:cNvPicPr>
            <a:picLocks noChangeAspect="1"/>
          </p:cNvPicPr>
          <p:nvPr/>
        </p:nvPicPr>
        <p:blipFill>
          <a:blip r:embed="rId1"/>
          <a:stretch>
            <a:fillRect/>
          </a:stretch>
        </p:blipFill>
        <p:spPr>
          <a:xfrm>
            <a:off x="877824" y="1815451"/>
            <a:ext cx="2251710" cy="1123979"/>
          </a:xfrm>
          <a:prstGeom prst="rect">
            <a:avLst/>
          </a:prstGeom>
        </p:spPr>
      </p:pic>
      <p:sp>
        <p:nvSpPr>
          <p:cNvPr id="8" name="Text 5"/>
          <p:cNvSpPr/>
          <p:nvPr/>
        </p:nvSpPr>
        <p:spPr>
          <a:xfrm>
            <a:off x="822960"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focus</a:t>
            </a:r>
            <a:endParaRPr lang="en-US" sz="1100" dirty="0"/>
          </a:p>
        </p:txBody>
      </p:sp>
      <p:sp>
        <p:nvSpPr>
          <p:cNvPr id="9" name="Shape 6"/>
          <p:cNvSpPr/>
          <p:nvPr/>
        </p:nvSpPr>
        <p:spPr>
          <a:xfrm>
            <a:off x="3550158" y="1554480"/>
            <a:ext cx="2361438" cy="1645920"/>
          </a:xfrm>
          <a:prstGeom prst="rect">
            <a:avLst/>
          </a:prstGeom>
          <a:solidFill>
            <a:srgbClr val="FAF8F1"/>
          </a:solidFill>
          <a:ln w="9525">
            <a:solidFill>
              <a:srgbClr val="D9D4C4"/>
            </a:solidFill>
            <a:prstDash val="solid"/>
          </a:ln>
        </p:spPr>
      </p:sp>
      <p:pic>
        <p:nvPicPr>
          <p:cNvPr id="10" name="Image 1" descr="/Users/dogan/Documents/Vaults/Courses/wiki/classes/media-studies/decks/_build/img/adolescence-father-ots.jpg">    </p:cNvPr>
          <p:cNvPicPr>
            <a:picLocks noChangeAspect="1"/>
          </p:cNvPicPr>
          <p:nvPr/>
        </p:nvPicPr>
        <p:blipFill>
          <a:blip r:embed="rId2"/>
          <a:stretch>
            <a:fillRect/>
          </a:stretch>
        </p:blipFill>
        <p:spPr>
          <a:xfrm>
            <a:off x="3605022" y="1814227"/>
            <a:ext cx="2251710" cy="1126426"/>
          </a:xfrm>
          <a:prstGeom prst="rect">
            <a:avLst/>
          </a:prstGeom>
        </p:spPr>
      </p:pic>
      <p:sp>
        <p:nvSpPr>
          <p:cNvPr id="11" name="Text 7"/>
          <p:cNvSpPr/>
          <p:nvPr/>
        </p:nvSpPr>
        <p:spPr>
          <a:xfrm>
            <a:off x="3550158"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shot</a:t>
            </a:r>
            <a:endParaRPr lang="en-US" sz="1100" dirty="0"/>
          </a:p>
        </p:txBody>
      </p:sp>
      <p:sp>
        <p:nvSpPr>
          <p:cNvPr id="12" name="Shape 8"/>
          <p:cNvSpPr/>
          <p:nvPr/>
        </p:nvSpPr>
        <p:spPr>
          <a:xfrm>
            <a:off x="6277356" y="1554480"/>
            <a:ext cx="2361438" cy="1645920"/>
          </a:xfrm>
          <a:prstGeom prst="rect">
            <a:avLst/>
          </a:prstGeom>
          <a:solidFill>
            <a:srgbClr val="FAF8F1"/>
          </a:solidFill>
          <a:ln w="9525">
            <a:solidFill>
              <a:srgbClr val="D9D4C4"/>
            </a:solidFill>
            <a:prstDash val="solid"/>
          </a:ln>
        </p:spPr>
      </p:sp>
      <p:pic>
        <p:nvPicPr>
          <p:cNvPr id="13" name="Image 2" descr="/Users/dogan/Documents/Vaults/Courses/wiki/classes/media-studies/decks/_build/img/toystory-staffmeeting.jpg">    </p:cNvPr>
          <p:cNvPicPr>
            <a:picLocks noChangeAspect="1"/>
          </p:cNvPicPr>
          <p:nvPr/>
        </p:nvPicPr>
        <p:blipFill>
          <a:blip r:embed="rId3"/>
          <a:stretch>
            <a:fillRect/>
          </a:stretch>
        </p:blipFill>
        <p:spPr>
          <a:xfrm>
            <a:off x="6332220" y="1649856"/>
            <a:ext cx="2251710" cy="1455168"/>
          </a:xfrm>
          <a:prstGeom prst="rect">
            <a:avLst/>
          </a:prstGeom>
        </p:spPr>
      </p:pic>
      <p:sp>
        <p:nvSpPr>
          <p:cNvPr id="14" name="Text 9"/>
          <p:cNvSpPr/>
          <p:nvPr/>
        </p:nvSpPr>
        <p:spPr>
          <a:xfrm>
            <a:off x="6277356"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lighting</a:t>
            </a:r>
            <a:endParaRPr lang="en-US" sz="1100" dirty="0"/>
          </a:p>
        </p:txBody>
      </p:sp>
      <p:sp>
        <p:nvSpPr>
          <p:cNvPr id="15" name="Shape 10"/>
          <p:cNvSpPr/>
          <p:nvPr/>
        </p:nvSpPr>
        <p:spPr>
          <a:xfrm>
            <a:off x="9004554" y="1554480"/>
            <a:ext cx="2361438" cy="1645920"/>
          </a:xfrm>
          <a:prstGeom prst="rect">
            <a:avLst/>
          </a:prstGeom>
          <a:solidFill>
            <a:srgbClr val="FAF8F1"/>
          </a:solidFill>
          <a:ln w="9525">
            <a:solidFill>
              <a:srgbClr val="D9D4C4"/>
            </a:solidFill>
            <a:prstDash val="solid"/>
          </a:ln>
        </p:spPr>
      </p:sp>
      <p:pic>
        <p:nvPicPr>
          <p:cNvPr id="16" name="Image 3" descr="/Users/dogan/Documents/Vaults/Courses/wiki/classes/media-studies/decks/_build/img/thirdman-canted.jpg">    </p:cNvPr>
          <p:cNvPicPr>
            <a:picLocks noChangeAspect="1"/>
          </p:cNvPicPr>
          <p:nvPr/>
        </p:nvPicPr>
        <p:blipFill>
          <a:blip r:embed="rId4"/>
          <a:stretch>
            <a:fillRect/>
          </a:stretch>
        </p:blipFill>
        <p:spPr>
          <a:xfrm>
            <a:off x="9174861" y="1609344"/>
            <a:ext cx="2020824" cy="1536192"/>
          </a:xfrm>
          <a:prstGeom prst="rect">
            <a:avLst/>
          </a:prstGeom>
        </p:spPr>
      </p:pic>
      <p:sp>
        <p:nvSpPr>
          <p:cNvPr id="17" name="Text 11"/>
          <p:cNvSpPr/>
          <p:nvPr/>
        </p:nvSpPr>
        <p:spPr>
          <a:xfrm>
            <a:off x="9004554"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angle</a:t>
            </a:r>
            <a:endParaRPr lang="en-US" sz="1100" dirty="0"/>
          </a:p>
        </p:txBody>
      </p:sp>
      <p:sp>
        <p:nvSpPr>
          <p:cNvPr id="18" name="Text 12"/>
          <p:cNvSpPr/>
          <p:nvPr/>
        </p:nvSpPr>
        <p:spPr>
          <a:xfrm>
            <a:off x="822960" y="3703320"/>
            <a:ext cx="10241280" cy="777240"/>
          </a:xfrm>
          <a:prstGeom prst="rect">
            <a:avLst/>
          </a:prstGeom>
          <a:noFill/>
          <a:ln/>
        </p:spPr>
        <p:txBody>
          <a:bodyPr wrap="square" lIns="0" tIns="0" rIns="0" bIns="0" rtlCol="0" anchor="t"/>
          <a:lstStyle/>
          <a:p>
            <a:pPr indent="0" marL="0">
              <a:lnSpc>
                <a:spcPts val="1900"/>
              </a:lnSpc>
              <a:buNone/>
            </a:pPr>
            <a:r>
              <a:rPr lang="en-US" sz="1300" b="1" spc="100" kern="0" dirty="0">
                <a:solidFill>
                  <a:srgbClr val="4A6B5D"/>
                </a:solidFill>
                <a:latin typeface="Arial" pitchFamily="34" charset="0"/>
                <a:ea typeface="Arial" pitchFamily="34" charset="-122"/>
                <a:cs typeface="Arial" pitchFamily="34" charset="-120"/>
              </a:rPr>
              <a:t>WARM-UP   </a:t>
            </a:r>
            <a:pPr indent="0" marL="0">
              <a:lnSpc>
                <a:spcPts val="1900"/>
              </a:lnSpc>
              <a:buNone/>
            </a:pPr>
            <a:r>
              <a:rPr lang="en-US" sz="1500" dirty="0">
                <a:solidFill>
                  <a:srgbClr val="24313F"/>
                </a:solidFill>
                <a:latin typeface="Georgia" pitchFamily="34" charset="0"/>
                <a:ea typeface="Georgia" pitchFamily="34" charset="-122"/>
                <a:cs typeface="Georgia" pitchFamily="34" charset="-120"/>
              </a:rPr>
              <a:t>The answers: shallow focus, over-the-shoulder, high key, canted.</a:t>
            </a:r>
            <a:endParaRPr lang="en-US" sz="1300" dirty="0"/>
          </a:p>
          <a:p>
            <a:pPr indent="0" marL="0">
              <a:lnSpc>
                <a:spcPts val="1900"/>
              </a:lnSpc>
              <a:buNone/>
            </a:pPr>
            <a:r>
              <a:rPr lang="en-US" sz="1300" b="1" spc="100" kern="0" dirty="0">
                <a:solidFill>
                  <a:srgbClr val="4A6B5D"/>
                </a:solidFill>
                <a:latin typeface="Arial" pitchFamily="34" charset="0"/>
                <a:ea typeface="Arial" pitchFamily="34" charset="-122"/>
                <a:cs typeface="Arial" pitchFamily="34" charset="-120"/>
              </a:rPr>
              <a:t>THE QUIZ   </a:t>
            </a:r>
            <a:pPr indent="0" marL="0">
              <a:lnSpc>
                <a:spcPts val="1900"/>
              </a:lnSpc>
              <a:buNone/>
            </a:pPr>
            <a:r>
              <a:rPr lang="en-US" sz="1500" dirty="0">
                <a:solidFill>
                  <a:srgbClr val="24313F"/>
                </a:solidFill>
                <a:latin typeface="Georgia" pitchFamily="34" charset="0"/>
                <a:ea typeface="Georgia" pitchFamily="34" charset="-122"/>
                <a:cs typeface="Georgia" pitchFamily="34" charset="-120"/>
              </a:rPr>
              <a:t>Thirty items across all four elements. At least four each on sound and editing, because scripts forget those two.</a:t>
            </a:r>
            <a:endParaRPr lang="en-US" sz="1300" dirty="0"/>
          </a:p>
        </p:txBody>
      </p:sp>
      <p:sp>
        <p:nvSpPr>
          <p:cNvPr id="19" name="Text 13"/>
          <p:cNvSpPr/>
          <p:nvPr/>
        </p:nvSpPr>
        <p:spPr>
          <a:xfrm>
            <a:off x="822960"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Define the term</a:t>
            </a:r>
            <a:endParaRPr lang="en-US" sz="1700" dirty="0"/>
          </a:p>
        </p:txBody>
      </p:sp>
      <p:sp>
        <p:nvSpPr>
          <p:cNvPr id="20" name="Text 14"/>
          <p:cNvSpPr/>
          <p:nvPr/>
        </p:nvSpPr>
        <p:spPr>
          <a:xfrm>
            <a:off x="822960"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shot bridge, canted, high key, ellipsis, sound perspective</a:t>
            </a:r>
            <a:endParaRPr lang="en-US" sz="1250" dirty="0"/>
          </a:p>
        </p:txBody>
      </p:sp>
      <p:sp>
        <p:nvSpPr>
          <p:cNvPr id="21" name="Text 15"/>
          <p:cNvSpPr/>
          <p:nvPr/>
        </p:nvSpPr>
        <p:spPr>
          <a:xfrm>
            <a:off x="4489704"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Label the example</a:t>
            </a:r>
            <a:endParaRPr lang="en-US" sz="1700" dirty="0"/>
          </a:p>
        </p:txBody>
      </p:sp>
      <p:sp>
        <p:nvSpPr>
          <p:cNvPr id="22" name="Text 16"/>
          <p:cNvSpPr/>
          <p:nvPr/>
        </p:nvSpPr>
        <p:spPr>
          <a:xfrm>
            <a:off x="4489704"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a named move, from a still or a short clip</a:t>
            </a:r>
            <a:endParaRPr lang="en-US" sz="1250" dirty="0"/>
          </a:p>
        </p:txBody>
      </p:sp>
      <p:sp>
        <p:nvSpPr>
          <p:cNvPr id="23" name="Text 17"/>
          <p:cNvSpPr/>
          <p:nvPr/>
        </p:nvSpPr>
        <p:spPr>
          <a:xfrm>
            <a:off x="8156448"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Then self-mark</a:t>
            </a:r>
            <a:endParaRPr lang="en-US" sz="1700" dirty="0"/>
          </a:p>
        </p:txBody>
      </p:sp>
      <p:sp>
        <p:nvSpPr>
          <p:cNvPr id="24" name="Text 18"/>
          <p:cNvSpPr/>
          <p:nvPr/>
        </p:nvSpPr>
        <p:spPr>
          <a:xfrm>
            <a:off x="8156448"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immediately, against the definitions on screen</a:t>
            </a:r>
            <a:endParaRPr lang="en-US" sz="1250" dirty="0"/>
          </a:p>
        </p:txBody>
      </p:sp>
      <p:sp>
        <p:nvSpPr>
          <p:cNvPr id="25" name="Shape 19"/>
          <p:cNvSpPr/>
          <p:nvPr/>
        </p:nvSpPr>
        <p:spPr>
          <a:xfrm>
            <a:off x="822960" y="5760720"/>
            <a:ext cx="914400" cy="0"/>
          </a:xfrm>
          <a:prstGeom prst="line">
            <a:avLst/>
          </a:prstGeom>
          <a:noFill/>
          <a:ln w="31750">
            <a:solidFill>
              <a:srgbClr val="8C3A38"/>
            </a:solidFill>
            <a:prstDash val="solid"/>
          </a:ln>
        </p:spPr>
      </p:sp>
      <p:sp>
        <p:nvSpPr>
          <p:cNvPr id="26" name="Text 20"/>
          <p:cNvSpPr/>
          <p:nvPr/>
        </p:nvSpPr>
        <p:spPr>
          <a:xfrm>
            <a:off x="822960" y="5888736"/>
            <a:ext cx="10424160" cy="438912"/>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YOUR LIST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Whatever you miss becomes your revision list for Wednesday.</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ALSO MONDAY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A2 announced: due Monday 26 October, blog posts 1 to 7 at the mid-point standard.</a:t>
            </a:r>
            <a:endParaRPr lang="en-US" sz="1000" dirty="0"/>
          </a:p>
        </p:txBody>
      </p:sp>
      <p:sp>
        <p:nvSpPr>
          <p:cNvPr id="27" name="Shape 21"/>
          <p:cNvSpPr/>
          <p:nvPr/>
        </p:nvSpPr>
        <p:spPr>
          <a:xfrm>
            <a:off x="822960" y="6382512"/>
            <a:ext cx="10543032" cy="0"/>
          </a:xfrm>
          <a:prstGeom prst="line">
            <a:avLst/>
          </a:prstGeom>
          <a:noFill/>
          <a:ln w="9525">
            <a:solidFill>
              <a:srgbClr val="D9D4C4"/>
            </a:solidFill>
            <a:prstDash val="solid"/>
          </a:ln>
        </p:spPr>
      </p:sp>
      <p:sp>
        <p:nvSpPr>
          <p:cNvPr id="28" name="Text 2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9" name="Text 2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SYSTEMATIC READING ORDER</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SAME ORDER AS THE LOCK, AND FOREVER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order is the discipline</a:t>
            </a:r>
            <a:endParaRPr lang="en-US" sz="3200" dirty="0"/>
          </a:p>
        </p:txBody>
      </p:sp>
      <p:sp>
        <p:nvSpPr>
          <p:cNvPr id="6" name="Text 4"/>
          <p:cNvSpPr/>
          <p:nvPr/>
        </p:nvSpPr>
        <p:spPr>
          <a:xfrm>
            <a:off x="822960" y="182880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1</a:t>
            </a:r>
            <a:endParaRPr lang="en-US" sz="1700" dirty="0"/>
          </a:p>
        </p:txBody>
      </p:sp>
      <p:sp>
        <p:nvSpPr>
          <p:cNvPr id="7" name="Text 5"/>
          <p:cNvSpPr/>
          <p:nvPr/>
        </p:nvSpPr>
        <p:spPr>
          <a:xfrm>
            <a:off x="1508760" y="182880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Framing</a:t>
            </a:r>
            <a:endParaRPr lang="en-US" sz="1900" dirty="0"/>
          </a:p>
        </p:txBody>
      </p:sp>
      <p:sp>
        <p:nvSpPr>
          <p:cNvPr id="8" name="Text 6"/>
          <p:cNvSpPr/>
          <p:nvPr/>
        </p:nvSpPr>
        <p:spPr>
          <a:xfrm>
            <a:off x="4846320" y="182880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what is in, what is out</a:t>
            </a:r>
            <a:endParaRPr lang="en-US" sz="1500" dirty="0"/>
          </a:p>
        </p:txBody>
      </p:sp>
      <p:sp>
        <p:nvSpPr>
          <p:cNvPr id="9" name="Shape 7"/>
          <p:cNvSpPr/>
          <p:nvPr/>
        </p:nvSpPr>
        <p:spPr>
          <a:xfrm>
            <a:off x="1051560" y="2286000"/>
            <a:ext cx="0" cy="164592"/>
          </a:xfrm>
          <a:prstGeom prst="line">
            <a:avLst/>
          </a:prstGeom>
          <a:noFill/>
          <a:ln w="19050">
            <a:solidFill>
              <a:srgbClr val="8AA394"/>
            </a:solidFill>
            <a:prstDash val="solid"/>
          </a:ln>
        </p:spPr>
      </p:sp>
      <p:sp>
        <p:nvSpPr>
          <p:cNvPr id="10" name="Text 8"/>
          <p:cNvSpPr/>
          <p:nvPr/>
        </p:nvSpPr>
        <p:spPr>
          <a:xfrm>
            <a:off x="822960" y="246888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2</a:t>
            </a:r>
            <a:endParaRPr lang="en-US" sz="1700" dirty="0"/>
          </a:p>
        </p:txBody>
      </p:sp>
      <p:sp>
        <p:nvSpPr>
          <p:cNvPr id="11" name="Text 9"/>
          <p:cNvSpPr/>
          <p:nvPr/>
        </p:nvSpPr>
        <p:spPr>
          <a:xfrm>
            <a:off x="1508760" y="246888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Camera</a:t>
            </a:r>
            <a:endParaRPr lang="en-US" sz="1900" dirty="0"/>
          </a:p>
        </p:txBody>
      </p:sp>
      <p:sp>
        <p:nvSpPr>
          <p:cNvPr id="12" name="Text 10"/>
          <p:cNvSpPr/>
          <p:nvPr/>
        </p:nvSpPr>
        <p:spPr>
          <a:xfrm>
            <a:off x="4846320" y="246888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shot, angle, movement</a:t>
            </a:r>
            <a:endParaRPr lang="en-US" sz="1500" dirty="0"/>
          </a:p>
        </p:txBody>
      </p:sp>
      <p:sp>
        <p:nvSpPr>
          <p:cNvPr id="13" name="Shape 11"/>
          <p:cNvSpPr/>
          <p:nvPr/>
        </p:nvSpPr>
        <p:spPr>
          <a:xfrm>
            <a:off x="1051560" y="2926080"/>
            <a:ext cx="0" cy="164592"/>
          </a:xfrm>
          <a:prstGeom prst="line">
            <a:avLst/>
          </a:prstGeom>
          <a:noFill/>
          <a:ln w="19050">
            <a:solidFill>
              <a:srgbClr val="8AA394"/>
            </a:solidFill>
            <a:prstDash val="solid"/>
          </a:ln>
        </p:spPr>
      </p:sp>
      <p:sp>
        <p:nvSpPr>
          <p:cNvPr id="14" name="Text 12"/>
          <p:cNvSpPr/>
          <p:nvPr/>
        </p:nvSpPr>
        <p:spPr>
          <a:xfrm>
            <a:off x="822960" y="310896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3</a:t>
            </a:r>
            <a:endParaRPr lang="en-US" sz="1700" dirty="0"/>
          </a:p>
        </p:txBody>
      </p:sp>
      <p:sp>
        <p:nvSpPr>
          <p:cNvPr id="15" name="Text 13"/>
          <p:cNvSpPr/>
          <p:nvPr/>
        </p:nvSpPr>
        <p:spPr>
          <a:xfrm>
            <a:off x="1508760" y="310896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Light</a:t>
            </a:r>
            <a:endParaRPr lang="en-US" sz="1900" dirty="0"/>
          </a:p>
        </p:txBody>
      </p:sp>
      <p:sp>
        <p:nvSpPr>
          <p:cNvPr id="16" name="Text 14"/>
          <p:cNvSpPr/>
          <p:nvPr/>
        </p:nvSpPr>
        <p:spPr>
          <a:xfrm>
            <a:off x="4846320" y="310896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source, direction, mood</a:t>
            </a:r>
            <a:endParaRPr lang="en-US" sz="1500" dirty="0"/>
          </a:p>
        </p:txBody>
      </p:sp>
      <p:sp>
        <p:nvSpPr>
          <p:cNvPr id="17" name="Shape 15"/>
          <p:cNvSpPr/>
          <p:nvPr/>
        </p:nvSpPr>
        <p:spPr>
          <a:xfrm>
            <a:off x="1051560" y="3566160"/>
            <a:ext cx="0" cy="164592"/>
          </a:xfrm>
          <a:prstGeom prst="line">
            <a:avLst/>
          </a:prstGeom>
          <a:noFill/>
          <a:ln w="19050">
            <a:solidFill>
              <a:srgbClr val="8AA394"/>
            </a:solidFill>
            <a:prstDash val="solid"/>
          </a:ln>
        </p:spPr>
      </p:sp>
      <p:sp>
        <p:nvSpPr>
          <p:cNvPr id="18" name="Text 16"/>
          <p:cNvSpPr/>
          <p:nvPr/>
        </p:nvSpPr>
        <p:spPr>
          <a:xfrm>
            <a:off x="822960" y="374904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4</a:t>
            </a:r>
            <a:endParaRPr lang="en-US" sz="1700" dirty="0"/>
          </a:p>
        </p:txBody>
      </p:sp>
      <p:sp>
        <p:nvSpPr>
          <p:cNvPr id="19" name="Text 17"/>
          <p:cNvSpPr/>
          <p:nvPr/>
        </p:nvSpPr>
        <p:spPr>
          <a:xfrm>
            <a:off x="1508760" y="374904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Mise-en-scene</a:t>
            </a:r>
            <a:endParaRPr lang="en-US" sz="1900" dirty="0"/>
          </a:p>
        </p:txBody>
      </p:sp>
      <p:sp>
        <p:nvSpPr>
          <p:cNvPr id="20" name="Text 18"/>
          <p:cNvSpPr/>
          <p:nvPr/>
        </p:nvSpPr>
        <p:spPr>
          <a:xfrm>
            <a:off x="4846320" y="374904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setting, props, dress, gesture</a:t>
            </a:r>
            <a:endParaRPr lang="en-US" sz="1500" dirty="0"/>
          </a:p>
        </p:txBody>
      </p:sp>
      <p:sp>
        <p:nvSpPr>
          <p:cNvPr id="21" name="Shape 19"/>
          <p:cNvSpPr/>
          <p:nvPr/>
        </p:nvSpPr>
        <p:spPr>
          <a:xfrm>
            <a:off x="1051560" y="4206240"/>
            <a:ext cx="0" cy="164592"/>
          </a:xfrm>
          <a:prstGeom prst="line">
            <a:avLst/>
          </a:prstGeom>
          <a:noFill/>
          <a:ln w="19050">
            <a:solidFill>
              <a:srgbClr val="8AA394"/>
            </a:solidFill>
            <a:prstDash val="solid"/>
          </a:ln>
        </p:spPr>
      </p:sp>
      <p:sp>
        <p:nvSpPr>
          <p:cNvPr id="22" name="Text 20"/>
          <p:cNvSpPr/>
          <p:nvPr/>
        </p:nvSpPr>
        <p:spPr>
          <a:xfrm>
            <a:off x="822960" y="438912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5</a:t>
            </a:r>
            <a:endParaRPr lang="en-US" sz="1700" dirty="0"/>
          </a:p>
        </p:txBody>
      </p:sp>
      <p:sp>
        <p:nvSpPr>
          <p:cNvPr id="23" name="Text 21"/>
          <p:cNvSpPr/>
          <p:nvPr/>
        </p:nvSpPr>
        <p:spPr>
          <a:xfrm>
            <a:off x="1508760" y="438912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Sound</a:t>
            </a:r>
            <a:endParaRPr lang="en-US" sz="1900" dirty="0"/>
          </a:p>
        </p:txBody>
      </p:sp>
      <p:sp>
        <p:nvSpPr>
          <p:cNvPr id="24" name="Text 22"/>
          <p:cNvSpPr/>
          <p:nvPr/>
        </p:nvSpPr>
        <p:spPr>
          <a:xfrm>
            <a:off x="4846320" y="438912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music, silence, diegetic sound</a:t>
            </a:r>
            <a:endParaRPr lang="en-US" sz="1500" dirty="0"/>
          </a:p>
        </p:txBody>
      </p:sp>
      <p:sp>
        <p:nvSpPr>
          <p:cNvPr id="25" name="Shape 23"/>
          <p:cNvSpPr/>
          <p:nvPr/>
        </p:nvSpPr>
        <p:spPr>
          <a:xfrm>
            <a:off x="1051560" y="4846320"/>
            <a:ext cx="0" cy="164592"/>
          </a:xfrm>
          <a:prstGeom prst="line">
            <a:avLst/>
          </a:prstGeom>
          <a:noFill/>
          <a:ln w="19050">
            <a:solidFill>
              <a:srgbClr val="8AA394"/>
            </a:solidFill>
            <a:prstDash val="solid"/>
          </a:ln>
        </p:spPr>
      </p:sp>
      <p:sp>
        <p:nvSpPr>
          <p:cNvPr id="26" name="Text 24"/>
          <p:cNvSpPr/>
          <p:nvPr/>
        </p:nvSpPr>
        <p:spPr>
          <a:xfrm>
            <a:off x="822960" y="502920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508760" y="502920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Edit</a:t>
            </a:r>
            <a:endParaRPr lang="en-US" sz="1900" dirty="0"/>
          </a:p>
        </p:txBody>
      </p:sp>
      <p:sp>
        <p:nvSpPr>
          <p:cNvPr id="28" name="Text 26"/>
          <p:cNvSpPr/>
          <p:nvPr/>
        </p:nvSpPr>
        <p:spPr>
          <a:xfrm>
            <a:off x="4846320" y="502920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cut, pace, transition</a:t>
            </a:r>
            <a:endParaRPr lang="en-US" sz="1500" dirty="0"/>
          </a:p>
        </p:txBody>
      </p:sp>
      <p:sp>
        <p:nvSpPr>
          <p:cNvPr id="29" name="Text 27"/>
          <p:cNvSpPr/>
          <p:nvPr/>
        </p:nvSpPr>
        <p:spPr>
          <a:xfrm>
            <a:off x="4846320" y="5870448"/>
            <a:ext cx="6400800" cy="365760"/>
          </a:xfrm>
          <a:prstGeom prst="rect">
            <a:avLst/>
          </a:prstGeom>
          <a:noFill/>
          <a:ln/>
        </p:spPr>
        <p:txBody>
          <a:bodyPr wrap="square" lIns="0" tIns="0" rIns="0" bIns="0" rtlCol="0" anchor="ctr"/>
          <a:lstStyle/>
          <a:p>
            <a:pPr indent="0" marL="0">
              <a:buNone/>
            </a:pPr>
            <a:r>
              <a:rPr lang="en-US" sz="1150" i="1" dirty="0">
                <a:solidFill>
                  <a:srgbClr val="7A7F72"/>
                </a:solidFill>
                <a:latin typeface="Arial" pitchFamily="34" charset="0"/>
                <a:ea typeface="Arial" pitchFamily="34" charset="-122"/>
                <a:cs typeface="Arial" pitchFamily="34" charset="-120"/>
              </a:rPr>
              <a:t>The Ladder is complete: this order climbs rungs one and two. PEEM climbs the rest.</a:t>
            </a:r>
            <a:endParaRPr lang="en-US" sz="1150" dirty="0"/>
          </a:p>
        </p:txBody>
      </p:sp>
      <p:sp>
        <p:nvSpPr>
          <p:cNvPr id="30" name="Shape 28"/>
          <p:cNvSpPr/>
          <p:nvPr/>
        </p:nvSpPr>
        <p:spPr>
          <a:xfrm>
            <a:off x="822960" y="6382512"/>
            <a:ext cx="10543032" cy="0"/>
          </a:xfrm>
          <a:prstGeom prst="line">
            <a:avLst/>
          </a:prstGeom>
          <a:noFill/>
          <a:ln w="9525">
            <a:solidFill>
              <a:srgbClr val="D9D4C4"/>
            </a:solidFill>
            <a:prstDash val="solid"/>
          </a:ln>
        </p:spPr>
      </p:sp>
      <p:sp>
        <p:nvSpPr>
          <p:cNvPr id="31" name="Text 2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2" name="Text 3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DISCIPLINE, APPLIED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DENSE FRAME, READ IN ORDER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97280"/>
            <a:ext cx="6309360" cy="39776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adolescence-interview.jpg">    </p:cNvPr>
          <p:cNvPicPr>
            <a:picLocks noChangeAspect="1"/>
          </p:cNvPicPr>
          <p:nvPr/>
        </p:nvPicPr>
        <p:blipFill>
          <a:blip r:embed="rId1"/>
          <a:stretch>
            <a:fillRect/>
          </a:stretch>
        </p:blipFill>
        <p:spPr>
          <a:xfrm>
            <a:off x="950976" y="1564175"/>
            <a:ext cx="6053328" cy="3043850"/>
          </a:xfrm>
          <a:prstGeom prst="rect">
            <a:avLst/>
          </a:prstGeom>
        </p:spPr>
      </p:pic>
      <p:sp>
        <p:nvSpPr>
          <p:cNvPr id="7" name="Text 4"/>
          <p:cNvSpPr/>
          <p:nvPr/>
        </p:nvSpPr>
        <p:spPr>
          <a:xfrm>
            <a:off x="822960" y="5120640"/>
            <a:ext cx="6309360"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Adolescence (Netflix, 2025): the interview room</a:t>
            </a:r>
            <a:endParaRPr lang="en-US" sz="950" dirty="0"/>
          </a:p>
        </p:txBody>
      </p:sp>
      <p:sp>
        <p:nvSpPr>
          <p:cNvPr id="8" name="Text 5"/>
          <p:cNvSpPr/>
          <p:nvPr/>
        </p:nvSpPr>
        <p:spPr>
          <a:xfrm>
            <a:off x="7452360" y="1188720"/>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1 Framing</a:t>
            </a:r>
            <a:endParaRPr lang="en-US" sz="1100" dirty="0"/>
          </a:p>
        </p:txBody>
      </p:sp>
      <p:sp>
        <p:nvSpPr>
          <p:cNvPr id="9" name="Text 6"/>
          <p:cNvSpPr/>
          <p:nvPr/>
        </p:nvSpPr>
        <p:spPr>
          <a:xfrm>
            <a:off x="9052560" y="1188720"/>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three figures, a table, an empty corner</a:t>
            </a:r>
            <a:endParaRPr lang="en-US" sz="1200" dirty="0"/>
          </a:p>
        </p:txBody>
      </p:sp>
      <p:sp>
        <p:nvSpPr>
          <p:cNvPr id="10" name="Text 7"/>
          <p:cNvSpPr/>
          <p:nvPr/>
        </p:nvSpPr>
        <p:spPr>
          <a:xfrm>
            <a:off x="7452360" y="1938528"/>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2 Camera</a:t>
            </a:r>
            <a:endParaRPr lang="en-US" sz="1100" dirty="0"/>
          </a:p>
        </p:txBody>
      </p:sp>
      <p:sp>
        <p:nvSpPr>
          <p:cNvPr id="11" name="Text 8"/>
          <p:cNvSpPr/>
          <p:nvPr/>
        </p:nvSpPr>
        <p:spPr>
          <a:xfrm>
            <a:off x="9052560" y="1938528"/>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wide, eye level, static: procedure</a:t>
            </a:r>
            <a:endParaRPr lang="en-US" sz="1200" dirty="0"/>
          </a:p>
        </p:txBody>
      </p:sp>
      <p:sp>
        <p:nvSpPr>
          <p:cNvPr id="12" name="Text 9"/>
          <p:cNvSpPr/>
          <p:nvPr/>
        </p:nvSpPr>
        <p:spPr>
          <a:xfrm>
            <a:off x="7452360" y="2688336"/>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3 Light</a:t>
            </a:r>
            <a:endParaRPr lang="en-US" sz="1100" dirty="0"/>
          </a:p>
        </p:txBody>
      </p:sp>
      <p:sp>
        <p:nvSpPr>
          <p:cNvPr id="13" name="Text 10"/>
          <p:cNvSpPr/>
          <p:nvPr/>
        </p:nvSpPr>
        <p:spPr>
          <a:xfrm>
            <a:off x="9052560" y="2688336"/>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cold, even, institutional</a:t>
            </a:r>
            <a:endParaRPr lang="en-US" sz="1200" dirty="0"/>
          </a:p>
        </p:txBody>
      </p:sp>
      <p:sp>
        <p:nvSpPr>
          <p:cNvPr id="14" name="Text 11"/>
          <p:cNvSpPr/>
          <p:nvPr/>
        </p:nvSpPr>
        <p:spPr>
          <a:xfrm>
            <a:off x="7452360" y="3438144"/>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4 Mise-en-scene</a:t>
            </a:r>
            <a:endParaRPr lang="en-US" sz="1100" dirty="0"/>
          </a:p>
        </p:txBody>
      </p:sp>
      <p:sp>
        <p:nvSpPr>
          <p:cNvPr id="15" name="Text 12"/>
          <p:cNvSpPr/>
          <p:nvPr/>
        </p:nvSpPr>
        <p:spPr>
          <a:xfrm>
            <a:off x="9052560" y="3438144"/>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the notice, the forms, the sweatshirt</a:t>
            </a:r>
            <a:endParaRPr lang="en-US" sz="1200" dirty="0"/>
          </a:p>
        </p:txBody>
      </p:sp>
      <p:sp>
        <p:nvSpPr>
          <p:cNvPr id="16" name="Text 13"/>
          <p:cNvSpPr/>
          <p:nvPr/>
        </p:nvSpPr>
        <p:spPr>
          <a:xfrm>
            <a:off x="7452360" y="4187952"/>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5 Sound</a:t>
            </a:r>
            <a:endParaRPr lang="en-US" sz="1100" dirty="0"/>
          </a:p>
        </p:txBody>
      </p:sp>
      <p:sp>
        <p:nvSpPr>
          <p:cNvPr id="17" name="Text 14"/>
          <p:cNvSpPr/>
          <p:nvPr/>
        </p:nvSpPr>
        <p:spPr>
          <a:xfrm>
            <a:off x="9052560" y="4187952"/>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a still cannot show it: name that too</a:t>
            </a:r>
            <a:endParaRPr lang="en-US" sz="1200" dirty="0"/>
          </a:p>
        </p:txBody>
      </p:sp>
      <p:sp>
        <p:nvSpPr>
          <p:cNvPr id="18" name="Text 15"/>
          <p:cNvSpPr/>
          <p:nvPr/>
        </p:nvSpPr>
        <p:spPr>
          <a:xfrm>
            <a:off x="7452360" y="4937760"/>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6 Edit</a:t>
            </a:r>
            <a:endParaRPr lang="en-US" sz="1100" dirty="0"/>
          </a:p>
        </p:txBody>
      </p:sp>
      <p:sp>
        <p:nvSpPr>
          <p:cNvPr id="19" name="Text 16"/>
          <p:cNvSpPr/>
          <p:nvPr/>
        </p:nvSpPr>
        <p:spPr>
          <a:xfrm>
            <a:off x="9052560" y="4937760"/>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one take; the reframings do the cutting</a:t>
            </a:r>
            <a:endParaRPr lang="en-US" sz="1200" dirty="0"/>
          </a:p>
        </p:txBody>
      </p:sp>
      <p:sp>
        <p:nvSpPr>
          <p:cNvPr id="20" name="Shape 17"/>
          <p:cNvSpPr/>
          <p:nvPr/>
        </p:nvSpPr>
        <p:spPr>
          <a:xfrm>
            <a:off x="822960" y="5623560"/>
            <a:ext cx="914400" cy="0"/>
          </a:xfrm>
          <a:prstGeom prst="line">
            <a:avLst/>
          </a:prstGeom>
          <a:noFill/>
          <a:ln w="31750">
            <a:solidFill>
              <a:srgbClr val="8C3A38"/>
            </a:solidFill>
            <a:prstDash val="solid"/>
          </a:ln>
        </p:spPr>
      </p:sp>
      <p:sp>
        <p:nvSpPr>
          <p:cNvPr id="21" name="Text 18"/>
          <p:cNvSpPr/>
          <p:nvPr/>
        </p:nvSpPr>
        <p:spPr>
          <a:xfrm>
            <a:off x="822960" y="5760720"/>
            <a:ext cx="10543032" cy="320040"/>
          </a:xfrm>
          <a:prstGeom prst="rect">
            <a:avLst/>
          </a:prstGeom>
          <a:noFill/>
          <a:ln/>
        </p:spPr>
        <p:txBody>
          <a:bodyPr wrap="square" lIns="0" tIns="0" rIns="0" bIns="0" rtlCol="0" anchor="t"/>
          <a:lstStyle/>
          <a:p>
            <a:pPr indent="0" marL="0">
              <a:lnSpc>
                <a:spcPts val="1800"/>
              </a:lnSpc>
              <a:buNone/>
            </a:pPr>
            <a:r>
              <a:rPr lang="en-US" sz="1150" b="1" spc="100" kern="0" dirty="0">
                <a:solidFill>
                  <a:srgbClr val="4A6B5D"/>
                </a:solidFill>
                <a:latin typeface="Arial" pitchFamily="34" charset="0"/>
                <a:ea typeface="Arial" pitchFamily="34" charset="-122"/>
                <a:cs typeface="Arial" pitchFamily="34" charset="-120"/>
              </a:rPr>
              <a:t>KEY POINT   </a:t>
            </a:r>
            <a:pPr indent="0" marL="0">
              <a:lnSpc>
                <a:spcPts val="1800"/>
              </a:lnSpc>
              <a:buNone/>
            </a:pPr>
            <a:r>
              <a:rPr lang="en-US" sz="1350" i="1" dirty="0">
                <a:solidFill>
                  <a:srgbClr val="4A6B5D"/>
                </a:solidFill>
                <a:latin typeface="Georgia" pitchFamily="34" charset="0"/>
                <a:ea typeface="Georgia" pitchFamily="34" charset="-122"/>
                <a:cs typeface="Georgia" pitchFamily="34" charset="-120"/>
              </a:rPr>
              <a:t>Systematic reading is a habit, not a talent. Same order, every text, every time.</a:t>
            </a:r>
            <a:endParaRPr lang="en-US" sz="1150" dirty="0"/>
          </a:p>
        </p:txBody>
      </p:sp>
      <p:sp>
        <p:nvSpPr>
          <p:cNvPr id="22" name="Shape 19"/>
          <p:cNvSpPr/>
          <p:nvPr/>
        </p:nvSpPr>
        <p:spPr>
          <a:xfrm>
            <a:off x="822960" y="6382512"/>
            <a:ext cx="10543032" cy="0"/>
          </a:xfrm>
          <a:prstGeom prst="line">
            <a:avLst/>
          </a:prstGeom>
          <a:noFill/>
          <a:ln w="9525">
            <a:solidFill>
              <a:srgbClr val="D9D4C4"/>
            </a:solidFill>
            <a:prstDash val="solid"/>
          </a:ln>
        </p:spPr>
      </p:sp>
      <p:sp>
        <p:nvSpPr>
          <p:cNvPr id="23"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4"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PEEM</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PARAGRAPH THAT PROVES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Prove, do not assert</a:t>
            </a:r>
            <a:endParaRPr lang="en-US" sz="3200" dirty="0"/>
          </a:p>
        </p:txBody>
      </p:sp>
      <p:sp>
        <p:nvSpPr>
          <p:cNvPr id="6" name="Shape 4"/>
          <p:cNvSpPr/>
          <p:nvPr/>
        </p:nvSpPr>
        <p:spPr>
          <a:xfrm>
            <a:off x="2140839" y="3383280"/>
            <a:ext cx="7907274" cy="0"/>
          </a:xfrm>
          <a:prstGeom prst="line">
            <a:avLst/>
          </a:prstGeom>
          <a:noFill/>
          <a:ln w="19050">
            <a:solidFill>
              <a:srgbClr val="8AA394"/>
            </a:solidFill>
            <a:prstDash val="solid"/>
          </a:ln>
        </p:spPr>
      </p:sp>
      <p:sp>
        <p:nvSpPr>
          <p:cNvPr id="7" name="Text 5"/>
          <p:cNvSpPr/>
          <p:nvPr/>
        </p:nvSpPr>
        <p:spPr>
          <a:xfrm>
            <a:off x="1820799"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P</a:t>
            </a:r>
            <a:endParaRPr lang="en-US" sz="2600" dirty="0"/>
          </a:p>
        </p:txBody>
      </p:sp>
      <p:sp>
        <p:nvSpPr>
          <p:cNvPr id="8" name="Text 6"/>
          <p:cNvSpPr/>
          <p:nvPr/>
        </p:nvSpPr>
        <p:spPr>
          <a:xfrm>
            <a:off x="914400"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Point</a:t>
            </a:r>
            <a:endParaRPr lang="en-US" sz="2200" dirty="0"/>
          </a:p>
        </p:txBody>
      </p:sp>
      <p:sp>
        <p:nvSpPr>
          <p:cNvPr id="9" name="Text 7"/>
          <p:cNvSpPr/>
          <p:nvPr/>
        </p:nvSpPr>
        <p:spPr>
          <a:xfrm>
            <a:off x="960120"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the claim you are making</a:t>
            </a:r>
            <a:endParaRPr lang="en-US" sz="1400" dirty="0"/>
          </a:p>
        </p:txBody>
      </p:sp>
      <p:sp>
        <p:nvSpPr>
          <p:cNvPr id="10" name="Text 8"/>
          <p:cNvSpPr/>
          <p:nvPr/>
        </p:nvSpPr>
        <p:spPr>
          <a:xfrm>
            <a:off x="4456557"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E</a:t>
            </a:r>
            <a:endParaRPr lang="en-US" sz="2600" dirty="0"/>
          </a:p>
        </p:txBody>
      </p:sp>
      <p:sp>
        <p:nvSpPr>
          <p:cNvPr id="11" name="Text 9"/>
          <p:cNvSpPr/>
          <p:nvPr/>
        </p:nvSpPr>
        <p:spPr>
          <a:xfrm>
            <a:off x="3550158"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Evidence</a:t>
            </a:r>
            <a:endParaRPr lang="en-US" sz="2200" dirty="0"/>
          </a:p>
        </p:txBody>
      </p:sp>
      <p:sp>
        <p:nvSpPr>
          <p:cNvPr id="12" name="Text 10"/>
          <p:cNvSpPr/>
          <p:nvPr/>
        </p:nvSpPr>
        <p:spPr>
          <a:xfrm>
            <a:off x="3595878"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pinned to a signifier in frame</a:t>
            </a:r>
            <a:endParaRPr lang="en-US" sz="1400" dirty="0"/>
          </a:p>
        </p:txBody>
      </p:sp>
      <p:sp>
        <p:nvSpPr>
          <p:cNvPr id="13" name="Text 11"/>
          <p:cNvSpPr/>
          <p:nvPr/>
        </p:nvSpPr>
        <p:spPr>
          <a:xfrm>
            <a:off x="7092315"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E</a:t>
            </a:r>
            <a:endParaRPr lang="en-US" sz="2600" dirty="0"/>
          </a:p>
        </p:txBody>
      </p:sp>
      <p:sp>
        <p:nvSpPr>
          <p:cNvPr id="14" name="Text 12"/>
          <p:cNvSpPr/>
          <p:nvPr/>
        </p:nvSpPr>
        <p:spPr>
          <a:xfrm>
            <a:off x="6185916"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Effect</a:t>
            </a:r>
            <a:endParaRPr lang="en-US" sz="2200" dirty="0"/>
          </a:p>
        </p:txBody>
      </p:sp>
      <p:sp>
        <p:nvSpPr>
          <p:cNvPr id="15" name="Text 13"/>
          <p:cNvSpPr/>
          <p:nvPr/>
        </p:nvSpPr>
        <p:spPr>
          <a:xfrm>
            <a:off x="6231636"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what it does to the viewer</a:t>
            </a:r>
            <a:endParaRPr lang="en-US" sz="1400" dirty="0"/>
          </a:p>
        </p:txBody>
      </p:sp>
      <p:sp>
        <p:nvSpPr>
          <p:cNvPr id="16" name="Text 14"/>
          <p:cNvSpPr/>
          <p:nvPr/>
        </p:nvSpPr>
        <p:spPr>
          <a:xfrm>
            <a:off x="9728073"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M</a:t>
            </a:r>
            <a:endParaRPr lang="en-US" sz="2600" dirty="0"/>
          </a:p>
        </p:txBody>
      </p:sp>
      <p:sp>
        <p:nvSpPr>
          <p:cNvPr id="17" name="Text 15"/>
          <p:cNvSpPr/>
          <p:nvPr/>
        </p:nvSpPr>
        <p:spPr>
          <a:xfrm>
            <a:off x="8821674"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Meaning</a:t>
            </a:r>
            <a:endParaRPr lang="en-US" sz="2200" dirty="0"/>
          </a:p>
        </p:txBody>
      </p:sp>
      <p:sp>
        <p:nvSpPr>
          <p:cNvPr id="18" name="Text 16"/>
          <p:cNvSpPr/>
          <p:nvPr/>
        </p:nvSpPr>
        <p:spPr>
          <a:xfrm>
            <a:off x="8867394"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tied back to the concept</a:t>
            </a:r>
            <a:endParaRPr lang="en-US" sz="1400" dirty="0"/>
          </a:p>
        </p:txBody>
      </p:sp>
      <p:sp>
        <p:nvSpPr>
          <p:cNvPr id="19" name="Text 17"/>
          <p:cNvSpPr/>
          <p:nvPr/>
        </p:nvSpPr>
        <p:spPr>
          <a:xfrm>
            <a:off x="822960" y="5212080"/>
            <a:ext cx="10543032" cy="5029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THE PROBLEM   </a:t>
            </a:r>
            <a:pPr indent="0" marL="0">
              <a:lnSpc>
                <a:spcPts val="1700"/>
              </a:lnSpc>
              <a:buNone/>
            </a:pPr>
            <a:r>
              <a:rPr lang="en-US" sz="1250" dirty="0">
                <a:solidFill>
                  <a:srgbClr val="7A7F72"/>
                </a:solidFill>
                <a:latin typeface="Georgia" pitchFamily="34" charset="0"/>
                <a:ea typeface="Georgia" pitchFamily="34" charset="-122"/>
                <a:cs typeface="Georgia" pitchFamily="34" charset="-120"/>
              </a:rPr>
              <a:t>The most common A1 failure is assertion: a claim with no evidence, no effect, no link.</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THE FIX   </a:t>
            </a:r>
            <a:pPr indent="0" marL="0">
              <a:lnSpc>
                <a:spcPts val="1700"/>
              </a:lnSpc>
              <a:buNone/>
            </a:pPr>
            <a:r>
              <a:rPr lang="en-US" sz="1250" dirty="0">
                <a:solidFill>
                  <a:srgbClr val="7A7F72"/>
                </a:solidFill>
                <a:latin typeface="Georgia" pitchFamily="34" charset="0"/>
                <a:ea typeface="Georgia" pitchFamily="34" charset="-122"/>
                <a:cs typeface="Georgia" pitchFamily="34" charset="-120"/>
              </a:rPr>
              <a:t>PEEM. Every claim carries its evidence, its effect, and its meaning.</a:t>
            </a:r>
            <a:endParaRPr lang="en-US" sz="10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DEFECT TO DIAGNOSE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EFFECT AND MEANING COLLAPSED INTO ONE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6309360" cy="1280160"/>
          </a:xfrm>
          <a:prstGeom prst="rect">
            <a:avLst/>
          </a:prstGeom>
          <a:noFill/>
          <a:ln/>
        </p:spPr>
        <p:txBody>
          <a:bodyPr wrap="square" lIns="0" tIns="0" rIns="0" bIns="0" rtlCol="0" anchor="t"/>
          <a:lstStyle/>
          <a:p>
            <a:pPr indent="0" marL="0">
              <a:lnSpc>
                <a:spcPts val="3400"/>
              </a:lnSpc>
              <a:buNone/>
            </a:pPr>
            <a:r>
              <a:rPr lang="en-US" sz="2800" dirty="0">
                <a:solidFill>
                  <a:srgbClr val="24313F"/>
                </a:solidFill>
                <a:latin typeface="Georgia" pitchFamily="34" charset="0"/>
                <a:ea typeface="Georgia" pitchFamily="34" charset="-122"/>
                <a:cs typeface="Georgia" pitchFamily="34" charset="-120"/>
              </a:rPr>
              <a:t>If your two sentences</a:t>
            </a:r>
            <a:endParaRPr lang="en-US" sz="2800" dirty="0"/>
          </a:p>
          <a:p>
            <a:pPr indent="0" marL="0">
              <a:lnSpc>
                <a:spcPts val="3400"/>
              </a:lnSpc>
              <a:buNone/>
            </a:pPr>
            <a:r>
              <a:rPr lang="en-US" sz="2800" dirty="0">
                <a:solidFill>
                  <a:srgbClr val="24313F"/>
                </a:solidFill>
                <a:latin typeface="Georgia" pitchFamily="34" charset="0"/>
                <a:ea typeface="Georgia" pitchFamily="34" charset="-122"/>
                <a:cs typeface="Georgia" pitchFamily="34" charset="-120"/>
              </a:rPr>
              <a:t>could swap places</a:t>
            </a:r>
            <a:endParaRPr lang="en-US" sz="2800" dirty="0"/>
          </a:p>
        </p:txBody>
      </p:sp>
      <p:sp>
        <p:nvSpPr>
          <p:cNvPr id="6" name="Shape 4"/>
          <p:cNvSpPr/>
          <p:nvPr/>
        </p:nvSpPr>
        <p:spPr>
          <a:xfrm>
            <a:off x="822960" y="2468880"/>
            <a:ext cx="6309360" cy="1234440"/>
          </a:xfrm>
          <a:prstGeom prst="rect">
            <a:avLst/>
          </a:prstGeom>
          <a:solidFill>
            <a:srgbClr val="E8EFE7"/>
          </a:solidFill>
          <a:ln/>
        </p:spPr>
      </p:sp>
      <p:sp>
        <p:nvSpPr>
          <p:cNvPr id="7" name="Text 5"/>
          <p:cNvSpPr/>
          <p:nvPr/>
        </p:nvSpPr>
        <p:spPr>
          <a:xfrm>
            <a:off x="1051560" y="2560320"/>
            <a:ext cx="5852160" cy="1005840"/>
          </a:xfrm>
          <a:prstGeom prst="rect">
            <a:avLst/>
          </a:prstGeom>
          <a:noFill/>
          <a:ln/>
        </p:spPr>
        <p:txBody>
          <a:bodyPr wrap="square" lIns="0" tIns="0" rIns="0" bIns="0" rtlCol="0" anchor="ctr"/>
          <a:lstStyle/>
          <a:p>
            <a:pPr indent="0" marL="0">
              <a:lnSpc>
                <a:spcPts val="2200"/>
              </a:lnSpc>
              <a:buNone/>
            </a:pPr>
            <a:r>
              <a:rPr lang="en-US" sz="1650" i="1" dirty="0">
                <a:solidFill>
                  <a:srgbClr val="7A7F72"/>
                </a:solidFill>
                <a:latin typeface="Georgia" pitchFamily="34" charset="0"/>
                <a:ea typeface="Georgia" pitchFamily="34" charset="-122"/>
                <a:cs typeface="Georgia" pitchFamily="34" charset="-120"/>
              </a:rPr>
              <a:t>The low angle makes him look powerful, which shows he has power in the scene.</a:t>
            </a:r>
            <a:endParaRPr lang="en-US" sz="1650" dirty="0"/>
          </a:p>
        </p:txBody>
      </p:sp>
      <p:sp>
        <p:nvSpPr>
          <p:cNvPr id="8" name="Text 6"/>
          <p:cNvSpPr/>
          <p:nvPr/>
        </p:nvSpPr>
        <p:spPr>
          <a:xfrm>
            <a:off x="822960" y="3840480"/>
            <a:ext cx="6309360" cy="502920"/>
          </a:xfrm>
          <a:prstGeom prst="rect">
            <a:avLst/>
          </a:prstGeom>
          <a:noFill/>
          <a:ln/>
        </p:spPr>
        <p:txBody>
          <a:bodyPr wrap="square" lIns="0" tIns="0" rIns="0" bIns="0" rtlCol="0" anchor="t"/>
          <a:lstStyle/>
          <a:p>
            <a:pPr indent="0" marL="0">
              <a:lnSpc>
                <a:spcPts val="1500"/>
              </a:lnSpc>
              <a:buNone/>
            </a:pPr>
            <a:r>
              <a:rPr lang="en-US" sz="1150" i="1" dirty="0">
                <a:solidFill>
                  <a:srgbClr val="7A7F72"/>
                </a:solidFill>
                <a:latin typeface="Arial" pitchFamily="34" charset="0"/>
                <a:ea typeface="Arial" pitchFamily="34" charset="-122"/>
                <a:cs typeface="Arial" pitchFamily="34" charset="-120"/>
              </a:rPr>
              <a:t>One idea, written twice. The second half adds nothing new. Mid-band scripts are full of this.</a:t>
            </a:r>
            <a:endParaRPr lang="en-US" sz="1150" dirty="0"/>
          </a:p>
        </p:txBody>
      </p:sp>
      <p:sp>
        <p:nvSpPr>
          <p:cNvPr id="9" name="Shape 7"/>
          <p:cNvSpPr/>
          <p:nvPr/>
        </p:nvSpPr>
        <p:spPr>
          <a:xfrm>
            <a:off x="822960" y="4526280"/>
            <a:ext cx="914400" cy="0"/>
          </a:xfrm>
          <a:prstGeom prst="line">
            <a:avLst/>
          </a:prstGeom>
          <a:noFill/>
          <a:ln w="31750">
            <a:solidFill>
              <a:srgbClr val="8C3A38"/>
            </a:solidFill>
            <a:prstDash val="solid"/>
          </a:ln>
        </p:spPr>
      </p:sp>
      <p:sp>
        <p:nvSpPr>
          <p:cNvPr id="10" name="Text 8"/>
          <p:cNvSpPr/>
          <p:nvPr/>
        </p:nvSpPr>
        <p:spPr>
          <a:xfrm>
            <a:off x="822960" y="4709160"/>
            <a:ext cx="6309360" cy="594360"/>
          </a:xfrm>
          <a:prstGeom prst="rect">
            <a:avLst/>
          </a:prstGeom>
          <a:noFill/>
          <a:ln/>
        </p:spPr>
        <p:txBody>
          <a:bodyPr wrap="square" lIns="0" tIns="0" rIns="0" bIns="0" rtlCol="0" anchor="t"/>
          <a:lstStyle/>
          <a:p>
            <a:pPr indent="0" marL="0">
              <a:lnSpc>
                <a:spcPts val="2100"/>
              </a:lnSpc>
              <a:buNone/>
            </a:pPr>
            <a:r>
              <a:rPr lang="en-US" sz="1350" b="1" spc="100" kern="0" dirty="0">
                <a:solidFill>
                  <a:srgbClr val="4A6B5D"/>
                </a:solidFill>
                <a:latin typeface="Arial" pitchFamily="34" charset="0"/>
                <a:ea typeface="Arial" pitchFamily="34" charset="-122"/>
                <a:cs typeface="Arial" pitchFamily="34" charset="-120"/>
              </a:rPr>
              <a:t>EFFECT   </a:t>
            </a:r>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what the technique does to the viewer.</a:t>
            </a:r>
            <a:endParaRPr lang="en-US" sz="1350" dirty="0"/>
          </a:p>
          <a:p>
            <a:pPr indent="0" marL="0">
              <a:lnSpc>
                <a:spcPts val="2100"/>
              </a:lnSpc>
              <a:buNone/>
            </a:pPr>
            <a:r>
              <a:rPr lang="en-US" sz="1350" b="1" spc="100" kern="0" dirty="0">
                <a:solidFill>
                  <a:srgbClr val="4A6B5D"/>
                </a:solidFill>
                <a:latin typeface="Arial" pitchFamily="34" charset="0"/>
                <a:ea typeface="Arial" pitchFamily="34" charset="-122"/>
                <a:cs typeface="Arial" pitchFamily="34" charset="-120"/>
              </a:rPr>
              <a:t>MEANING   </a:t>
            </a:r>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what it therefore says about the person, place, or event.</a:t>
            </a:r>
            <a:endParaRPr lang="en-US" sz="1350" dirty="0"/>
          </a:p>
        </p:txBody>
      </p:sp>
      <p:pic>
        <p:nvPicPr>
          <p:cNvPr id="11" name="Image 0" descr="/Users/dogan/Documents/Vaults/Courses/wiki/classes/media-studies/decks/_build/img/crops/kane-rally_a935.jpg">    </p:cNvPr>
          <p:cNvPicPr>
            <a:picLocks noChangeAspect="1"/>
          </p:cNvPicPr>
          <p:nvPr/>
        </p:nvPicPr>
        <p:blipFill>
          <a:blip r:embed="rId1"/>
          <a:stretch>
            <a:fillRect/>
          </a:stretch>
        </p:blipFill>
        <p:spPr>
          <a:xfrm>
            <a:off x="7452360" y="1097280"/>
            <a:ext cx="3931920" cy="4206240"/>
          </a:xfrm>
          <a:prstGeom prst="rect">
            <a:avLst/>
          </a:prstGeom>
        </p:spPr>
      </p:pic>
      <p:sp>
        <p:nvSpPr>
          <p:cNvPr id="12" name="Text 9"/>
          <p:cNvSpPr/>
          <p:nvPr/>
        </p:nvSpPr>
        <p:spPr>
          <a:xfrm>
            <a:off x="7452360" y="5349240"/>
            <a:ext cx="3931920" cy="45720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Citizen Kane (1941): the low angle the sentences argue about</a:t>
            </a:r>
            <a:endParaRPr lang="en-US" sz="1000" dirty="0"/>
          </a:p>
        </p:txBody>
      </p:sp>
      <p:sp>
        <p:nvSpPr>
          <p:cNvPr id="13" name="Shape 10"/>
          <p:cNvSpPr/>
          <p:nvPr/>
        </p:nvSpPr>
        <p:spPr>
          <a:xfrm>
            <a:off x="822960" y="6382512"/>
            <a:ext cx="10543032" cy="0"/>
          </a:xfrm>
          <a:prstGeom prst="line">
            <a:avLst/>
          </a:prstGeom>
          <a:noFill/>
          <a:ln w="9525">
            <a:solidFill>
              <a:srgbClr val="D9D4C4"/>
            </a:solidFill>
            <a:prstDash val="solid"/>
          </a:ln>
        </p:spPr>
      </p:sp>
      <p:sp>
        <p:nvSpPr>
          <p:cNvPr id="14"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WORKED EXAMPLE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PEEM, ALL FOUR MOVES, ONE PARAGRAPH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good looks like</a:t>
            </a:r>
            <a:endParaRPr lang="en-US" sz="3200" dirty="0"/>
          </a:p>
        </p:txBody>
      </p:sp>
      <p:sp>
        <p:nvSpPr>
          <p:cNvPr id="6" name="Shape 4"/>
          <p:cNvSpPr/>
          <p:nvPr/>
        </p:nvSpPr>
        <p:spPr>
          <a:xfrm>
            <a:off x="822960" y="1828800"/>
            <a:ext cx="10543032" cy="2377440"/>
          </a:xfrm>
          <a:prstGeom prst="rect">
            <a:avLst/>
          </a:prstGeom>
          <a:solidFill>
            <a:srgbClr val="E8EFE7"/>
          </a:solidFill>
          <a:ln/>
        </p:spPr>
      </p:sp>
      <p:sp>
        <p:nvSpPr>
          <p:cNvPr id="7" name="Text 5"/>
          <p:cNvSpPr/>
          <p:nvPr/>
        </p:nvSpPr>
        <p:spPr>
          <a:xfrm>
            <a:off x="1143000" y="2011680"/>
            <a:ext cx="9902952" cy="2011680"/>
          </a:xfrm>
          <a:prstGeom prst="rect">
            <a:avLst/>
          </a:prstGeom>
          <a:noFill/>
          <a:ln/>
        </p:spPr>
        <p:txBody>
          <a:bodyPr wrap="square" lIns="0" tIns="0" rIns="0" bIns="0" rtlCol="0" anchor="ctr"/>
          <a:lstStyle/>
          <a:p>
            <a:pPr indent="0" marL="0">
              <a:lnSpc>
                <a:spcPts val="2800"/>
              </a:lnSpc>
              <a:buNone/>
            </a:pPr>
            <a:r>
              <a:rPr lang="en-US" sz="1900" dirty="0">
                <a:solidFill>
                  <a:srgbClr val="24313F"/>
                </a:solidFill>
                <a:latin typeface="Georgia" pitchFamily="34" charset="0"/>
                <a:ea typeface="Georgia" pitchFamily="34" charset="-122"/>
                <a:cs typeface="Georgia" pitchFamily="34" charset="-120"/>
              </a:rPr>
              <a:t>The extract repeatedly frames the detective in low-angle mid-shots [Evidence]. This constructs his institutional authority [Point]. The viewer is positioned beneath him, so his power feels like a physical fact of the room [Effect]. The police are therefore represented as a power that does not need to argue for itself [Meaning].</a:t>
            </a:r>
            <a:endParaRPr lang="en-US" sz="1900" dirty="0"/>
          </a:p>
        </p:txBody>
      </p:sp>
      <p:sp>
        <p:nvSpPr>
          <p:cNvPr id="8" name="Text 6"/>
          <p:cNvSpPr/>
          <p:nvPr/>
        </p:nvSpPr>
        <p:spPr>
          <a:xfrm>
            <a:off x="822960" y="4480560"/>
            <a:ext cx="10543032" cy="594360"/>
          </a:xfrm>
          <a:prstGeom prst="rect">
            <a:avLst/>
          </a:prstGeom>
          <a:noFill/>
          <a:ln/>
        </p:spPr>
        <p:txBody>
          <a:bodyPr wrap="square" lIns="0" tIns="0" rIns="0" bIns="0" rtlCol="0" anchor="t"/>
          <a:lstStyle/>
          <a:p>
            <a:pPr indent="0" marL="0">
              <a:lnSpc>
                <a:spcPts val="1900"/>
              </a:lnSpc>
              <a:buNone/>
            </a:pPr>
            <a:r>
              <a:rPr lang="en-US" sz="1200" b="1" spc="100" kern="0" dirty="0">
                <a:solidFill>
                  <a:srgbClr val="4A6B5D"/>
                </a:solidFill>
                <a:latin typeface="Arial" pitchFamily="34" charset="0"/>
                <a:ea typeface="Arial" pitchFamily="34" charset="-122"/>
                <a:cs typeface="Arial" pitchFamily="34" charset="-120"/>
              </a:rPr>
              <a:t>CHECK   </a:t>
            </a:r>
            <a:pPr indent="0" marL="0">
              <a:lnSpc>
                <a:spcPts val="1900"/>
              </a:lnSpc>
              <a:buNone/>
            </a:pPr>
            <a:r>
              <a:rPr lang="en-US" sz="1400" dirty="0">
                <a:solidFill>
                  <a:srgbClr val="4A6B5D"/>
                </a:solidFill>
                <a:latin typeface="Georgia" pitchFamily="34" charset="0"/>
                <a:ea typeface="Georgia" pitchFamily="34" charset="-122"/>
                <a:cs typeface="Georgia" pitchFamily="34" charset="-120"/>
              </a:rPr>
              <a:t>No sentence could swap places with another. Each adds something new.</a:t>
            </a:r>
            <a:endParaRPr lang="en-US" sz="1200" dirty="0"/>
          </a:p>
          <a:p>
            <a:pPr indent="0" marL="0">
              <a:lnSpc>
                <a:spcPts val="1900"/>
              </a:lnSpc>
              <a:buNone/>
            </a:pPr>
            <a:r>
              <a:rPr lang="en-US" sz="1200" b="1" spc="100" kern="0" dirty="0">
                <a:solidFill>
                  <a:srgbClr val="4A6B5D"/>
                </a:solidFill>
                <a:latin typeface="Arial" pitchFamily="34" charset="0"/>
                <a:ea typeface="Arial" pitchFamily="34" charset="-122"/>
                <a:cs typeface="Arial" pitchFamily="34" charset="-120"/>
              </a:rPr>
              <a:t>TASK   </a:t>
            </a:r>
            <a:pPr indent="0" marL="0">
              <a:lnSpc>
                <a:spcPts val="1900"/>
              </a:lnSpc>
              <a:buNone/>
            </a:pPr>
            <a:r>
              <a:rPr lang="en-US" sz="1400" dirty="0">
                <a:solidFill>
                  <a:srgbClr val="4A6B5D"/>
                </a:solidFill>
                <a:latin typeface="Georgia" pitchFamily="34" charset="0"/>
                <a:ea typeface="Georgia" pitchFamily="34" charset="-122"/>
                <a:cs typeface="Georgia" pitchFamily="34" charset="-120"/>
              </a:rPr>
              <a:t>Write the four labels in the margin of your CS7 rewrite. On Wednesday, the labels come off.</a:t>
            </a:r>
            <a:endParaRPr lang="en-US" sz="12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SCREENING PROTOCOL</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PAPER'S RULE, OUR SPLIT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viewings, one extract</a:t>
            </a:r>
            <a:endParaRPr lang="en-US" sz="3200" dirty="0"/>
          </a:p>
        </p:txBody>
      </p:sp>
      <p:sp>
        <p:nvSpPr>
          <p:cNvPr id="6" name="Shape 4"/>
          <p:cNvSpPr/>
          <p:nvPr/>
        </p:nvSpPr>
        <p:spPr>
          <a:xfrm>
            <a:off x="2140839" y="3200400"/>
            <a:ext cx="7907274" cy="0"/>
          </a:xfrm>
          <a:prstGeom prst="line">
            <a:avLst/>
          </a:prstGeom>
          <a:noFill/>
          <a:ln w="19050">
            <a:solidFill>
              <a:srgbClr val="8AA394"/>
            </a:solidFill>
            <a:prstDash val="solid"/>
          </a:ln>
        </p:spPr>
      </p:sp>
      <p:sp>
        <p:nvSpPr>
          <p:cNvPr id="7" name="Text 5"/>
          <p:cNvSpPr/>
          <p:nvPr/>
        </p:nvSpPr>
        <p:spPr>
          <a:xfrm>
            <a:off x="1866519"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932688"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First</a:t>
            </a:r>
            <a:endParaRPr lang="en-US" sz="1800" dirty="0"/>
          </a:p>
        </p:txBody>
      </p:sp>
      <p:sp>
        <p:nvSpPr>
          <p:cNvPr id="9" name="Text 7"/>
          <p:cNvSpPr/>
          <p:nvPr/>
        </p:nvSpPr>
        <p:spPr>
          <a:xfrm>
            <a:off x="932688"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JUST WATCH</a:t>
            </a:r>
            <a:endParaRPr lang="en-US" sz="950" dirty="0"/>
          </a:p>
        </p:txBody>
      </p:sp>
      <p:sp>
        <p:nvSpPr>
          <p:cNvPr id="10" name="Text 8"/>
          <p:cNvSpPr/>
          <p:nvPr/>
        </p:nvSpPr>
        <p:spPr>
          <a:xfrm>
            <a:off x="969264"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No notes: the paper's own rule. See the whole thing before you dissect it.</a:t>
            </a:r>
            <a:endParaRPr lang="en-US" sz="1250" dirty="0"/>
          </a:p>
        </p:txBody>
      </p:sp>
      <p:sp>
        <p:nvSpPr>
          <p:cNvPr id="11" name="Text 9"/>
          <p:cNvSpPr/>
          <p:nvPr/>
        </p:nvSpPr>
        <p:spPr>
          <a:xfrm>
            <a:off x="4502277"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2</a:t>
            </a:r>
            <a:endParaRPr lang="en-US" sz="2200" dirty="0"/>
          </a:p>
        </p:txBody>
      </p:sp>
      <p:sp>
        <p:nvSpPr>
          <p:cNvPr id="12" name="Text 10"/>
          <p:cNvSpPr/>
          <p:nvPr/>
        </p:nvSpPr>
        <p:spPr>
          <a:xfrm>
            <a:off x="3568446"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Second</a:t>
            </a:r>
            <a:endParaRPr lang="en-US" sz="1800" dirty="0"/>
          </a:p>
        </p:txBody>
      </p:sp>
      <p:sp>
        <p:nvSpPr>
          <p:cNvPr id="13" name="Text 11"/>
          <p:cNvSpPr/>
          <p:nvPr/>
        </p:nvSpPr>
        <p:spPr>
          <a:xfrm>
            <a:off x="3568446"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CAMERA &amp; EDITING</a:t>
            </a:r>
            <a:endParaRPr lang="en-US" sz="950" dirty="0"/>
          </a:p>
        </p:txBody>
      </p:sp>
      <p:sp>
        <p:nvSpPr>
          <p:cNvPr id="14" name="Text 12"/>
          <p:cNvSpPr/>
          <p:nvPr/>
        </p:nvSpPr>
        <p:spPr>
          <a:xfrm>
            <a:off x="3605022"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Track the technical codes: shots, angles, movement, cuts, pace.</a:t>
            </a:r>
            <a:endParaRPr lang="en-US" sz="1250" dirty="0"/>
          </a:p>
        </p:txBody>
      </p:sp>
      <p:sp>
        <p:nvSpPr>
          <p:cNvPr id="15" name="Text 13"/>
          <p:cNvSpPr/>
          <p:nvPr/>
        </p:nvSpPr>
        <p:spPr>
          <a:xfrm>
            <a:off x="7138035"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3</a:t>
            </a:r>
            <a:endParaRPr lang="en-US" sz="2200" dirty="0"/>
          </a:p>
        </p:txBody>
      </p:sp>
      <p:sp>
        <p:nvSpPr>
          <p:cNvPr id="16" name="Text 14"/>
          <p:cNvSpPr/>
          <p:nvPr/>
        </p:nvSpPr>
        <p:spPr>
          <a:xfrm>
            <a:off x="6204204"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Third</a:t>
            </a:r>
            <a:endParaRPr lang="en-US" sz="1800" dirty="0"/>
          </a:p>
        </p:txBody>
      </p:sp>
      <p:sp>
        <p:nvSpPr>
          <p:cNvPr id="17" name="Text 15"/>
          <p:cNvSpPr/>
          <p:nvPr/>
        </p:nvSpPr>
        <p:spPr>
          <a:xfrm>
            <a:off x="6204204"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SOUND &amp; MISE-EN-SCENE</a:t>
            </a:r>
            <a:endParaRPr lang="en-US" sz="950" dirty="0"/>
          </a:p>
        </p:txBody>
      </p:sp>
      <p:sp>
        <p:nvSpPr>
          <p:cNvPr id="18" name="Text 16"/>
          <p:cNvSpPr/>
          <p:nvPr/>
        </p:nvSpPr>
        <p:spPr>
          <a:xfrm>
            <a:off x="6240780"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Music, silence, diegetic sound; setting, props, dress, gesture.</a:t>
            </a:r>
            <a:endParaRPr lang="en-US" sz="1250" dirty="0"/>
          </a:p>
        </p:txBody>
      </p:sp>
      <p:sp>
        <p:nvSpPr>
          <p:cNvPr id="19" name="Text 17"/>
          <p:cNvSpPr/>
          <p:nvPr/>
        </p:nvSpPr>
        <p:spPr>
          <a:xfrm>
            <a:off x="9773793"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4</a:t>
            </a:r>
            <a:endParaRPr lang="en-US" sz="2200" dirty="0"/>
          </a:p>
        </p:txBody>
      </p:sp>
      <p:sp>
        <p:nvSpPr>
          <p:cNvPr id="20" name="Text 18"/>
          <p:cNvSpPr/>
          <p:nvPr/>
        </p:nvSpPr>
        <p:spPr>
          <a:xfrm>
            <a:off x="8839962"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Fourth</a:t>
            </a:r>
            <a:endParaRPr lang="en-US" sz="1800" dirty="0"/>
          </a:p>
        </p:txBody>
      </p:sp>
      <p:sp>
        <p:nvSpPr>
          <p:cNvPr id="21" name="Text 19"/>
          <p:cNvSpPr/>
          <p:nvPr/>
        </p:nvSpPr>
        <p:spPr>
          <a:xfrm>
            <a:off x="8839962"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THE INTEGRATED PASS</a:t>
            </a:r>
            <a:endParaRPr lang="en-US" sz="950" dirty="0"/>
          </a:p>
        </p:txBody>
      </p:sp>
      <p:sp>
        <p:nvSpPr>
          <p:cNvPr id="22" name="Text 20"/>
          <p:cNvSpPr/>
          <p:nvPr/>
        </p:nvSpPr>
        <p:spPr>
          <a:xfrm>
            <a:off x="8876538"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Meaning assembled: what the extract argues, and which codes carry it.</a:t>
            </a:r>
            <a:endParaRPr lang="en-US" sz="1250" dirty="0"/>
          </a:p>
        </p:txBody>
      </p:sp>
      <p:sp>
        <p:nvSpPr>
          <p:cNvPr id="23" name="Text 21"/>
          <p:cNvSpPr/>
          <p:nvPr/>
        </p:nvSpPr>
        <p:spPr>
          <a:xfrm>
            <a:off x="822960" y="5257800"/>
            <a:ext cx="10543032" cy="457200"/>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THE PAPER'S RULE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Four screenings, and no notes during the first. Cambridge fixes only that.</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OUR SPLIT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The per-viewing focus is this course's method. Use it because it works.</a:t>
            </a:r>
            <a:endParaRPr lang="en-US" sz="100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A1 IS MARKED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IN THE OFFICIAL PAPER 2 LANGUAGE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Five criteria, best-fit, 0 to 5 each</a:t>
            </a:r>
            <a:endParaRPr lang="en-US" sz="3000" dirty="0"/>
          </a:p>
        </p:txBody>
      </p:sp>
      <p:sp>
        <p:nvSpPr>
          <p:cNvPr id="6" name="Shape 4"/>
          <p:cNvSpPr/>
          <p:nvPr/>
        </p:nvSpPr>
        <p:spPr>
          <a:xfrm>
            <a:off x="822960" y="1737360"/>
            <a:ext cx="10543032" cy="0"/>
          </a:xfrm>
          <a:prstGeom prst="line">
            <a:avLst/>
          </a:prstGeom>
          <a:noFill/>
          <a:ln w="12700">
            <a:solidFill>
              <a:srgbClr val="24313F"/>
            </a:solidFill>
            <a:prstDash val="solid"/>
          </a:ln>
        </p:spPr>
      </p:sp>
      <p:sp>
        <p:nvSpPr>
          <p:cNvPr id="7" name="Text 5"/>
          <p:cNvSpPr/>
          <p:nvPr/>
        </p:nvSpPr>
        <p:spPr>
          <a:xfrm>
            <a:off x="822960" y="1737360"/>
            <a:ext cx="1463040" cy="54864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AO</a:t>
            </a:r>
            <a:endParaRPr lang="en-US" sz="1100" dirty="0"/>
          </a:p>
        </p:txBody>
      </p:sp>
      <p:sp>
        <p:nvSpPr>
          <p:cNvPr id="8" name="Text 6"/>
          <p:cNvSpPr/>
          <p:nvPr/>
        </p:nvSpPr>
        <p:spPr>
          <a:xfrm>
            <a:off x="2377440" y="1737360"/>
            <a:ext cx="7315200" cy="54864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Criterion</a:t>
            </a:r>
            <a:endParaRPr lang="en-US" sz="1100" dirty="0"/>
          </a:p>
        </p:txBody>
      </p:sp>
      <p:sp>
        <p:nvSpPr>
          <p:cNvPr id="9" name="Text 7"/>
          <p:cNvSpPr/>
          <p:nvPr/>
        </p:nvSpPr>
        <p:spPr>
          <a:xfrm>
            <a:off x="9875520" y="1737360"/>
            <a:ext cx="1463040" cy="548640"/>
          </a:xfrm>
          <a:prstGeom prst="rect">
            <a:avLst/>
          </a:prstGeom>
          <a:noFill/>
          <a:ln/>
        </p:spPr>
        <p:txBody>
          <a:bodyPr wrap="square" lIns="0" tIns="0" rIns="0" bIns="0" rtlCol="0" anchor="ctr"/>
          <a:lstStyle/>
          <a:p>
            <a:pPr algn="r" indent="0" marL="0">
              <a:buNone/>
            </a:pPr>
            <a:r>
              <a:rPr lang="en-US" sz="1100" b="1" spc="100" kern="0" dirty="0">
                <a:solidFill>
                  <a:srgbClr val="7A7F72"/>
                </a:solidFill>
                <a:latin typeface="Arial" pitchFamily="34" charset="0"/>
                <a:ea typeface="Arial" pitchFamily="34" charset="-122"/>
                <a:cs typeface="Arial" pitchFamily="34" charset="-120"/>
              </a:rPr>
              <a:t>Band</a:t>
            </a:r>
            <a:endParaRPr lang="en-US" sz="1100" dirty="0"/>
          </a:p>
        </p:txBody>
      </p:sp>
      <p:sp>
        <p:nvSpPr>
          <p:cNvPr id="10" name="Shape 8"/>
          <p:cNvSpPr/>
          <p:nvPr/>
        </p:nvSpPr>
        <p:spPr>
          <a:xfrm>
            <a:off x="822960" y="2286000"/>
            <a:ext cx="10543032" cy="0"/>
          </a:xfrm>
          <a:prstGeom prst="line">
            <a:avLst/>
          </a:prstGeom>
          <a:noFill/>
          <a:ln w="9525">
            <a:solidFill>
              <a:srgbClr val="D9D4C4"/>
            </a:solidFill>
            <a:prstDash val="solid"/>
          </a:ln>
        </p:spPr>
      </p:sp>
      <p:sp>
        <p:nvSpPr>
          <p:cNvPr id="11" name="Text 9"/>
          <p:cNvSpPr/>
          <p:nvPr/>
        </p:nvSpPr>
        <p:spPr>
          <a:xfrm>
            <a:off x="822960" y="228600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12" name="Text 10"/>
          <p:cNvSpPr/>
          <p:nvPr/>
        </p:nvSpPr>
        <p:spPr>
          <a:xfrm>
            <a:off x="2377440" y="228600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Media Concepts: language and representation</a:t>
            </a:r>
            <a:endParaRPr lang="en-US" sz="1600" dirty="0"/>
          </a:p>
        </p:txBody>
      </p:sp>
      <p:sp>
        <p:nvSpPr>
          <p:cNvPr id="13" name="Text 11"/>
          <p:cNvSpPr/>
          <p:nvPr/>
        </p:nvSpPr>
        <p:spPr>
          <a:xfrm>
            <a:off x="9875520" y="228600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14" name="Shape 12"/>
          <p:cNvSpPr/>
          <p:nvPr/>
        </p:nvSpPr>
        <p:spPr>
          <a:xfrm>
            <a:off x="822960" y="2834640"/>
            <a:ext cx="10543032" cy="0"/>
          </a:xfrm>
          <a:prstGeom prst="line">
            <a:avLst/>
          </a:prstGeom>
          <a:noFill/>
          <a:ln w="9525">
            <a:solidFill>
              <a:srgbClr val="D9D4C4"/>
            </a:solidFill>
            <a:prstDash val="solid"/>
          </a:ln>
        </p:spPr>
      </p:sp>
      <p:sp>
        <p:nvSpPr>
          <p:cNvPr id="15" name="Text 13"/>
          <p:cNvSpPr/>
          <p:nvPr/>
        </p:nvSpPr>
        <p:spPr>
          <a:xfrm>
            <a:off x="822960" y="283464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16" name="Text 14"/>
          <p:cNvSpPr/>
          <p:nvPr/>
        </p:nvSpPr>
        <p:spPr>
          <a:xfrm>
            <a:off x="2377440" y="283464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Contexts and Critical Debates</a:t>
            </a:r>
            <a:endParaRPr lang="en-US" sz="1600" dirty="0"/>
          </a:p>
        </p:txBody>
      </p:sp>
      <p:sp>
        <p:nvSpPr>
          <p:cNvPr id="17" name="Text 15"/>
          <p:cNvSpPr/>
          <p:nvPr/>
        </p:nvSpPr>
        <p:spPr>
          <a:xfrm>
            <a:off x="9875520" y="283464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18" name="Shape 16"/>
          <p:cNvSpPr/>
          <p:nvPr/>
        </p:nvSpPr>
        <p:spPr>
          <a:xfrm>
            <a:off x="822960" y="3383280"/>
            <a:ext cx="10543032" cy="0"/>
          </a:xfrm>
          <a:prstGeom prst="line">
            <a:avLst/>
          </a:prstGeom>
          <a:noFill/>
          <a:ln w="9525">
            <a:solidFill>
              <a:srgbClr val="D9D4C4"/>
            </a:solidFill>
            <a:prstDash val="solid"/>
          </a:ln>
        </p:spPr>
      </p:sp>
      <p:sp>
        <p:nvSpPr>
          <p:cNvPr id="19" name="Text 17"/>
          <p:cNvSpPr/>
          <p:nvPr/>
        </p:nvSpPr>
        <p:spPr>
          <a:xfrm>
            <a:off x="822960" y="338328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20" name="Text 18"/>
          <p:cNvSpPr/>
          <p:nvPr/>
        </p:nvSpPr>
        <p:spPr>
          <a:xfrm>
            <a:off x="2377440" y="338328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Use of Terminology</a:t>
            </a:r>
            <a:endParaRPr lang="en-US" sz="1600" dirty="0"/>
          </a:p>
        </p:txBody>
      </p:sp>
      <p:sp>
        <p:nvSpPr>
          <p:cNvPr id="21" name="Text 19"/>
          <p:cNvSpPr/>
          <p:nvPr/>
        </p:nvSpPr>
        <p:spPr>
          <a:xfrm>
            <a:off x="9875520" y="338328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22" name="Shape 20"/>
          <p:cNvSpPr/>
          <p:nvPr/>
        </p:nvSpPr>
        <p:spPr>
          <a:xfrm>
            <a:off x="822960" y="3931920"/>
            <a:ext cx="10543032" cy="0"/>
          </a:xfrm>
          <a:prstGeom prst="line">
            <a:avLst/>
          </a:prstGeom>
          <a:noFill/>
          <a:ln w="9525">
            <a:solidFill>
              <a:srgbClr val="D9D4C4"/>
            </a:solidFill>
            <a:prstDash val="solid"/>
          </a:ln>
        </p:spPr>
      </p:sp>
      <p:sp>
        <p:nvSpPr>
          <p:cNvPr id="23" name="Text 21"/>
          <p:cNvSpPr/>
          <p:nvPr/>
        </p:nvSpPr>
        <p:spPr>
          <a:xfrm>
            <a:off x="822960" y="393192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AO2</a:t>
            </a:r>
            <a:endParaRPr lang="en-US" sz="1300" dirty="0"/>
          </a:p>
        </p:txBody>
      </p:sp>
      <p:sp>
        <p:nvSpPr>
          <p:cNvPr id="24" name="Text 22"/>
          <p:cNvSpPr/>
          <p:nvPr/>
        </p:nvSpPr>
        <p:spPr>
          <a:xfrm>
            <a:off x="2377440" y="393192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Analysis of how meaning is created</a:t>
            </a:r>
            <a:endParaRPr lang="en-US" sz="1600" dirty="0"/>
          </a:p>
        </p:txBody>
      </p:sp>
      <p:sp>
        <p:nvSpPr>
          <p:cNvPr id="25" name="Text 23"/>
          <p:cNvSpPr/>
          <p:nvPr/>
        </p:nvSpPr>
        <p:spPr>
          <a:xfrm>
            <a:off x="9875520" y="393192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26" name="Shape 24"/>
          <p:cNvSpPr/>
          <p:nvPr/>
        </p:nvSpPr>
        <p:spPr>
          <a:xfrm>
            <a:off x="822960" y="4480560"/>
            <a:ext cx="10543032" cy="0"/>
          </a:xfrm>
          <a:prstGeom prst="line">
            <a:avLst/>
          </a:prstGeom>
          <a:noFill/>
          <a:ln w="9525">
            <a:solidFill>
              <a:srgbClr val="D9D4C4"/>
            </a:solidFill>
            <a:prstDash val="solid"/>
          </a:ln>
        </p:spPr>
      </p:sp>
      <p:sp>
        <p:nvSpPr>
          <p:cNvPr id="27" name="Text 25"/>
          <p:cNvSpPr/>
          <p:nvPr/>
        </p:nvSpPr>
        <p:spPr>
          <a:xfrm>
            <a:off x="822960" y="448056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AO2</a:t>
            </a:r>
            <a:endParaRPr lang="en-US" sz="1300" dirty="0"/>
          </a:p>
        </p:txBody>
      </p:sp>
      <p:sp>
        <p:nvSpPr>
          <p:cNvPr id="28" name="Text 26"/>
          <p:cNvSpPr/>
          <p:nvPr/>
        </p:nvSpPr>
        <p:spPr>
          <a:xfrm>
            <a:off x="2377440" y="448056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Use of Examples</a:t>
            </a:r>
            <a:endParaRPr lang="en-US" sz="1600" dirty="0"/>
          </a:p>
        </p:txBody>
      </p:sp>
      <p:sp>
        <p:nvSpPr>
          <p:cNvPr id="29" name="Text 27"/>
          <p:cNvSpPr/>
          <p:nvPr/>
        </p:nvSpPr>
        <p:spPr>
          <a:xfrm>
            <a:off x="9875520" y="448056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30" name="Shape 28"/>
          <p:cNvSpPr/>
          <p:nvPr/>
        </p:nvSpPr>
        <p:spPr>
          <a:xfrm>
            <a:off x="822960" y="5029200"/>
            <a:ext cx="10543032" cy="0"/>
          </a:xfrm>
          <a:prstGeom prst="line">
            <a:avLst/>
          </a:prstGeom>
          <a:noFill/>
          <a:ln w="9525">
            <a:solidFill>
              <a:srgbClr val="D9D4C4"/>
            </a:solidFill>
            <a:prstDash val="solid"/>
          </a:ln>
        </p:spPr>
      </p:sp>
      <p:sp>
        <p:nvSpPr>
          <p:cNvPr id="31" name="Text 29"/>
          <p:cNvSpPr/>
          <p:nvPr/>
        </p:nvSpPr>
        <p:spPr>
          <a:xfrm>
            <a:off x="822960" y="5212080"/>
            <a:ext cx="10543032" cy="36576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Band words: 5 Sophisticated  ·  4 Thorough  ·  3 Clear  ·  2 Limited  ·  1 Basic. So A1 is AO1 60 / AO2 40.</a:t>
            </a:r>
            <a:endParaRPr lang="en-US" sz="1200" dirty="0"/>
          </a:p>
        </p:txBody>
      </p:sp>
      <p:sp>
        <p:nvSpPr>
          <p:cNvPr id="32" name="Shape 30"/>
          <p:cNvSpPr/>
          <p:nvPr/>
        </p:nvSpPr>
        <p:spPr>
          <a:xfrm>
            <a:off x="822960" y="6382512"/>
            <a:ext cx="10543032" cy="0"/>
          </a:xfrm>
          <a:prstGeom prst="line">
            <a:avLst/>
          </a:prstGeom>
          <a:noFill/>
          <a:ln w="9525">
            <a:solidFill>
              <a:srgbClr val="D9D4C4"/>
            </a:solidFill>
            <a:prstDash val="solid"/>
          </a:ln>
        </p:spPr>
      </p:sp>
      <p:sp>
        <p:nvSpPr>
          <p:cNvPr id="33" name="Text 3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4" name="Text 3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822960" y="155448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WEDNESDAY, FULL CONDITIONS</a:t>
            </a:r>
            <a:endParaRPr lang="en-US" sz="1100" dirty="0"/>
          </a:p>
        </p:txBody>
      </p:sp>
      <p:sp>
        <p:nvSpPr>
          <p:cNvPr id="3" name="Text 1"/>
          <p:cNvSpPr/>
          <p:nvPr/>
        </p:nvSpPr>
        <p:spPr>
          <a:xfrm>
            <a:off x="822960" y="2103120"/>
            <a:ext cx="10424160" cy="2194560"/>
          </a:xfrm>
          <a:prstGeom prst="rect">
            <a:avLst/>
          </a:prstGeom>
          <a:noFill/>
          <a:ln/>
        </p:spPr>
        <p:txBody>
          <a:bodyPr wrap="square" lIns="0" tIns="0" rIns="0" bIns="0" rtlCol="0" anchor="ctr"/>
          <a:lstStyle/>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Sixty minutes.</a:t>
            </a:r>
            <a:endParaRPr lang="en-US" sz="5000" dirty="0"/>
          </a:p>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One unseen extract.</a:t>
            </a:r>
            <a:endParaRPr lang="en-US" sz="5000" dirty="0"/>
          </a:p>
        </p:txBody>
      </p:sp>
      <p:sp>
        <p:nvSpPr>
          <p:cNvPr id="4" name="Shape 2"/>
          <p:cNvSpPr/>
          <p:nvPr/>
        </p:nvSpPr>
        <p:spPr>
          <a:xfrm>
            <a:off x="822960" y="4572000"/>
            <a:ext cx="914400" cy="0"/>
          </a:xfrm>
          <a:prstGeom prst="line">
            <a:avLst/>
          </a:prstGeom>
          <a:noFill/>
          <a:ln w="31750">
            <a:solidFill>
              <a:srgbClr val="8C3A38"/>
            </a:solidFill>
            <a:prstDash val="solid"/>
          </a:ln>
        </p:spPr>
      </p:sp>
      <p:sp>
        <p:nvSpPr>
          <p:cNvPr id="5" name="Text 3"/>
          <p:cNvSpPr/>
          <p:nvPr/>
        </p:nvSpPr>
        <p:spPr>
          <a:xfrm>
            <a:off x="822960" y="4754880"/>
            <a:ext cx="10058400" cy="548640"/>
          </a:xfrm>
          <a:prstGeom prst="rect">
            <a:avLst/>
          </a:prstGeom>
          <a:noFill/>
          <a:ln/>
        </p:spPr>
        <p:txBody>
          <a:bodyPr wrap="square" lIns="0" tIns="0" rIns="0" bIns="0" rtlCol="0" anchor="t"/>
          <a:lstStyle/>
          <a:p>
            <a:pPr indent="0" marL="0">
              <a:lnSpc>
                <a:spcPts val="1900"/>
              </a:lnSpc>
              <a:buNone/>
            </a:pPr>
            <a:r>
              <a:rPr lang="en-US" sz="1400" spc="100" kern="0" dirty="0">
                <a:solidFill>
                  <a:srgbClr val="4A6B5D"/>
                </a:solidFill>
                <a:latin typeface="Arial" pitchFamily="34" charset="0"/>
                <a:ea typeface="Arial" pitchFamily="34" charset="-122"/>
                <a:cs typeface="Arial" pitchFamily="34" charset="-120"/>
              </a:rPr>
              <a:t>The question follows the Paper 2 stem: how does the extract construct meaning through camera, sound, mise-en-scene and editing? Everything since Week 1 counts.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ASSESSMENT · A1</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FIRST ATTAINMENT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A1 sits Wednesday 14 October</a:t>
            </a:r>
            <a:endParaRPr lang="en-US" sz="3400" dirty="0"/>
          </a:p>
        </p:txBody>
      </p:sp>
      <p:sp>
        <p:nvSpPr>
          <p:cNvPr id="6" name="Shape 4"/>
          <p:cNvSpPr/>
          <p:nvPr/>
        </p:nvSpPr>
        <p:spPr>
          <a:xfrm>
            <a:off x="822960" y="2468880"/>
            <a:ext cx="914400" cy="0"/>
          </a:xfrm>
          <a:prstGeom prst="line">
            <a:avLst/>
          </a:prstGeom>
          <a:noFill/>
          <a:ln w="31750">
            <a:solidFill>
              <a:srgbClr val="8C3A38"/>
            </a:solidFill>
            <a:prstDash val="solid"/>
          </a:ln>
        </p:spPr>
      </p:sp>
      <p:sp>
        <p:nvSpPr>
          <p:cNvPr id="7" name="Text 5"/>
          <p:cNvSpPr/>
          <p:nvPr/>
        </p:nvSpPr>
        <p:spPr>
          <a:xfrm>
            <a:off x="822960" y="2697480"/>
            <a:ext cx="9875520" cy="1920240"/>
          </a:xfrm>
          <a:prstGeom prst="rect">
            <a:avLst/>
          </a:prstGeom>
          <a:noFill/>
          <a:ln/>
        </p:spPr>
        <p:txBody>
          <a:bodyPr wrap="square" lIns="0" tIns="0" rIns="0" bIns="0" rtlCol="0" anchor="t"/>
          <a:lstStyle/>
          <a:p>
            <a:pPr indent="0" marL="0">
              <a:lnSpc>
                <a:spcPts val="2500"/>
              </a:lnSpc>
              <a:buNone/>
            </a:pPr>
            <a:r>
              <a:rPr lang="en-US" sz="1500" b="1" spc="100" kern="0" dirty="0">
                <a:solidFill>
                  <a:srgbClr val="4A6B5D"/>
                </a:solidFill>
                <a:latin typeface="Arial" pitchFamily="34" charset="0"/>
                <a:ea typeface="Arial" pitchFamily="34" charset="-122"/>
                <a:cs typeface="Arial" pitchFamily="34" charset="-120"/>
              </a:rPr>
              <a:t>FORMAT   </a:t>
            </a:r>
            <a:pPr indent="0" marL="0">
              <a:lnSpc>
                <a:spcPts val="2500"/>
              </a:lnSpc>
              <a:buNone/>
            </a:pPr>
            <a:r>
              <a:rPr lang="en-US" sz="1700" dirty="0">
                <a:solidFill>
                  <a:srgbClr val="24313F"/>
                </a:solidFill>
                <a:latin typeface="Georgia" pitchFamily="34" charset="0"/>
                <a:ea typeface="Georgia" pitchFamily="34" charset="-122"/>
                <a:cs typeface="Georgia" pitchFamily="34" charset="-120"/>
              </a:rPr>
              <a:t>Sixty minutes, full exam conditions. Media language analysis of an unseen TV-drama extract.</a:t>
            </a:r>
            <a:endParaRPr lang="en-US" sz="1500" dirty="0"/>
          </a:p>
          <a:p>
            <a:pPr indent="0" marL="0">
              <a:lnSpc>
                <a:spcPts val="2500"/>
              </a:lnSpc>
              <a:buNone/>
            </a:pPr>
            <a:r>
              <a:rPr lang="en-US" sz="1500" b="1" spc="100" kern="0" dirty="0">
                <a:solidFill>
                  <a:srgbClr val="4A6B5D"/>
                </a:solidFill>
                <a:latin typeface="Arial" pitchFamily="34" charset="0"/>
                <a:ea typeface="Arial" pitchFamily="34" charset="-122"/>
                <a:cs typeface="Arial" pitchFamily="34" charset="-120"/>
              </a:rPr>
              <a:t>MARKED   </a:t>
            </a:r>
            <a:pPr indent="0" marL="0">
              <a:lnSpc>
                <a:spcPts val="2500"/>
              </a:lnSpc>
              <a:buNone/>
            </a:pPr>
            <a:r>
              <a:rPr lang="en-US" sz="1700" dirty="0">
                <a:solidFill>
                  <a:srgbClr val="24313F"/>
                </a:solidFill>
                <a:latin typeface="Georgia" pitchFamily="34" charset="0"/>
                <a:ea typeface="Georgia" pitchFamily="34" charset="-122"/>
                <a:cs typeface="Georgia" pitchFamily="34" charset="-120"/>
              </a:rPr>
              <a:t>With the WS 4.6 rubric, in the official five-criteria language. It transfers straight to Paper 2.</a:t>
            </a:r>
            <a:endParaRPr lang="en-US" sz="1500" dirty="0"/>
          </a:p>
          <a:p>
            <a:pPr indent="0" marL="0">
              <a:lnSpc>
                <a:spcPts val="2500"/>
              </a:lnSpc>
              <a:buNone/>
            </a:pPr>
            <a:r>
              <a:rPr lang="en-US" sz="1500" b="1" spc="100" kern="0" dirty="0">
                <a:solidFill>
                  <a:srgbClr val="4A6B5D"/>
                </a:solidFill>
                <a:latin typeface="Arial" pitchFamily="34" charset="0"/>
                <a:ea typeface="Arial" pitchFamily="34" charset="-122"/>
                <a:cs typeface="Arial" pitchFamily="34" charset="-120"/>
              </a:rPr>
              <a:t>RETURNED   </a:t>
            </a:r>
            <a:pPr indent="0" marL="0">
              <a:lnSpc>
                <a:spcPts val="2500"/>
              </a:lnSpc>
              <a:buNone/>
            </a:pPr>
            <a:r>
              <a:rPr lang="en-US" sz="1700" dirty="0">
                <a:solidFill>
                  <a:srgbClr val="24313F"/>
                </a:solidFill>
                <a:latin typeface="Georgia" pitchFamily="34" charset="0"/>
                <a:ea typeface="Georgia" pitchFamily="34" charset="-122"/>
                <a:cs typeface="Georgia" pitchFamily="34" charset="-120"/>
              </a:rPr>
              <a:t>Scripts come back within five working days.</a:t>
            </a:r>
            <a:endParaRPr lang="en-US" sz="1500" dirty="0"/>
          </a:p>
        </p:txBody>
      </p:sp>
      <p:sp>
        <p:nvSpPr>
          <p:cNvPr id="8" name="Text 6"/>
          <p:cNvSpPr/>
          <p:nvPr/>
        </p:nvSpPr>
        <p:spPr>
          <a:xfrm>
            <a:off x="822960" y="4846320"/>
            <a:ext cx="987552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Personal code checklists, built at L02, are returned at the door on the way in.</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2103120"/>
          </a:xfrm>
          <a:prstGeom prst="rect">
            <a:avLst/>
          </a:prstGeom>
          <a:noFill/>
          <a:ln/>
        </p:spPr>
        <p:txBody>
          <a:bodyPr wrap="square" lIns="0" tIns="0" rIns="0" bIns="0" rtlCol="0" anchor="t"/>
          <a:lstStyle/>
          <a:p>
            <a:pPr indent="0" marL="0">
              <a:lnSpc>
                <a:spcPts val="6600"/>
              </a:lnSpc>
              <a:buNone/>
            </a:pPr>
            <a:r>
              <a:rPr lang="en-US" sz="6200" dirty="0">
                <a:solidFill>
                  <a:srgbClr val="FAF8F1"/>
                </a:solidFill>
                <a:latin typeface="Georgia" pitchFamily="34" charset="0"/>
                <a:ea typeface="Georgia" pitchFamily="34" charset="-122"/>
                <a:cs typeface="Georgia" pitchFamily="34" charset="-120"/>
              </a:rPr>
              <a:t>Genre</a:t>
            </a:r>
            <a:endParaRPr lang="en-US" sz="6200" dirty="0"/>
          </a:p>
        </p:txBody>
      </p:sp>
      <p:sp>
        <p:nvSpPr>
          <p:cNvPr id="5" name="Text 3"/>
          <p:cNvSpPr/>
          <p:nvPr/>
        </p:nvSpPr>
        <p:spPr>
          <a:xfrm>
            <a:off x="822960" y="461772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09. Neale, Altman, and a genre claim defended with the codes you spent a month shooting.</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10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2026-08-25T03:12:43Z</dcterms:created>
  <dcterms:modified xsi:type="dcterms:W3CDTF">2026-08-25T03:12:43Z</dcterms:modified>
</cp:coreProperties>
</file>