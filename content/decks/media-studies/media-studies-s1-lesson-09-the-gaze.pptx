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block builds van Zoonen and Mulvey; the double stress-tests Mulvey; hooks reframes the whole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who buys the perfume: who is the looking arranged for? That is the whole week in one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barmaid's gaze and the impossible reflection make the looking refuse to resolve: a painting about who looks at whom.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Olympia's direct, unashamed stare returns the viewer's look: the canonical returned gaze, and a bridge to hooks's oppositional gaze.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7955280" y="822960"/>
            <a:ext cx="3474720" cy="4937760"/>
          </a:xfrm>
          <a:prstGeom prst="rect">
            <a:avLst/>
          </a:prstGeom>
          <a:noFill/>
          <a:ln/>
        </p:spPr>
        <p:txBody>
          <a:bodyPr wrap="square" lIns="0" tIns="0" rIns="0" bIns="0" rtlCol="0" anchor="ctr"/>
          <a:lstStyle/>
          <a:p>
            <a:pPr algn="ctr" indent="0" marL="0">
              <a:buNone/>
            </a:pPr>
            <a:r>
              <a:rPr lang="en-US" sz="30000" dirty="0">
                <a:solidFill>
                  <a:srgbClr val="A3C1AD"/>
                </a:solidFill>
                <a:latin typeface="Georgia" pitchFamily="34" charset="0"/>
                <a:ea typeface="Georgia" pitchFamily="34" charset="-122"/>
                <a:cs typeface="Georgia" pitchFamily="34" charset="-120"/>
              </a:rPr>
              <a:t>IX</a:t>
            </a:r>
            <a:endParaRPr lang="en-US" sz="30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IV</a:t>
            </a:r>
            <a:endParaRPr lang="en-US" sz="1100" dirty="0"/>
          </a:p>
        </p:txBody>
      </p:sp>
      <p:sp>
        <p:nvSpPr>
          <p:cNvPr id="4" name="Text 2"/>
          <p:cNvSpPr/>
          <p:nvPr/>
        </p:nvSpPr>
        <p:spPr>
          <a:xfrm>
            <a:off x="822960" y="1737360"/>
            <a:ext cx="7315200" cy="1371600"/>
          </a:xfrm>
          <a:prstGeom prst="rect">
            <a:avLst/>
          </a:prstGeom>
          <a:noFill/>
          <a:ln/>
        </p:spPr>
        <p:txBody>
          <a:bodyPr wrap="square" lIns="0" tIns="0" rIns="0" bIns="0" rtlCol="0" anchor="t"/>
          <a:lstStyle/>
          <a:p>
            <a:pPr indent="0" marL="0">
              <a:buNone/>
            </a:pPr>
            <a:r>
              <a:rPr lang="en-US" sz="7800" dirty="0">
                <a:solidFill>
                  <a:srgbClr val="24313F"/>
                </a:solidFill>
                <a:latin typeface="Georgia" pitchFamily="34" charset="0"/>
                <a:ea typeface="Georgia" pitchFamily="34" charset="-122"/>
                <a:cs typeface="Georgia" pitchFamily="34" charset="-120"/>
              </a:rPr>
              <a:t>The Gaze</a:t>
            </a:r>
            <a:endParaRPr lang="en-US" sz="7800" dirty="0"/>
          </a:p>
        </p:txBody>
      </p:sp>
      <p:sp>
        <p:nvSpPr>
          <p:cNvPr id="5" name="Shape 3"/>
          <p:cNvSpPr/>
          <p:nvPr/>
        </p:nvSpPr>
        <p:spPr>
          <a:xfrm>
            <a:off x="822960" y="3429000"/>
            <a:ext cx="914400" cy="0"/>
          </a:xfrm>
          <a:prstGeom prst="line">
            <a:avLst/>
          </a:prstGeom>
          <a:noFill/>
          <a:ln w="31750">
            <a:solidFill>
              <a:srgbClr val="8C3A38"/>
            </a:solidFill>
            <a:prstDash val="solid"/>
          </a:ln>
        </p:spPr>
      </p:sp>
      <p:sp>
        <p:nvSpPr>
          <p:cNvPr id="6" name="Text 4"/>
          <p:cNvSpPr/>
          <p:nvPr/>
        </p:nvSpPr>
        <p:spPr>
          <a:xfrm>
            <a:off x="822960" y="36118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Representation · Lesson 09 of 16</a:t>
            </a:r>
            <a:endParaRPr lang="en-US" sz="2200" dirty="0"/>
          </a:p>
        </p:txBody>
      </p:sp>
      <p:sp>
        <p:nvSpPr>
          <p:cNvPr id="7" name="Text 5"/>
          <p:cNvSpPr/>
          <p:nvPr/>
        </p:nvSpPr>
        <p:spPr>
          <a:xfrm>
            <a:off x="822960" y="4114800"/>
            <a:ext cx="82296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Four days  ·  Monday 9 to Friday 13 November</a:t>
            </a:r>
            <a:endParaRPr lang="en-US" sz="1300" dirty="0"/>
          </a:p>
        </p:txBody>
      </p:sp>
      <p:sp>
        <p:nvSpPr>
          <p:cNvPr id="8" name="Text 6"/>
          <p:cNvSpPr/>
          <p:nvPr/>
        </p:nvSpPr>
        <p:spPr>
          <a:xfrm>
            <a:off x="822960" y="4709160"/>
            <a:ext cx="8229600" cy="365760"/>
          </a:xfrm>
          <a:prstGeom prst="rect">
            <a:avLst/>
          </a:prstGeom>
          <a:noFill/>
          <a:ln/>
        </p:spPr>
        <p:txBody>
          <a:bodyPr wrap="square" lIns="0" tIns="0" rIns="0" bIns="0" rtlCol="0" anchor="ctr"/>
          <a:lstStyle/>
          <a:p>
            <a:pPr indent="0" marL="0">
              <a:buNone/>
            </a:pPr>
            <a:r>
              <a:rPr lang="en-US" sz="1600" i="1" dirty="0">
                <a:solidFill>
                  <a:srgbClr val="4A6B5D"/>
                </a:solidFill>
                <a:latin typeface="Georgia" pitchFamily="34" charset="0"/>
                <a:ea typeface="Georgia" pitchFamily="34" charset="-122"/>
                <a:cs typeface="Georgia" pitchFamily="34" charset="-120"/>
              </a:rPr>
              <a:t>Gaze theory taught as live questions, not settled answers.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7772400" y="640080"/>
            <a:ext cx="3840480" cy="5577840"/>
          </a:xfrm>
          <a:prstGeom prst="rect">
            <a:avLst/>
          </a:prstGeom>
          <a:noFill/>
          <a:ln/>
        </p:spPr>
        <p:txBody>
          <a:bodyPr wrap="square" lIns="0" tIns="0" rIns="0" bIns="0" rtlCol="0" anchor="ctr"/>
          <a:lstStyle/>
          <a:p>
            <a:pPr algn="ctr" indent="0" marL="0">
              <a:buNone/>
            </a:pPr>
            <a:r>
              <a:rPr lang="en-US" sz="36000" dirty="0">
                <a:solidFill>
                  <a:srgbClr val="5C7A6B"/>
                </a:solidFill>
                <a:latin typeface="Georgia" pitchFamily="34" charset="0"/>
                <a:ea typeface="Georgia" pitchFamily="34" charset="-122"/>
                <a:cs typeface="Georgia" pitchFamily="34" charset="-120"/>
              </a:rPr>
              <a:t>IX</a:t>
            </a:r>
            <a:endParaRPr lang="en-US" sz="36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WEEK'S QUESTION</a:t>
            </a:r>
            <a:endParaRPr lang="en-US" sz="1100" dirty="0"/>
          </a:p>
        </p:txBody>
      </p:sp>
      <p:sp>
        <p:nvSpPr>
          <p:cNvPr id="4" name="Shape 2"/>
          <p:cNvSpPr/>
          <p:nvPr/>
        </p:nvSpPr>
        <p:spPr>
          <a:xfrm>
            <a:off x="822960" y="2651760"/>
            <a:ext cx="4206240" cy="0"/>
          </a:xfrm>
          <a:prstGeom prst="line">
            <a:avLst/>
          </a:prstGeom>
          <a:noFill/>
          <a:ln w="9525">
            <a:solidFill>
              <a:srgbClr val="8AA394"/>
            </a:solidFill>
            <a:prstDash val="solid"/>
          </a:ln>
        </p:spPr>
      </p:sp>
      <p:sp>
        <p:nvSpPr>
          <p:cNvPr id="5" name="Text 3"/>
          <p:cNvSpPr/>
          <p:nvPr/>
        </p:nvSpPr>
        <p:spPr>
          <a:xfrm>
            <a:off x="822960" y="2788920"/>
            <a:ext cx="7315200" cy="2194560"/>
          </a:xfrm>
          <a:prstGeom prst="rect">
            <a:avLst/>
          </a:prstGeom>
          <a:noFill/>
          <a:ln/>
        </p:spPr>
        <p:txBody>
          <a:bodyPr wrap="square" lIns="0" tIns="0" rIns="0" bIns="0" rtlCol="0" anchor="t"/>
          <a:lstStyle/>
          <a:p>
            <a:pPr indent="0" marL="0">
              <a:lnSpc>
                <a:spcPts val="5200"/>
              </a:lnSpc>
              <a:buNone/>
            </a:pPr>
            <a:r>
              <a:rPr lang="en-US" sz="5000" dirty="0">
                <a:solidFill>
                  <a:srgbClr val="FAF8F1"/>
                </a:solidFill>
                <a:latin typeface="Georgia" pitchFamily="34" charset="0"/>
                <a:ea typeface="Georgia" pitchFamily="34" charset="-122"/>
                <a:cs typeface="Georgia" pitchFamily="34" charset="-120"/>
              </a:rPr>
              <a:t>Who is the looking</a:t>
            </a:r>
            <a:endParaRPr lang="en-US" sz="5000" dirty="0"/>
          </a:p>
          <a:p>
            <a:pPr indent="0" marL="0">
              <a:lnSpc>
                <a:spcPts val="5200"/>
              </a:lnSpc>
              <a:buNone/>
            </a:pPr>
            <a:r>
              <a:rPr lang="en-US" sz="5000" dirty="0">
                <a:solidFill>
                  <a:srgbClr val="FAF8F1"/>
                </a:solidFill>
                <a:latin typeface="Georgia" pitchFamily="34" charset="0"/>
                <a:ea typeface="Georgia" pitchFamily="34" charset="-122"/>
                <a:cs typeface="Georgia" pitchFamily="34" charset="-120"/>
              </a:rPr>
              <a:t>arranged for?</a:t>
            </a:r>
            <a:endParaRPr lang="en-US" sz="5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VAN ZOONEN · GENDER AS PERFORMANCE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ASSEMBLED, NOT PHOTOGRAPHED</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2800" dirty="0">
                <a:solidFill>
                  <a:srgbClr val="24313F"/>
                </a:solidFill>
                <a:latin typeface="Georgia" pitchFamily="34" charset="0"/>
                <a:ea typeface="Georgia" pitchFamily="34" charset="-122"/>
                <a:cs typeface="Georgia" pitchFamily="34" charset="-120"/>
              </a:rPr>
              <a:t>If it is assembled, it can be assembled otherwise</a:t>
            </a:r>
            <a:endParaRPr lang="en-US" sz="2800" dirty="0"/>
          </a:p>
        </p:txBody>
      </p:sp>
      <p:sp>
        <p:nvSpPr>
          <p:cNvPr id="6" name="Text 4"/>
          <p:cNvSpPr/>
          <p:nvPr/>
        </p:nvSpPr>
        <p:spPr>
          <a:xfrm>
            <a:off x="822960" y="1874520"/>
            <a:ext cx="10058400" cy="548640"/>
          </a:xfrm>
          <a:prstGeom prst="rect">
            <a:avLst/>
          </a:prstGeom>
          <a:noFill/>
          <a:ln/>
        </p:spPr>
        <p:txBody>
          <a:bodyPr wrap="square" lIns="0" tIns="0" rIns="0" bIns="0" rtlCol="0" anchor="t"/>
          <a:lstStyle/>
          <a:p>
            <a:pPr indent="0" marL="0">
              <a:lnSpc>
                <a:spcPts val="2400"/>
              </a:lnSpc>
              <a:buNone/>
            </a:pPr>
            <a:r>
              <a:rPr lang="en-US" sz="1800" dirty="0">
                <a:solidFill>
                  <a:srgbClr val="24313F"/>
                </a:solidFill>
                <a:latin typeface="Georgia" pitchFamily="34" charset="0"/>
                <a:ea typeface="Georgia" pitchFamily="34" charset="-122"/>
                <a:cs typeface="Georgia" pitchFamily="34" charset="-120"/>
              </a:rPr>
              <a:t>Gender in media is not a fact being photographed. It is a performance, built from repeatable conventions:</a:t>
            </a:r>
            <a:endParaRPr lang="en-US" sz="1800" dirty="0"/>
          </a:p>
        </p:txBody>
      </p:sp>
      <p:sp>
        <p:nvSpPr>
          <p:cNvPr id="7" name="Text 5"/>
          <p:cNvSpPr/>
          <p:nvPr/>
        </p:nvSpPr>
        <p:spPr>
          <a:xfrm>
            <a:off x="822960" y="2834640"/>
            <a:ext cx="2430018"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Pose</a:t>
            </a:r>
            <a:endParaRPr lang="en-US" sz="1900" dirty="0"/>
          </a:p>
        </p:txBody>
      </p:sp>
      <p:sp>
        <p:nvSpPr>
          <p:cNvPr id="8" name="Shape 6"/>
          <p:cNvSpPr/>
          <p:nvPr/>
        </p:nvSpPr>
        <p:spPr>
          <a:xfrm>
            <a:off x="822960" y="3337560"/>
            <a:ext cx="2292858" cy="0"/>
          </a:xfrm>
          <a:prstGeom prst="line">
            <a:avLst/>
          </a:prstGeom>
          <a:noFill/>
          <a:ln w="9525">
            <a:solidFill>
              <a:srgbClr val="D9D4C4"/>
            </a:solidFill>
            <a:prstDash val="solid"/>
          </a:ln>
        </p:spPr>
      </p:sp>
      <p:sp>
        <p:nvSpPr>
          <p:cNvPr id="9" name="Text 7"/>
          <p:cNvSpPr/>
          <p:nvPr/>
        </p:nvSpPr>
        <p:spPr>
          <a:xfrm>
            <a:off x="822960" y="3456432"/>
            <a:ext cx="2430018" cy="1097280"/>
          </a:xfrm>
          <a:prstGeom prst="rect">
            <a:avLst/>
          </a:prstGeom>
          <a:noFill/>
          <a:ln/>
        </p:spPr>
        <p:txBody>
          <a:bodyPr wrap="square" lIns="0" tIns="0" rIns="0" bIns="0" rtlCol="0" anchor="t"/>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how the body is arranged</a:t>
            </a:r>
            <a:endParaRPr lang="en-US" sz="1450" dirty="0"/>
          </a:p>
        </p:txBody>
      </p:sp>
      <p:sp>
        <p:nvSpPr>
          <p:cNvPr id="10" name="Text 8"/>
          <p:cNvSpPr/>
          <p:nvPr/>
        </p:nvSpPr>
        <p:spPr>
          <a:xfrm>
            <a:off x="3527298" y="2834640"/>
            <a:ext cx="2430018"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Gaze direction</a:t>
            </a:r>
            <a:endParaRPr lang="en-US" sz="1900" dirty="0"/>
          </a:p>
        </p:txBody>
      </p:sp>
      <p:sp>
        <p:nvSpPr>
          <p:cNvPr id="11" name="Shape 9"/>
          <p:cNvSpPr/>
          <p:nvPr/>
        </p:nvSpPr>
        <p:spPr>
          <a:xfrm>
            <a:off x="3527298" y="3337560"/>
            <a:ext cx="2292858" cy="0"/>
          </a:xfrm>
          <a:prstGeom prst="line">
            <a:avLst/>
          </a:prstGeom>
          <a:noFill/>
          <a:ln w="9525">
            <a:solidFill>
              <a:srgbClr val="D9D4C4"/>
            </a:solidFill>
            <a:prstDash val="solid"/>
          </a:ln>
        </p:spPr>
      </p:sp>
      <p:sp>
        <p:nvSpPr>
          <p:cNvPr id="12" name="Text 10"/>
          <p:cNvSpPr/>
          <p:nvPr/>
        </p:nvSpPr>
        <p:spPr>
          <a:xfrm>
            <a:off x="3527298" y="3456432"/>
            <a:ext cx="2430018" cy="1097280"/>
          </a:xfrm>
          <a:prstGeom prst="rect">
            <a:avLst/>
          </a:prstGeom>
          <a:noFill/>
          <a:ln/>
        </p:spPr>
        <p:txBody>
          <a:bodyPr wrap="square" lIns="0" tIns="0" rIns="0" bIns="0" rtlCol="0" anchor="t"/>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where the eyes are sent</a:t>
            </a:r>
            <a:endParaRPr lang="en-US" sz="1450" dirty="0"/>
          </a:p>
        </p:txBody>
      </p:sp>
      <p:sp>
        <p:nvSpPr>
          <p:cNvPr id="13" name="Text 11"/>
          <p:cNvSpPr/>
          <p:nvPr/>
        </p:nvSpPr>
        <p:spPr>
          <a:xfrm>
            <a:off x="6231636" y="2834640"/>
            <a:ext cx="2430018"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Fragmentation</a:t>
            </a:r>
            <a:endParaRPr lang="en-US" sz="1900" dirty="0"/>
          </a:p>
        </p:txBody>
      </p:sp>
      <p:sp>
        <p:nvSpPr>
          <p:cNvPr id="14" name="Shape 12"/>
          <p:cNvSpPr/>
          <p:nvPr/>
        </p:nvSpPr>
        <p:spPr>
          <a:xfrm>
            <a:off x="6231636" y="3337560"/>
            <a:ext cx="2292858" cy="0"/>
          </a:xfrm>
          <a:prstGeom prst="line">
            <a:avLst/>
          </a:prstGeom>
          <a:noFill/>
          <a:ln w="9525">
            <a:solidFill>
              <a:srgbClr val="D9D4C4"/>
            </a:solidFill>
            <a:prstDash val="solid"/>
          </a:ln>
        </p:spPr>
      </p:sp>
      <p:sp>
        <p:nvSpPr>
          <p:cNvPr id="15" name="Text 13"/>
          <p:cNvSpPr/>
          <p:nvPr/>
        </p:nvSpPr>
        <p:spPr>
          <a:xfrm>
            <a:off x="6231636" y="3456432"/>
            <a:ext cx="2430018" cy="1097280"/>
          </a:xfrm>
          <a:prstGeom prst="rect">
            <a:avLst/>
          </a:prstGeom>
          <a:noFill/>
          <a:ln/>
        </p:spPr>
        <p:txBody>
          <a:bodyPr wrap="square" lIns="0" tIns="0" rIns="0" bIns="0" rtlCol="0" anchor="t"/>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the body shown in parts</a:t>
            </a:r>
            <a:endParaRPr lang="en-US" sz="1450" dirty="0"/>
          </a:p>
        </p:txBody>
      </p:sp>
      <p:sp>
        <p:nvSpPr>
          <p:cNvPr id="16" name="Text 14"/>
          <p:cNvSpPr/>
          <p:nvPr/>
        </p:nvSpPr>
        <p:spPr>
          <a:xfrm>
            <a:off x="8935974" y="2834640"/>
            <a:ext cx="2430018"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Setting</a:t>
            </a:r>
            <a:endParaRPr lang="en-US" sz="1900" dirty="0"/>
          </a:p>
        </p:txBody>
      </p:sp>
      <p:sp>
        <p:nvSpPr>
          <p:cNvPr id="17" name="Shape 15"/>
          <p:cNvSpPr/>
          <p:nvPr/>
        </p:nvSpPr>
        <p:spPr>
          <a:xfrm>
            <a:off x="8935974" y="3337560"/>
            <a:ext cx="2292858" cy="0"/>
          </a:xfrm>
          <a:prstGeom prst="line">
            <a:avLst/>
          </a:prstGeom>
          <a:noFill/>
          <a:ln w="9525">
            <a:solidFill>
              <a:srgbClr val="D9D4C4"/>
            </a:solidFill>
            <a:prstDash val="solid"/>
          </a:ln>
        </p:spPr>
      </p:sp>
      <p:sp>
        <p:nvSpPr>
          <p:cNvPr id="18" name="Text 16"/>
          <p:cNvSpPr/>
          <p:nvPr/>
        </p:nvSpPr>
        <p:spPr>
          <a:xfrm>
            <a:off x="8935974" y="3456432"/>
            <a:ext cx="2430018" cy="1097280"/>
          </a:xfrm>
          <a:prstGeom prst="rect">
            <a:avLst/>
          </a:prstGeom>
          <a:noFill/>
          <a:ln/>
        </p:spPr>
        <p:txBody>
          <a:bodyPr wrap="square" lIns="0" tIns="0" rIns="0" bIns="0" rtlCol="0" anchor="t"/>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the world built around it</a:t>
            </a:r>
            <a:endParaRPr lang="en-US" sz="1450" dirty="0"/>
          </a:p>
        </p:txBody>
      </p:sp>
      <p:sp>
        <p:nvSpPr>
          <p:cNvPr id="19" name="Shape 17"/>
          <p:cNvSpPr/>
          <p:nvPr/>
        </p:nvSpPr>
        <p:spPr>
          <a:xfrm>
            <a:off x="822960" y="5029200"/>
            <a:ext cx="914400" cy="0"/>
          </a:xfrm>
          <a:prstGeom prst="line">
            <a:avLst/>
          </a:prstGeom>
          <a:noFill/>
          <a:ln w="31750">
            <a:solidFill>
              <a:srgbClr val="8C3A38"/>
            </a:solidFill>
            <a:prstDash val="solid"/>
          </a:ln>
        </p:spPr>
      </p:sp>
      <p:sp>
        <p:nvSpPr>
          <p:cNvPr id="20" name="Text 18"/>
          <p:cNvSpPr/>
          <p:nvPr/>
        </p:nvSpPr>
        <p:spPr>
          <a:xfrm>
            <a:off x="822960" y="5212080"/>
            <a:ext cx="10058400" cy="45720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Swap the conventions between two ads on paper: what breaks, and why does the break feel like information?</a:t>
            </a:r>
            <a:endParaRPr lang="en-US" sz="1250" dirty="0"/>
          </a:p>
        </p:txBody>
      </p:sp>
      <p:sp>
        <p:nvSpPr>
          <p:cNvPr id="21" name="Shape 19"/>
          <p:cNvSpPr/>
          <p:nvPr/>
        </p:nvSpPr>
        <p:spPr>
          <a:xfrm>
            <a:off x="822960" y="6382512"/>
            <a:ext cx="10543032" cy="0"/>
          </a:xfrm>
          <a:prstGeom prst="line">
            <a:avLst/>
          </a:prstGeom>
          <a:noFill/>
          <a:ln w="9525">
            <a:solidFill>
              <a:srgbClr val="D9D4C4"/>
            </a:solidFill>
            <a:prstDash val="solid"/>
          </a:ln>
        </p:spPr>
      </p:sp>
      <p:sp>
        <p:nvSpPr>
          <p:cNvPr id="22" name="Text 2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3" name="Text 2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ivate/tmp/claude-501/-Users-dogan-Documents-Vaults-Courses/a3a5132d-721f-4cd4-8ddd-e62e2b37b51b/scratchpad/img/crops/manet-folies_a1777.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502920" y="502920"/>
            <a:ext cx="5120640" cy="502920"/>
          </a:xfrm>
          <a:prstGeom prst="rect">
            <a:avLst/>
          </a:prstGeom>
          <a:solidFill>
            <a:srgbClr val="FAF8F1"/>
          </a:solidFill>
          <a:ln/>
        </p:spPr>
      </p:sp>
      <p:sp>
        <p:nvSpPr>
          <p:cNvPr id="4" name="Text 1"/>
          <p:cNvSpPr/>
          <p:nvPr/>
        </p:nvSpPr>
        <p:spPr>
          <a:xfrm>
            <a:off x="704088" y="521208"/>
            <a:ext cx="484632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LOOKING THAT WILL NOT RESOLVE</a:t>
            </a:r>
            <a:endParaRPr lang="en-US" sz="1100" dirty="0"/>
          </a:p>
        </p:txBody>
      </p:sp>
      <p:sp>
        <p:nvSpPr>
          <p:cNvPr id="5" name="Shape 2"/>
          <p:cNvSpPr/>
          <p:nvPr/>
        </p:nvSpPr>
        <p:spPr>
          <a:xfrm>
            <a:off x="457200" y="5230368"/>
            <a:ext cx="8778240" cy="1243584"/>
          </a:xfrm>
          <a:prstGeom prst="rect">
            <a:avLst/>
          </a:prstGeom>
          <a:solidFill>
            <a:srgbClr val="FAF8F1"/>
          </a:solidFill>
          <a:ln/>
        </p:spPr>
      </p:sp>
      <p:sp>
        <p:nvSpPr>
          <p:cNvPr id="6" name="Shape 3"/>
          <p:cNvSpPr/>
          <p:nvPr/>
        </p:nvSpPr>
        <p:spPr>
          <a:xfrm>
            <a:off x="676656" y="5468112"/>
            <a:ext cx="731520" cy="0"/>
          </a:xfrm>
          <a:prstGeom prst="line">
            <a:avLst/>
          </a:prstGeom>
          <a:noFill/>
          <a:ln w="28575">
            <a:solidFill>
              <a:srgbClr val="8C3A38"/>
            </a:solidFill>
            <a:prstDash val="solid"/>
          </a:ln>
        </p:spPr>
      </p:sp>
      <p:sp>
        <p:nvSpPr>
          <p:cNvPr id="7" name="Text 4"/>
          <p:cNvSpPr/>
          <p:nvPr/>
        </p:nvSpPr>
        <p:spPr>
          <a:xfrm>
            <a:off x="676656" y="5541264"/>
            <a:ext cx="8339328" cy="585216"/>
          </a:xfrm>
          <a:prstGeom prst="rect">
            <a:avLst/>
          </a:prstGeom>
          <a:noFill/>
          <a:ln/>
        </p:spPr>
        <p:txBody>
          <a:bodyPr wrap="square" lIns="0" tIns="0" rIns="0" bIns="0" rtlCol="0" anchor="t"/>
          <a:lstStyle/>
          <a:p>
            <a:pPr indent="0" marL="0">
              <a:lnSpc>
                <a:spcPts val="2200"/>
              </a:lnSpc>
              <a:buNone/>
            </a:pPr>
            <a:r>
              <a:rPr lang="en-US" sz="1800" dirty="0">
                <a:solidFill>
                  <a:srgbClr val="24313F"/>
                </a:solidFill>
                <a:latin typeface="Georgia" pitchFamily="34" charset="0"/>
                <a:ea typeface="Georgia" pitchFamily="34" charset="-122"/>
                <a:cs typeface="Georgia" pitchFamily="34" charset="-120"/>
              </a:rPr>
              <a:t>The mirror behind her does not add up. Who is she looking at, and who is looking at her?</a:t>
            </a:r>
            <a:endParaRPr lang="en-US" sz="1800" dirty="0"/>
          </a:p>
        </p:txBody>
      </p:sp>
      <p:sp>
        <p:nvSpPr>
          <p:cNvPr id="8" name="Text 5"/>
          <p:cNvSpPr/>
          <p:nvPr/>
        </p:nvSpPr>
        <p:spPr>
          <a:xfrm>
            <a:off x="676656" y="6181344"/>
            <a:ext cx="8339328" cy="256032"/>
          </a:xfrm>
          <a:prstGeom prst="rect">
            <a:avLst/>
          </a:prstGeom>
          <a:no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Edouard Manet, A Bar at the Folies-Bergere, 1882</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MULVEY · A CLAIM FROM 1975</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MADE TO BE TESTED</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Three looks, classically aligned</a:t>
            </a:r>
            <a:endParaRPr lang="en-US" sz="3400" dirty="0"/>
          </a:p>
        </p:txBody>
      </p:sp>
      <p:sp>
        <p:nvSpPr>
          <p:cNvPr id="6" name="Text 4"/>
          <p:cNvSpPr/>
          <p:nvPr/>
        </p:nvSpPr>
        <p:spPr>
          <a:xfrm>
            <a:off x="822960" y="2057400"/>
            <a:ext cx="3246120" cy="640080"/>
          </a:xfrm>
          <a:prstGeom prst="rect">
            <a:avLst/>
          </a:prstGeom>
          <a:noFill/>
          <a:ln/>
        </p:spPr>
        <p:txBody>
          <a:bodyPr wrap="square" lIns="0" tIns="0" rIns="0" bIns="0" rtlCol="0" anchor="ctr"/>
          <a:lstStyle/>
          <a:p>
            <a:pPr indent="0" marL="0">
              <a:buNone/>
            </a:pPr>
            <a:r>
              <a:rPr lang="en-US" sz="3600" dirty="0">
                <a:solidFill>
                  <a:srgbClr val="A3C1AD"/>
                </a:solidFill>
                <a:latin typeface="Georgia" pitchFamily="34" charset="0"/>
                <a:ea typeface="Georgia" pitchFamily="34" charset="-122"/>
                <a:cs typeface="Georgia" pitchFamily="34" charset="-120"/>
              </a:rPr>
              <a:t>01</a:t>
            </a:r>
            <a:endParaRPr lang="en-US" sz="3600" dirty="0"/>
          </a:p>
        </p:txBody>
      </p:sp>
      <p:sp>
        <p:nvSpPr>
          <p:cNvPr id="7" name="Text 5"/>
          <p:cNvSpPr/>
          <p:nvPr/>
        </p:nvSpPr>
        <p:spPr>
          <a:xfrm>
            <a:off x="822960" y="2743200"/>
            <a:ext cx="3246120" cy="50292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The camera's</a:t>
            </a:r>
            <a:endParaRPr lang="en-US" sz="2100" dirty="0"/>
          </a:p>
        </p:txBody>
      </p:sp>
      <p:sp>
        <p:nvSpPr>
          <p:cNvPr id="8" name="Shape 6"/>
          <p:cNvSpPr/>
          <p:nvPr/>
        </p:nvSpPr>
        <p:spPr>
          <a:xfrm>
            <a:off x="822960" y="3291840"/>
            <a:ext cx="3246120" cy="0"/>
          </a:xfrm>
          <a:prstGeom prst="line">
            <a:avLst/>
          </a:prstGeom>
          <a:noFill/>
          <a:ln w="9525">
            <a:solidFill>
              <a:srgbClr val="D9D4C4"/>
            </a:solidFill>
            <a:prstDash val="solid"/>
          </a:ln>
        </p:spPr>
      </p:sp>
      <p:sp>
        <p:nvSpPr>
          <p:cNvPr id="9" name="Text 7"/>
          <p:cNvSpPr/>
          <p:nvPr/>
        </p:nvSpPr>
        <p:spPr>
          <a:xfrm>
            <a:off x="822960" y="3429000"/>
            <a:ext cx="3246120" cy="182880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How the shot itself frames, lingers, and fragments the figure on screen.</a:t>
            </a:r>
            <a:endParaRPr lang="en-US" sz="1600" dirty="0"/>
          </a:p>
        </p:txBody>
      </p:sp>
      <p:sp>
        <p:nvSpPr>
          <p:cNvPr id="10" name="Text 8"/>
          <p:cNvSpPr/>
          <p:nvPr/>
        </p:nvSpPr>
        <p:spPr>
          <a:xfrm>
            <a:off x="4471416" y="2057400"/>
            <a:ext cx="3246120" cy="640080"/>
          </a:xfrm>
          <a:prstGeom prst="rect">
            <a:avLst/>
          </a:prstGeom>
          <a:noFill/>
          <a:ln/>
        </p:spPr>
        <p:txBody>
          <a:bodyPr wrap="square" lIns="0" tIns="0" rIns="0" bIns="0" rtlCol="0" anchor="ctr"/>
          <a:lstStyle/>
          <a:p>
            <a:pPr indent="0" marL="0">
              <a:buNone/>
            </a:pPr>
            <a:r>
              <a:rPr lang="en-US" sz="3600" dirty="0">
                <a:solidFill>
                  <a:srgbClr val="A3C1AD"/>
                </a:solidFill>
                <a:latin typeface="Georgia" pitchFamily="34" charset="0"/>
                <a:ea typeface="Georgia" pitchFamily="34" charset="-122"/>
                <a:cs typeface="Georgia" pitchFamily="34" charset="-120"/>
              </a:rPr>
              <a:t>02</a:t>
            </a:r>
            <a:endParaRPr lang="en-US" sz="3600" dirty="0"/>
          </a:p>
        </p:txBody>
      </p:sp>
      <p:sp>
        <p:nvSpPr>
          <p:cNvPr id="11" name="Text 9"/>
          <p:cNvSpPr/>
          <p:nvPr/>
        </p:nvSpPr>
        <p:spPr>
          <a:xfrm>
            <a:off x="4471416" y="2743200"/>
            <a:ext cx="3246120" cy="50292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The characters'</a:t>
            </a:r>
            <a:endParaRPr lang="en-US" sz="2100" dirty="0"/>
          </a:p>
        </p:txBody>
      </p:sp>
      <p:sp>
        <p:nvSpPr>
          <p:cNvPr id="12" name="Shape 10"/>
          <p:cNvSpPr/>
          <p:nvPr/>
        </p:nvSpPr>
        <p:spPr>
          <a:xfrm>
            <a:off x="4471416" y="3291840"/>
            <a:ext cx="3246120" cy="0"/>
          </a:xfrm>
          <a:prstGeom prst="line">
            <a:avLst/>
          </a:prstGeom>
          <a:noFill/>
          <a:ln w="9525">
            <a:solidFill>
              <a:srgbClr val="D9D4C4"/>
            </a:solidFill>
            <a:prstDash val="solid"/>
          </a:ln>
        </p:spPr>
      </p:sp>
      <p:sp>
        <p:nvSpPr>
          <p:cNvPr id="13" name="Text 11"/>
          <p:cNvSpPr/>
          <p:nvPr/>
        </p:nvSpPr>
        <p:spPr>
          <a:xfrm>
            <a:off x="4471416" y="3429000"/>
            <a:ext cx="3246120" cy="182880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How people within the story look at one another inside the narrative.</a:t>
            </a:r>
            <a:endParaRPr lang="en-US" sz="1600" dirty="0"/>
          </a:p>
        </p:txBody>
      </p:sp>
      <p:sp>
        <p:nvSpPr>
          <p:cNvPr id="14" name="Text 12"/>
          <p:cNvSpPr/>
          <p:nvPr/>
        </p:nvSpPr>
        <p:spPr>
          <a:xfrm>
            <a:off x="8119872" y="2057400"/>
            <a:ext cx="3246120" cy="640080"/>
          </a:xfrm>
          <a:prstGeom prst="rect">
            <a:avLst/>
          </a:prstGeom>
          <a:noFill/>
          <a:ln/>
        </p:spPr>
        <p:txBody>
          <a:bodyPr wrap="square" lIns="0" tIns="0" rIns="0" bIns="0" rtlCol="0" anchor="ctr"/>
          <a:lstStyle/>
          <a:p>
            <a:pPr indent="0" marL="0">
              <a:buNone/>
            </a:pPr>
            <a:r>
              <a:rPr lang="en-US" sz="3600" dirty="0">
                <a:solidFill>
                  <a:srgbClr val="A3C1AD"/>
                </a:solidFill>
                <a:latin typeface="Georgia" pitchFamily="34" charset="0"/>
                <a:ea typeface="Georgia" pitchFamily="34" charset="-122"/>
                <a:cs typeface="Georgia" pitchFamily="34" charset="-120"/>
              </a:rPr>
              <a:t>03</a:t>
            </a:r>
            <a:endParaRPr lang="en-US" sz="3600" dirty="0"/>
          </a:p>
        </p:txBody>
      </p:sp>
      <p:sp>
        <p:nvSpPr>
          <p:cNvPr id="15" name="Text 13"/>
          <p:cNvSpPr/>
          <p:nvPr/>
        </p:nvSpPr>
        <p:spPr>
          <a:xfrm>
            <a:off x="8119872" y="2743200"/>
            <a:ext cx="3246120" cy="50292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The audience's</a:t>
            </a:r>
            <a:endParaRPr lang="en-US" sz="2100" dirty="0"/>
          </a:p>
        </p:txBody>
      </p:sp>
      <p:sp>
        <p:nvSpPr>
          <p:cNvPr id="16" name="Shape 14"/>
          <p:cNvSpPr/>
          <p:nvPr/>
        </p:nvSpPr>
        <p:spPr>
          <a:xfrm>
            <a:off x="8119872" y="3291840"/>
            <a:ext cx="3246120" cy="0"/>
          </a:xfrm>
          <a:prstGeom prst="line">
            <a:avLst/>
          </a:prstGeom>
          <a:noFill/>
          <a:ln w="9525">
            <a:solidFill>
              <a:srgbClr val="D9D4C4"/>
            </a:solidFill>
            <a:prstDash val="solid"/>
          </a:ln>
        </p:spPr>
      </p:sp>
      <p:sp>
        <p:nvSpPr>
          <p:cNvPr id="17" name="Text 15"/>
          <p:cNvSpPr/>
          <p:nvPr/>
        </p:nvSpPr>
        <p:spPr>
          <a:xfrm>
            <a:off x="8119872" y="3429000"/>
            <a:ext cx="3246120" cy="182880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How we are positioned to look, and whose looking we are lent.</a:t>
            </a:r>
            <a:endParaRPr lang="en-US" sz="1600" dirty="0"/>
          </a:p>
        </p:txBody>
      </p:sp>
      <p:sp>
        <p:nvSpPr>
          <p:cNvPr id="18" name="Text 16"/>
          <p:cNvSpPr/>
          <p:nvPr/>
        </p:nvSpPr>
        <p:spPr>
          <a:xfrm>
            <a:off x="822960" y="5486400"/>
            <a:ext cx="10543032" cy="45720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Classically, all three align on woman as spectacle. This is a claim from 1975 about a system, made to be tested, not recited.</a:t>
            </a:r>
            <a:endParaRPr lang="en-US" sz="1250" dirty="0"/>
          </a:p>
        </p:txBody>
      </p:sp>
      <p:sp>
        <p:nvSpPr>
          <p:cNvPr id="19" name="Shape 17"/>
          <p:cNvSpPr/>
          <p:nvPr/>
        </p:nvSpPr>
        <p:spPr>
          <a:xfrm>
            <a:off x="822960" y="6382512"/>
            <a:ext cx="10543032" cy="0"/>
          </a:xfrm>
          <a:prstGeom prst="line">
            <a:avLst/>
          </a:prstGeom>
          <a:noFill/>
          <a:ln w="9525">
            <a:solidFill>
              <a:srgbClr val="D9D4C4"/>
            </a:solidFill>
            <a:prstDash val="solid"/>
          </a:ln>
        </p:spPr>
      </p:sp>
      <p:sp>
        <p:nvSpPr>
          <p:cNvPr id="20" name="Text 1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1" name="Text 1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691640"/>
            <a:ext cx="10424160" cy="3291840"/>
          </a:xfrm>
          <a:prstGeom prst="rect">
            <a:avLst/>
          </a:prstGeom>
          <a:noFill/>
          <a:ln/>
        </p:spPr>
        <p:txBody>
          <a:bodyPr wrap="square" lIns="0" tIns="0" rIns="0" bIns="0" rtlCol="0" anchor="ctr"/>
          <a:lstStyle/>
          <a:p>
            <a:pPr indent="0" marL="0">
              <a:lnSpc>
                <a:spcPts val="4000"/>
              </a:lnSpc>
              <a:buNone/>
            </a:pPr>
            <a:r>
              <a:rPr lang="en-US" sz="3000" dirty="0">
                <a:solidFill>
                  <a:srgbClr val="24313F"/>
                </a:solidFill>
                <a:latin typeface="Georgia" pitchFamily="34" charset="0"/>
                <a:ea typeface="Georgia" pitchFamily="34" charset="-122"/>
                <a:cs typeface="Georgia" pitchFamily="34" charset="-120"/>
              </a:rPr>
              <a:t>In their traditional exhibitionist role, women are simultaneously looked at and displayed... so that they can be said to connote to-be-looked-at-ness.</a:t>
            </a:r>
            <a:endParaRPr lang="en-US" sz="30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Laura Mulvey, Visual Pleasure and Narrative Cinema, 1975</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DECADE TEST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VARIABLE IS ERA</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4000" dirty="0">
                <a:solidFill>
                  <a:srgbClr val="24313F"/>
                </a:solidFill>
                <a:latin typeface="Georgia" pitchFamily="34" charset="0"/>
                <a:ea typeface="Georgia" pitchFamily="34" charset="-122"/>
                <a:cs typeface="Georgia" pitchFamily="34" charset="-120"/>
              </a:rPr>
              <a:t>Hold, shift, or invert?</a:t>
            </a:r>
            <a:endParaRPr lang="en-US" sz="4000" dirty="0"/>
          </a:p>
        </p:txBody>
      </p:sp>
      <p:sp>
        <p:nvSpPr>
          <p:cNvPr id="6" name="Shape 4"/>
          <p:cNvSpPr/>
          <p:nvPr/>
        </p:nvSpPr>
        <p:spPr>
          <a:xfrm>
            <a:off x="822960" y="2514600"/>
            <a:ext cx="914400" cy="0"/>
          </a:xfrm>
          <a:prstGeom prst="line">
            <a:avLst/>
          </a:prstGeom>
          <a:noFill/>
          <a:ln w="31750">
            <a:solidFill>
              <a:srgbClr val="8C3A38"/>
            </a:solidFill>
            <a:prstDash val="solid"/>
          </a:ln>
        </p:spPr>
      </p:sp>
      <p:sp>
        <p:nvSpPr>
          <p:cNvPr id="7" name="Text 5"/>
          <p:cNvSpPr/>
          <p:nvPr/>
        </p:nvSpPr>
        <p:spPr>
          <a:xfrm>
            <a:off x="822960" y="2743200"/>
            <a:ext cx="9966960" cy="2194560"/>
          </a:xfrm>
          <a:prstGeom prst="rect">
            <a:avLst/>
          </a:prstGeom>
          <a:noFill/>
          <a:ln/>
        </p:spPr>
        <p:txBody>
          <a:bodyPr wrap="square" lIns="0" tIns="0" rIns="0" bIns="0" rtlCol="0" anchor="t"/>
          <a:lstStyle/>
          <a:p>
            <a:pPr indent="0" marL="0">
              <a:lnSpc>
                <a:spcPts val="2800"/>
              </a:lnSpc>
              <a:buNone/>
            </a:pPr>
            <a:r>
              <a:rPr lang="en-US" sz="2000" dirty="0">
                <a:solidFill>
                  <a:srgbClr val="24313F"/>
                </a:solidFill>
                <a:latin typeface="Georgia" pitchFamily="34" charset="0"/>
                <a:ea typeface="Georgia" pitchFamily="34" charset="-122"/>
                <a:cs typeface="Georgia" pitchFamily="34" charset="-120"/>
              </a:rPr>
              <a:t>Take a genre pair, one text before 2000 and one after 2018, with a comparable scene function so the only variable is era. Gather timecoded evidence for the camera-look, the character-look, and audience positioning in each. Then reach a verdict with the evidence attached: did the gaze hold, shift, or turn out to be the same structure pointed elsewhere?</a:t>
            </a:r>
            <a:endParaRPr lang="en-US" sz="2000" dirty="0"/>
          </a:p>
        </p:txBody>
      </p:sp>
      <p:sp>
        <p:nvSpPr>
          <p:cNvPr id="8" name="Shape 6"/>
          <p:cNvSpPr/>
          <p:nvPr/>
        </p:nvSpPr>
        <p:spPr>
          <a:xfrm>
            <a:off x="822960" y="6382512"/>
            <a:ext cx="10543032" cy="0"/>
          </a:xfrm>
          <a:prstGeom prst="line">
            <a:avLst/>
          </a:prstGeom>
          <a:noFill/>
          <a:ln w="9525">
            <a:solidFill>
              <a:srgbClr val="D9D4C4"/>
            </a:solidFill>
            <a:prstDash val="solid"/>
          </a:ln>
        </p:spPr>
      </p:sp>
      <p:sp>
        <p:nvSpPr>
          <p:cNvPr id="9" name="Text 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0" name="Text 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2011680"/>
            <a:ext cx="10424160" cy="3291840"/>
          </a:xfrm>
          <a:prstGeom prst="rect">
            <a:avLst/>
          </a:prstGeom>
          <a:noFill/>
          <a:ln/>
        </p:spPr>
        <p:txBody>
          <a:bodyPr wrap="square" lIns="0" tIns="0" rIns="0" bIns="0" rtlCol="0" anchor="ctr"/>
          <a:lstStyle/>
          <a:p>
            <a:pPr indent="0" marL="0">
              <a:lnSpc>
                <a:spcPts val="6200"/>
              </a:lnSpc>
              <a:buNone/>
            </a:pPr>
            <a:r>
              <a:rPr lang="en-US" sz="6200" dirty="0">
                <a:solidFill>
                  <a:srgbClr val="24313F"/>
                </a:solidFill>
                <a:latin typeface="Georgia" pitchFamily="34" charset="0"/>
                <a:ea typeface="Georgia" pitchFamily="34" charset="-122"/>
                <a:cs typeface="Georgia" pitchFamily="34" charset="-120"/>
              </a:rPr>
              <a:t>There is power in looking.</a:t>
            </a:r>
            <a:endParaRPr lang="en-US" sz="62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bell hooks, The Oppositional Gaze, 1992</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ivate/tmp/claude-501/-Users-dogan-Documents-Vaults-Courses/a3a5132d-721f-4cd4-8ddd-e62e2b37b51b/scratchpad/img/crops/manet-olympia_a1777.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502920" y="502920"/>
            <a:ext cx="5120640" cy="502920"/>
          </a:xfrm>
          <a:prstGeom prst="rect">
            <a:avLst/>
          </a:prstGeom>
          <a:solidFill>
            <a:srgbClr val="FAF8F1"/>
          </a:solidFill>
          <a:ln/>
        </p:spPr>
      </p:sp>
      <p:sp>
        <p:nvSpPr>
          <p:cNvPr id="4" name="Text 1"/>
          <p:cNvSpPr/>
          <p:nvPr/>
        </p:nvSpPr>
        <p:spPr>
          <a:xfrm>
            <a:off x="704088" y="521208"/>
            <a:ext cx="484632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A LOOK SENT BACK</a:t>
            </a:r>
            <a:endParaRPr lang="en-US" sz="1100" dirty="0"/>
          </a:p>
        </p:txBody>
      </p:sp>
      <p:sp>
        <p:nvSpPr>
          <p:cNvPr id="5" name="Shape 2"/>
          <p:cNvSpPr/>
          <p:nvPr/>
        </p:nvSpPr>
        <p:spPr>
          <a:xfrm>
            <a:off x="457200" y="5230368"/>
            <a:ext cx="8778240" cy="1243584"/>
          </a:xfrm>
          <a:prstGeom prst="rect">
            <a:avLst/>
          </a:prstGeom>
          <a:solidFill>
            <a:srgbClr val="FAF8F1"/>
          </a:solidFill>
          <a:ln/>
        </p:spPr>
      </p:sp>
      <p:sp>
        <p:nvSpPr>
          <p:cNvPr id="6" name="Shape 3"/>
          <p:cNvSpPr/>
          <p:nvPr/>
        </p:nvSpPr>
        <p:spPr>
          <a:xfrm>
            <a:off x="676656" y="5468112"/>
            <a:ext cx="731520" cy="0"/>
          </a:xfrm>
          <a:prstGeom prst="line">
            <a:avLst/>
          </a:prstGeom>
          <a:noFill/>
          <a:ln w="28575">
            <a:solidFill>
              <a:srgbClr val="8C3A38"/>
            </a:solidFill>
            <a:prstDash val="solid"/>
          </a:ln>
        </p:spPr>
      </p:sp>
      <p:sp>
        <p:nvSpPr>
          <p:cNvPr id="7" name="Text 4"/>
          <p:cNvSpPr/>
          <p:nvPr/>
        </p:nvSpPr>
        <p:spPr>
          <a:xfrm>
            <a:off x="676656" y="5541264"/>
            <a:ext cx="8339328" cy="585216"/>
          </a:xfrm>
          <a:prstGeom prst="rect">
            <a:avLst/>
          </a:prstGeom>
          <a:noFill/>
          <a:ln/>
        </p:spPr>
        <p:txBody>
          <a:bodyPr wrap="square" lIns="0" tIns="0" rIns="0" bIns="0" rtlCol="0" anchor="t"/>
          <a:lstStyle/>
          <a:p>
            <a:pPr indent="0" marL="0">
              <a:lnSpc>
                <a:spcPts val="2200"/>
              </a:lnSpc>
              <a:buNone/>
            </a:pPr>
            <a:r>
              <a:rPr lang="en-US" sz="1800" dirty="0">
                <a:solidFill>
                  <a:srgbClr val="24313F"/>
                </a:solidFill>
                <a:latin typeface="Georgia" pitchFamily="34" charset="0"/>
                <a:ea typeface="Georgia" pitchFamily="34" charset="-122"/>
                <a:cs typeface="Georgia" pitchFamily="34" charset="-120"/>
              </a:rPr>
              <a:t>She is looked at, and she looks straight back, refusing to be only an image.</a:t>
            </a:r>
            <a:endParaRPr lang="en-US" sz="1800" dirty="0"/>
          </a:p>
        </p:txBody>
      </p:sp>
      <p:sp>
        <p:nvSpPr>
          <p:cNvPr id="8" name="Text 5"/>
          <p:cNvSpPr/>
          <p:nvPr/>
        </p:nvSpPr>
        <p:spPr>
          <a:xfrm>
            <a:off x="676656" y="6181344"/>
            <a:ext cx="8339328" cy="256032"/>
          </a:xfrm>
          <a:prstGeom prst="rect">
            <a:avLst/>
          </a:prstGeom>
          <a:no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Edouard Manet, Olympia, 1863</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HOOKS · THE OPPOSITIONAL GAZE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WEEK'S QUESTION, FLIPPED</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Looking back at what never expected you</a:t>
            </a:r>
            <a:endParaRPr lang="en-US" sz="3200" dirty="0"/>
          </a:p>
        </p:txBody>
      </p:sp>
      <p:sp>
        <p:nvSpPr>
          <p:cNvPr id="6" name="Shape 4"/>
          <p:cNvSpPr/>
          <p:nvPr/>
        </p:nvSpPr>
        <p:spPr>
          <a:xfrm>
            <a:off x="822960" y="2423160"/>
            <a:ext cx="914400" cy="0"/>
          </a:xfrm>
          <a:prstGeom prst="line">
            <a:avLst/>
          </a:prstGeom>
          <a:noFill/>
          <a:ln w="31750">
            <a:solidFill>
              <a:srgbClr val="8C3A38"/>
            </a:solidFill>
            <a:prstDash val="solid"/>
          </a:ln>
        </p:spPr>
      </p:sp>
      <p:sp>
        <p:nvSpPr>
          <p:cNvPr id="7" name="Text 5"/>
          <p:cNvSpPr/>
          <p:nvPr/>
        </p:nvSpPr>
        <p:spPr>
          <a:xfrm>
            <a:off x="822960" y="2651760"/>
            <a:ext cx="9966960" cy="2194560"/>
          </a:xfrm>
          <a:prstGeom prst="rect">
            <a:avLst/>
          </a:prstGeom>
          <a:noFill/>
          <a:ln/>
        </p:spPr>
        <p:txBody>
          <a:bodyPr wrap="square" lIns="0" tIns="0" rIns="0" bIns="0" rtlCol="0" anchor="t"/>
          <a:lstStyle/>
          <a:p>
            <a:pPr indent="0" marL="0">
              <a:lnSpc>
                <a:spcPts val="2800"/>
              </a:lnSpc>
              <a:buNone/>
            </a:pPr>
            <a:r>
              <a:rPr lang="en-US" sz="2000" dirty="0">
                <a:solidFill>
                  <a:srgbClr val="24313F"/>
                </a:solidFill>
                <a:latin typeface="Georgia" pitchFamily="34" charset="0"/>
                <a:ea typeface="Georgia" pitchFamily="34" charset="-122"/>
                <a:cs typeface="Georgia" pitchFamily="34" charset="-120"/>
              </a:rPr>
              <a:t>bell hooks flips the week's question. Not how does the text look at its subjects, but who was this looking built for, and what happens when someone else does the looking? Refusal and rereading are critical acts. The oppositional gaze looks back at a text that never expected you to be watching.</a:t>
            </a:r>
            <a:endParaRPr lang="en-US" sz="2000" dirty="0"/>
          </a:p>
        </p:txBody>
      </p:sp>
      <p:sp>
        <p:nvSpPr>
          <p:cNvPr id="8" name="Shape 6"/>
          <p:cNvSpPr/>
          <p:nvPr/>
        </p:nvSpPr>
        <p:spPr>
          <a:xfrm>
            <a:off x="822960" y="6382512"/>
            <a:ext cx="10543032" cy="0"/>
          </a:xfrm>
          <a:prstGeom prst="line">
            <a:avLst/>
          </a:prstGeom>
          <a:noFill/>
          <a:ln w="9525">
            <a:solidFill>
              <a:srgbClr val="D9D4C4"/>
            </a:solidFill>
            <a:prstDash val="solid"/>
          </a:ln>
        </p:spPr>
      </p:sp>
      <p:sp>
        <p:nvSpPr>
          <p:cNvPr id="9" name="Text 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0" name="Text 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CS6</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A THEORIST DOING ANALYTICAL WORK</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3800" dirty="0">
                <a:solidFill>
                  <a:srgbClr val="24313F"/>
                </a:solidFill>
                <a:latin typeface="Georgia" pitchFamily="34" charset="0"/>
                <a:ea typeface="Georgia" pitchFamily="34" charset="-122"/>
                <a:cs typeface="Georgia" pitchFamily="34" charset="-120"/>
              </a:rPr>
              <a:t>Not decoration, analysis</a:t>
            </a:r>
            <a:endParaRPr lang="en-US" sz="3800" dirty="0"/>
          </a:p>
        </p:txBody>
      </p:sp>
      <p:sp>
        <p:nvSpPr>
          <p:cNvPr id="6" name="Shape 4"/>
          <p:cNvSpPr/>
          <p:nvPr/>
        </p:nvSpPr>
        <p:spPr>
          <a:xfrm>
            <a:off x="822960" y="2514600"/>
            <a:ext cx="914400" cy="0"/>
          </a:xfrm>
          <a:prstGeom prst="line">
            <a:avLst/>
          </a:prstGeom>
          <a:noFill/>
          <a:ln w="31750">
            <a:solidFill>
              <a:srgbClr val="8C3A38"/>
            </a:solidFill>
            <a:prstDash val="solid"/>
          </a:ln>
        </p:spPr>
      </p:sp>
      <p:sp>
        <p:nvSpPr>
          <p:cNvPr id="7" name="Text 5"/>
          <p:cNvSpPr/>
          <p:nvPr/>
        </p:nvSpPr>
        <p:spPr>
          <a:xfrm>
            <a:off x="822960" y="2743200"/>
            <a:ext cx="9875520" cy="1828800"/>
          </a:xfrm>
          <a:prstGeom prst="rect">
            <a:avLst/>
          </a:prstGeom>
          <a:noFill/>
          <a:ln/>
        </p:spPr>
        <p:txBody>
          <a:bodyPr wrap="square" lIns="0" tIns="0" rIns="0" bIns="0" rtlCol="0" anchor="t"/>
          <a:lstStyle/>
          <a:p>
            <a:pPr indent="0" marL="0">
              <a:lnSpc>
                <a:spcPts val="2800"/>
              </a:lnSpc>
              <a:buNone/>
            </a:pPr>
            <a:r>
              <a:rPr lang="en-US" sz="2000" dirty="0">
                <a:solidFill>
                  <a:srgbClr val="24313F"/>
                </a:solidFill>
                <a:latin typeface="Georgia" pitchFamily="34" charset="0"/>
                <a:ea typeface="Georgia" pitchFamily="34" charset="-122"/>
                <a:cs typeface="Georgia" pitchFamily="34" charset="-120"/>
              </a:rPr>
              <a:t>One close-reading paragraph on a still or short clip: a claim, evidence, and a theorist working inside the analysis. As Mulvey's camera-look predicts... beats Mulvey said the male gaze. The theorist earns their place by doing work, not by being named.</a:t>
            </a:r>
            <a:endParaRPr lang="en-US" sz="2000" dirty="0"/>
          </a:p>
        </p:txBody>
      </p:sp>
      <p:sp>
        <p:nvSpPr>
          <p:cNvPr id="8" name="Text 6"/>
          <p:cNvSpPr/>
          <p:nvPr/>
        </p:nvSpPr>
        <p:spPr>
          <a:xfrm>
            <a:off x="822960" y="4892040"/>
            <a:ext cx="9875520" cy="457200"/>
          </a:xfrm>
          <a:prstGeom prst="rect">
            <a:avLst/>
          </a:prstGeom>
          <a:noFill/>
          <a:ln/>
        </p:spPr>
        <p:txBody>
          <a:bodyPr wrap="square" lIns="0" tIns="0" rIns="0" bIns="0" rtlCol="0" anchor="ctr"/>
          <a:lstStyle/>
          <a:p>
            <a:pPr indent="0" marL="0">
              <a:buNone/>
            </a:pPr>
            <a:r>
              <a:rPr lang="en-US" sz="1300" i="1" dirty="0">
                <a:solidFill>
                  <a:srgbClr val="7A7F72"/>
                </a:solidFill>
                <a:latin typeface="Arial" pitchFamily="34" charset="0"/>
                <a:ea typeface="Arial" pitchFamily="34" charset="-122"/>
                <a:cs typeface="Arial" pitchFamily="34" charset="-120"/>
              </a:rPr>
              <a:t>A3 announced today: the complete C1 portfolio, due Friday 27 November, exactly 14 days.</a:t>
            </a:r>
            <a:endParaRPr lang="en-US" sz="1300" dirty="0"/>
          </a:p>
        </p:txBody>
      </p:sp>
      <p:sp>
        <p:nvSpPr>
          <p:cNvPr id="9" name="Shape 7"/>
          <p:cNvSpPr/>
          <p:nvPr/>
        </p:nvSpPr>
        <p:spPr>
          <a:xfrm>
            <a:off x="822960" y="6382512"/>
            <a:ext cx="10543032" cy="0"/>
          </a:xfrm>
          <a:prstGeom prst="line">
            <a:avLst/>
          </a:prstGeom>
          <a:noFill/>
          <a:ln w="9525">
            <a:solidFill>
              <a:srgbClr val="D9D4C4"/>
            </a:solidFill>
            <a:prstDash val="solid"/>
          </a:ln>
        </p:spPr>
      </p:sp>
      <p:sp>
        <p:nvSpPr>
          <p:cNvPr id="10" name="Text 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1" name="Text 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424160" cy="1920240"/>
          </a:xfrm>
          <a:prstGeom prst="rect">
            <a:avLst/>
          </a:prstGeom>
          <a:noFill/>
          <a:ln/>
        </p:spPr>
        <p:txBody>
          <a:bodyPr wrap="square" lIns="0" tIns="0" rIns="0" bIns="0" rtlCol="0" anchor="t"/>
          <a:lstStyle/>
          <a:p>
            <a:pPr indent="0" marL="0">
              <a:lnSpc>
                <a:spcPts val="5200"/>
              </a:lnSpc>
              <a:buNone/>
            </a:pPr>
            <a:r>
              <a:rPr lang="en-US" sz="5000" dirty="0">
                <a:solidFill>
                  <a:srgbClr val="FAF8F1"/>
                </a:solidFill>
                <a:latin typeface="Georgia" pitchFamily="34" charset="0"/>
                <a:ea typeface="Georgia" pitchFamily="34" charset="-122"/>
                <a:cs typeface="Georgia" pitchFamily="34" charset="-120"/>
              </a:rPr>
              <a:t>The Creative</a:t>
            </a:r>
            <a:endParaRPr lang="en-US" sz="5000" dirty="0"/>
          </a:p>
          <a:p>
            <a:pPr indent="0" marL="0">
              <a:lnSpc>
                <a:spcPts val="5200"/>
              </a:lnSpc>
              <a:buNone/>
            </a:pPr>
            <a:r>
              <a:rPr lang="en-US" sz="5000" dirty="0">
                <a:solidFill>
                  <a:srgbClr val="FAF8F1"/>
                </a:solidFill>
                <a:latin typeface="Georgia" pitchFamily="34" charset="0"/>
                <a:ea typeface="Georgia" pitchFamily="34" charset="-122"/>
                <a:cs typeface="Georgia" pitchFamily="34" charset="-120"/>
              </a:rPr>
              <a:t>Critical Reflection</a:t>
            </a:r>
            <a:endParaRPr lang="en-US" sz="5000" dirty="0"/>
          </a:p>
        </p:txBody>
      </p:sp>
      <p:sp>
        <p:nvSpPr>
          <p:cNvPr id="5" name="Text 3"/>
          <p:cNvSpPr/>
          <p:nvPr/>
        </p:nvSpPr>
        <p:spPr>
          <a:xfrm>
            <a:off x="822960" y="4846320"/>
            <a:ext cx="10058400" cy="457200"/>
          </a:xfrm>
          <a:prstGeom prst="rect">
            <a:avLst/>
          </a:prstGeom>
          <a:noFill/>
          <a:ln/>
        </p:spPr>
        <p:txBody>
          <a:bodyPr wrap="square" lIns="0" tIns="0" rIns="0" bIns="0" rtlCol="0" anchor="ctr"/>
          <a:lstStyle/>
          <a:p>
            <a:pPr indent="0" marL="0">
              <a:buNone/>
            </a:pPr>
            <a:r>
              <a:rPr lang="en-US" sz="2100" i="1" dirty="0">
                <a:solidFill>
                  <a:srgbClr val="E8EFE7"/>
                </a:solidFill>
                <a:latin typeface="Georgia" pitchFamily="34" charset="0"/>
                <a:ea typeface="Georgia" pitchFamily="34" charset="-122"/>
                <a:cs typeface="Georgia" pitchFamily="34" charset="-120"/>
              </a:rPr>
              <a:t>Lesson 10. Where AO2 lives in the portfolio: cut every sentence that describes instead of reflects.</a:t>
            </a:r>
            <a:endParaRPr lang="en-US" sz="21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2026-07-25T04:00:16Z</dcterms:created>
  <dcterms:modified xsi:type="dcterms:W3CDTF">2026-07-25T04:00:16Z</dcterms:modified>
</cp:coreProperties>
</file>