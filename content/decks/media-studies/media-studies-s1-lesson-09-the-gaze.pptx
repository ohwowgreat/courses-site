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block builds van Zoonen and Mulvey; the double stress-tests Mulvey; hooks reframes the whole week.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Not who buys the perfume: who is the looking arranged for? That is the whole week in one question.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mirror does not add up and the barmaid looks past us. Manet painted the problem the week is about: who looks at whom.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Olympia stares straight back and returns the viewer's look. Use it as the bridge to hooks and the oppositional gaze.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AF8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55280" y="822960"/>
            <a:ext cx="3474720" cy="4937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0" dirty="0">
                <a:solidFill>
                  <a:srgbClr val="A3C1A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IX</a:t>
            </a:r>
            <a:endParaRPr lang="en-US" sz="30000" dirty="0"/>
          </a:p>
        </p:txBody>
      </p:sp>
      <p:sp>
        <p:nvSpPr>
          <p:cNvPr id="3" name="Text 1"/>
          <p:cNvSpPr/>
          <p:nvPr/>
        </p:nvSpPr>
        <p:spPr>
          <a:xfrm>
            <a:off x="822960" y="12344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250" kern="0" dirty="0">
                <a:solidFill>
                  <a:srgbClr val="4A6B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 STUDIES 9607 · UNIT IV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822960" y="1737360"/>
            <a:ext cx="73152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800" dirty="0">
                <a:solidFill>
                  <a:srgbClr val="24313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Gaze</a:t>
            </a:r>
            <a:endParaRPr lang="en-US" sz="7800" dirty="0"/>
          </a:p>
        </p:txBody>
      </p:sp>
      <p:sp>
        <p:nvSpPr>
          <p:cNvPr id="5" name="Shape 3"/>
          <p:cNvSpPr/>
          <p:nvPr/>
        </p:nvSpPr>
        <p:spPr>
          <a:xfrm>
            <a:off x="822960" y="3429000"/>
            <a:ext cx="914400" cy="0"/>
          </a:xfrm>
          <a:prstGeom prst="line">
            <a:avLst/>
          </a:prstGeom>
          <a:noFill/>
          <a:ln w="31750">
            <a:solidFill>
              <a:srgbClr val="8C3A3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22960" y="361188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i="1" dirty="0">
                <a:solidFill>
                  <a:srgbClr val="7A7F7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Representation · Lesson 09 of 16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822960" y="411480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spc="100" kern="0" dirty="0">
                <a:solidFill>
                  <a:srgbClr val="7A7F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Four days  ·  Monday 9 to Friday 13 November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822960" y="470916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4A6B5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Gaze theory taught as live questions, not settled answers.</a:t>
            </a:r>
            <a:endParaRPr lang="en-US" sz="1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4A6B5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772400" y="640080"/>
            <a:ext cx="3840480" cy="5577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0" dirty="0">
                <a:solidFill>
                  <a:srgbClr val="5C7A6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IX</a:t>
            </a:r>
            <a:endParaRPr lang="en-US" sz="36000" dirty="0"/>
          </a:p>
        </p:txBody>
      </p:sp>
      <p:sp>
        <p:nvSpPr>
          <p:cNvPr id="3" name="Text 1"/>
          <p:cNvSpPr/>
          <p:nvPr/>
        </p:nvSpPr>
        <p:spPr>
          <a:xfrm>
            <a:off x="822960" y="22860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250" kern="0" dirty="0">
                <a:solidFill>
                  <a:srgbClr val="FAF8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WEEK'S QUESTION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822960" y="2651760"/>
            <a:ext cx="4206240" cy="0"/>
          </a:xfrm>
          <a:prstGeom prst="line">
            <a:avLst/>
          </a:prstGeom>
          <a:noFill/>
          <a:ln w="9525">
            <a:solidFill>
              <a:srgbClr val="8AA39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22960" y="2788920"/>
            <a:ext cx="731520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5200"/>
              </a:lnSpc>
              <a:buNone/>
            </a:pPr>
            <a:r>
              <a:rPr lang="en-US" sz="5000" dirty="0">
                <a:solidFill>
                  <a:srgbClr val="FAF8F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Who is the looking</a:t>
            </a:r>
            <a:endParaRPr lang="en-US" sz="5000" dirty="0"/>
          </a:p>
          <a:p>
            <a:pPr indent="0" marL="0">
              <a:lnSpc>
                <a:spcPts val="5200"/>
              </a:lnSpc>
              <a:buNone/>
            </a:pPr>
            <a:r>
              <a:rPr lang="en-US" sz="5000" dirty="0">
                <a:solidFill>
                  <a:srgbClr val="FAF8F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arranged for?</a:t>
            </a:r>
            <a:endParaRPr lang="en-US" sz="5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AF8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45720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250" kern="0" dirty="0">
                <a:solidFill>
                  <a:srgbClr val="4A6B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VAN ZOONEN · GENDER AS PERFORMANCE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793992" y="45720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spc="250" kern="0" dirty="0">
                <a:solidFill>
                  <a:srgbClr val="7A7F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ASSEMBLED, NOT PHOTOGRAPHED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822960" y="786384"/>
            <a:ext cx="10543032" cy="0"/>
          </a:xfrm>
          <a:prstGeom prst="line">
            <a:avLst/>
          </a:prstGeom>
          <a:noFill/>
          <a:ln w="9525">
            <a:solidFill>
              <a:srgbClr val="D9D4C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22960" y="1005840"/>
            <a:ext cx="1054303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24313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If it is assembled, it can be assembled otherwise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822960" y="1874520"/>
            <a:ext cx="10058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400"/>
              </a:lnSpc>
              <a:buNone/>
            </a:pPr>
            <a:r>
              <a:rPr lang="en-US" sz="1800" dirty="0">
                <a:solidFill>
                  <a:srgbClr val="24313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Gender in media is not a fact being photographed. It is a performance, built from repeatable conventions: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822960" y="2834640"/>
            <a:ext cx="243001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4A6B5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Pose</a:t>
            </a:r>
            <a:endParaRPr lang="en-US" sz="1900" dirty="0"/>
          </a:p>
        </p:txBody>
      </p:sp>
      <p:sp>
        <p:nvSpPr>
          <p:cNvPr id="8" name="Shape 6"/>
          <p:cNvSpPr/>
          <p:nvPr/>
        </p:nvSpPr>
        <p:spPr>
          <a:xfrm>
            <a:off x="822960" y="3337560"/>
            <a:ext cx="2292858" cy="0"/>
          </a:xfrm>
          <a:prstGeom prst="line">
            <a:avLst/>
          </a:prstGeom>
          <a:noFill/>
          <a:ln w="9525">
            <a:solidFill>
              <a:srgbClr val="D9D4C4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22960" y="3456432"/>
            <a:ext cx="2430018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900"/>
              </a:lnSpc>
              <a:buNone/>
            </a:pPr>
            <a:r>
              <a:rPr lang="en-US" sz="1450" dirty="0">
                <a:solidFill>
                  <a:srgbClr val="24313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how the body is arranged</a:t>
            </a:r>
            <a:endParaRPr lang="en-US" sz="1450" dirty="0"/>
          </a:p>
        </p:txBody>
      </p:sp>
      <p:sp>
        <p:nvSpPr>
          <p:cNvPr id="10" name="Text 8"/>
          <p:cNvSpPr/>
          <p:nvPr/>
        </p:nvSpPr>
        <p:spPr>
          <a:xfrm>
            <a:off x="3527298" y="2834640"/>
            <a:ext cx="243001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4A6B5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Gaze direction</a:t>
            </a:r>
            <a:endParaRPr lang="en-US" sz="1900" dirty="0"/>
          </a:p>
        </p:txBody>
      </p:sp>
      <p:sp>
        <p:nvSpPr>
          <p:cNvPr id="11" name="Shape 9"/>
          <p:cNvSpPr/>
          <p:nvPr/>
        </p:nvSpPr>
        <p:spPr>
          <a:xfrm>
            <a:off x="3527298" y="3337560"/>
            <a:ext cx="2292858" cy="0"/>
          </a:xfrm>
          <a:prstGeom prst="line">
            <a:avLst/>
          </a:prstGeom>
          <a:noFill/>
          <a:ln w="9525">
            <a:solidFill>
              <a:srgbClr val="D9D4C4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527298" y="3456432"/>
            <a:ext cx="2430018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900"/>
              </a:lnSpc>
              <a:buNone/>
            </a:pPr>
            <a:r>
              <a:rPr lang="en-US" sz="1450" dirty="0">
                <a:solidFill>
                  <a:srgbClr val="24313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where the eyes are sent</a:t>
            </a:r>
            <a:endParaRPr lang="en-US" sz="1450" dirty="0"/>
          </a:p>
        </p:txBody>
      </p:sp>
      <p:sp>
        <p:nvSpPr>
          <p:cNvPr id="13" name="Text 11"/>
          <p:cNvSpPr/>
          <p:nvPr/>
        </p:nvSpPr>
        <p:spPr>
          <a:xfrm>
            <a:off x="6231636" y="2834640"/>
            <a:ext cx="243001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4A6B5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Fragmentation</a:t>
            </a:r>
            <a:endParaRPr lang="en-US" sz="1900" dirty="0"/>
          </a:p>
        </p:txBody>
      </p:sp>
      <p:sp>
        <p:nvSpPr>
          <p:cNvPr id="14" name="Shape 12"/>
          <p:cNvSpPr/>
          <p:nvPr/>
        </p:nvSpPr>
        <p:spPr>
          <a:xfrm>
            <a:off x="6231636" y="3337560"/>
            <a:ext cx="2292858" cy="0"/>
          </a:xfrm>
          <a:prstGeom prst="line">
            <a:avLst/>
          </a:prstGeom>
          <a:noFill/>
          <a:ln w="9525">
            <a:solidFill>
              <a:srgbClr val="D9D4C4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231636" y="3456432"/>
            <a:ext cx="2430018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900"/>
              </a:lnSpc>
              <a:buNone/>
            </a:pPr>
            <a:r>
              <a:rPr lang="en-US" sz="1450" dirty="0">
                <a:solidFill>
                  <a:srgbClr val="24313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body shown in parts</a:t>
            </a:r>
            <a:endParaRPr lang="en-US" sz="1450" dirty="0"/>
          </a:p>
        </p:txBody>
      </p:sp>
      <p:sp>
        <p:nvSpPr>
          <p:cNvPr id="16" name="Text 14"/>
          <p:cNvSpPr/>
          <p:nvPr/>
        </p:nvSpPr>
        <p:spPr>
          <a:xfrm>
            <a:off x="8935974" y="2834640"/>
            <a:ext cx="243001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4A6B5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Setting</a:t>
            </a:r>
            <a:endParaRPr lang="en-US" sz="1900" dirty="0"/>
          </a:p>
        </p:txBody>
      </p:sp>
      <p:sp>
        <p:nvSpPr>
          <p:cNvPr id="17" name="Shape 15"/>
          <p:cNvSpPr/>
          <p:nvPr/>
        </p:nvSpPr>
        <p:spPr>
          <a:xfrm>
            <a:off x="8935974" y="3337560"/>
            <a:ext cx="2292858" cy="0"/>
          </a:xfrm>
          <a:prstGeom prst="line">
            <a:avLst/>
          </a:prstGeom>
          <a:noFill/>
          <a:ln w="9525">
            <a:solidFill>
              <a:srgbClr val="D9D4C4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935974" y="3456432"/>
            <a:ext cx="2430018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900"/>
              </a:lnSpc>
              <a:buNone/>
            </a:pPr>
            <a:r>
              <a:rPr lang="en-US" sz="1450" dirty="0">
                <a:solidFill>
                  <a:srgbClr val="24313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world built around it</a:t>
            </a:r>
            <a:endParaRPr lang="en-US" sz="1450" dirty="0"/>
          </a:p>
        </p:txBody>
      </p:sp>
      <p:sp>
        <p:nvSpPr>
          <p:cNvPr id="19" name="Shape 17"/>
          <p:cNvSpPr/>
          <p:nvPr/>
        </p:nvSpPr>
        <p:spPr>
          <a:xfrm>
            <a:off x="822960" y="5029200"/>
            <a:ext cx="914400" cy="0"/>
          </a:xfrm>
          <a:prstGeom prst="line">
            <a:avLst/>
          </a:prstGeom>
          <a:noFill/>
          <a:ln w="31750">
            <a:solidFill>
              <a:srgbClr val="8C3A3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22960" y="521208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7A7F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Swap the conventions between two ads on paper: what breaks, and why does the break feel like information?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822960" y="6382512"/>
            <a:ext cx="10543032" cy="0"/>
          </a:xfrm>
          <a:prstGeom prst="line">
            <a:avLst/>
          </a:prstGeom>
          <a:noFill/>
          <a:ln w="9525">
            <a:solidFill>
              <a:srgbClr val="D9D4C4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22960" y="641908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50" kern="0" dirty="0">
                <a:solidFill>
                  <a:srgbClr val="7A7F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 STUDIES 9607 · SEMESTER I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10268712" y="6355080"/>
            <a:ext cx="1097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dirty="0">
                <a:solidFill>
                  <a:srgbClr val="A3C1A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</a:t>
            </a:r>
            <a:endParaRPr lang="en-US" sz="16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dogan/Documents/Vaults/Courses/wiki/classes/media-studies/decks/_build/img/crops/manet-folies_a1777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502920" y="502920"/>
            <a:ext cx="5120640" cy="502920"/>
          </a:xfrm>
          <a:prstGeom prst="rect">
            <a:avLst/>
          </a:prstGeom>
          <a:solidFill>
            <a:srgbClr val="FAF8F1"/>
          </a:solidFill>
          <a:ln/>
        </p:spPr>
      </p:sp>
      <p:sp>
        <p:nvSpPr>
          <p:cNvPr id="4" name="Text 1"/>
          <p:cNvSpPr/>
          <p:nvPr/>
        </p:nvSpPr>
        <p:spPr>
          <a:xfrm>
            <a:off x="704088" y="521208"/>
            <a:ext cx="4846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250" kern="0" dirty="0">
                <a:solidFill>
                  <a:srgbClr val="4A6B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LOOKING THAT WILL NOT RESOLVE</a:t>
            </a:r>
            <a:endParaRPr lang="en-US" sz="1100" dirty="0"/>
          </a:p>
        </p:txBody>
      </p:sp>
      <p:sp>
        <p:nvSpPr>
          <p:cNvPr id="5" name="Shape 2"/>
          <p:cNvSpPr/>
          <p:nvPr/>
        </p:nvSpPr>
        <p:spPr>
          <a:xfrm>
            <a:off x="457200" y="5230368"/>
            <a:ext cx="8778240" cy="1243584"/>
          </a:xfrm>
          <a:prstGeom prst="rect">
            <a:avLst/>
          </a:prstGeom>
          <a:solidFill>
            <a:srgbClr val="FAF8F1"/>
          </a:solidFill>
          <a:ln/>
        </p:spPr>
      </p:sp>
      <p:sp>
        <p:nvSpPr>
          <p:cNvPr id="6" name="Shape 3"/>
          <p:cNvSpPr/>
          <p:nvPr/>
        </p:nvSpPr>
        <p:spPr>
          <a:xfrm>
            <a:off x="676656" y="5468112"/>
            <a:ext cx="731520" cy="0"/>
          </a:xfrm>
          <a:prstGeom prst="line">
            <a:avLst/>
          </a:prstGeom>
          <a:noFill/>
          <a:ln w="28575">
            <a:solidFill>
              <a:srgbClr val="8C3A38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676656" y="5541264"/>
            <a:ext cx="8339328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200"/>
              </a:lnSpc>
              <a:buNone/>
            </a:pPr>
            <a:r>
              <a:rPr lang="en-US" sz="1800" dirty="0">
                <a:solidFill>
                  <a:srgbClr val="24313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mirror behind her does not add up. Who is she looking at, and who is looking at her?</a:t>
            </a:r>
            <a:endParaRPr lang="en-US" sz="1800" dirty="0"/>
          </a:p>
        </p:txBody>
      </p:sp>
      <p:sp>
        <p:nvSpPr>
          <p:cNvPr id="8" name="Text 5"/>
          <p:cNvSpPr/>
          <p:nvPr/>
        </p:nvSpPr>
        <p:spPr>
          <a:xfrm>
            <a:off x="676656" y="6181344"/>
            <a:ext cx="83393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spc="50" kern="0" dirty="0">
                <a:solidFill>
                  <a:srgbClr val="7A7F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Edouard Manet, A Bar at the Folies-Bergere, 1882</a:t>
            </a:r>
            <a:endParaRPr lang="en-US" sz="9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AF8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45720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250" kern="0" dirty="0">
                <a:solidFill>
                  <a:srgbClr val="4A6B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MULVEY · A CLAIM FROM 1975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793992" y="45720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spc="250" kern="0" dirty="0">
                <a:solidFill>
                  <a:srgbClr val="7A7F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MADE TO BE TESTED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822960" y="786384"/>
            <a:ext cx="10543032" cy="0"/>
          </a:xfrm>
          <a:prstGeom prst="line">
            <a:avLst/>
          </a:prstGeom>
          <a:noFill/>
          <a:ln w="9525">
            <a:solidFill>
              <a:srgbClr val="D9D4C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22960" y="1005840"/>
            <a:ext cx="1054303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dirty="0">
                <a:solidFill>
                  <a:srgbClr val="24313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Three looks, classically aligned</a:t>
            </a:r>
            <a:endParaRPr lang="en-US" sz="3400" dirty="0"/>
          </a:p>
        </p:txBody>
      </p:sp>
      <p:sp>
        <p:nvSpPr>
          <p:cNvPr id="6" name="Text 4"/>
          <p:cNvSpPr/>
          <p:nvPr/>
        </p:nvSpPr>
        <p:spPr>
          <a:xfrm>
            <a:off x="822960" y="2057400"/>
            <a:ext cx="3246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dirty="0">
                <a:solidFill>
                  <a:srgbClr val="A3C1A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</a:t>
            </a:r>
            <a:endParaRPr lang="en-US" sz="3600" dirty="0"/>
          </a:p>
        </p:txBody>
      </p:sp>
      <p:sp>
        <p:nvSpPr>
          <p:cNvPr id="7" name="Text 5"/>
          <p:cNvSpPr/>
          <p:nvPr/>
        </p:nvSpPr>
        <p:spPr>
          <a:xfrm>
            <a:off x="822960" y="2743200"/>
            <a:ext cx="3246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dirty="0">
                <a:solidFill>
                  <a:srgbClr val="4A6B5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camera's</a:t>
            </a:r>
            <a:endParaRPr lang="en-US" sz="2100" dirty="0"/>
          </a:p>
        </p:txBody>
      </p:sp>
      <p:sp>
        <p:nvSpPr>
          <p:cNvPr id="8" name="Shape 6"/>
          <p:cNvSpPr/>
          <p:nvPr/>
        </p:nvSpPr>
        <p:spPr>
          <a:xfrm>
            <a:off x="822960" y="3291840"/>
            <a:ext cx="3246120" cy="0"/>
          </a:xfrm>
          <a:prstGeom prst="line">
            <a:avLst/>
          </a:prstGeom>
          <a:noFill/>
          <a:ln w="9525">
            <a:solidFill>
              <a:srgbClr val="D9D4C4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22960" y="3429000"/>
            <a:ext cx="32461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200"/>
              </a:lnSpc>
              <a:buNone/>
            </a:pPr>
            <a:r>
              <a:rPr lang="en-US" sz="1600" dirty="0">
                <a:solidFill>
                  <a:srgbClr val="24313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How the shot itself frames, lingers, and fragments the figure on screen.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4471416" y="2057400"/>
            <a:ext cx="3246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dirty="0">
                <a:solidFill>
                  <a:srgbClr val="A3C1A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</a:t>
            </a:r>
            <a:endParaRPr lang="en-US" sz="3600" dirty="0"/>
          </a:p>
        </p:txBody>
      </p:sp>
      <p:sp>
        <p:nvSpPr>
          <p:cNvPr id="11" name="Text 9"/>
          <p:cNvSpPr/>
          <p:nvPr/>
        </p:nvSpPr>
        <p:spPr>
          <a:xfrm>
            <a:off x="4471416" y="2743200"/>
            <a:ext cx="3246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dirty="0">
                <a:solidFill>
                  <a:srgbClr val="4A6B5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characters'</a:t>
            </a:r>
            <a:endParaRPr lang="en-US" sz="2100" dirty="0"/>
          </a:p>
        </p:txBody>
      </p:sp>
      <p:sp>
        <p:nvSpPr>
          <p:cNvPr id="12" name="Shape 10"/>
          <p:cNvSpPr/>
          <p:nvPr/>
        </p:nvSpPr>
        <p:spPr>
          <a:xfrm>
            <a:off x="4471416" y="3291840"/>
            <a:ext cx="3246120" cy="0"/>
          </a:xfrm>
          <a:prstGeom prst="line">
            <a:avLst/>
          </a:prstGeom>
          <a:noFill/>
          <a:ln w="9525">
            <a:solidFill>
              <a:srgbClr val="D9D4C4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471416" y="3429000"/>
            <a:ext cx="32461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200"/>
              </a:lnSpc>
              <a:buNone/>
            </a:pPr>
            <a:r>
              <a:rPr lang="en-US" sz="1600" dirty="0">
                <a:solidFill>
                  <a:srgbClr val="24313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How people within the story look at one another inside the narrative.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8119872" y="2057400"/>
            <a:ext cx="3246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dirty="0">
                <a:solidFill>
                  <a:srgbClr val="A3C1A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03</a:t>
            </a:r>
            <a:endParaRPr lang="en-US" sz="3600" dirty="0"/>
          </a:p>
        </p:txBody>
      </p:sp>
      <p:sp>
        <p:nvSpPr>
          <p:cNvPr id="15" name="Text 13"/>
          <p:cNvSpPr/>
          <p:nvPr/>
        </p:nvSpPr>
        <p:spPr>
          <a:xfrm>
            <a:off x="8119872" y="2743200"/>
            <a:ext cx="3246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dirty="0">
                <a:solidFill>
                  <a:srgbClr val="4A6B5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audience's</a:t>
            </a:r>
            <a:endParaRPr lang="en-US" sz="2100" dirty="0"/>
          </a:p>
        </p:txBody>
      </p:sp>
      <p:sp>
        <p:nvSpPr>
          <p:cNvPr id="16" name="Shape 14"/>
          <p:cNvSpPr/>
          <p:nvPr/>
        </p:nvSpPr>
        <p:spPr>
          <a:xfrm>
            <a:off x="8119872" y="3291840"/>
            <a:ext cx="3246120" cy="0"/>
          </a:xfrm>
          <a:prstGeom prst="line">
            <a:avLst/>
          </a:prstGeom>
          <a:noFill/>
          <a:ln w="9525">
            <a:solidFill>
              <a:srgbClr val="D9D4C4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119872" y="3429000"/>
            <a:ext cx="32461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200"/>
              </a:lnSpc>
              <a:buNone/>
            </a:pPr>
            <a:r>
              <a:rPr lang="en-US" sz="1600" dirty="0">
                <a:solidFill>
                  <a:srgbClr val="24313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How we are positioned to look, and whose looking we are lent.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822960" y="5486400"/>
            <a:ext cx="105430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7A7F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Classically, all three align on woman as spectacle. This is a claim from 1975 about a system, made to be tested, not recited.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822960" y="6382512"/>
            <a:ext cx="10543032" cy="0"/>
          </a:xfrm>
          <a:prstGeom prst="line">
            <a:avLst/>
          </a:prstGeom>
          <a:noFill/>
          <a:ln w="9525">
            <a:solidFill>
              <a:srgbClr val="D9D4C4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22960" y="641908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50" kern="0" dirty="0">
                <a:solidFill>
                  <a:srgbClr val="7A7F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 STUDIES 9607 · SEMESTER I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10268712" y="6355080"/>
            <a:ext cx="1097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dirty="0">
                <a:solidFill>
                  <a:srgbClr val="A3C1A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</a:t>
            </a:r>
            <a:endParaRPr lang="en-US" sz="16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E8EFE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548640"/>
            <a:ext cx="18288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0" dirty="0">
                <a:solidFill>
                  <a:srgbClr val="A3C1A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“</a:t>
            </a:r>
            <a:endParaRPr lang="en-US" sz="20000" dirty="0"/>
          </a:p>
        </p:txBody>
      </p:sp>
      <p:sp>
        <p:nvSpPr>
          <p:cNvPr id="3" name="Text 1"/>
          <p:cNvSpPr/>
          <p:nvPr/>
        </p:nvSpPr>
        <p:spPr>
          <a:xfrm>
            <a:off x="822960" y="1691640"/>
            <a:ext cx="1042416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4000"/>
              </a:lnSpc>
              <a:buNone/>
            </a:pPr>
            <a:r>
              <a:rPr lang="en-US" sz="3000" dirty="0">
                <a:solidFill>
                  <a:srgbClr val="24313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 their traditional exhibitionist role, women are simultaneously looked at and displayed... so that they can be said to connote to-be-looked-at-ness.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822960" y="5029200"/>
            <a:ext cx="914400" cy="0"/>
          </a:xfrm>
          <a:prstGeom prst="line">
            <a:avLst/>
          </a:prstGeom>
          <a:noFill/>
          <a:ln w="31750">
            <a:solidFill>
              <a:srgbClr val="8C3A3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22960" y="521208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spc="100" kern="0" dirty="0">
                <a:solidFill>
                  <a:srgbClr val="4A6B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Laura Mulvey, Visual Pleasure and Narrative Cinema, 1975</a:t>
            </a:r>
            <a:endParaRPr lang="en-US" sz="1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AF8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45720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250" kern="0" dirty="0">
                <a:solidFill>
                  <a:srgbClr val="4A6B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DECADE TEST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793992" y="45720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spc="250" kern="0" dirty="0">
                <a:solidFill>
                  <a:srgbClr val="7A7F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VARIABLE IS ERA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822960" y="786384"/>
            <a:ext cx="10543032" cy="0"/>
          </a:xfrm>
          <a:prstGeom prst="line">
            <a:avLst/>
          </a:prstGeom>
          <a:noFill/>
          <a:ln w="9525">
            <a:solidFill>
              <a:srgbClr val="D9D4C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22960" y="1280160"/>
            <a:ext cx="1054303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dirty="0">
                <a:solidFill>
                  <a:srgbClr val="24313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Hold, shift, or invert?</a:t>
            </a:r>
            <a:endParaRPr lang="en-US" sz="4000" dirty="0"/>
          </a:p>
        </p:txBody>
      </p:sp>
      <p:sp>
        <p:nvSpPr>
          <p:cNvPr id="6" name="Shape 4"/>
          <p:cNvSpPr/>
          <p:nvPr/>
        </p:nvSpPr>
        <p:spPr>
          <a:xfrm>
            <a:off x="822960" y="2514600"/>
            <a:ext cx="914400" cy="0"/>
          </a:xfrm>
          <a:prstGeom prst="line">
            <a:avLst/>
          </a:prstGeom>
          <a:noFill/>
          <a:ln w="31750">
            <a:solidFill>
              <a:srgbClr val="8C3A3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22960" y="2743200"/>
            <a:ext cx="996696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800"/>
              </a:lnSpc>
              <a:buNone/>
            </a:pPr>
            <a:r>
              <a:rPr lang="en-US" sz="2000" dirty="0">
                <a:solidFill>
                  <a:srgbClr val="24313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Take a genre pair, one text before 2000 and one after 2018, with a comparable scene function so the only variable is era. Gather timecoded evidence for the camera-look, the character-look, and audience positioning in each. Then reach a verdict with the evidence attached: did the gaze hold, shift, or turn out to be the same structure pointed elsewhere?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822960" y="5120640"/>
            <a:ext cx="9966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7A7F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verdict must survive one structured counter: challenger named in advance, evidence required.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822960" y="6382512"/>
            <a:ext cx="10543032" cy="0"/>
          </a:xfrm>
          <a:prstGeom prst="line">
            <a:avLst/>
          </a:prstGeom>
          <a:noFill/>
          <a:ln w="9525">
            <a:solidFill>
              <a:srgbClr val="D9D4C4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22960" y="641908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50" kern="0" dirty="0">
                <a:solidFill>
                  <a:srgbClr val="7A7F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 STUDIES 9607 · SEMESTER I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10268712" y="6355080"/>
            <a:ext cx="1097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dirty="0">
                <a:solidFill>
                  <a:srgbClr val="A3C1A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03</a:t>
            </a:r>
            <a:endParaRPr lang="en-US" sz="16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E8EFE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548640"/>
            <a:ext cx="18288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0" dirty="0">
                <a:solidFill>
                  <a:srgbClr val="A3C1A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“</a:t>
            </a:r>
            <a:endParaRPr lang="en-US" sz="20000" dirty="0"/>
          </a:p>
        </p:txBody>
      </p:sp>
      <p:sp>
        <p:nvSpPr>
          <p:cNvPr id="3" name="Text 1"/>
          <p:cNvSpPr/>
          <p:nvPr/>
        </p:nvSpPr>
        <p:spPr>
          <a:xfrm>
            <a:off x="822960" y="2011680"/>
            <a:ext cx="1042416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6200"/>
              </a:lnSpc>
              <a:buNone/>
            </a:pPr>
            <a:r>
              <a:rPr lang="en-US" sz="6200" dirty="0">
                <a:solidFill>
                  <a:srgbClr val="24313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There is power in looking.</a:t>
            </a:r>
            <a:endParaRPr lang="en-US" sz="6200" dirty="0"/>
          </a:p>
        </p:txBody>
      </p:sp>
      <p:sp>
        <p:nvSpPr>
          <p:cNvPr id="4" name="Shape 2"/>
          <p:cNvSpPr/>
          <p:nvPr/>
        </p:nvSpPr>
        <p:spPr>
          <a:xfrm>
            <a:off x="822960" y="5029200"/>
            <a:ext cx="914400" cy="0"/>
          </a:xfrm>
          <a:prstGeom prst="line">
            <a:avLst/>
          </a:prstGeom>
          <a:noFill/>
          <a:ln w="31750">
            <a:solidFill>
              <a:srgbClr val="8C3A3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22960" y="521208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spc="100" kern="0" dirty="0">
                <a:solidFill>
                  <a:srgbClr val="4A6B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bell hooks, The Oppositional Gaze, 1992</a:t>
            </a:r>
            <a:endParaRPr lang="en-US" sz="14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dogan/Documents/Vaults/Courses/wiki/classes/media-studies/decks/_build/img/crops/manet-olympia_a1777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502920" y="502920"/>
            <a:ext cx="5120640" cy="502920"/>
          </a:xfrm>
          <a:prstGeom prst="rect">
            <a:avLst/>
          </a:prstGeom>
          <a:solidFill>
            <a:srgbClr val="FAF8F1"/>
          </a:solidFill>
          <a:ln/>
        </p:spPr>
      </p:sp>
      <p:sp>
        <p:nvSpPr>
          <p:cNvPr id="4" name="Text 1"/>
          <p:cNvSpPr/>
          <p:nvPr/>
        </p:nvSpPr>
        <p:spPr>
          <a:xfrm>
            <a:off x="704088" y="521208"/>
            <a:ext cx="4846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250" kern="0" dirty="0">
                <a:solidFill>
                  <a:srgbClr val="4A6B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LOOK SENT BACK</a:t>
            </a:r>
            <a:endParaRPr lang="en-US" sz="1100" dirty="0"/>
          </a:p>
        </p:txBody>
      </p:sp>
      <p:sp>
        <p:nvSpPr>
          <p:cNvPr id="5" name="Shape 2"/>
          <p:cNvSpPr/>
          <p:nvPr/>
        </p:nvSpPr>
        <p:spPr>
          <a:xfrm>
            <a:off x="457200" y="5230368"/>
            <a:ext cx="8778240" cy="1243584"/>
          </a:xfrm>
          <a:prstGeom prst="rect">
            <a:avLst/>
          </a:prstGeom>
          <a:solidFill>
            <a:srgbClr val="FAF8F1"/>
          </a:solidFill>
          <a:ln/>
        </p:spPr>
      </p:sp>
      <p:sp>
        <p:nvSpPr>
          <p:cNvPr id="6" name="Shape 3"/>
          <p:cNvSpPr/>
          <p:nvPr/>
        </p:nvSpPr>
        <p:spPr>
          <a:xfrm>
            <a:off x="676656" y="5468112"/>
            <a:ext cx="731520" cy="0"/>
          </a:xfrm>
          <a:prstGeom prst="line">
            <a:avLst/>
          </a:prstGeom>
          <a:noFill/>
          <a:ln w="28575">
            <a:solidFill>
              <a:srgbClr val="8C3A38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676656" y="5541264"/>
            <a:ext cx="8339328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200"/>
              </a:lnSpc>
              <a:buNone/>
            </a:pPr>
            <a:r>
              <a:rPr lang="en-US" sz="1800" dirty="0">
                <a:solidFill>
                  <a:srgbClr val="24313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She is looked at, and she looks straight back, refusing to be only an image.</a:t>
            </a:r>
            <a:endParaRPr lang="en-US" sz="1800" dirty="0"/>
          </a:p>
        </p:txBody>
      </p:sp>
      <p:sp>
        <p:nvSpPr>
          <p:cNvPr id="8" name="Text 5"/>
          <p:cNvSpPr/>
          <p:nvPr/>
        </p:nvSpPr>
        <p:spPr>
          <a:xfrm>
            <a:off x="676656" y="6181344"/>
            <a:ext cx="83393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spc="50" kern="0" dirty="0">
                <a:solidFill>
                  <a:srgbClr val="7A7F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Edouard Manet, Olympia, 1863</a:t>
            </a:r>
            <a:endParaRPr lang="en-US" sz="9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AF8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45720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250" kern="0" dirty="0">
                <a:solidFill>
                  <a:srgbClr val="4A6B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HOOKS · THE OPPOSITIONAL GAZE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793992" y="45720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spc="250" kern="0" dirty="0">
                <a:solidFill>
                  <a:srgbClr val="7A7F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WEEK'S QUESTION, FLIPPED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822960" y="786384"/>
            <a:ext cx="10543032" cy="0"/>
          </a:xfrm>
          <a:prstGeom prst="line">
            <a:avLst/>
          </a:prstGeom>
          <a:noFill/>
          <a:ln w="9525">
            <a:solidFill>
              <a:srgbClr val="D9D4C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22960" y="1280160"/>
            <a:ext cx="1054303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dirty="0">
                <a:solidFill>
                  <a:srgbClr val="24313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Looking back at what never expected you</a:t>
            </a:r>
            <a:endParaRPr lang="en-US" sz="3200" dirty="0"/>
          </a:p>
        </p:txBody>
      </p:sp>
      <p:sp>
        <p:nvSpPr>
          <p:cNvPr id="6" name="Shape 4"/>
          <p:cNvSpPr/>
          <p:nvPr/>
        </p:nvSpPr>
        <p:spPr>
          <a:xfrm>
            <a:off x="822960" y="2423160"/>
            <a:ext cx="914400" cy="0"/>
          </a:xfrm>
          <a:prstGeom prst="line">
            <a:avLst/>
          </a:prstGeom>
          <a:noFill/>
          <a:ln w="31750">
            <a:solidFill>
              <a:srgbClr val="8C3A3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22960" y="2651760"/>
            <a:ext cx="996696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800"/>
              </a:lnSpc>
              <a:buNone/>
            </a:pPr>
            <a:r>
              <a:rPr lang="en-US" sz="2000" dirty="0">
                <a:solidFill>
                  <a:srgbClr val="24313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bell hooks flips the week's question. Not how the text looks at its subjects, but who the looking was built for, and what happens when someone else does it. Refusing a text, and reading it again against itself, is critical work. The oppositional gaze looks back at a text that never expected you to be watching.</a:t>
            </a:r>
            <a:endParaRPr lang="en-US" sz="2000" dirty="0"/>
          </a:p>
        </p:txBody>
      </p:sp>
      <p:sp>
        <p:nvSpPr>
          <p:cNvPr id="8" name="Shape 6"/>
          <p:cNvSpPr/>
          <p:nvPr/>
        </p:nvSpPr>
        <p:spPr>
          <a:xfrm>
            <a:off x="822960" y="6382512"/>
            <a:ext cx="10543032" cy="0"/>
          </a:xfrm>
          <a:prstGeom prst="line">
            <a:avLst/>
          </a:prstGeom>
          <a:noFill/>
          <a:ln w="9525">
            <a:solidFill>
              <a:srgbClr val="D9D4C4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22960" y="641908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50" kern="0" dirty="0">
                <a:solidFill>
                  <a:srgbClr val="7A7F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 STUDIES 9607 · SEMESTER I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10268712" y="6355080"/>
            <a:ext cx="1097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dirty="0">
                <a:solidFill>
                  <a:srgbClr val="A3C1A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04</a:t>
            </a:r>
            <a:endParaRPr lang="en-US" sz="16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AF8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45720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250" kern="0" dirty="0">
                <a:solidFill>
                  <a:srgbClr val="4A6B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DELIVERABLE · CS6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793992" y="45720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spc="250" kern="0" dirty="0">
                <a:solidFill>
                  <a:srgbClr val="7A7F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THEORIST DOING ANALYTICAL WORK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822960" y="786384"/>
            <a:ext cx="10543032" cy="0"/>
          </a:xfrm>
          <a:prstGeom prst="line">
            <a:avLst/>
          </a:prstGeom>
          <a:noFill/>
          <a:ln w="9525">
            <a:solidFill>
              <a:srgbClr val="D9D4C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22960" y="1280160"/>
            <a:ext cx="1054303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dirty="0">
                <a:solidFill>
                  <a:srgbClr val="24313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Not decoration, analysis</a:t>
            </a:r>
            <a:endParaRPr lang="en-US" sz="3800" dirty="0"/>
          </a:p>
        </p:txBody>
      </p:sp>
      <p:sp>
        <p:nvSpPr>
          <p:cNvPr id="6" name="Shape 4"/>
          <p:cNvSpPr/>
          <p:nvPr/>
        </p:nvSpPr>
        <p:spPr>
          <a:xfrm>
            <a:off x="822960" y="2514600"/>
            <a:ext cx="914400" cy="0"/>
          </a:xfrm>
          <a:prstGeom prst="line">
            <a:avLst/>
          </a:prstGeom>
          <a:noFill/>
          <a:ln w="31750">
            <a:solidFill>
              <a:srgbClr val="8C3A3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22960" y="2743200"/>
            <a:ext cx="98755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800"/>
              </a:lnSpc>
              <a:buNone/>
            </a:pPr>
            <a:r>
              <a:rPr lang="en-US" sz="2000" dirty="0">
                <a:solidFill>
                  <a:srgbClr val="24313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One close-reading paragraph on a still or short clip: a claim, evidence, and a theorist working inside the analysis. As Mulvey's camera-look predicts... beats Mulvey said the male gaze. The theorist earns their place by doing work, not by being named.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822960" y="4846320"/>
            <a:ext cx="9875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7A7F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Before scripts come in, a Smuggler Hunt: partners hunt for a decorated theorist, named but doing no work.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822960" y="5257800"/>
            <a:ext cx="9875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7A7F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A3 announced today: the complete C1 portfolio, due Friday 27 November, exactly 14 days.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822960" y="6382512"/>
            <a:ext cx="10543032" cy="0"/>
          </a:xfrm>
          <a:prstGeom prst="line">
            <a:avLst/>
          </a:prstGeom>
          <a:noFill/>
          <a:ln w="9525">
            <a:solidFill>
              <a:srgbClr val="D9D4C4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22960" y="641908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50" kern="0" dirty="0">
                <a:solidFill>
                  <a:srgbClr val="7A7F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 STUDIES 9607 · SEMESTER I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10268712" y="6355080"/>
            <a:ext cx="1097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dirty="0">
                <a:solidFill>
                  <a:srgbClr val="A3C1A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05</a:t>
            </a:r>
            <a:endParaRPr lang="en-US" sz="16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4A6B5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21488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250" kern="0" dirty="0">
                <a:solidFill>
                  <a:srgbClr val="FAF8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NEXT</a:t>
            </a:r>
            <a:endParaRPr lang="en-US" sz="1100" dirty="0"/>
          </a:p>
        </p:txBody>
      </p:sp>
      <p:sp>
        <p:nvSpPr>
          <p:cNvPr id="3" name="Shape 1"/>
          <p:cNvSpPr/>
          <p:nvPr/>
        </p:nvSpPr>
        <p:spPr>
          <a:xfrm>
            <a:off x="822960" y="2514600"/>
            <a:ext cx="3108960" cy="0"/>
          </a:xfrm>
          <a:prstGeom prst="line">
            <a:avLst/>
          </a:prstGeom>
          <a:noFill/>
          <a:ln w="9525">
            <a:solidFill>
              <a:srgbClr val="8AA394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822960" y="2651760"/>
            <a:ext cx="1042416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5200"/>
              </a:lnSpc>
              <a:buNone/>
            </a:pPr>
            <a:r>
              <a:rPr lang="en-US" sz="5000" dirty="0">
                <a:solidFill>
                  <a:srgbClr val="FAF8F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Creative</a:t>
            </a:r>
            <a:endParaRPr lang="en-US" sz="5000" dirty="0"/>
          </a:p>
          <a:p>
            <a:pPr indent="0" marL="0">
              <a:lnSpc>
                <a:spcPts val="5200"/>
              </a:lnSpc>
              <a:buNone/>
            </a:pPr>
            <a:r>
              <a:rPr lang="en-US" sz="5000" dirty="0">
                <a:solidFill>
                  <a:srgbClr val="FAF8F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Critical Reflection</a:t>
            </a:r>
            <a:endParaRPr lang="en-US" sz="5000" dirty="0"/>
          </a:p>
        </p:txBody>
      </p:sp>
      <p:sp>
        <p:nvSpPr>
          <p:cNvPr id="5" name="Text 3"/>
          <p:cNvSpPr/>
          <p:nvPr/>
        </p:nvSpPr>
        <p:spPr>
          <a:xfrm>
            <a:off x="822960" y="484632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i="1" dirty="0">
                <a:solidFill>
                  <a:srgbClr val="E8EFE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Lesson 10. Where AO2 lives in the portfolio: cut every sentence that describes instead of reflects.</a:t>
            </a:r>
            <a:endParaRPr lang="en-US" sz="2100" dirty="0"/>
          </a:p>
        </p:txBody>
      </p:sp>
      <p:sp>
        <p:nvSpPr>
          <p:cNvPr id="6" name="Shape 4"/>
          <p:cNvSpPr/>
          <p:nvPr/>
        </p:nvSpPr>
        <p:spPr>
          <a:xfrm>
            <a:off x="822960" y="6382512"/>
            <a:ext cx="10543032" cy="0"/>
          </a:xfrm>
          <a:prstGeom prst="line">
            <a:avLst/>
          </a:prstGeom>
          <a:noFill/>
          <a:ln w="9525">
            <a:solidFill>
              <a:srgbClr val="6E8A7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22960" y="641908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50" kern="0" dirty="0">
                <a:solidFill>
                  <a:srgbClr val="E8EFE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 STUDIES 9607 · SEMESTER I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0268712" y="6355080"/>
            <a:ext cx="1097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dirty="0">
                <a:solidFill>
                  <a:srgbClr val="E8EFE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06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2026-08-03T12:17:07Z</dcterms:created>
  <dcterms:modified xsi:type="dcterms:W3CDTF">2026-08-03T12:17:07Z</dcterms:modified>
</cp:coreProperties>
</file>