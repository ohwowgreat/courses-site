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Semiotics and sign theory in one week, compressed from two. The coursebook gives 2.1 four pages against thirty-eight for the technical sections; the days released here pay for camera, sound, mise-en-scene and editing. Taught from Deck U2.2 on D1; the WS 2.1 theory-card spine starts today with Saussure and Barthes.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road map out loud on Friday: students who hear codes as a glossary will treat the next four weeks as vocabulary weeks and under-invest in the shoots.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Taught from Deck U2.2's worked ad reading: sign, signifier, signified, then denotation and connotation on one advertisement, then polysemy: one image, many possible readings, until context and caption narrow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Pairs build the chain, then challenge each link. The point is that connotation is cultural, not natural. The coursebook's own red-rose two-sentence task (2.1) closes the block.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Kept deliberately as one slide with the aside framing: the exam-example rule governs content examples, and the footnote keeps the core exam-facing.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Cells: Twemoji (CC BY 4.0), an early radiograph from the library, the Union flag (Commons). Sort Wars deals the twelve contested signs after: emoji, X-ray, wedding ring, siren, brand logo, thumbprint, crucifix, weather vane and friends; the blends are the fun.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L01's stereograph returns with a theorist's name. Anchorage fixes the floating chain; relay is when words and image take turns carrying the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D3's caption swap staged on the slide so the mechanism is visible before pairs write their own three captions for a fresh image.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D3's 35-minute block, previously slide-less. Cells: Dior J'adore (library), a public-domain broadsheet front page, a social-app splash photograph (Unsplash, credited). Not a Chinese app as core, per the exam-example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D4's mapping exercise on screen: one dense still, all four families in table form, then the personal code checklist. Audio is named as the family a still cannot show, which is itself the teaching.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exemplar is peer-checked against on Friday before CS2 is collected. The ad also served as D1's worked reading, so the room has seen it twice by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media-area commitment is Wednesday's milestone; the one-line justification goes on the blog the same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822960"/>
            <a:ext cx="37490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315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Semiotics,</a:t>
            </a:r>
            <a:endParaRPr lang="en-US" sz="5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Signs and Codes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Language · Lesson 02 of 19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days  ·  Monday 7 to Friday 11 September  ·  the theory base for the four technical lessons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0" y="640080"/>
            <a:ext cx="356616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II</a:t>
            </a:r>
            <a:endParaRPr lang="en-US" sz="36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WEEK GOES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4320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 is the base.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four weeks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on it.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SAUSSURE · THE 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PARTS, ONE MEANING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sign has two halves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2057400"/>
            <a:ext cx="4114800" cy="1965960"/>
          </a:xfrm>
          <a:prstGeom prst="rect">
            <a:avLst/>
          </a:prstGeom>
          <a:solidFill>
            <a:srgbClr val="E8EFE7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743200"/>
            <a:ext cx="914400" cy="0"/>
          </a:xfrm>
          <a:prstGeom prst="line">
            <a:avLst/>
          </a:prstGeom>
          <a:noFill/>
          <a:ln w="25400">
            <a:solidFill>
              <a:srgbClr val="8C3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880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form you see or hear: the letters r-o-s-e, or the spoken word.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78040" y="2057400"/>
            <a:ext cx="4114800" cy="1965960"/>
          </a:xfrm>
          <a:prstGeom prst="rect">
            <a:avLst/>
          </a:prstGeom>
          <a:solidFill>
            <a:srgbClr val="E8EFE7"/>
          </a:solidFill>
          <a:ln w="12700">
            <a:solidFill>
              <a:srgbClr val="8AA3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5236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2743200"/>
            <a:ext cx="914400" cy="0"/>
          </a:xfrm>
          <a:prstGeom prst="line">
            <a:avLst/>
          </a:prstGeom>
          <a:noFill/>
          <a:ln w="25400">
            <a:solidFill>
              <a:srgbClr val="8C3A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52360" y="28803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idea in your mind: the concept of a rose.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24688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</a:t>
            </a:r>
            <a:endParaRPr lang="en-US" sz="6000" dirty="0"/>
          </a:p>
        </p:txBody>
      </p:sp>
      <p:sp>
        <p:nvSpPr>
          <p:cNvPr id="15" name="Shape 13"/>
          <p:cNvSpPr/>
          <p:nvPr/>
        </p:nvSpPr>
        <p:spPr>
          <a:xfrm>
            <a:off x="822960" y="4434840"/>
            <a:ext cx="10543032" cy="822960"/>
          </a:xfrm>
          <a:prstGeom prst="rect">
            <a:avLst/>
          </a:prstGeom>
          <a:solidFill>
            <a:srgbClr val="4A6B5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434840"/>
            <a:ext cx="9994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 THE SIGN, the unit that carries meaning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bond between the signifier and the signified is arbitrary.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Ferdinand de Saussure, Course in General Linguistics, 1916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   </a:t>
            </a:r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Arbitrary: there is no natural link between a word's form and its meaning. Only agreement links them.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redoute-rose_a63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0"/>
            <a:ext cx="437083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1000" y="6126480"/>
            <a:ext cx="4005072" cy="365760"/>
          </a:xfrm>
          <a:prstGeom prst="rect">
            <a:avLst/>
          </a:prstGeom>
          <a:solidFill>
            <a:srgbClr val="FAF8F1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Pierre-Joseph Redouté, Rosa gallica regalis, c. 1817</a:t>
            </a:r>
            <a:endParaRPr lang="en-US" sz="950" dirty="0"/>
          </a:p>
        </p:txBody>
      </p:sp>
      <p:sp>
        <p:nvSpPr>
          <p:cNvPr id="4" name="Text 1"/>
          <p:cNvSpPr/>
          <p:nvPr/>
        </p:nvSpPr>
        <p:spPr>
          <a:xfrm>
            <a:off x="822960" y="685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CONNOTATION CHAINS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822960" y="1051560"/>
            <a:ext cx="6675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234440"/>
            <a:ext cx="6766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Rose, and</a:t>
            </a:r>
            <a:endParaRPr lang="en-US" sz="42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after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822960" y="306324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rose  →  romance  →  Valentine's  →  spending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 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Connotation: the extra meaning a culture attaches to a sign.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Connotation is learned, not natural. Nobody is born knowing a rose means love.</a:t>
            </a:r>
            <a:endParaRPr lang="en-US" sz="12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  </a:t>
            </a:r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each arrow, ask: who taught me this meaning? Who makes money from it?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CONNOTATION IS CULTURAL, NOT NATURAL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CLOSING ASIDE: WHERE CULTURES DIVERGE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signifier, different meanings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78308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0" y="17830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reading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0" y="1783080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Another reading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441448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4144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0" y="2441448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Purity, the bride, the wedding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0" y="2441448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Mourning, the funeral, loss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3099816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9981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657600" y="3099816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Danger, stop, warning, debt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0" y="3099816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Fortune, joy, the wedding envelope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37581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758184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number four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657600" y="3758184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ordinary number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0" y="3758184"/>
            <a:ext cx="3840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 sounds like 死: avoided in floors and phone numbers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441655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470916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4864608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Connotations change from culture to culture. This table is the proof.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 NOTE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Cambridge paper uses the Western readings: red, white, black, the rose, the dove, the suit. Learn those.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PEIRCE · THREE WAYS TO MEAN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WARS · MIXED TYPES ARE ALLOWED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Icon, index, symbol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3246120" cy="210312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Users/dogan/Documents/Vaults/Courses/wiki/classes/media-studies/decks/_build/img/twemoji-gr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188" y="1664208"/>
            <a:ext cx="1883664" cy="18836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49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Icon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822960" y="4224528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3159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looks like the thing.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" y="4663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emoji face looks like the face it stands for.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71416" y="1554480"/>
            <a:ext cx="3246120" cy="210312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3" name="Image 1" descr="/Users/dogan/Documents/Vaults/Courses/wiki/classes/media-studies/decks/_build/img/xray-plat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991" y="1664208"/>
            <a:ext cx="1392970" cy="18836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71416" y="3749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Index</a:t>
            </a:r>
            <a:endParaRPr lang="en-US" sz="2400" dirty="0"/>
          </a:p>
        </p:txBody>
      </p:sp>
      <p:sp>
        <p:nvSpPr>
          <p:cNvPr id="15" name="Shape 11"/>
          <p:cNvSpPr/>
          <p:nvPr/>
        </p:nvSpPr>
        <p:spPr>
          <a:xfrm>
            <a:off x="4471416" y="4224528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471416" y="43159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a physical trace.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471416" y="4663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X-rays passed through a real body and left this mark.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8119872" y="1554480"/>
            <a:ext cx="3246120" cy="210312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9" name="Image 2" descr="/Users/dogan/Documents/Vaults/Courses/wiki/classes/media-studies/decks/_build/img/uk-flag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698041"/>
            <a:ext cx="3026664" cy="181599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119872" y="37490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</a:t>
            </a:r>
            <a:endParaRPr lang="en-US" sz="2400" dirty="0"/>
          </a:p>
        </p:txBody>
      </p:sp>
      <p:sp>
        <p:nvSpPr>
          <p:cNvPr id="21" name="Shape 16"/>
          <p:cNvSpPr/>
          <p:nvPr/>
        </p:nvSpPr>
        <p:spPr>
          <a:xfrm>
            <a:off x="8119872" y="4224528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119872" y="431596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means by agreement only.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119872" y="46634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flag means a nation only because we agree it does.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822960" y="57150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2960" y="58521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0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HARD CASE 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photograph is an index (a light trace) that also looks like an icon. Both answers are correct.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7830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photograph as such and the object in itself share a common being, after the fashion of a fingerprint.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André Bazin, The Ontology of the Photographic Image, 1945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PLAIN WORDS   </a:t>
            </a:r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photograph is like a fingerprint: the real object made the mark. That is why it is an index.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underwood-sweetheart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ANCHORAGE · THE CAPTION RETURNS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caption fixes which meaning you take. Barthes calls this anchorage.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Underwood &amp; Underwood, Seventh Regiment marching to war, c. 1917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CAPTION SWAP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IMAGE NEVER CHANGED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097280"/>
            <a:ext cx="5943600" cy="44805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6" name="Image 0" descr="/Users/dogan/Documents/Vaults/Courses/wiki/classes/media-studies/decks/_build/img/underwood-sweethe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81" y="1225296"/>
            <a:ext cx="5398758" cy="42245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6235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Underwood &amp; Underwood, c. 1917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7132320" y="1371600"/>
            <a:ext cx="4206240" cy="1234440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9" name="Text 6"/>
          <p:cNvSpPr/>
          <p:nvPr/>
        </p:nvSpPr>
        <p:spPr>
          <a:xfrm>
            <a:off x="7360920" y="15087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SYMPATHY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60920" y="182880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women say goodbye to the men they love.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7132320" y="2852928"/>
            <a:ext cx="4206240" cy="1234440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12" name="Text 9"/>
          <p:cNvSpPr/>
          <p:nvPr/>
        </p:nvSpPr>
        <p:spPr>
          <a:xfrm>
            <a:off x="7360920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SUSPICION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60920" y="331012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crowd cheers for a war that others will fight.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132320" y="4334256"/>
            <a:ext cx="4206240" cy="1234440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15" name="Text 12"/>
          <p:cNvSpPr/>
          <p:nvPr/>
        </p:nvSpPr>
        <p:spPr>
          <a:xfrm>
            <a:off x="7360920" y="44714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COMEDY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360920" y="479145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i="1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best show in town, and the seats are free.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822960" y="59893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6108192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image, three captions, three different texts. Whoever writes the caption controls the meaning.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 OF ADDRESS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OLD DOES THIS TEXT THINK YOU ARE?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texts, three implied readers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3246120" cy="26517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Users/dogan/Documents/Vaults/Courses/wiki/classes/media-studies/decks/_build/img/dior-jado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2684" y="1600200"/>
            <a:ext cx="1726673" cy="2468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24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luxury ad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46177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expects money and taste. One word, gold light, no explanation needed.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471416" y="1508760"/>
            <a:ext cx="3246120" cy="26517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1" name="Image 1" descr="/Users/dogan/Documents/Vaults/Courses/wiki/classes/media-studies/decks/_build/img/nyt-fron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6850" y="1600200"/>
            <a:ext cx="1895252" cy="2468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71416" y="4224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broadsheet front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471416" y="46177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expects patience, prior knowledge, and trust in long columns of text.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19872" y="1508760"/>
            <a:ext cx="3246120" cy="265176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15" name="Image 2" descr="/Users/dogan/Documents/Vaults/Courses/wiki/classes/media-studies/decks/_build/img/app-splash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9972" y="1600200"/>
            <a:ext cx="1645920" cy="2468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19872" y="422452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splash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119872" y="46177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expects a thumb, a short attention span, and no patience at all.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822960" y="576072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22960" y="5870448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Implied reader: the reader a text expects and speaks to.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  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Profile each one: age, income, knowledge, mood, and how the text would address you.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TWO-YEAR CHECKLIST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ALL FOUR ON EVERY EXTRACT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144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code families, one dense still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554480"/>
            <a:ext cx="6492240" cy="393192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7" name="Image 0" descr="/Users/dogan/Documents/Vaults/Courses/wiki/classes/media-studies/decks/_build/img/adolescence-intervie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52535"/>
            <a:ext cx="6236208" cy="31358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5321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Adolescence (Netflix, 2025): the interview room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26680" y="1600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32104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321040" y="198424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wide, static, eye level, cold institutional light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26680" y="26243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321040" y="262432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Symbolic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321040" y="3008376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table between them, the sweatshirt, the bare walls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726680" y="364845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321040" y="364845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Written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321040" y="4032504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notice on the wall, the forms on the table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726680" y="46725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321040" y="467258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Audio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8321040" y="505663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room would sound like: hum, chairs, silence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CS2 EXEMPLAR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LABELS, ONE AD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097280"/>
            <a:ext cx="4023360" cy="4846320"/>
          </a:xfrm>
          <a:prstGeom prst="rect">
            <a:avLst/>
          </a:prstGeom>
          <a:solidFill>
            <a:srgbClr val="FAF8F1"/>
          </a:solidFill>
          <a:ln w="9525">
            <a:solidFill>
              <a:srgbClr val="D9D4C4"/>
            </a:solidFill>
            <a:prstDash val="solid"/>
          </a:ln>
        </p:spPr>
      </p:sp>
      <p:pic>
        <p:nvPicPr>
          <p:cNvPr id="6" name="Image 0" descr="/Users/dogan/Documents/Vaults/Courses/wiki/classes/media-studies/decks/_build/img/dior-sauvag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378" y="1225296"/>
            <a:ext cx="3322523" cy="45902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989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Dior, Sauvage print campaign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937760" y="13258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55080" y="13258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SAUVAGE, WILD AT HEART, DIOR: three ways to say one thing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937760" y="20848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SYMBOLIC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355080" y="2084832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firelight, open shirt, tattoos, desert: wildness as a costume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937760" y="284378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SYMBOLIC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55080" y="284378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bottle stays sharp and steady: the product is the calm center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937760" y="36027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355080" y="3602736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low-key lighting, warm against cool, shallow focus on the face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4937760" y="436168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55080" y="436168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eye level, direct address: he looks straight at you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937760" y="51206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355080" y="512064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print ad has no sound: writing that down is also a label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937760" y="5943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937760" y="6062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CS2   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accurate labels on a media text you choose. This ad is your model.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FRIDAY · TWO THINGS LEAVE THE ROOM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COLLECTED, ONE COMMITTED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6012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CS2, and a decision that lasts until May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CS2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487168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an everyday media text. Label it with at least six accurate code labels. Check your work against the model ad before you hand it in.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1920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media area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309360" y="2487168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6517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Decide on Wednesday. Post it on the blog with one line: why this area? The choice feeds your Lesson 15 case study, and you cannot change it next week.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4663440"/>
            <a:ext cx="10543032" cy="1005840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828032"/>
            <a:ext cx="9994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ROAD MAP   </a:t>
            </a:r>
            <a:pPr indent="0" marL="0">
              <a:lnSpc>
                <a:spcPts val="2100"/>
              </a:lnSpc>
              <a:buNone/>
            </a:pPr>
            <a:r>
              <a:rPr lang="en-US" sz="15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four lessons on the technical codes, with equipment in your hands. Every exercise you shoot becomes a dated post on your Component 1 blog.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6600"/>
              </a:lnSpc>
              <a:buNone/>
            </a:pPr>
            <a:r>
              <a:rPr lang="en-US" sz="6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Camera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822960" y="46177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03. Shots, angles, movement, composition, and on Thursday you shoot six of them.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2026-08-25T13:06:01Z</dcterms:created>
  <dcterms:modified xsi:type="dcterms:W3CDTF">2026-08-25T13:06:01Z</dcterms:modified>
</cp:coreProperties>
</file>