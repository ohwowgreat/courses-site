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double is the right home for day one: the sound-only opener needs twenty uninterrupted minutes and it is the only activity in the band that makes an invisible element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preamble. Play the sequence twice with no picture before a single term is introduced.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PROPOSED content: the chosen sequence must be dense in ambient sound and score with no decodable dialogue; note the text and timecodes here before teaching. D2 opens with Lexicon Bingo as retrieval and the three-minute blind listen; the D1 homework is three sounds collected from your own environment, recorded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each term on a moment from the sequence they just heard blind, not on an abstract definition. Sound effects restored to the list 2026-08-24: it is on the syllabus list and WS 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Coursebook 2.3 names the Jaws shark theme as the classic sound-motif example, and the film already anchors the camera deck, so the set coheres. Ask: what would your opening's motif be, and what would it be welded 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image the 2026-08-12 pass added; it stays. The stations slide later makes the room's work the students'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waveform runs under both boxes and straight through the cut: that continuity is the whole concept. If a screened pair is wanted, any cold open with a carried song does it; keep it exam-eligible.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source sequence and both beds exam-eligible. A Chinese-drama comparison is a legitimate spoken aside afterwards, per the exam-example rule. The canonical archive example is the Scary Mary recut of Mary Poppins, family-safe if screened.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demonstrate the failure: twenty seconds of dialogue recorded near an open door, played back on a speaker, so the room hears what an uncontrolled space costs. Cambridge's own definition normalised here from an en dash to commas; all of its words are kept.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monitoring habit is policed at every shoot from CS4 onward. The photograph shows the division of labor a two-person student crew should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gate photograph is Deck U2.1 slide 2's own soundscape image, the coursebook's design-the-soundscape task: fog, a figure, one lamp. What do we hear, from where, and what carries over the cut?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822960"/>
            <a:ext cx="3566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400"/>
              </a:lnSpc>
              <a:buNone/>
            </a:pPr>
            <a:r>
              <a:rPr lang="en-US" sz="7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</a:t>
            </a:r>
            <a:endParaRPr lang="en-US" sz="74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04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days  ·  Wednesday 16 (double) to Friday 18 September  ·  second of the four technical elements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640080"/>
            <a:ext cx="39319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34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LESSON OPENS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screen</a:t>
            </a:r>
            <a:endParaRPr lang="en-US" sz="56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goes black.</a:t>
            </a:r>
            <a:endParaRPr lang="en-US" sz="5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TWENTY MINUTES, NO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COURSEBOOK'S OWN ACTIVITY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scene from the soundtrack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3209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pass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871216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99232"/>
            <a:ext cx="32095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 black. Write down every sound you hear. Include the small sounds you usually ignore.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9704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489704" y="2331720"/>
            <a:ext cx="3209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pass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489704" y="2871216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9704" y="2999232"/>
            <a:ext cx="32095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audio. Now write what you think is happening and what the picture will show. Commit to your guess.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156448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156448" y="2331720"/>
            <a:ext cx="3209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the picture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156448" y="2871216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56448" y="2999232"/>
            <a:ext cx="32095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Watch it properly. Compare the scene you built against the scene that exists, out loud, as a class.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5230368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4132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100"/>
              </a:lnSpc>
              <a:buNone/>
            </a:pPr>
            <a:r>
              <a:rPr lang="en-US" sz="16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built a whole scene from audio alone. Sound was doing that work all along, unnoticed.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 is often neglected ... it is worth doing some targeted work on this, in particularly helping learners to develop a vocabulary of sound terminology.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 Scheme of Work (2021), Component 2 Section 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candidates write very little about sound. Learn the sound terms and you stand out.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SYLLABUS 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TERM IS EXAMINABLE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can now name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lives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212848"/>
            <a:ext cx="486003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31720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diegetic  ·  non-diegetic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synchronous  ·  asynchronous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05956" y="1828800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moves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05956" y="2212848"/>
            <a:ext cx="486003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5956" y="2331720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 bridge  ·  sound motif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 perspective  ·  ambient sound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3401568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speaks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3785616"/>
            <a:ext cx="486003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904488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dialogue  ·  voiceover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address  ·  sound mixing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05956" y="3401568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soundtrack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05956" y="3785616"/>
            <a:ext cx="486003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5956" y="3904488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  ·  incidental music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themes and stings  ·  sound effects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51206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3035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TERMS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Rare in exam scripts, easy to learn: harmony, dissonance, discordance, rhythm, crescendo, pitch, timbre.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SOUND MOTIF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NOTES, AND YOU KNOW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51560"/>
            <a:ext cx="10543032" cy="3063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jaws-f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0151" y="1179576"/>
            <a:ext cx="6648651" cy="2807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413308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Jaws (1975), dir. Steven Spielberg: the fin surfaces behind the chum line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" y="46177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 motif: a repeated sound attached to a character or idea, until the sound alone carries it.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CASE  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Jaws attaches two low notes to the shark. After the first attack, the notes alone create the fear.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SENTENCE   </a:t>
            </a:r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recurring two-note motif signals the shark's presence before we see it.”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foley-room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SOUND, MADE VISIBLE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822960" y="1188720"/>
            <a:ext cx="64008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13716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room where sound is built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822960" y="233172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Foley: sound effects performed and recorded after filming.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Almost nothing you hear in a finished scene was recorded on set. Footsteps, cloth, a glass, a door: all performed later, in a room like this.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sound was chosen and placed. If you can hear it, someone decided you would.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foley room at work. Vancouver Film School, CC BY 2.0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LINE, AND CROSSING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 THE CROSSING EARNS THE MOST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car radio, then a kitchen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Diegetic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121408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2402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song plays on the car radio. It exists in the world of the text and the character can hear it.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3093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Non-diegetic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121408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402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song continues over the next scene, in a kitchen, with no radio. Only you can hear it now.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22960" y="3794760"/>
            <a:ext cx="5074920" cy="137160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3794760"/>
            <a:ext cx="5074920" cy="137160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904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INT. CAR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46520" y="3904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INT. KITCHEN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897880" y="3657600"/>
            <a:ext cx="365760" cy="1645920"/>
          </a:xfrm>
          <a:prstGeom prst="rect">
            <a:avLst/>
          </a:prstGeom>
          <a:solidFill>
            <a:srgbClr val="8C3A38"/>
          </a:solidFill>
          <a:ln/>
        </p:spPr>
      </p:sp>
      <p:sp>
        <p:nvSpPr>
          <p:cNvPr id="17" name="Text 15"/>
          <p:cNvSpPr/>
          <p:nvPr/>
        </p:nvSpPr>
        <p:spPr>
          <a:xfrm>
            <a:off x="5650992" y="5330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C3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51560" y="4453128"/>
            <a:ext cx="82296" cy="51206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9" name="Shape 17"/>
          <p:cNvSpPr/>
          <p:nvPr/>
        </p:nvSpPr>
        <p:spPr>
          <a:xfrm>
            <a:off x="1272845" y="4528566"/>
            <a:ext cx="82296" cy="36118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0" name="Shape 18"/>
          <p:cNvSpPr/>
          <p:nvPr/>
        </p:nvSpPr>
        <p:spPr>
          <a:xfrm>
            <a:off x="1494130" y="4604004"/>
            <a:ext cx="82296" cy="21031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1" name="Shape 19"/>
          <p:cNvSpPr/>
          <p:nvPr/>
        </p:nvSpPr>
        <p:spPr>
          <a:xfrm>
            <a:off x="1715414" y="4629150"/>
            <a:ext cx="82296" cy="1600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2" name="Shape 20"/>
          <p:cNvSpPr/>
          <p:nvPr/>
        </p:nvSpPr>
        <p:spPr>
          <a:xfrm>
            <a:off x="1936699" y="4553712"/>
            <a:ext cx="82296" cy="310896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3" name="Shape 21"/>
          <p:cNvSpPr/>
          <p:nvPr/>
        </p:nvSpPr>
        <p:spPr>
          <a:xfrm>
            <a:off x="2157984" y="4478274"/>
            <a:ext cx="82296" cy="46177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4" name="Shape 22"/>
          <p:cNvSpPr/>
          <p:nvPr/>
        </p:nvSpPr>
        <p:spPr>
          <a:xfrm>
            <a:off x="2379269" y="4478274"/>
            <a:ext cx="82296" cy="46177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5" name="Shape 23"/>
          <p:cNvSpPr/>
          <p:nvPr/>
        </p:nvSpPr>
        <p:spPr>
          <a:xfrm>
            <a:off x="2600554" y="4553712"/>
            <a:ext cx="82296" cy="310896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6" name="Shape 24"/>
          <p:cNvSpPr/>
          <p:nvPr/>
        </p:nvSpPr>
        <p:spPr>
          <a:xfrm>
            <a:off x="2821838" y="4629150"/>
            <a:ext cx="82296" cy="1600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7" name="Shape 25"/>
          <p:cNvSpPr/>
          <p:nvPr/>
        </p:nvSpPr>
        <p:spPr>
          <a:xfrm>
            <a:off x="3043123" y="4604004"/>
            <a:ext cx="82296" cy="21031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4408" y="4528566"/>
            <a:ext cx="82296" cy="36118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9" name="Shape 27"/>
          <p:cNvSpPr/>
          <p:nvPr/>
        </p:nvSpPr>
        <p:spPr>
          <a:xfrm>
            <a:off x="3485693" y="4453128"/>
            <a:ext cx="82296" cy="51206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0" name="Shape 28"/>
          <p:cNvSpPr/>
          <p:nvPr/>
        </p:nvSpPr>
        <p:spPr>
          <a:xfrm>
            <a:off x="3706978" y="4503420"/>
            <a:ext cx="82296" cy="41148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1" name="Shape 29"/>
          <p:cNvSpPr/>
          <p:nvPr/>
        </p:nvSpPr>
        <p:spPr>
          <a:xfrm>
            <a:off x="3928262" y="4578858"/>
            <a:ext cx="82296" cy="26060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2" name="Shape 30"/>
          <p:cNvSpPr/>
          <p:nvPr/>
        </p:nvSpPr>
        <p:spPr>
          <a:xfrm>
            <a:off x="4149547" y="4654296"/>
            <a:ext cx="82296" cy="10972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3" name="Shape 31"/>
          <p:cNvSpPr/>
          <p:nvPr/>
        </p:nvSpPr>
        <p:spPr>
          <a:xfrm>
            <a:off x="4370832" y="4578858"/>
            <a:ext cx="82296" cy="26060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4" name="Shape 32"/>
          <p:cNvSpPr/>
          <p:nvPr/>
        </p:nvSpPr>
        <p:spPr>
          <a:xfrm>
            <a:off x="4592117" y="4503420"/>
            <a:ext cx="82296" cy="41148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5" name="Shape 33"/>
          <p:cNvSpPr/>
          <p:nvPr/>
        </p:nvSpPr>
        <p:spPr>
          <a:xfrm>
            <a:off x="4813402" y="4453128"/>
            <a:ext cx="82296" cy="51206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6" name="Shape 34"/>
          <p:cNvSpPr/>
          <p:nvPr/>
        </p:nvSpPr>
        <p:spPr>
          <a:xfrm>
            <a:off x="5034686" y="4528566"/>
            <a:ext cx="82296" cy="36118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7" name="Shape 35"/>
          <p:cNvSpPr/>
          <p:nvPr/>
        </p:nvSpPr>
        <p:spPr>
          <a:xfrm>
            <a:off x="5255971" y="4604004"/>
            <a:ext cx="82296" cy="21031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8" name="Shape 36"/>
          <p:cNvSpPr/>
          <p:nvPr/>
        </p:nvSpPr>
        <p:spPr>
          <a:xfrm>
            <a:off x="5477256" y="4629150"/>
            <a:ext cx="82296" cy="1600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9" name="Shape 37"/>
          <p:cNvSpPr/>
          <p:nvPr/>
        </p:nvSpPr>
        <p:spPr>
          <a:xfrm>
            <a:off x="5698541" y="4553712"/>
            <a:ext cx="82296" cy="310896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0" name="Shape 38"/>
          <p:cNvSpPr/>
          <p:nvPr/>
        </p:nvSpPr>
        <p:spPr>
          <a:xfrm>
            <a:off x="6583680" y="4629150"/>
            <a:ext cx="82296" cy="1600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1" name="Shape 39"/>
          <p:cNvSpPr/>
          <p:nvPr/>
        </p:nvSpPr>
        <p:spPr>
          <a:xfrm>
            <a:off x="6804965" y="4604004"/>
            <a:ext cx="82296" cy="21031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2" name="Shape 40"/>
          <p:cNvSpPr/>
          <p:nvPr/>
        </p:nvSpPr>
        <p:spPr>
          <a:xfrm>
            <a:off x="7026250" y="4528566"/>
            <a:ext cx="82296" cy="36118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3" name="Shape 41"/>
          <p:cNvSpPr/>
          <p:nvPr/>
        </p:nvSpPr>
        <p:spPr>
          <a:xfrm>
            <a:off x="7247534" y="4453128"/>
            <a:ext cx="82296" cy="51206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4" name="Shape 42"/>
          <p:cNvSpPr/>
          <p:nvPr/>
        </p:nvSpPr>
        <p:spPr>
          <a:xfrm>
            <a:off x="7468819" y="4503420"/>
            <a:ext cx="82296" cy="41148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5" name="Shape 43"/>
          <p:cNvSpPr/>
          <p:nvPr/>
        </p:nvSpPr>
        <p:spPr>
          <a:xfrm>
            <a:off x="7690104" y="4578858"/>
            <a:ext cx="82296" cy="26060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6" name="Shape 44"/>
          <p:cNvSpPr/>
          <p:nvPr/>
        </p:nvSpPr>
        <p:spPr>
          <a:xfrm>
            <a:off x="7911389" y="4654296"/>
            <a:ext cx="82296" cy="10972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7" name="Shape 45"/>
          <p:cNvSpPr/>
          <p:nvPr/>
        </p:nvSpPr>
        <p:spPr>
          <a:xfrm>
            <a:off x="8132674" y="4578858"/>
            <a:ext cx="82296" cy="26060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8" name="Shape 46"/>
          <p:cNvSpPr/>
          <p:nvPr/>
        </p:nvSpPr>
        <p:spPr>
          <a:xfrm>
            <a:off x="8353958" y="4503420"/>
            <a:ext cx="82296" cy="41148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9" name="Shape 47"/>
          <p:cNvSpPr/>
          <p:nvPr/>
        </p:nvSpPr>
        <p:spPr>
          <a:xfrm>
            <a:off x="8575243" y="4453128"/>
            <a:ext cx="82296" cy="51206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0" name="Shape 48"/>
          <p:cNvSpPr/>
          <p:nvPr/>
        </p:nvSpPr>
        <p:spPr>
          <a:xfrm>
            <a:off x="8796528" y="4528566"/>
            <a:ext cx="82296" cy="36118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1" name="Shape 49"/>
          <p:cNvSpPr/>
          <p:nvPr/>
        </p:nvSpPr>
        <p:spPr>
          <a:xfrm>
            <a:off x="9017813" y="4604004"/>
            <a:ext cx="82296" cy="21031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2" name="Shape 50"/>
          <p:cNvSpPr/>
          <p:nvPr/>
        </p:nvSpPr>
        <p:spPr>
          <a:xfrm>
            <a:off x="9239098" y="4629150"/>
            <a:ext cx="82296" cy="1600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3" name="Shape 51"/>
          <p:cNvSpPr/>
          <p:nvPr/>
        </p:nvSpPr>
        <p:spPr>
          <a:xfrm>
            <a:off x="9460382" y="4553712"/>
            <a:ext cx="82296" cy="310896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4" name="Shape 52"/>
          <p:cNvSpPr/>
          <p:nvPr/>
        </p:nvSpPr>
        <p:spPr>
          <a:xfrm>
            <a:off x="9681667" y="4478274"/>
            <a:ext cx="82296" cy="46177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5" name="Shape 53"/>
          <p:cNvSpPr/>
          <p:nvPr/>
        </p:nvSpPr>
        <p:spPr>
          <a:xfrm>
            <a:off x="9902952" y="4478274"/>
            <a:ext cx="82296" cy="46177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6" name="Shape 54"/>
          <p:cNvSpPr/>
          <p:nvPr/>
        </p:nvSpPr>
        <p:spPr>
          <a:xfrm>
            <a:off x="10124237" y="4553712"/>
            <a:ext cx="82296" cy="310896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7" name="Shape 55"/>
          <p:cNvSpPr/>
          <p:nvPr/>
        </p:nvSpPr>
        <p:spPr>
          <a:xfrm>
            <a:off x="10345522" y="4629150"/>
            <a:ext cx="82296" cy="1600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8" name="Shape 56"/>
          <p:cNvSpPr/>
          <p:nvPr/>
        </p:nvSpPr>
        <p:spPr>
          <a:xfrm>
            <a:off x="10566806" y="4604004"/>
            <a:ext cx="82296" cy="21031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9" name="Shape 57"/>
          <p:cNvSpPr/>
          <p:nvPr/>
        </p:nvSpPr>
        <p:spPr>
          <a:xfrm>
            <a:off x="10788091" y="4528566"/>
            <a:ext cx="82296" cy="36118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60" name="Shape 58"/>
          <p:cNvSpPr/>
          <p:nvPr/>
        </p:nvSpPr>
        <p:spPr>
          <a:xfrm>
            <a:off x="11009376" y="4453128"/>
            <a:ext cx="82296" cy="51206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61" name="Text 59"/>
          <p:cNvSpPr/>
          <p:nvPr/>
        </p:nvSpPr>
        <p:spPr>
          <a:xfrm>
            <a:off x="822960" y="548640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 bridge: one sound continues, unbroken, across a cut.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SENTENCE   </a:t>
            </a:r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sound bridge connects the car and the kitchen, so the two spaces feel like one story.”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FASTEST PROOF IN THE COURSE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424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pictures.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music.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genre.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822960" y="47548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9377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watch the same scene twice with two soundtracks. The genre changes. That is the proof: non-diegetic music is not decoration. It tells you how to feel.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FOLEY · TWENTY-FIVE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PHONES RECORDING, HEADPHONES 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 have to be the real thing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Cambridge defines it precisely: incidental sound effects which are created artificially to enhance the drama, but which are diegetic, that is, they exist within the world of the film.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3291840" cy="658368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27432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Footsteps, three surfaces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389120" y="2743200"/>
            <a:ext cx="3291840" cy="658368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0" name="Text 8"/>
          <p:cNvSpPr/>
          <p:nvPr/>
        </p:nvSpPr>
        <p:spPr>
          <a:xfrm>
            <a:off x="4590288" y="27432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door, opened slowly and fast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955280" y="2743200"/>
            <a:ext cx="3291840" cy="658368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2" name="Text 10"/>
          <p:cNvSpPr/>
          <p:nvPr/>
        </p:nvSpPr>
        <p:spPr>
          <a:xfrm>
            <a:off x="8156448" y="27432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Cloth movement, close to the mic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22960" y="3611880"/>
            <a:ext cx="3291840" cy="658368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36118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punch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4389120" y="3611880"/>
            <a:ext cx="3291840" cy="658368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6" name="Text 14"/>
          <p:cNvSpPr/>
          <p:nvPr/>
        </p:nvSpPr>
        <p:spPr>
          <a:xfrm>
            <a:off x="4590288" y="36118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Liquid poured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955280" y="3611880"/>
            <a:ext cx="3291840" cy="658368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8" name="Text 16"/>
          <p:cNvSpPr/>
          <p:nvPr/>
        </p:nvSpPr>
        <p:spPr>
          <a:xfrm>
            <a:off x="8156448" y="36118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Breath, gasp, hesitation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22960" y="47091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8920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HABIT   </a:t>
            </a:r>
            <a:pPr indent="0" marL="0">
              <a:lnSpc>
                <a:spcPts val="2100"/>
              </a:lnSpc>
              <a:buNone/>
            </a:pPr>
            <a:r>
              <a:rPr lang="en-US" sz="16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Headphones on for every take. Mic as close as the frame allows. Bad audio cannot be fixed later.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SOUND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HABIT THAT SAVES THE SHOOT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6583680" cy="44805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boom-operat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1225296"/>
            <a:ext cx="5632704" cy="42245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62356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crew, one job each: the frame, and the sound. Photograph: Tri Vo, Unsplash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726680" y="132588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Headphones on,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 close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7726680" y="2697480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288036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boom pole holds the mic just outside the frame, as close as possible. On your shoots, the phone is the mic, and the habit is the same: listen on headphones during every take. If the sound is weak, move the mic closer. Do not turn the volume up.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THIRTY MINUTES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Thirty seconds of your own opening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it from your own recordings and the foley takes, plus one non-diegetic element. It must include: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3017520"/>
            <a:ext cx="292608" cy="29260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953512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clearly diegetic sound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3547872"/>
            <a:ext cx="292608" cy="29260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3483864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clearly non-diegetic sound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4078224"/>
            <a:ext cx="292608" cy="29260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3" name="Text 11"/>
          <p:cNvSpPr/>
          <p:nvPr/>
        </p:nvSpPr>
        <p:spPr>
          <a:xfrm>
            <a:off x="1325880" y="4014216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sound with clear perspective (near or far)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4608576"/>
            <a:ext cx="292608" cy="29260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544568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sound bridge across an implied cut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52578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BLOG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 it, dated, with a short rationale: name each choice by its term, and say what it does to the listener.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MARKED ON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Terminology and intention, not polish.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52360" y="1097280"/>
            <a:ext cx="3931920" cy="4297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8" name="Image 0" descr="/Users/dogan/Documents/Vaults/Courses/wiki/classes/media-studies/decks/_build/img/cup-soundscape-ga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0376" y="2020824"/>
            <a:ext cx="3675888" cy="2450592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452360" y="5440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the soundscape for this frame: the brief's own image (CUP Teacher's Resource)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SOUND PAYS MORE THAN THE REST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NEGLECT IS AN OPPORTUNITY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9728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cheapest advantage in the course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FACT   </a:t>
            </a:r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Cambridge says most candidates neglect sound. You are marked against those candidates.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answer with no sound paragraph has a gap the examiner sees at once.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answer that names a sound bridge or a shift in sound perspective stands out immediately.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434840"/>
            <a:ext cx="10543032" cy="91440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4681728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   </a:t>
            </a:r>
            <a:pPr indent="0" marL="0">
              <a:lnSpc>
                <a:spcPts val="2100"/>
              </a:lnSpc>
              <a:buNone/>
            </a:pPr>
            <a:r>
              <a:rPr lang="en-US" sz="155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Grade 12, the Component 3 music and documentary briefs depend on sound. Every video task carries a mix.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Mise-en-scène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05. Everything in the frame is a decision, and the design board you build is your Component 1 design document.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2026-08-25T02:59:48Z</dcterms:created>
  <dcterms:modified xsi:type="dcterms:W3CDTF">2026-08-25T02:59:48Z</dcterms:modified>
</cp:coreProperties>
</file>