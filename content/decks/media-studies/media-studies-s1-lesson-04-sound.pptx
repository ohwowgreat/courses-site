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double is the right home for day one: the sound-only opener needs twenty uninterrupted minutes and it is the only activity in the band that makes an invisible element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preamble. Play the sequence twice with no picture before a single term is introduced.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each term on a moment from the sequence they just heard blind, not on an abstract definition.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source sequence and both beds exam-eligible. A Chinese-drama comparison is a legitimate spoken aside afterwards, per the exam-example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demonstrate the failure: twenty seconds of dialogue recorded near an open door, played back on a speaker, so the room hears what an uncontrolled space costs. Cambridge's own definition normalised here from an en dash to commas; all of its words are kept.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7863840" y="822960"/>
            <a:ext cx="3566160" cy="4937760"/>
          </a:xfrm>
          <a:prstGeom prst="rect">
            <a:avLst/>
          </a:prstGeom>
          <a:noFill/>
          <a:ln/>
        </p:spPr>
        <p:txBody>
          <a:bodyPr wrap="square" lIns="0" tIns="0" rIns="0" bIns="0" rtlCol="0" anchor="ctr"/>
          <a:lstStyle/>
          <a:p>
            <a:pPr algn="ctr" indent="0" marL="0">
              <a:buNone/>
            </a:pPr>
            <a:r>
              <a:rPr lang="en-US" sz="30000" dirty="0">
                <a:solidFill>
                  <a:srgbClr val="A3C1AD"/>
                </a:solidFill>
                <a:latin typeface="Georgia" pitchFamily="34" charset="0"/>
                <a:ea typeface="Georgia" pitchFamily="34" charset="-122"/>
                <a:cs typeface="Georgia" pitchFamily="34" charset="-120"/>
              </a:rPr>
              <a:t>IV</a:t>
            </a:r>
            <a:endParaRPr lang="en-US" sz="30000" dirty="0"/>
          </a:p>
        </p:txBody>
      </p:sp>
      <p:sp>
        <p:nvSpPr>
          <p:cNvPr id="3" name="Text 1"/>
          <p:cNvSpPr/>
          <p:nvPr/>
        </p:nvSpPr>
        <p:spPr>
          <a:xfrm>
            <a:off x="822960" y="1234440"/>
            <a:ext cx="82296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MEDIA STUDIES 9607 · UNIT II</a:t>
            </a:r>
            <a:endParaRPr lang="en-US" sz="1100" dirty="0"/>
          </a:p>
        </p:txBody>
      </p:sp>
      <p:sp>
        <p:nvSpPr>
          <p:cNvPr id="4" name="Text 2"/>
          <p:cNvSpPr/>
          <p:nvPr/>
        </p:nvSpPr>
        <p:spPr>
          <a:xfrm>
            <a:off x="822960" y="1737360"/>
            <a:ext cx="6400800" cy="2377440"/>
          </a:xfrm>
          <a:prstGeom prst="rect">
            <a:avLst/>
          </a:prstGeom>
          <a:noFill/>
          <a:ln/>
        </p:spPr>
        <p:txBody>
          <a:bodyPr wrap="square" lIns="0" tIns="0" rIns="0" bIns="0" rtlCol="0" anchor="t"/>
          <a:lstStyle/>
          <a:p>
            <a:pPr indent="0" marL="0">
              <a:lnSpc>
                <a:spcPts val="7400"/>
              </a:lnSpc>
              <a:buNone/>
            </a:pPr>
            <a:r>
              <a:rPr lang="en-US" sz="7400" dirty="0">
                <a:solidFill>
                  <a:srgbClr val="24313F"/>
                </a:solidFill>
                <a:latin typeface="Georgia" pitchFamily="34" charset="0"/>
                <a:ea typeface="Georgia" pitchFamily="34" charset="-122"/>
                <a:cs typeface="Georgia" pitchFamily="34" charset="-120"/>
              </a:rPr>
              <a:t>Sound</a:t>
            </a:r>
            <a:endParaRPr lang="en-US" sz="7400" dirty="0"/>
          </a:p>
        </p:txBody>
      </p:sp>
      <p:sp>
        <p:nvSpPr>
          <p:cNvPr id="5" name="Shape 3"/>
          <p:cNvSpPr/>
          <p:nvPr/>
        </p:nvSpPr>
        <p:spPr>
          <a:xfrm>
            <a:off x="822960" y="4343400"/>
            <a:ext cx="914400" cy="0"/>
          </a:xfrm>
          <a:prstGeom prst="line">
            <a:avLst/>
          </a:prstGeom>
          <a:noFill/>
          <a:ln w="31750">
            <a:solidFill>
              <a:srgbClr val="8C3A38"/>
            </a:solidFill>
            <a:prstDash val="solid"/>
          </a:ln>
        </p:spPr>
      </p:sp>
      <p:sp>
        <p:nvSpPr>
          <p:cNvPr id="6" name="Text 4"/>
          <p:cNvSpPr/>
          <p:nvPr/>
        </p:nvSpPr>
        <p:spPr>
          <a:xfrm>
            <a:off x="822960" y="4526280"/>
            <a:ext cx="7315200" cy="457200"/>
          </a:xfrm>
          <a:prstGeom prst="rect">
            <a:avLst/>
          </a:prstGeom>
          <a:noFill/>
          <a:ln/>
        </p:spPr>
        <p:txBody>
          <a:bodyPr wrap="square" lIns="0" tIns="0" rIns="0" bIns="0" rtlCol="0" anchor="ctr"/>
          <a:lstStyle/>
          <a:p>
            <a:pPr indent="0" marL="0">
              <a:buNone/>
            </a:pPr>
            <a:r>
              <a:rPr lang="en-US" sz="2200" i="1" dirty="0">
                <a:solidFill>
                  <a:srgbClr val="7A7F72"/>
                </a:solidFill>
                <a:latin typeface="Georgia" pitchFamily="34" charset="0"/>
                <a:ea typeface="Georgia" pitchFamily="34" charset="-122"/>
                <a:cs typeface="Georgia" pitchFamily="34" charset="-120"/>
              </a:rPr>
              <a:t>Media Language · Lesson 04 of 19</a:t>
            </a:r>
            <a:endParaRPr lang="en-US" sz="2200" dirty="0"/>
          </a:p>
        </p:txBody>
      </p:sp>
      <p:sp>
        <p:nvSpPr>
          <p:cNvPr id="7" name="Text 5"/>
          <p:cNvSpPr/>
          <p:nvPr/>
        </p:nvSpPr>
        <p:spPr>
          <a:xfrm>
            <a:off x="822960" y="5029200"/>
            <a:ext cx="9601200" cy="365760"/>
          </a:xfrm>
          <a:prstGeom prst="rect">
            <a:avLst/>
          </a:prstGeom>
          <a:noFill/>
          <a:ln/>
        </p:spPr>
        <p:txBody>
          <a:bodyPr wrap="square" lIns="0" tIns="0" rIns="0" bIns="0" rtlCol="0" anchor="ctr"/>
          <a:lstStyle/>
          <a:p>
            <a:pPr indent="0" marL="0">
              <a:buNone/>
            </a:pPr>
            <a:r>
              <a:rPr lang="en-US" sz="1300" spc="100" kern="0" dirty="0">
                <a:solidFill>
                  <a:srgbClr val="7A7F72"/>
                </a:solidFill>
                <a:latin typeface="Arial" pitchFamily="34" charset="0"/>
                <a:ea typeface="Arial" pitchFamily="34" charset="-122"/>
                <a:cs typeface="Arial" pitchFamily="34" charset="-120"/>
              </a:rPr>
              <a:t>Two days  ·  Wednesday 16 (double) to Friday 18 September  ·  second of the four technical elements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7680960" y="640080"/>
            <a:ext cx="3931920" cy="5577840"/>
          </a:xfrm>
          <a:prstGeom prst="rect">
            <a:avLst/>
          </a:prstGeom>
          <a:noFill/>
          <a:ln/>
        </p:spPr>
        <p:txBody>
          <a:bodyPr wrap="square" lIns="0" tIns="0" rIns="0" bIns="0" rtlCol="0" anchor="ctr"/>
          <a:lstStyle/>
          <a:p>
            <a:pPr algn="ctr" indent="0" marL="0">
              <a:buNone/>
            </a:pPr>
            <a:r>
              <a:rPr lang="en-US" sz="34000" dirty="0">
                <a:solidFill>
                  <a:srgbClr val="5C7A6B"/>
                </a:solidFill>
                <a:latin typeface="Georgia" pitchFamily="34" charset="0"/>
                <a:ea typeface="Georgia" pitchFamily="34" charset="-122"/>
                <a:cs typeface="Georgia" pitchFamily="34" charset="-120"/>
              </a:rPr>
              <a:t>IV</a:t>
            </a:r>
            <a:endParaRPr lang="en-US" sz="34000" dirty="0"/>
          </a:p>
        </p:txBody>
      </p:sp>
      <p:sp>
        <p:nvSpPr>
          <p:cNvPr id="3" name="Text 1"/>
          <p:cNvSpPr/>
          <p:nvPr/>
        </p:nvSpPr>
        <p:spPr>
          <a:xfrm>
            <a:off x="822960" y="2286000"/>
            <a:ext cx="82296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HOW THIS LESSON OPENS</a:t>
            </a:r>
            <a:endParaRPr lang="en-US" sz="1100" dirty="0"/>
          </a:p>
        </p:txBody>
      </p:sp>
      <p:sp>
        <p:nvSpPr>
          <p:cNvPr id="4" name="Shape 2"/>
          <p:cNvSpPr/>
          <p:nvPr/>
        </p:nvSpPr>
        <p:spPr>
          <a:xfrm>
            <a:off x="822960" y="2651760"/>
            <a:ext cx="3840480" cy="0"/>
          </a:xfrm>
          <a:prstGeom prst="line">
            <a:avLst/>
          </a:prstGeom>
          <a:noFill/>
          <a:ln w="9525">
            <a:solidFill>
              <a:srgbClr val="8AA394"/>
            </a:solidFill>
            <a:prstDash val="solid"/>
          </a:ln>
        </p:spPr>
      </p:sp>
      <p:sp>
        <p:nvSpPr>
          <p:cNvPr id="5" name="Text 3"/>
          <p:cNvSpPr/>
          <p:nvPr/>
        </p:nvSpPr>
        <p:spPr>
          <a:xfrm>
            <a:off x="822960" y="2788920"/>
            <a:ext cx="6766560" cy="2194560"/>
          </a:xfrm>
          <a:prstGeom prst="rect">
            <a:avLst/>
          </a:prstGeom>
          <a:noFill/>
          <a:ln/>
        </p:spPr>
        <p:txBody>
          <a:bodyPr wrap="square" lIns="0" tIns="0" rIns="0" bIns="0" rtlCol="0" anchor="t"/>
          <a:lstStyle/>
          <a:p>
            <a:pPr indent="0" marL="0">
              <a:lnSpc>
                <a:spcPts val="5800"/>
              </a:lnSpc>
              <a:buNone/>
            </a:pPr>
            <a:r>
              <a:rPr lang="en-US" sz="5600" dirty="0">
                <a:solidFill>
                  <a:srgbClr val="FAF8F1"/>
                </a:solidFill>
                <a:latin typeface="Georgia" pitchFamily="34" charset="0"/>
                <a:ea typeface="Georgia" pitchFamily="34" charset="-122"/>
                <a:cs typeface="Georgia" pitchFamily="34" charset="-120"/>
              </a:rPr>
              <a:t>The screen</a:t>
            </a:r>
            <a:endParaRPr lang="en-US" sz="5600" dirty="0"/>
          </a:p>
          <a:p>
            <a:pPr indent="0" marL="0">
              <a:lnSpc>
                <a:spcPts val="5800"/>
              </a:lnSpc>
              <a:buNone/>
            </a:pPr>
            <a:r>
              <a:rPr lang="en-US" sz="5600" dirty="0">
                <a:solidFill>
                  <a:srgbClr val="FAF8F1"/>
                </a:solidFill>
                <a:latin typeface="Georgia" pitchFamily="34" charset="0"/>
                <a:ea typeface="Georgia" pitchFamily="34" charset="-122"/>
                <a:cs typeface="Georgia" pitchFamily="34" charset="-120"/>
              </a:rPr>
              <a:t>goes black.</a:t>
            </a:r>
            <a:endParaRPr lang="en-US" sz="5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TWENTY MINUTES, NO PICTURE</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COURSEBOOK'S OWN ACTIVITY</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Build the scene from the soundtrack</a:t>
            </a:r>
            <a:endParaRPr lang="en-US" sz="3200" dirty="0"/>
          </a:p>
        </p:txBody>
      </p:sp>
      <p:sp>
        <p:nvSpPr>
          <p:cNvPr id="6" name="Text 4"/>
          <p:cNvSpPr/>
          <p:nvPr/>
        </p:nvSpPr>
        <p:spPr>
          <a:xfrm>
            <a:off x="822960" y="1828800"/>
            <a:ext cx="914400" cy="457200"/>
          </a:xfrm>
          <a:prstGeom prst="rect">
            <a:avLst/>
          </a:prstGeom>
          <a:noFill/>
          <a:ln/>
        </p:spPr>
        <p:txBody>
          <a:bodyPr wrap="square" lIns="0" tIns="0" rIns="0" bIns="0" rtlCol="0" anchor="ctr"/>
          <a:lstStyle/>
          <a:p>
            <a:pPr indent="0" marL="0">
              <a:buNone/>
            </a:pPr>
            <a:r>
              <a:rPr lang="en-US" sz="2800" dirty="0">
                <a:solidFill>
                  <a:srgbClr val="A3C1AD"/>
                </a:solidFill>
                <a:latin typeface="Georgia" pitchFamily="34" charset="0"/>
                <a:ea typeface="Georgia" pitchFamily="34" charset="-122"/>
                <a:cs typeface="Georgia" pitchFamily="34" charset="-120"/>
              </a:rPr>
              <a:t>01</a:t>
            </a:r>
            <a:endParaRPr lang="en-US" sz="2800" dirty="0"/>
          </a:p>
        </p:txBody>
      </p:sp>
      <p:sp>
        <p:nvSpPr>
          <p:cNvPr id="7" name="Text 5"/>
          <p:cNvSpPr/>
          <p:nvPr/>
        </p:nvSpPr>
        <p:spPr>
          <a:xfrm>
            <a:off x="822960" y="2331720"/>
            <a:ext cx="3209544" cy="475488"/>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First pass</a:t>
            </a:r>
            <a:endParaRPr lang="en-US" sz="2200" dirty="0"/>
          </a:p>
        </p:txBody>
      </p:sp>
      <p:sp>
        <p:nvSpPr>
          <p:cNvPr id="8" name="Shape 6"/>
          <p:cNvSpPr/>
          <p:nvPr/>
        </p:nvSpPr>
        <p:spPr>
          <a:xfrm>
            <a:off x="822960" y="2871216"/>
            <a:ext cx="3209544" cy="0"/>
          </a:xfrm>
          <a:prstGeom prst="line">
            <a:avLst/>
          </a:prstGeom>
          <a:noFill/>
          <a:ln w="9525">
            <a:solidFill>
              <a:srgbClr val="D9D4C4"/>
            </a:solidFill>
            <a:prstDash val="solid"/>
          </a:ln>
        </p:spPr>
      </p:sp>
      <p:sp>
        <p:nvSpPr>
          <p:cNvPr id="9" name="Text 7"/>
          <p:cNvSpPr/>
          <p:nvPr/>
        </p:nvSpPr>
        <p:spPr>
          <a:xfrm>
            <a:off x="822960" y="2999232"/>
            <a:ext cx="3209544" cy="20116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Screen black. Write down every sound you hear. Every one, including the ones you would normally call nothing.</a:t>
            </a:r>
            <a:endParaRPr lang="en-US" sz="1550" dirty="0"/>
          </a:p>
        </p:txBody>
      </p:sp>
      <p:sp>
        <p:nvSpPr>
          <p:cNvPr id="10" name="Text 8"/>
          <p:cNvSpPr/>
          <p:nvPr/>
        </p:nvSpPr>
        <p:spPr>
          <a:xfrm>
            <a:off x="4489704" y="1828800"/>
            <a:ext cx="914400" cy="457200"/>
          </a:xfrm>
          <a:prstGeom prst="rect">
            <a:avLst/>
          </a:prstGeom>
          <a:noFill/>
          <a:ln/>
        </p:spPr>
        <p:txBody>
          <a:bodyPr wrap="square" lIns="0" tIns="0" rIns="0" bIns="0" rtlCol="0" anchor="ctr"/>
          <a:lstStyle/>
          <a:p>
            <a:pPr indent="0" marL="0">
              <a:buNone/>
            </a:pPr>
            <a:r>
              <a:rPr lang="en-US" sz="2800" dirty="0">
                <a:solidFill>
                  <a:srgbClr val="A3C1AD"/>
                </a:solidFill>
                <a:latin typeface="Georgia" pitchFamily="34" charset="0"/>
                <a:ea typeface="Georgia" pitchFamily="34" charset="-122"/>
                <a:cs typeface="Georgia" pitchFamily="34" charset="-120"/>
              </a:rPr>
              <a:t>02</a:t>
            </a:r>
            <a:endParaRPr lang="en-US" sz="2800" dirty="0"/>
          </a:p>
        </p:txBody>
      </p:sp>
      <p:sp>
        <p:nvSpPr>
          <p:cNvPr id="11" name="Text 9"/>
          <p:cNvSpPr/>
          <p:nvPr/>
        </p:nvSpPr>
        <p:spPr>
          <a:xfrm>
            <a:off x="4489704" y="2331720"/>
            <a:ext cx="3209544" cy="475488"/>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Second pass</a:t>
            </a:r>
            <a:endParaRPr lang="en-US" sz="2200" dirty="0"/>
          </a:p>
        </p:txBody>
      </p:sp>
      <p:sp>
        <p:nvSpPr>
          <p:cNvPr id="12" name="Shape 10"/>
          <p:cNvSpPr/>
          <p:nvPr/>
        </p:nvSpPr>
        <p:spPr>
          <a:xfrm>
            <a:off x="4489704" y="2871216"/>
            <a:ext cx="3209544" cy="0"/>
          </a:xfrm>
          <a:prstGeom prst="line">
            <a:avLst/>
          </a:prstGeom>
          <a:noFill/>
          <a:ln w="9525">
            <a:solidFill>
              <a:srgbClr val="D9D4C4"/>
            </a:solidFill>
            <a:prstDash val="solid"/>
          </a:ln>
        </p:spPr>
      </p:sp>
      <p:sp>
        <p:nvSpPr>
          <p:cNvPr id="13" name="Text 11"/>
          <p:cNvSpPr/>
          <p:nvPr/>
        </p:nvSpPr>
        <p:spPr>
          <a:xfrm>
            <a:off x="4489704" y="2999232"/>
            <a:ext cx="3209544" cy="20116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Same audio. Now write what you think is happening, and what the visuals will show. Commit to it.</a:t>
            </a:r>
            <a:endParaRPr lang="en-US" sz="1550" dirty="0"/>
          </a:p>
        </p:txBody>
      </p:sp>
      <p:sp>
        <p:nvSpPr>
          <p:cNvPr id="14" name="Text 12"/>
          <p:cNvSpPr/>
          <p:nvPr/>
        </p:nvSpPr>
        <p:spPr>
          <a:xfrm>
            <a:off x="8156448" y="1828800"/>
            <a:ext cx="914400" cy="457200"/>
          </a:xfrm>
          <a:prstGeom prst="rect">
            <a:avLst/>
          </a:prstGeom>
          <a:noFill/>
          <a:ln/>
        </p:spPr>
        <p:txBody>
          <a:bodyPr wrap="square" lIns="0" tIns="0" rIns="0" bIns="0" rtlCol="0" anchor="ctr"/>
          <a:lstStyle/>
          <a:p>
            <a:pPr indent="0" marL="0">
              <a:buNone/>
            </a:pPr>
            <a:r>
              <a:rPr lang="en-US" sz="2800" dirty="0">
                <a:solidFill>
                  <a:srgbClr val="A3C1AD"/>
                </a:solidFill>
                <a:latin typeface="Georgia" pitchFamily="34" charset="0"/>
                <a:ea typeface="Georgia" pitchFamily="34" charset="-122"/>
                <a:cs typeface="Georgia" pitchFamily="34" charset="-120"/>
              </a:rPr>
              <a:t>03</a:t>
            </a:r>
            <a:endParaRPr lang="en-US" sz="2800" dirty="0"/>
          </a:p>
        </p:txBody>
      </p:sp>
      <p:sp>
        <p:nvSpPr>
          <p:cNvPr id="15" name="Text 13"/>
          <p:cNvSpPr/>
          <p:nvPr/>
        </p:nvSpPr>
        <p:spPr>
          <a:xfrm>
            <a:off x="8156448" y="2331720"/>
            <a:ext cx="3209544" cy="475488"/>
          </a:xfrm>
          <a:prstGeom prst="rect">
            <a:avLst/>
          </a:prstGeom>
          <a:noFill/>
          <a:ln/>
        </p:spPr>
        <p:txBody>
          <a:bodyPr wrap="square" lIns="0" tIns="0" rIns="0" bIns="0" rtlCol="0" anchor="ctr"/>
          <a:lstStyle/>
          <a:p>
            <a:pPr indent="0" marL="0">
              <a:buNone/>
            </a:pPr>
            <a:r>
              <a:rPr lang="en-US" sz="2200" dirty="0">
                <a:solidFill>
                  <a:srgbClr val="4A6B5D"/>
                </a:solidFill>
                <a:latin typeface="Georgia" pitchFamily="34" charset="0"/>
                <a:ea typeface="Georgia" pitchFamily="34" charset="-122"/>
                <a:cs typeface="Georgia" pitchFamily="34" charset="-120"/>
              </a:rPr>
              <a:t>Then the picture</a:t>
            </a:r>
            <a:endParaRPr lang="en-US" sz="2200" dirty="0"/>
          </a:p>
        </p:txBody>
      </p:sp>
      <p:sp>
        <p:nvSpPr>
          <p:cNvPr id="16" name="Shape 14"/>
          <p:cNvSpPr/>
          <p:nvPr/>
        </p:nvSpPr>
        <p:spPr>
          <a:xfrm>
            <a:off x="8156448" y="2871216"/>
            <a:ext cx="3209544" cy="0"/>
          </a:xfrm>
          <a:prstGeom prst="line">
            <a:avLst/>
          </a:prstGeom>
          <a:noFill/>
          <a:ln w="9525">
            <a:solidFill>
              <a:srgbClr val="D9D4C4"/>
            </a:solidFill>
            <a:prstDash val="solid"/>
          </a:ln>
        </p:spPr>
      </p:sp>
      <p:sp>
        <p:nvSpPr>
          <p:cNvPr id="17" name="Text 15"/>
          <p:cNvSpPr/>
          <p:nvPr/>
        </p:nvSpPr>
        <p:spPr>
          <a:xfrm>
            <a:off x="8156448" y="2999232"/>
            <a:ext cx="3209544" cy="2011680"/>
          </a:xfrm>
          <a:prstGeom prst="rect">
            <a:avLst/>
          </a:prstGeom>
          <a:noFill/>
          <a:ln/>
        </p:spPr>
        <p:txBody>
          <a:bodyPr wrap="square" lIns="0" tIns="0" rIns="0" bIns="0" rtlCol="0" anchor="t"/>
          <a:lstStyle/>
          <a:p>
            <a:pPr indent="0" marL="0">
              <a:lnSpc>
                <a:spcPts val="2100"/>
              </a:lnSpc>
              <a:buNone/>
            </a:pPr>
            <a:r>
              <a:rPr lang="en-US" sz="1550" dirty="0">
                <a:solidFill>
                  <a:srgbClr val="24313F"/>
                </a:solidFill>
                <a:latin typeface="Georgia" pitchFamily="34" charset="0"/>
                <a:ea typeface="Georgia" pitchFamily="34" charset="-122"/>
                <a:cs typeface="Georgia" pitchFamily="34" charset="-120"/>
              </a:rPr>
              <a:t>Watch it properly. Compare the scene you built against the scene that exists, out loud, as a class.</a:t>
            </a:r>
            <a:endParaRPr lang="en-US" sz="1550" dirty="0"/>
          </a:p>
        </p:txBody>
      </p:sp>
      <p:sp>
        <p:nvSpPr>
          <p:cNvPr id="18" name="Shape 16"/>
          <p:cNvSpPr/>
          <p:nvPr/>
        </p:nvSpPr>
        <p:spPr>
          <a:xfrm>
            <a:off x="822960" y="5230368"/>
            <a:ext cx="914400" cy="0"/>
          </a:xfrm>
          <a:prstGeom prst="line">
            <a:avLst/>
          </a:prstGeom>
          <a:noFill/>
          <a:ln w="31750">
            <a:solidFill>
              <a:srgbClr val="8C3A38"/>
            </a:solidFill>
            <a:prstDash val="solid"/>
          </a:ln>
        </p:spPr>
      </p:sp>
      <p:sp>
        <p:nvSpPr>
          <p:cNvPr id="19" name="Text 17"/>
          <p:cNvSpPr/>
          <p:nvPr/>
        </p:nvSpPr>
        <p:spPr>
          <a:xfrm>
            <a:off x="822960" y="5413248"/>
            <a:ext cx="10424160" cy="548640"/>
          </a:xfrm>
          <a:prstGeom prst="rect">
            <a:avLst/>
          </a:prstGeom>
          <a:noFill/>
          <a:ln/>
        </p:spPr>
        <p:txBody>
          <a:bodyPr wrap="square" lIns="0" tIns="0" rIns="0" bIns="0" rtlCol="0" anchor="ctr"/>
          <a:lstStyle/>
          <a:p>
            <a:pPr indent="0" marL="0">
              <a:buNone/>
            </a:pPr>
            <a:r>
              <a:rPr lang="en-US" sz="1700" i="1" dirty="0">
                <a:solidFill>
                  <a:srgbClr val="4A6B5D"/>
                </a:solidFill>
                <a:latin typeface="Georgia" pitchFamily="34" charset="0"/>
                <a:ea typeface="Georgia" pitchFamily="34" charset="-122"/>
                <a:cs typeface="Georgia" pitchFamily="34" charset="-120"/>
              </a:rPr>
              <a:t>You built a whole scene out of audio. That is how much work sound was doing while you were watching the pictures.</a:t>
            </a:r>
            <a:endParaRPr lang="en-US" sz="1700" dirty="0"/>
          </a:p>
        </p:txBody>
      </p:sp>
      <p:sp>
        <p:nvSpPr>
          <p:cNvPr id="20" name="Shape 18"/>
          <p:cNvSpPr/>
          <p:nvPr/>
        </p:nvSpPr>
        <p:spPr>
          <a:xfrm>
            <a:off x="822960" y="6382512"/>
            <a:ext cx="10543032" cy="0"/>
          </a:xfrm>
          <a:prstGeom prst="line">
            <a:avLst/>
          </a:prstGeom>
          <a:noFill/>
          <a:ln w="9525">
            <a:solidFill>
              <a:srgbClr val="D9D4C4"/>
            </a:solidFill>
            <a:prstDash val="solid"/>
          </a:ln>
        </p:spPr>
      </p:sp>
      <p:sp>
        <p:nvSpPr>
          <p:cNvPr id="21" name="Text 1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2" name="Text 2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01</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83080"/>
            <a:ext cx="10424160" cy="3291840"/>
          </a:xfrm>
          <a:prstGeom prst="rect">
            <a:avLst/>
          </a:prstGeom>
          <a:noFill/>
          <a:ln/>
        </p:spPr>
        <p:txBody>
          <a:bodyPr wrap="square" lIns="0" tIns="0" rIns="0" bIns="0" rtlCol="0" anchor="ctr"/>
          <a:lstStyle/>
          <a:p>
            <a:pPr indent="0" marL="0">
              <a:lnSpc>
                <a:spcPts val="4400"/>
              </a:lnSpc>
              <a:buNone/>
            </a:pPr>
            <a:r>
              <a:rPr lang="en-US" sz="3400" dirty="0">
                <a:solidFill>
                  <a:srgbClr val="24313F"/>
                </a:solidFill>
                <a:latin typeface="Georgia" pitchFamily="34" charset="0"/>
                <a:ea typeface="Georgia" pitchFamily="34" charset="-122"/>
                <a:cs typeface="Georgia" pitchFamily="34" charset="-120"/>
              </a:rPr>
              <a:t>Sound is often neglected, so it is worth doing some targeted work on this, helping learners to develop a vocabulary of sound terminology.</a:t>
            </a:r>
            <a:endParaRPr lang="en-US" sz="3400" dirty="0"/>
          </a:p>
        </p:txBody>
      </p:sp>
      <p:sp>
        <p:nvSpPr>
          <p:cNvPr id="4" name="Shape 2"/>
          <p:cNvSpPr/>
          <p:nvPr/>
        </p:nvSpPr>
        <p:spPr>
          <a:xfrm>
            <a:off x="822960" y="5029200"/>
            <a:ext cx="914400" cy="0"/>
          </a:xfrm>
          <a:prstGeom prst="line">
            <a:avLst/>
          </a:prstGeom>
          <a:noFill/>
          <a:ln w="31750">
            <a:solidFill>
              <a:srgbClr val="8C3A38"/>
            </a:solidFill>
            <a:prstDash val="solid"/>
          </a:ln>
        </p:spPr>
      </p:sp>
      <p:sp>
        <p:nvSpPr>
          <p:cNvPr id="5" name="Text 3"/>
          <p:cNvSpPr/>
          <p:nvPr/>
        </p:nvSpPr>
        <p:spPr>
          <a:xfrm>
            <a:off x="822960" y="5212080"/>
            <a:ext cx="10058400" cy="457200"/>
          </a:xfrm>
          <a:prstGeom prst="rect">
            <a:avLst/>
          </a:prstGeom>
          <a:noFill/>
          <a:ln/>
        </p:spPr>
        <p:txBody>
          <a:bodyPr wrap="square" lIns="0" tIns="0" rIns="0" bIns="0" rtlCol="0" anchor="ctr"/>
          <a:lstStyle/>
          <a:p>
            <a:pPr indent="0" marL="0">
              <a:buNone/>
            </a:pPr>
            <a:r>
              <a:rPr lang="en-US" sz="1400" spc="100" kern="0" dirty="0">
                <a:solidFill>
                  <a:srgbClr val="4A6B5D"/>
                </a:solidFill>
                <a:latin typeface="Arial" pitchFamily="34" charset="0"/>
                <a:ea typeface="Arial" pitchFamily="34" charset="-122"/>
                <a:cs typeface="Arial" pitchFamily="34" charset="-120"/>
              </a:rPr>
              <a:t>Cambridge Scheme of Work, Component 2 Section A</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SYLLABUS LIST</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EVERY TERM IS EXAMINABLE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What you can now name</a:t>
            </a:r>
            <a:endParaRPr lang="en-US" sz="3200" dirty="0"/>
          </a:p>
        </p:txBody>
      </p:sp>
      <p:sp>
        <p:nvSpPr>
          <p:cNvPr id="6" name="Text 4"/>
          <p:cNvSpPr/>
          <p:nvPr/>
        </p:nvSpPr>
        <p:spPr>
          <a:xfrm>
            <a:off x="822960" y="1828800"/>
            <a:ext cx="4860036" cy="365760"/>
          </a:xfrm>
          <a:prstGeom prst="rect">
            <a:avLst/>
          </a:prstGeom>
          <a:noFill/>
          <a:ln/>
        </p:spPr>
        <p:txBody>
          <a:bodyPr wrap="square" lIns="0" tIns="0" rIns="0" bIns="0" rtlCol="0" anchor="ctr"/>
          <a:lstStyle/>
          <a:p>
            <a:pPr indent="0" marL="0">
              <a:buNone/>
            </a:pPr>
            <a:r>
              <a:rPr lang="en-US" sz="1200" b="1" spc="140" kern="0" dirty="0">
                <a:solidFill>
                  <a:srgbClr val="4A6B5D"/>
                </a:solidFill>
                <a:latin typeface="Arial" pitchFamily="34" charset="0"/>
                <a:ea typeface="Arial" pitchFamily="34" charset="-122"/>
                <a:cs typeface="Arial" pitchFamily="34" charset="-120"/>
              </a:rPr>
              <a:t>Where it lives</a:t>
            </a:r>
            <a:endParaRPr lang="en-US" sz="1200" dirty="0"/>
          </a:p>
        </p:txBody>
      </p:sp>
      <p:sp>
        <p:nvSpPr>
          <p:cNvPr id="7" name="Shape 5"/>
          <p:cNvSpPr/>
          <p:nvPr/>
        </p:nvSpPr>
        <p:spPr>
          <a:xfrm>
            <a:off x="822960" y="2212848"/>
            <a:ext cx="4860036" cy="0"/>
          </a:xfrm>
          <a:prstGeom prst="line">
            <a:avLst/>
          </a:prstGeom>
          <a:noFill/>
          <a:ln w="9525">
            <a:solidFill>
              <a:srgbClr val="D9D4C4"/>
            </a:solidFill>
            <a:prstDash val="solid"/>
          </a:ln>
        </p:spPr>
      </p:sp>
      <p:sp>
        <p:nvSpPr>
          <p:cNvPr id="8" name="Text 6"/>
          <p:cNvSpPr/>
          <p:nvPr/>
        </p:nvSpPr>
        <p:spPr>
          <a:xfrm>
            <a:off x="822960" y="2331720"/>
            <a:ext cx="4860036" cy="914400"/>
          </a:xfrm>
          <a:prstGeom prst="rect">
            <a:avLst/>
          </a:prstGeom>
          <a:noFill/>
          <a:ln/>
        </p:spPr>
        <p:txBody>
          <a:bodyPr wrap="square" lIns="0" tIns="0" rIns="0" bIns="0" rtlCol="0" anchor="t"/>
          <a:lstStyle/>
          <a:p>
            <a:pPr indent="0" marL="0">
              <a:lnSpc>
                <a:spcPts val="2600"/>
              </a:lnSpc>
              <a:buNone/>
            </a:pPr>
            <a:r>
              <a:rPr lang="en-US" sz="1800" dirty="0">
                <a:solidFill>
                  <a:srgbClr val="24313F"/>
                </a:solidFill>
                <a:latin typeface="Georgia" pitchFamily="34" charset="0"/>
                <a:ea typeface="Georgia" pitchFamily="34" charset="-122"/>
                <a:cs typeface="Georgia" pitchFamily="34" charset="-120"/>
              </a:rPr>
              <a:t>diegetic  ·  non-diegetic</a:t>
            </a:r>
            <a:endParaRPr lang="en-US" sz="1800" dirty="0"/>
          </a:p>
          <a:p>
            <a:pPr indent="0" marL="0">
              <a:lnSpc>
                <a:spcPts val="2600"/>
              </a:lnSpc>
              <a:buNone/>
            </a:pPr>
            <a:r>
              <a:rPr lang="en-US" sz="1800" dirty="0">
                <a:solidFill>
                  <a:srgbClr val="24313F"/>
                </a:solidFill>
                <a:latin typeface="Georgia" pitchFamily="34" charset="0"/>
                <a:ea typeface="Georgia" pitchFamily="34" charset="-122"/>
                <a:cs typeface="Georgia" pitchFamily="34" charset="-120"/>
              </a:rPr>
              <a:t>synchronous  ·  asynchronous</a:t>
            </a:r>
            <a:endParaRPr lang="en-US" sz="1800" dirty="0"/>
          </a:p>
        </p:txBody>
      </p:sp>
      <p:sp>
        <p:nvSpPr>
          <p:cNvPr id="9" name="Text 7"/>
          <p:cNvSpPr/>
          <p:nvPr/>
        </p:nvSpPr>
        <p:spPr>
          <a:xfrm>
            <a:off x="6505956" y="1828800"/>
            <a:ext cx="4860036" cy="365760"/>
          </a:xfrm>
          <a:prstGeom prst="rect">
            <a:avLst/>
          </a:prstGeom>
          <a:noFill/>
          <a:ln/>
        </p:spPr>
        <p:txBody>
          <a:bodyPr wrap="square" lIns="0" tIns="0" rIns="0" bIns="0" rtlCol="0" anchor="ctr"/>
          <a:lstStyle/>
          <a:p>
            <a:pPr indent="0" marL="0">
              <a:buNone/>
            </a:pPr>
            <a:r>
              <a:rPr lang="en-US" sz="1200" b="1" spc="140" kern="0" dirty="0">
                <a:solidFill>
                  <a:srgbClr val="4A6B5D"/>
                </a:solidFill>
                <a:latin typeface="Arial" pitchFamily="34" charset="0"/>
                <a:ea typeface="Arial" pitchFamily="34" charset="-122"/>
                <a:cs typeface="Arial" pitchFamily="34" charset="-120"/>
              </a:rPr>
              <a:t>How it moves</a:t>
            </a:r>
            <a:endParaRPr lang="en-US" sz="1200" dirty="0"/>
          </a:p>
        </p:txBody>
      </p:sp>
      <p:sp>
        <p:nvSpPr>
          <p:cNvPr id="10" name="Shape 8"/>
          <p:cNvSpPr/>
          <p:nvPr/>
        </p:nvSpPr>
        <p:spPr>
          <a:xfrm>
            <a:off x="6505956" y="2212848"/>
            <a:ext cx="4860036" cy="0"/>
          </a:xfrm>
          <a:prstGeom prst="line">
            <a:avLst/>
          </a:prstGeom>
          <a:noFill/>
          <a:ln w="9525">
            <a:solidFill>
              <a:srgbClr val="D9D4C4"/>
            </a:solidFill>
            <a:prstDash val="solid"/>
          </a:ln>
        </p:spPr>
      </p:sp>
      <p:sp>
        <p:nvSpPr>
          <p:cNvPr id="11" name="Text 9"/>
          <p:cNvSpPr/>
          <p:nvPr/>
        </p:nvSpPr>
        <p:spPr>
          <a:xfrm>
            <a:off x="6505956" y="2331720"/>
            <a:ext cx="4860036" cy="914400"/>
          </a:xfrm>
          <a:prstGeom prst="rect">
            <a:avLst/>
          </a:prstGeom>
          <a:noFill/>
          <a:ln/>
        </p:spPr>
        <p:txBody>
          <a:bodyPr wrap="square" lIns="0" tIns="0" rIns="0" bIns="0" rtlCol="0" anchor="t"/>
          <a:lstStyle/>
          <a:p>
            <a:pPr indent="0" marL="0">
              <a:lnSpc>
                <a:spcPts val="2600"/>
              </a:lnSpc>
              <a:buNone/>
            </a:pPr>
            <a:r>
              <a:rPr lang="en-US" sz="1800" dirty="0">
                <a:solidFill>
                  <a:srgbClr val="24313F"/>
                </a:solidFill>
                <a:latin typeface="Georgia" pitchFamily="34" charset="0"/>
                <a:ea typeface="Georgia" pitchFamily="34" charset="-122"/>
                <a:cs typeface="Georgia" pitchFamily="34" charset="-120"/>
              </a:rPr>
              <a:t>sound bridge  ·  sound motif</a:t>
            </a:r>
            <a:endParaRPr lang="en-US" sz="1800" dirty="0"/>
          </a:p>
          <a:p>
            <a:pPr indent="0" marL="0">
              <a:lnSpc>
                <a:spcPts val="2600"/>
              </a:lnSpc>
              <a:buNone/>
            </a:pPr>
            <a:r>
              <a:rPr lang="en-US" sz="1800" dirty="0">
                <a:solidFill>
                  <a:srgbClr val="24313F"/>
                </a:solidFill>
                <a:latin typeface="Georgia" pitchFamily="34" charset="0"/>
                <a:ea typeface="Georgia" pitchFamily="34" charset="-122"/>
                <a:cs typeface="Georgia" pitchFamily="34" charset="-120"/>
              </a:rPr>
              <a:t>sound perspective  ·  ambient sound</a:t>
            </a:r>
            <a:endParaRPr lang="en-US" sz="1800" dirty="0"/>
          </a:p>
        </p:txBody>
      </p:sp>
      <p:sp>
        <p:nvSpPr>
          <p:cNvPr id="12" name="Text 10"/>
          <p:cNvSpPr/>
          <p:nvPr/>
        </p:nvSpPr>
        <p:spPr>
          <a:xfrm>
            <a:off x="822960" y="3401568"/>
            <a:ext cx="4860036" cy="365760"/>
          </a:xfrm>
          <a:prstGeom prst="rect">
            <a:avLst/>
          </a:prstGeom>
          <a:noFill/>
          <a:ln/>
        </p:spPr>
        <p:txBody>
          <a:bodyPr wrap="square" lIns="0" tIns="0" rIns="0" bIns="0" rtlCol="0" anchor="ctr"/>
          <a:lstStyle/>
          <a:p>
            <a:pPr indent="0" marL="0">
              <a:buNone/>
            </a:pPr>
            <a:r>
              <a:rPr lang="en-US" sz="1200" b="1" spc="140" kern="0" dirty="0">
                <a:solidFill>
                  <a:srgbClr val="4A6B5D"/>
                </a:solidFill>
                <a:latin typeface="Arial" pitchFamily="34" charset="0"/>
                <a:ea typeface="Arial" pitchFamily="34" charset="-122"/>
                <a:cs typeface="Arial" pitchFamily="34" charset="-120"/>
              </a:rPr>
              <a:t>Who speaks</a:t>
            </a:r>
            <a:endParaRPr lang="en-US" sz="1200" dirty="0"/>
          </a:p>
        </p:txBody>
      </p:sp>
      <p:sp>
        <p:nvSpPr>
          <p:cNvPr id="13" name="Shape 11"/>
          <p:cNvSpPr/>
          <p:nvPr/>
        </p:nvSpPr>
        <p:spPr>
          <a:xfrm>
            <a:off x="822960" y="3785616"/>
            <a:ext cx="4860036" cy="0"/>
          </a:xfrm>
          <a:prstGeom prst="line">
            <a:avLst/>
          </a:prstGeom>
          <a:noFill/>
          <a:ln w="9525">
            <a:solidFill>
              <a:srgbClr val="D9D4C4"/>
            </a:solidFill>
            <a:prstDash val="solid"/>
          </a:ln>
        </p:spPr>
      </p:sp>
      <p:sp>
        <p:nvSpPr>
          <p:cNvPr id="14" name="Text 12"/>
          <p:cNvSpPr/>
          <p:nvPr/>
        </p:nvSpPr>
        <p:spPr>
          <a:xfrm>
            <a:off x="822960" y="3904488"/>
            <a:ext cx="4860036" cy="914400"/>
          </a:xfrm>
          <a:prstGeom prst="rect">
            <a:avLst/>
          </a:prstGeom>
          <a:noFill/>
          <a:ln/>
        </p:spPr>
        <p:txBody>
          <a:bodyPr wrap="square" lIns="0" tIns="0" rIns="0" bIns="0" rtlCol="0" anchor="t"/>
          <a:lstStyle/>
          <a:p>
            <a:pPr indent="0" marL="0">
              <a:lnSpc>
                <a:spcPts val="2600"/>
              </a:lnSpc>
              <a:buNone/>
            </a:pPr>
            <a:r>
              <a:rPr lang="en-US" sz="1800" dirty="0">
                <a:solidFill>
                  <a:srgbClr val="24313F"/>
                </a:solidFill>
                <a:latin typeface="Georgia" pitchFamily="34" charset="0"/>
                <a:ea typeface="Georgia" pitchFamily="34" charset="-122"/>
                <a:cs typeface="Georgia" pitchFamily="34" charset="-120"/>
              </a:rPr>
              <a:t>dialogue  ·  voiceover</a:t>
            </a:r>
            <a:endParaRPr lang="en-US" sz="1800" dirty="0"/>
          </a:p>
          <a:p>
            <a:pPr indent="0" marL="0">
              <a:lnSpc>
                <a:spcPts val="2600"/>
              </a:lnSpc>
              <a:buNone/>
            </a:pPr>
            <a:r>
              <a:rPr lang="en-US" sz="1800" dirty="0">
                <a:solidFill>
                  <a:srgbClr val="24313F"/>
                </a:solidFill>
                <a:latin typeface="Georgia" pitchFamily="34" charset="0"/>
                <a:ea typeface="Georgia" pitchFamily="34" charset="-122"/>
                <a:cs typeface="Georgia" pitchFamily="34" charset="-120"/>
              </a:rPr>
              <a:t>direct address  ·  sound mixing</a:t>
            </a:r>
            <a:endParaRPr lang="en-US" sz="1800" dirty="0"/>
          </a:p>
        </p:txBody>
      </p:sp>
      <p:sp>
        <p:nvSpPr>
          <p:cNvPr id="15" name="Text 13"/>
          <p:cNvSpPr/>
          <p:nvPr/>
        </p:nvSpPr>
        <p:spPr>
          <a:xfrm>
            <a:off x="6505956" y="3401568"/>
            <a:ext cx="4860036" cy="365760"/>
          </a:xfrm>
          <a:prstGeom prst="rect">
            <a:avLst/>
          </a:prstGeom>
          <a:noFill/>
          <a:ln/>
        </p:spPr>
        <p:txBody>
          <a:bodyPr wrap="square" lIns="0" tIns="0" rIns="0" bIns="0" rtlCol="0" anchor="ctr"/>
          <a:lstStyle/>
          <a:p>
            <a:pPr indent="0" marL="0">
              <a:buNone/>
            </a:pPr>
            <a:r>
              <a:rPr lang="en-US" sz="1200" b="1" spc="140" kern="0" dirty="0">
                <a:solidFill>
                  <a:srgbClr val="4A6B5D"/>
                </a:solidFill>
                <a:latin typeface="Arial" pitchFamily="34" charset="0"/>
                <a:ea typeface="Arial" pitchFamily="34" charset="-122"/>
                <a:cs typeface="Arial" pitchFamily="34" charset="-120"/>
              </a:rPr>
              <a:t>The soundtrack</a:t>
            </a:r>
            <a:endParaRPr lang="en-US" sz="1200" dirty="0"/>
          </a:p>
        </p:txBody>
      </p:sp>
      <p:sp>
        <p:nvSpPr>
          <p:cNvPr id="16" name="Shape 14"/>
          <p:cNvSpPr/>
          <p:nvPr/>
        </p:nvSpPr>
        <p:spPr>
          <a:xfrm>
            <a:off x="6505956" y="3785616"/>
            <a:ext cx="4860036" cy="0"/>
          </a:xfrm>
          <a:prstGeom prst="line">
            <a:avLst/>
          </a:prstGeom>
          <a:noFill/>
          <a:ln w="9525">
            <a:solidFill>
              <a:srgbClr val="D9D4C4"/>
            </a:solidFill>
            <a:prstDash val="solid"/>
          </a:ln>
        </p:spPr>
      </p:sp>
      <p:sp>
        <p:nvSpPr>
          <p:cNvPr id="17" name="Text 15"/>
          <p:cNvSpPr/>
          <p:nvPr/>
        </p:nvSpPr>
        <p:spPr>
          <a:xfrm>
            <a:off x="6505956" y="3904488"/>
            <a:ext cx="4860036" cy="914400"/>
          </a:xfrm>
          <a:prstGeom prst="rect">
            <a:avLst/>
          </a:prstGeom>
          <a:noFill/>
          <a:ln/>
        </p:spPr>
        <p:txBody>
          <a:bodyPr wrap="square" lIns="0" tIns="0" rIns="0" bIns="0" rtlCol="0" anchor="t"/>
          <a:lstStyle/>
          <a:p>
            <a:pPr indent="0" marL="0">
              <a:lnSpc>
                <a:spcPts val="2600"/>
              </a:lnSpc>
              <a:buNone/>
            </a:pPr>
            <a:r>
              <a:rPr lang="en-US" sz="1800" dirty="0">
                <a:solidFill>
                  <a:srgbClr val="24313F"/>
                </a:solidFill>
                <a:latin typeface="Georgia" pitchFamily="34" charset="0"/>
                <a:ea typeface="Georgia" pitchFamily="34" charset="-122"/>
                <a:cs typeface="Georgia" pitchFamily="34" charset="-120"/>
              </a:rPr>
              <a:t>score  ·  incidental music</a:t>
            </a:r>
            <a:endParaRPr lang="en-US" sz="1800" dirty="0"/>
          </a:p>
          <a:p>
            <a:pPr indent="0" marL="0">
              <a:lnSpc>
                <a:spcPts val="2600"/>
              </a:lnSpc>
              <a:buNone/>
            </a:pPr>
            <a:r>
              <a:rPr lang="en-US" sz="1800" dirty="0">
                <a:solidFill>
                  <a:srgbClr val="24313F"/>
                </a:solidFill>
                <a:latin typeface="Georgia" pitchFamily="34" charset="0"/>
                <a:ea typeface="Georgia" pitchFamily="34" charset="-122"/>
                <a:cs typeface="Georgia" pitchFamily="34" charset="-120"/>
              </a:rPr>
              <a:t>themes and stings</a:t>
            </a:r>
            <a:endParaRPr lang="en-US" sz="1800" dirty="0"/>
          </a:p>
        </p:txBody>
      </p:sp>
      <p:sp>
        <p:nvSpPr>
          <p:cNvPr id="18" name="Shape 16"/>
          <p:cNvSpPr/>
          <p:nvPr/>
        </p:nvSpPr>
        <p:spPr>
          <a:xfrm>
            <a:off x="822960" y="5120640"/>
            <a:ext cx="914400" cy="0"/>
          </a:xfrm>
          <a:prstGeom prst="line">
            <a:avLst/>
          </a:prstGeom>
          <a:noFill/>
          <a:ln w="31750">
            <a:solidFill>
              <a:srgbClr val="8C3A38"/>
            </a:solidFill>
            <a:prstDash val="solid"/>
          </a:ln>
        </p:spPr>
      </p:sp>
      <p:sp>
        <p:nvSpPr>
          <p:cNvPr id="19" name="Text 17"/>
          <p:cNvSpPr/>
          <p:nvPr/>
        </p:nvSpPr>
        <p:spPr>
          <a:xfrm>
            <a:off x="822960" y="5303520"/>
            <a:ext cx="10424160" cy="640080"/>
          </a:xfrm>
          <a:prstGeom prst="rect">
            <a:avLst/>
          </a:prstGeom>
          <a:noFill/>
          <a:ln/>
        </p:spPr>
        <p:txBody>
          <a:bodyPr wrap="square" lIns="0" tIns="0" rIns="0" bIns="0" rtlCol="0" anchor="t"/>
          <a:lstStyle/>
          <a:p>
            <a:pPr indent="0" marL="0">
              <a:lnSpc>
                <a:spcPts val="1800"/>
              </a:lnSpc>
              <a:buNone/>
            </a:pPr>
            <a:r>
              <a:rPr lang="en-US" sz="1250" i="1" dirty="0">
                <a:solidFill>
                  <a:srgbClr val="7A7F72"/>
                </a:solidFill>
                <a:latin typeface="Arial" pitchFamily="34" charset="0"/>
                <a:ea typeface="Arial" pitchFamily="34" charset="-122"/>
                <a:cs typeface="Arial" pitchFamily="34" charset="-120"/>
              </a:rPr>
              <a:t>And the vocabulary Cambridge adds for stretch, rarely seen in scripts and cheap to acquire: harmony, dissonance, discordance, rhythm, crescendo, pitch, timbre.</a:t>
            </a:r>
            <a:endParaRPr lang="en-US" sz="1250" dirty="0"/>
          </a:p>
        </p:txBody>
      </p:sp>
      <p:sp>
        <p:nvSpPr>
          <p:cNvPr id="20" name="Shape 18"/>
          <p:cNvSpPr/>
          <p:nvPr/>
        </p:nvSpPr>
        <p:spPr>
          <a:xfrm>
            <a:off x="822960" y="6382512"/>
            <a:ext cx="10543032" cy="0"/>
          </a:xfrm>
          <a:prstGeom prst="line">
            <a:avLst/>
          </a:prstGeom>
          <a:noFill/>
          <a:ln w="9525">
            <a:solidFill>
              <a:srgbClr val="D9D4C4"/>
            </a:solidFill>
            <a:prstDash val="solid"/>
          </a:ln>
        </p:spPr>
      </p:sp>
      <p:sp>
        <p:nvSpPr>
          <p:cNvPr id="21" name="Text 1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2" name="Text 2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02</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8F1"/>
        </a:solidFill>
      </p:bgPr>
    </p:bg>
    <p:spTree>
      <p:nvGrpSpPr>
        <p:cNvPr id="1" name=""/>
        <p:cNvGrpSpPr/>
        <p:nvPr/>
      </p:nvGrpSpPr>
      <p:grpSpPr>
        <a:xfrm>
          <a:off x="0" y="0"/>
          <a:ext cx="0" cy="0"/>
          <a:chOff x="0" y="0"/>
          <a:chExt cx="0" cy="0"/>
        </a:xfrm>
      </p:grpSpPr>
      <p:pic>
        <p:nvPicPr>
          <p:cNvPr id="2" name="Image 0" descr="/Users/dogan/Documents/Vaults/Courses/wiki/classes/media-studies/decks/_build/img/crops/caravaggio-musicians_a664.jpg">    </p:cNvPr>
          <p:cNvPicPr>
            <a:picLocks noChangeAspect="1"/>
          </p:cNvPicPr>
          <p:nvPr/>
        </p:nvPicPr>
        <p:blipFill>
          <a:blip r:embed="rId1"/>
          <a:stretch>
            <a:fillRect/>
          </a:stretch>
        </p:blipFill>
        <p:spPr>
          <a:xfrm>
            <a:off x="7635240" y="0"/>
            <a:ext cx="4553712" cy="6858000"/>
          </a:xfrm>
          <a:prstGeom prst="rect">
            <a:avLst/>
          </a:prstGeom>
        </p:spPr>
      </p:pic>
      <p:sp>
        <p:nvSpPr>
          <p:cNvPr id="3" name="Text 0"/>
          <p:cNvSpPr/>
          <p:nvPr/>
        </p:nvSpPr>
        <p:spPr>
          <a:xfrm>
            <a:off x="822960" y="82296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SOUND, MADE VISIBLE</a:t>
            </a:r>
            <a:endParaRPr lang="en-US" sz="1100" dirty="0"/>
          </a:p>
        </p:txBody>
      </p:sp>
      <p:sp>
        <p:nvSpPr>
          <p:cNvPr id="4" name="Shape 1"/>
          <p:cNvSpPr/>
          <p:nvPr/>
        </p:nvSpPr>
        <p:spPr>
          <a:xfrm>
            <a:off x="822960" y="1188720"/>
            <a:ext cx="6400800" cy="0"/>
          </a:xfrm>
          <a:prstGeom prst="line">
            <a:avLst/>
          </a:prstGeom>
          <a:noFill/>
          <a:ln w="9525">
            <a:solidFill>
              <a:srgbClr val="D9D4C4"/>
            </a:solidFill>
            <a:prstDash val="solid"/>
          </a:ln>
        </p:spPr>
      </p:sp>
      <p:sp>
        <p:nvSpPr>
          <p:cNvPr id="5" name="Text 2"/>
          <p:cNvSpPr/>
          <p:nvPr/>
        </p:nvSpPr>
        <p:spPr>
          <a:xfrm>
            <a:off x="822960" y="1371600"/>
            <a:ext cx="6400800" cy="822960"/>
          </a:xfrm>
          <a:prstGeom prst="rect">
            <a:avLst/>
          </a:prstGeom>
          <a:noFill/>
          <a:ln/>
        </p:spPr>
        <p:txBody>
          <a:bodyPr wrap="square" lIns="0" tIns="0" rIns="0" bIns="0" rtlCol="0" anchor="ctr"/>
          <a:lstStyle/>
          <a:p>
            <a:pPr indent="0" marL="0">
              <a:buNone/>
            </a:pPr>
            <a:r>
              <a:rPr lang="en-US" sz="3800" dirty="0">
                <a:solidFill>
                  <a:srgbClr val="24313F"/>
                </a:solidFill>
                <a:latin typeface="Georgia" pitchFamily="34" charset="0"/>
                <a:ea typeface="Georgia" pitchFamily="34" charset="-122"/>
                <a:cs typeface="Georgia" pitchFamily="34" charset="-120"/>
              </a:rPr>
              <a:t>A painting of a rehearsal</a:t>
            </a:r>
            <a:endParaRPr lang="en-US" sz="3800" dirty="0"/>
          </a:p>
        </p:txBody>
      </p:sp>
      <p:sp>
        <p:nvSpPr>
          <p:cNvPr id="6" name="Text 3"/>
          <p:cNvSpPr/>
          <p:nvPr/>
        </p:nvSpPr>
        <p:spPr>
          <a:xfrm>
            <a:off x="822960" y="2331720"/>
            <a:ext cx="6400800" cy="3291840"/>
          </a:xfrm>
          <a:prstGeom prst="rect">
            <a:avLst/>
          </a:prstGeom>
          <a:noFill/>
          <a:ln/>
        </p:spPr>
        <p:txBody>
          <a:bodyPr wrap="square" lIns="0" tIns="0" rIns="0" bIns="0" rtlCol="0" anchor="t"/>
          <a:lstStyle/>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Nobody is performing. The lute is being tuned, the score is being read, a player looks out at us mid-thought. Caravaggio painted the part of music that happens before the music: preparation, attention, the room.</a:t>
            </a:r>
            <a:endParaRPr lang="en-US" sz="1700" dirty="0"/>
          </a:p>
          <a:p>
            <a:pPr indent="0" marL="0">
              <a:lnSpc>
                <a:spcPts val="2400"/>
              </a:lnSpc>
              <a:buNone/>
            </a:pPr>
            <a:endParaRPr lang="en-US" sz="1700" dirty="0"/>
          </a:p>
          <a:p>
            <a:pPr indent="0" marL="0">
              <a:lnSpc>
                <a:spcPts val="2400"/>
              </a:lnSpc>
              <a:buNone/>
            </a:pPr>
            <a:r>
              <a:rPr lang="en-US" sz="1700" dirty="0">
                <a:solidFill>
                  <a:srgbClr val="24313F"/>
                </a:solidFill>
                <a:latin typeface="Georgia" pitchFamily="34" charset="0"/>
                <a:ea typeface="Georgia" pitchFamily="34" charset="-122"/>
                <a:cs typeface="Georgia" pitchFamily="34" charset="-120"/>
              </a:rPr>
              <a:t>That is the part of a soundtrack students never hear. Ambient sound, the bed under the scene, the breath before the line. It is doing continuous work on your mood, which is exactly why it is easy to overlook and worth naming.</a:t>
            </a:r>
            <a:endParaRPr lang="en-US" sz="1700" dirty="0"/>
          </a:p>
        </p:txBody>
      </p:sp>
      <p:sp>
        <p:nvSpPr>
          <p:cNvPr id="7" name="Text 4"/>
          <p:cNvSpPr/>
          <p:nvPr/>
        </p:nvSpPr>
        <p:spPr>
          <a:xfrm>
            <a:off x="7818120" y="6126480"/>
            <a:ext cx="4187952" cy="365760"/>
          </a:xfrm>
          <a:prstGeom prst="rect">
            <a:avLst/>
          </a:prstGeom>
          <a:solidFill>
            <a:srgbClr val="FAF8F1"/>
          </a:solidFill>
          <a:ln/>
        </p:spPr>
        <p:txBody>
          <a:bodyPr wrap="square" lIns="0" tIns="0" rIns="0" bIns="0" rtlCol="0" anchor="ctr"/>
          <a:lstStyle/>
          <a:p>
            <a:pPr indent="0" marL="0">
              <a:buNone/>
            </a:pPr>
            <a:r>
              <a:rPr lang="en-US" sz="950" spc="50" kern="0" dirty="0">
                <a:solidFill>
                  <a:srgbClr val="7A7F72"/>
                </a:solidFill>
                <a:latin typeface="Arial" pitchFamily="34" charset="0"/>
                <a:ea typeface="Arial" pitchFamily="34" charset="-122"/>
                <a:cs typeface="Arial" pitchFamily="34" charset="-120"/>
              </a:rPr>
              <a:t>Caravaggio, The Musicians, 1595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THE LINE, AND CROSSING IT</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THE MOVE THAT EARNS MORE THAN EITHER STATE</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05840"/>
            <a:ext cx="10543032" cy="731520"/>
          </a:xfrm>
          <a:prstGeom prst="rect">
            <a:avLst/>
          </a:prstGeom>
          <a:noFill/>
          <a:ln/>
        </p:spPr>
        <p:txBody>
          <a:bodyPr wrap="square" lIns="0" tIns="0" rIns="0" bIns="0" rtlCol="0" anchor="ctr"/>
          <a:lstStyle/>
          <a:p>
            <a:pPr indent="0" marL="0">
              <a:buNone/>
            </a:pPr>
            <a:r>
              <a:rPr lang="en-US" sz="3600" dirty="0">
                <a:solidFill>
                  <a:srgbClr val="24313F"/>
                </a:solidFill>
                <a:latin typeface="Georgia" pitchFamily="34" charset="0"/>
                <a:ea typeface="Georgia" pitchFamily="34" charset="-122"/>
                <a:cs typeface="Georgia" pitchFamily="34" charset="-120"/>
              </a:rPr>
              <a:t>A car radio, then a kitchen</a:t>
            </a:r>
            <a:endParaRPr lang="en-US" sz="3600" dirty="0"/>
          </a:p>
        </p:txBody>
      </p:sp>
      <p:sp>
        <p:nvSpPr>
          <p:cNvPr id="6" name="Text 4"/>
          <p:cNvSpPr/>
          <p:nvPr/>
        </p:nvSpPr>
        <p:spPr>
          <a:xfrm>
            <a:off x="822960" y="2011680"/>
            <a:ext cx="4846320" cy="502920"/>
          </a:xfrm>
          <a:prstGeom prst="rect">
            <a:avLst/>
          </a:prstGeom>
          <a:noFill/>
          <a:ln/>
        </p:spPr>
        <p:txBody>
          <a:bodyPr wrap="square" lIns="0" tIns="0" rIns="0" bIns="0" rtlCol="0" anchor="ctr"/>
          <a:lstStyle/>
          <a:p>
            <a:pPr indent="0" marL="0">
              <a:buNone/>
            </a:pPr>
            <a:r>
              <a:rPr lang="en-US" sz="2600" dirty="0">
                <a:solidFill>
                  <a:srgbClr val="4A6B5D"/>
                </a:solidFill>
                <a:latin typeface="Georgia" pitchFamily="34" charset="0"/>
                <a:ea typeface="Georgia" pitchFamily="34" charset="-122"/>
                <a:cs typeface="Georgia" pitchFamily="34" charset="-120"/>
              </a:rPr>
              <a:t>Diegetic</a:t>
            </a:r>
            <a:endParaRPr lang="en-US" sz="2600" dirty="0"/>
          </a:p>
        </p:txBody>
      </p:sp>
      <p:sp>
        <p:nvSpPr>
          <p:cNvPr id="7" name="Shape 5"/>
          <p:cNvSpPr/>
          <p:nvPr/>
        </p:nvSpPr>
        <p:spPr>
          <a:xfrm>
            <a:off x="822960" y="2606040"/>
            <a:ext cx="4754880" cy="0"/>
          </a:xfrm>
          <a:prstGeom prst="line">
            <a:avLst/>
          </a:prstGeom>
          <a:noFill/>
          <a:ln w="9525">
            <a:solidFill>
              <a:srgbClr val="D9D4C4"/>
            </a:solidFill>
            <a:prstDash val="solid"/>
          </a:ln>
        </p:spPr>
      </p:sp>
      <p:sp>
        <p:nvSpPr>
          <p:cNvPr id="8" name="Text 6"/>
          <p:cNvSpPr/>
          <p:nvPr/>
        </p:nvSpPr>
        <p:spPr>
          <a:xfrm>
            <a:off x="822960" y="2743200"/>
            <a:ext cx="4846320" cy="1463040"/>
          </a:xfrm>
          <a:prstGeom prst="rect">
            <a:avLst/>
          </a:prstGeom>
          <a:noFill/>
          <a:ln/>
        </p:spPr>
        <p:txBody>
          <a:bodyPr wrap="square" lIns="0" tIns="0" rIns="0" bIns="0" rtlCol="0" anchor="t"/>
          <a:lstStyle/>
          <a:p>
            <a:pPr indent="0" marL="0">
              <a:lnSpc>
                <a:spcPts val="2500"/>
              </a:lnSpc>
              <a:buNone/>
            </a:pPr>
            <a:r>
              <a:rPr lang="en-US" sz="1800" dirty="0">
                <a:solidFill>
                  <a:srgbClr val="24313F"/>
                </a:solidFill>
                <a:latin typeface="Georgia" pitchFamily="34" charset="0"/>
                <a:ea typeface="Georgia" pitchFamily="34" charset="-122"/>
                <a:cs typeface="Georgia" pitchFamily="34" charset="-120"/>
              </a:rPr>
              <a:t>The song plays on the car radio. It exists in the world of the text and the character can hear it.</a:t>
            </a:r>
            <a:endParaRPr lang="en-US" sz="1800" dirty="0"/>
          </a:p>
        </p:txBody>
      </p:sp>
      <p:sp>
        <p:nvSpPr>
          <p:cNvPr id="9" name="Text 7"/>
          <p:cNvSpPr/>
          <p:nvPr/>
        </p:nvSpPr>
        <p:spPr>
          <a:xfrm>
            <a:off x="6309360" y="2011680"/>
            <a:ext cx="4846320" cy="502920"/>
          </a:xfrm>
          <a:prstGeom prst="rect">
            <a:avLst/>
          </a:prstGeom>
          <a:noFill/>
          <a:ln/>
        </p:spPr>
        <p:txBody>
          <a:bodyPr wrap="square" lIns="0" tIns="0" rIns="0" bIns="0" rtlCol="0" anchor="ctr"/>
          <a:lstStyle/>
          <a:p>
            <a:pPr indent="0" marL="0">
              <a:buNone/>
            </a:pPr>
            <a:r>
              <a:rPr lang="en-US" sz="2600" dirty="0">
                <a:solidFill>
                  <a:srgbClr val="5C7A6B"/>
                </a:solidFill>
                <a:latin typeface="Georgia" pitchFamily="34" charset="0"/>
                <a:ea typeface="Georgia" pitchFamily="34" charset="-122"/>
                <a:cs typeface="Georgia" pitchFamily="34" charset="-120"/>
              </a:rPr>
              <a:t>Non-diegetic</a:t>
            </a:r>
            <a:endParaRPr lang="en-US" sz="2600" dirty="0"/>
          </a:p>
        </p:txBody>
      </p:sp>
      <p:sp>
        <p:nvSpPr>
          <p:cNvPr id="10" name="Shape 8"/>
          <p:cNvSpPr/>
          <p:nvPr/>
        </p:nvSpPr>
        <p:spPr>
          <a:xfrm>
            <a:off x="6309360" y="2606040"/>
            <a:ext cx="4754880" cy="0"/>
          </a:xfrm>
          <a:prstGeom prst="line">
            <a:avLst/>
          </a:prstGeom>
          <a:noFill/>
          <a:ln w="9525">
            <a:solidFill>
              <a:srgbClr val="D9D4C4"/>
            </a:solidFill>
            <a:prstDash val="solid"/>
          </a:ln>
        </p:spPr>
      </p:sp>
      <p:sp>
        <p:nvSpPr>
          <p:cNvPr id="11" name="Text 9"/>
          <p:cNvSpPr/>
          <p:nvPr/>
        </p:nvSpPr>
        <p:spPr>
          <a:xfrm>
            <a:off x="6309360" y="2743200"/>
            <a:ext cx="4846320" cy="1463040"/>
          </a:xfrm>
          <a:prstGeom prst="rect">
            <a:avLst/>
          </a:prstGeom>
          <a:noFill/>
          <a:ln/>
        </p:spPr>
        <p:txBody>
          <a:bodyPr wrap="square" lIns="0" tIns="0" rIns="0" bIns="0" rtlCol="0" anchor="t"/>
          <a:lstStyle/>
          <a:p>
            <a:pPr indent="0" marL="0">
              <a:lnSpc>
                <a:spcPts val="2500"/>
              </a:lnSpc>
              <a:buNone/>
            </a:pPr>
            <a:r>
              <a:rPr lang="en-US" sz="1800" dirty="0">
                <a:solidFill>
                  <a:srgbClr val="24313F"/>
                </a:solidFill>
                <a:latin typeface="Georgia" pitchFamily="34" charset="0"/>
                <a:ea typeface="Georgia" pitchFamily="34" charset="-122"/>
                <a:cs typeface="Georgia" pitchFamily="34" charset="-120"/>
              </a:rPr>
              <a:t>The same song continues over the next scene, in a kitchen, with no radio. Only you can hear it now.</a:t>
            </a:r>
            <a:endParaRPr lang="en-US" sz="1800" dirty="0"/>
          </a:p>
        </p:txBody>
      </p:sp>
      <p:sp>
        <p:nvSpPr>
          <p:cNvPr id="12" name="Shape 10"/>
          <p:cNvSpPr/>
          <p:nvPr/>
        </p:nvSpPr>
        <p:spPr>
          <a:xfrm>
            <a:off x="822960" y="4343400"/>
            <a:ext cx="10543032" cy="960120"/>
          </a:xfrm>
          <a:prstGeom prst="rect">
            <a:avLst/>
          </a:prstGeom>
          <a:solidFill>
            <a:srgbClr val="E8EFE7"/>
          </a:solidFill>
          <a:ln/>
        </p:spPr>
      </p:sp>
      <p:sp>
        <p:nvSpPr>
          <p:cNvPr id="13" name="Text 11"/>
          <p:cNvSpPr/>
          <p:nvPr/>
        </p:nvSpPr>
        <p:spPr>
          <a:xfrm>
            <a:off x="1097280" y="4480560"/>
            <a:ext cx="9994392" cy="685800"/>
          </a:xfrm>
          <a:prstGeom prst="rect">
            <a:avLst/>
          </a:prstGeom>
          <a:noFill/>
          <a:ln/>
        </p:spPr>
        <p:txBody>
          <a:bodyPr wrap="square" lIns="0" tIns="0" rIns="0" bIns="0" rtlCol="0" anchor="ctr"/>
          <a:lstStyle/>
          <a:p>
            <a:pPr indent="0" marL="0">
              <a:lnSpc>
                <a:spcPts val="2400"/>
              </a:lnSpc>
              <a:buNone/>
            </a:pPr>
            <a:r>
              <a:rPr lang="en-US" sz="1800" dirty="0">
                <a:solidFill>
                  <a:srgbClr val="24313F"/>
                </a:solidFill>
                <a:latin typeface="Georgia" pitchFamily="34" charset="0"/>
                <a:ea typeface="Georgia" pitchFamily="34" charset="-122"/>
                <a:cs typeface="Georgia" pitchFamily="34" charset="-120"/>
              </a:rPr>
              <a:t>The carry itself has a name: a sound bridge. Naming the crossing is worth more than naming either side of it, because the crossing is the decision.</a:t>
            </a:r>
            <a:endParaRPr lang="en-US" sz="1800" dirty="0"/>
          </a:p>
        </p:txBody>
      </p:sp>
      <p:sp>
        <p:nvSpPr>
          <p:cNvPr id="14" name="Shape 12"/>
          <p:cNvSpPr/>
          <p:nvPr/>
        </p:nvSpPr>
        <p:spPr>
          <a:xfrm>
            <a:off x="822960" y="6382512"/>
            <a:ext cx="10543032" cy="0"/>
          </a:xfrm>
          <a:prstGeom prst="line">
            <a:avLst/>
          </a:prstGeom>
          <a:noFill/>
          <a:ln w="9525">
            <a:solidFill>
              <a:srgbClr val="D9D4C4"/>
            </a:solidFill>
            <a:prstDash val="solid"/>
          </a:ln>
        </p:spPr>
      </p:sp>
      <p:sp>
        <p:nvSpPr>
          <p:cNvPr id="15" name="Text 13"/>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6" name="Text 14"/>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03</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8EFE7"/>
        </a:solidFill>
      </p:bgPr>
    </p:bg>
    <p:spTree>
      <p:nvGrpSpPr>
        <p:cNvPr id="1" name=""/>
        <p:cNvGrpSpPr/>
        <p:nvPr/>
      </p:nvGrpSpPr>
      <p:grpSpPr>
        <a:xfrm>
          <a:off x="0" y="0"/>
          <a:ext cx="0" cy="0"/>
          <a:chOff x="0" y="0"/>
          <a:chExt cx="0" cy="0"/>
        </a:xfrm>
      </p:grpSpPr>
      <p:sp>
        <p:nvSpPr>
          <p:cNvPr id="2" name="Text 0"/>
          <p:cNvSpPr/>
          <p:nvPr/>
        </p:nvSpPr>
        <p:spPr>
          <a:xfrm>
            <a:off x="502920" y="548640"/>
            <a:ext cx="1828800" cy="1828800"/>
          </a:xfrm>
          <a:prstGeom prst="rect">
            <a:avLst/>
          </a:prstGeom>
          <a:noFill/>
          <a:ln/>
        </p:spPr>
        <p:txBody>
          <a:bodyPr wrap="square" lIns="0" tIns="0" rIns="0" bIns="0" rtlCol="0" anchor="t"/>
          <a:lstStyle/>
          <a:p>
            <a:pPr indent="0" marL="0">
              <a:buNone/>
            </a:pPr>
            <a:r>
              <a:rPr lang="en-US" sz="20000" dirty="0">
                <a:solidFill>
                  <a:srgbClr val="A3C1AD"/>
                </a:solidFill>
                <a:latin typeface="Georgia" pitchFamily="34" charset="0"/>
                <a:ea typeface="Georgia" pitchFamily="34" charset="-122"/>
                <a:cs typeface="Georgia" pitchFamily="34" charset="-120"/>
              </a:rPr>
              <a:t>“</a:t>
            </a:r>
            <a:endParaRPr lang="en-US" sz="20000" dirty="0"/>
          </a:p>
        </p:txBody>
      </p:sp>
      <p:sp>
        <p:nvSpPr>
          <p:cNvPr id="3" name="Text 1"/>
          <p:cNvSpPr/>
          <p:nvPr/>
        </p:nvSpPr>
        <p:spPr>
          <a:xfrm>
            <a:off x="822960" y="1737360"/>
            <a:ext cx="10424160" cy="2743200"/>
          </a:xfrm>
          <a:prstGeom prst="rect">
            <a:avLst/>
          </a:prstGeom>
          <a:noFill/>
          <a:ln/>
        </p:spPr>
        <p:txBody>
          <a:bodyPr wrap="square" lIns="0" tIns="0" rIns="0" bIns="0" rtlCol="0" anchor="ctr"/>
          <a:lstStyle/>
          <a:p>
            <a:pPr indent="0" marL="0">
              <a:lnSpc>
                <a:spcPts val="5800"/>
              </a:lnSpc>
              <a:buNone/>
            </a:pPr>
            <a:r>
              <a:rPr lang="en-US" sz="5000" dirty="0">
                <a:solidFill>
                  <a:srgbClr val="24313F"/>
                </a:solidFill>
                <a:latin typeface="Georgia" pitchFamily="34" charset="0"/>
                <a:ea typeface="Georgia" pitchFamily="34" charset="-122"/>
                <a:cs typeface="Georgia" pitchFamily="34" charset="-120"/>
              </a:rPr>
              <a:t>Same pictures.</a:t>
            </a:r>
            <a:endParaRPr lang="en-US" sz="5000" dirty="0"/>
          </a:p>
          <a:p>
            <a:pPr indent="0" marL="0">
              <a:lnSpc>
                <a:spcPts val="5800"/>
              </a:lnSpc>
              <a:buNone/>
            </a:pPr>
            <a:r>
              <a:rPr lang="en-US" sz="5000" dirty="0">
                <a:solidFill>
                  <a:srgbClr val="24313F"/>
                </a:solidFill>
                <a:latin typeface="Georgia" pitchFamily="34" charset="0"/>
                <a:ea typeface="Georgia" pitchFamily="34" charset="-122"/>
                <a:cs typeface="Georgia" pitchFamily="34" charset="-120"/>
              </a:rPr>
              <a:t>Two music beds.</a:t>
            </a:r>
            <a:endParaRPr lang="en-US" sz="5000" dirty="0"/>
          </a:p>
          <a:p>
            <a:pPr indent="0" marL="0">
              <a:lnSpc>
                <a:spcPts val="5800"/>
              </a:lnSpc>
              <a:buNone/>
            </a:pPr>
            <a:r>
              <a:rPr lang="en-US" sz="5000" dirty="0">
                <a:solidFill>
                  <a:srgbClr val="24313F"/>
                </a:solidFill>
                <a:latin typeface="Georgia" pitchFamily="34" charset="0"/>
                <a:ea typeface="Georgia" pitchFamily="34" charset="-122"/>
                <a:cs typeface="Georgia" pitchFamily="34" charset="-120"/>
              </a:rPr>
              <a:t>Different genre.</a:t>
            </a:r>
            <a:endParaRPr lang="en-US" sz="5000" dirty="0"/>
          </a:p>
        </p:txBody>
      </p:sp>
      <p:sp>
        <p:nvSpPr>
          <p:cNvPr id="4" name="Shape 2"/>
          <p:cNvSpPr/>
          <p:nvPr/>
        </p:nvSpPr>
        <p:spPr>
          <a:xfrm>
            <a:off x="822960" y="4754880"/>
            <a:ext cx="914400" cy="0"/>
          </a:xfrm>
          <a:prstGeom prst="line">
            <a:avLst/>
          </a:prstGeom>
          <a:noFill/>
          <a:ln w="31750">
            <a:solidFill>
              <a:srgbClr val="8C3A38"/>
            </a:solidFill>
            <a:prstDash val="solid"/>
          </a:ln>
        </p:spPr>
      </p:sp>
      <p:sp>
        <p:nvSpPr>
          <p:cNvPr id="5" name="Text 3"/>
          <p:cNvSpPr/>
          <p:nvPr/>
        </p:nvSpPr>
        <p:spPr>
          <a:xfrm>
            <a:off x="822960" y="4937760"/>
            <a:ext cx="10241280" cy="822960"/>
          </a:xfrm>
          <a:prstGeom prst="rect">
            <a:avLst/>
          </a:prstGeom>
          <a:noFill/>
          <a:ln/>
        </p:spPr>
        <p:txBody>
          <a:bodyPr wrap="square" lIns="0" tIns="0" rIns="0" bIns="0" rtlCol="0" anchor="t"/>
          <a:lstStyle/>
          <a:p>
            <a:pPr indent="0" marL="0">
              <a:lnSpc>
                <a:spcPts val="1900"/>
              </a:lnSpc>
              <a:buNone/>
            </a:pPr>
            <a:r>
              <a:rPr lang="en-US" sz="1400" spc="100" kern="0" dirty="0">
                <a:solidFill>
                  <a:srgbClr val="4A6B5D"/>
                </a:solidFill>
                <a:latin typeface="Arial" pitchFamily="34" charset="0"/>
                <a:ea typeface="Arial" pitchFamily="34" charset="-122"/>
                <a:cs typeface="Arial" pitchFamily="34" charset="-120"/>
              </a:rPr>
              <a:t>Watched twice, then one question: which of those choices did the audience make, and which were made for them? The recut trailer is the fastest proof that non-diegetic music is not decoration.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FOLEY · TWENTY-FIVE MINUTES</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PHONES RECORDING, HEADPHONES ON</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932688"/>
            <a:ext cx="10543032" cy="640080"/>
          </a:xfrm>
          <a:prstGeom prst="rect">
            <a:avLst/>
          </a:prstGeom>
          <a:noFill/>
          <a:ln/>
        </p:spPr>
        <p:txBody>
          <a:bodyPr wrap="square" lIns="0" tIns="0" rIns="0" bIns="0" rtlCol="0" anchor="ctr"/>
          <a:lstStyle/>
          <a:p>
            <a:pPr indent="0" marL="0">
              <a:buNone/>
            </a:pPr>
            <a:r>
              <a:rPr lang="en-US" sz="3200" dirty="0">
                <a:solidFill>
                  <a:srgbClr val="24313F"/>
                </a:solidFill>
                <a:latin typeface="Georgia" pitchFamily="34" charset="0"/>
                <a:ea typeface="Georgia" pitchFamily="34" charset="-122"/>
                <a:cs typeface="Georgia" pitchFamily="34" charset="-120"/>
              </a:rPr>
              <a:t>It does not have to be the real thing</a:t>
            </a:r>
            <a:endParaRPr lang="en-US" sz="3200" dirty="0"/>
          </a:p>
        </p:txBody>
      </p:sp>
      <p:sp>
        <p:nvSpPr>
          <p:cNvPr id="6" name="Text 4"/>
          <p:cNvSpPr/>
          <p:nvPr/>
        </p:nvSpPr>
        <p:spPr>
          <a:xfrm>
            <a:off x="822960" y="1691640"/>
            <a:ext cx="10241280" cy="822960"/>
          </a:xfrm>
          <a:prstGeom prst="rect">
            <a:avLst/>
          </a:prstGeom>
          <a:noFill/>
          <a:ln/>
        </p:spPr>
        <p:txBody>
          <a:bodyPr wrap="square" lIns="0" tIns="0" rIns="0" bIns="0" rtlCol="0" anchor="t"/>
          <a:lstStyle/>
          <a:p>
            <a:pPr indent="0" marL="0">
              <a:lnSpc>
                <a:spcPts val="2500"/>
              </a:lnSpc>
              <a:buNone/>
            </a:pPr>
            <a:r>
              <a:rPr lang="en-US" sz="1800" i="1" dirty="0">
                <a:solidFill>
                  <a:srgbClr val="4A6B5D"/>
                </a:solidFill>
                <a:latin typeface="Georgia" pitchFamily="34" charset="0"/>
                <a:ea typeface="Georgia" pitchFamily="34" charset="-122"/>
                <a:cs typeface="Georgia" pitchFamily="34" charset="-120"/>
              </a:rPr>
              <a:t>Cambridge defines it precisely: incidental sound effects which are created artificially to enhance the drama, but which are diegetic, that is, they exist within the world of the film.</a:t>
            </a:r>
            <a:endParaRPr lang="en-US" sz="1800" dirty="0"/>
          </a:p>
        </p:txBody>
      </p:sp>
      <p:sp>
        <p:nvSpPr>
          <p:cNvPr id="7" name="Shape 5"/>
          <p:cNvSpPr/>
          <p:nvPr/>
        </p:nvSpPr>
        <p:spPr>
          <a:xfrm>
            <a:off x="822960" y="2743200"/>
            <a:ext cx="3291840" cy="658368"/>
          </a:xfrm>
          <a:prstGeom prst="rect">
            <a:avLst/>
          </a:prstGeom>
          <a:solidFill>
            <a:srgbClr val="E8EFE7"/>
          </a:solidFill>
          <a:ln/>
        </p:spPr>
      </p:sp>
      <p:sp>
        <p:nvSpPr>
          <p:cNvPr id="8" name="Text 6"/>
          <p:cNvSpPr/>
          <p:nvPr/>
        </p:nvSpPr>
        <p:spPr>
          <a:xfrm>
            <a:off x="1024128" y="2743200"/>
            <a:ext cx="2926080" cy="658368"/>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Footsteps, three surfaces</a:t>
            </a:r>
            <a:endParaRPr lang="en-US" sz="1550" dirty="0"/>
          </a:p>
        </p:txBody>
      </p:sp>
      <p:sp>
        <p:nvSpPr>
          <p:cNvPr id="9" name="Shape 7"/>
          <p:cNvSpPr/>
          <p:nvPr/>
        </p:nvSpPr>
        <p:spPr>
          <a:xfrm>
            <a:off x="4389120" y="2743200"/>
            <a:ext cx="3291840" cy="658368"/>
          </a:xfrm>
          <a:prstGeom prst="rect">
            <a:avLst/>
          </a:prstGeom>
          <a:solidFill>
            <a:srgbClr val="E8EFE7"/>
          </a:solidFill>
          <a:ln/>
        </p:spPr>
      </p:sp>
      <p:sp>
        <p:nvSpPr>
          <p:cNvPr id="10" name="Text 8"/>
          <p:cNvSpPr/>
          <p:nvPr/>
        </p:nvSpPr>
        <p:spPr>
          <a:xfrm>
            <a:off x="4590288" y="2743200"/>
            <a:ext cx="2926080" cy="658368"/>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A door, opened slowly and fast</a:t>
            </a:r>
            <a:endParaRPr lang="en-US" sz="1550" dirty="0"/>
          </a:p>
        </p:txBody>
      </p:sp>
      <p:sp>
        <p:nvSpPr>
          <p:cNvPr id="11" name="Shape 9"/>
          <p:cNvSpPr/>
          <p:nvPr/>
        </p:nvSpPr>
        <p:spPr>
          <a:xfrm>
            <a:off x="7955280" y="2743200"/>
            <a:ext cx="3291840" cy="658368"/>
          </a:xfrm>
          <a:prstGeom prst="rect">
            <a:avLst/>
          </a:prstGeom>
          <a:solidFill>
            <a:srgbClr val="E8EFE7"/>
          </a:solidFill>
          <a:ln/>
        </p:spPr>
      </p:sp>
      <p:sp>
        <p:nvSpPr>
          <p:cNvPr id="12" name="Text 10"/>
          <p:cNvSpPr/>
          <p:nvPr/>
        </p:nvSpPr>
        <p:spPr>
          <a:xfrm>
            <a:off x="8156448" y="2743200"/>
            <a:ext cx="2926080" cy="658368"/>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Cloth movement, close to the mic</a:t>
            </a:r>
            <a:endParaRPr lang="en-US" sz="1550" dirty="0"/>
          </a:p>
        </p:txBody>
      </p:sp>
      <p:sp>
        <p:nvSpPr>
          <p:cNvPr id="13" name="Shape 11"/>
          <p:cNvSpPr/>
          <p:nvPr/>
        </p:nvSpPr>
        <p:spPr>
          <a:xfrm>
            <a:off x="822960" y="3611880"/>
            <a:ext cx="3291840" cy="658368"/>
          </a:xfrm>
          <a:prstGeom prst="rect">
            <a:avLst/>
          </a:prstGeom>
          <a:solidFill>
            <a:srgbClr val="E8EFE7"/>
          </a:solidFill>
          <a:ln/>
        </p:spPr>
      </p:sp>
      <p:sp>
        <p:nvSpPr>
          <p:cNvPr id="14" name="Text 12"/>
          <p:cNvSpPr/>
          <p:nvPr/>
        </p:nvSpPr>
        <p:spPr>
          <a:xfrm>
            <a:off x="1024128" y="3611880"/>
            <a:ext cx="2926080" cy="658368"/>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A punch</a:t>
            </a:r>
            <a:endParaRPr lang="en-US" sz="1550" dirty="0"/>
          </a:p>
        </p:txBody>
      </p:sp>
      <p:sp>
        <p:nvSpPr>
          <p:cNvPr id="15" name="Shape 13"/>
          <p:cNvSpPr/>
          <p:nvPr/>
        </p:nvSpPr>
        <p:spPr>
          <a:xfrm>
            <a:off x="4389120" y="3611880"/>
            <a:ext cx="3291840" cy="658368"/>
          </a:xfrm>
          <a:prstGeom prst="rect">
            <a:avLst/>
          </a:prstGeom>
          <a:solidFill>
            <a:srgbClr val="E8EFE7"/>
          </a:solidFill>
          <a:ln/>
        </p:spPr>
      </p:sp>
      <p:sp>
        <p:nvSpPr>
          <p:cNvPr id="16" name="Text 14"/>
          <p:cNvSpPr/>
          <p:nvPr/>
        </p:nvSpPr>
        <p:spPr>
          <a:xfrm>
            <a:off x="4590288" y="3611880"/>
            <a:ext cx="2926080" cy="658368"/>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Liquid poured</a:t>
            </a:r>
            <a:endParaRPr lang="en-US" sz="1550" dirty="0"/>
          </a:p>
        </p:txBody>
      </p:sp>
      <p:sp>
        <p:nvSpPr>
          <p:cNvPr id="17" name="Shape 15"/>
          <p:cNvSpPr/>
          <p:nvPr/>
        </p:nvSpPr>
        <p:spPr>
          <a:xfrm>
            <a:off x="7955280" y="3611880"/>
            <a:ext cx="3291840" cy="658368"/>
          </a:xfrm>
          <a:prstGeom prst="rect">
            <a:avLst/>
          </a:prstGeom>
          <a:solidFill>
            <a:srgbClr val="E8EFE7"/>
          </a:solidFill>
          <a:ln/>
        </p:spPr>
      </p:sp>
      <p:sp>
        <p:nvSpPr>
          <p:cNvPr id="18" name="Text 16"/>
          <p:cNvSpPr/>
          <p:nvPr/>
        </p:nvSpPr>
        <p:spPr>
          <a:xfrm>
            <a:off x="8156448" y="3611880"/>
            <a:ext cx="2926080" cy="658368"/>
          </a:xfrm>
          <a:prstGeom prst="rect">
            <a:avLst/>
          </a:prstGeom>
          <a:noFill/>
          <a:ln/>
        </p:spPr>
        <p:txBody>
          <a:bodyPr wrap="square" lIns="0" tIns="0" rIns="0" bIns="0" rtlCol="0" anchor="ctr"/>
          <a:lstStyle/>
          <a:p>
            <a:pPr indent="0" marL="0">
              <a:buNone/>
            </a:pPr>
            <a:r>
              <a:rPr lang="en-US" sz="1550" dirty="0">
                <a:solidFill>
                  <a:srgbClr val="24313F"/>
                </a:solidFill>
                <a:latin typeface="Georgia" pitchFamily="34" charset="0"/>
                <a:ea typeface="Georgia" pitchFamily="34" charset="-122"/>
                <a:cs typeface="Georgia" pitchFamily="34" charset="-120"/>
              </a:rPr>
              <a:t>Breath, gasp, hesitation</a:t>
            </a:r>
            <a:endParaRPr lang="en-US" sz="1550" dirty="0"/>
          </a:p>
        </p:txBody>
      </p:sp>
      <p:sp>
        <p:nvSpPr>
          <p:cNvPr id="19" name="Shape 17"/>
          <p:cNvSpPr/>
          <p:nvPr/>
        </p:nvSpPr>
        <p:spPr>
          <a:xfrm>
            <a:off x="822960" y="4709160"/>
            <a:ext cx="914400" cy="0"/>
          </a:xfrm>
          <a:prstGeom prst="line">
            <a:avLst/>
          </a:prstGeom>
          <a:noFill/>
          <a:ln w="31750">
            <a:solidFill>
              <a:srgbClr val="8C3A38"/>
            </a:solidFill>
            <a:prstDash val="solid"/>
          </a:ln>
        </p:spPr>
      </p:sp>
      <p:sp>
        <p:nvSpPr>
          <p:cNvPr id="20" name="Text 18"/>
          <p:cNvSpPr/>
          <p:nvPr/>
        </p:nvSpPr>
        <p:spPr>
          <a:xfrm>
            <a:off x="822960" y="4892040"/>
            <a:ext cx="10424160" cy="640080"/>
          </a:xfrm>
          <a:prstGeom prst="rect">
            <a:avLst/>
          </a:prstGeom>
          <a:noFill/>
          <a:ln/>
        </p:spPr>
        <p:txBody>
          <a:bodyPr wrap="square" lIns="0" tIns="0" rIns="0" bIns="0" rtlCol="0" anchor="t"/>
          <a:lstStyle/>
          <a:p>
            <a:pPr indent="0" marL="0">
              <a:lnSpc>
                <a:spcPts val="2200"/>
              </a:lnSpc>
              <a:buNone/>
            </a:pPr>
            <a:r>
              <a:rPr lang="en-US" sz="1700" i="1" dirty="0">
                <a:solidFill>
                  <a:srgbClr val="4A6B5D"/>
                </a:solidFill>
                <a:latin typeface="Georgia" pitchFamily="34" charset="0"/>
                <a:ea typeface="Georgia" pitchFamily="34" charset="-122"/>
                <a:cs typeface="Georgia" pitchFamily="34" charset="-120"/>
              </a:rPr>
              <a:t>The habit taught here and policed at every shoot afterwards: headphones on for every take, and the mic as close as the frame allows. Unusable audio cannot be fixed later.</a:t>
            </a:r>
            <a:endParaRPr lang="en-US" sz="1700" dirty="0"/>
          </a:p>
        </p:txBody>
      </p:sp>
      <p:sp>
        <p:nvSpPr>
          <p:cNvPr id="21" name="Shape 19"/>
          <p:cNvSpPr/>
          <p:nvPr/>
        </p:nvSpPr>
        <p:spPr>
          <a:xfrm>
            <a:off x="822960" y="6382512"/>
            <a:ext cx="10543032" cy="0"/>
          </a:xfrm>
          <a:prstGeom prst="line">
            <a:avLst/>
          </a:prstGeom>
          <a:noFill/>
          <a:ln w="9525">
            <a:solidFill>
              <a:srgbClr val="D9D4C4"/>
            </a:solidFill>
            <a:prstDash val="solid"/>
          </a:ln>
        </p:spPr>
      </p:sp>
      <p:sp>
        <p:nvSpPr>
          <p:cNvPr id="22" name="Text 20"/>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23" name="Text 21"/>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04</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DELIVERABLE · CS4</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FRIDAY, THIRTY MINUTES</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143000"/>
            <a:ext cx="10543032" cy="822960"/>
          </a:xfrm>
          <a:prstGeom prst="rect">
            <a:avLst/>
          </a:prstGeom>
          <a:noFill/>
          <a:ln/>
        </p:spPr>
        <p:txBody>
          <a:bodyPr wrap="square" lIns="0" tIns="0" rIns="0" bIns="0" rtlCol="0" anchor="ctr"/>
          <a:lstStyle/>
          <a:p>
            <a:pPr indent="0" marL="0">
              <a:buNone/>
            </a:pPr>
            <a:r>
              <a:rPr lang="en-US" sz="3600" dirty="0">
                <a:solidFill>
                  <a:srgbClr val="24313F"/>
                </a:solidFill>
                <a:latin typeface="Georgia" pitchFamily="34" charset="0"/>
                <a:ea typeface="Georgia" pitchFamily="34" charset="-122"/>
                <a:cs typeface="Georgia" pitchFamily="34" charset="-120"/>
              </a:rPr>
              <a:t>Thirty seconds of your own opening</a:t>
            </a:r>
            <a:endParaRPr lang="en-US" sz="3600" dirty="0"/>
          </a:p>
        </p:txBody>
      </p:sp>
      <p:sp>
        <p:nvSpPr>
          <p:cNvPr id="6" name="Shape 4"/>
          <p:cNvSpPr/>
          <p:nvPr/>
        </p:nvSpPr>
        <p:spPr>
          <a:xfrm>
            <a:off x="822960" y="2240280"/>
            <a:ext cx="914400" cy="0"/>
          </a:xfrm>
          <a:prstGeom prst="line">
            <a:avLst/>
          </a:prstGeom>
          <a:noFill/>
          <a:ln w="31750">
            <a:solidFill>
              <a:srgbClr val="8C3A38"/>
            </a:solidFill>
            <a:prstDash val="solid"/>
          </a:ln>
        </p:spPr>
      </p:sp>
      <p:sp>
        <p:nvSpPr>
          <p:cNvPr id="7" name="Text 5"/>
          <p:cNvSpPr/>
          <p:nvPr/>
        </p:nvSpPr>
        <p:spPr>
          <a:xfrm>
            <a:off x="822960" y="2468880"/>
            <a:ext cx="10058400" cy="457200"/>
          </a:xfrm>
          <a:prstGeom prst="rect">
            <a:avLst/>
          </a:prstGeom>
          <a:noFill/>
          <a:ln/>
        </p:spPr>
        <p:txBody>
          <a:bodyPr wrap="square" lIns="0" tIns="0" rIns="0" bIns="0" rtlCol="0" anchor="ctr"/>
          <a:lstStyle/>
          <a:p>
            <a:pPr indent="0" marL="0">
              <a:buNone/>
            </a:pPr>
            <a:r>
              <a:rPr lang="en-US" sz="1800" dirty="0">
                <a:solidFill>
                  <a:srgbClr val="24313F"/>
                </a:solidFill>
                <a:latin typeface="Georgia" pitchFamily="34" charset="0"/>
                <a:ea typeface="Georgia" pitchFamily="34" charset="-122"/>
                <a:cs typeface="Georgia" pitchFamily="34" charset="-120"/>
              </a:rPr>
              <a:t>Built from your own recordings, the foley takes, and one non-diegetic element. Four things must be in it:</a:t>
            </a:r>
            <a:endParaRPr lang="en-US" sz="1800" dirty="0"/>
          </a:p>
        </p:txBody>
      </p:sp>
      <p:sp>
        <p:nvSpPr>
          <p:cNvPr id="8" name="Shape 6"/>
          <p:cNvSpPr/>
          <p:nvPr/>
        </p:nvSpPr>
        <p:spPr>
          <a:xfrm>
            <a:off x="822960" y="3063240"/>
            <a:ext cx="310896" cy="310896"/>
          </a:xfrm>
          <a:prstGeom prst="rect">
            <a:avLst/>
          </a:prstGeom>
          <a:solidFill>
            <a:srgbClr val="A3C1AD"/>
          </a:solidFill>
          <a:ln/>
        </p:spPr>
      </p:sp>
      <p:sp>
        <p:nvSpPr>
          <p:cNvPr id="9" name="Text 7"/>
          <p:cNvSpPr/>
          <p:nvPr/>
        </p:nvSpPr>
        <p:spPr>
          <a:xfrm>
            <a:off x="1371600" y="3017520"/>
            <a:ext cx="9601200" cy="402336"/>
          </a:xfrm>
          <a:prstGeom prst="rect">
            <a:avLst/>
          </a:prstGeom>
          <a:noFill/>
          <a:ln/>
        </p:spPr>
        <p:txBody>
          <a:bodyPr wrap="square" lIns="0" tIns="0" rIns="0" bIns="0" rtlCol="0" anchor="ctr"/>
          <a:lstStyle/>
          <a:p>
            <a:pPr indent="0" marL="0">
              <a:buNone/>
            </a:pPr>
            <a:r>
              <a:rPr lang="en-US" sz="1750" dirty="0">
                <a:solidFill>
                  <a:srgbClr val="24313F"/>
                </a:solidFill>
                <a:latin typeface="Georgia" pitchFamily="34" charset="0"/>
                <a:ea typeface="Georgia" pitchFamily="34" charset="-122"/>
                <a:cs typeface="Georgia" pitchFamily="34" charset="-120"/>
              </a:rPr>
              <a:t>One clearly diegetic sound</a:t>
            </a:r>
            <a:endParaRPr lang="en-US" sz="1750" dirty="0"/>
          </a:p>
        </p:txBody>
      </p:sp>
      <p:sp>
        <p:nvSpPr>
          <p:cNvPr id="10" name="Shape 8"/>
          <p:cNvSpPr/>
          <p:nvPr/>
        </p:nvSpPr>
        <p:spPr>
          <a:xfrm>
            <a:off x="822960" y="3630168"/>
            <a:ext cx="310896" cy="310896"/>
          </a:xfrm>
          <a:prstGeom prst="rect">
            <a:avLst/>
          </a:prstGeom>
          <a:solidFill>
            <a:srgbClr val="A3C1AD"/>
          </a:solidFill>
          <a:ln/>
        </p:spPr>
      </p:sp>
      <p:sp>
        <p:nvSpPr>
          <p:cNvPr id="11" name="Text 9"/>
          <p:cNvSpPr/>
          <p:nvPr/>
        </p:nvSpPr>
        <p:spPr>
          <a:xfrm>
            <a:off x="1371600" y="3584448"/>
            <a:ext cx="9601200" cy="402336"/>
          </a:xfrm>
          <a:prstGeom prst="rect">
            <a:avLst/>
          </a:prstGeom>
          <a:noFill/>
          <a:ln/>
        </p:spPr>
        <p:txBody>
          <a:bodyPr wrap="square" lIns="0" tIns="0" rIns="0" bIns="0" rtlCol="0" anchor="ctr"/>
          <a:lstStyle/>
          <a:p>
            <a:pPr indent="0" marL="0">
              <a:buNone/>
            </a:pPr>
            <a:r>
              <a:rPr lang="en-US" sz="1750" dirty="0">
                <a:solidFill>
                  <a:srgbClr val="24313F"/>
                </a:solidFill>
                <a:latin typeface="Georgia" pitchFamily="34" charset="0"/>
                <a:ea typeface="Georgia" pitchFamily="34" charset="-122"/>
                <a:cs typeface="Georgia" pitchFamily="34" charset="-120"/>
              </a:rPr>
              <a:t>One clearly non-diegetic</a:t>
            </a:r>
            <a:endParaRPr lang="en-US" sz="1750" dirty="0"/>
          </a:p>
        </p:txBody>
      </p:sp>
      <p:sp>
        <p:nvSpPr>
          <p:cNvPr id="12" name="Shape 10"/>
          <p:cNvSpPr/>
          <p:nvPr/>
        </p:nvSpPr>
        <p:spPr>
          <a:xfrm>
            <a:off x="822960" y="4197096"/>
            <a:ext cx="310896" cy="310896"/>
          </a:xfrm>
          <a:prstGeom prst="rect">
            <a:avLst/>
          </a:prstGeom>
          <a:solidFill>
            <a:srgbClr val="A3C1AD"/>
          </a:solidFill>
          <a:ln/>
        </p:spPr>
      </p:sp>
      <p:sp>
        <p:nvSpPr>
          <p:cNvPr id="13" name="Text 11"/>
          <p:cNvSpPr/>
          <p:nvPr/>
        </p:nvSpPr>
        <p:spPr>
          <a:xfrm>
            <a:off x="1371600" y="4151376"/>
            <a:ext cx="9601200" cy="402336"/>
          </a:xfrm>
          <a:prstGeom prst="rect">
            <a:avLst/>
          </a:prstGeom>
          <a:noFill/>
          <a:ln/>
        </p:spPr>
        <p:txBody>
          <a:bodyPr wrap="square" lIns="0" tIns="0" rIns="0" bIns="0" rtlCol="0" anchor="ctr"/>
          <a:lstStyle/>
          <a:p>
            <a:pPr indent="0" marL="0">
              <a:buNone/>
            </a:pPr>
            <a:r>
              <a:rPr lang="en-US" sz="1750" dirty="0">
                <a:solidFill>
                  <a:srgbClr val="24313F"/>
                </a:solidFill>
                <a:latin typeface="Georgia" pitchFamily="34" charset="0"/>
                <a:ea typeface="Georgia" pitchFamily="34" charset="-122"/>
                <a:cs typeface="Georgia" pitchFamily="34" charset="-120"/>
              </a:rPr>
              <a:t>One with a near or far perspective</a:t>
            </a:r>
            <a:endParaRPr lang="en-US" sz="1750" dirty="0"/>
          </a:p>
        </p:txBody>
      </p:sp>
      <p:sp>
        <p:nvSpPr>
          <p:cNvPr id="14" name="Shape 12"/>
          <p:cNvSpPr/>
          <p:nvPr/>
        </p:nvSpPr>
        <p:spPr>
          <a:xfrm>
            <a:off x="822960" y="4764024"/>
            <a:ext cx="310896" cy="310896"/>
          </a:xfrm>
          <a:prstGeom prst="rect">
            <a:avLst/>
          </a:prstGeom>
          <a:solidFill>
            <a:srgbClr val="A3C1AD"/>
          </a:solidFill>
          <a:ln/>
        </p:spPr>
      </p:sp>
      <p:sp>
        <p:nvSpPr>
          <p:cNvPr id="15" name="Text 13"/>
          <p:cNvSpPr/>
          <p:nvPr/>
        </p:nvSpPr>
        <p:spPr>
          <a:xfrm>
            <a:off x="1371600" y="4718304"/>
            <a:ext cx="9601200" cy="402336"/>
          </a:xfrm>
          <a:prstGeom prst="rect">
            <a:avLst/>
          </a:prstGeom>
          <a:noFill/>
          <a:ln/>
        </p:spPr>
        <p:txBody>
          <a:bodyPr wrap="square" lIns="0" tIns="0" rIns="0" bIns="0" rtlCol="0" anchor="ctr"/>
          <a:lstStyle/>
          <a:p>
            <a:pPr indent="0" marL="0">
              <a:buNone/>
            </a:pPr>
            <a:r>
              <a:rPr lang="en-US" sz="1750" dirty="0">
                <a:solidFill>
                  <a:srgbClr val="24313F"/>
                </a:solidFill>
                <a:latin typeface="Georgia" pitchFamily="34" charset="0"/>
                <a:ea typeface="Georgia" pitchFamily="34" charset="-122"/>
                <a:cs typeface="Georgia" pitchFamily="34" charset="-120"/>
              </a:rPr>
              <a:t>One carrying across an implied cut, as a bridge</a:t>
            </a:r>
            <a:endParaRPr lang="en-US" sz="1750" dirty="0"/>
          </a:p>
        </p:txBody>
      </p:sp>
      <p:sp>
        <p:nvSpPr>
          <p:cNvPr id="16" name="Text 14"/>
          <p:cNvSpPr/>
          <p:nvPr/>
        </p:nvSpPr>
        <p:spPr>
          <a:xfrm>
            <a:off x="822960" y="5440680"/>
            <a:ext cx="10424160" cy="548640"/>
          </a:xfrm>
          <a:prstGeom prst="rect">
            <a:avLst/>
          </a:prstGeom>
          <a:noFill/>
          <a:ln/>
        </p:spPr>
        <p:txBody>
          <a:bodyPr wrap="square" lIns="0" tIns="0" rIns="0" bIns="0" rtlCol="0" anchor="t"/>
          <a:lstStyle/>
          <a:p>
            <a:pPr indent="0" marL="0">
              <a:lnSpc>
                <a:spcPts val="1800"/>
              </a:lnSpc>
              <a:buNone/>
            </a:pPr>
            <a:r>
              <a:rPr lang="en-US" sz="1250" dirty="0">
                <a:solidFill>
                  <a:srgbClr val="7A7F72"/>
                </a:solidFill>
                <a:latin typeface="Arial" pitchFamily="34" charset="0"/>
                <a:ea typeface="Arial" pitchFamily="34" charset="-122"/>
                <a:cs typeface="Arial" pitchFamily="34" charset="-120"/>
              </a:rPr>
              <a:t>Posted and dated on the blog with a rationale naming every choice by its term and saying what it is meant to do to the listener. Marked on terminology and intention, not on polish.</a:t>
            </a:r>
            <a:endParaRPr lang="en-US" sz="1250" dirty="0"/>
          </a:p>
        </p:txBody>
      </p:sp>
      <p:sp>
        <p:nvSpPr>
          <p:cNvPr id="17" name="Shape 15"/>
          <p:cNvSpPr/>
          <p:nvPr/>
        </p:nvSpPr>
        <p:spPr>
          <a:xfrm>
            <a:off x="822960" y="6382512"/>
            <a:ext cx="10543032" cy="0"/>
          </a:xfrm>
          <a:prstGeom prst="line">
            <a:avLst/>
          </a:prstGeom>
          <a:noFill/>
          <a:ln w="9525">
            <a:solidFill>
              <a:srgbClr val="D9D4C4"/>
            </a:solidFill>
            <a:prstDash val="solid"/>
          </a:ln>
        </p:spPr>
      </p:sp>
      <p:sp>
        <p:nvSpPr>
          <p:cNvPr id="18" name="Text 16"/>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9" name="Text 17"/>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05</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8F1"/>
        </a:solidFill>
      </p:bgPr>
    </p:bg>
    <p:spTree>
      <p:nvGrpSpPr>
        <p:cNvPr id="1" name=""/>
        <p:cNvGrpSpPr/>
        <p:nvPr/>
      </p:nvGrpSpPr>
      <p:grpSpPr>
        <a:xfrm>
          <a:off x="0" y="0"/>
          <a:ext cx="0" cy="0"/>
          <a:chOff x="0" y="0"/>
          <a:chExt cx="0" cy="0"/>
        </a:xfrm>
      </p:grpSpPr>
      <p:sp>
        <p:nvSpPr>
          <p:cNvPr id="2" name="Text 0"/>
          <p:cNvSpPr/>
          <p:nvPr/>
        </p:nvSpPr>
        <p:spPr>
          <a:xfrm>
            <a:off x="822960" y="457200"/>
            <a:ext cx="6400800" cy="274320"/>
          </a:xfrm>
          <a:prstGeom prst="rect">
            <a:avLst/>
          </a:prstGeom>
          <a:noFill/>
          <a:ln/>
        </p:spPr>
        <p:txBody>
          <a:bodyPr wrap="square" lIns="0" tIns="0" rIns="0" bIns="0" rtlCol="0" anchor="ctr"/>
          <a:lstStyle/>
          <a:p>
            <a:pPr algn="l" indent="0" marL="0">
              <a:buNone/>
            </a:pPr>
            <a:r>
              <a:rPr lang="en-US" sz="1100" b="1" spc="250" kern="0" dirty="0">
                <a:solidFill>
                  <a:srgbClr val="4A6B5D"/>
                </a:solidFill>
                <a:latin typeface="Arial" pitchFamily="34" charset="0"/>
                <a:ea typeface="Arial" pitchFamily="34" charset="-122"/>
                <a:cs typeface="Arial" pitchFamily="34" charset="-120"/>
              </a:rPr>
              <a:t>WHY SOUND PAYS MORE THAN THE REST</a:t>
            </a:r>
            <a:endParaRPr lang="en-US" sz="1100" dirty="0"/>
          </a:p>
        </p:txBody>
      </p:sp>
      <p:sp>
        <p:nvSpPr>
          <p:cNvPr id="3" name="Text 1"/>
          <p:cNvSpPr/>
          <p:nvPr/>
        </p:nvSpPr>
        <p:spPr>
          <a:xfrm>
            <a:off x="6793992" y="457200"/>
            <a:ext cx="4572000" cy="274320"/>
          </a:xfrm>
          <a:prstGeom prst="rect">
            <a:avLst/>
          </a:prstGeom>
          <a:noFill/>
          <a:ln/>
        </p:spPr>
        <p:txBody>
          <a:bodyPr wrap="square" lIns="0" tIns="0" rIns="0" bIns="0" rtlCol="0" anchor="ctr"/>
          <a:lstStyle/>
          <a:p>
            <a:pPr algn="r" indent="0" marL="0">
              <a:buNone/>
            </a:pPr>
            <a:r>
              <a:rPr lang="en-US" sz="1100" b="1" spc="250" kern="0" dirty="0">
                <a:solidFill>
                  <a:srgbClr val="7A7F72"/>
                </a:solidFill>
                <a:latin typeface="Arial" pitchFamily="34" charset="0"/>
                <a:ea typeface="Arial" pitchFamily="34" charset="-122"/>
                <a:cs typeface="Arial" pitchFamily="34" charset="-120"/>
              </a:rPr>
              <a:t>NEGLECT IS AN OPPORTUNITY</a:t>
            </a:r>
            <a:endParaRPr lang="en-US" sz="1100" dirty="0"/>
          </a:p>
        </p:txBody>
      </p:sp>
      <p:sp>
        <p:nvSpPr>
          <p:cNvPr id="4" name="Shape 2"/>
          <p:cNvSpPr/>
          <p:nvPr/>
        </p:nvSpPr>
        <p:spPr>
          <a:xfrm>
            <a:off x="822960" y="786384"/>
            <a:ext cx="10543032" cy="0"/>
          </a:xfrm>
          <a:prstGeom prst="line">
            <a:avLst/>
          </a:prstGeom>
          <a:noFill/>
          <a:ln w="9525">
            <a:solidFill>
              <a:srgbClr val="D9D4C4"/>
            </a:solidFill>
            <a:prstDash val="solid"/>
          </a:ln>
        </p:spPr>
      </p:sp>
      <p:sp>
        <p:nvSpPr>
          <p:cNvPr id="5" name="Text 3"/>
          <p:cNvSpPr/>
          <p:nvPr/>
        </p:nvSpPr>
        <p:spPr>
          <a:xfrm>
            <a:off x="822960" y="1097280"/>
            <a:ext cx="10543032" cy="822960"/>
          </a:xfrm>
          <a:prstGeom prst="rect">
            <a:avLst/>
          </a:prstGeom>
          <a:noFill/>
          <a:ln/>
        </p:spPr>
        <p:txBody>
          <a:bodyPr wrap="square" lIns="0" tIns="0" rIns="0" bIns="0" rtlCol="0" anchor="ctr"/>
          <a:lstStyle/>
          <a:p>
            <a:pPr indent="0" marL="0">
              <a:buNone/>
            </a:pPr>
            <a:r>
              <a:rPr lang="en-US" sz="3600" dirty="0">
                <a:solidFill>
                  <a:srgbClr val="24313F"/>
                </a:solidFill>
                <a:latin typeface="Georgia" pitchFamily="34" charset="0"/>
                <a:ea typeface="Georgia" pitchFamily="34" charset="-122"/>
                <a:cs typeface="Georgia" pitchFamily="34" charset="-120"/>
              </a:rPr>
              <a:t>The cheapest advantage in the course</a:t>
            </a:r>
            <a:endParaRPr lang="en-US" sz="3600" dirty="0"/>
          </a:p>
        </p:txBody>
      </p:sp>
      <p:sp>
        <p:nvSpPr>
          <p:cNvPr id="6" name="Shape 4"/>
          <p:cNvSpPr/>
          <p:nvPr/>
        </p:nvSpPr>
        <p:spPr>
          <a:xfrm>
            <a:off x="822960" y="2194560"/>
            <a:ext cx="914400" cy="0"/>
          </a:xfrm>
          <a:prstGeom prst="line">
            <a:avLst/>
          </a:prstGeom>
          <a:noFill/>
          <a:ln w="31750">
            <a:solidFill>
              <a:srgbClr val="8C3A38"/>
            </a:solidFill>
            <a:prstDash val="solid"/>
          </a:ln>
        </p:spPr>
      </p:sp>
      <p:sp>
        <p:nvSpPr>
          <p:cNvPr id="7" name="Text 5"/>
          <p:cNvSpPr/>
          <p:nvPr/>
        </p:nvSpPr>
        <p:spPr>
          <a:xfrm>
            <a:off x="822960" y="2468880"/>
            <a:ext cx="10058400" cy="1737360"/>
          </a:xfrm>
          <a:prstGeom prst="rect">
            <a:avLst/>
          </a:prstGeom>
          <a:noFill/>
          <a:ln/>
        </p:spPr>
        <p:txBody>
          <a:bodyPr wrap="square" lIns="0" tIns="0" rIns="0" bIns="0" rtlCol="0" anchor="t"/>
          <a:lstStyle/>
          <a:p>
            <a:pPr indent="0" marL="0">
              <a:lnSpc>
                <a:spcPts val="2700"/>
              </a:lnSpc>
              <a:buNone/>
            </a:pPr>
            <a:r>
              <a:rPr lang="en-US" sz="1900" dirty="0">
                <a:solidFill>
                  <a:srgbClr val="24313F"/>
                </a:solidFill>
                <a:latin typeface="Georgia" pitchFamily="34" charset="0"/>
                <a:ea typeface="Georgia" pitchFamily="34" charset="-122"/>
                <a:cs typeface="Georgia" pitchFamily="34" charset="-120"/>
              </a:rPr>
              <a:t>Cambridge says candidates neglect sound. That is a statement about the field you are marked against. A script that reads camera brilliantly and never mentions sound has a coverage gap the examiner sees immediately. A script that names a sound bridge, or a shift in sound perspective, has almost always outperformed the scripts beside it.</a:t>
            </a:r>
            <a:endParaRPr lang="en-US" sz="1900" dirty="0"/>
          </a:p>
        </p:txBody>
      </p:sp>
      <p:sp>
        <p:nvSpPr>
          <p:cNvPr id="8" name="Shape 6"/>
          <p:cNvSpPr/>
          <p:nvPr/>
        </p:nvSpPr>
        <p:spPr>
          <a:xfrm>
            <a:off x="822960" y="4434840"/>
            <a:ext cx="10543032" cy="914400"/>
          </a:xfrm>
          <a:prstGeom prst="rect">
            <a:avLst/>
          </a:prstGeom>
          <a:solidFill>
            <a:srgbClr val="E8EFE7"/>
          </a:solidFill>
          <a:ln/>
        </p:spPr>
      </p:sp>
      <p:sp>
        <p:nvSpPr>
          <p:cNvPr id="9" name="Text 7"/>
          <p:cNvSpPr/>
          <p:nvPr/>
        </p:nvSpPr>
        <p:spPr>
          <a:xfrm>
            <a:off x="1097280" y="4526280"/>
            <a:ext cx="9994392" cy="731520"/>
          </a:xfrm>
          <a:prstGeom prst="rect">
            <a:avLst/>
          </a:prstGeom>
          <a:noFill/>
          <a:ln/>
        </p:spPr>
        <p:txBody>
          <a:bodyPr wrap="square" lIns="0" tIns="0" rIns="0" bIns="0" rtlCol="0" anchor="ctr"/>
          <a:lstStyle/>
          <a:p>
            <a:pPr indent="0" marL="0">
              <a:buNone/>
            </a:pPr>
            <a:r>
              <a:rPr lang="en-US" sz="1650" i="1" dirty="0">
                <a:solidFill>
                  <a:srgbClr val="4A6B5D"/>
                </a:solidFill>
                <a:latin typeface="Georgia" pitchFamily="34" charset="0"/>
                <a:ea typeface="Georgia" pitchFamily="34" charset="-122"/>
                <a:cs typeface="Georgia" pitchFamily="34" charset="-120"/>
              </a:rPr>
              <a:t>Carries forward: the Component 3 music-promotion and documentary briefs in Grade 12 live or die on sound, and every C3 video task carries a mix.</a:t>
            </a:r>
            <a:endParaRPr lang="en-US" sz="1650" dirty="0"/>
          </a:p>
        </p:txBody>
      </p:sp>
      <p:sp>
        <p:nvSpPr>
          <p:cNvPr id="10" name="Shape 8"/>
          <p:cNvSpPr/>
          <p:nvPr/>
        </p:nvSpPr>
        <p:spPr>
          <a:xfrm>
            <a:off x="822960" y="6382512"/>
            <a:ext cx="10543032" cy="0"/>
          </a:xfrm>
          <a:prstGeom prst="line">
            <a:avLst/>
          </a:prstGeom>
          <a:noFill/>
          <a:ln w="9525">
            <a:solidFill>
              <a:srgbClr val="D9D4C4"/>
            </a:solidFill>
            <a:prstDash val="solid"/>
          </a:ln>
        </p:spPr>
      </p:sp>
      <p:sp>
        <p:nvSpPr>
          <p:cNvPr id="11" name="Text 9"/>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7A7F72"/>
                </a:solidFill>
                <a:latin typeface="Arial" pitchFamily="34" charset="0"/>
                <a:ea typeface="Arial" pitchFamily="34" charset="-122"/>
                <a:cs typeface="Arial" pitchFamily="34" charset="-120"/>
              </a:rPr>
              <a:t>MEDIA STUDIES 9607 · SEMESTER I</a:t>
            </a:r>
            <a:endParaRPr lang="en-US" sz="900" dirty="0"/>
          </a:p>
        </p:txBody>
      </p:sp>
      <p:sp>
        <p:nvSpPr>
          <p:cNvPr id="12" name="Text 10"/>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A3C1AD"/>
                </a:solidFill>
                <a:latin typeface="Georgia" pitchFamily="34" charset="0"/>
                <a:ea typeface="Georgia" pitchFamily="34" charset="-122"/>
                <a:cs typeface="Georgia" pitchFamily="34" charset="-120"/>
              </a:rPr>
              <a:t>06</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A6B5D"/>
        </a:solidFill>
      </p:bgPr>
    </p:bg>
    <p:spTree>
      <p:nvGrpSpPr>
        <p:cNvPr id="1" name=""/>
        <p:cNvGrpSpPr/>
        <p:nvPr/>
      </p:nvGrpSpPr>
      <p:grpSpPr>
        <a:xfrm>
          <a:off x="0" y="0"/>
          <a:ext cx="0" cy="0"/>
          <a:chOff x="0" y="0"/>
          <a:chExt cx="0" cy="0"/>
        </a:xfrm>
      </p:grpSpPr>
      <p:sp>
        <p:nvSpPr>
          <p:cNvPr id="2" name="Text 0"/>
          <p:cNvSpPr/>
          <p:nvPr/>
        </p:nvSpPr>
        <p:spPr>
          <a:xfrm>
            <a:off x="822960" y="2148840"/>
            <a:ext cx="5486400" cy="274320"/>
          </a:xfrm>
          <a:prstGeom prst="rect">
            <a:avLst/>
          </a:prstGeom>
          <a:noFill/>
          <a:ln/>
        </p:spPr>
        <p:txBody>
          <a:bodyPr wrap="square" lIns="0" tIns="0" rIns="0" bIns="0" rtlCol="0" anchor="ctr"/>
          <a:lstStyle/>
          <a:p>
            <a:pPr algn="l" indent="0" marL="0">
              <a:buNone/>
            </a:pPr>
            <a:r>
              <a:rPr lang="en-US" sz="1100" b="1" spc="250" kern="0" dirty="0">
                <a:solidFill>
                  <a:srgbClr val="FAF8F1"/>
                </a:solidFill>
                <a:latin typeface="Arial" pitchFamily="34" charset="0"/>
                <a:ea typeface="Arial" pitchFamily="34" charset="-122"/>
                <a:cs typeface="Arial" pitchFamily="34" charset="-120"/>
              </a:rPr>
              <a:t>NEXT</a:t>
            </a:r>
            <a:endParaRPr lang="en-US" sz="1100" dirty="0"/>
          </a:p>
        </p:txBody>
      </p:sp>
      <p:sp>
        <p:nvSpPr>
          <p:cNvPr id="3" name="Shape 1"/>
          <p:cNvSpPr/>
          <p:nvPr/>
        </p:nvSpPr>
        <p:spPr>
          <a:xfrm>
            <a:off x="822960" y="2514600"/>
            <a:ext cx="3108960" cy="0"/>
          </a:xfrm>
          <a:prstGeom prst="line">
            <a:avLst/>
          </a:prstGeom>
          <a:noFill/>
          <a:ln w="9525">
            <a:solidFill>
              <a:srgbClr val="8AA394"/>
            </a:solidFill>
            <a:prstDash val="solid"/>
          </a:ln>
        </p:spPr>
      </p:sp>
      <p:sp>
        <p:nvSpPr>
          <p:cNvPr id="4" name="Text 2"/>
          <p:cNvSpPr/>
          <p:nvPr/>
        </p:nvSpPr>
        <p:spPr>
          <a:xfrm>
            <a:off x="822960" y="2651760"/>
            <a:ext cx="10241280" cy="1920240"/>
          </a:xfrm>
          <a:prstGeom prst="rect">
            <a:avLst/>
          </a:prstGeom>
          <a:noFill/>
          <a:ln/>
        </p:spPr>
        <p:txBody>
          <a:bodyPr wrap="square" lIns="0" tIns="0" rIns="0" bIns="0" rtlCol="0" anchor="t"/>
          <a:lstStyle/>
          <a:p>
            <a:pPr indent="0" marL="0">
              <a:lnSpc>
                <a:spcPts val="6000"/>
              </a:lnSpc>
              <a:buNone/>
            </a:pPr>
            <a:r>
              <a:rPr lang="en-US" sz="5800" dirty="0">
                <a:solidFill>
                  <a:srgbClr val="FAF8F1"/>
                </a:solidFill>
                <a:latin typeface="Georgia" pitchFamily="34" charset="0"/>
                <a:ea typeface="Georgia" pitchFamily="34" charset="-122"/>
                <a:cs typeface="Georgia" pitchFamily="34" charset="-120"/>
              </a:rPr>
              <a:t>Mise-en-scène</a:t>
            </a:r>
            <a:endParaRPr lang="en-US" sz="5800" dirty="0"/>
          </a:p>
        </p:txBody>
      </p:sp>
      <p:sp>
        <p:nvSpPr>
          <p:cNvPr id="5" name="Text 3"/>
          <p:cNvSpPr/>
          <p:nvPr/>
        </p:nvSpPr>
        <p:spPr>
          <a:xfrm>
            <a:off x="822960" y="4480560"/>
            <a:ext cx="10241280" cy="822960"/>
          </a:xfrm>
          <a:prstGeom prst="rect">
            <a:avLst/>
          </a:prstGeom>
          <a:noFill/>
          <a:ln/>
        </p:spPr>
        <p:txBody>
          <a:bodyPr wrap="square" lIns="0" tIns="0" rIns="0" bIns="0" rtlCol="0" anchor="t"/>
          <a:lstStyle/>
          <a:p>
            <a:pPr indent="0" marL="0">
              <a:lnSpc>
                <a:spcPts val="2800"/>
              </a:lnSpc>
              <a:buNone/>
            </a:pPr>
            <a:r>
              <a:rPr lang="en-US" sz="2200" i="1" dirty="0">
                <a:solidFill>
                  <a:srgbClr val="E8EFE7"/>
                </a:solidFill>
                <a:latin typeface="Georgia" pitchFamily="34" charset="0"/>
                <a:ea typeface="Georgia" pitchFamily="34" charset="-122"/>
                <a:cs typeface="Georgia" pitchFamily="34" charset="-120"/>
              </a:rPr>
              <a:t>Lesson 05. Everything in the frame is a decision, and the design board you build is your Component 1 design document.</a:t>
            </a:r>
            <a:endParaRPr lang="en-US" sz="2200" dirty="0"/>
          </a:p>
        </p:txBody>
      </p:sp>
      <p:sp>
        <p:nvSpPr>
          <p:cNvPr id="6" name="Shape 4"/>
          <p:cNvSpPr/>
          <p:nvPr/>
        </p:nvSpPr>
        <p:spPr>
          <a:xfrm>
            <a:off x="822960" y="6382512"/>
            <a:ext cx="10543032" cy="0"/>
          </a:xfrm>
          <a:prstGeom prst="line">
            <a:avLst/>
          </a:prstGeom>
          <a:noFill/>
          <a:ln w="9525">
            <a:solidFill>
              <a:srgbClr val="6E8A7C"/>
            </a:solidFill>
            <a:prstDash val="solid"/>
          </a:ln>
        </p:spPr>
      </p:sp>
      <p:sp>
        <p:nvSpPr>
          <p:cNvPr id="7" name="Text 5"/>
          <p:cNvSpPr/>
          <p:nvPr/>
        </p:nvSpPr>
        <p:spPr>
          <a:xfrm>
            <a:off x="822960" y="6419088"/>
            <a:ext cx="7315200" cy="274320"/>
          </a:xfrm>
          <a:prstGeom prst="rect">
            <a:avLst/>
          </a:prstGeom>
          <a:noFill/>
          <a:ln/>
        </p:spPr>
        <p:txBody>
          <a:bodyPr wrap="square" lIns="0" tIns="0" rIns="0" bIns="0" rtlCol="0" anchor="ctr"/>
          <a:lstStyle/>
          <a:p>
            <a:pPr indent="0" marL="0">
              <a:buNone/>
            </a:pPr>
            <a:r>
              <a:rPr lang="en-US" sz="900" spc="150" kern="0" dirty="0">
                <a:solidFill>
                  <a:srgbClr val="E8EFE7"/>
                </a:solidFill>
                <a:latin typeface="Arial" pitchFamily="34" charset="0"/>
                <a:ea typeface="Arial" pitchFamily="34" charset="-122"/>
                <a:cs typeface="Arial" pitchFamily="34" charset="-120"/>
              </a:rPr>
              <a:t>MEDIA STUDIES 9607 · SEMESTER I</a:t>
            </a:r>
            <a:endParaRPr lang="en-US" sz="900" dirty="0"/>
          </a:p>
        </p:txBody>
      </p:sp>
      <p:sp>
        <p:nvSpPr>
          <p:cNvPr id="8" name="Text 6"/>
          <p:cNvSpPr/>
          <p:nvPr/>
        </p:nvSpPr>
        <p:spPr>
          <a:xfrm>
            <a:off x="10268712" y="6355080"/>
            <a:ext cx="1097280" cy="365760"/>
          </a:xfrm>
          <a:prstGeom prst="rect">
            <a:avLst/>
          </a:prstGeom>
          <a:noFill/>
          <a:ln/>
        </p:spPr>
        <p:txBody>
          <a:bodyPr wrap="square" lIns="0" tIns="0" rIns="0" bIns="0" rtlCol="0" anchor="ctr"/>
          <a:lstStyle/>
          <a:p>
            <a:pPr algn="r" indent="0" marL="0">
              <a:buNone/>
            </a:pPr>
            <a:r>
              <a:rPr lang="en-US" sz="1600" dirty="0">
                <a:solidFill>
                  <a:srgbClr val="E8EFE7"/>
                </a:solidFill>
                <a:latin typeface="Georgia" pitchFamily="34" charset="0"/>
                <a:ea typeface="Georgia" pitchFamily="34" charset="-122"/>
                <a:cs typeface="Georgia" pitchFamily="34" charset="-120"/>
              </a:rPr>
              <a:t>07</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2026-08-09T08:01:10Z</dcterms:created>
  <dcterms:modified xsi:type="dcterms:W3CDTF">2026-08-09T08:01:10Z</dcterms:modified>
</cp:coreProperties>
</file>