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attainment of the course. Monday and Tuesday put Propp and Todorov under load; Wednesday is the sit.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theory fitting perfectly is almost never true or interesting. The strain is exactly what a top-band answer discusses.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photograph shows the attention the exam rewards. Same order, no hurry, nothing skipped.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822960"/>
            <a:ext cx="35661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</a:t>
            </a:r>
            <a:endParaRPr lang="en-US" sz="280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UNIT III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7406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200"/>
              </a:lnSpc>
              <a:buNone/>
            </a:pPr>
            <a:r>
              <a:rPr lang="en-US" sz="5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A1: Timed Media</a:t>
            </a:r>
            <a:endParaRPr lang="en-US" sz="50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5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Language Analysis</a:t>
            </a:r>
            <a:endParaRPr lang="en-US" sz="5000" dirty="0"/>
          </a:p>
        </p:txBody>
      </p:sp>
      <p:sp>
        <p:nvSpPr>
          <p:cNvPr id="5" name="Shape 3"/>
          <p:cNvSpPr/>
          <p:nvPr/>
        </p:nvSpPr>
        <p:spPr>
          <a:xfrm>
            <a:off x="822960" y="43434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526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7A7F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Macro and Textual Analysis · Lesson 06 of 16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days  ·  Monday 12 to Wednesday 14 October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80960" y="640080"/>
            <a:ext cx="3931920" cy="5577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0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</a:t>
            </a:r>
            <a:endParaRPr lang="en-US" sz="320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TOP-BAND MOVE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2651760"/>
            <a:ext cx="384048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788920"/>
            <a:ext cx="69494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56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theory</a:t>
            </a:r>
            <a:endParaRPr lang="en-US" sz="56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6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strains.</a:t>
            </a:r>
            <a:endParaRPr lang="en-US" sz="5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THE MODELS UNDER LOAD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HUNT FOR WHERE THEY STRAIN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theories, on real texts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Propp on a trailer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822960" y="260604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74320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Map the cast onto functions, then find the break: the false hero who is also the donor, the villain hidden on purpose. A withheld function is a marketing decision.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09360" y="201168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5C7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Todorov across an episode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6309360" y="2606040"/>
            <a:ext cx="475488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274320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is the disruption really? Does the new equilibrium arrive, or is it withheld for the season arc? Serial television bends the model. Name the bend.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2011680"/>
            <a:ext cx="104241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6000"/>
              </a:lnSpc>
              <a:buNone/>
            </a:pPr>
            <a:r>
              <a:rPr lang="en-US" sz="5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All models are wrong, but some are useful.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822960" y="50292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5212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George E. P. Box, 1979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STRAIN LOG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AMMUNITION, NOT A COMPLAINT BOX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801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a running list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743200"/>
            <a:ext cx="9875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place a model failed to fit goes in a list titled Where the theory strains. It is not a complaint that the theory is broken. It is the raw material of a top-band paragraph, and it converts frustration into marks.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10543032" cy="868680"/>
          </a:xfrm>
          <a:prstGeom prst="rect">
            <a:avLst/>
          </a:prstGeom>
          <a:solidFill>
            <a:srgbClr val="E8EFE7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4526280"/>
            <a:ext cx="9994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Todorov's model illuminates X, although the extract complicates it by Y.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22960" y="5532120"/>
            <a:ext cx="10543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Exit: Beat the Examiner, lite. One anonymized paragraph on screen, pairs call the band against the five criteria, teacher reveals.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dogan/Documents/Vaults/Courses/wiki/classes/media-studies/decks/_build/img/crops/johnston-literature_a177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502920"/>
            <a:ext cx="5120640" cy="502920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4" name="Text 1"/>
          <p:cNvSpPr/>
          <p:nvPr/>
        </p:nvSpPr>
        <p:spPr>
          <a:xfrm>
            <a:off x="704088" y="5212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DISCIPLINE IS THE SKILL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57200" y="5230368"/>
            <a:ext cx="8778240" cy="1243584"/>
          </a:xfrm>
          <a:prstGeom prst="rect">
            <a:avLst/>
          </a:prstGeom>
          <a:solidFill>
            <a:srgbClr val="FAF8F1"/>
          </a:solidFill>
          <a:ln/>
        </p:spPr>
      </p:sp>
      <p:sp>
        <p:nvSpPr>
          <p:cNvPr id="6" name="Shape 3"/>
          <p:cNvSpPr/>
          <p:nvPr/>
        </p:nvSpPr>
        <p:spPr>
          <a:xfrm>
            <a:off x="676656" y="5468112"/>
            <a:ext cx="731520" cy="0"/>
          </a:xfrm>
          <a:prstGeom prst="line">
            <a:avLst/>
          </a:prstGeom>
          <a:noFill/>
          <a:ln w="28575">
            <a:solidFill>
              <a:srgbClr val="8C3A3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6656" y="5541264"/>
            <a:ext cx="83393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Systematic reading is a habit you build, not a talent: the same order, every text, every time.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76656" y="6181344"/>
            <a:ext cx="8339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Frances Benjamin Johnston, an English Literature class, Hampton, c. 1899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SCREENING PROTOCOL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EXAM'S OWN RUBRIC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32688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viewings, one extract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140839" y="3200400"/>
            <a:ext cx="7907274" cy="0"/>
          </a:xfrm>
          <a:prstGeom prst="line">
            <a:avLst/>
          </a:prstGeom>
          <a:noFill/>
          <a:ln w="19050">
            <a:solidFill>
              <a:srgbClr val="8AA3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66519" y="2926080"/>
            <a:ext cx="548640" cy="548640"/>
          </a:xfrm>
          <a:prstGeom prst="ellipse">
            <a:avLst/>
          </a:prstGeom>
          <a:solidFill>
            <a:srgbClr val="4A6B5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32688" y="2240280"/>
            <a:ext cx="24163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32688" y="3611880"/>
            <a:ext cx="241630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WATCH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969264" y="3977640"/>
            <a:ext cx="234315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notes. See the whole thing before you dissect it.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02277" y="2926080"/>
            <a:ext cx="548640" cy="548640"/>
          </a:xfrm>
          <a:prstGeom prst="ellipse">
            <a:avLst/>
          </a:prstGeom>
          <a:solidFill>
            <a:srgbClr val="4A6B5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68446" y="2240280"/>
            <a:ext cx="24163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Second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68446" y="3611880"/>
            <a:ext cx="241630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&amp; EDITING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05022" y="3977640"/>
            <a:ext cx="234315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Track the technical codes: shots, angles, movement, cuts, pace.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38035" y="2926080"/>
            <a:ext cx="548640" cy="548640"/>
          </a:xfrm>
          <a:prstGeom prst="ellipse">
            <a:avLst/>
          </a:prstGeom>
          <a:solidFill>
            <a:srgbClr val="4A6B5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04204" y="2240280"/>
            <a:ext cx="24163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Third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204204" y="3611880"/>
            <a:ext cx="241630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SOUND &amp; MISE-EN-SCENE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240780" y="3977640"/>
            <a:ext cx="234315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Music, silence, diegetic sound; setting, props, dress, gesture.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773793" y="2926080"/>
            <a:ext cx="548640" cy="548640"/>
          </a:xfrm>
          <a:prstGeom prst="ellipse">
            <a:avLst/>
          </a:prstGeom>
          <a:solidFill>
            <a:srgbClr val="4A6B5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8839962" y="2240280"/>
            <a:ext cx="24163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Fourth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839962" y="3611880"/>
            <a:ext cx="241630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NARRATIVE &amp; MEANING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876538" y="3977640"/>
            <a:ext cx="234315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Structure, enigma, what the extract argues, and where it strains.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A1 IS MARKED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OFFICIAL PAPER 2 RUBRIC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32688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criteria, best-fit, 0 to 5 each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737360"/>
            <a:ext cx="10543032" cy="0"/>
          </a:xfrm>
          <a:prstGeom prst="line">
            <a:avLst/>
          </a:prstGeom>
          <a:noFill/>
          <a:ln w="12700">
            <a:solidFill>
              <a:srgbClr val="2431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373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377440" y="1737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Criterion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875520" y="17373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0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2286000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2860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77440" y="2286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Media Concepts: language and representation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875520" y="22860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3C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/5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2834640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8346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377440" y="2834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Contexts and Critical Debates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875520" y="283464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3C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/5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22960" y="3383280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3832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377440" y="33832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of Terminology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875520" y="33832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3C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/5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22960" y="3931920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931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377440" y="3931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of how meaning is created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875520" y="39319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3C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/5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22960" y="4480560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44805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377440" y="44805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of Examples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875520" y="44805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3C1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/5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22960" y="5029200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5212080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 words: 5 Sophisticated  ·  4 Thorough  ·  3 Clear  ·  2 Limited  ·  1 Basic. So A1 is AO1 60 / AO2 40.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4864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22960" y="1920240"/>
            <a:ext cx="10424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5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Sixty minutes.</a:t>
            </a:r>
            <a:endParaRPr lang="en-US" sz="50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50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unseen extract.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822960" y="457200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754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10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extract constructs meaning through camera, sound, mise-en-scene, editing. Everything since Week 1 is in play.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DEBRIEF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MARKS DISCUSSED, BY DESIGN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00584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honest questions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822960" y="2880360"/>
            <a:ext cx="324612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01752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did it reward?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3703320"/>
            <a:ext cx="3246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codes carried the meaning, and which the extract simply did not use.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471416" y="205740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4471416" y="2880360"/>
            <a:ext cx="324612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71416" y="301752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and forgotten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471416" y="3703320"/>
            <a:ext cx="3246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code family you reached for first, and which you forgot, with evidence this time.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19872" y="205740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000" dirty="0"/>
          </a:p>
        </p:txBody>
      </p:sp>
      <p:sp>
        <p:nvSpPr>
          <p:cNvPr id="15" name="Shape 13"/>
          <p:cNvSpPr/>
          <p:nvPr/>
        </p:nvSpPr>
        <p:spPr>
          <a:xfrm>
            <a:off x="8119872" y="2880360"/>
            <a:ext cx="3246120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19872" y="3017520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4A6B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thing differently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119872" y="3703320"/>
            <a:ext cx="3246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the same sixty minutes: what one change would have bought the most marks?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4A6B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ASSESSMENT · A1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793992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FIRST ATTAINMENT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786384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80160"/>
            <a:ext cx="10543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A1 sits Wednesday 14 October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822960" y="2468880"/>
            <a:ext cx="914400" cy="0"/>
          </a:xfrm>
          <a:prstGeom prst="line">
            <a:avLst/>
          </a:prstGeom>
          <a:noFill/>
          <a:ln w="31750">
            <a:solidFill>
              <a:srgbClr val="8C3A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69748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900" dirty="0">
                <a:solidFill>
                  <a:srgbClr val="2431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Timed media language analysis of an unseen TV-drama extract, sixty minutes, full exam conditions. Marked with WS 4.6's rubric in the official five-criteria language, so the feedback transfers straight to Paper 2. Scripts back within five working days.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48463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today: A2 announced, due Monday 26 October, blog posts 1 to 7 to the mid-point standard.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D9D4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7A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A3C1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A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50" kern="0" dirty="0">
                <a:solidFill>
                  <a:srgbClr val="FAF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822960" y="2514600"/>
            <a:ext cx="3108960" cy="0"/>
          </a:xfrm>
          <a:prstGeom prst="line">
            <a:avLst/>
          </a:prstGeom>
          <a:noFill/>
          <a:ln w="9525">
            <a:solidFill>
              <a:srgbClr val="8AA39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6517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800"/>
              </a:lnSpc>
              <a:buNone/>
            </a:pPr>
            <a:r>
              <a:rPr lang="en-US" sz="56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</a:t>
            </a:r>
            <a:endParaRPr lang="en-US" sz="56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5600" dirty="0">
                <a:solidFill>
                  <a:srgbClr val="FAF8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Systematically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822960" y="489204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07. Barthes, the reading order, PEEM, and the blog audit that makes A2 safe.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22960" y="6382512"/>
            <a:ext cx="10543032" cy="0"/>
          </a:xfrm>
          <a:prstGeom prst="line">
            <a:avLst/>
          </a:prstGeom>
          <a:noFill/>
          <a:ln w="9525">
            <a:solidFill>
              <a:srgbClr val="6E8A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50" kern="0" dirty="0">
                <a:solidFill>
                  <a:srgbClr val="E8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STUDIES 9607 · SEMESTER 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68712" y="6355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E8EFE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2026-08-03T12:16:53Z</dcterms:created>
  <dcterms:modified xsi:type="dcterms:W3CDTF">2026-08-03T12:16:53Z</dcterms:modified>
</cp:coreProperties>
</file>