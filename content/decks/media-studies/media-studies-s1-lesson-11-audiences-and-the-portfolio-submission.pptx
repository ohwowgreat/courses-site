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Component 1 arc closes. Audience theory begins on schedule, but the week bends around Friday: A3 goes in, no edits after.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Audiences do things with media; media does not simply do things to audiences. That reversal is the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Daumier's theatre crowd, rapt and forward-leaning: the active audience, a century before the theory named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822960"/>
            <a:ext cx="35661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XI</a:t>
            </a:r>
            <a:endParaRPr lang="en-US" sz="28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UNIT V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00"/>
              </a:lnSpc>
              <a:buNone/>
            </a:pPr>
            <a:r>
              <a:rPr lang="en-US" sz="4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Audiences and the</a:t>
            </a:r>
            <a:endParaRPr lang="en-US" sz="48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 Submission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822960" y="43434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526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Media Contexts · Lesson 11 of 16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days  ·  Monday 23 November to Tuesday 1 December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0960" y="640080"/>
            <a:ext cx="3931920" cy="5577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0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XI</a:t>
            </a:r>
            <a:endParaRPr lang="en-US" sz="320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REVERSAL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2651760"/>
            <a:ext cx="384048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788920"/>
            <a:ext cx="6949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54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people do</a:t>
            </a:r>
            <a:endParaRPr lang="en-US" sz="54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54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media.</a:t>
            </a:r>
            <a:endParaRPr lang="en-US" sz="5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IT FOR?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IS ALMOST ALWAYS WRONG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Mass, niche, target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822960" y="2606040"/>
            <a:ext cx="324612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788920"/>
            <a:ext cx="3246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Aimed at everyone at once: the gala, the blockbuster, the front page.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71416" y="20574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Niche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471416" y="2606040"/>
            <a:ext cx="324612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71416" y="2788920"/>
            <a:ext cx="3246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Aimed at a defined interest group: the specialist channel, the fan community.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19872" y="20574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119872" y="2606040"/>
            <a:ext cx="324612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19872" y="2788920"/>
            <a:ext cx="3246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Aimed at a precise profile: age, taste, platform, spending. What advertisers pay for.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534924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 vs psychographics: who they are, versus what they want. Everyone is almost always a wrong answer.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424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what media do to people, but what people do with the media.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822960" y="50292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Elihu Katz, 1959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EFFECTS MODELS, STATED FAIRLY THEN LIMITED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CANNOT EXPLAIN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models, and their edges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models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22960" y="2560320"/>
            <a:ext cx="47548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9748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Hypodermic: media injects a message and the audience absorbs it. Cultivation: heavy exposure slowly shapes a worldview.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09360" y="2011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limit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309360" y="2560320"/>
            <a:ext cx="47548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69748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horror fan who sleeps fine. The ad seen a hundred times that never sold anything. Audiences are not needles waiting to be filled.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BLUMLER AND KATZ · USES AND GRATIFICATIONS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AUDIENCES AS ACTIVE CHOOSERS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32688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jobs we need media to do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737360" y="1938528"/>
            <a:ext cx="4082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Diversion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737360" y="2468880"/>
            <a:ext cx="40827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Escape and release: from routine, from problems, into feeling.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68796" y="1920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283196" y="1938528"/>
            <a:ext cx="4082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 relationships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283196" y="2468880"/>
            <a:ext cx="40827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Company and connection: characters as friends, shared talk with real ones.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114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737360" y="4133088"/>
            <a:ext cx="4082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 identity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737360" y="4663440"/>
            <a:ext cx="40827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mirror: comparing your own life and values against what you watch.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68796" y="4114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283196" y="4133088"/>
            <a:ext cx="4082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Surveillance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283196" y="4663440"/>
            <a:ext cx="40827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Information: knowing what is happening, in the world and your world.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dogan-Documents-Vaults-Courses/a3a5132d-721f-4cd4-8ddd-e62e2b37b51b/scratchpad/img/crops/daumier-drama_a177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502920"/>
            <a:ext cx="5120640" cy="502920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4" name="Text 1"/>
          <p:cNvSpPr/>
          <p:nvPr/>
        </p:nvSpPr>
        <p:spPr>
          <a:xfrm>
            <a:off x="704088" y="5212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ACTIVE AUDIENCE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57200" y="5230368"/>
            <a:ext cx="8778240" cy="1243584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6" name="Shape 3"/>
          <p:cNvSpPr/>
          <p:nvPr/>
        </p:nvSpPr>
        <p:spPr>
          <a:xfrm>
            <a:off x="676656" y="5468112"/>
            <a:ext cx="731520" cy="0"/>
          </a:xfrm>
          <a:prstGeom prst="line">
            <a:avLst/>
          </a:prstGeom>
          <a:noFill/>
          <a:ln w="28575">
            <a:solidFill>
              <a:srgbClr val="8C3A3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6656" y="5541264"/>
            <a:ext cx="83393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Leaning in, gripped, doing work: an audience is never a blank surface being written on.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76656" y="6181344"/>
            <a:ext cx="8339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Honore Daumier, The Drama, c. 1860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dogan-Documents-Vaults-Courses/a3a5132d-721f-4cd4-8ddd-e62e2b37b51b/scratchpad/img/crops/manet-good-beer_a66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0"/>
            <a:ext cx="455371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18120" y="6126480"/>
            <a:ext cx="4187952" cy="365760"/>
          </a:xfrm>
          <a:prstGeom prst="rect">
            <a:avLst/>
          </a:prstGeom>
          <a:solidFill>
            <a:srgbClr val="FAF8F1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Edouard Manet, A Good Glass of Beer, 1873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82296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HONEST MAP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822960" y="1051560"/>
            <a:ext cx="649224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23444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4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Gratification,</a:t>
            </a:r>
            <a:endParaRPr lang="en-US" sz="40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4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personified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2743200"/>
            <a:ext cx="6583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man, a beer, an evening of diversion: gratification made visible. Map your real weekly media use onto the four gratifications, the L01 log now theorized. The honesty rule is absolute: the comfort re-watch and the 2 a.m. scroll are data, not confessions. Which gratification does your own C1 product serve, and how would you know?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LAST HELP WINDOW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 ORDER, NOT HAND-RAISING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8016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CCR surgery, by triage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743200"/>
            <a:ext cx="9875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double is the last room where help is available before submission. The queue is ordered by CS7 severity, not by who raises a hand: every student is seen, and the strongest drafts get peer support instead of teacher time. Each visit ends with one fix executed, not promised. Friday is logistics, not heroics.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1920240"/>
            <a:ext cx="10424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000"/>
              </a:lnSpc>
              <a:buNone/>
            </a:pPr>
            <a:r>
              <a:rPr lang="en-US" sz="5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goes in.</a:t>
            </a:r>
            <a:endParaRPr lang="en-US" sz="54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5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edits after.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822960" y="466344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8463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exported and playable, CCR posted, blog complete and dated, URLs logged. A3 in Friday 27 November. No edits after is in the register, and it is absolute.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RETURN, AND THE TARGET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SELF-BAND BEFORE THE MARK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A3 back, one target forward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Self-band first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114800" y="1828800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student bands their own portfolio against the C1 criteria before the mark; the gap is the conversation.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822960" y="2926080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0632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target (LB4)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114800" y="3063240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Specific, evidenced, achievable in S2: hold focus in low light beats get better at filming.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822960" y="4160520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2976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A4 announced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114800" y="4297680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Wednesday 16 December, Component 2 Section A. Today is the last session that clears the notice window.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822960" y="5394960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22960" y="2514600"/>
            <a:ext cx="310896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65176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52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Institutions and</a:t>
            </a:r>
            <a:endParaRPr lang="en-US" sz="52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52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A Craft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22960" y="48463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12. Morley, ownership, and Section A with the mark scheme open.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6E8A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E8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2026-07-25T04:00:26Z</dcterms:created>
  <dcterms:modified xsi:type="dcterms:W3CDTF">2026-07-25T04:00:26Z</dcterms:modified>
</cp:coreProperties>
</file>