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days separate the two sessions: Friday 25 is Mid-Autumn Festival. Open day two cold, with retrieval, and do not re-teach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Wednesday builds a sequence that works. Monday builds the same sequence wrong on purpose, and the room watches the illusion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Safeguarding: the prior plan used Adolescence, BBFC 15, with 1917 as the alternative. Any dense-cut and long-take pair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clap-tally pair: a dense-cut sequence against the one-take. When the room claps every cut in the second clip, the silence is the point. Not cutting is also an editing decision, and this photograph is what that decision costs to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863840" y="822960"/>
            <a:ext cx="3566160" cy="4937760"/>
          </a:xfrm>
          <a:prstGeom prst="rect">
            <a:avLst/>
          </a:prstGeom>
          <a:noFill/>
          <a:ln/>
        </p:spPr>
        <p:txBody>
          <a:bodyPr wrap="square" lIns="0" tIns="0" rIns="0" bIns="0" rtlCol="0" anchor="ctr"/>
          <a:lstStyle/>
          <a:p>
            <a:pPr algn="ctr" indent="0" marL="0">
              <a:buNone/>
            </a:pPr>
            <a:r>
              <a:rPr lang="en-US" sz="28000" dirty="0">
                <a:solidFill>
                  <a:srgbClr val="A3C1AD"/>
                </a:solidFill>
                <a:latin typeface="Georgia" pitchFamily="34" charset="0"/>
                <a:ea typeface="Georgia" pitchFamily="34" charset="-122"/>
                <a:cs typeface="Georgia" pitchFamily="34" charset="-120"/>
              </a:rPr>
              <a:t>VI</a:t>
            </a:r>
            <a:endParaRPr lang="en-US" sz="28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6400800" cy="2377440"/>
          </a:xfrm>
          <a:prstGeom prst="rect">
            <a:avLst/>
          </a:prstGeom>
          <a:noFill/>
          <a:ln/>
        </p:spPr>
        <p:txBody>
          <a:bodyPr wrap="square" lIns="0" tIns="0" rIns="0" bIns="0" rtlCol="0" anchor="t"/>
          <a:lstStyle/>
          <a:p>
            <a:pPr indent="0" marL="0">
              <a:lnSpc>
                <a:spcPts val="7400"/>
              </a:lnSpc>
              <a:buNone/>
            </a:pPr>
            <a:r>
              <a:rPr lang="en-US" sz="7400" dirty="0">
                <a:solidFill>
                  <a:srgbClr val="24313F"/>
                </a:solidFill>
                <a:latin typeface="Georgia" pitchFamily="34" charset="0"/>
                <a:ea typeface="Georgia" pitchFamily="34" charset="-122"/>
                <a:cs typeface="Georgia" pitchFamily="34" charset="-120"/>
              </a:rPr>
              <a:t>Editing</a:t>
            </a:r>
            <a:endParaRPr lang="en-US" sz="74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06 of 19</a:t>
            </a:r>
            <a:endParaRPr lang="en-US" sz="2200" dirty="0"/>
          </a:p>
        </p:txBody>
      </p:sp>
      <p:sp>
        <p:nvSpPr>
          <p:cNvPr id="7" name="Text 5"/>
          <p:cNvSpPr/>
          <p:nvPr/>
        </p:nvSpPr>
        <p:spPr>
          <a:xfrm>
            <a:off x="822960" y="5029200"/>
            <a:ext cx="987552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Two days  ·  Wednesday 23 (double) then Monday 28 September  ·  last of the four technical elements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3931920" cy="5577840"/>
          </a:xfrm>
          <a:prstGeom prst="rect">
            <a:avLst/>
          </a:prstGeom>
          <a:noFill/>
          <a:ln/>
        </p:spPr>
        <p:txBody>
          <a:bodyPr wrap="square" lIns="0" tIns="0" rIns="0" bIns="0" rtlCol="0" anchor="ctr"/>
          <a:lstStyle/>
          <a:p>
            <a:pPr algn="ctr" indent="0" marL="0">
              <a:buNone/>
            </a:pPr>
            <a:r>
              <a:rPr lang="en-US" sz="32000" dirty="0">
                <a:solidFill>
                  <a:srgbClr val="5C7A6B"/>
                </a:solidFill>
                <a:latin typeface="Georgia" pitchFamily="34" charset="0"/>
                <a:ea typeface="Georgia" pitchFamily="34" charset="-122"/>
                <a:cs typeface="Georgia" pitchFamily="34" charset="-120"/>
              </a:rPr>
              <a:t>VI</a:t>
            </a:r>
            <a:endParaRPr lang="en-US" sz="32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METHOD OF THIS LESSON</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766560" cy="2194560"/>
          </a:xfrm>
          <a:prstGeom prst="rect">
            <a:avLst/>
          </a:prstGeom>
          <a:noFill/>
          <a:ln/>
        </p:spPr>
        <p:txBody>
          <a:bodyPr wrap="square" lIns="0" tIns="0" rIns="0" bIns="0" rtlCol="0" anchor="t"/>
          <a:lstStyle/>
          <a:p>
            <a:pPr indent="0" marL="0">
              <a:lnSpc>
                <a:spcPts val="5800"/>
              </a:lnSpc>
              <a:buNone/>
            </a:pPr>
            <a:r>
              <a:rPr lang="en-US" sz="5600" dirty="0">
                <a:solidFill>
                  <a:srgbClr val="FAF8F1"/>
                </a:solidFill>
                <a:latin typeface="Georgia" pitchFamily="34" charset="0"/>
                <a:ea typeface="Georgia" pitchFamily="34" charset="-122"/>
                <a:cs typeface="Georgia" pitchFamily="34" charset="-120"/>
              </a:rPr>
              <a:t>Invisible until</a:t>
            </a:r>
            <a:endParaRPr lang="en-US" sz="5600" dirty="0"/>
          </a:p>
          <a:p>
            <a:pPr indent="0" marL="0">
              <a:lnSpc>
                <a:spcPts val="5800"/>
              </a:lnSpc>
              <a:buNone/>
            </a:pPr>
            <a:r>
              <a:rPr lang="en-US" sz="5600" dirty="0">
                <a:solidFill>
                  <a:srgbClr val="FAF8F1"/>
                </a:solidFill>
                <a:latin typeface="Georgia" pitchFamily="34" charset="0"/>
                <a:ea typeface="Georgia" pitchFamily="34" charset="-122"/>
                <a:cs typeface="Georgia" pitchFamily="34" charset="-120"/>
              </a:rPr>
              <a:t>you break it.</a:t>
            </a:r>
            <a:endParaRPr 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CLAP THE CUTS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COURSEBOOK'S ACTIVITY, FIFTEEN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Count first, then say how it felt</a:t>
            </a:r>
            <a:endParaRPr lang="en-US" sz="3200" dirty="0"/>
          </a:p>
        </p:txBody>
      </p:sp>
      <p:sp>
        <p:nvSpPr>
          <p:cNvPr id="6" name="Text 4"/>
          <p:cNvSpPr/>
          <p:nvPr/>
        </p:nvSpPr>
        <p:spPr>
          <a:xfrm>
            <a:off x="822960" y="1691640"/>
            <a:ext cx="10241280" cy="914400"/>
          </a:xfrm>
          <a:prstGeom prst="rect">
            <a:avLst/>
          </a:prstGeom>
          <a:noFill/>
          <a:ln/>
        </p:spPr>
        <p:txBody>
          <a:bodyPr wrap="square" lIns="0" tIns="0" rIns="0" bIns="0" rtlCol="0" anchor="t"/>
          <a:lstStyle/>
          <a:p>
            <a:pPr indent="0" marL="0">
              <a:lnSpc>
                <a:spcPts val="2600"/>
              </a:lnSpc>
              <a:buNone/>
            </a:pPr>
            <a:r>
              <a:rPr lang="en-US" sz="1850" dirty="0">
                <a:solidFill>
                  <a:srgbClr val="24313F"/>
                </a:solidFill>
                <a:latin typeface="Georgia" pitchFamily="34" charset="0"/>
                <a:ea typeface="Georgia" pitchFamily="34" charset="-122"/>
                <a:cs typeface="Georgia" pitchFamily="34" charset="-120"/>
              </a:rPr>
              <a:t>Two sequences, contrasting in pace. In pairs: one watches, one keeps a tally and claps on every cut. Then the numbers go on the board next to the feelings, and the link between them is the lesson.</a:t>
            </a:r>
            <a:endParaRPr lang="en-US" sz="1850" dirty="0"/>
          </a:p>
        </p:txBody>
      </p:sp>
      <p:sp>
        <p:nvSpPr>
          <p:cNvPr id="7" name="Text 5"/>
          <p:cNvSpPr/>
          <p:nvPr/>
        </p:nvSpPr>
        <p:spPr>
          <a:xfrm>
            <a:off x="822960" y="292608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822960" y="3401568"/>
            <a:ext cx="3209544" cy="777240"/>
          </a:xfrm>
          <a:prstGeom prst="rect">
            <a:avLst/>
          </a:prstGeom>
          <a:noFill/>
          <a:ln/>
        </p:spPr>
        <p:txBody>
          <a:bodyPr wrap="square" lIns="0" tIns="0" rIns="0" bIns="0" rtlCol="0" anchor="t"/>
          <a:lstStyle/>
          <a:p>
            <a:pPr indent="0" marL="0">
              <a:lnSpc>
                <a:spcPts val="2400"/>
              </a:lnSpc>
              <a:buNone/>
            </a:pPr>
            <a:r>
              <a:rPr lang="en-US" sz="2000" dirty="0">
                <a:solidFill>
                  <a:srgbClr val="4A6B5D"/>
                </a:solidFill>
                <a:latin typeface="Georgia" pitchFamily="34" charset="0"/>
                <a:ea typeface="Georgia" pitchFamily="34" charset="-122"/>
                <a:cs typeface="Georgia" pitchFamily="34" charset="-120"/>
              </a:rPr>
              <a:t>How many claps?</a:t>
            </a:r>
            <a:endParaRPr lang="en-US" sz="2000" dirty="0"/>
          </a:p>
        </p:txBody>
      </p:sp>
      <p:sp>
        <p:nvSpPr>
          <p:cNvPr id="9" name="Shape 7"/>
          <p:cNvSpPr/>
          <p:nvPr/>
        </p:nvSpPr>
        <p:spPr>
          <a:xfrm>
            <a:off x="822960" y="4224528"/>
            <a:ext cx="3209544" cy="0"/>
          </a:xfrm>
          <a:prstGeom prst="line">
            <a:avLst/>
          </a:prstGeom>
          <a:noFill/>
          <a:ln w="9525">
            <a:solidFill>
              <a:srgbClr val="D9D4C4"/>
            </a:solidFill>
            <a:prstDash val="solid"/>
          </a:ln>
        </p:spPr>
      </p:sp>
      <p:sp>
        <p:nvSpPr>
          <p:cNvPr id="10" name="Text 8"/>
          <p:cNvSpPr/>
          <p:nvPr/>
        </p:nvSpPr>
        <p:spPr>
          <a:xfrm>
            <a:off x="822960" y="4370832"/>
            <a:ext cx="3209544" cy="137160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count is objective. Write it down before anyone discusses the feeling.</a:t>
            </a:r>
            <a:endParaRPr lang="en-US" sz="1550" dirty="0"/>
          </a:p>
        </p:txBody>
      </p:sp>
      <p:sp>
        <p:nvSpPr>
          <p:cNvPr id="11" name="Text 9"/>
          <p:cNvSpPr/>
          <p:nvPr/>
        </p:nvSpPr>
        <p:spPr>
          <a:xfrm>
            <a:off x="4489704" y="292608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489704" y="3401568"/>
            <a:ext cx="3209544" cy="777240"/>
          </a:xfrm>
          <a:prstGeom prst="rect">
            <a:avLst/>
          </a:prstGeom>
          <a:noFill/>
          <a:ln/>
        </p:spPr>
        <p:txBody>
          <a:bodyPr wrap="square" lIns="0" tIns="0" rIns="0" bIns="0" rtlCol="0" anchor="t"/>
          <a:lstStyle/>
          <a:p>
            <a:pPr indent="0" marL="0">
              <a:lnSpc>
                <a:spcPts val="2400"/>
              </a:lnSpc>
              <a:buNone/>
            </a:pPr>
            <a:r>
              <a:rPr lang="en-US" sz="2000" dirty="0">
                <a:solidFill>
                  <a:srgbClr val="4A6B5D"/>
                </a:solidFill>
                <a:latin typeface="Georgia" pitchFamily="34" charset="0"/>
                <a:ea typeface="Georgia" pitchFamily="34" charset="-122"/>
                <a:cs typeface="Georgia" pitchFamily="34" charset="-120"/>
              </a:rPr>
              <a:t>How did you feel?</a:t>
            </a:r>
            <a:endParaRPr lang="en-US" sz="2000" dirty="0"/>
          </a:p>
        </p:txBody>
      </p:sp>
      <p:sp>
        <p:nvSpPr>
          <p:cNvPr id="13" name="Shape 11"/>
          <p:cNvSpPr/>
          <p:nvPr/>
        </p:nvSpPr>
        <p:spPr>
          <a:xfrm>
            <a:off x="4489704" y="4224528"/>
            <a:ext cx="3209544" cy="0"/>
          </a:xfrm>
          <a:prstGeom prst="line">
            <a:avLst/>
          </a:prstGeom>
          <a:noFill/>
          <a:ln w="9525">
            <a:solidFill>
              <a:srgbClr val="D9D4C4"/>
            </a:solidFill>
            <a:prstDash val="solid"/>
          </a:ln>
        </p:spPr>
      </p:sp>
      <p:sp>
        <p:nvSpPr>
          <p:cNvPr id="14" name="Text 12"/>
          <p:cNvSpPr/>
          <p:nvPr/>
        </p:nvSpPr>
        <p:spPr>
          <a:xfrm>
            <a:off x="4489704" y="4370832"/>
            <a:ext cx="3209544" cy="137160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Restless, held, hurried, allowed to look. Name it before you explain it.</a:t>
            </a:r>
            <a:endParaRPr lang="en-US" sz="1550" dirty="0"/>
          </a:p>
        </p:txBody>
      </p:sp>
      <p:sp>
        <p:nvSpPr>
          <p:cNvPr id="15" name="Text 13"/>
          <p:cNvSpPr/>
          <p:nvPr/>
        </p:nvSpPr>
        <p:spPr>
          <a:xfrm>
            <a:off x="8156448" y="292608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156448" y="3401568"/>
            <a:ext cx="3209544" cy="777240"/>
          </a:xfrm>
          <a:prstGeom prst="rect">
            <a:avLst/>
          </a:prstGeom>
          <a:noFill/>
          <a:ln/>
        </p:spPr>
        <p:txBody>
          <a:bodyPr wrap="square" lIns="0" tIns="0" rIns="0" bIns="0" rtlCol="0" anchor="t"/>
          <a:lstStyle/>
          <a:p>
            <a:pPr indent="0" marL="0">
              <a:lnSpc>
                <a:spcPts val="2400"/>
              </a:lnSpc>
              <a:buNone/>
            </a:pPr>
            <a:r>
              <a:rPr lang="en-US" sz="2000" dirty="0">
                <a:solidFill>
                  <a:srgbClr val="4A6B5D"/>
                </a:solidFill>
                <a:latin typeface="Georgia" pitchFamily="34" charset="0"/>
                <a:ea typeface="Georgia" pitchFamily="34" charset="-122"/>
                <a:cs typeface="Georgia" pitchFamily="34" charset="-120"/>
              </a:rPr>
              <a:t>What was the editor doing to you?</a:t>
            </a:r>
            <a:endParaRPr lang="en-US" sz="2000" dirty="0"/>
          </a:p>
        </p:txBody>
      </p:sp>
      <p:sp>
        <p:nvSpPr>
          <p:cNvPr id="17" name="Shape 15"/>
          <p:cNvSpPr/>
          <p:nvPr/>
        </p:nvSpPr>
        <p:spPr>
          <a:xfrm>
            <a:off x="8156448" y="4224528"/>
            <a:ext cx="3209544" cy="0"/>
          </a:xfrm>
          <a:prstGeom prst="line">
            <a:avLst/>
          </a:prstGeom>
          <a:noFill/>
          <a:ln w="9525">
            <a:solidFill>
              <a:srgbClr val="D9D4C4"/>
            </a:solidFill>
            <a:prstDash val="solid"/>
          </a:ln>
        </p:spPr>
      </p:sp>
      <p:sp>
        <p:nvSpPr>
          <p:cNvPr id="18" name="Text 16"/>
          <p:cNvSpPr/>
          <p:nvPr/>
        </p:nvSpPr>
        <p:spPr>
          <a:xfrm>
            <a:off x="8156448" y="4370832"/>
            <a:ext cx="3209544" cy="137160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Not what the scene was about. What the cutting rate did to your attention.</a:t>
            </a:r>
            <a:endParaRPr lang="en-US" sz="1550" dirty="0"/>
          </a:p>
        </p:txBody>
      </p:sp>
      <p:sp>
        <p:nvSpPr>
          <p:cNvPr id="19" name="Shape 17"/>
          <p:cNvSpPr/>
          <p:nvPr/>
        </p:nvSpPr>
        <p:spPr>
          <a:xfrm>
            <a:off x="822960" y="6382512"/>
            <a:ext cx="10543032" cy="0"/>
          </a:xfrm>
          <a:prstGeom prst="line">
            <a:avLst/>
          </a:prstGeom>
          <a:noFill/>
          <a:ln w="9525">
            <a:solidFill>
              <a:srgbClr val="D9D4C4"/>
            </a:solidFill>
            <a:prstDash val="solid"/>
          </a:ln>
        </p:spPr>
      </p:sp>
      <p:sp>
        <p:nvSpPr>
          <p:cNvPr id="20" name="Text 1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1" name="Text 1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000"/>
              </a:lnSpc>
              <a:buNone/>
            </a:pPr>
            <a:r>
              <a:rPr lang="en-US" sz="3000" dirty="0">
                <a:solidFill>
                  <a:srgbClr val="24313F"/>
                </a:solidFill>
                <a:latin typeface="Georgia" pitchFamily="34" charset="0"/>
                <a:ea typeface="Georgia" pitchFamily="34" charset="-122"/>
                <a:cs typeface="Georgia" pitchFamily="34" charset="-120"/>
              </a:rPr>
              <a:t>Editing short sequences, just two or three shots to begin with: shot / reverse shot for a conversation between two people, which is also an opportunity to highlight the 180-degree rule.</a:t>
            </a:r>
            <a:endParaRPr lang="en-US" sz="30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Scheme of Work, Foundation Portfolio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CONTINUITY SYSTEM</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AN INVISIBLE GRAMMAR, EACH ITEM ON A CLIP</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rules that stop you noticing</a:t>
            </a:r>
            <a:endParaRPr lang="en-US" sz="3200" dirty="0"/>
          </a:p>
        </p:txBody>
      </p:sp>
      <p:sp>
        <p:nvSpPr>
          <p:cNvPr id="6" name="Text 4"/>
          <p:cNvSpPr/>
          <p:nvPr/>
        </p:nvSpPr>
        <p:spPr>
          <a:xfrm>
            <a:off x="822960" y="1828800"/>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The 180-degree rule</a:t>
            </a:r>
            <a:endParaRPr lang="en-US" sz="2000" dirty="0"/>
          </a:p>
        </p:txBody>
      </p:sp>
      <p:sp>
        <p:nvSpPr>
          <p:cNvPr id="7" name="Shape 5"/>
          <p:cNvSpPr/>
          <p:nvPr/>
        </p:nvSpPr>
        <p:spPr>
          <a:xfrm>
            <a:off x="822960" y="2249424"/>
            <a:ext cx="4997196" cy="0"/>
          </a:xfrm>
          <a:prstGeom prst="line">
            <a:avLst/>
          </a:prstGeom>
          <a:noFill/>
          <a:ln w="9525">
            <a:solidFill>
              <a:srgbClr val="D9D4C4"/>
            </a:solidFill>
            <a:prstDash val="solid"/>
          </a:ln>
        </p:spPr>
      </p:sp>
      <p:sp>
        <p:nvSpPr>
          <p:cNvPr id="8" name="Text 6"/>
          <p:cNvSpPr/>
          <p:nvPr/>
        </p:nvSpPr>
        <p:spPr>
          <a:xfrm>
            <a:off x="822960" y="2359152"/>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Stay one side of the line drawn between two subjects, and screen direction holds.</a:t>
            </a:r>
            <a:endParaRPr lang="en-US" sz="1500" dirty="0"/>
          </a:p>
        </p:txBody>
      </p:sp>
      <p:sp>
        <p:nvSpPr>
          <p:cNvPr id="9" name="Text 7"/>
          <p:cNvSpPr/>
          <p:nvPr/>
        </p:nvSpPr>
        <p:spPr>
          <a:xfrm>
            <a:off x="6368796" y="1828800"/>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Shot / reverse shot</a:t>
            </a:r>
            <a:endParaRPr lang="en-US" sz="2000" dirty="0"/>
          </a:p>
        </p:txBody>
      </p:sp>
      <p:sp>
        <p:nvSpPr>
          <p:cNvPr id="10" name="Shape 8"/>
          <p:cNvSpPr/>
          <p:nvPr/>
        </p:nvSpPr>
        <p:spPr>
          <a:xfrm>
            <a:off x="6368796" y="2249424"/>
            <a:ext cx="4997196" cy="0"/>
          </a:xfrm>
          <a:prstGeom prst="line">
            <a:avLst/>
          </a:prstGeom>
          <a:noFill/>
          <a:ln w="9525">
            <a:solidFill>
              <a:srgbClr val="D9D4C4"/>
            </a:solidFill>
            <a:prstDash val="solid"/>
          </a:ln>
        </p:spPr>
      </p:sp>
      <p:sp>
        <p:nvSpPr>
          <p:cNvPr id="11" name="Text 9"/>
          <p:cNvSpPr/>
          <p:nvPr/>
        </p:nvSpPr>
        <p:spPr>
          <a:xfrm>
            <a:off x="6368796" y="2359152"/>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A conversation assembled from two angles that never appear in the same frame.</a:t>
            </a:r>
            <a:endParaRPr lang="en-US" sz="1500" dirty="0"/>
          </a:p>
        </p:txBody>
      </p:sp>
      <p:sp>
        <p:nvSpPr>
          <p:cNvPr id="12" name="Text 10"/>
          <p:cNvSpPr/>
          <p:nvPr/>
        </p:nvSpPr>
        <p:spPr>
          <a:xfrm>
            <a:off x="822960" y="3127248"/>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Eyeline match</a:t>
            </a:r>
            <a:endParaRPr lang="en-US" sz="2000" dirty="0"/>
          </a:p>
        </p:txBody>
      </p:sp>
      <p:sp>
        <p:nvSpPr>
          <p:cNvPr id="13" name="Shape 11"/>
          <p:cNvSpPr/>
          <p:nvPr/>
        </p:nvSpPr>
        <p:spPr>
          <a:xfrm>
            <a:off x="822960" y="3547872"/>
            <a:ext cx="4997196" cy="0"/>
          </a:xfrm>
          <a:prstGeom prst="line">
            <a:avLst/>
          </a:prstGeom>
          <a:noFill/>
          <a:ln w="9525">
            <a:solidFill>
              <a:srgbClr val="D9D4C4"/>
            </a:solidFill>
            <a:prstDash val="solid"/>
          </a:ln>
        </p:spPr>
      </p:sp>
      <p:sp>
        <p:nvSpPr>
          <p:cNvPr id="14" name="Text 12"/>
          <p:cNvSpPr/>
          <p:nvPr/>
        </p:nvSpPr>
        <p:spPr>
          <a:xfrm>
            <a:off x="822960" y="3657600"/>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Someone looks off-screen; the next shot is what they are looking at. The cut supplies the sightline.</a:t>
            </a:r>
            <a:endParaRPr lang="en-US" sz="1500" dirty="0"/>
          </a:p>
        </p:txBody>
      </p:sp>
      <p:sp>
        <p:nvSpPr>
          <p:cNvPr id="15" name="Text 13"/>
          <p:cNvSpPr/>
          <p:nvPr/>
        </p:nvSpPr>
        <p:spPr>
          <a:xfrm>
            <a:off x="6368796" y="3127248"/>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Match on action</a:t>
            </a:r>
            <a:endParaRPr lang="en-US" sz="2000" dirty="0"/>
          </a:p>
        </p:txBody>
      </p:sp>
      <p:sp>
        <p:nvSpPr>
          <p:cNvPr id="16" name="Shape 14"/>
          <p:cNvSpPr/>
          <p:nvPr/>
        </p:nvSpPr>
        <p:spPr>
          <a:xfrm>
            <a:off x="6368796" y="3547872"/>
            <a:ext cx="4997196" cy="0"/>
          </a:xfrm>
          <a:prstGeom prst="line">
            <a:avLst/>
          </a:prstGeom>
          <a:noFill/>
          <a:ln w="9525">
            <a:solidFill>
              <a:srgbClr val="D9D4C4"/>
            </a:solidFill>
            <a:prstDash val="solid"/>
          </a:ln>
        </p:spPr>
      </p:sp>
      <p:sp>
        <p:nvSpPr>
          <p:cNvPr id="17" name="Text 15"/>
          <p:cNvSpPr/>
          <p:nvPr/>
        </p:nvSpPr>
        <p:spPr>
          <a:xfrm>
            <a:off x="6368796" y="3657600"/>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The cut lands mid-movement, so the movement carries the viewer across it.</a:t>
            </a:r>
            <a:endParaRPr lang="en-US" sz="1500" dirty="0"/>
          </a:p>
        </p:txBody>
      </p:sp>
      <p:sp>
        <p:nvSpPr>
          <p:cNvPr id="18" name="Text 16"/>
          <p:cNvSpPr/>
          <p:nvPr/>
        </p:nvSpPr>
        <p:spPr>
          <a:xfrm>
            <a:off x="822960" y="4425696"/>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Establishing to interior</a:t>
            </a:r>
            <a:endParaRPr lang="en-US" sz="2000" dirty="0"/>
          </a:p>
        </p:txBody>
      </p:sp>
      <p:sp>
        <p:nvSpPr>
          <p:cNvPr id="19" name="Shape 17"/>
          <p:cNvSpPr/>
          <p:nvPr/>
        </p:nvSpPr>
        <p:spPr>
          <a:xfrm>
            <a:off x="822960" y="4846320"/>
            <a:ext cx="4997196" cy="0"/>
          </a:xfrm>
          <a:prstGeom prst="line">
            <a:avLst/>
          </a:prstGeom>
          <a:noFill/>
          <a:ln w="9525">
            <a:solidFill>
              <a:srgbClr val="D9D4C4"/>
            </a:solidFill>
            <a:prstDash val="solid"/>
          </a:ln>
        </p:spPr>
      </p:sp>
      <p:sp>
        <p:nvSpPr>
          <p:cNvPr id="20" name="Text 18"/>
          <p:cNvSpPr/>
          <p:nvPr/>
        </p:nvSpPr>
        <p:spPr>
          <a:xfrm>
            <a:off x="822960" y="4956048"/>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An exterior, then a room. Nothing proves they are the same building except the order.</a:t>
            </a:r>
            <a:endParaRPr lang="en-US" sz="1500" dirty="0"/>
          </a:p>
        </p:txBody>
      </p:sp>
      <p:sp>
        <p:nvSpPr>
          <p:cNvPr id="21" name="Text 19"/>
          <p:cNvSpPr/>
          <p:nvPr/>
        </p:nvSpPr>
        <p:spPr>
          <a:xfrm>
            <a:off x="6368796" y="4425696"/>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Cutaway and insert</a:t>
            </a:r>
            <a:endParaRPr lang="en-US" sz="2000" dirty="0"/>
          </a:p>
        </p:txBody>
      </p:sp>
      <p:sp>
        <p:nvSpPr>
          <p:cNvPr id="22" name="Shape 20"/>
          <p:cNvSpPr/>
          <p:nvPr/>
        </p:nvSpPr>
        <p:spPr>
          <a:xfrm>
            <a:off x="6368796" y="4846320"/>
            <a:ext cx="4997196" cy="0"/>
          </a:xfrm>
          <a:prstGeom prst="line">
            <a:avLst/>
          </a:prstGeom>
          <a:noFill/>
          <a:ln w="9525">
            <a:solidFill>
              <a:srgbClr val="D9D4C4"/>
            </a:solidFill>
            <a:prstDash val="solid"/>
          </a:ln>
        </p:spPr>
      </p:sp>
      <p:sp>
        <p:nvSpPr>
          <p:cNvPr id="23" name="Text 21"/>
          <p:cNvSpPr/>
          <p:nvPr/>
        </p:nvSpPr>
        <p:spPr>
          <a:xfrm>
            <a:off x="6368796" y="4956048"/>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A glance elsewhere, or a detail. Both buy time and both hide a join.</a:t>
            </a:r>
            <a:endParaRPr lang="en-US" sz="150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828800"/>
            <a:ext cx="10424160" cy="2560320"/>
          </a:xfrm>
          <a:prstGeom prst="rect">
            <a:avLst/>
          </a:prstGeom>
          <a:noFill/>
          <a:ln/>
        </p:spPr>
        <p:txBody>
          <a:bodyPr wrap="square" lIns="0" tIns="0" rIns="0" bIns="0" rtlCol="0" anchor="ctr"/>
          <a:lstStyle/>
          <a:p>
            <a:pPr indent="0" marL="0">
              <a:lnSpc>
                <a:spcPts val="5600"/>
              </a:lnSpc>
              <a:buNone/>
            </a:pPr>
            <a:r>
              <a:rPr lang="en-US" sz="4800" dirty="0">
                <a:solidFill>
                  <a:srgbClr val="24313F"/>
                </a:solidFill>
                <a:latin typeface="Georgia" pitchFamily="34" charset="0"/>
                <a:ea typeface="Georgia" pitchFamily="34" charset="-122"/>
                <a:cs typeface="Georgia" pitchFamily="34" charset="-120"/>
              </a:rPr>
              <a:t>Cross the line and two</a:t>
            </a:r>
            <a:endParaRPr lang="en-US" sz="4800" dirty="0"/>
          </a:p>
          <a:p>
            <a:pPr indent="0" marL="0">
              <a:lnSpc>
                <a:spcPts val="5600"/>
              </a:lnSpc>
              <a:buNone/>
            </a:pPr>
            <a:r>
              <a:rPr lang="en-US" sz="4800" dirty="0">
                <a:solidFill>
                  <a:srgbClr val="24313F"/>
                </a:solidFill>
                <a:latin typeface="Georgia" pitchFamily="34" charset="0"/>
                <a:ea typeface="Georgia" pitchFamily="34" charset="-122"/>
                <a:cs typeface="Georgia" pitchFamily="34" charset="-120"/>
              </a:rPr>
              <a:t>people swap sides of</a:t>
            </a:r>
            <a:endParaRPr lang="en-US" sz="4800" dirty="0"/>
          </a:p>
          <a:p>
            <a:pPr indent="0" marL="0">
              <a:lnSpc>
                <a:spcPts val="5600"/>
              </a:lnSpc>
              <a:buNone/>
            </a:pPr>
            <a:r>
              <a:rPr lang="en-US" sz="4800" dirty="0">
                <a:solidFill>
                  <a:srgbClr val="24313F"/>
                </a:solidFill>
                <a:latin typeface="Georgia" pitchFamily="34" charset="0"/>
                <a:ea typeface="Georgia" pitchFamily="34" charset="-122"/>
                <a:cs typeface="Georgia" pitchFamily="34" charset="-120"/>
              </a:rPr>
              <a:t>the room.</a:t>
            </a:r>
            <a:endParaRPr lang="en-US" sz="4800" dirty="0"/>
          </a:p>
        </p:txBody>
      </p:sp>
      <p:sp>
        <p:nvSpPr>
          <p:cNvPr id="4" name="Shape 2"/>
          <p:cNvSpPr/>
          <p:nvPr/>
        </p:nvSpPr>
        <p:spPr>
          <a:xfrm>
            <a:off x="822960" y="4754880"/>
            <a:ext cx="914400" cy="0"/>
          </a:xfrm>
          <a:prstGeom prst="line">
            <a:avLst/>
          </a:prstGeom>
          <a:noFill/>
          <a:ln w="31750">
            <a:solidFill>
              <a:srgbClr val="8C3A38"/>
            </a:solidFill>
            <a:prstDash val="solid"/>
          </a:ln>
        </p:spPr>
      </p:sp>
      <p:sp>
        <p:nvSpPr>
          <p:cNvPr id="5" name="Text 3"/>
          <p:cNvSpPr/>
          <p:nvPr/>
        </p:nvSpPr>
        <p:spPr>
          <a:xfrm>
            <a:off x="822960" y="4937760"/>
            <a:ext cx="10241280" cy="822960"/>
          </a:xfrm>
          <a:prstGeom prst="rect">
            <a:avLst/>
          </a:prstGeom>
          <a:noFill/>
          <a:ln/>
        </p:spPr>
        <p:txBody>
          <a:bodyPr wrap="square" lIns="0" tIns="0" rIns="0" bIns="0" rtlCol="0" anchor="t"/>
          <a:lstStyle/>
          <a:p>
            <a:pPr indent="0" marL="0">
              <a:lnSpc>
                <a:spcPts val="1900"/>
              </a:lnSpc>
              <a:buNone/>
            </a:pPr>
            <a:r>
              <a:rPr lang="en-US" sz="1400" spc="100" kern="0" dirty="0">
                <a:solidFill>
                  <a:srgbClr val="4A6B5D"/>
                </a:solidFill>
                <a:latin typeface="Arial" pitchFamily="34" charset="0"/>
                <a:ea typeface="Arial" pitchFamily="34" charset="-122"/>
                <a:cs typeface="Arial" pitchFamily="34" charset="-120"/>
              </a:rPr>
              <a:t>Demonstrated live from a prepared clip, then produced by every pair on Monday. Nobody who has made that error forgets the rule, and nobody who has made it writes 'the editing is fast-paced' in an exam again.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dogan/Documents/Vaults/Courses/wiki/classes/media-studies/decks/_build/img/crops/adolescence-bts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DURATION · THE CUT YOU NEVER GOT</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Two grips carry the camera rig mid-take. One episode, one shot: every minute without a cut was walked, carried and rehearsed.</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Adolescence (Netflix, 2025), production photograph</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DAY TWO · JIGSAW</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FOUR GROUPS, FOUR MINUTES, THEN TEACH BACK</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When the system is refused</a:t>
            </a:r>
            <a:endParaRPr lang="en-US" sz="3200" dirty="0"/>
          </a:p>
        </p:txBody>
      </p:sp>
      <p:sp>
        <p:nvSpPr>
          <p:cNvPr id="6" name="Text 4"/>
          <p:cNvSpPr/>
          <p:nvPr/>
        </p:nvSpPr>
        <p:spPr>
          <a:xfrm>
            <a:off x="822960"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01</a:t>
            </a:r>
            <a:endParaRPr lang="en-US" sz="2600" dirty="0"/>
          </a:p>
        </p:txBody>
      </p:sp>
      <p:sp>
        <p:nvSpPr>
          <p:cNvPr id="7" name="Text 5"/>
          <p:cNvSpPr/>
          <p:nvPr/>
        </p:nvSpPr>
        <p:spPr>
          <a:xfrm>
            <a:off x="822960" y="2286000"/>
            <a:ext cx="2361438" cy="777240"/>
          </a:xfrm>
          <a:prstGeom prst="rect">
            <a:avLst/>
          </a:prstGeom>
          <a:noFill/>
          <a:ln/>
        </p:spPr>
        <p:txBody>
          <a:bodyPr wrap="square" lIns="0" tIns="0" rIns="0" bIns="0" rtlCol="0" anchor="t"/>
          <a:lstStyle/>
          <a:p>
            <a:pPr indent="0" marL="0">
              <a:lnSpc>
                <a:spcPts val="2300"/>
              </a:lnSpc>
              <a:buNone/>
            </a:pPr>
            <a:r>
              <a:rPr lang="en-US" sz="2000" dirty="0">
                <a:solidFill>
                  <a:srgbClr val="4A6B5D"/>
                </a:solidFill>
                <a:latin typeface="Georgia" pitchFamily="34" charset="0"/>
                <a:ea typeface="Georgia" pitchFamily="34" charset="-122"/>
                <a:cs typeface="Georgia" pitchFamily="34" charset="-120"/>
              </a:rPr>
              <a:t>Breaking continuity</a:t>
            </a:r>
            <a:endParaRPr lang="en-US" sz="2000" dirty="0"/>
          </a:p>
        </p:txBody>
      </p:sp>
      <p:sp>
        <p:nvSpPr>
          <p:cNvPr id="8" name="Shape 6"/>
          <p:cNvSpPr/>
          <p:nvPr/>
        </p:nvSpPr>
        <p:spPr>
          <a:xfrm>
            <a:off x="822960" y="3127248"/>
            <a:ext cx="2361438" cy="0"/>
          </a:xfrm>
          <a:prstGeom prst="line">
            <a:avLst/>
          </a:prstGeom>
          <a:noFill/>
          <a:ln w="9525">
            <a:solidFill>
              <a:srgbClr val="D9D4C4"/>
            </a:solidFill>
            <a:prstDash val="solid"/>
          </a:ln>
        </p:spPr>
      </p:sp>
      <p:sp>
        <p:nvSpPr>
          <p:cNvPr id="9" name="Text 7"/>
          <p:cNvSpPr/>
          <p:nvPr/>
        </p:nvSpPr>
        <p:spPr>
          <a:xfrm>
            <a:off x="822960" y="3273552"/>
            <a:ext cx="2361438" cy="146304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jump cut, and what it signals</a:t>
            </a:r>
            <a:endParaRPr lang="en-US" sz="1550" dirty="0"/>
          </a:p>
        </p:txBody>
      </p:sp>
      <p:sp>
        <p:nvSpPr>
          <p:cNvPr id="10" name="Text 8"/>
          <p:cNvSpPr/>
          <p:nvPr/>
        </p:nvSpPr>
        <p:spPr>
          <a:xfrm>
            <a:off x="3550158"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02</a:t>
            </a:r>
            <a:endParaRPr lang="en-US" sz="2600" dirty="0"/>
          </a:p>
        </p:txBody>
      </p:sp>
      <p:sp>
        <p:nvSpPr>
          <p:cNvPr id="11" name="Text 9"/>
          <p:cNvSpPr/>
          <p:nvPr/>
        </p:nvSpPr>
        <p:spPr>
          <a:xfrm>
            <a:off x="3550158" y="2286000"/>
            <a:ext cx="2361438" cy="777240"/>
          </a:xfrm>
          <a:prstGeom prst="rect">
            <a:avLst/>
          </a:prstGeom>
          <a:noFill/>
          <a:ln/>
        </p:spPr>
        <p:txBody>
          <a:bodyPr wrap="square" lIns="0" tIns="0" rIns="0" bIns="0" rtlCol="0" anchor="t"/>
          <a:lstStyle/>
          <a:p>
            <a:pPr indent="0" marL="0">
              <a:lnSpc>
                <a:spcPts val="2300"/>
              </a:lnSpc>
              <a:buNone/>
            </a:pPr>
            <a:r>
              <a:rPr lang="en-US" sz="2000" dirty="0">
                <a:solidFill>
                  <a:srgbClr val="4A6B5D"/>
                </a:solidFill>
                <a:latin typeface="Georgia" pitchFamily="34" charset="0"/>
                <a:ea typeface="Georgia" pitchFamily="34" charset="-122"/>
                <a:cs typeface="Georgia" pitchFamily="34" charset="-120"/>
              </a:rPr>
              <a:t>Two actions at once</a:t>
            </a:r>
            <a:endParaRPr lang="en-US" sz="2000" dirty="0"/>
          </a:p>
        </p:txBody>
      </p:sp>
      <p:sp>
        <p:nvSpPr>
          <p:cNvPr id="12" name="Shape 10"/>
          <p:cNvSpPr/>
          <p:nvPr/>
        </p:nvSpPr>
        <p:spPr>
          <a:xfrm>
            <a:off x="3550158" y="3127248"/>
            <a:ext cx="2361438" cy="0"/>
          </a:xfrm>
          <a:prstGeom prst="line">
            <a:avLst/>
          </a:prstGeom>
          <a:noFill/>
          <a:ln w="9525">
            <a:solidFill>
              <a:srgbClr val="D9D4C4"/>
            </a:solidFill>
            <a:prstDash val="solid"/>
          </a:ln>
        </p:spPr>
      </p:sp>
      <p:sp>
        <p:nvSpPr>
          <p:cNvPr id="13" name="Text 11"/>
          <p:cNvSpPr/>
          <p:nvPr/>
        </p:nvSpPr>
        <p:spPr>
          <a:xfrm>
            <a:off x="3550158" y="3273552"/>
            <a:ext cx="2361438" cy="146304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crosscutting  ·  parallel editing</a:t>
            </a:r>
            <a:endParaRPr lang="en-US" sz="1550" dirty="0"/>
          </a:p>
        </p:txBody>
      </p:sp>
      <p:sp>
        <p:nvSpPr>
          <p:cNvPr id="14" name="Text 12"/>
          <p:cNvSpPr/>
          <p:nvPr/>
        </p:nvSpPr>
        <p:spPr>
          <a:xfrm>
            <a:off x="6277356"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03</a:t>
            </a:r>
            <a:endParaRPr lang="en-US" sz="2600" dirty="0"/>
          </a:p>
        </p:txBody>
      </p:sp>
      <p:sp>
        <p:nvSpPr>
          <p:cNvPr id="15" name="Text 13"/>
          <p:cNvSpPr/>
          <p:nvPr/>
        </p:nvSpPr>
        <p:spPr>
          <a:xfrm>
            <a:off x="6277356" y="2286000"/>
            <a:ext cx="2361438" cy="777240"/>
          </a:xfrm>
          <a:prstGeom prst="rect">
            <a:avLst/>
          </a:prstGeom>
          <a:noFill/>
          <a:ln/>
        </p:spPr>
        <p:txBody>
          <a:bodyPr wrap="square" lIns="0" tIns="0" rIns="0" bIns="0" rtlCol="0" anchor="t"/>
          <a:lstStyle/>
          <a:p>
            <a:pPr indent="0" marL="0">
              <a:lnSpc>
                <a:spcPts val="2300"/>
              </a:lnSpc>
              <a:buNone/>
            </a:pPr>
            <a:r>
              <a:rPr lang="en-US" sz="2000" dirty="0">
                <a:solidFill>
                  <a:srgbClr val="4A6B5D"/>
                </a:solidFill>
                <a:latin typeface="Georgia" pitchFamily="34" charset="0"/>
                <a:ea typeface="Georgia" pitchFamily="34" charset="-122"/>
                <a:cs typeface="Georgia" pitchFamily="34" charset="-120"/>
              </a:rPr>
              <a:t>Transitions</a:t>
            </a:r>
            <a:endParaRPr lang="en-US" sz="2000" dirty="0"/>
          </a:p>
        </p:txBody>
      </p:sp>
      <p:sp>
        <p:nvSpPr>
          <p:cNvPr id="16" name="Shape 14"/>
          <p:cNvSpPr/>
          <p:nvPr/>
        </p:nvSpPr>
        <p:spPr>
          <a:xfrm>
            <a:off x="6277356" y="3127248"/>
            <a:ext cx="2361438" cy="0"/>
          </a:xfrm>
          <a:prstGeom prst="line">
            <a:avLst/>
          </a:prstGeom>
          <a:noFill/>
          <a:ln w="9525">
            <a:solidFill>
              <a:srgbClr val="D9D4C4"/>
            </a:solidFill>
            <a:prstDash val="solid"/>
          </a:ln>
        </p:spPr>
      </p:sp>
      <p:sp>
        <p:nvSpPr>
          <p:cNvPr id="17" name="Text 15"/>
          <p:cNvSpPr/>
          <p:nvPr/>
        </p:nvSpPr>
        <p:spPr>
          <a:xfrm>
            <a:off x="6277356" y="3273552"/>
            <a:ext cx="2361438" cy="146304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dissolve  ·  fade in and out</a:t>
            </a:r>
            <a:endParaRPr lang="en-US" sz="1550" dirty="0"/>
          </a:p>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wipe  ·  superimposition</a:t>
            </a:r>
            <a:endParaRPr lang="en-US" sz="1550" dirty="0"/>
          </a:p>
        </p:txBody>
      </p:sp>
      <p:sp>
        <p:nvSpPr>
          <p:cNvPr id="18" name="Text 16"/>
          <p:cNvSpPr/>
          <p:nvPr/>
        </p:nvSpPr>
        <p:spPr>
          <a:xfrm>
            <a:off x="9004554"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04</a:t>
            </a:r>
            <a:endParaRPr lang="en-US" sz="2600" dirty="0"/>
          </a:p>
        </p:txBody>
      </p:sp>
      <p:sp>
        <p:nvSpPr>
          <p:cNvPr id="19" name="Text 17"/>
          <p:cNvSpPr/>
          <p:nvPr/>
        </p:nvSpPr>
        <p:spPr>
          <a:xfrm>
            <a:off x="9004554" y="2286000"/>
            <a:ext cx="2361438" cy="777240"/>
          </a:xfrm>
          <a:prstGeom prst="rect">
            <a:avLst/>
          </a:prstGeom>
          <a:noFill/>
          <a:ln/>
        </p:spPr>
        <p:txBody>
          <a:bodyPr wrap="square" lIns="0" tIns="0" rIns="0" bIns="0" rtlCol="0" anchor="t"/>
          <a:lstStyle/>
          <a:p>
            <a:pPr indent="0" marL="0">
              <a:lnSpc>
                <a:spcPts val="2300"/>
              </a:lnSpc>
              <a:buNone/>
            </a:pPr>
            <a:r>
              <a:rPr lang="en-US" sz="2000" dirty="0">
                <a:solidFill>
                  <a:srgbClr val="4A6B5D"/>
                </a:solidFill>
                <a:latin typeface="Georgia" pitchFamily="34" charset="0"/>
                <a:ea typeface="Georgia" pitchFamily="34" charset="-122"/>
                <a:cs typeface="Georgia" pitchFamily="34" charset="-120"/>
              </a:rPr>
              <a:t>Time and duration</a:t>
            </a:r>
            <a:endParaRPr lang="en-US" sz="2000" dirty="0"/>
          </a:p>
        </p:txBody>
      </p:sp>
      <p:sp>
        <p:nvSpPr>
          <p:cNvPr id="20" name="Shape 18"/>
          <p:cNvSpPr/>
          <p:nvPr/>
        </p:nvSpPr>
        <p:spPr>
          <a:xfrm>
            <a:off x="9004554" y="3127248"/>
            <a:ext cx="2361438" cy="0"/>
          </a:xfrm>
          <a:prstGeom prst="line">
            <a:avLst/>
          </a:prstGeom>
          <a:noFill/>
          <a:ln w="9525">
            <a:solidFill>
              <a:srgbClr val="D9D4C4"/>
            </a:solidFill>
            <a:prstDash val="solid"/>
          </a:ln>
        </p:spPr>
      </p:sp>
      <p:sp>
        <p:nvSpPr>
          <p:cNvPr id="21" name="Text 19"/>
          <p:cNvSpPr/>
          <p:nvPr/>
        </p:nvSpPr>
        <p:spPr>
          <a:xfrm>
            <a:off x="9004554" y="3273552"/>
            <a:ext cx="2361438" cy="146304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ellipsis  ·  expansion of time</a:t>
            </a:r>
            <a:endParaRPr lang="en-US" sz="1550" dirty="0"/>
          </a:p>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long take  ·  short take  ·  slow motion</a:t>
            </a:r>
            <a:endParaRPr lang="en-US" sz="1550" dirty="0"/>
          </a:p>
        </p:txBody>
      </p:sp>
      <p:sp>
        <p:nvSpPr>
          <p:cNvPr id="22" name="Shape 20"/>
          <p:cNvSpPr/>
          <p:nvPr/>
        </p:nvSpPr>
        <p:spPr>
          <a:xfrm>
            <a:off x="822960" y="4892040"/>
            <a:ext cx="10543032" cy="914400"/>
          </a:xfrm>
          <a:prstGeom prst="rect">
            <a:avLst/>
          </a:prstGeom>
          <a:solidFill>
            <a:srgbClr val="E8EFE7"/>
          </a:solidFill>
          <a:ln/>
        </p:spPr>
      </p:sp>
      <p:sp>
        <p:nvSpPr>
          <p:cNvPr id="23" name="Text 21"/>
          <p:cNvSpPr/>
          <p:nvPr/>
        </p:nvSpPr>
        <p:spPr>
          <a:xfrm>
            <a:off x="1097280" y="4983480"/>
            <a:ext cx="9994392" cy="73152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Flagged out loud: long take, short take and slow motion are filed under editing, not camera. Candidates misfile them every year, and the mark scheme reads the category you put them in.</a:t>
            </a:r>
            <a:endParaRPr lang="en-US" sz="165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REWRITING THE DEAD SENTENCE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EDITING'S VERSION OF THE NAMING PROBLEM</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143000"/>
            <a:ext cx="10543032" cy="822960"/>
          </a:xfrm>
          <a:prstGeom prst="rect">
            <a:avLst/>
          </a:prstGeom>
          <a:noFill/>
          <a:ln/>
        </p:spPr>
        <p:txBody>
          <a:bodyPr wrap="square" lIns="0" tIns="0" rIns="0" bIns="0" rtlCol="0" anchor="ctr"/>
          <a:lstStyle/>
          <a:p>
            <a:pPr indent="0" marL="0">
              <a:buNone/>
            </a:pPr>
            <a:r>
              <a:rPr lang="en-US" sz="3600" dirty="0">
                <a:solidFill>
                  <a:srgbClr val="7A7F72"/>
                </a:solidFill>
                <a:latin typeface="Georgia" pitchFamily="34" charset="0"/>
                <a:ea typeface="Georgia" pitchFamily="34" charset="-122"/>
                <a:cs typeface="Georgia" pitchFamily="34" charset="-120"/>
              </a:rPr>
              <a:t>'The editing is fast-paced'</a:t>
            </a:r>
            <a:endParaRPr lang="en-US" sz="3600" dirty="0"/>
          </a:p>
        </p:txBody>
      </p:sp>
      <p:sp>
        <p:nvSpPr>
          <p:cNvPr id="6" name="Shape 4"/>
          <p:cNvSpPr/>
          <p:nvPr/>
        </p:nvSpPr>
        <p:spPr>
          <a:xfrm>
            <a:off x="822960" y="2240280"/>
            <a:ext cx="914400" cy="0"/>
          </a:xfrm>
          <a:prstGeom prst="line">
            <a:avLst/>
          </a:prstGeom>
          <a:noFill/>
          <a:ln w="31750">
            <a:solidFill>
              <a:srgbClr val="8C3A38"/>
            </a:solidFill>
            <a:prstDash val="solid"/>
          </a:ln>
        </p:spPr>
      </p:sp>
      <p:sp>
        <p:nvSpPr>
          <p:cNvPr id="7" name="Text 5"/>
          <p:cNvSpPr/>
          <p:nvPr/>
        </p:nvSpPr>
        <p:spPr>
          <a:xfrm>
            <a:off x="822960" y="2423160"/>
            <a:ext cx="1005840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Worth nothing. It reports an impression and offers no evidence, and every second script says it.</a:t>
            </a:r>
            <a:endParaRPr lang="en-US" sz="1300" dirty="0"/>
          </a:p>
        </p:txBody>
      </p:sp>
      <p:sp>
        <p:nvSpPr>
          <p:cNvPr id="8" name="Shape 6"/>
          <p:cNvSpPr/>
          <p:nvPr/>
        </p:nvSpPr>
        <p:spPr>
          <a:xfrm>
            <a:off x="822960" y="3017520"/>
            <a:ext cx="10543032" cy="1828800"/>
          </a:xfrm>
          <a:prstGeom prst="rect">
            <a:avLst/>
          </a:prstGeom>
          <a:solidFill>
            <a:srgbClr val="E8EFE7"/>
          </a:solidFill>
          <a:ln/>
        </p:spPr>
      </p:sp>
      <p:sp>
        <p:nvSpPr>
          <p:cNvPr id="9" name="Text 7"/>
          <p:cNvSpPr/>
          <p:nvPr/>
        </p:nvSpPr>
        <p:spPr>
          <a:xfrm>
            <a:off x="1143000" y="3200400"/>
            <a:ext cx="9902952" cy="1463040"/>
          </a:xfrm>
          <a:prstGeom prst="rect">
            <a:avLst/>
          </a:prstGeom>
          <a:noFill/>
          <a:ln/>
        </p:spPr>
        <p:txBody>
          <a:bodyPr wrap="square" lIns="0" tIns="0" rIns="0" bIns="0" rtlCol="0" anchor="ctr"/>
          <a:lstStyle/>
          <a:p>
            <a:pPr indent="0" marL="0">
              <a:lnSpc>
                <a:spcPts val="3000"/>
              </a:lnSpc>
              <a:buNone/>
            </a:pPr>
            <a:r>
              <a:rPr lang="en-US" sz="2100" dirty="0">
                <a:solidFill>
                  <a:srgbClr val="24313F"/>
                </a:solidFill>
                <a:latin typeface="Georgia" pitchFamily="34" charset="0"/>
                <a:ea typeface="Georgia" pitchFamily="34" charset="-122"/>
                <a:cs typeface="Georgia" pitchFamily="34" charset="-120"/>
              </a:rPr>
              <a:t>The sequence cuts eleven times in thirty seconds, denying the viewer time to settle on any single face, so the chase is experienced as disorientation rather than observed from outside.</a:t>
            </a:r>
            <a:endParaRPr lang="en-US" sz="2100" dirty="0"/>
          </a:p>
        </p:txBody>
      </p:sp>
      <p:sp>
        <p:nvSpPr>
          <p:cNvPr id="10" name="Text 8"/>
          <p:cNvSpPr/>
          <p:nvPr/>
        </p:nvSpPr>
        <p:spPr>
          <a:xfrm>
            <a:off x="822960" y="5074920"/>
            <a:ext cx="10424160" cy="548640"/>
          </a:xfrm>
          <a:prstGeom prst="rect">
            <a:avLst/>
          </a:prstGeom>
          <a:noFill/>
          <a:ln/>
        </p:spPr>
        <p:txBody>
          <a:bodyPr wrap="square" lIns="0" tIns="0" rIns="0" bIns="0" rtlCol="0" anchor="ctr"/>
          <a:lstStyle/>
          <a:p>
            <a:pPr indent="0" marL="0">
              <a:buNone/>
            </a:pPr>
            <a:r>
              <a:rPr lang="en-US" sz="1650" i="1" dirty="0">
                <a:solidFill>
                  <a:srgbClr val="4A6B5D"/>
                </a:solidFill>
                <a:latin typeface="Georgia" pitchFamily="34" charset="0"/>
                <a:ea typeface="Georgia" pitchFamily="34" charset="-122"/>
                <a:cs typeface="Georgia" pitchFamily="34" charset="-120"/>
              </a:rPr>
              <a:t>A count, an effect, and a claim about the viewer's position. The count is free: you learned to take it in the first fifteen minutes of this lesson.</a:t>
            </a:r>
            <a:endParaRPr lang="en-US" sz="1650" dirty="0"/>
          </a:p>
        </p:txBody>
      </p:sp>
      <p:sp>
        <p:nvSpPr>
          <p:cNvPr id="11" name="Shape 9"/>
          <p:cNvSpPr/>
          <p:nvPr/>
        </p:nvSpPr>
        <p:spPr>
          <a:xfrm>
            <a:off x="822960" y="6382512"/>
            <a:ext cx="10543032" cy="0"/>
          </a:xfrm>
          <a:prstGeom prst="line">
            <a:avLst/>
          </a:prstGeom>
          <a:noFill/>
          <a:ln w="9525">
            <a:solidFill>
              <a:srgbClr val="D9D4C4"/>
            </a:solidFill>
            <a:prstDash val="solid"/>
          </a:ln>
        </p:spPr>
      </p:sp>
      <p:sp>
        <p:nvSpPr>
          <p:cNvPr id="12"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CS6</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MONDAY, TWENTY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10543032" cy="82296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The same sequence, cut twice</a:t>
            </a:r>
            <a:endParaRPr lang="en-US" sz="3600" dirty="0"/>
          </a:p>
        </p:txBody>
      </p:sp>
      <p:sp>
        <p:nvSpPr>
          <p:cNvPr id="6" name="Text 4"/>
          <p:cNvSpPr/>
          <p:nvPr/>
        </p:nvSpPr>
        <p:spPr>
          <a:xfrm>
            <a:off x="822960" y="2148840"/>
            <a:ext cx="4846320" cy="502920"/>
          </a:xfrm>
          <a:prstGeom prst="rect">
            <a:avLst/>
          </a:prstGeom>
          <a:noFill/>
          <a:ln/>
        </p:spPr>
        <p:txBody>
          <a:bodyPr wrap="square" lIns="0" tIns="0" rIns="0" bIns="0" rtlCol="0" anchor="ctr"/>
          <a:lstStyle/>
          <a:p>
            <a:pPr indent="0" marL="0">
              <a:buNone/>
            </a:pPr>
            <a:r>
              <a:rPr lang="en-US" sz="2500" dirty="0">
                <a:solidFill>
                  <a:srgbClr val="4A6B5D"/>
                </a:solidFill>
                <a:latin typeface="Georgia" pitchFamily="34" charset="0"/>
                <a:ea typeface="Georgia" pitchFamily="34" charset="-122"/>
                <a:cs typeface="Georgia" pitchFamily="34" charset="-120"/>
              </a:rPr>
              <a:t>Version one</a:t>
            </a:r>
            <a:endParaRPr lang="en-US" sz="2500" dirty="0"/>
          </a:p>
        </p:txBody>
      </p:sp>
      <p:sp>
        <p:nvSpPr>
          <p:cNvPr id="7" name="Shape 5"/>
          <p:cNvSpPr/>
          <p:nvPr/>
        </p:nvSpPr>
        <p:spPr>
          <a:xfrm>
            <a:off x="822960" y="2724912"/>
            <a:ext cx="4754880" cy="0"/>
          </a:xfrm>
          <a:prstGeom prst="line">
            <a:avLst/>
          </a:prstGeom>
          <a:noFill/>
          <a:ln w="9525">
            <a:solidFill>
              <a:srgbClr val="D9D4C4"/>
            </a:solidFill>
            <a:prstDash val="solid"/>
          </a:ln>
        </p:spPr>
      </p:sp>
      <p:sp>
        <p:nvSpPr>
          <p:cNvPr id="8" name="Text 6"/>
          <p:cNvSpPr/>
          <p:nvPr/>
        </p:nvSpPr>
        <p:spPr>
          <a:xfrm>
            <a:off x="822960" y="2880360"/>
            <a:ext cx="4846320" cy="17373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Continuity held. An establishing shot, a shot / reverse shot exchange, one eyeline match. It has to hold together; it does not have to be good.</a:t>
            </a:r>
            <a:endParaRPr lang="en-US" sz="1700" dirty="0"/>
          </a:p>
        </p:txBody>
      </p:sp>
      <p:sp>
        <p:nvSpPr>
          <p:cNvPr id="9" name="Text 7"/>
          <p:cNvSpPr/>
          <p:nvPr/>
        </p:nvSpPr>
        <p:spPr>
          <a:xfrm>
            <a:off x="6309360" y="2148840"/>
            <a:ext cx="4846320" cy="502920"/>
          </a:xfrm>
          <a:prstGeom prst="rect">
            <a:avLst/>
          </a:prstGeom>
          <a:noFill/>
          <a:ln/>
        </p:spPr>
        <p:txBody>
          <a:bodyPr wrap="square" lIns="0" tIns="0" rIns="0" bIns="0" rtlCol="0" anchor="ctr"/>
          <a:lstStyle/>
          <a:p>
            <a:pPr indent="0" marL="0">
              <a:buNone/>
            </a:pPr>
            <a:r>
              <a:rPr lang="en-US" sz="2500" dirty="0">
                <a:solidFill>
                  <a:srgbClr val="8C3A38"/>
                </a:solidFill>
                <a:latin typeface="Georgia" pitchFamily="34" charset="0"/>
                <a:ea typeface="Georgia" pitchFamily="34" charset="-122"/>
                <a:cs typeface="Georgia" pitchFamily="34" charset="-120"/>
              </a:rPr>
              <a:t>Version two</a:t>
            </a:r>
            <a:endParaRPr lang="en-US" sz="2500" dirty="0"/>
          </a:p>
        </p:txBody>
      </p:sp>
      <p:sp>
        <p:nvSpPr>
          <p:cNvPr id="10" name="Shape 8"/>
          <p:cNvSpPr/>
          <p:nvPr/>
        </p:nvSpPr>
        <p:spPr>
          <a:xfrm>
            <a:off x="6309360" y="2724912"/>
            <a:ext cx="4754880" cy="0"/>
          </a:xfrm>
          <a:prstGeom prst="line">
            <a:avLst/>
          </a:prstGeom>
          <a:noFill/>
          <a:ln w="9525">
            <a:solidFill>
              <a:srgbClr val="D9D4C4"/>
            </a:solidFill>
            <a:prstDash val="solid"/>
          </a:ln>
        </p:spPr>
      </p:sp>
      <p:sp>
        <p:nvSpPr>
          <p:cNvPr id="11" name="Text 9"/>
          <p:cNvSpPr/>
          <p:nvPr/>
        </p:nvSpPr>
        <p:spPr>
          <a:xfrm>
            <a:off x="6309360" y="2880360"/>
            <a:ext cx="4846320" cy="17373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180-degree rule broken on purpose, plus one transition chosen and justified. The break must be the intended one, not an accident.</a:t>
            </a:r>
            <a:endParaRPr lang="en-US" sz="1700" dirty="0"/>
          </a:p>
        </p:txBody>
      </p:sp>
      <p:sp>
        <p:nvSpPr>
          <p:cNvPr id="12" name="Text 10"/>
          <p:cNvSpPr/>
          <p:nvPr/>
        </p:nvSpPr>
        <p:spPr>
          <a:xfrm>
            <a:off x="822960" y="4846320"/>
            <a:ext cx="10424160" cy="640080"/>
          </a:xfrm>
          <a:prstGeom prst="rect">
            <a:avLst/>
          </a:prstGeom>
          <a:noFill/>
          <a:ln/>
        </p:spPr>
        <p:txBody>
          <a:bodyPr wrap="square" lIns="0" tIns="0" rIns="0" bIns="0" rtlCol="0" anchor="t"/>
          <a:lstStyle/>
          <a:p>
            <a:pPr indent="0" marL="0">
              <a:lnSpc>
                <a:spcPts val="2200"/>
              </a:lnSpc>
              <a:buNone/>
            </a:pPr>
            <a:r>
              <a:rPr lang="en-US" sz="1650" i="1" dirty="0">
                <a:solidFill>
                  <a:srgbClr val="4A6B5D"/>
                </a:solidFill>
                <a:latin typeface="Georgia" pitchFamily="34" charset="0"/>
                <a:ea typeface="Georgia" pitchFamily="34" charset="-122"/>
                <a:cs typeface="Georgia" pitchFamily="34" charset="-120"/>
              </a:rPr>
              <a:t>Both posted and dated on the blog, with two or three sentences naming what breaks in version two and what the continuity system was doing for the viewer in version one.</a:t>
            </a:r>
            <a:endParaRPr lang="en-US" sz="1650" dirty="0"/>
          </a:p>
        </p:txBody>
      </p:sp>
      <p:sp>
        <p:nvSpPr>
          <p:cNvPr id="13" name="Text 11"/>
          <p:cNvSpPr/>
          <p:nvPr/>
        </p:nvSpPr>
        <p:spPr>
          <a:xfrm>
            <a:off x="822960" y="5623560"/>
            <a:ext cx="10424160" cy="457200"/>
          </a:xfrm>
          <a:prstGeom prst="rect">
            <a:avLst/>
          </a:prstGeom>
          <a:noFill/>
          <a:ln/>
        </p:spPr>
        <p:txBody>
          <a:bodyPr wrap="square" lIns="0" tIns="0" rIns="0" bIns="0" rtlCol="0" anchor="ctr"/>
          <a:lstStyle/>
          <a:p>
            <a:pPr indent="0" marL="0">
              <a:buNone/>
            </a:pPr>
            <a:r>
              <a:rPr lang="en-US" sz="1250" dirty="0">
                <a:solidFill>
                  <a:srgbClr val="7A7F72"/>
                </a:solidFill>
                <a:latin typeface="Arial" pitchFamily="34" charset="0"/>
                <a:ea typeface="Arial" pitchFamily="34" charset="-122"/>
                <a:cs typeface="Arial" pitchFamily="34" charset="-120"/>
              </a:rPr>
              <a:t>Also logged before you leave: your group's equipment decision, school sign-out or own kit, tested across the last four lessons. Wednesday's shootability checklist points at it.</a:t>
            </a:r>
            <a:endParaRPr lang="en-US" sz="1250" dirty="0"/>
          </a:p>
        </p:txBody>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FOUR ELEMENTS, FOUR BUILDS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IS NOW ON YOUR BLOG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The practice stage, evidenced</a:t>
            </a:r>
            <a:endParaRPr lang="en-US" sz="3400" dirty="0"/>
          </a:p>
        </p:txBody>
      </p:sp>
      <p:sp>
        <p:nvSpPr>
          <p:cNvPr id="6" name="Shape 4"/>
          <p:cNvSpPr/>
          <p:nvPr/>
        </p:nvSpPr>
        <p:spPr>
          <a:xfrm>
            <a:off x="822960" y="1965960"/>
            <a:ext cx="914400" cy="658368"/>
          </a:xfrm>
          <a:prstGeom prst="rect">
            <a:avLst/>
          </a:prstGeom>
          <a:solidFill>
            <a:srgbClr val="A3C1AD"/>
          </a:solidFill>
          <a:ln/>
        </p:spPr>
      </p:sp>
      <p:sp>
        <p:nvSpPr>
          <p:cNvPr id="7" name="Text 5"/>
          <p:cNvSpPr/>
          <p:nvPr/>
        </p:nvSpPr>
        <p:spPr>
          <a:xfrm>
            <a:off x="822960" y="196596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CS3</a:t>
            </a:r>
            <a:endParaRPr lang="en-US" sz="1300" dirty="0"/>
          </a:p>
        </p:txBody>
      </p:sp>
      <p:sp>
        <p:nvSpPr>
          <p:cNvPr id="8" name="Text 6"/>
          <p:cNvSpPr/>
          <p:nvPr/>
        </p:nvSpPr>
        <p:spPr>
          <a:xfrm>
            <a:off x="1965960" y="196596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Camera</a:t>
            </a:r>
            <a:endParaRPr lang="en-US" sz="2100" dirty="0"/>
          </a:p>
        </p:txBody>
      </p:sp>
      <p:sp>
        <p:nvSpPr>
          <p:cNvPr id="9" name="Text 7"/>
          <p:cNvSpPr/>
          <p:nvPr/>
        </p:nvSpPr>
        <p:spPr>
          <a:xfrm>
            <a:off x="4846320" y="196596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Six shots to a storyboard, focus and exposure held</a:t>
            </a:r>
            <a:endParaRPr lang="en-US" sz="1650" dirty="0"/>
          </a:p>
        </p:txBody>
      </p:sp>
      <p:sp>
        <p:nvSpPr>
          <p:cNvPr id="10" name="Shape 8"/>
          <p:cNvSpPr/>
          <p:nvPr/>
        </p:nvSpPr>
        <p:spPr>
          <a:xfrm>
            <a:off x="822960" y="2834640"/>
            <a:ext cx="914400" cy="658368"/>
          </a:xfrm>
          <a:prstGeom prst="rect">
            <a:avLst/>
          </a:prstGeom>
          <a:solidFill>
            <a:srgbClr val="A3C1AD"/>
          </a:solidFill>
          <a:ln/>
        </p:spPr>
      </p:sp>
      <p:sp>
        <p:nvSpPr>
          <p:cNvPr id="11" name="Text 9"/>
          <p:cNvSpPr/>
          <p:nvPr/>
        </p:nvSpPr>
        <p:spPr>
          <a:xfrm>
            <a:off x="822960" y="283464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CS4</a:t>
            </a:r>
            <a:endParaRPr lang="en-US" sz="1300" dirty="0"/>
          </a:p>
        </p:txBody>
      </p:sp>
      <p:sp>
        <p:nvSpPr>
          <p:cNvPr id="12" name="Text 10"/>
          <p:cNvSpPr/>
          <p:nvPr/>
        </p:nvSpPr>
        <p:spPr>
          <a:xfrm>
            <a:off x="1965960" y="283464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Sound</a:t>
            </a:r>
            <a:endParaRPr lang="en-US" sz="2100" dirty="0"/>
          </a:p>
        </p:txBody>
      </p:sp>
      <p:sp>
        <p:nvSpPr>
          <p:cNvPr id="13" name="Text 11"/>
          <p:cNvSpPr/>
          <p:nvPr/>
        </p:nvSpPr>
        <p:spPr>
          <a:xfrm>
            <a:off x="4846320" y="283464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thirty-second soundscape, every choice named</a:t>
            </a:r>
            <a:endParaRPr lang="en-US" sz="1650" dirty="0"/>
          </a:p>
        </p:txBody>
      </p:sp>
      <p:sp>
        <p:nvSpPr>
          <p:cNvPr id="14" name="Shape 12"/>
          <p:cNvSpPr/>
          <p:nvPr/>
        </p:nvSpPr>
        <p:spPr>
          <a:xfrm>
            <a:off x="822960" y="3703320"/>
            <a:ext cx="914400" cy="658368"/>
          </a:xfrm>
          <a:prstGeom prst="rect">
            <a:avLst/>
          </a:prstGeom>
          <a:solidFill>
            <a:srgbClr val="A3C1AD"/>
          </a:solidFill>
          <a:ln/>
        </p:spPr>
      </p:sp>
      <p:sp>
        <p:nvSpPr>
          <p:cNvPr id="15" name="Text 13"/>
          <p:cNvSpPr/>
          <p:nvPr/>
        </p:nvSpPr>
        <p:spPr>
          <a:xfrm>
            <a:off x="822960" y="370332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CS5</a:t>
            </a:r>
            <a:endParaRPr lang="en-US" sz="1300" dirty="0"/>
          </a:p>
        </p:txBody>
      </p:sp>
      <p:sp>
        <p:nvSpPr>
          <p:cNvPr id="16" name="Text 14"/>
          <p:cNvSpPr/>
          <p:nvPr/>
        </p:nvSpPr>
        <p:spPr>
          <a:xfrm>
            <a:off x="1965960" y="370332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Mise-en-scène</a:t>
            </a:r>
            <a:endParaRPr lang="en-US" sz="2100" dirty="0"/>
          </a:p>
        </p:txBody>
      </p:sp>
      <p:sp>
        <p:nvSpPr>
          <p:cNvPr id="17" name="Text 15"/>
          <p:cNvSpPr/>
          <p:nvPr/>
        </p:nvSpPr>
        <p:spPr>
          <a:xfrm>
            <a:off x="4846320" y="370332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six-cell design board, a connotation per cell</a:t>
            </a:r>
            <a:endParaRPr lang="en-US" sz="1650" dirty="0"/>
          </a:p>
        </p:txBody>
      </p:sp>
      <p:sp>
        <p:nvSpPr>
          <p:cNvPr id="18" name="Shape 16"/>
          <p:cNvSpPr/>
          <p:nvPr/>
        </p:nvSpPr>
        <p:spPr>
          <a:xfrm>
            <a:off x="822960" y="4572000"/>
            <a:ext cx="914400" cy="658368"/>
          </a:xfrm>
          <a:prstGeom prst="rect">
            <a:avLst/>
          </a:prstGeom>
          <a:solidFill>
            <a:srgbClr val="A3C1AD"/>
          </a:solidFill>
          <a:ln/>
        </p:spPr>
      </p:sp>
      <p:sp>
        <p:nvSpPr>
          <p:cNvPr id="19" name="Text 17"/>
          <p:cNvSpPr/>
          <p:nvPr/>
        </p:nvSpPr>
        <p:spPr>
          <a:xfrm>
            <a:off x="822960" y="457200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CS6</a:t>
            </a:r>
            <a:endParaRPr lang="en-US" sz="1300" dirty="0"/>
          </a:p>
        </p:txBody>
      </p:sp>
      <p:sp>
        <p:nvSpPr>
          <p:cNvPr id="20" name="Text 18"/>
          <p:cNvSpPr/>
          <p:nvPr/>
        </p:nvSpPr>
        <p:spPr>
          <a:xfrm>
            <a:off x="1965960" y="457200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Editing</a:t>
            </a:r>
            <a:endParaRPr lang="en-US" sz="2100" dirty="0"/>
          </a:p>
        </p:txBody>
      </p:sp>
      <p:sp>
        <p:nvSpPr>
          <p:cNvPr id="21" name="Text 19"/>
          <p:cNvSpPr/>
          <p:nvPr/>
        </p:nvSpPr>
        <p:spPr>
          <a:xfrm>
            <a:off x="4846320" y="457200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One sequence cut two ways, the difference explained</a:t>
            </a:r>
            <a:endParaRPr lang="en-US" sz="1650" dirty="0"/>
          </a:p>
        </p:txBody>
      </p:sp>
      <p:sp>
        <p:nvSpPr>
          <p:cNvPr id="22" name="Shape 20"/>
          <p:cNvSpPr/>
          <p:nvPr/>
        </p:nvSpPr>
        <p:spPr>
          <a:xfrm>
            <a:off x="822960" y="5623560"/>
            <a:ext cx="914400" cy="0"/>
          </a:xfrm>
          <a:prstGeom prst="line">
            <a:avLst/>
          </a:prstGeom>
          <a:noFill/>
          <a:ln w="31750">
            <a:solidFill>
              <a:srgbClr val="8C3A38"/>
            </a:solidFill>
            <a:prstDash val="solid"/>
          </a:ln>
        </p:spPr>
      </p:sp>
      <p:sp>
        <p:nvSpPr>
          <p:cNvPr id="23" name="Text 21"/>
          <p:cNvSpPr/>
          <p:nvPr/>
        </p:nvSpPr>
        <p:spPr>
          <a:xfrm>
            <a:off x="822960" y="5779008"/>
            <a:ext cx="10515600" cy="548640"/>
          </a:xfrm>
          <a:prstGeom prst="rect">
            <a:avLst/>
          </a:prstGeom>
          <a:noFill/>
          <a:ln/>
        </p:spPr>
        <p:txBody>
          <a:bodyPr wrap="square" lIns="0" tIns="0" rIns="0" bIns="0" rtlCol="0" anchor="t"/>
          <a:lstStyle/>
          <a:p>
            <a:pPr indent="0" marL="0">
              <a:lnSpc>
                <a:spcPts val="1600"/>
              </a:lnSpc>
              <a:buNone/>
            </a:pPr>
            <a:r>
              <a:rPr lang="en-US" sz="1200" i="1" dirty="0">
                <a:solidFill>
                  <a:srgbClr val="7A7F72"/>
                </a:solidFill>
                <a:latin typeface="Arial" pitchFamily="34" charset="0"/>
                <a:ea typeface="Arial" pitchFamily="34" charset="-122"/>
                <a:cs typeface="Arial" pitchFamily="34" charset="-120"/>
              </a:rPr>
              <a:t>Four dated posts. Under Cambridge's own Foundation Portfolio structure that is the research-and-practice stage of Component 1, already banked. Carries forward: the C3 major video task in Grade 12 is an editing task, and the whole grade sits in the cut.</a:t>
            </a:r>
            <a:endParaRPr lang="en-US" sz="120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514600"/>
            <a:ext cx="10241280" cy="2103120"/>
          </a:xfrm>
          <a:prstGeom prst="rect">
            <a:avLst/>
          </a:prstGeom>
          <a:noFill/>
          <a:ln/>
        </p:spPr>
        <p:txBody>
          <a:bodyPr wrap="square" lIns="0" tIns="0" rIns="0" bIns="0" rtlCol="0" anchor="t"/>
          <a:lstStyle/>
          <a:p>
            <a:pPr indent="0" marL="0">
              <a:lnSpc>
                <a:spcPts val="5600"/>
              </a:lnSpc>
              <a:buNone/>
            </a:pPr>
            <a:r>
              <a:rPr lang="en-US" sz="5200" dirty="0">
                <a:solidFill>
                  <a:srgbClr val="FAF8F1"/>
                </a:solidFill>
                <a:latin typeface="Georgia" pitchFamily="34" charset="0"/>
                <a:ea typeface="Georgia" pitchFamily="34" charset="-122"/>
                <a:cs typeface="Georgia" pitchFamily="34" charset="-120"/>
              </a:rPr>
              <a:t>Integration and</a:t>
            </a:r>
            <a:endParaRPr lang="en-US" sz="5200" dirty="0"/>
          </a:p>
          <a:p>
            <a:pPr indent="0" marL="0">
              <a:lnSpc>
                <a:spcPts val="5600"/>
              </a:lnSpc>
              <a:buNone/>
            </a:pPr>
            <a:r>
              <a:rPr lang="en-US" sz="5200" dirty="0">
                <a:solidFill>
                  <a:srgbClr val="FAF8F1"/>
                </a:solidFill>
                <a:latin typeface="Georgia" pitchFamily="34" charset="0"/>
                <a:ea typeface="Georgia" pitchFamily="34" charset="-122"/>
                <a:cs typeface="Georgia" pitchFamily="34" charset="-120"/>
              </a:rPr>
              <a:t>the Planning Lock</a:t>
            </a:r>
            <a:endParaRPr lang="en-US" sz="5200" dirty="0"/>
          </a:p>
        </p:txBody>
      </p:sp>
      <p:sp>
        <p:nvSpPr>
          <p:cNvPr id="5" name="Text 3"/>
          <p:cNvSpPr/>
          <p:nvPr/>
        </p:nvSpPr>
        <p:spPr>
          <a:xfrm>
            <a:off x="822960" y="47091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07. All four at once on one unseen extract, then a plan someone else could shoot.</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2026-08-12T14:04:18Z</dcterms:created>
  <dcterms:modified xsi:type="dcterms:W3CDTF">2026-08-12T14:04:18Z</dcterms:modified>
</cp:coreProperties>
</file>