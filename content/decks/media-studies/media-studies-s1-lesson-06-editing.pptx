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days separate the two sessions: Friday 25 is Mid-Autumn Festival. Open day two cold, with retrieval, and do not re-teach Wednesday.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Wednesday builds a sequence that works. Monday builds the same sequence wrong on purpose, and the room watches the illusion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screened sequences, contrasting in pace: one dense-cut, one long take. Safeguarding: the prior plan used Adolescence, BBFC 15, with 1917 as the alternative. The Toy Story strip on the slide is the tally made visible: even a children's film cuts faster than the room expects.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Frames: Adolescence (the over-the-shoulder; note the series is one continuous take, so its reframings do the work cuts normally do, which is itself the lesson) and Toy Story (eyeline, insert, match on action). The two drawn cells are the two ideas frames cannot carry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who has made the error forgets the rule. The drawn cameras match the SoW's own exercise: shot / reverse shot with the rule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cutting is also an editing decision, and this photograph is what that decision costs to make. The interview-room frame from L02 is the same take, minutes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groups, four minutes, teach back. Psycho's eye close-up is in img/ as the second graphic-match example; slow motion is taught by clip (Chariots of Fire's beach run is the canonical case and is not frame-licensable from the archive, so it stays a screening).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editor works: CapCut, iMovie, a phone timeline. Also logged before leaving: the group's equipment decision, school sign-out or own kit, tested across the four builds; Wednesday's shootability checklist points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7863840" y="822960"/>
            <a:ext cx="3566160" cy="4937760"/>
          </a:xfrm>
          <a:prstGeom prst="rect">
            <a:avLst/>
          </a:prstGeom>
          <a:noFill/>
          <a:ln/>
        </p:spPr>
        <p:txBody>
          <a:bodyPr wrap="square" lIns="0" tIns="0" rIns="0" bIns="0" rtlCol="0" anchor="ctr"/>
          <a:lstStyle/>
          <a:p>
            <a:pPr algn="ctr" indent="0" marL="0">
              <a:buNone/>
            </a:pPr>
            <a:r>
              <a:rPr lang="en-US" sz="28000" dirty="0">
                <a:solidFill>
                  <a:srgbClr val="A3C1AD"/>
                </a:solidFill>
                <a:latin typeface="Georgia" pitchFamily="34" charset="0"/>
                <a:ea typeface="Georgia" pitchFamily="34" charset="-122"/>
                <a:cs typeface="Georgia" pitchFamily="34" charset="-120"/>
              </a:rPr>
              <a:t>VI</a:t>
            </a:r>
            <a:endParaRPr lang="en-US" sz="28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II</a:t>
            </a:r>
            <a:endParaRPr lang="en-US" sz="1100" dirty="0"/>
          </a:p>
        </p:txBody>
      </p:sp>
      <p:sp>
        <p:nvSpPr>
          <p:cNvPr id="4" name="Text 2"/>
          <p:cNvSpPr/>
          <p:nvPr/>
        </p:nvSpPr>
        <p:spPr>
          <a:xfrm>
            <a:off x="822960" y="1737360"/>
            <a:ext cx="6400800" cy="2377440"/>
          </a:xfrm>
          <a:prstGeom prst="rect">
            <a:avLst/>
          </a:prstGeom>
          <a:noFill/>
          <a:ln/>
        </p:spPr>
        <p:txBody>
          <a:bodyPr wrap="square" lIns="0" tIns="0" rIns="0" bIns="0" rtlCol="0" anchor="t"/>
          <a:lstStyle/>
          <a:p>
            <a:pPr indent="0" marL="0">
              <a:lnSpc>
                <a:spcPts val="7400"/>
              </a:lnSpc>
              <a:buNone/>
            </a:pPr>
            <a:r>
              <a:rPr lang="en-US" sz="7400" dirty="0">
                <a:solidFill>
                  <a:srgbClr val="24313F"/>
                </a:solidFill>
                <a:latin typeface="Georgia" pitchFamily="34" charset="0"/>
                <a:ea typeface="Georgia" pitchFamily="34" charset="-122"/>
                <a:cs typeface="Georgia" pitchFamily="34" charset="-120"/>
              </a:rPr>
              <a:t>Editing</a:t>
            </a:r>
            <a:endParaRPr lang="en-US" sz="74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Media Language · Lesson 06 of 19</a:t>
            </a:r>
            <a:endParaRPr lang="en-US" sz="2200" dirty="0"/>
          </a:p>
        </p:txBody>
      </p:sp>
      <p:sp>
        <p:nvSpPr>
          <p:cNvPr id="7" name="Text 5"/>
          <p:cNvSpPr/>
          <p:nvPr/>
        </p:nvSpPr>
        <p:spPr>
          <a:xfrm>
            <a:off x="822960" y="5029200"/>
            <a:ext cx="987552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Two days  ·  Wednesday 23 (double) then Monday 28 September  ·  last of the four technical elements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680960" y="640080"/>
            <a:ext cx="3931920" cy="5577840"/>
          </a:xfrm>
          <a:prstGeom prst="rect">
            <a:avLst/>
          </a:prstGeom>
          <a:noFill/>
          <a:ln/>
        </p:spPr>
        <p:txBody>
          <a:bodyPr wrap="square" lIns="0" tIns="0" rIns="0" bIns="0" rtlCol="0" anchor="ctr"/>
          <a:lstStyle/>
          <a:p>
            <a:pPr algn="ctr" indent="0" marL="0">
              <a:buNone/>
            </a:pPr>
            <a:r>
              <a:rPr lang="en-US" sz="32000" dirty="0">
                <a:solidFill>
                  <a:srgbClr val="5C7A6B"/>
                </a:solidFill>
                <a:latin typeface="Georgia" pitchFamily="34" charset="0"/>
                <a:ea typeface="Georgia" pitchFamily="34" charset="-122"/>
                <a:cs typeface="Georgia" pitchFamily="34" charset="-120"/>
              </a:rPr>
              <a:t>VI</a:t>
            </a:r>
            <a:endParaRPr lang="en-US" sz="32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METHOD OF THIS LESSON</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88920"/>
            <a:ext cx="6766560" cy="2194560"/>
          </a:xfrm>
          <a:prstGeom prst="rect">
            <a:avLst/>
          </a:prstGeom>
          <a:noFill/>
          <a:ln/>
        </p:spPr>
        <p:txBody>
          <a:bodyPr wrap="square" lIns="0" tIns="0" rIns="0" bIns="0" rtlCol="0" anchor="t"/>
          <a:lstStyle/>
          <a:p>
            <a:pPr indent="0" marL="0">
              <a:lnSpc>
                <a:spcPts val="5800"/>
              </a:lnSpc>
              <a:buNone/>
            </a:pPr>
            <a:r>
              <a:rPr lang="en-US" sz="5600" dirty="0">
                <a:solidFill>
                  <a:srgbClr val="FAF8F1"/>
                </a:solidFill>
                <a:latin typeface="Georgia" pitchFamily="34" charset="0"/>
                <a:ea typeface="Georgia" pitchFamily="34" charset="-122"/>
                <a:cs typeface="Georgia" pitchFamily="34" charset="-120"/>
              </a:rPr>
              <a:t>Invisible until</a:t>
            </a:r>
            <a:endParaRPr lang="en-US" sz="5600" dirty="0"/>
          </a:p>
          <a:p>
            <a:pPr indent="0" marL="0">
              <a:lnSpc>
                <a:spcPts val="5800"/>
              </a:lnSpc>
              <a:buNone/>
            </a:pPr>
            <a:r>
              <a:rPr lang="en-US" sz="5600" dirty="0">
                <a:solidFill>
                  <a:srgbClr val="FAF8F1"/>
                </a:solidFill>
                <a:latin typeface="Georgia" pitchFamily="34" charset="0"/>
                <a:ea typeface="Georgia" pitchFamily="34" charset="-122"/>
                <a:cs typeface="Georgia" pitchFamily="34" charset="-120"/>
              </a:rPr>
              <a:t>you break it.</a:t>
            </a:r>
            <a:endParaRPr lang="en-US" sz="5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CLAP THE CUTS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COURSEBOOK'S ACTIVITY, FIFTEEN MINUTES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14400"/>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Count first, then say how it felt</a:t>
            </a:r>
            <a:endParaRPr lang="en-US" sz="3000" dirty="0"/>
          </a:p>
        </p:txBody>
      </p:sp>
      <p:sp>
        <p:nvSpPr>
          <p:cNvPr id="6" name="Shape 4"/>
          <p:cNvSpPr/>
          <p:nvPr/>
        </p:nvSpPr>
        <p:spPr>
          <a:xfrm>
            <a:off x="822960" y="1554480"/>
            <a:ext cx="2361438" cy="1645920"/>
          </a:xfrm>
          <a:prstGeom prst="rect">
            <a:avLst/>
          </a:prstGeom>
          <a:solidFill>
            <a:srgbClr val="FAF8F1"/>
          </a:solidFill>
          <a:ln w="9525">
            <a:solidFill>
              <a:srgbClr val="D9D4C4"/>
            </a:solidFill>
            <a:prstDash val="solid"/>
          </a:ln>
        </p:spPr>
      </p:sp>
      <p:pic>
        <p:nvPicPr>
          <p:cNvPr id="7" name="Image 0" descr="/Users/dogan/Documents/Vaults/Courses/wiki/classes/media-studies/decks/_build/img/toystory-rc-ms.jpg">    </p:cNvPr>
          <p:cNvPicPr>
            <a:picLocks noChangeAspect="1"/>
          </p:cNvPicPr>
          <p:nvPr/>
        </p:nvPicPr>
        <p:blipFill>
          <a:blip r:embed="rId1"/>
          <a:stretch>
            <a:fillRect/>
          </a:stretch>
        </p:blipFill>
        <p:spPr>
          <a:xfrm>
            <a:off x="896112" y="1661675"/>
            <a:ext cx="2215134" cy="1431530"/>
          </a:xfrm>
          <a:prstGeom prst="rect">
            <a:avLst/>
          </a:prstGeom>
        </p:spPr>
      </p:pic>
      <p:sp>
        <p:nvSpPr>
          <p:cNvPr id="8" name="Text 5"/>
          <p:cNvSpPr/>
          <p:nvPr/>
        </p:nvSpPr>
        <p:spPr>
          <a:xfrm>
            <a:off x="3166110" y="2148840"/>
            <a:ext cx="411480" cy="457200"/>
          </a:xfrm>
          <a:prstGeom prst="rect">
            <a:avLst/>
          </a:prstGeom>
          <a:noFill/>
          <a:ln/>
        </p:spPr>
        <p:txBody>
          <a:bodyPr wrap="square" lIns="0" tIns="0" rIns="0" bIns="0" rtlCol="0" anchor="ctr"/>
          <a:lstStyle/>
          <a:p>
            <a:pPr algn="ctr" indent="0" marL="0">
              <a:buNone/>
            </a:pPr>
            <a:r>
              <a:rPr lang="en-US" sz="1800" dirty="0">
                <a:solidFill>
                  <a:srgbClr val="8C3A38"/>
                </a:solidFill>
                <a:latin typeface="Arial" pitchFamily="34" charset="0"/>
                <a:ea typeface="Arial" pitchFamily="34" charset="-122"/>
                <a:cs typeface="Arial" pitchFamily="34" charset="-120"/>
              </a:rPr>
              <a:t>✂</a:t>
            </a:r>
            <a:endParaRPr lang="en-US" sz="1800" dirty="0"/>
          </a:p>
        </p:txBody>
      </p:sp>
      <p:sp>
        <p:nvSpPr>
          <p:cNvPr id="9" name="Shape 6"/>
          <p:cNvSpPr/>
          <p:nvPr/>
        </p:nvSpPr>
        <p:spPr>
          <a:xfrm>
            <a:off x="3550158" y="1554480"/>
            <a:ext cx="2361438" cy="1645920"/>
          </a:xfrm>
          <a:prstGeom prst="rect">
            <a:avLst/>
          </a:prstGeom>
          <a:solidFill>
            <a:srgbClr val="FAF8F1"/>
          </a:solidFill>
          <a:ln w="9525">
            <a:solidFill>
              <a:srgbClr val="D9D4C4"/>
            </a:solidFill>
            <a:prstDash val="solid"/>
          </a:ln>
        </p:spPr>
      </p:sp>
      <p:pic>
        <p:nvPicPr>
          <p:cNvPr id="10" name="Image 1" descr="/Users/dogan/Documents/Vaults/Courses/wiki/classes/media-studies/decks/_build/img/toystory-remote-ecu.jpg">    </p:cNvPr>
          <p:cNvPicPr>
            <a:picLocks noChangeAspect="1"/>
          </p:cNvPicPr>
          <p:nvPr/>
        </p:nvPicPr>
        <p:blipFill>
          <a:blip r:embed="rId2"/>
          <a:stretch>
            <a:fillRect/>
          </a:stretch>
        </p:blipFill>
        <p:spPr>
          <a:xfrm>
            <a:off x="3623310" y="1661675"/>
            <a:ext cx="2215134" cy="1431530"/>
          </a:xfrm>
          <a:prstGeom prst="rect">
            <a:avLst/>
          </a:prstGeom>
        </p:spPr>
      </p:pic>
      <p:sp>
        <p:nvSpPr>
          <p:cNvPr id="11" name="Text 7"/>
          <p:cNvSpPr/>
          <p:nvPr/>
        </p:nvSpPr>
        <p:spPr>
          <a:xfrm>
            <a:off x="5893308" y="2148840"/>
            <a:ext cx="411480" cy="457200"/>
          </a:xfrm>
          <a:prstGeom prst="rect">
            <a:avLst/>
          </a:prstGeom>
          <a:noFill/>
          <a:ln/>
        </p:spPr>
        <p:txBody>
          <a:bodyPr wrap="square" lIns="0" tIns="0" rIns="0" bIns="0" rtlCol="0" anchor="ctr"/>
          <a:lstStyle/>
          <a:p>
            <a:pPr algn="ctr" indent="0" marL="0">
              <a:buNone/>
            </a:pPr>
            <a:r>
              <a:rPr lang="en-US" sz="1800" dirty="0">
                <a:solidFill>
                  <a:srgbClr val="8C3A38"/>
                </a:solidFill>
                <a:latin typeface="Arial" pitchFamily="34" charset="0"/>
                <a:ea typeface="Arial" pitchFamily="34" charset="-122"/>
                <a:cs typeface="Arial" pitchFamily="34" charset="-120"/>
              </a:rPr>
              <a:t>✂</a:t>
            </a:r>
            <a:endParaRPr lang="en-US" sz="1800" dirty="0"/>
          </a:p>
        </p:txBody>
      </p:sp>
      <p:sp>
        <p:nvSpPr>
          <p:cNvPr id="12" name="Shape 8"/>
          <p:cNvSpPr/>
          <p:nvPr/>
        </p:nvSpPr>
        <p:spPr>
          <a:xfrm>
            <a:off x="6277356" y="1554480"/>
            <a:ext cx="2361438" cy="1645920"/>
          </a:xfrm>
          <a:prstGeom prst="rect">
            <a:avLst/>
          </a:prstGeom>
          <a:solidFill>
            <a:srgbClr val="FAF8F1"/>
          </a:solidFill>
          <a:ln w="9525">
            <a:solidFill>
              <a:srgbClr val="D9D4C4"/>
            </a:solidFill>
            <a:prstDash val="solid"/>
          </a:ln>
        </p:spPr>
      </p:sp>
      <p:pic>
        <p:nvPicPr>
          <p:cNvPr id="13" name="Image 2" descr="/Users/dogan/Documents/Vaults/Courses/wiki/classes/media-studies/decks/_build/img/toystory-buzz-out.jpg">    </p:cNvPr>
          <p:cNvPicPr>
            <a:picLocks noChangeAspect="1"/>
          </p:cNvPicPr>
          <p:nvPr/>
        </p:nvPicPr>
        <p:blipFill>
          <a:blip r:embed="rId3"/>
          <a:stretch>
            <a:fillRect/>
          </a:stretch>
        </p:blipFill>
        <p:spPr>
          <a:xfrm>
            <a:off x="6350508" y="1661675"/>
            <a:ext cx="2215134" cy="1431530"/>
          </a:xfrm>
          <a:prstGeom prst="rect">
            <a:avLst/>
          </a:prstGeom>
        </p:spPr>
      </p:pic>
      <p:sp>
        <p:nvSpPr>
          <p:cNvPr id="14" name="Text 9"/>
          <p:cNvSpPr/>
          <p:nvPr/>
        </p:nvSpPr>
        <p:spPr>
          <a:xfrm>
            <a:off x="8620506" y="2148840"/>
            <a:ext cx="411480" cy="457200"/>
          </a:xfrm>
          <a:prstGeom prst="rect">
            <a:avLst/>
          </a:prstGeom>
          <a:noFill/>
          <a:ln/>
        </p:spPr>
        <p:txBody>
          <a:bodyPr wrap="square" lIns="0" tIns="0" rIns="0" bIns="0" rtlCol="0" anchor="ctr"/>
          <a:lstStyle/>
          <a:p>
            <a:pPr algn="ctr" indent="0" marL="0">
              <a:buNone/>
            </a:pPr>
            <a:r>
              <a:rPr lang="en-US" sz="1800" dirty="0">
                <a:solidFill>
                  <a:srgbClr val="8C3A38"/>
                </a:solidFill>
                <a:latin typeface="Arial" pitchFamily="34" charset="0"/>
                <a:ea typeface="Arial" pitchFamily="34" charset="-122"/>
                <a:cs typeface="Arial" pitchFamily="34" charset="-120"/>
              </a:rPr>
              <a:t>✂</a:t>
            </a:r>
            <a:endParaRPr lang="en-US" sz="1800" dirty="0"/>
          </a:p>
        </p:txBody>
      </p:sp>
      <p:sp>
        <p:nvSpPr>
          <p:cNvPr id="15" name="Shape 10"/>
          <p:cNvSpPr/>
          <p:nvPr/>
        </p:nvSpPr>
        <p:spPr>
          <a:xfrm>
            <a:off x="9004554" y="1554480"/>
            <a:ext cx="2361438" cy="1645920"/>
          </a:xfrm>
          <a:prstGeom prst="rect">
            <a:avLst/>
          </a:prstGeom>
          <a:solidFill>
            <a:srgbClr val="FAF8F1"/>
          </a:solidFill>
          <a:ln w="9525">
            <a:solidFill>
              <a:srgbClr val="D9D4C4"/>
            </a:solidFill>
            <a:prstDash val="solid"/>
          </a:ln>
        </p:spPr>
      </p:sp>
      <p:pic>
        <p:nvPicPr>
          <p:cNvPr id="16" name="Image 3" descr="/Users/dogan/Documents/Vaults/Courses/wiki/classes/media-studies/decks/_build/img/toystory-woody-window.jpg">    </p:cNvPr>
          <p:cNvPicPr>
            <a:picLocks noChangeAspect="1"/>
          </p:cNvPicPr>
          <p:nvPr/>
        </p:nvPicPr>
        <p:blipFill>
          <a:blip r:embed="rId4"/>
          <a:stretch>
            <a:fillRect/>
          </a:stretch>
        </p:blipFill>
        <p:spPr>
          <a:xfrm>
            <a:off x="9077706" y="1661675"/>
            <a:ext cx="2215134" cy="1431530"/>
          </a:xfrm>
          <a:prstGeom prst="rect">
            <a:avLst/>
          </a:prstGeom>
        </p:spPr>
      </p:pic>
      <p:sp>
        <p:nvSpPr>
          <p:cNvPr id="17" name="Text 11"/>
          <p:cNvSpPr/>
          <p:nvPr/>
        </p:nvSpPr>
        <p:spPr>
          <a:xfrm>
            <a:off x="822960" y="3246120"/>
            <a:ext cx="10543032" cy="320040"/>
          </a:xfrm>
          <a:prstGeom prst="rect">
            <a:avLst/>
          </a:prstGeom>
          <a:noFill/>
          <a:ln/>
        </p:spPr>
        <p:txBody>
          <a:bodyPr wrap="square" lIns="0" tIns="0" rIns="0" bIns="0" rtlCol="0" anchor="ctr"/>
          <a:lstStyle/>
          <a:p>
            <a:pPr algn="ctr" indent="0" marL="0">
              <a:buNone/>
            </a:pPr>
            <a:r>
              <a:rPr lang="en-US" sz="1100" dirty="0">
                <a:solidFill>
                  <a:srgbClr val="7A7F72"/>
                </a:solidFill>
                <a:latin typeface="Arial" pitchFamily="34" charset="0"/>
                <a:ea typeface="Arial" pitchFamily="34" charset="-122"/>
                <a:cs typeface="Arial" pitchFamily="34" charset="-120"/>
              </a:rPr>
              <a:t>Toy Story (1995): four shots, three cuts, a few seconds. Mid shot, insert, action, reaction: clap-clap-clap.</a:t>
            </a:r>
            <a:endParaRPr lang="en-US" sz="1100" dirty="0"/>
          </a:p>
        </p:txBody>
      </p:sp>
      <p:sp>
        <p:nvSpPr>
          <p:cNvPr id="18" name="Text 12"/>
          <p:cNvSpPr/>
          <p:nvPr/>
        </p:nvSpPr>
        <p:spPr>
          <a:xfrm>
            <a:off x="822960" y="3794760"/>
            <a:ext cx="914400" cy="411480"/>
          </a:xfrm>
          <a:prstGeom prst="rect">
            <a:avLst/>
          </a:prstGeom>
          <a:noFill/>
          <a:ln/>
        </p:spPr>
        <p:txBody>
          <a:bodyPr wrap="square" lIns="0" tIns="0" rIns="0" bIns="0" rtlCol="0" anchor="ctr"/>
          <a:lstStyle/>
          <a:p>
            <a:pPr indent="0" marL="0">
              <a:buNone/>
            </a:pPr>
            <a:r>
              <a:rPr lang="en-US" sz="2400" dirty="0">
                <a:solidFill>
                  <a:srgbClr val="A3C1AD"/>
                </a:solidFill>
                <a:latin typeface="Georgia" pitchFamily="34" charset="0"/>
                <a:ea typeface="Georgia" pitchFamily="34" charset="-122"/>
                <a:cs typeface="Georgia" pitchFamily="34" charset="-120"/>
              </a:rPr>
              <a:t>01</a:t>
            </a:r>
            <a:endParaRPr lang="en-US" sz="2400" dirty="0"/>
          </a:p>
        </p:txBody>
      </p:sp>
      <p:sp>
        <p:nvSpPr>
          <p:cNvPr id="19" name="Text 13"/>
          <p:cNvSpPr/>
          <p:nvPr/>
        </p:nvSpPr>
        <p:spPr>
          <a:xfrm>
            <a:off x="822960" y="4206240"/>
            <a:ext cx="3209544" cy="731520"/>
          </a:xfrm>
          <a:prstGeom prst="rect">
            <a:avLst/>
          </a:prstGeom>
          <a:noFill/>
          <a:ln/>
        </p:spPr>
        <p:txBody>
          <a:bodyPr wrap="square" lIns="0" tIns="0" rIns="0" bIns="0" rtlCol="0" anchor="t"/>
          <a:lstStyle/>
          <a:p>
            <a:pPr indent="0" marL="0">
              <a:lnSpc>
                <a:spcPts val="2200"/>
              </a:lnSpc>
              <a:buNone/>
            </a:pPr>
            <a:r>
              <a:rPr lang="en-US" sz="1800" dirty="0">
                <a:solidFill>
                  <a:srgbClr val="4A6B5D"/>
                </a:solidFill>
                <a:latin typeface="Georgia" pitchFamily="34" charset="0"/>
                <a:ea typeface="Georgia" pitchFamily="34" charset="-122"/>
                <a:cs typeface="Georgia" pitchFamily="34" charset="-120"/>
              </a:rPr>
              <a:t>How many claps?</a:t>
            </a:r>
            <a:endParaRPr lang="en-US" sz="1800" dirty="0"/>
          </a:p>
        </p:txBody>
      </p:sp>
      <p:sp>
        <p:nvSpPr>
          <p:cNvPr id="20" name="Shape 14"/>
          <p:cNvSpPr/>
          <p:nvPr/>
        </p:nvSpPr>
        <p:spPr>
          <a:xfrm>
            <a:off x="822960" y="4983480"/>
            <a:ext cx="3209544" cy="0"/>
          </a:xfrm>
          <a:prstGeom prst="line">
            <a:avLst/>
          </a:prstGeom>
          <a:noFill/>
          <a:ln w="9525">
            <a:solidFill>
              <a:srgbClr val="D9D4C4"/>
            </a:solidFill>
            <a:prstDash val="solid"/>
          </a:ln>
        </p:spPr>
      </p:sp>
      <p:sp>
        <p:nvSpPr>
          <p:cNvPr id="21" name="Text 15"/>
          <p:cNvSpPr/>
          <p:nvPr/>
        </p:nvSpPr>
        <p:spPr>
          <a:xfrm>
            <a:off x="822960" y="5102352"/>
            <a:ext cx="3209544" cy="914400"/>
          </a:xfrm>
          <a:prstGeom prst="rect">
            <a:avLst/>
          </a:prstGeom>
          <a:noFill/>
          <a:ln/>
        </p:spPr>
        <p:txBody>
          <a:bodyPr wrap="square" lIns="0" tIns="0" rIns="0" bIns="0" rtlCol="0" anchor="t"/>
          <a:lstStyle/>
          <a:p>
            <a:pPr indent="0" marL="0">
              <a:lnSpc>
                <a:spcPts val="1800"/>
              </a:lnSpc>
              <a:buNone/>
            </a:pPr>
            <a:r>
              <a:rPr lang="en-US" sz="1350" dirty="0">
                <a:solidFill>
                  <a:srgbClr val="24313F"/>
                </a:solidFill>
                <a:latin typeface="Georgia" pitchFamily="34" charset="0"/>
                <a:ea typeface="Georgia" pitchFamily="34" charset="-122"/>
                <a:cs typeface="Georgia" pitchFamily="34" charset="-120"/>
              </a:rPr>
              <a:t>The count is objective. Write it down first.</a:t>
            </a:r>
            <a:endParaRPr lang="en-US" sz="1350" dirty="0"/>
          </a:p>
        </p:txBody>
      </p:sp>
      <p:sp>
        <p:nvSpPr>
          <p:cNvPr id="22" name="Text 16"/>
          <p:cNvSpPr/>
          <p:nvPr/>
        </p:nvSpPr>
        <p:spPr>
          <a:xfrm>
            <a:off x="4489704" y="3794760"/>
            <a:ext cx="914400" cy="411480"/>
          </a:xfrm>
          <a:prstGeom prst="rect">
            <a:avLst/>
          </a:prstGeom>
          <a:noFill/>
          <a:ln/>
        </p:spPr>
        <p:txBody>
          <a:bodyPr wrap="square" lIns="0" tIns="0" rIns="0" bIns="0" rtlCol="0" anchor="ctr"/>
          <a:lstStyle/>
          <a:p>
            <a:pPr indent="0" marL="0">
              <a:buNone/>
            </a:pPr>
            <a:r>
              <a:rPr lang="en-US" sz="2400" dirty="0">
                <a:solidFill>
                  <a:srgbClr val="A3C1AD"/>
                </a:solidFill>
                <a:latin typeface="Georgia" pitchFamily="34" charset="0"/>
                <a:ea typeface="Georgia" pitchFamily="34" charset="-122"/>
                <a:cs typeface="Georgia" pitchFamily="34" charset="-120"/>
              </a:rPr>
              <a:t>02</a:t>
            </a:r>
            <a:endParaRPr lang="en-US" sz="2400" dirty="0"/>
          </a:p>
        </p:txBody>
      </p:sp>
      <p:sp>
        <p:nvSpPr>
          <p:cNvPr id="23" name="Text 17"/>
          <p:cNvSpPr/>
          <p:nvPr/>
        </p:nvSpPr>
        <p:spPr>
          <a:xfrm>
            <a:off x="4489704" y="4206240"/>
            <a:ext cx="3209544" cy="731520"/>
          </a:xfrm>
          <a:prstGeom prst="rect">
            <a:avLst/>
          </a:prstGeom>
          <a:noFill/>
          <a:ln/>
        </p:spPr>
        <p:txBody>
          <a:bodyPr wrap="square" lIns="0" tIns="0" rIns="0" bIns="0" rtlCol="0" anchor="t"/>
          <a:lstStyle/>
          <a:p>
            <a:pPr indent="0" marL="0">
              <a:lnSpc>
                <a:spcPts val="2200"/>
              </a:lnSpc>
              <a:buNone/>
            </a:pPr>
            <a:r>
              <a:rPr lang="en-US" sz="1800" dirty="0">
                <a:solidFill>
                  <a:srgbClr val="4A6B5D"/>
                </a:solidFill>
                <a:latin typeface="Georgia" pitchFamily="34" charset="0"/>
                <a:ea typeface="Georgia" pitchFamily="34" charset="-122"/>
                <a:cs typeface="Georgia" pitchFamily="34" charset="-120"/>
              </a:rPr>
              <a:t>How did you feel?</a:t>
            </a:r>
            <a:endParaRPr lang="en-US" sz="1800" dirty="0"/>
          </a:p>
        </p:txBody>
      </p:sp>
      <p:sp>
        <p:nvSpPr>
          <p:cNvPr id="24" name="Shape 18"/>
          <p:cNvSpPr/>
          <p:nvPr/>
        </p:nvSpPr>
        <p:spPr>
          <a:xfrm>
            <a:off x="4489704" y="4983480"/>
            <a:ext cx="3209544" cy="0"/>
          </a:xfrm>
          <a:prstGeom prst="line">
            <a:avLst/>
          </a:prstGeom>
          <a:noFill/>
          <a:ln w="9525">
            <a:solidFill>
              <a:srgbClr val="D9D4C4"/>
            </a:solidFill>
            <a:prstDash val="solid"/>
          </a:ln>
        </p:spPr>
      </p:sp>
      <p:sp>
        <p:nvSpPr>
          <p:cNvPr id="25" name="Text 19"/>
          <p:cNvSpPr/>
          <p:nvPr/>
        </p:nvSpPr>
        <p:spPr>
          <a:xfrm>
            <a:off x="4489704" y="5102352"/>
            <a:ext cx="3209544" cy="914400"/>
          </a:xfrm>
          <a:prstGeom prst="rect">
            <a:avLst/>
          </a:prstGeom>
          <a:noFill/>
          <a:ln/>
        </p:spPr>
        <p:txBody>
          <a:bodyPr wrap="square" lIns="0" tIns="0" rIns="0" bIns="0" rtlCol="0" anchor="t"/>
          <a:lstStyle/>
          <a:p>
            <a:pPr indent="0" marL="0">
              <a:lnSpc>
                <a:spcPts val="1800"/>
              </a:lnSpc>
              <a:buNone/>
            </a:pPr>
            <a:r>
              <a:rPr lang="en-US" sz="1350" dirty="0">
                <a:solidFill>
                  <a:srgbClr val="24313F"/>
                </a:solidFill>
                <a:latin typeface="Georgia" pitchFamily="34" charset="0"/>
                <a:ea typeface="Georgia" pitchFamily="34" charset="-122"/>
                <a:cs typeface="Georgia" pitchFamily="34" charset="-120"/>
              </a:rPr>
              <a:t>Restless, held, hurried, allowed to look.</a:t>
            </a:r>
            <a:endParaRPr lang="en-US" sz="1350" dirty="0"/>
          </a:p>
        </p:txBody>
      </p:sp>
      <p:sp>
        <p:nvSpPr>
          <p:cNvPr id="26" name="Text 20"/>
          <p:cNvSpPr/>
          <p:nvPr/>
        </p:nvSpPr>
        <p:spPr>
          <a:xfrm>
            <a:off x="8156448" y="3794760"/>
            <a:ext cx="914400" cy="411480"/>
          </a:xfrm>
          <a:prstGeom prst="rect">
            <a:avLst/>
          </a:prstGeom>
          <a:noFill/>
          <a:ln/>
        </p:spPr>
        <p:txBody>
          <a:bodyPr wrap="square" lIns="0" tIns="0" rIns="0" bIns="0" rtlCol="0" anchor="ctr"/>
          <a:lstStyle/>
          <a:p>
            <a:pPr indent="0" marL="0">
              <a:buNone/>
            </a:pPr>
            <a:r>
              <a:rPr lang="en-US" sz="2400" dirty="0">
                <a:solidFill>
                  <a:srgbClr val="A3C1AD"/>
                </a:solidFill>
                <a:latin typeface="Georgia" pitchFamily="34" charset="0"/>
                <a:ea typeface="Georgia" pitchFamily="34" charset="-122"/>
                <a:cs typeface="Georgia" pitchFamily="34" charset="-120"/>
              </a:rPr>
              <a:t>03</a:t>
            </a:r>
            <a:endParaRPr lang="en-US" sz="2400" dirty="0"/>
          </a:p>
        </p:txBody>
      </p:sp>
      <p:sp>
        <p:nvSpPr>
          <p:cNvPr id="27" name="Text 21"/>
          <p:cNvSpPr/>
          <p:nvPr/>
        </p:nvSpPr>
        <p:spPr>
          <a:xfrm>
            <a:off x="8156448" y="4206240"/>
            <a:ext cx="3209544" cy="731520"/>
          </a:xfrm>
          <a:prstGeom prst="rect">
            <a:avLst/>
          </a:prstGeom>
          <a:noFill/>
          <a:ln/>
        </p:spPr>
        <p:txBody>
          <a:bodyPr wrap="square" lIns="0" tIns="0" rIns="0" bIns="0" rtlCol="0" anchor="t"/>
          <a:lstStyle/>
          <a:p>
            <a:pPr indent="0" marL="0">
              <a:lnSpc>
                <a:spcPts val="2200"/>
              </a:lnSpc>
              <a:buNone/>
            </a:pPr>
            <a:r>
              <a:rPr lang="en-US" sz="1800" dirty="0">
                <a:solidFill>
                  <a:srgbClr val="4A6B5D"/>
                </a:solidFill>
                <a:latin typeface="Georgia" pitchFamily="34" charset="0"/>
                <a:ea typeface="Georgia" pitchFamily="34" charset="-122"/>
                <a:cs typeface="Georgia" pitchFamily="34" charset="-120"/>
              </a:rPr>
              <a:t>What was the editor doing to you?</a:t>
            </a:r>
            <a:endParaRPr lang="en-US" sz="1800" dirty="0"/>
          </a:p>
        </p:txBody>
      </p:sp>
      <p:sp>
        <p:nvSpPr>
          <p:cNvPr id="28" name="Shape 22"/>
          <p:cNvSpPr/>
          <p:nvPr/>
        </p:nvSpPr>
        <p:spPr>
          <a:xfrm>
            <a:off x="8156448" y="4983480"/>
            <a:ext cx="3209544" cy="0"/>
          </a:xfrm>
          <a:prstGeom prst="line">
            <a:avLst/>
          </a:prstGeom>
          <a:noFill/>
          <a:ln w="9525">
            <a:solidFill>
              <a:srgbClr val="D9D4C4"/>
            </a:solidFill>
            <a:prstDash val="solid"/>
          </a:ln>
        </p:spPr>
      </p:sp>
      <p:sp>
        <p:nvSpPr>
          <p:cNvPr id="29" name="Text 23"/>
          <p:cNvSpPr/>
          <p:nvPr/>
        </p:nvSpPr>
        <p:spPr>
          <a:xfrm>
            <a:off x="8156448" y="5102352"/>
            <a:ext cx="3209544" cy="914400"/>
          </a:xfrm>
          <a:prstGeom prst="rect">
            <a:avLst/>
          </a:prstGeom>
          <a:noFill/>
          <a:ln/>
        </p:spPr>
        <p:txBody>
          <a:bodyPr wrap="square" lIns="0" tIns="0" rIns="0" bIns="0" rtlCol="0" anchor="t"/>
          <a:lstStyle/>
          <a:p>
            <a:pPr indent="0" marL="0">
              <a:lnSpc>
                <a:spcPts val="1800"/>
              </a:lnSpc>
              <a:buNone/>
            </a:pPr>
            <a:r>
              <a:rPr lang="en-US" sz="1350" dirty="0">
                <a:solidFill>
                  <a:srgbClr val="24313F"/>
                </a:solidFill>
                <a:latin typeface="Georgia" pitchFamily="34" charset="0"/>
                <a:ea typeface="Georgia" pitchFamily="34" charset="-122"/>
                <a:cs typeface="Georgia" pitchFamily="34" charset="-120"/>
              </a:rPr>
              <a:t>Not the scene's subject: the cutting rate's work on your attention.</a:t>
            </a:r>
            <a:endParaRPr lang="en-US" sz="1350" dirty="0"/>
          </a:p>
        </p:txBody>
      </p:sp>
      <p:sp>
        <p:nvSpPr>
          <p:cNvPr id="30" name="Shape 24"/>
          <p:cNvSpPr/>
          <p:nvPr/>
        </p:nvSpPr>
        <p:spPr>
          <a:xfrm>
            <a:off x="822960" y="6382512"/>
            <a:ext cx="10543032" cy="0"/>
          </a:xfrm>
          <a:prstGeom prst="line">
            <a:avLst/>
          </a:prstGeom>
          <a:noFill/>
          <a:ln w="9525">
            <a:solidFill>
              <a:srgbClr val="D9D4C4"/>
            </a:solidFill>
            <a:prstDash val="solid"/>
          </a:ln>
        </p:spPr>
      </p:sp>
      <p:sp>
        <p:nvSpPr>
          <p:cNvPr id="31" name="Text 2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2" name="Text 2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37360"/>
            <a:ext cx="10424160" cy="3291840"/>
          </a:xfrm>
          <a:prstGeom prst="rect">
            <a:avLst/>
          </a:prstGeom>
          <a:noFill/>
          <a:ln/>
        </p:spPr>
        <p:txBody>
          <a:bodyPr wrap="square" lIns="0" tIns="0" rIns="0" bIns="0" rtlCol="0" anchor="ctr"/>
          <a:lstStyle/>
          <a:p>
            <a:pPr indent="0" marL="0">
              <a:lnSpc>
                <a:spcPts val="3600"/>
              </a:lnSpc>
              <a:buNone/>
            </a:pPr>
            <a:r>
              <a:rPr lang="en-US" sz="2600" dirty="0">
                <a:solidFill>
                  <a:srgbClr val="24313F"/>
                </a:solidFill>
                <a:latin typeface="Georgia" pitchFamily="34" charset="0"/>
                <a:ea typeface="Georgia" pitchFamily="34" charset="-122"/>
                <a:cs typeface="Georgia" pitchFamily="34" charset="-120"/>
              </a:rPr>
              <a:t>Editing short sequences, just two or three shots to begin with: someone looking off-screen followed by the object they are looking at; shot / reverse shot for a conversation between two people (which is also an opportunity to highlight the 180-degree rule).</a:t>
            </a:r>
            <a:endParaRPr lang="en-US" sz="26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Cambridge Scheme of Work, Foundation Portfolio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CONTINUITY SYSTEM</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AN INVISIBLE GRAMMAR, EACH ITEM ON A FRAME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051560"/>
            <a:ext cx="3270504" cy="169164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adolescence-father-ots.jpg">    </p:cNvPr>
          <p:cNvPicPr>
            <a:picLocks noChangeAspect="1"/>
          </p:cNvPicPr>
          <p:nvPr/>
        </p:nvPicPr>
        <p:blipFill>
          <a:blip r:embed="rId1"/>
          <a:stretch>
            <a:fillRect/>
          </a:stretch>
        </p:blipFill>
        <p:spPr>
          <a:xfrm>
            <a:off x="913659" y="1124712"/>
            <a:ext cx="3089106" cy="1545336"/>
          </a:xfrm>
          <a:prstGeom prst="rect">
            <a:avLst/>
          </a:prstGeom>
        </p:spPr>
      </p:pic>
      <p:sp>
        <p:nvSpPr>
          <p:cNvPr id="7" name="Text 4"/>
          <p:cNvSpPr/>
          <p:nvPr/>
        </p:nvSpPr>
        <p:spPr>
          <a:xfrm>
            <a:off x="822960" y="2788920"/>
            <a:ext cx="3270504" cy="310896"/>
          </a:xfrm>
          <a:prstGeom prst="rect">
            <a:avLst/>
          </a:prstGeom>
          <a:noFill/>
          <a:ln/>
        </p:spPr>
        <p:txBody>
          <a:bodyPr wrap="square" lIns="0" tIns="0" rIns="0" bIns="0" rtlCol="0" anchor="ctr"/>
          <a:lstStyle/>
          <a:p>
            <a:pPr indent="0" marL="0">
              <a:buNone/>
            </a:pPr>
            <a:r>
              <a:rPr lang="en-US" sz="1550" dirty="0">
                <a:solidFill>
                  <a:srgbClr val="4A6B5D"/>
                </a:solidFill>
                <a:latin typeface="Georgia" pitchFamily="34" charset="0"/>
                <a:ea typeface="Georgia" pitchFamily="34" charset="-122"/>
                <a:cs typeface="Georgia" pitchFamily="34" charset="-120"/>
              </a:rPr>
              <a:t>Shot / reverse shot</a:t>
            </a:r>
            <a:endParaRPr lang="en-US" sz="1550" dirty="0"/>
          </a:p>
        </p:txBody>
      </p:sp>
      <p:sp>
        <p:nvSpPr>
          <p:cNvPr id="8" name="Text 5"/>
          <p:cNvSpPr/>
          <p:nvPr/>
        </p:nvSpPr>
        <p:spPr>
          <a:xfrm>
            <a:off x="822960" y="3099816"/>
            <a:ext cx="3270504" cy="457200"/>
          </a:xfrm>
          <a:prstGeom prst="rect">
            <a:avLst/>
          </a:prstGeom>
          <a:noFill/>
          <a:ln/>
        </p:spPr>
        <p:txBody>
          <a:bodyPr wrap="square" lIns="0" tIns="0" rIns="0" bIns="0" rtlCol="0" anchor="t"/>
          <a:lstStyle/>
          <a:p>
            <a:pPr indent="0" marL="0">
              <a:lnSpc>
                <a:spcPts val="1300"/>
              </a:lnSpc>
              <a:buNone/>
            </a:pPr>
            <a:r>
              <a:rPr lang="en-US" sz="1050" i="1" dirty="0">
                <a:solidFill>
                  <a:srgbClr val="7A7F72"/>
                </a:solidFill>
                <a:latin typeface="Arial" pitchFamily="34" charset="0"/>
                <a:ea typeface="Arial" pitchFamily="34" charset="-122"/>
                <a:cs typeface="Arial" pitchFamily="34" charset="-120"/>
              </a:rPr>
              <a:t>two angles that never share a frame</a:t>
            </a:r>
            <a:endParaRPr lang="en-US" sz="1050" dirty="0"/>
          </a:p>
        </p:txBody>
      </p:sp>
      <p:sp>
        <p:nvSpPr>
          <p:cNvPr id="9" name="Shape 6"/>
          <p:cNvSpPr/>
          <p:nvPr/>
        </p:nvSpPr>
        <p:spPr>
          <a:xfrm>
            <a:off x="4459224" y="1051560"/>
            <a:ext cx="3270504" cy="1691640"/>
          </a:xfrm>
          <a:prstGeom prst="rect">
            <a:avLst/>
          </a:prstGeom>
          <a:solidFill>
            <a:srgbClr val="FAF8F1"/>
          </a:solidFill>
          <a:ln w="9525">
            <a:solidFill>
              <a:srgbClr val="D9D4C4"/>
            </a:solidFill>
            <a:prstDash val="solid"/>
          </a:ln>
        </p:spPr>
      </p:sp>
      <p:pic>
        <p:nvPicPr>
          <p:cNvPr id="10" name="Image 1" descr="/Users/dogan/Documents/Vaults/Courses/wiki/classes/media-studies/decks/_build/img/toystory-woody-window.jpg">    </p:cNvPr>
          <p:cNvPicPr>
            <a:picLocks noChangeAspect="1"/>
          </p:cNvPicPr>
          <p:nvPr/>
        </p:nvPicPr>
        <p:blipFill>
          <a:blip r:embed="rId2"/>
          <a:stretch>
            <a:fillRect/>
          </a:stretch>
        </p:blipFill>
        <p:spPr>
          <a:xfrm>
            <a:off x="4898858" y="1124712"/>
            <a:ext cx="2391236" cy="1545336"/>
          </a:xfrm>
          <a:prstGeom prst="rect">
            <a:avLst/>
          </a:prstGeom>
        </p:spPr>
      </p:pic>
      <p:sp>
        <p:nvSpPr>
          <p:cNvPr id="11" name="Text 7"/>
          <p:cNvSpPr/>
          <p:nvPr/>
        </p:nvSpPr>
        <p:spPr>
          <a:xfrm>
            <a:off x="4459224" y="2788920"/>
            <a:ext cx="3270504" cy="310896"/>
          </a:xfrm>
          <a:prstGeom prst="rect">
            <a:avLst/>
          </a:prstGeom>
          <a:noFill/>
          <a:ln/>
        </p:spPr>
        <p:txBody>
          <a:bodyPr wrap="square" lIns="0" tIns="0" rIns="0" bIns="0" rtlCol="0" anchor="ctr"/>
          <a:lstStyle/>
          <a:p>
            <a:pPr indent="0" marL="0">
              <a:buNone/>
            </a:pPr>
            <a:r>
              <a:rPr lang="en-US" sz="1550" dirty="0">
                <a:solidFill>
                  <a:srgbClr val="4A6B5D"/>
                </a:solidFill>
                <a:latin typeface="Georgia" pitchFamily="34" charset="0"/>
                <a:ea typeface="Georgia" pitchFamily="34" charset="-122"/>
                <a:cs typeface="Georgia" pitchFamily="34" charset="-120"/>
              </a:rPr>
              <a:t>Eyeline match</a:t>
            </a:r>
            <a:endParaRPr lang="en-US" sz="1550" dirty="0"/>
          </a:p>
        </p:txBody>
      </p:sp>
      <p:sp>
        <p:nvSpPr>
          <p:cNvPr id="12" name="Text 8"/>
          <p:cNvSpPr/>
          <p:nvPr/>
        </p:nvSpPr>
        <p:spPr>
          <a:xfrm>
            <a:off x="4459224" y="3099816"/>
            <a:ext cx="3270504" cy="457200"/>
          </a:xfrm>
          <a:prstGeom prst="rect">
            <a:avLst/>
          </a:prstGeom>
          <a:noFill/>
          <a:ln/>
        </p:spPr>
        <p:txBody>
          <a:bodyPr wrap="square" lIns="0" tIns="0" rIns="0" bIns="0" rtlCol="0" anchor="t"/>
          <a:lstStyle/>
          <a:p>
            <a:pPr indent="0" marL="0">
              <a:lnSpc>
                <a:spcPts val="1300"/>
              </a:lnSpc>
              <a:buNone/>
            </a:pPr>
            <a:r>
              <a:rPr lang="en-US" sz="1050" i="1" dirty="0">
                <a:solidFill>
                  <a:srgbClr val="7A7F72"/>
                </a:solidFill>
                <a:latin typeface="Arial" pitchFamily="34" charset="0"/>
                <a:ea typeface="Arial" pitchFamily="34" charset="-122"/>
                <a:cs typeface="Arial" pitchFamily="34" charset="-120"/>
              </a:rPr>
              <a:t>he looks down; the next shot is what he sees</a:t>
            </a:r>
            <a:endParaRPr lang="en-US" sz="1050" dirty="0"/>
          </a:p>
        </p:txBody>
      </p:sp>
      <p:sp>
        <p:nvSpPr>
          <p:cNvPr id="13" name="Shape 9"/>
          <p:cNvSpPr/>
          <p:nvPr/>
        </p:nvSpPr>
        <p:spPr>
          <a:xfrm>
            <a:off x="8095488" y="1051560"/>
            <a:ext cx="3270504" cy="1691640"/>
          </a:xfrm>
          <a:prstGeom prst="rect">
            <a:avLst/>
          </a:prstGeom>
          <a:solidFill>
            <a:srgbClr val="FAF8F1"/>
          </a:solidFill>
          <a:ln w="9525">
            <a:solidFill>
              <a:srgbClr val="D9D4C4"/>
            </a:solidFill>
            <a:prstDash val="solid"/>
          </a:ln>
        </p:spPr>
      </p:sp>
      <p:pic>
        <p:nvPicPr>
          <p:cNvPr id="14" name="Image 2" descr="/Users/dogan/Documents/Vaults/Courses/wiki/classes/media-studies/decks/_build/img/toystory-remote-ecu.jpg">    </p:cNvPr>
          <p:cNvPicPr>
            <a:picLocks noChangeAspect="1"/>
          </p:cNvPicPr>
          <p:nvPr/>
        </p:nvPicPr>
        <p:blipFill>
          <a:blip r:embed="rId3"/>
          <a:stretch>
            <a:fillRect/>
          </a:stretch>
        </p:blipFill>
        <p:spPr>
          <a:xfrm>
            <a:off x="8535122" y="1124712"/>
            <a:ext cx="2391236" cy="1545336"/>
          </a:xfrm>
          <a:prstGeom prst="rect">
            <a:avLst/>
          </a:prstGeom>
        </p:spPr>
      </p:pic>
      <p:sp>
        <p:nvSpPr>
          <p:cNvPr id="15" name="Text 10"/>
          <p:cNvSpPr/>
          <p:nvPr/>
        </p:nvSpPr>
        <p:spPr>
          <a:xfrm>
            <a:off x="8095488" y="2788920"/>
            <a:ext cx="3270504" cy="310896"/>
          </a:xfrm>
          <a:prstGeom prst="rect">
            <a:avLst/>
          </a:prstGeom>
          <a:noFill/>
          <a:ln/>
        </p:spPr>
        <p:txBody>
          <a:bodyPr wrap="square" lIns="0" tIns="0" rIns="0" bIns="0" rtlCol="0" anchor="ctr"/>
          <a:lstStyle/>
          <a:p>
            <a:pPr indent="0" marL="0">
              <a:buNone/>
            </a:pPr>
            <a:r>
              <a:rPr lang="en-US" sz="1550" dirty="0">
                <a:solidFill>
                  <a:srgbClr val="4A6B5D"/>
                </a:solidFill>
                <a:latin typeface="Georgia" pitchFamily="34" charset="0"/>
                <a:ea typeface="Georgia" pitchFamily="34" charset="-122"/>
                <a:cs typeface="Georgia" pitchFamily="34" charset="-120"/>
              </a:rPr>
              <a:t>Cutaway and insert</a:t>
            </a:r>
            <a:endParaRPr lang="en-US" sz="1550" dirty="0"/>
          </a:p>
        </p:txBody>
      </p:sp>
      <p:sp>
        <p:nvSpPr>
          <p:cNvPr id="16" name="Text 11"/>
          <p:cNvSpPr/>
          <p:nvPr/>
        </p:nvSpPr>
        <p:spPr>
          <a:xfrm>
            <a:off x="8095488" y="3099816"/>
            <a:ext cx="3270504" cy="457200"/>
          </a:xfrm>
          <a:prstGeom prst="rect">
            <a:avLst/>
          </a:prstGeom>
          <a:noFill/>
          <a:ln/>
        </p:spPr>
        <p:txBody>
          <a:bodyPr wrap="square" lIns="0" tIns="0" rIns="0" bIns="0" rtlCol="0" anchor="t"/>
          <a:lstStyle/>
          <a:p>
            <a:pPr indent="0" marL="0">
              <a:lnSpc>
                <a:spcPts val="1300"/>
              </a:lnSpc>
              <a:buNone/>
            </a:pPr>
            <a:r>
              <a:rPr lang="en-US" sz="1050" i="1" dirty="0">
                <a:solidFill>
                  <a:srgbClr val="7A7F72"/>
                </a:solidFill>
                <a:latin typeface="Arial" pitchFamily="34" charset="0"/>
                <a:ea typeface="Arial" pitchFamily="34" charset="-122"/>
                <a:cs typeface="Arial" pitchFamily="34" charset="-120"/>
              </a:rPr>
              <a:t>a detail that buys time and hides a join</a:t>
            </a:r>
            <a:endParaRPr lang="en-US" sz="1050" dirty="0"/>
          </a:p>
        </p:txBody>
      </p:sp>
      <p:sp>
        <p:nvSpPr>
          <p:cNvPr id="17" name="Shape 12"/>
          <p:cNvSpPr/>
          <p:nvPr/>
        </p:nvSpPr>
        <p:spPr>
          <a:xfrm>
            <a:off x="822960" y="3657600"/>
            <a:ext cx="3270504" cy="1691640"/>
          </a:xfrm>
          <a:prstGeom prst="rect">
            <a:avLst/>
          </a:prstGeom>
          <a:solidFill>
            <a:srgbClr val="FAF8F1"/>
          </a:solidFill>
          <a:ln w="9525">
            <a:solidFill>
              <a:srgbClr val="D9D4C4"/>
            </a:solidFill>
            <a:prstDash val="solid"/>
          </a:ln>
        </p:spPr>
      </p:sp>
      <p:sp>
        <p:nvSpPr>
          <p:cNvPr id="18" name="Shape 13"/>
          <p:cNvSpPr/>
          <p:nvPr/>
        </p:nvSpPr>
        <p:spPr>
          <a:xfrm>
            <a:off x="1874520" y="3913632"/>
            <a:ext cx="365760" cy="365760"/>
          </a:xfrm>
          <a:prstGeom prst="ellipse">
            <a:avLst/>
          </a:prstGeom>
          <a:solidFill>
            <a:srgbClr val="4A6B5D"/>
          </a:solidFill>
          <a:ln/>
        </p:spPr>
      </p:sp>
      <p:sp>
        <p:nvSpPr>
          <p:cNvPr id="19" name="Shape 14"/>
          <p:cNvSpPr/>
          <p:nvPr/>
        </p:nvSpPr>
        <p:spPr>
          <a:xfrm>
            <a:off x="2676144" y="3913632"/>
            <a:ext cx="365760" cy="365760"/>
          </a:xfrm>
          <a:prstGeom prst="ellipse">
            <a:avLst/>
          </a:prstGeom>
          <a:solidFill>
            <a:srgbClr val="5C7A6B"/>
          </a:solidFill>
          <a:ln/>
        </p:spPr>
      </p:sp>
      <p:sp>
        <p:nvSpPr>
          <p:cNvPr id="20" name="Shape 15"/>
          <p:cNvSpPr/>
          <p:nvPr/>
        </p:nvSpPr>
        <p:spPr>
          <a:xfrm>
            <a:off x="1143000" y="4096512"/>
            <a:ext cx="2630424" cy="0"/>
          </a:xfrm>
          <a:prstGeom prst="line">
            <a:avLst/>
          </a:prstGeom>
          <a:noFill/>
          <a:ln w="19050">
            <a:solidFill>
              <a:srgbClr val="8C3A38"/>
            </a:solidFill>
            <a:prstDash val="dash"/>
          </a:ln>
        </p:spPr>
      </p:sp>
      <p:sp>
        <p:nvSpPr>
          <p:cNvPr id="21" name="Shape 16"/>
          <p:cNvSpPr/>
          <p:nvPr/>
        </p:nvSpPr>
        <p:spPr>
          <a:xfrm>
            <a:off x="1508760" y="4800600"/>
            <a:ext cx="457200" cy="292608"/>
          </a:xfrm>
          <a:prstGeom prst="rect">
            <a:avLst/>
          </a:prstGeom>
          <a:solidFill>
            <a:srgbClr val="24313F"/>
          </a:solidFill>
          <a:ln/>
        </p:spPr>
      </p:sp>
      <p:sp>
        <p:nvSpPr>
          <p:cNvPr id="22" name="Text 17"/>
          <p:cNvSpPr/>
          <p:nvPr/>
        </p:nvSpPr>
        <p:spPr>
          <a:xfrm>
            <a:off x="1508760" y="4800600"/>
            <a:ext cx="457200" cy="292608"/>
          </a:xfrm>
          <a:prstGeom prst="rect">
            <a:avLst/>
          </a:prstGeom>
          <a:noFill/>
          <a:ln/>
        </p:spPr>
        <p:txBody>
          <a:bodyPr wrap="square" lIns="0" tIns="0" rIns="0" bIns="0" rtlCol="0" anchor="ctr"/>
          <a:lstStyle/>
          <a:p>
            <a:pPr algn="ctr" indent="0" marL="0">
              <a:buNone/>
            </a:pPr>
            <a:r>
              <a:rPr lang="en-US" sz="1000" b="1" dirty="0">
                <a:solidFill>
                  <a:srgbClr val="FAF8F1"/>
                </a:solidFill>
                <a:latin typeface="Arial" pitchFamily="34" charset="0"/>
                <a:ea typeface="Arial" pitchFamily="34" charset="-122"/>
                <a:cs typeface="Arial" pitchFamily="34" charset="-120"/>
              </a:rPr>
              <a:t>A</a:t>
            </a:r>
            <a:endParaRPr lang="en-US" sz="1000" dirty="0"/>
          </a:p>
        </p:txBody>
      </p:sp>
      <p:sp>
        <p:nvSpPr>
          <p:cNvPr id="23" name="Shape 18"/>
          <p:cNvSpPr/>
          <p:nvPr/>
        </p:nvSpPr>
        <p:spPr>
          <a:xfrm>
            <a:off x="2950464" y="4800600"/>
            <a:ext cx="457200" cy="292608"/>
          </a:xfrm>
          <a:prstGeom prst="rect">
            <a:avLst/>
          </a:prstGeom>
          <a:solidFill>
            <a:srgbClr val="24313F"/>
          </a:solidFill>
          <a:ln/>
        </p:spPr>
      </p:sp>
      <p:sp>
        <p:nvSpPr>
          <p:cNvPr id="24" name="Text 19"/>
          <p:cNvSpPr/>
          <p:nvPr/>
        </p:nvSpPr>
        <p:spPr>
          <a:xfrm>
            <a:off x="2950464" y="4800600"/>
            <a:ext cx="457200" cy="292608"/>
          </a:xfrm>
          <a:prstGeom prst="rect">
            <a:avLst/>
          </a:prstGeom>
          <a:noFill/>
          <a:ln/>
        </p:spPr>
        <p:txBody>
          <a:bodyPr wrap="square" lIns="0" tIns="0" rIns="0" bIns="0" rtlCol="0" anchor="ctr"/>
          <a:lstStyle/>
          <a:p>
            <a:pPr algn="ctr" indent="0" marL="0">
              <a:buNone/>
            </a:pPr>
            <a:r>
              <a:rPr lang="en-US" sz="1000" b="1" dirty="0">
                <a:solidFill>
                  <a:srgbClr val="FAF8F1"/>
                </a:solidFill>
                <a:latin typeface="Arial" pitchFamily="34" charset="0"/>
                <a:ea typeface="Arial" pitchFamily="34" charset="-122"/>
                <a:cs typeface="Arial" pitchFamily="34" charset="-120"/>
              </a:rPr>
              <a:t>B</a:t>
            </a:r>
            <a:endParaRPr lang="en-US" sz="1000" dirty="0"/>
          </a:p>
        </p:txBody>
      </p:sp>
      <p:sp>
        <p:nvSpPr>
          <p:cNvPr id="25" name="Shape 20"/>
          <p:cNvSpPr/>
          <p:nvPr/>
        </p:nvSpPr>
        <p:spPr>
          <a:xfrm>
            <a:off x="2229612" y="3675888"/>
            <a:ext cx="457200" cy="292608"/>
          </a:xfrm>
          <a:prstGeom prst="rect">
            <a:avLst/>
          </a:prstGeom>
          <a:solidFill>
            <a:srgbClr val="FAF8F1"/>
          </a:solidFill>
          <a:ln w="12700">
            <a:solidFill>
              <a:srgbClr val="8C3A38"/>
            </a:solidFill>
            <a:prstDash val="solid"/>
          </a:ln>
        </p:spPr>
      </p:sp>
      <p:sp>
        <p:nvSpPr>
          <p:cNvPr id="26" name="Text 21"/>
          <p:cNvSpPr/>
          <p:nvPr/>
        </p:nvSpPr>
        <p:spPr>
          <a:xfrm>
            <a:off x="2229612" y="3675888"/>
            <a:ext cx="457200" cy="292608"/>
          </a:xfrm>
          <a:prstGeom prst="rect">
            <a:avLst/>
          </a:prstGeom>
          <a:noFill/>
          <a:ln/>
        </p:spPr>
        <p:txBody>
          <a:bodyPr wrap="square" lIns="0" tIns="0" rIns="0" bIns="0" rtlCol="0" anchor="ctr"/>
          <a:lstStyle/>
          <a:p>
            <a:pPr algn="ctr" indent="0" marL="0">
              <a:buNone/>
            </a:pPr>
            <a:r>
              <a:rPr lang="en-US" sz="1000" b="1" dirty="0">
                <a:solidFill>
                  <a:srgbClr val="8C3A38"/>
                </a:solidFill>
                <a:latin typeface="Arial" pitchFamily="34" charset="0"/>
                <a:ea typeface="Arial" pitchFamily="34" charset="-122"/>
                <a:cs typeface="Arial" pitchFamily="34" charset="-120"/>
              </a:rPr>
              <a:t>C ✕</a:t>
            </a:r>
            <a:endParaRPr lang="en-US" sz="1000" dirty="0"/>
          </a:p>
        </p:txBody>
      </p:sp>
      <p:sp>
        <p:nvSpPr>
          <p:cNvPr id="27" name="Text 22"/>
          <p:cNvSpPr/>
          <p:nvPr/>
        </p:nvSpPr>
        <p:spPr>
          <a:xfrm>
            <a:off x="822960" y="5394960"/>
            <a:ext cx="3270504" cy="310896"/>
          </a:xfrm>
          <a:prstGeom prst="rect">
            <a:avLst/>
          </a:prstGeom>
          <a:noFill/>
          <a:ln/>
        </p:spPr>
        <p:txBody>
          <a:bodyPr wrap="square" lIns="0" tIns="0" rIns="0" bIns="0" rtlCol="0" anchor="ctr"/>
          <a:lstStyle/>
          <a:p>
            <a:pPr indent="0" marL="0">
              <a:buNone/>
            </a:pPr>
            <a:r>
              <a:rPr lang="en-US" sz="1550" dirty="0">
                <a:solidFill>
                  <a:srgbClr val="4A6B5D"/>
                </a:solidFill>
                <a:latin typeface="Georgia" pitchFamily="34" charset="0"/>
                <a:ea typeface="Georgia" pitchFamily="34" charset="-122"/>
                <a:cs typeface="Georgia" pitchFamily="34" charset="-120"/>
              </a:rPr>
              <a:t>The 180-degree rule</a:t>
            </a:r>
            <a:endParaRPr lang="en-US" sz="1550" dirty="0"/>
          </a:p>
        </p:txBody>
      </p:sp>
      <p:sp>
        <p:nvSpPr>
          <p:cNvPr id="28" name="Text 23"/>
          <p:cNvSpPr/>
          <p:nvPr/>
        </p:nvSpPr>
        <p:spPr>
          <a:xfrm>
            <a:off x="822960" y="5705856"/>
            <a:ext cx="3270504" cy="457200"/>
          </a:xfrm>
          <a:prstGeom prst="rect">
            <a:avLst/>
          </a:prstGeom>
          <a:noFill/>
          <a:ln/>
        </p:spPr>
        <p:txBody>
          <a:bodyPr wrap="square" lIns="0" tIns="0" rIns="0" bIns="0" rtlCol="0" anchor="t"/>
          <a:lstStyle/>
          <a:p>
            <a:pPr indent="0" marL="0">
              <a:lnSpc>
                <a:spcPts val="1300"/>
              </a:lnSpc>
              <a:buNone/>
            </a:pPr>
            <a:r>
              <a:rPr lang="en-US" sz="1050" i="1" dirty="0">
                <a:solidFill>
                  <a:srgbClr val="7A7F72"/>
                </a:solidFill>
                <a:latin typeface="Arial" pitchFamily="34" charset="0"/>
                <a:ea typeface="Arial" pitchFamily="34" charset="-122"/>
                <a:cs typeface="Arial" pitchFamily="34" charset="-120"/>
              </a:rPr>
              <a:t>stay one side of the line and direction holds</a:t>
            </a:r>
            <a:endParaRPr lang="en-US" sz="1050" dirty="0"/>
          </a:p>
        </p:txBody>
      </p:sp>
      <p:sp>
        <p:nvSpPr>
          <p:cNvPr id="29" name="Shape 24"/>
          <p:cNvSpPr/>
          <p:nvPr/>
        </p:nvSpPr>
        <p:spPr>
          <a:xfrm>
            <a:off x="4459224" y="3657600"/>
            <a:ext cx="3270504" cy="1691640"/>
          </a:xfrm>
          <a:prstGeom prst="rect">
            <a:avLst/>
          </a:prstGeom>
          <a:solidFill>
            <a:srgbClr val="FAF8F1"/>
          </a:solidFill>
          <a:ln w="9525">
            <a:solidFill>
              <a:srgbClr val="D9D4C4"/>
            </a:solidFill>
            <a:prstDash val="solid"/>
          </a:ln>
        </p:spPr>
      </p:sp>
      <p:pic>
        <p:nvPicPr>
          <p:cNvPr id="30" name="Image 3" descr="/Users/dogan/Documents/Vaults/Courses/wiki/classes/media-studies/decks/_build/img/toystory-buzz-out.jpg">    </p:cNvPr>
          <p:cNvPicPr>
            <a:picLocks noChangeAspect="1"/>
          </p:cNvPicPr>
          <p:nvPr/>
        </p:nvPicPr>
        <p:blipFill>
          <a:blip r:embed="rId4"/>
          <a:stretch>
            <a:fillRect/>
          </a:stretch>
        </p:blipFill>
        <p:spPr>
          <a:xfrm>
            <a:off x="4898858" y="3730752"/>
            <a:ext cx="2391236" cy="1545336"/>
          </a:xfrm>
          <a:prstGeom prst="rect">
            <a:avLst/>
          </a:prstGeom>
        </p:spPr>
      </p:pic>
      <p:sp>
        <p:nvSpPr>
          <p:cNvPr id="31" name="Text 25"/>
          <p:cNvSpPr/>
          <p:nvPr/>
        </p:nvSpPr>
        <p:spPr>
          <a:xfrm>
            <a:off x="4459224" y="5394960"/>
            <a:ext cx="3270504" cy="310896"/>
          </a:xfrm>
          <a:prstGeom prst="rect">
            <a:avLst/>
          </a:prstGeom>
          <a:noFill/>
          <a:ln/>
        </p:spPr>
        <p:txBody>
          <a:bodyPr wrap="square" lIns="0" tIns="0" rIns="0" bIns="0" rtlCol="0" anchor="ctr"/>
          <a:lstStyle/>
          <a:p>
            <a:pPr indent="0" marL="0">
              <a:buNone/>
            </a:pPr>
            <a:r>
              <a:rPr lang="en-US" sz="1550" dirty="0">
                <a:solidFill>
                  <a:srgbClr val="4A6B5D"/>
                </a:solidFill>
                <a:latin typeface="Georgia" pitchFamily="34" charset="0"/>
                <a:ea typeface="Georgia" pitchFamily="34" charset="-122"/>
                <a:cs typeface="Georgia" pitchFamily="34" charset="-120"/>
              </a:rPr>
              <a:t>Match on action</a:t>
            </a:r>
            <a:endParaRPr lang="en-US" sz="1550" dirty="0"/>
          </a:p>
        </p:txBody>
      </p:sp>
      <p:sp>
        <p:nvSpPr>
          <p:cNvPr id="32" name="Text 26"/>
          <p:cNvSpPr/>
          <p:nvPr/>
        </p:nvSpPr>
        <p:spPr>
          <a:xfrm>
            <a:off x="4459224" y="5705856"/>
            <a:ext cx="3270504" cy="457200"/>
          </a:xfrm>
          <a:prstGeom prst="rect">
            <a:avLst/>
          </a:prstGeom>
          <a:noFill/>
          <a:ln/>
        </p:spPr>
        <p:txBody>
          <a:bodyPr wrap="square" lIns="0" tIns="0" rIns="0" bIns="0" rtlCol="0" anchor="t"/>
          <a:lstStyle/>
          <a:p>
            <a:pPr indent="0" marL="0">
              <a:lnSpc>
                <a:spcPts val="1300"/>
              </a:lnSpc>
              <a:buNone/>
            </a:pPr>
            <a:r>
              <a:rPr lang="en-US" sz="1050" i="1" dirty="0">
                <a:solidFill>
                  <a:srgbClr val="7A7F72"/>
                </a:solidFill>
                <a:latin typeface="Arial" pitchFamily="34" charset="0"/>
                <a:ea typeface="Arial" pitchFamily="34" charset="-122"/>
                <a:cs typeface="Arial" pitchFamily="34" charset="-120"/>
              </a:rPr>
              <a:t>cut mid-movement and the motion carries you</a:t>
            </a:r>
            <a:endParaRPr lang="en-US" sz="1050" dirty="0"/>
          </a:p>
        </p:txBody>
      </p:sp>
      <p:sp>
        <p:nvSpPr>
          <p:cNvPr id="33" name="Shape 27"/>
          <p:cNvSpPr/>
          <p:nvPr/>
        </p:nvSpPr>
        <p:spPr>
          <a:xfrm>
            <a:off x="8095488" y="3657600"/>
            <a:ext cx="3270504" cy="1691640"/>
          </a:xfrm>
          <a:prstGeom prst="rect">
            <a:avLst/>
          </a:prstGeom>
          <a:solidFill>
            <a:srgbClr val="FAF8F1"/>
          </a:solidFill>
          <a:ln w="9525">
            <a:solidFill>
              <a:srgbClr val="D9D4C4"/>
            </a:solidFill>
            <a:prstDash val="solid"/>
          </a:ln>
        </p:spPr>
      </p:sp>
      <p:sp>
        <p:nvSpPr>
          <p:cNvPr id="34" name="Shape 28"/>
          <p:cNvSpPr/>
          <p:nvPr/>
        </p:nvSpPr>
        <p:spPr>
          <a:xfrm>
            <a:off x="8324088" y="3931920"/>
            <a:ext cx="1223772" cy="1051560"/>
          </a:xfrm>
          <a:prstGeom prst="rect">
            <a:avLst/>
          </a:prstGeom>
          <a:solidFill>
            <a:srgbClr val="E8EFE7"/>
          </a:solidFill>
          <a:ln w="9525">
            <a:solidFill>
              <a:srgbClr val="8AA394"/>
            </a:solidFill>
            <a:prstDash val="solid"/>
          </a:ln>
        </p:spPr>
      </p:sp>
      <p:sp>
        <p:nvSpPr>
          <p:cNvPr id="35" name="Text 29"/>
          <p:cNvSpPr/>
          <p:nvPr/>
        </p:nvSpPr>
        <p:spPr>
          <a:xfrm>
            <a:off x="8324088" y="3931920"/>
            <a:ext cx="1223772" cy="1051560"/>
          </a:xfrm>
          <a:prstGeom prst="rect">
            <a:avLst/>
          </a:prstGeom>
          <a:noFill/>
          <a:ln/>
        </p:spPr>
        <p:txBody>
          <a:bodyPr wrap="square" lIns="0" tIns="0" rIns="0" bIns="0" rtlCol="0" anchor="ctr"/>
          <a:lstStyle/>
          <a:p>
            <a:pPr algn="ctr" indent="0" marL="0">
              <a:lnSpc>
                <a:spcPts val="1400"/>
              </a:lnSpc>
              <a:buNone/>
            </a:pPr>
            <a:r>
              <a:rPr lang="en-US" sz="1100" dirty="0">
                <a:solidFill>
                  <a:srgbClr val="7A7F72"/>
                </a:solidFill>
                <a:latin typeface="Arial" pitchFamily="34" charset="0"/>
                <a:ea typeface="Arial" pitchFamily="34" charset="-122"/>
                <a:cs typeface="Arial" pitchFamily="34" charset="-120"/>
              </a:rPr>
              <a:t>EXT.</a:t>
            </a:r>
            <a:endParaRPr lang="en-US" sz="1100" dirty="0"/>
          </a:p>
          <a:p>
            <a:pPr algn="ctr" indent="0" marL="0">
              <a:lnSpc>
                <a:spcPts val="1400"/>
              </a:lnSpc>
              <a:buNone/>
            </a:pPr>
            <a:r>
              <a:rPr lang="en-US" sz="1100" dirty="0">
                <a:solidFill>
                  <a:srgbClr val="7A7F72"/>
                </a:solidFill>
                <a:latin typeface="Arial" pitchFamily="34" charset="0"/>
                <a:ea typeface="Arial" pitchFamily="34" charset="-122"/>
                <a:cs typeface="Arial" pitchFamily="34" charset="-120"/>
              </a:rPr>
              <a:t>wide</a:t>
            </a:r>
            <a:endParaRPr lang="en-US" sz="1100" dirty="0"/>
          </a:p>
        </p:txBody>
      </p:sp>
      <p:sp>
        <p:nvSpPr>
          <p:cNvPr id="36" name="Text 30"/>
          <p:cNvSpPr/>
          <p:nvPr/>
        </p:nvSpPr>
        <p:spPr>
          <a:xfrm>
            <a:off x="9502140" y="4160520"/>
            <a:ext cx="457200" cy="548640"/>
          </a:xfrm>
          <a:prstGeom prst="rect">
            <a:avLst/>
          </a:prstGeom>
          <a:noFill/>
          <a:ln/>
        </p:spPr>
        <p:txBody>
          <a:bodyPr wrap="square" lIns="0" tIns="0" rIns="0" bIns="0" rtlCol="0" anchor="ctr"/>
          <a:lstStyle/>
          <a:p>
            <a:pPr algn="ctr" indent="0" marL="0">
              <a:buNone/>
            </a:pPr>
            <a:r>
              <a:rPr lang="en-US" sz="2200" dirty="0">
                <a:solidFill>
                  <a:srgbClr val="A3C1AD"/>
                </a:solidFill>
                <a:latin typeface="Georgia" pitchFamily="34" charset="0"/>
                <a:ea typeface="Georgia" pitchFamily="34" charset="-122"/>
                <a:cs typeface="Georgia" pitchFamily="34" charset="-120"/>
              </a:rPr>
              <a:t>→</a:t>
            </a:r>
            <a:endParaRPr lang="en-US" sz="2200" dirty="0"/>
          </a:p>
        </p:txBody>
      </p:sp>
      <p:sp>
        <p:nvSpPr>
          <p:cNvPr id="37" name="Shape 31"/>
          <p:cNvSpPr/>
          <p:nvPr/>
        </p:nvSpPr>
        <p:spPr>
          <a:xfrm>
            <a:off x="9913620" y="3931920"/>
            <a:ext cx="1223772" cy="1051560"/>
          </a:xfrm>
          <a:prstGeom prst="rect">
            <a:avLst/>
          </a:prstGeom>
          <a:solidFill>
            <a:srgbClr val="E8EFE7"/>
          </a:solidFill>
          <a:ln w="9525">
            <a:solidFill>
              <a:srgbClr val="8AA394"/>
            </a:solidFill>
            <a:prstDash val="solid"/>
          </a:ln>
        </p:spPr>
      </p:sp>
      <p:sp>
        <p:nvSpPr>
          <p:cNvPr id="38" name="Text 32"/>
          <p:cNvSpPr/>
          <p:nvPr/>
        </p:nvSpPr>
        <p:spPr>
          <a:xfrm>
            <a:off x="9913620" y="3931920"/>
            <a:ext cx="1223772" cy="1051560"/>
          </a:xfrm>
          <a:prstGeom prst="rect">
            <a:avLst/>
          </a:prstGeom>
          <a:noFill/>
          <a:ln/>
        </p:spPr>
        <p:txBody>
          <a:bodyPr wrap="square" lIns="0" tIns="0" rIns="0" bIns="0" rtlCol="0" anchor="ctr"/>
          <a:lstStyle/>
          <a:p>
            <a:pPr algn="ctr" indent="0" marL="0">
              <a:lnSpc>
                <a:spcPts val="1400"/>
              </a:lnSpc>
              <a:buNone/>
            </a:pPr>
            <a:r>
              <a:rPr lang="en-US" sz="1100" dirty="0">
                <a:solidFill>
                  <a:srgbClr val="7A7F72"/>
                </a:solidFill>
                <a:latin typeface="Arial" pitchFamily="34" charset="0"/>
                <a:ea typeface="Arial" pitchFamily="34" charset="-122"/>
                <a:cs typeface="Arial" pitchFamily="34" charset="-120"/>
              </a:rPr>
              <a:t>INT.</a:t>
            </a:r>
            <a:endParaRPr lang="en-US" sz="1100" dirty="0"/>
          </a:p>
          <a:p>
            <a:pPr algn="ctr" indent="0" marL="0">
              <a:lnSpc>
                <a:spcPts val="1400"/>
              </a:lnSpc>
              <a:buNone/>
            </a:pPr>
            <a:r>
              <a:rPr lang="en-US" sz="1100" dirty="0">
                <a:solidFill>
                  <a:srgbClr val="7A7F72"/>
                </a:solidFill>
                <a:latin typeface="Arial" pitchFamily="34" charset="0"/>
                <a:ea typeface="Arial" pitchFamily="34" charset="-122"/>
                <a:cs typeface="Arial" pitchFamily="34" charset="-120"/>
              </a:rPr>
              <a:t>room</a:t>
            </a:r>
            <a:endParaRPr lang="en-US" sz="1100" dirty="0"/>
          </a:p>
        </p:txBody>
      </p:sp>
      <p:sp>
        <p:nvSpPr>
          <p:cNvPr id="39" name="Text 33"/>
          <p:cNvSpPr/>
          <p:nvPr/>
        </p:nvSpPr>
        <p:spPr>
          <a:xfrm>
            <a:off x="8095488" y="5394960"/>
            <a:ext cx="3270504" cy="310896"/>
          </a:xfrm>
          <a:prstGeom prst="rect">
            <a:avLst/>
          </a:prstGeom>
          <a:noFill/>
          <a:ln/>
        </p:spPr>
        <p:txBody>
          <a:bodyPr wrap="square" lIns="0" tIns="0" rIns="0" bIns="0" rtlCol="0" anchor="ctr"/>
          <a:lstStyle/>
          <a:p>
            <a:pPr indent="0" marL="0">
              <a:buNone/>
            </a:pPr>
            <a:r>
              <a:rPr lang="en-US" sz="1550" dirty="0">
                <a:solidFill>
                  <a:srgbClr val="4A6B5D"/>
                </a:solidFill>
                <a:latin typeface="Georgia" pitchFamily="34" charset="0"/>
                <a:ea typeface="Georgia" pitchFamily="34" charset="-122"/>
                <a:cs typeface="Georgia" pitchFamily="34" charset="-120"/>
              </a:rPr>
              <a:t>Establishing to interior</a:t>
            </a:r>
            <a:endParaRPr lang="en-US" sz="1550" dirty="0"/>
          </a:p>
        </p:txBody>
      </p:sp>
      <p:sp>
        <p:nvSpPr>
          <p:cNvPr id="40" name="Text 34"/>
          <p:cNvSpPr/>
          <p:nvPr/>
        </p:nvSpPr>
        <p:spPr>
          <a:xfrm>
            <a:off x="8095488" y="5705856"/>
            <a:ext cx="3270504" cy="457200"/>
          </a:xfrm>
          <a:prstGeom prst="rect">
            <a:avLst/>
          </a:prstGeom>
          <a:noFill/>
          <a:ln/>
        </p:spPr>
        <p:txBody>
          <a:bodyPr wrap="square" lIns="0" tIns="0" rIns="0" bIns="0" rtlCol="0" anchor="t"/>
          <a:lstStyle/>
          <a:p>
            <a:pPr indent="0" marL="0">
              <a:lnSpc>
                <a:spcPts val="1300"/>
              </a:lnSpc>
              <a:buNone/>
            </a:pPr>
            <a:r>
              <a:rPr lang="en-US" sz="1050" i="1" dirty="0">
                <a:solidFill>
                  <a:srgbClr val="7A7F72"/>
                </a:solidFill>
                <a:latin typeface="Arial" pitchFamily="34" charset="0"/>
                <a:ea typeface="Arial" pitchFamily="34" charset="-122"/>
                <a:cs typeface="Arial" pitchFamily="34" charset="-120"/>
              </a:rPr>
              <a:t>an exterior, then a room; order does the proving</a:t>
            </a:r>
            <a:endParaRPr lang="en-US" sz="1050" dirty="0"/>
          </a:p>
        </p:txBody>
      </p:sp>
      <p:sp>
        <p:nvSpPr>
          <p:cNvPr id="41" name="Shape 35"/>
          <p:cNvSpPr/>
          <p:nvPr/>
        </p:nvSpPr>
        <p:spPr>
          <a:xfrm>
            <a:off x="822960" y="6382512"/>
            <a:ext cx="10543032" cy="0"/>
          </a:xfrm>
          <a:prstGeom prst="line">
            <a:avLst/>
          </a:prstGeom>
          <a:noFill/>
          <a:ln w="9525">
            <a:solidFill>
              <a:srgbClr val="D9D4C4"/>
            </a:solidFill>
            <a:prstDash val="solid"/>
          </a:ln>
        </p:spPr>
      </p:sp>
      <p:sp>
        <p:nvSpPr>
          <p:cNvPr id="42" name="Text 36"/>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43" name="Text 37"/>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180-DEGREE RULE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CROSS IT AND THE ROOM FLIPS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188720"/>
            <a:ext cx="5760720" cy="1463040"/>
          </a:xfrm>
          <a:prstGeom prst="rect">
            <a:avLst/>
          </a:prstGeom>
          <a:noFill/>
          <a:ln/>
        </p:spPr>
        <p:txBody>
          <a:bodyPr wrap="square" lIns="0" tIns="0" rIns="0" bIns="0" rtlCol="0" anchor="t"/>
          <a:lstStyle/>
          <a:p>
            <a:pPr indent="0" marL="0">
              <a:lnSpc>
                <a:spcPts val="3600"/>
              </a:lnSpc>
              <a:buNone/>
            </a:pPr>
            <a:r>
              <a:rPr lang="en-US" sz="3000" dirty="0">
                <a:solidFill>
                  <a:srgbClr val="24313F"/>
                </a:solidFill>
                <a:latin typeface="Georgia" pitchFamily="34" charset="0"/>
                <a:ea typeface="Georgia" pitchFamily="34" charset="-122"/>
                <a:cs typeface="Georgia" pitchFamily="34" charset="-120"/>
              </a:rPr>
              <a:t>Cross the line and two people</a:t>
            </a:r>
            <a:endParaRPr lang="en-US" sz="3000" dirty="0"/>
          </a:p>
          <a:p>
            <a:pPr indent="0" marL="0">
              <a:lnSpc>
                <a:spcPts val="3600"/>
              </a:lnSpc>
              <a:buNone/>
            </a:pPr>
            <a:r>
              <a:rPr lang="en-US" sz="3000" dirty="0">
                <a:solidFill>
                  <a:srgbClr val="24313F"/>
                </a:solidFill>
                <a:latin typeface="Georgia" pitchFamily="34" charset="0"/>
                <a:ea typeface="Georgia" pitchFamily="34" charset="-122"/>
                <a:cs typeface="Georgia" pitchFamily="34" charset="-120"/>
              </a:rPr>
              <a:t>swap sides of the room</a:t>
            </a:r>
            <a:endParaRPr lang="en-US" sz="3000" dirty="0"/>
          </a:p>
        </p:txBody>
      </p:sp>
      <p:sp>
        <p:nvSpPr>
          <p:cNvPr id="6" name="Shape 4"/>
          <p:cNvSpPr/>
          <p:nvPr/>
        </p:nvSpPr>
        <p:spPr>
          <a:xfrm>
            <a:off x="822960" y="2834640"/>
            <a:ext cx="914400" cy="0"/>
          </a:xfrm>
          <a:prstGeom prst="line">
            <a:avLst/>
          </a:prstGeom>
          <a:noFill/>
          <a:ln w="31750">
            <a:solidFill>
              <a:srgbClr val="8C3A38"/>
            </a:solidFill>
            <a:prstDash val="solid"/>
          </a:ln>
        </p:spPr>
      </p:sp>
      <p:sp>
        <p:nvSpPr>
          <p:cNvPr id="7" name="Text 5"/>
          <p:cNvSpPr/>
          <p:nvPr/>
        </p:nvSpPr>
        <p:spPr>
          <a:xfrm>
            <a:off x="822960" y="3063240"/>
            <a:ext cx="5669280" cy="2743200"/>
          </a:xfrm>
          <a:prstGeom prst="rect">
            <a:avLst/>
          </a:prstGeom>
          <a:noFill/>
          <a:ln/>
        </p:spPr>
        <p:txBody>
          <a:bodyPr wrap="square" lIns="0" tIns="0" rIns="0" bIns="0" rtlCol="0" anchor="t"/>
          <a:lstStyle/>
          <a:p>
            <a:pPr indent="0" marL="0">
              <a:lnSpc>
                <a:spcPts val="2200"/>
              </a:lnSpc>
              <a:buNone/>
            </a:pPr>
            <a:r>
              <a:rPr lang="en-US" sz="1550" dirty="0">
                <a:solidFill>
                  <a:srgbClr val="24313F"/>
                </a:solidFill>
                <a:latin typeface="Georgia" pitchFamily="34" charset="0"/>
                <a:ea typeface="Georgia" pitchFamily="34" charset="-122"/>
                <a:cs typeface="Georgia" pitchFamily="34" charset="-120"/>
              </a:rPr>
              <a:t>Camera A and camera B keep both faces on the sides the audience has learned. Camera C, across the line, swaps them mid-conversation for no story reason.</a:t>
            </a:r>
            <a:endParaRPr lang="en-US" sz="1550" dirty="0"/>
          </a:p>
          <a:p>
            <a:pPr indent="0" marL="0">
              <a:lnSpc>
                <a:spcPts val="2200"/>
              </a:lnSpc>
              <a:buNone/>
            </a:pPr>
            <a:endParaRPr lang="en-US" sz="1550" dirty="0"/>
          </a:p>
          <a:p>
            <a:pPr indent="0" marL="0">
              <a:lnSpc>
                <a:spcPts val="2200"/>
              </a:lnSpc>
              <a:buNone/>
            </a:pPr>
            <a:r>
              <a:rPr lang="en-US" sz="1550" dirty="0">
                <a:solidFill>
                  <a:srgbClr val="24313F"/>
                </a:solidFill>
                <a:latin typeface="Georgia" pitchFamily="34" charset="0"/>
                <a:ea typeface="Georgia" pitchFamily="34" charset="-122"/>
                <a:cs typeface="Georgia" pitchFamily="34" charset="-120"/>
              </a:rPr>
              <a:t>Demonstrated live from a prepared clip, then produced by every pair on Monday: version two of CS6 is this exact error, made on purpose.</a:t>
            </a:r>
            <a:endParaRPr lang="en-US" sz="1550" dirty="0"/>
          </a:p>
        </p:txBody>
      </p:sp>
      <p:sp>
        <p:nvSpPr>
          <p:cNvPr id="8" name="Shape 6"/>
          <p:cNvSpPr/>
          <p:nvPr/>
        </p:nvSpPr>
        <p:spPr>
          <a:xfrm>
            <a:off x="6675120" y="1280160"/>
            <a:ext cx="4663440" cy="4480560"/>
          </a:xfrm>
          <a:prstGeom prst="rect">
            <a:avLst/>
          </a:prstGeom>
          <a:solidFill>
            <a:srgbClr val="FAF8F1"/>
          </a:solidFill>
          <a:ln w="9525">
            <a:solidFill>
              <a:srgbClr val="D9D4C4"/>
            </a:solidFill>
            <a:prstDash val="solid"/>
          </a:ln>
        </p:spPr>
      </p:sp>
      <p:sp>
        <p:nvSpPr>
          <p:cNvPr id="9" name="Shape 7"/>
          <p:cNvSpPr/>
          <p:nvPr/>
        </p:nvSpPr>
        <p:spPr>
          <a:xfrm>
            <a:off x="7589520" y="2834640"/>
            <a:ext cx="685800" cy="685800"/>
          </a:xfrm>
          <a:prstGeom prst="ellipse">
            <a:avLst/>
          </a:prstGeom>
          <a:solidFill>
            <a:srgbClr val="4A6B5D"/>
          </a:solidFill>
          <a:ln/>
        </p:spPr>
      </p:sp>
      <p:sp>
        <p:nvSpPr>
          <p:cNvPr id="10" name="Text 8"/>
          <p:cNvSpPr/>
          <p:nvPr/>
        </p:nvSpPr>
        <p:spPr>
          <a:xfrm>
            <a:off x="7589520" y="2834640"/>
            <a:ext cx="685800" cy="685800"/>
          </a:xfrm>
          <a:prstGeom prst="rect">
            <a:avLst/>
          </a:prstGeom>
          <a:noFill/>
          <a:ln/>
        </p:spPr>
        <p:txBody>
          <a:bodyPr wrap="square" lIns="0" tIns="0" rIns="0" bIns="0" rtlCol="0" anchor="ctr"/>
          <a:lstStyle/>
          <a:p>
            <a:pPr algn="ctr" indent="0" marL="0">
              <a:buNone/>
            </a:pPr>
            <a:r>
              <a:rPr lang="en-US" sz="1300" b="1" dirty="0">
                <a:solidFill>
                  <a:srgbClr val="FAF8F1"/>
                </a:solidFill>
                <a:latin typeface="Arial" pitchFamily="34" charset="0"/>
                <a:ea typeface="Arial" pitchFamily="34" charset="-122"/>
                <a:cs typeface="Arial" pitchFamily="34" charset="-120"/>
              </a:rPr>
              <a:t>F1</a:t>
            </a:r>
            <a:endParaRPr lang="en-US" sz="1300" dirty="0"/>
          </a:p>
        </p:txBody>
      </p:sp>
      <p:sp>
        <p:nvSpPr>
          <p:cNvPr id="11" name="Shape 9"/>
          <p:cNvSpPr/>
          <p:nvPr/>
        </p:nvSpPr>
        <p:spPr>
          <a:xfrm>
            <a:off x="9738360" y="2834640"/>
            <a:ext cx="685800" cy="685800"/>
          </a:xfrm>
          <a:prstGeom prst="ellipse">
            <a:avLst/>
          </a:prstGeom>
          <a:solidFill>
            <a:srgbClr val="5C7A6B"/>
          </a:solidFill>
          <a:ln/>
        </p:spPr>
      </p:sp>
      <p:sp>
        <p:nvSpPr>
          <p:cNvPr id="12" name="Text 10"/>
          <p:cNvSpPr/>
          <p:nvPr/>
        </p:nvSpPr>
        <p:spPr>
          <a:xfrm>
            <a:off x="9738360" y="2834640"/>
            <a:ext cx="685800" cy="685800"/>
          </a:xfrm>
          <a:prstGeom prst="rect">
            <a:avLst/>
          </a:prstGeom>
          <a:noFill/>
          <a:ln/>
        </p:spPr>
        <p:txBody>
          <a:bodyPr wrap="square" lIns="0" tIns="0" rIns="0" bIns="0" rtlCol="0" anchor="ctr"/>
          <a:lstStyle/>
          <a:p>
            <a:pPr algn="ctr" indent="0" marL="0">
              <a:buNone/>
            </a:pPr>
            <a:r>
              <a:rPr lang="en-US" sz="1300" b="1" dirty="0">
                <a:solidFill>
                  <a:srgbClr val="FAF8F1"/>
                </a:solidFill>
                <a:latin typeface="Arial" pitchFamily="34" charset="0"/>
                <a:ea typeface="Arial" pitchFamily="34" charset="-122"/>
                <a:cs typeface="Arial" pitchFamily="34" charset="-120"/>
              </a:rPr>
              <a:t>F2</a:t>
            </a:r>
            <a:endParaRPr lang="en-US" sz="1300" dirty="0"/>
          </a:p>
        </p:txBody>
      </p:sp>
      <p:sp>
        <p:nvSpPr>
          <p:cNvPr id="13" name="Shape 11"/>
          <p:cNvSpPr/>
          <p:nvPr/>
        </p:nvSpPr>
        <p:spPr>
          <a:xfrm>
            <a:off x="6949440" y="3172968"/>
            <a:ext cx="4114800" cy="0"/>
          </a:xfrm>
          <a:prstGeom prst="line">
            <a:avLst/>
          </a:prstGeom>
          <a:noFill/>
          <a:ln w="25400">
            <a:solidFill>
              <a:srgbClr val="8C3A38"/>
            </a:solidFill>
            <a:prstDash val="dash"/>
          </a:ln>
        </p:spPr>
      </p:sp>
      <p:sp>
        <p:nvSpPr>
          <p:cNvPr id="14" name="Text 12"/>
          <p:cNvSpPr/>
          <p:nvPr/>
        </p:nvSpPr>
        <p:spPr>
          <a:xfrm>
            <a:off x="8366760" y="3218688"/>
            <a:ext cx="1280160" cy="274320"/>
          </a:xfrm>
          <a:prstGeom prst="rect">
            <a:avLst/>
          </a:prstGeom>
          <a:noFill/>
          <a:ln/>
        </p:spPr>
        <p:txBody>
          <a:bodyPr wrap="square" lIns="0" tIns="0" rIns="0" bIns="0" rtlCol="0" anchor="ctr"/>
          <a:lstStyle/>
          <a:p>
            <a:pPr algn="ctr" indent="0" marL="0">
              <a:buNone/>
            </a:pPr>
            <a:r>
              <a:rPr lang="en-US" sz="950" i="1" dirty="0">
                <a:solidFill>
                  <a:srgbClr val="8C3A38"/>
                </a:solidFill>
                <a:latin typeface="Arial" pitchFamily="34" charset="0"/>
                <a:ea typeface="Arial" pitchFamily="34" charset="-122"/>
                <a:cs typeface="Arial" pitchFamily="34" charset="-120"/>
              </a:rPr>
              <a:t>the line</a:t>
            </a:r>
            <a:endParaRPr lang="en-US" sz="950" dirty="0"/>
          </a:p>
        </p:txBody>
      </p:sp>
      <p:sp>
        <p:nvSpPr>
          <p:cNvPr id="15" name="Shape 13"/>
          <p:cNvSpPr/>
          <p:nvPr/>
        </p:nvSpPr>
        <p:spPr>
          <a:xfrm>
            <a:off x="7452360" y="4663440"/>
            <a:ext cx="777240" cy="457200"/>
          </a:xfrm>
          <a:prstGeom prst="rect">
            <a:avLst/>
          </a:prstGeom>
          <a:solidFill>
            <a:srgbClr val="24313F"/>
          </a:solidFill>
          <a:ln/>
        </p:spPr>
      </p:sp>
      <p:sp>
        <p:nvSpPr>
          <p:cNvPr id="16" name="Text 14"/>
          <p:cNvSpPr/>
          <p:nvPr/>
        </p:nvSpPr>
        <p:spPr>
          <a:xfrm>
            <a:off x="7452360" y="4663440"/>
            <a:ext cx="777240" cy="457200"/>
          </a:xfrm>
          <a:prstGeom prst="rect">
            <a:avLst/>
          </a:prstGeom>
          <a:noFill/>
          <a:ln/>
        </p:spPr>
        <p:txBody>
          <a:bodyPr wrap="square" lIns="0" tIns="0" rIns="0" bIns="0" rtlCol="0" anchor="ctr"/>
          <a:lstStyle/>
          <a:p>
            <a:pPr algn="ctr" indent="0" marL="0">
              <a:buNone/>
            </a:pPr>
            <a:r>
              <a:rPr lang="en-US" sz="1300" b="1" dirty="0">
                <a:solidFill>
                  <a:srgbClr val="FAF8F1"/>
                </a:solidFill>
                <a:latin typeface="Arial" pitchFamily="34" charset="0"/>
                <a:ea typeface="Arial" pitchFamily="34" charset="-122"/>
                <a:cs typeface="Arial" pitchFamily="34" charset="-120"/>
              </a:rPr>
              <a:t>A</a:t>
            </a:r>
            <a:endParaRPr lang="en-US" sz="1300" dirty="0"/>
          </a:p>
        </p:txBody>
      </p:sp>
      <p:sp>
        <p:nvSpPr>
          <p:cNvPr id="17" name="Shape 15"/>
          <p:cNvSpPr/>
          <p:nvPr/>
        </p:nvSpPr>
        <p:spPr>
          <a:xfrm>
            <a:off x="9784080" y="4663440"/>
            <a:ext cx="777240" cy="457200"/>
          </a:xfrm>
          <a:prstGeom prst="rect">
            <a:avLst/>
          </a:prstGeom>
          <a:solidFill>
            <a:srgbClr val="24313F"/>
          </a:solidFill>
          <a:ln/>
        </p:spPr>
      </p:sp>
      <p:sp>
        <p:nvSpPr>
          <p:cNvPr id="18" name="Text 16"/>
          <p:cNvSpPr/>
          <p:nvPr/>
        </p:nvSpPr>
        <p:spPr>
          <a:xfrm>
            <a:off x="9784080" y="4663440"/>
            <a:ext cx="777240" cy="457200"/>
          </a:xfrm>
          <a:prstGeom prst="rect">
            <a:avLst/>
          </a:prstGeom>
          <a:noFill/>
          <a:ln/>
        </p:spPr>
        <p:txBody>
          <a:bodyPr wrap="square" lIns="0" tIns="0" rIns="0" bIns="0" rtlCol="0" anchor="ctr"/>
          <a:lstStyle/>
          <a:p>
            <a:pPr algn="ctr" indent="0" marL="0">
              <a:buNone/>
            </a:pPr>
            <a:r>
              <a:rPr lang="en-US" sz="1300" b="1" dirty="0">
                <a:solidFill>
                  <a:srgbClr val="FAF8F1"/>
                </a:solidFill>
                <a:latin typeface="Arial" pitchFamily="34" charset="0"/>
                <a:ea typeface="Arial" pitchFamily="34" charset="-122"/>
                <a:cs typeface="Arial" pitchFamily="34" charset="-120"/>
              </a:rPr>
              <a:t>B</a:t>
            </a:r>
            <a:endParaRPr lang="en-US" sz="1300" dirty="0"/>
          </a:p>
        </p:txBody>
      </p:sp>
      <p:sp>
        <p:nvSpPr>
          <p:cNvPr id="19" name="Shape 17"/>
          <p:cNvSpPr/>
          <p:nvPr/>
        </p:nvSpPr>
        <p:spPr>
          <a:xfrm>
            <a:off x="7836408" y="3520440"/>
            <a:ext cx="320040" cy="1143000"/>
          </a:xfrm>
          <a:prstGeom prst="line">
            <a:avLst/>
          </a:prstGeom>
          <a:noFill/>
          <a:ln w="12700">
            <a:solidFill>
              <a:srgbClr val="7A7F72"/>
            </a:solidFill>
            <a:prstDash val="solid"/>
          </a:ln>
        </p:spPr>
      </p:sp>
      <p:sp>
        <p:nvSpPr>
          <p:cNvPr id="20" name="Shape 18"/>
          <p:cNvSpPr/>
          <p:nvPr/>
        </p:nvSpPr>
        <p:spPr>
          <a:xfrm>
            <a:off x="9857232" y="3520440"/>
            <a:ext cx="320040" cy="1143000"/>
          </a:xfrm>
          <a:prstGeom prst="line">
            <a:avLst/>
          </a:prstGeom>
          <a:noFill/>
          <a:ln w="12700">
            <a:solidFill>
              <a:srgbClr val="7A7F72"/>
            </a:solidFill>
            <a:prstDash val="solid"/>
          </a:ln>
        </p:spPr>
      </p:sp>
      <p:sp>
        <p:nvSpPr>
          <p:cNvPr id="21" name="Shape 19"/>
          <p:cNvSpPr/>
          <p:nvPr/>
        </p:nvSpPr>
        <p:spPr>
          <a:xfrm>
            <a:off x="8622792" y="1600200"/>
            <a:ext cx="777240" cy="457200"/>
          </a:xfrm>
          <a:prstGeom prst="rect">
            <a:avLst/>
          </a:prstGeom>
          <a:solidFill>
            <a:srgbClr val="FAF8F1"/>
          </a:solidFill>
          <a:ln w="19050">
            <a:solidFill>
              <a:srgbClr val="8C3A38"/>
            </a:solidFill>
            <a:prstDash val="solid"/>
          </a:ln>
        </p:spPr>
      </p:sp>
      <p:sp>
        <p:nvSpPr>
          <p:cNvPr id="22" name="Text 20"/>
          <p:cNvSpPr/>
          <p:nvPr/>
        </p:nvSpPr>
        <p:spPr>
          <a:xfrm>
            <a:off x="8622792" y="1600200"/>
            <a:ext cx="777240" cy="457200"/>
          </a:xfrm>
          <a:prstGeom prst="rect">
            <a:avLst/>
          </a:prstGeom>
          <a:noFill/>
          <a:ln/>
        </p:spPr>
        <p:txBody>
          <a:bodyPr wrap="square" lIns="0" tIns="0" rIns="0" bIns="0" rtlCol="0" anchor="ctr"/>
          <a:lstStyle/>
          <a:p>
            <a:pPr algn="ctr" indent="0" marL="0">
              <a:buNone/>
            </a:pPr>
            <a:r>
              <a:rPr lang="en-US" sz="1300" b="1" dirty="0">
                <a:solidFill>
                  <a:srgbClr val="8C3A38"/>
                </a:solidFill>
                <a:latin typeface="Arial" pitchFamily="34" charset="0"/>
                <a:ea typeface="Arial" pitchFamily="34" charset="-122"/>
                <a:cs typeface="Arial" pitchFamily="34" charset="-120"/>
              </a:rPr>
              <a:t>C</a:t>
            </a:r>
            <a:endParaRPr lang="en-US" sz="1300" dirty="0"/>
          </a:p>
        </p:txBody>
      </p:sp>
      <p:sp>
        <p:nvSpPr>
          <p:cNvPr id="23" name="Shape 21"/>
          <p:cNvSpPr/>
          <p:nvPr/>
        </p:nvSpPr>
        <p:spPr>
          <a:xfrm>
            <a:off x="8503920" y="1536192"/>
            <a:ext cx="1005840" cy="594360"/>
          </a:xfrm>
          <a:prstGeom prst="line">
            <a:avLst/>
          </a:prstGeom>
          <a:noFill/>
          <a:ln w="25400">
            <a:solidFill>
              <a:srgbClr val="8C3A38"/>
            </a:solidFill>
            <a:prstDash val="solid"/>
          </a:ln>
        </p:spPr>
      </p:sp>
      <p:sp>
        <p:nvSpPr>
          <p:cNvPr id="24" name="Shape 22"/>
          <p:cNvSpPr/>
          <p:nvPr/>
        </p:nvSpPr>
        <p:spPr>
          <a:xfrm flipV="1">
            <a:off x="8503920" y="1536192"/>
            <a:ext cx="1005840" cy="594360"/>
          </a:xfrm>
          <a:prstGeom prst="line">
            <a:avLst/>
          </a:prstGeom>
          <a:noFill/>
          <a:ln w="25400">
            <a:solidFill>
              <a:srgbClr val="8C3A38"/>
            </a:solidFill>
            <a:prstDash val="solid"/>
          </a:ln>
        </p:spPr>
      </p:sp>
      <p:sp>
        <p:nvSpPr>
          <p:cNvPr id="25" name="Text 23"/>
          <p:cNvSpPr/>
          <p:nvPr/>
        </p:nvSpPr>
        <p:spPr>
          <a:xfrm>
            <a:off x="6675120" y="5833872"/>
            <a:ext cx="4663440" cy="320040"/>
          </a:xfrm>
          <a:prstGeom prst="rect">
            <a:avLst/>
          </a:prstGeom>
          <a:noFill/>
          <a:ln/>
        </p:spPr>
        <p:txBody>
          <a:bodyPr wrap="square" lIns="0" tIns="0" rIns="0" bIns="0" rtlCol="0" anchor="ctr"/>
          <a:lstStyle/>
          <a:p>
            <a:pPr algn="ctr" indent="0" marL="0">
              <a:buNone/>
            </a:pPr>
            <a:r>
              <a:rPr lang="en-US" sz="1050" dirty="0">
                <a:solidFill>
                  <a:srgbClr val="7A7F72"/>
                </a:solidFill>
                <a:latin typeface="Arial" pitchFamily="34" charset="0"/>
                <a:ea typeface="Arial" pitchFamily="34" charset="-122"/>
                <a:cs typeface="Arial" pitchFamily="34" charset="-120"/>
              </a:rPr>
              <a:t>Keep A and B on one side; C flips the geography.</a:t>
            </a:r>
            <a:endParaRPr lang="en-US" sz="1050" dirty="0"/>
          </a:p>
        </p:txBody>
      </p:sp>
      <p:sp>
        <p:nvSpPr>
          <p:cNvPr id="26" name="Shape 24"/>
          <p:cNvSpPr/>
          <p:nvPr/>
        </p:nvSpPr>
        <p:spPr>
          <a:xfrm>
            <a:off x="822960" y="6382512"/>
            <a:ext cx="10543032" cy="0"/>
          </a:xfrm>
          <a:prstGeom prst="line">
            <a:avLst/>
          </a:prstGeom>
          <a:noFill/>
          <a:ln w="9525">
            <a:solidFill>
              <a:srgbClr val="D9D4C4"/>
            </a:solidFill>
            <a:prstDash val="solid"/>
          </a:ln>
        </p:spPr>
      </p:sp>
      <p:sp>
        <p:nvSpPr>
          <p:cNvPr id="27" name="Text 2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8" name="Text 2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dogan/Documents/Vaults/Courses/wiki/classes/media-studies/decks/_build/img/crops/adolescence-bts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DURATION · THE CUT YOU NEVER GOT</a:t>
            </a:r>
            <a:endParaRPr lang="en-US" sz="1100" dirty="0"/>
          </a:p>
        </p:txBody>
      </p:sp>
      <p:sp>
        <p:nvSpPr>
          <p:cNvPr id="5" name="Shape 2"/>
          <p:cNvSpPr/>
          <p:nvPr/>
        </p:nvSpPr>
        <p:spPr>
          <a:xfrm>
            <a:off x="457200" y="5230368"/>
            <a:ext cx="8778240" cy="1243584"/>
          </a:xfrm>
          <a:prstGeom prst="rect">
            <a:avLst/>
          </a:prstGeom>
          <a:solidFill>
            <a:srgbClr val="FAF8F1"/>
          </a:solidFill>
          <a:ln/>
        </p:spPr>
      </p:sp>
      <p:sp>
        <p:nvSpPr>
          <p:cNvPr id="6" name="Shape 3"/>
          <p:cNvSpPr/>
          <p:nvPr/>
        </p:nvSpPr>
        <p:spPr>
          <a:xfrm>
            <a:off x="676656" y="5468112"/>
            <a:ext cx="731520" cy="0"/>
          </a:xfrm>
          <a:prstGeom prst="line">
            <a:avLst/>
          </a:prstGeom>
          <a:noFill/>
          <a:ln w="28575">
            <a:solidFill>
              <a:srgbClr val="8C3A38"/>
            </a:solidFill>
            <a:prstDash val="solid"/>
          </a:ln>
        </p:spPr>
      </p:sp>
      <p:sp>
        <p:nvSpPr>
          <p:cNvPr id="7" name="Text 4"/>
          <p:cNvSpPr/>
          <p:nvPr/>
        </p:nvSpPr>
        <p:spPr>
          <a:xfrm>
            <a:off x="676656" y="5541264"/>
            <a:ext cx="8339328" cy="585216"/>
          </a:xfrm>
          <a:prstGeom prst="rect">
            <a:avLst/>
          </a:prstGeom>
          <a:noFill/>
          <a:ln/>
        </p:spPr>
        <p:txBody>
          <a:bodyPr wrap="square" lIns="0" tIns="0" rIns="0" bIns="0" rtlCol="0" anchor="t"/>
          <a:lstStyle/>
          <a:p>
            <a:pPr indent="0" marL="0">
              <a:lnSpc>
                <a:spcPts val="2200"/>
              </a:lnSpc>
              <a:buNone/>
            </a:pPr>
            <a:r>
              <a:rPr lang="en-US" sz="1800" dirty="0">
                <a:solidFill>
                  <a:srgbClr val="24313F"/>
                </a:solidFill>
                <a:latin typeface="Georgia" pitchFamily="34" charset="0"/>
                <a:ea typeface="Georgia" pitchFamily="34" charset="-122"/>
                <a:cs typeface="Georgia" pitchFamily="34" charset="-120"/>
              </a:rPr>
              <a:t>Two grips carry the camera rig mid-take. One episode, one shot: every minute without a cut was walked, carried and rehearsed.</a:t>
            </a:r>
            <a:endParaRPr lang="en-US" sz="1800" dirty="0"/>
          </a:p>
        </p:txBody>
      </p:sp>
      <p:sp>
        <p:nvSpPr>
          <p:cNvPr id="8" name="Text 5"/>
          <p:cNvSpPr/>
          <p:nvPr/>
        </p:nvSpPr>
        <p:spPr>
          <a:xfrm>
            <a:off x="676656" y="6181344"/>
            <a:ext cx="8339328"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Adolescence (Netflix, 2025), production photograph</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DAY TWO · JIGSAW</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WHEN THE SYSTEM IS REFUSED</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051560"/>
            <a:ext cx="5042916" cy="164592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breathless-jump-1.jpg">    </p:cNvPr>
          <p:cNvPicPr>
            <a:picLocks noChangeAspect="1"/>
          </p:cNvPicPr>
          <p:nvPr/>
        </p:nvPicPr>
        <p:blipFill>
          <a:blip r:embed="rId1"/>
          <a:stretch>
            <a:fillRect/>
          </a:stretch>
        </p:blipFill>
        <p:spPr>
          <a:xfrm>
            <a:off x="2351904" y="1106424"/>
            <a:ext cx="1985027" cy="1536192"/>
          </a:xfrm>
          <a:prstGeom prst="rect">
            <a:avLst/>
          </a:prstGeom>
        </p:spPr>
      </p:pic>
      <p:sp>
        <p:nvSpPr>
          <p:cNvPr id="7" name="Text 4"/>
          <p:cNvSpPr/>
          <p:nvPr/>
        </p:nvSpPr>
        <p:spPr>
          <a:xfrm>
            <a:off x="822960" y="2734056"/>
            <a:ext cx="2651760" cy="310896"/>
          </a:xfrm>
          <a:prstGeom prst="rect">
            <a:avLst/>
          </a:prstGeom>
          <a:noFill/>
          <a:ln/>
        </p:spPr>
        <p:txBody>
          <a:bodyPr wrap="square" lIns="0" tIns="0" rIns="0" bIns="0" rtlCol="0" anchor="ctr"/>
          <a:lstStyle/>
          <a:p>
            <a:pPr indent="0" marL="0">
              <a:buNone/>
            </a:pPr>
            <a:r>
              <a:rPr lang="en-US" sz="1600" dirty="0">
                <a:solidFill>
                  <a:srgbClr val="4A6B5D"/>
                </a:solidFill>
                <a:latin typeface="Georgia" pitchFamily="34" charset="0"/>
                <a:ea typeface="Georgia" pitchFamily="34" charset="-122"/>
                <a:cs typeface="Georgia" pitchFamily="34" charset="-120"/>
              </a:rPr>
              <a:t>Jump cut</a:t>
            </a:r>
            <a:endParaRPr lang="en-US" sz="1600" dirty="0"/>
          </a:p>
        </p:txBody>
      </p:sp>
      <p:sp>
        <p:nvSpPr>
          <p:cNvPr id="8" name="Text 5"/>
          <p:cNvSpPr/>
          <p:nvPr/>
        </p:nvSpPr>
        <p:spPr>
          <a:xfrm>
            <a:off x="3474720" y="2734056"/>
            <a:ext cx="2391156" cy="566928"/>
          </a:xfrm>
          <a:prstGeom prst="rect">
            <a:avLst/>
          </a:prstGeom>
          <a:noFill/>
          <a:ln/>
        </p:spPr>
        <p:txBody>
          <a:bodyPr wrap="square" lIns="0" tIns="0" rIns="0" bIns="0" rtlCol="0" anchor="t"/>
          <a:lstStyle/>
          <a:p>
            <a:pPr indent="0" marL="0">
              <a:lnSpc>
                <a:spcPts val="1200"/>
              </a:lnSpc>
              <a:buNone/>
            </a:pPr>
            <a:r>
              <a:rPr lang="en-US" sz="950" i="1" dirty="0">
                <a:solidFill>
                  <a:srgbClr val="7A7F72"/>
                </a:solidFill>
                <a:latin typeface="Arial" pitchFamily="34" charset="0"/>
                <a:ea typeface="Arial" pitchFamily="34" charset="-122"/>
                <a:cs typeface="Arial" pitchFamily="34" charset="-120"/>
              </a:rPr>
              <a:t>Breathless (1960): the shot repeats with time missing. Breaking continuity as a signature.</a:t>
            </a:r>
            <a:endParaRPr lang="en-US" sz="950" dirty="0"/>
          </a:p>
        </p:txBody>
      </p:sp>
      <p:sp>
        <p:nvSpPr>
          <p:cNvPr id="9" name="Shape 6"/>
          <p:cNvSpPr/>
          <p:nvPr/>
        </p:nvSpPr>
        <p:spPr>
          <a:xfrm>
            <a:off x="6323076" y="1051560"/>
            <a:ext cx="2430018" cy="1645920"/>
          </a:xfrm>
          <a:prstGeom prst="rect">
            <a:avLst/>
          </a:prstGeom>
          <a:solidFill>
            <a:srgbClr val="FAF8F1"/>
          </a:solidFill>
          <a:ln w="9525">
            <a:solidFill>
              <a:srgbClr val="D9D4C4"/>
            </a:solidFill>
            <a:prstDash val="solid"/>
          </a:ln>
        </p:spPr>
      </p:sp>
      <p:pic>
        <p:nvPicPr>
          <p:cNvPr id="10" name="Image 1" descr="/Users/dogan/Documents/Vaults/Courses/wiki/classes/media-studies/decks/_build/img/dunkirk-beach.jpg">    </p:cNvPr>
          <p:cNvPicPr>
            <a:picLocks noChangeAspect="1"/>
          </p:cNvPicPr>
          <p:nvPr/>
        </p:nvPicPr>
        <p:blipFill>
          <a:blip r:embed="rId2"/>
          <a:stretch>
            <a:fillRect/>
          </a:stretch>
        </p:blipFill>
        <p:spPr>
          <a:xfrm>
            <a:off x="6377940" y="1221938"/>
            <a:ext cx="2320290" cy="1305163"/>
          </a:xfrm>
          <a:prstGeom prst="rect">
            <a:avLst/>
          </a:prstGeom>
        </p:spPr>
      </p:pic>
      <p:sp>
        <p:nvSpPr>
          <p:cNvPr id="11" name="Shape 7"/>
          <p:cNvSpPr/>
          <p:nvPr/>
        </p:nvSpPr>
        <p:spPr>
          <a:xfrm>
            <a:off x="8935974" y="1051560"/>
            <a:ext cx="2430018" cy="1645920"/>
          </a:xfrm>
          <a:prstGeom prst="rect">
            <a:avLst/>
          </a:prstGeom>
          <a:solidFill>
            <a:srgbClr val="FAF8F1"/>
          </a:solidFill>
          <a:ln w="9525">
            <a:solidFill>
              <a:srgbClr val="D9D4C4"/>
            </a:solidFill>
            <a:prstDash val="solid"/>
          </a:ln>
        </p:spPr>
      </p:sp>
      <p:pic>
        <p:nvPicPr>
          <p:cNvPr id="12" name="Image 2" descr="/Users/dogan/Documents/Vaults/Courses/wiki/classes/media-studies/decks/_build/img/dunkirk-air.jpg">    </p:cNvPr>
          <p:cNvPicPr>
            <a:picLocks noChangeAspect="1"/>
          </p:cNvPicPr>
          <p:nvPr/>
        </p:nvPicPr>
        <p:blipFill>
          <a:blip r:embed="rId3"/>
          <a:stretch>
            <a:fillRect/>
          </a:stretch>
        </p:blipFill>
        <p:spPr>
          <a:xfrm>
            <a:off x="8990838" y="1221938"/>
            <a:ext cx="2320290" cy="1305163"/>
          </a:xfrm>
          <a:prstGeom prst="rect">
            <a:avLst/>
          </a:prstGeom>
        </p:spPr>
      </p:pic>
      <p:sp>
        <p:nvSpPr>
          <p:cNvPr id="13" name="Text 8"/>
          <p:cNvSpPr/>
          <p:nvPr/>
        </p:nvSpPr>
        <p:spPr>
          <a:xfrm>
            <a:off x="6323076" y="2734056"/>
            <a:ext cx="2651760" cy="310896"/>
          </a:xfrm>
          <a:prstGeom prst="rect">
            <a:avLst/>
          </a:prstGeom>
          <a:noFill/>
          <a:ln/>
        </p:spPr>
        <p:txBody>
          <a:bodyPr wrap="square" lIns="0" tIns="0" rIns="0" bIns="0" rtlCol="0" anchor="ctr"/>
          <a:lstStyle/>
          <a:p>
            <a:pPr indent="0" marL="0">
              <a:buNone/>
            </a:pPr>
            <a:r>
              <a:rPr lang="en-US" sz="1600" dirty="0">
                <a:solidFill>
                  <a:srgbClr val="4A6B5D"/>
                </a:solidFill>
                <a:latin typeface="Georgia" pitchFamily="34" charset="0"/>
                <a:ea typeface="Georgia" pitchFamily="34" charset="-122"/>
                <a:cs typeface="Georgia" pitchFamily="34" charset="-120"/>
              </a:rPr>
              <a:t>Crosscutting</a:t>
            </a:r>
            <a:endParaRPr lang="en-US" sz="1600" dirty="0"/>
          </a:p>
        </p:txBody>
      </p:sp>
      <p:sp>
        <p:nvSpPr>
          <p:cNvPr id="14" name="Text 9"/>
          <p:cNvSpPr/>
          <p:nvPr/>
        </p:nvSpPr>
        <p:spPr>
          <a:xfrm>
            <a:off x="8974836" y="2734056"/>
            <a:ext cx="2391156" cy="566928"/>
          </a:xfrm>
          <a:prstGeom prst="rect">
            <a:avLst/>
          </a:prstGeom>
          <a:noFill/>
          <a:ln/>
        </p:spPr>
        <p:txBody>
          <a:bodyPr wrap="square" lIns="0" tIns="0" rIns="0" bIns="0" rtlCol="0" anchor="t"/>
          <a:lstStyle/>
          <a:p>
            <a:pPr indent="0" marL="0">
              <a:lnSpc>
                <a:spcPts val="1200"/>
              </a:lnSpc>
              <a:buNone/>
            </a:pPr>
            <a:r>
              <a:rPr lang="en-US" sz="950" i="1" dirty="0">
                <a:solidFill>
                  <a:srgbClr val="7A7F72"/>
                </a:solidFill>
                <a:latin typeface="Arial" pitchFamily="34" charset="0"/>
                <a:ea typeface="Arial" pitchFamily="34" charset="-122"/>
                <a:cs typeface="Arial" pitchFamily="34" charset="-120"/>
              </a:rPr>
              <a:t>Dunkirk (2017): two places, one dread. Parallel lines cut against each other.</a:t>
            </a:r>
            <a:endParaRPr lang="en-US" sz="950" dirty="0"/>
          </a:p>
        </p:txBody>
      </p:sp>
      <p:sp>
        <p:nvSpPr>
          <p:cNvPr id="15" name="Shape 10"/>
          <p:cNvSpPr/>
          <p:nvPr/>
        </p:nvSpPr>
        <p:spPr>
          <a:xfrm>
            <a:off x="822960" y="3566160"/>
            <a:ext cx="2430018" cy="1645920"/>
          </a:xfrm>
          <a:prstGeom prst="rect">
            <a:avLst/>
          </a:prstGeom>
          <a:solidFill>
            <a:srgbClr val="FAF8F1"/>
          </a:solidFill>
          <a:ln w="9525">
            <a:solidFill>
              <a:srgbClr val="D9D4C4"/>
            </a:solidFill>
            <a:prstDash val="solid"/>
          </a:ln>
        </p:spPr>
      </p:sp>
      <p:pic>
        <p:nvPicPr>
          <p:cNvPr id="16" name="Image 3" descr="/Users/dogan/Documents/Vaults/Courses/wiki/classes/media-studies/decks/_build/img/2001-bone.jpg">    </p:cNvPr>
          <p:cNvPicPr>
            <a:picLocks noChangeAspect="1"/>
          </p:cNvPicPr>
          <p:nvPr/>
        </p:nvPicPr>
        <p:blipFill>
          <a:blip r:embed="rId4"/>
          <a:stretch>
            <a:fillRect/>
          </a:stretch>
        </p:blipFill>
        <p:spPr>
          <a:xfrm>
            <a:off x="877824" y="3852100"/>
            <a:ext cx="2320290" cy="1074040"/>
          </a:xfrm>
          <a:prstGeom prst="rect">
            <a:avLst/>
          </a:prstGeom>
        </p:spPr>
      </p:pic>
      <p:sp>
        <p:nvSpPr>
          <p:cNvPr id="17" name="Shape 11"/>
          <p:cNvSpPr/>
          <p:nvPr/>
        </p:nvSpPr>
        <p:spPr>
          <a:xfrm>
            <a:off x="3435858" y="3566160"/>
            <a:ext cx="2430018" cy="1645920"/>
          </a:xfrm>
          <a:prstGeom prst="rect">
            <a:avLst/>
          </a:prstGeom>
          <a:solidFill>
            <a:srgbClr val="FAF8F1"/>
          </a:solidFill>
          <a:ln w="9525">
            <a:solidFill>
              <a:srgbClr val="D9D4C4"/>
            </a:solidFill>
            <a:prstDash val="solid"/>
          </a:ln>
        </p:spPr>
      </p:sp>
      <p:pic>
        <p:nvPicPr>
          <p:cNvPr id="18" name="Image 4" descr="/Users/dogan/Documents/Vaults/Courses/wiki/classes/media-studies/decks/_build/img/2001-satellite.jpg">    </p:cNvPr>
          <p:cNvPicPr>
            <a:picLocks noChangeAspect="1"/>
          </p:cNvPicPr>
          <p:nvPr/>
        </p:nvPicPr>
        <p:blipFill>
          <a:blip r:embed="rId5"/>
          <a:stretch>
            <a:fillRect/>
          </a:stretch>
        </p:blipFill>
        <p:spPr>
          <a:xfrm>
            <a:off x="3490722" y="3848701"/>
            <a:ext cx="2320290" cy="1080838"/>
          </a:xfrm>
          <a:prstGeom prst="rect">
            <a:avLst/>
          </a:prstGeom>
        </p:spPr>
      </p:pic>
      <p:sp>
        <p:nvSpPr>
          <p:cNvPr id="19" name="Text 12"/>
          <p:cNvSpPr/>
          <p:nvPr/>
        </p:nvSpPr>
        <p:spPr>
          <a:xfrm>
            <a:off x="822960" y="5248656"/>
            <a:ext cx="2651760" cy="310896"/>
          </a:xfrm>
          <a:prstGeom prst="rect">
            <a:avLst/>
          </a:prstGeom>
          <a:noFill/>
          <a:ln/>
        </p:spPr>
        <p:txBody>
          <a:bodyPr wrap="square" lIns="0" tIns="0" rIns="0" bIns="0" rtlCol="0" anchor="ctr"/>
          <a:lstStyle/>
          <a:p>
            <a:pPr indent="0" marL="0">
              <a:buNone/>
            </a:pPr>
            <a:r>
              <a:rPr lang="en-US" sz="1600" dirty="0">
                <a:solidFill>
                  <a:srgbClr val="4A6B5D"/>
                </a:solidFill>
                <a:latin typeface="Georgia" pitchFamily="34" charset="0"/>
                <a:ea typeface="Georgia" pitchFamily="34" charset="-122"/>
                <a:cs typeface="Georgia" pitchFamily="34" charset="-120"/>
              </a:rPr>
              <a:t>Graphic match</a:t>
            </a:r>
            <a:endParaRPr lang="en-US" sz="1600" dirty="0"/>
          </a:p>
        </p:txBody>
      </p:sp>
      <p:sp>
        <p:nvSpPr>
          <p:cNvPr id="20" name="Text 13"/>
          <p:cNvSpPr/>
          <p:nvPr/>
        </p:nvSpPr>
        <p:spPr>
          <a:xfrm>
            <a:off x="3474720" y="5248656"/>
            <a:ext cx="2391156" cy="566928"/>
          </a:xfrm>
          <a:prstGeom prst="rect">
            <a:avLst/>
          </a:prstGeom>
          <a:noFill/>
          <a:ln/>
        </p:spPr>
        <p:txBody>
          <a:bodyPr wrap="square" lIns="0" tIns="0" rIns="0" bIns="0" rtlCol="0" anchor="t"/>
          <a:lstStyle/>
          <a:p>
            <a:pPr indent="0" marL="0">
              <a:lnSpc>
                <a:spcPts val="1200"/>
              </a:lnSpc>
              <a:buNone/>
            </a:pPr>
            <a:r>
              <a:rPr lang="en-US" sz="950" i="1" dirty="0">
                <a:solidFill>
                  <a:srgbClr val="7A7F72"/>
                </a:solidFill>
                <a:latin typeface="Arial" pitchFamily="34" charset="0"/>
                <a:ea typeface="Arial" pitchFamily="34" charset="-122"/>
                <a:cs typeface="Arial" pitchFamily="34" charset="-120"/>
              </a:rPr>
              <a:t>2001 (1968): a bone becomes a station. Shape carries the cut across four million years.</a:t>
            </a:r>
            <a:endParaRPr lang="en-US" sz="950" dirty="0"/>
          </a:p>
        </p:txBody>
      </p:sp>
      <p:sp>
        <p:nvSpPr>
          <p:cNvPr id="21" name="Shape 14"/>
          <p:cNvSpPr/>
          <p:nvPr/>
        </p:nvSpPr>
        <p:spPr>
          <a:xfrm>
            <a:off x="6323076" y="3566160"/>
            <a:ext cx="5042916" cy="1645920"/>
          </a:xfrm>
          <a:prstGeom prst="rect">
            <a:avLst/>
          </a:prstGeom>
          <a:solidFill>
            <a:srgbClr val="FAF8F1"/>
          </a:solidFill>
          <a:ln w="9525">
            <a:solidFill>
              <a:srgbClr val="D9D4C4"/>
            </a:solidFill>
            <a:prstDash val="solid"/>
          </a:ln>
        </p:spPr>
      </p:sp>
      <p:pic>
        <p:nvPicPr>
          <p:cNvPr id="22" name="Image 5" descr="/Users/dogan/Documents/Vaults/Courses/wiki/classes/media-studies/decks/_build/img/1917-longtake.jpg">    </p:cNvPr>
          <p:cNvPicPr>
            <a:picLocks noChangeAspect="1"/>
          </p:cNvPicPr>
          <p:nvPr/>
        </p:nvPicPr>
        <p:blipFill>
          <a:blip r:embed="rId6"/>
          <a:stretch>
            <a:fillRect/>
          </a:stretch>
        </p:blipFill>
        <p:spPr>
          <a:xfrm>
            <a:off x="6999951" y="3621024"/>
            <a:ext cx="3689167" cy="1536192"/>
          </a:xfrm>
          <a:prstGeom prst="rect">
            <a:avLst/>
          </a:prstGeom>
        </p:spPr>
      </p:pic>
      <p:sp>
        <p:nvSpPr>
          <p:cNvPr id="23" name="Text 15"/>
          <p:cNvSpPr/>
          <p:nvPr/>
        </p:nvSpPr>
        <p:spPr>
          <a:xfrm>
            <a:off x="6323076" y="5248656"/>
            <a:ext cx="2651760" cy="310896"/>
          </a:xfrm>
          <a:prstGeom prst="rect">
            <a:avLst/>
          </a:prstGeom>
          <a:noFill/>
          <a:ln/>
        </p:spPr>
        <p:txBody>
          <a:bodyPr wrap="square" lIns="0" tIns="0" rIns="0" bIns="0" rtlCol="0" anchor="ctr"/>
          <a:lstStyle/>
          <a:p>
            <a:pPr indent="0" marL="0">
              <a:buNone/>
            </a:pPr>
            <a:r>
              <a:rPr lang="en-US" sz="1600" dirty="0">
                <a:solidFill>
                  <a:srgbClr val="4A6B5D"/>
                </a:solidFill>
                <a:latin typeface="Georgia" pitchFamily="34" charset="0"/>
                <a:ea typeface="Georgia" pitchFamily="34" charset="-122"/>
                <a:cs typeface="Georgia" pitchFamily="34" charset="-120"/>
              </a:rPr>
              <a:t>The long take</a:t>
            </a:r>
            <a:endParaRPr lang="en-US" sz="1600" dirty="0"/>
          </a:p>
        </p:txBody>
      </p:sp>
      <p:sp>
        <p:nvSpPr>
          <p:cNvPr id="24" name="Text 16"/>
          <p:cNvSpPr/>
          <p:nvPr/>
        </p:nvSpPr>
        <p:spPr>
          <a:xfrm>
            <a:off x="8974836" y="5248656"/>
            <a:ext cx="2391156" cy="566928"/>
          </a:xfrm>
          <a:prstGeom prst="rect">
            <a:avLst/>
          </a:prstGeom>
          <a:noFill/>
          <a:ln/>
        </p:spPr>
        <p:txBody>
          <a:bodyPr wrap="square" lIns="0" tIns="0" rIns="0" bIns="0" rtlCol="0" anchor="t"/>
          <a:lstStyle/>
          <a:p>
            <a:pPr indent="0" marL="0">
              <a:lnSpc>
                <a:spcPts val="1200"/>
              </a:lnSpc>
              <a:buNone/>
            </a:pPr>
            <a:r>
              <a:rPr lang="en-US" sz="950" i="1" dirty="0">
                <a:solidFill>
                  <a:srgbClr val="7A7F72"/>
                </a:solidFill>
                <a:latin typeface="Arial" pitchFamily="34" charset="0"/>
                <a:ea typeface="Arial" pitchFamily="34" charset="-122"/>
                <a:cs typeface="Arial" pitchFamily="34" charset="-120"/>
              </a:rPr>
              <a:t>1917 (2019): the cut refused for two hours. Duration as tension.</a:t>
            </a:r>
            <a:endParaRPr lang="en-US" sz="950" dirty="0"/>
          </a:p>
        </p:txBody>
      </p:sp>
      <p:sp>
        <p:nvSpPr>
          <p:cNvPr id="25" name="Text 17"/>
          <p:cNvSpPr/>
          <p:nvPr/>
        </p:nvSpPr>
        <p:spPr>
          <a:xfrm>
            <a:off x="822960" y="6108192"/>
            <a:ext cx="10543032" cy="502920"/>
          </a:xfrm>
          <a:prstGeom prst="rect">
            <a:avLst/>
          </a:prstGeom>
          <a:noFill/>
          <a:ln/>
        </p:spPr>
        <p:txBody>
          <a:bodyPr wrap="square" lIns="0" tIns="0" rIns="0" bIns="0" rtlCol="0" anchor="t"/>
          <a:lstStyle/>
          <a:p>
            <a:pPr indent="0" marL="0">
              <a:lnSpc>
                <a:spcPts val="1400"/>
              </a:lnSpc>
              <a:buNone/>
            </a:pPr>
            <a:r>
              <a:rPr lang="en-US" sz="1050" i="1" dirty="0">
                <a:solidFill>
                  <a:srgbClr val="7A7F72"/>
                </a:solidFill>
                <a:latin typeface="Arial" pitchFamily="34" charset="0"/>
                <a:ea typeface="Arial" pitchFamily="34" charset="-122"/>
                <a:cs typeface="Arial" pitchFamily="34" charset="-120"/>
              </a:rPr>
              <a:t>Also in the family: ellipsis, expansion of time, slow motion, dissolves, fades, wipes, superimposition. Long take, short take and slow motion are filed under editing, not camera; candidates misfile them every year.</a:t>
            </a:r>
            <a:endParaRPr lang="en-US" sz="1050" dirty="0"/>
          </a:p>
        </p:txBody>
      </p:sp>
      <p:sp>
        <p:nvSpPr>
          <p:cNvPr id="26" name="Shape 18"/>
          <p:cNvSpPr/>
          <p:nvPr/>
        </p:nvSpPr>
        <p:spPr>
          <a:xfrm>
            <a:off x="822960" y="6382512"/>
            <a:ext cx="10543032" cy="0"/>
          </a:xfrm>
          <a:prstGeom prst="line">
            <a:avLst/>
          </a:prstGeom>
          <a:noFill/>
          <a:ln w="9525">
            <a:solidFill>
              <a:srgbClr val="D9D4C4"/>
            </a:solidFill>
            <a:prstDash val="solid"/>
          </a:ln>
        </p:spPr>
      </p:sp>
      <p:sp>
        <p:nvSpPr>
          <p:cNvPr id="27" name="Text 1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8" name="Text 2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REWRITING THE DEAD SENTENCE</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EDITING'S VERSION OF THE NAMING PROBLEM</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143000"/>
            <a:ext cx="10543032" cy="822960"/>
          </a:xfrm>
          <a:prstGeom prst="rect">
            <a:avLst/>
          </a:prstGeom>
          <a:noFill/>
          <a:ln/>
        </p:spPr>
        <p:txBody>
          <a:bodyPr wrap="square" lIns="0" tIns="0" rIns="0" bIns="0" rtlCol="0" anchor="ctr"/>
          <a:lstStyle/>
          <a:p>
            <a:pPr indent="0" marL="0">
              <a:buNone/>
            </a:pPr>
            <a:r>
              <a:rPr lang="en-US" sz="3600" dirty="0">
                <a:solidFill>
                  <a:srgbClr val="7A7F72"/>
                </a:solidFill>
                <a:latin typeface="Georgia" pitchFamily="34" charset="0"/>
                <a:ea typeface="Georgia" pitchFamily="34" charset="-122"/>
                <a:cs typeface="Georgia" pitchFamily="34" charset="-120"/>
              </a:rPr>
              <a:t>'The editing is fast-paced'</a:t>
            </a:r>
            <a:endParaRPr lang="en-US" sz="3600" dirty="0"/>
          </a:p>
        </p:txBody>
      </p:sp>
      <p:sp>
        <p:nvSpPr>
          <p:cNvPr id="6" name="Shape 4"/>
          <p:cNvSpPr/>
          <p:nvPr/>
        </p:nvSpPr>
        <p:spPr>
          <a:xfrm>
            <a:off x="822960" y="2240280"/>
            <a:ext cx="914400" cy="0"/>
          </a:xfrm>
          <a:prstGeom prst="line">
            <a:avLst/>
          </a:prstGeom>
          <a:noFill/>
          <a:ln w="31750">
            <a:solidFill>
              <a:srgbClr val="8C3A38"/>
            </a:solidFill>
            <a:prstDash val="solid"/>
          </a:ln>
        </p:spPr>
      </p:sp>
      <p:sp>
        <p:nvSpPr>
          <p:cNvPr id="7" name="Text 5"/>
          <p:cNvSpPr/>
          <p:nvPr/>
        </p:nvSpPr>
        <p:spPr>
          <a:xfrm>
            <a:off x="822960" y="2423160"/>
            <a:ext cx="10058400" cy="457200"/>
          </a:xfrm>
          <a:prstGeom prst="rect">
            <a:avLst/>
          </a:prstGeom>
          <a:noFill/>
          <a:ln/>
        </p:spPr>
        <p:txBody>
          <a:bodyPr wrap="square" lIns="0" tIns="0" rIns="0" bIns="0" rtlCol="0" anchor="ctr"/>
          <a:lstStyle/>
          <a:p>
            <a:pPr indent="0" marL="0">
              <a:buNone/>
            </a:pPr>
            <a:r>
              <a:rPr lang="en-US" sz="1300" i="1" dirty="0">
                <a:solidFill>
                  <a:srgbClr val="7A7F72"/>
                </a:solidFill>
                <a:latin typeface="Arial" pitchFamily="34" charset="0"/>
                <a:ea typeface="Arial" pitchFamily="34" charset="-122"/>
                <a:cs typeface="Arial" pitchFamily="34" charset="-120"/>
              </a:rPr>
              <a:t>Worth nothing. It reports an impression and offers no evidence, and every second script says it.</a:t>
            </a:r>
            <a:endParaRPr lang="en-US" sz="1300" dirty="0"/>
          </a:p>
        </p:txBody>
      </p:sp>
      <p:sp>
        <p:nvSpPr>
          <p:cNvPr id="8" name="Shape 6"/>
          <p:cNvSpPr/>
          <p:nvPr/>
        </p:nvSpPr>
        <p:spPr>
          <a:xfrm>
            <a:off x="822960" y="3017520"/>
            <a:ext cx="10543032" cy="1828800"/>
          </a:xfrm>
          <a:prstGeom prst="rect">
            <a:avLst/>
          </a:prstGeom>
          <a:solidFill>
            <a:srgbClr val="E8EFE7"/>
          </a:solidFill>
          <a:ln/>
        </p:spPr>
      </p:sp>
      <p:sp>
        <p:nvSpPr>
          <p:cNvPr id="9" name="Text 7"/>
          <p:cNvSpPr/>
          <p:nvPr/>
        </p:nvSpPr>
        <p:spPr>
          <a:xfrm>
            <a:off x="1143000" y="3200400"/>
            <a:ext cx="9902952" cy="1463040"/>
          </a:xfrm>
          <a:prstGeom prst="rect">
            <a:avLst/>
          </a:prstGeom>
          <a:noFill/>
          <a:ln/>
        </p:spPr>
        <p:txBody>
          <a:bodyPr wrap="square" lIns="0" tIns="0" rIns="0" bIns="0" rtlCol="0" anchor="ctr"/>
          <a:lstStyle/>
          <a:p>
            <a:pPr indent="0" marL="0">
              <a:lnSpc>
                <a:spcPts val="3000"/>
              </a:lnSpc>
              <a:buNone/>
            </a:pPr>
            <a:r>
              <a:rPr lang="en-US" sz="2100" dirty="0">
                <a:solidFill>
                  <a:srgbClr val="24313F"/>
                </a:solidFill>
                <a:latin typeface="Georgia" pitchFamily="34" charset="0"/>
                <a:ea typeface="Georgia" pitchFamily="34" charset="-122"/>
                <a:cs typeface="Georgia" pitchFamily="34" charset="-120"/>
              </a:rPr>
              <a:t>The sequence cuts eleven times in thirty seconds, denying the viewer time to settle on any single face, so the chase is experienced as disorientation rather than observed from outside.</a:t>
            </a:r>
            <a:endParaRPr lang="en-US" sz="2100" dirty="0"/>
          </a:p>
        </p:txBody>
      </p:sp>
      <p:sp>
        <p:nvSpPr>
          <p:cNvPr id="10" name="Text 8"/>
          <p:cNvSpPr/>
          <p:nvPr/>
        </p:nvSpPr>
        <p:spPr>
          <a:xfrm>
            <a:off x="822960" y="5074920"/>
            <a:ext cx="10424160" cy="548640"/>
          </a:xfrm>
          <a:prstGeom prst="rect">
            <a:avLst/>
          </a:prstGeom>
          <a:noFill/>
          <a:ln/>
        </p:spPr>
        <p:txBody>
          <a:bodyPr wrap="square" lIns="0" tIns="0" rIns="0" bIns="0" rtlCol="0" anchor="ctr"/>
          <a:lstStyle/>
          <a:p>
            <a:pPr indent="0" marL="0">
              <a:buNone/>
            </a:pPr>
            <a:r>
              <a:rPr lang="en-US" sz="1650" i="1" dirty="0">
                <a:solidFill>
                  <a:srgbClr val="4A6B5D"/>
                </a:solidFill>
                <a:latin typeface="Georgia" pitchFamily="34" charset="0"/>
                <a:ea typeface="Georgia" pitchFamily="34" charset="-122"/>
                <a:cs typeface="Georgia" pitchFamily="34" charset="-120"/>
              </a:rPr>
              <a:t>A count, an effect, and a claim about the viewer's position. The count is free: you learned to take it in the first fifteen minutes of this lesson.</a:t>
            </a:r>
            <a:endParaRPr lang="en-US" sz="1650" dirty="0"/>
          </a:p>
        </p:txBody>
      </p:sp>
      <p:sp>
        <p:nvSpPr>
          <p:cNvPr id="11" name="Shape 9"/>
          <p:cNvSpPr/>
          <p:nvPr/>
        </p:nvSpPr>
        <p:spPr>
          <a:xfrm>
            <a:off x="822960" y="6382512"/>
            <a:ext cx="10543032" cy="0"/>
          </a:xfrm>
          <a:prstGeom prst="line">
            <a:avLst/>
          </a:prstGeom>
          <a:noFill/>
          <a:ln w="9525">
            <a:solidFill>
              <a:srgbClr val="D9D4C4"/>
            </a:solidFill>
            <a:prstDash val="solid"/>
          </a:ln>
        </p:spPr>
      </p:sp>
      <p:sp>
        <p:nvSpPr>
          <p:cNvPr id="12" name="Text 1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3" name="Text 1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CS6</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MONDAY, TWENTY MINUTES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The same sequence, cut twice</a:t>
            </a:r>
            <a:endParaRPr lang="en-US" sz="3200" dirty="0"/>
          </a:p>
        </p:txBody>
      </p:sp>
      <p:sp>
        <p:nvSpPr>
          <p:cNvPr id="6" name="Text 4"/>
          <p:cNvSpPr/>
          <p:nvPr/>
        </p:nvSpPr>
        <p:spPr>
          <a:xfrm>
            <a:off x="822960" y="1783080"/>
            <a:ext cx="4846320"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Version one</a:t>
            </a:r>
            <a:endParaRPr lang="en-US" sz="2200" dirty="0"/>
          </a:p>
        </p:txBody>
      </p:sp>
      <p:sp>
        <p:nvSpPr>
          <p:cNvPr id="7" name="Shape 5"/>
          <p:cNvSpPr/>
          <p:nvPr/>
        </p:nvSpPr>
        <p:spPr>
          <a:xfrm>
            <a:off x="822960" y="2286000"/>
            <a:ext cx="4754880" cy="0"/>
          </a:xfrm>
          <a:prstGeom prst="line">
            <a:avLst/>
          </a:prstGeom>
          <a:noFill/>
          <a:ln w="9525">
            <a:solidFill>
              <a:srgbClr val="D9D4C4"/>
            </a:solidFill>
            <a:prstDash val="solid"/>
          </a:ln>
        </p:spPr>
      </p:sp>
      <p:sp>
        <p:nvSpPr>
          <p:cNvPr id="8" name="Text 6"/>
          <p:cNvSpPr/>
          <p:nvPr/>
        </p:nvSpPr>
        <p:spPr>
          <a:xfrm>
            <a:off x="822960" y="2423160"/>
            <a:ext cx="4846320" cy="146304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Continuity held. An establishing shot, a shot / reverse shot exchange, one eyeline match. It has to hold together; it does not have to be good.</a:t>
            </a:r>
            <a:endParaRPr lang="en-US" sz="1550" dirty="0"/>
          </a:p>
        </p:txBody>
      </p:sp>
      <p:sp>
        <p:nvSpPr>
          <p:cNvPr id="9" name="Text 7"/>
          <p:cNvSpPr/>
          <p:nvPr/>
        </p:nvSpPr>
        <p:spPr>
          <a:xfrm>
            <a:off x="6309360" y="1783080"/>
            <a:ext cx="4846320" cy="457200"/>
          </a:xfrm>
          <a:prstGeom prst="rect">
            <a:avLst/>
          </a:prstGeom>
          <a:noFill/>
          <a:ln/>
        </p:spPr>
        <p:txBody>
          <a:bodyPr wrap="square" lIns="0" tIns="0" rIns="0" bIns="0" rtlCol="0" anchor="ctr"/>
          <a:lstStyle/>
          <a:p>
            <a:pPr indent="0" marL="0">
              <a:buNone/>
            </a:pPr>
            <a:r>
              <a:rPr lang="en-US" sz="2200" dirty="0">
                <a:solidFill>
                  <a:srgbClr val="8C3A38"/>
                </a:solidFill>
                <a:latin typeface="Georgia" pitchFamily="34" charset="0"/>
                <a:ea typeface="Georgia" pitchFamily="34" charset="-122"/>
                <a:cs typeface="Georgia" pitchFamily="34" charset="-120"/>
              </a:rPr>
              <a:t>Version two</a:t>
            </a:r>
            <a:endParaRPr lang="en-US" sz="2200" dirty="0"/>
          </a:p>
        </p:txBody>
      </p:sp>
      <p:sp>
        <p:nvSpPr>
          <p:cNvPr id="10" name="Shape 8"/>
          <p:cNvSpPr/>
          <p:nvPr/>
        </p:nvSpPr>
        <p:spPr>
          <a:xfrm>
            <a:off x="6309360" y="2286000"/>
            <a:ext cx="4754880" cy="0"/>
          </a:xfrm>
          <a:prstGeom prst="line">
            <a:avLst/>
          </a:prstGeom>
          <a:noFill/>
          <a:ln w="9525">
            <a:solidFill>
              <a:srgbClr val="D9D4C4"/>
            </a:solidFill>
            <a:prstDash val="solid"/>
          </a:ln>
        </p:spPr>
      </p:sp>
      <p:sp>
        <p:nvSpPr>
          <p:cNvPr id="11" name="Text 9"/>
          <p:cNvSpPr/>
          <p:nvPr/>
        </p:nvSpPr>
        <p:spPr>
          <a:xfrm>
            <a:off x="6309360" y="2423160"/>
            <a:ext cx="4846320" cy="146304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The 180-degree rule broken on purpose, plus one transition chosen and justified. The break must be the intended one, not an accident.</a:t>
            </a:r>
            <a:endParaRPr lang="en-US" sz="1550" dirty="0"/>
          </a:p>
        </p:txBody>
      </p:sp>
      <p:sp>
        <p:nvSpPr>
          <p:cNvPr id="12" name="Shape 10"/>
          <p:cNvSpPr/>
          <p:nvPr/>
        </p:nvSpPr>
        <p:spPr>
          <a:xfrm>
            <a:off x="822960" y="4114800"/>
            <a:ext cx="10543032" cy="1600200"/>
          </a:xfrm>
          <a:prstGeom prst="rect">
            <a:avLst/>
          </a:prstGeom>
          <a:solidFill>
            <a:srgbClr val="FAF8F1"/>
          </a:solidFill>
          <a:ln w="9525">
            <a:solidFill>
              <a:srgbClr val="D9D4C4"/>
            </a:solidFill>
            <a:prstDash val="solid"/>
          </a:ln>
        </p:spPr>
      </p:sp>
      <p:pic>
        <p:nvPicPr>
          <p:cNvPr id="13" name="Image 0" descr="/Users/dogan/Documents/Vaults/Courses/wiki/classes/media-studies/decks/_build/img/edit-timeline.jpg">    </p:cNvPr>
          <p:cNvPicPr>
            <a:picLocks noChangeAspect="1"/>
          </p:cNvPicPr>
          <p:nvPr/>
        </p:nvPicPr>
        <p:blipFill>
          <a:blip r:embed="rId1"/>
          <a:stretch>
            <a:fillRect/>
          </a:stretch>
        </p:blipFill>
        <p:spPr>
          <a:xfrm>
            <a:off x="5086350" y="4242816"/>
            <a:ext cx="2016252" cy="1344168"/>
          </a:xfrm>
          <a:prstGeom prst="rect">
            <a:avLst/>
          </a:prstGeom>
        </p:spPr>
      </p:pic>
      <p:sp>
        <p:nvSpPr>
          <p:cNvPr id="14" name="Text 11"/>
          <p:cNvSpPr/>
          <p:nvPr/>
        </p:nvSpPr>
        <p:spPr>
          <a:xfrm>
            <a:off x="822960" y="5742432"/>
            <a:ext cx="10543032" cy="27432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The cut, on any timeline you own: layers, trims, one dissolve. Photograph: Peter Stumpf, Unsplash</a:t>
            </a:r>
            <a:endParaRPr lang="en-US" sz="1000" dirty="0"/>
          </a:p>
        </p:txBody>
      </p:sp>
      <p:sp>
        <p:nvSpPr>
          <p:cNvPr id="15" name="Text 12"/>
          <p:cNvSpPr/>
          <p:nvPr/>
        </p:nvSpPr>
        <p:spPr>
          <a:xfrm>
            <a:off x="822960" y="6053328"/>
            <a:ext cx="10543032" cy="320040"/>
          </a:xfrm>
          <a:prstGeom prst="rect">
            <a:avLst/>
          </a:prstGeom>
          <a:noFill/>
          <a:ln/>
        </p:spPr>
        <p:txBody>
          <a:bodyPr wrap="square" lIns="0" tIns="0" rIns="0" bIns="0" rtlCol="0" anchor="ctr"/>
          <a:lstStyle/>
          <a:p>
            <a:pPr indent="0" marL="0">
              <a:buNone/>
            </a:pPr>
            <a:r>
              <a:rPr lang="en-US" sz="1250" i="1" dirty="0">
                <a:solidFill>
                  <a:srgbClr val="4A6B5D"/>
                </a:solidFill>
                <a:latin typeface="Georgia" pitchFamily="34" charset="0"/>
                <a:ea typeface="Georgia" pitchFamily="34" charset="-122"/>
                <a:cs typeface="Georgia" pitchFamily="34" charset="-120"/>
              </a:rPr>
              <a:t>Both versions posted and dated on the blog, with two or three sentences naming what breaks in version two.</a:t>
            </a:r>
            <a:endParaRPr lang="en-US" sz="1250" dirty="0"/>
          </a:p>
        </p:txBody>
      </p:sp>
      <p:sp>
        <p:nvSpPr>
          <p:cNvPr id="16" name="Shape 13"/>
          <p:cNvSpPr/>
          <p:nvPr/>
        </p:nvSpPr>
        <p:spPr>
          <a:xfrm>
            <a:off x="822960" y="6382512"/>
            <a:ext cx="10543032" cy="0"/>
          </a:xfrm>
          <a:prstGeom prst="line">
            <a:avLst/>
          </a:prstGeom>
          <a:noFill/>
          <a:ln w="9525">
            <a:solidFill>
              <a:srgbClr val="D9D4C4"/>
            </a:solidFill>
            <a:prstDash val="solid"/>
          </a:ln>
        </p:spPr>
      </p:sp>
      <p:sp>
        <p:nvSpPr>
          <p:cNvPr id="17" name="Text 1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8" name="Text 1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FOUR ELEMENTS, FOUR BUILDS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WHAT IS NOW ON YOUR BLOG</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5156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The practice stage, evidenced</a:t>
            </a:r>
            <a:endParaRPr lang="en-US" sz="3400" dirty="0"/>
          </a:p>
        </p:txBody>
      </p:sp>
      <p:sp>
        <p:nvSpPr>
          <p:cNvPr id="6" name="Shape 4"/>
          <p:cNvSpPr/>
          <p:nvPr/>
        </p:nvSpPr>
        <p:spPr>
          <a:xfrm>
            <a:off x="822960" y="1965960"/>
            <a:ext cx="914400" cy="658368"/>
          </a:xfrm>
          <a:prstGeom prst="rect">
            <a:avLst/>
          </a:prstGeom>
          <a:solidFill>
            <a:srgbClr val="A3C1AD"/>
          </a:solidFill>
          <a:ln/>
        </p:spPr>
      </p:sp>
      <p:sp>
        <p:nvSpPr>
          <p:cNvPr id="7" name="Text 5"/>
          <p:cNvSpPr/>
          <p:nvPr/>
        </p:nvSpPr>
        <p:spPr>
          <a:xfrm>
            <a:off x="822960" y="1965960"/>
            <a:ext cx="914400" cy="658368"/>
          </a:xfrm>
          <a:prstGeom prst="rect">
            <a:avLst/>
          </a:prstGeom>
          <a:noFill/>
          <a:ln/>
        </p:spPr>
        <p:txBody>
          <a:bodyPr wrap="square" lIns="0" tIns="0" rIns="0" bIns="0" rtlCol="0" anchor="ctr"/>
          <a:lstStyle/>
          <a:p>
            <a:pPr algn="ctr" indent="0" marL="0">
              <a:buNone/>
            </a:pPr>
            <a:r>
              <a:rPr lang="en-US" sz="1300" b="1" dirty="0">
                <a:solidFill>
                  <a:srgbClr val="24313F"/>
                </a:solidFill>
                <a:latin typeface="Arial" pitchFamily="34" charset="0"/>
                <a:ea typeface="Arial" pitchFamily="34" charset="-122"/>
                <a:cs typeface="Arial" pitchFamily="34" charset="-120"/>
              </a:rPr>
              <a:t>CS3</a:t>
            </a:r>
            <a:endParaRPr lang="en-US" sz="1300" dirty="0"/>
          </a:p>
        </p:txBody>
      </p:sp>
      <p:sp>
        <p:nvSpPr>
          <p:cNvPr id="8" name="Text 6"/>
          <p:cNvSpPr/>
          <p:nvPr/>
        </p:nvSpPr>
        <p:spPr>
          <a:xfrm>
            <a:off x="1965960" y="1965960"/>
            <a:ext cx="2743200" cy="658368"/>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Camera</a:t>
            </a:r>
            <a:endParaRPr lang="en-US" sz="2100" dirty="0"/>
          </a:p>
        </p:txBody>
      </p:sp>
      <p:sp>
        <p:nvSpPr>
          <p:cNvPr id="9" name="Text 7"/>
          <p:cNvSpPr/>
          <p:nvPr/>
        </p:nvSpPr>
        <p:spPr>
          <a:xfrm>
            <a:off x="4846320" y="1965960"/>
            <a:ext cx="7132320" cy="658368"/>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Six shots to a storyboard, focus and exposure held</a:t>
            </a:r>
            <a:endParaRPr lang="en-US" sz="1650" dirty="0"/>
          </a:p>
        </p:txBody>
      </p:sp>
      <p:sp>
        <p:nvSpPr>
          <p:cNvPr id="10" name="Shape 8"/>
          <p:cNvSpPr/>
          <p:nvPr/>
        </p:nvSpPr>
        <p:spPr>
          <a:xfrm>
            <a:off x="822960" y="2834640"/>
            <a:ext cx="914400" cy="658368"/>
          </a:xfrm>
          <a:prstGeom prst="rect">
            <a:avLst/>
          </a:prstGeom>
          <a:solidFill>
            <a:srgbClr val="A3C1AD"/>
          </a:solidFill>
          <a:ln/>
        </p:spPr>
      </p:sp>
      <p:sp>
        <p:nvSpPr>
          <p:cNvPr id="11" name="Text 9"/>
          <p:cNvSpPr/>
          <p:nvPr/>
        </p:nvSpPr>
        <p:spPr>
          <a:xfrm>
            <a:off x="822960" y="2834640"/>
            <a:ext cx="914400" cy="658368"/>
          </a:xfrm>
          <a:prstGeom prst="rect">
            <a:avLst/>
          </a:prstGeom>
          <a:noFill/>
          <a:ln/>
        </p:spPr>
        <p:txBody>
          <a:bodyPr wrap="square" lIns="0" tIns="0" rIns="0" bIns="0" rtlCol="0" anchor="ctr"/>
          <a:lstStyle/>
          <a:p>
            <a:pPr algn="ctr" indent="0" marL="0">
              <a:buNone/>
            </a:pPr>
            <a:r>
              <a:rPr lang="en-US" sz="1300" b="1" dirty="0">
                <a:solidFill>
                  <a:srgbClr val="24313F"/>
                </a:solidFill>
                <a:latin typeface="Arial" pitchFamily="34" charset="0"/>
                <a:ea typeface="Arial" pitchFamily="34" charset="-122"/>
                <a:cs typeface="Arial" pitchFamily="34" charset="-120"/>
              </a:rPr>
              <a:t>CS4</a:t>
            </a:r>
            <a:endParaRPr lang="en-US" sz="1300" dirty="0"/>
          </a:p>
        </p:txBody>
      </p:sp>
      <p:sp>
        <p:nvSpPr>
          <p:cNvPr id="12" name="Text 10"/>
          <p:cNvSpPr/>
          <p:nvPr/>
        </p:nvSpPr>
        <p:spPr>
          <a:xfrm>
            <a:off x="1965960" y="2834640"/>
            <a:ext cx="2743200" cy="658368"/>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Sound</a:t>
            </a:r>
            <a:endParaRPr lang="en-US" sz="2100" dirty="0"/>
          </a:p>
        </p:txBody>
      </p:sp>
      <p:sp>
        <p:nvSpPr>
          <p:cNvPr id="13" name="Text 11"/>
          <p:cNvSpPr/>
          <p:nvPr/>
        </p:nvSpPr>
        <p:spPr>
          <a:xfrm>
            <a:off x="4846320" y="2834640"/>
            <a:ext cx="7132320" cy="658368"/>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 thirty-second soundscape, every choice named</a:t>
            </a:r>
            <a:endParaRPr lang="en-US" sz="1650" dirty="0"/>
          </a:p>
        </p:txBody>
      </p:sp>
      <p:sp>
        <p:nvSpPr>
          <p:cNvPr id="14" name="Shape 12"/>
          <p:cNvSpPr/>
          <p:nvPr/>
        </p:nvSpPr>
        <p:spPr>
          <a:xfrm>
            <a:off x="822960" y="3703320"/>
            <a:ext cx="914400" cy="658368"/>
          </a:xfrm>
          <a:prstGeom prst="rect">
            <a:avLst/>
          </a:prstGeom>
          <a:solidFill>
            <a:srgbClr val="A3C1AD"/>
          </a:solidFill>
          <a:ln/>
        </p:spPr>
      </p:sp>
      <p:sp>
        <p:nvSpPr>
          <p:cNvPr id="15" name="Text 13"/>
          <p:cNvSpPr/>
          <p:nvPr/>
        </p:nvSpPr>
        <p:spPr>
          <a:xfrm>
            <a:off x="822960" y="3703320"/>
            <a:ext cx="914400" cy="658368"/>
          </a:xfrm>
          <a:prstGeom prst="rect">
            <a:avLst/>
          </a:prstGeom>
          <a:noFill/>
          <a:ln/>
        </p:spPr>
        <p:txBody>
          <a:bodyPr wrap="square" lIns="0" tIns="0" rIns="0" bIns="0" rtlCol="0" anchor="ctr"/>
          <a:lstStyle/>
          <a:p>
            <a:pPr algn="ctr" indent="0" marL="0">
              <a:buNone/>
            </a:pPr>
            <a:r>
              <a:rPr lang="en-US" sz="1300" b="1" dirty="0">
                <a:solidFill>
                  <a:srgbClr val="24313F"/>
                </a:solidFill>
                <a:latin typeface="Arial" pitchFamily="34" charset="0"/>
                <a:ea typeface="Arial" pitchFamily="34" charset="-122"/>
                <a:cs typeface="Arial" pitchFamily="34" charset="-120"/>
              </a:rPr>
              <a:t>CS5</a:t>
            </a:r>
            <a:endParaRPr lang="en-US" sz="1300" dirty="0"/>
          </a:p>
        </p:txBody>
      </p:sp>
      <p:sp>
        <p:nvSpPr>
          <p:cNvPr id="16" name="Text 14"/>
          <p:cNvSpPr/>
          <p:nvPr/>
        </p:nvSpPr>
        <p:spPr>
          <a:xfrm>
            <a:off x="1965960" y="3703320"/>
            <a:ext cx="2743200" cy="658368"/>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Mise-en-scène</a:t>
            </a:r>
            <a:endParaRPr lang="en-US" sz="2100" dirty="0"/>
          </a:p>
        </p:txBody>
      </p:sp>
      <p:sp>
        <p:nvSpPr>
          <p:cNvPr id="17" name="Text 15"/>
          <p:cNvSpPr/>
          <p:nvPr/>
        </p:nvSpPr>
        <p:spPr>
          <a:xfrm>
            <a:off x="4846320" y="3703320"/>
            <a:ext cx="7132320" cy="658368"/>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A six-cell design board, a connotation per cell</a:t>
            </a:r>
            <a:endParaRPr lang="en-US" sz="1650" dirty="0"/>
          </a:p>
        </p:txBody>
      </p:sp>
      <p:sp>
        <p:nvSpPr>
          <p:cNvPr id="18" name="Shape 16"/>
          <p:cNvSpPr/>
          <p:nvPr/>
        </p:nvSpPr>
        <p:spPr>
          <a:xfrm>
            <a:off x="822960" y="4572000"/>
            <a:ext cx="914400" cy="658368"/>
          </a:xfrm>
          <a:prstGeom prst="rect">
            <a:avLst/>
          </a:prstGeom>
          <a:solidFill>
            <a:srgbClr val="A3C1AD"/>
          </a:solidFill>
          <a:ln/>
        </p:spPr>
      </p:sp>
      <p:sp>
        <p:nvSpPr>
          <p:cNvPr id="19" name="Text 17"/>
          <p:cNvSpPr/>
          <p:nvPr/>
        </p:nvSpPr>
        <p:spPr>
          <a:xfrm>
            <a:off x="822960" y="4572000"/>
            <a:ext cx="914400" cy="658368"/>
          </a:xfrm>
          <a:prstGeom prst="rect">
            <a:avLst/>
          </a:prstGeom>
          <a:noFill/>
          <a:ln/>
        </p:spPr>
        <p:txBody>
          <a:bodyPr wrap="square" lIns="0" tIns="0" rIns="0" bIns="0" rtlCol="0" anchor="ctr"/>
          <a:lstStyle/>
          <a:p>
            <a:pPr algn="ctr" indent="0" marL="0">
              <a:buNone/>
            </a:pPr>
            <a:r>
              <a:rPr lang="en-US" sz="1300" b="1" dirty="0">
                <a:solidFill>
                  <a:srgbClr val="24313F"/>
                </a:solidFill>
                <a:latin typeface="Arial" pitchFamily="34" charset="0"/>
                <a:ea typeface="Arial" pitchFamily="34" charset="-122"/>
                <a:cs typeface="Arial" pitchFamily="34" charset="-120"/>
              </a:rPr>
              <a:t>CS6</a:t>
            </a:r>
            <a:endParaRPr lang="en-US" sz="1300" dirty="0"/>
          </a:p>
        </p:txBody>
      </p:sp>
      <p:sp>
        <p:nvSpPr>
          <p:cNvPr id="20" name="Text 18"/>
          <p:cNvSpPr/>
          <p:nvPr/>
        </p:nvSpPr>
        <p:spPr>
          <a:xfrm>
            <a:off x="1965960" y="4572000"/>
            <a:ext cx="2743200" cy="658368"/>
          </a:xfrm>
          <a:prstGeom prst="rect">
            <a:avLst/>
          </a:prstGeom>
          <a:noFill/>
          <a:ln/>
        </p:spPr>
        <p:txBody>
          <a:bodyPr wrap="square" lIns="0" tIns="0" rIns="0" bIns="0" rtlCol="0" anchor="ctr"/>
          <a:lstStyle/>
          <a:p>
            <a:pPr indent="0" marL="0">
              <a:buNone/>
            </a:pPr>
            <a:r>
              <a:rPr lang="en-US" sz="2100" dirty="0">
                <a:solidFill>
                  <a:srgbClr val="4A6B5D"/>
                </a:solidFill>
                <a:latin typeface="Georgia" pitchFamily="34" charset="0"/>
                <a:ea typeface="Georgia" pitchFamily="34" charset="-122"/>
                <a:cs typeface="Georgia" pitchFamily="34" charset="-120"/>
              </a:rPr>
              <a:t>Editing</a:t>
            </a:r>
            <a:endParaRPr lang="en-US" sz="2100" dirty="0"/>
          </a:p>
        </p:txBody>
      </p:sp>
      <p:sp>
        <p:nvSpPr>
          <p:cNvPr id="21" name="Text 19"/>
          <p:cNvSpPr/>
          <p:nvPr/>
        </p:nvSpPr>
        <p:spPr>
          <a:xfrm>
            <a:off x="4846320" y="4572000"/>
            <a:ext cx="7132320" cy="658368"/>
          </a:xfrm>
          <a:prstGeom prst="rect">
            <a:avLst/>
          </a:prstGeom>
          <a:noFill/>
          <a:ln/>
        </p:spPr>
        <p:txBody>
          <a:bodyPr wrap="square" lIns="0" tIns="0" rIns="0" bIns="0" rtlCol="0" anchor="ctr"/>
          <a:lstStyle/>
          <a:p>
            <a:pPr indent="0" marL="0">
              <a:buNone/>
            </a:pPr>
            <a:r>
              <a:rPr lang="en-US" sz="1650" dirty="0">
                <a:solidFill>
                  <a:srgbClr val="24313F"/>
                </a:solidFill>
                <a:latin typeface="Georgia" pitchFamily="34" charset="0"/>
                <a:ea typeface="Georgia" pitchFamily="34" charset="-122"/>
                <a:cs typeface="Georgia" pitchFamily="34" charset="-120"/>
              </a:rPr>
              <a:t>One sequence cut two ways, the difference explained</a:t>
            </a:r>
            <a:endParaRPr lang="en-US" sz="1650" dirty="0"/>
          </a:p>
        </p:txBody>
      </p:sp>
      <p:sp>
        <p:nvSpPr>
          <p:cNvPr id="22" name="Shape 20"/>
          <p:cNvSpPr/>
          <p:nvPr/>
        </p:nvSpPr>
        <p:spPr>
          <a:xfrm>
            <a:off x="822960" y="5623560"/>
            <a:ext cx="914400" cy="0"/>
          </a:xfrm>
          <a:prstGeom prst="line">
            <a:avLst/>
          </a:prstGeom>
          <a:noFill/>
          <a:ln w="31750">
            <a:solidFill>
              <a:srgbClr val="8C3A38"/>
            </a:solidFill>
            <a:prstDash val="solid"/>
          </a:ln>
        </p:spPr>
      </p:sp>
      <p:sp>
        <p:nvSpPr>
          <p:cNvPr id="23" name="Text 21"/>
          <p:cNvSpPr/>
          <p:nvPr/>
        </p:nvSpPr>
        <p:spPr>
          <a:xfrm>
            <a:off x="822960" y="5779008"/>
            <a:ext cx="10515600" cy="548640"/>
          </a:xfrm>
          <a:prstGeom prst="rect">
            <a:avLst/>
          </a:prstGeom>
          <a:noFill/>
          <a:ln/>
        </p:spPr>
        <p:txBody>
          <a:bodyPr wrap="square" lIns="0" tIns="0" rIns="0" bIns="0" rtlCol="0" anchor="t"/>
          <a:lstStyle/>
          <a:p>
            <a:pPr indent="0" marL="0">
              <a:lnSpc>
                <a:spcPts val="1600"/>
              </a:lnSpc>
              <a:buNone/>
            </a:pPr>
            <a:r>
              <a:rPr lang="en-US" sz="1200" i="1" dirty="0">
                <a:solidFill>
                  <a:srgbClr val="7A7F72"/>
                </a:solidFill>
                <a:latin typeface="Arial" pitchFamily="34" charset="0"/>
                <a:ea typeface="Arial" pitchFamily="34" charset="-122"/>
                <a:cs typeface="Arial" pitchFamily="34" charset="-120"/>
              </a:rPr>
              <a:t>Four dated posts. Under Cambridge's own Foundation Portfolio structure that is the research-and-practice stage of Component 1, already banked. Carries forward: the C3 major video task in Grade 12 is an editing task, and the whole grade sits in the cut.</a:t>
            </a:r>
            <a:endParaRPr lang="en-US" sz="1200" dirty="0"/>
          </a:p>
        </p:txBody>
      </p:sp>
      <p:sp>
        <p:nvSpPr>
          <p:cNvPr id="24" name="Shape 22"/>
          <p:cNvSpPr/>
          <p:nvPr/>
        </p:nvSpPr>
        <p:spPr>
          <a:xfrm>
            <a:off x="822960" y="6382512"/>
            <a:ext cx="10543032" cy="0"/>
          </a:xfrm>
          <a:prstGeom prst="line">
            <a:avLst/>
          </a:prstGeom>
          <a:noFill/>
          <a:ln w="9525">
            <a:solidFill>
              <a:srgbClr val="D9D4C4"/>
            </a:solidFill>
            <a:prstDash val="solid"/>
          </a:ln>
        </p:spPr>
      </p:sp>
      <p:sp>
        <p:nvSpPr>
          <p:cNvPr id="25" name="Text 2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6" name="Text 2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07</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514600"/>
            <a:ext cx="10241280" cy="2103120"/>
          </a:xfrm>
          <a:prstGeom prst="rect">
            <a:avLst/>
          </a:prstGeom>
          <a:noFill/>
          <a:ln/>
        </p:spPr>
        <p:txBody>
          <a:bodyPr wrap="square" lIns="0" tIns="0" rIns="0" bIns="0" rtlCol="0" anchor="t"/>
          <a:lstStyle/>
          <a:p>
            <a:pPr indent="0" marL="0">
              <a:lnSpc>
                <a:spcPts val="5600"/>
              </a:lnSpc>
              <a:buNone/>
            </a:pPr>
            <a:r>
              <a:rPr lang="en-US" sz="5200" dirty="0">
                <a:solidFill>
                  <a:srgbClr val="FAF8F1"/>
                </a:solidFill>
                <a:latin typeface="Georgia" pitchFamily="34" charset="0"/>
                <a:ea typeface="Georgia" pitchFamily="34" charset="-122"/>
                <a:cs typeface="Georgia" pitchFamily="34" charset="-120"/>
              </a:rPr>
              <a:t>Integration and</a:t>
            </a:r>
            <a:endParaRPr lang="en-US" sz="5200" dirty="0"/>
          </a:p>
          <a:p>
            <a:pPr indent="0" marL="0">
              <a:lnSpc>
                <a:spcPts val="5600"/>
              </a:lnSpc>
              <a:buNone/>
            </a:pPr>
            <a:r>
              <a:rPr lang="en-US" sz="5200" dirty="0">
                <a:solidFill>
                  <a:srgbClr val="FAF8F1"/>
                </a:solidFill>
                <a:latin typeface="Georgia" pitchFamily="34" charset="0"/>
                <a:ea typeface="Georgia" pitchFamily="34" charset="-122"/>
                <a:cs typeface="Georgia" pitchFamily="34" charset="-120"/>
              </a:rPr>
              <a:t>the Planning Lock</a:t>
            </a:r>
            <a:endParaRPr lang="en-US" sz="5200" dirty="0"/>
          </a:p>
        </p:txBody>
      </p:sp>
      <p:sp>
        <p:nvSpPr>
          <p:cNvPr id="5" name="Text 3"/>
          <p:cNvSpPr/>
          <p:nvPr/>
        </p:nvSpPr>
        <p:spPr>
          <a:xfrm>
            <a:off x="822960" y="4709160"/>
            <a:ext cx="10241280" cy="822960"/>
          </a:xfrm>
          <a:prstGeom prst="rect">
            <a:avLst/>
          </a:prstGeom>
          <a:noFill/>
          <a:ln/>
        </p:spPr>
        <p:txBody>
          <a:bodyPr wrap="square" lIns="0" tIns="0" rIns="0" bIns="0" rtlCol="0" anchor="t"/>
          <a:lstStyle/>
          <a:p>
            <a:pPr indent="0" marL="0">
              <a:lnSpc>
                <a:spcPts val="2800"/>
              </a:lnSpc>
              <a:buNone/>
            </a:pPr>
            <a:r>
              <a:rPr lang="en-US" sz="2200" i="1" dirty="0">
                <a:solidFill>
                  <a:srgbClr val="E8EFE7"/>
                </a:solidFill>
                <a:latin typeface="Georgia" pitchFamily="34" charset="0"/>
                <a:ea typeface="Georgia" pitchFamily="34" charset="-122"/>
                <a:cs typeface="Georgia" pitchFamily="34" charset="-120"/>
              </a:rPr>
              <a:t>Lesson 07. All four at once on one unseen extract, then a plan someone else could shoot.</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2026-08-24T07:42:05Z</dcterms:created>
  <dcterms:modified xsi:type="dcterms:W3CDTF">2026-08-24T07:42:05Z</dcterms:modified>
</cp:coreProperties>
</file>