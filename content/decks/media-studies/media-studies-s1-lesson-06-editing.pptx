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days separate the two sessions: Friday 25 is Mid-Autumn Festival. Open day two cold, with retrieval, and do not re-teach Wednesday.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Wednesday builds a sequence that works. Monday builds the same sequence wrong on purpose, and the room watches the illusion collapse.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screened sequences, contrasting in pace: one dense-cut, one long take. Safeguarding: the prior plan used Adolescence, BBFC 15, with 1917 as the alternative. The Toy Story strip on the slide is the tally made visible: even a children's film cuts faster than the room expects.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Frames: Adolescence (the over-the-shoulder; note the series is one continuous take, so its reframings do the work cuts normally do, which is itself the lesson) and Toy Story (eyeline, insert, match on action). The two drawn cells are the two ideas frames cannot carry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who has made the error forgets the rule. The drawn cameras match the SoW's own exercise: shot / reverse shot with the rule highlighted.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cutting is also an editing decision, and this photograph is what that decision costs to make. The interview-room frame from L02 is the same take, minutes deeper.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groups, four minutes, teach back. Psycho's eye close-up is in img/ as the second graphic-match example; slow motion is taught by clip (Chariots of Fire's beach run is the canonical case and is not frame-licensable from the archive, so it stays a screening).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editor works: CapCut, iMovie, a phone timeline. Also logged before leaving: the group's equipment decision, school sign-out or own kit, tested across the four builds; Wednesday's shootability checklist points 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image" Target="../media/image-8-5.jpg"/><Relationship Id="rId6" Type="http://schemas.openxmlformats.org/officeDocument/2006/relationships/image" Target="../media/image-8-6.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7863840" y="822960"/>
            <a:ext cx="3566160" cy="4937760"/>
          </a:xfrm>
          <a:prstGeom prst="rect">
            <a:avLst/>
          </a:prstGeom>
          <a:noFill/>
          <a:ln/>
        </p:spPr>
        <p:txBody>
          <a:bodyPr wrap="square" lIns="0" tIns="0" rIns="0" bIns="0" rtlCol="0" anchor="ctr"/>
          <a:lstStyle/>
          <a:p>
            <a:pPr algn="ctr" indent="0" marL="0">
              <a:buNone/>
            </a:pPr>
            <a:r>
              <a:rPr lang="en-US" sz="28000" dirty="0">
                <a:solidFill>
                  <a:srgbClr val="A3C1AD"/>
                </a:solidFill>
                <a:latin typeface="Georgia" pitchFamily="34" charset="0"/>
                <a:ea typeface="Georgia" pitchFamily="34" charset="-122"/>
                <a:cs typeface="Georgia" pitchFamily="34" charset="-120"/>
              </a:rPr>
              <a:t>VI</a:t>
            </a:r>
            <a:endParaRPr lang="en-US" sz="28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II</a:t>
            </a:r>
            <a:endParaRPr lang="en-US" sz="1100" dirty="0"/>
          </a:p>
        </p:txBody>
      </p:sp>
      <p:sp>
        <p:nvSpPr>
          <p:cNvPr id="4" name="Text 2"/>
          <p:cNvSpPr/>
          <p:nvPr/>
        </p:nvSpPr>
        <p:spPr>
          <a:xfrm>
            <a:off x="822960" y="1737360"/>
            <a:ext cx="6400800" cy="2377440"/>
          </a:xfrm>
          <a:prstGeom prst="rect">
            <a:avLst/>
          </a:prstGeom>
          <a:noFill/>
          <a:ln/>
        </p:spPr>
        <p:txBody>
          <a:bodyPr wrap="square" lIns="0" tIns="0" rIns="0" bIns="0" rtlCol="0" anchor="t"/>
          <a:lstStyle/>
          <a:p>
            <a:pPr indent="0" marL="0">
              <a:lnSpc>
                <a:spcPts val="7400"/>
              </a:lnSpc>
              <a:buNone/>
            </a:pPr>
            <a:r>
              <a:rPr lang="en-US" sz="7400" dirty="0">
                <a:solidFill>
                  <a:srgbClr val="24313F"/>
                </a:solidFill>
                <a:latin typeface="Georgia" pitchFamily="34" charset="0"/>
                <a:ea typeface="Georgia" pitchFamily="34" charset="-122"/>
                <a:cs typeface="Georgia" pitchFamily="34" charset="-120"/>
              </a:rPr>
              <a:t>Editing</a:t>
            </a:r>
            <a:endParaRPr lang="en-US" sz="74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3152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Media Language · Lesson 06 of 19</a:t>
            </a:r>
            <a:endParaRPr lang="en-US" sz="2200" dirty="0"/>
          </a:p>
        </p:txBody>
      </p:sp>
      <p:sp>
        <p:nvSpPr>
          <p:cNvPr id="7" name="Text 5"/>
          <p:cNvSpPr/>
          <p:nvPr/>
        </p:nvSpPr>
        <p:spPr>
          <a:xfrm>
            <a:off x="822960" y="5029200"/>
            <a:ext cx="987552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Two days  ·  Wednesday 23 (double) then Monday 28 September  ·  last of the four technical elements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7680960" y="640080"/>
            <a:ext cx="3931920" cy="5577840"/>
          </a:xfrm>
          <a:prstGeom prst="rect">
            <a:avLst/>
          </a:prstGeom>
          <a:noFill/>
          <a:ln/>
        </p:spPr>
        <p:txBody>
          <a:bodyPr wrap="square" lIns="0" tIns="0" rIns="0" bIns="0" rtlCol="0" anchor="ctr"/>
          <a:lstStyle/>
          <a:p>
            <a:pPr algn="ctr" indent="0" marL="0">
              <a:buNone/>
            </a:pPr>
            <a:r>
              <a:rPr lang="en-US" sz="32000" dirty="0">
                <a:solidFill>
                  <a:srgbClr val="5C7A6B"/>
                </a:solidFill>
                <a:latin typeface="Georgia" pitchFamily="34" charset="0"/>
                <a:ea typeface="Georgia" pitchFamily="34" charset="-122"/>
                <a:cs typeface="Georgia" pitchFamily="34" charset="-120"/>
              </a:rPr>
              <a:t>VI</a:t>
            </a:r>
            <a:endParaRPr lang="en-US" sz="32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THE METHOD OF THIS LESSON</a:t>
            </a:r>
            <a:endParaRPr lang="en-US" sz="1100" dirty="0"/>
          </a:p>
        </p:txBody>
      </p:sp>
      <p:sp>
        <p:nvSpPr>
          <p:cNvPr id="4" name="Shape 2"/>
          <p:cNvSpPr/>
          <p:nvPr/>
        </p:nvSpPr>
        <p:spPr>
          <a:xfrm>
            <a:off x="822960" y="2651760"/>
            <a:ext cx="3840480" cy="0"/>
          </a:xfrm>
          <a:prstGeom prst="line">
            <a:avLst/>
          </a:prstGeom>
          <a:noFill/>
          <a:ln w="9525">
            <a:solidFill>
              <a:srgbClr val="8AA394"/>
            </a:solidFill>
            <a:prstDash val="solid"/>
          </a:ln>
        </p:spPr>
      </p:sp>
      <p:sp>
        <p:nvSpPr>
          <p:cNvPr id="5" name="Text 3"/>
          <p:cNvSpPr/>
          <p:nvPr/>
        </p:nvSpPr>
        <p:spPr>
          <a:xfrm>
            <a:off x="822960" y="2788920"/>
            <a:ext cx="6766560" cy="2194560"/>
          </a:xfrm>
          <a:prstGeom prst="rect">
            <a:avLst/>
          </a:prstGeom>
          <a:noFill/>
          <a:ln/>
        </p:spPr>
        <p:txBody>
          <a:bodyPr wrap="square" lIns="0" tIns="0" rIns="0" bIns="0" rtlCol="0" anchor="t"/>
          <a:lstStyle/>
          <a:p>
            <a:pPr indent="0" marL="0">
              <a:lnSpc>
                <a:spcPts val="5800"/>
              </a:lnSpc>
              <a:buNone/>
            </a:pPr>
            <a:r>
              <a:rPr lang="en-US" sz="5600" dirty="0">
                <a:solidFill>
                  <a:srgbClr val="FAF8F1"/>
                </a:solidFill>
                <a:latin typeface="Georgia" pitchFamily="34" charset="0"/>
                <a:ea typeface="Georgia" pitchFamily="34" charset="-122"/>
                <a:cs typeface="Georgia" pitchFamily="34" charset="-120"/>
              </a:rPr>
              <a:t>Invisible until</a:t>
            </a:r>
            <a:endParaRPr lang="en-US" sz="5600" dirty="0"/>
          </a:p>
          <a:p>
            <a:pPr indent="0" marL="0">
              <a:lnSpc>
                <a:spcPts val="5800"/>
              </a:lnSpc>
              <a:buNone/>
            </a:pPr>
            <a:r>
              <a:rPr lang="en-US" sz="5600" dirty="0">
                <a:solidFill>
                  <a:srgbClr val="FAF8F1"/>
                </a:solidFill>
                <a:latin typeface="Georgia" pitchFamily="34" charset="0"/>
                <a:ea typeface="Georgia" pitchFamily="34" charset="-122"/>
                <a:cs typeface="Georgia" pitchFamily="34" charset="-120"/>
              </a:rPr>
              <a:t>you break it.</a:t>
            </a:r>
            <a:endParaRPr lang="en-US" sz="5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CLAP THE CUTS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COURSEBOOK'S ACTIVITY, FIFTEEN MINUTES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14400"/>
            <a:ext cx="10543032" cy="54864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Count first, then say how it felt</a:t>
            </a:r>
            <a:endParaRPr lang="en-US" sz="3000" dirty="0"/>
          </a:p>
        </p:txBody>
      </p:sp>
      <p:sp>
        <p:nvSpPr>
          <p:cNvPr id="6" name="Shape 4"/>
          <p:cNvSpPr/>
          <p:nvPr/>
        </p:nvSpPr>
        <p:spPr>
          <a:xfrm>
            <a:off x="822960" y="1554480"/>
            <a:ext cx="2361438" cy="1645920"/>
          </a:xfrm>
          <a:prstGeom prst="rect">
            <a:avLst/>
          </a:prstGeom>
          <a:solidFill>
            <a:srgbClr val="FAF8F1"/>
          </a:solidFill>
          <a:ln w="9525">
            <a:solidFill>
              <a:srgbClr val="D9D4C4"/>
            </a:solidFill>
            <a:prstDash val="solid"/>
          </a:ln>
        </p:spPr>
      </p:sp>
      <p:pic>
        <p:nvPicPr>
          <p:cNvPr id="7" name="Image 0" descr="/Users/dogan/Documents/Vaults/Courses/wiki/classes/media-studies/decks/_build/img/toystory-rc-ms.jpg">    </p:cNvPr>
          <p:cNvPicPr>
            <a:picLocks noChangeAspect="1"/>
          </p:cNvPicPr>
          <p:nvPr/>
        </p:nvPicPr>
        <p:blipFill>
          <a:blip r:embed="rId1"/>
          <a:stretch>
            <a:fillRect/>
          </a:stretch>
        </p:blipFill>
        <p:spPr>
          <a:xfrm>
            <a:off x="896112" y="1661675"/>
            <a:ext cx="2215134" cy="1431530"/>
          </a:xfrm>
          <a:prstGeom prst="rect">
            <a:avLst/>
          </a:prstGeom>
        </p:spPr>
      </p:pic>
      <p:sp>
        <p:nvSpPr>
          <p:cNvPr id="8" name="Text 5"/>
          <p:cNvSpPr/>
          <p:nvPr/>
        </p:nvSpPr>
        <p:spPr>
          <a:xfrm>
            <a:off x="3166110" y="2148840"/>
            <a:ext cx="411480" cy="457200"/>
          </a:xfrm>
          <a:prstGeom prst="rect">
            <a:avLst/>
          </a:prstGeom>
          <a:noFill/>
          <a:ln/>
        </p:spPr>
        <p:txBody>
          <a:bodyPr wrap="square" lIns="0" tIns="0" rIns="0" bIns="0" rtlCol="0" anchor="ctr"/>
          <a:lstStyle/>
          <a:p>
            <a:pPr algn="ctr" indent="0" marL="0">
              <a:buNone/>
            </a:pPr>
            <a:r>
              <a:rPr lang="en-US" sz="1800" dirty="0">
                <a:solidFill>
                  <a:srgbClr val="8C3A38"/>
                </a:solidFill>
                <a:latin typeface="Arial" pitchFamily="34" charset="0"/>
                <a:ea typeface="Arial" pitchFamily="34" charset="-122"/>
                <a:cs typeface="Arial" pitchFamily="34" charset="-120"/>
              </a:rPr>
              <a:t>✂</a:t>
            </a:r>
            <a:endParaRPr lang="en-US" sz="1800" dirty="0"/>
          </a:p>
        </p:txBody>
      </p:sp>
      <p:sp>
        <p:nvSpPr>
          <p:cNvPr id="9" name="Shape 6"/>
          <p:cNvSpPr/>
          <p:nvPr/>
        </p:nvSpPr>
        <p:spPr>
          <a:xfrm>
            <a:off x="3550158" y="1554480"/>
            <a:ext cx="2361438" cy="1645920"/>
          </a:xfrm>
          <a:prstGeom prst="rect">
            <a:avLst/>
          </a:prstGeom>
          <a:solidFill>
            <a:srgbClr val="FAF8F1"/>
          </a:solidFill>
          <a:ln w="9525">
            <a:solidFill>
              <a:srgbClr val="D9D4C4"/>
            </a:solidFill>
            <a:prstDash val="solid"/>
          </a:ln>
        </p:spPr>
      </p:sp>
      <p:pic>
        <p:nvPicPr>
          <p:cNvPr id="10" name="Image 1" descr="/Users/dogan/Documents/Vaults/Courses/wiki/classes/media-studies/decks/_build/img/toystory-remote-ecu.jpg">    </p:cNvPr>
          <p:cNvPicPr>
            <a:picLocks noChangeAspect="1"/>
          </p:cNvPicPr>
          <p:nvPr/>
        </p:nvPicPr>
        <p:blipFill>
          <a:blip r:embed="rId2"/>
          <a:stretch>
            <a:fillRect/>
          </a:stretch>
        </p:blipFill>
        <p:spPr>
          <a:xfrm>
            <a:off x="3623310" y="1661675"/>
            <a:ext cx="2215134" cy="1431530"/>
          </a:xfrm>
          <a:prstGeom prst="rect">
            <a:avLst/>
          </a:prstGeom>
        </p:spPr>
      </p:pic>
      <p:sp>
        <p:nvSpPr>
          <p:cNvPr id="11" name="Text 7"/>
          <p:cNvSpPr/>
          <p:nvPr/>
        </p:nvSpPr>
        <p:spPr>
          <a:xfrm>
            <a:off x="5893308" y="2148840"/>
            <a:ext cx="411480" cy="457200"/>
          </a:xfrm>
          <a:prstGeom prst="rect">
            <a:avLst/>
          </a:prstGeom>
          <a:noFill/>
          <a:ln/>
        </p:spPr>
        <p:txBody>
          <a:bodyPr wrap="square" lIns="0" tIns="0" rIns="0" bIns="0" rtlCol="0" anchor="ctr"/>
          <a:lstStyle/>
          <a:p>
            <a:pPr algn="ctr" indent="0" marL="0">
              <a:buNone/>
            </a:pPr>
            <a:r>
              <a:rPr lang="en-US" sz="1800" dirty="0">
                <a:solidFill>
                  <a:srgbClr val="8C3A38"/>
                </a:solidFill>
                <a:latin typeface="Arial" pitchFamily="34" charset="0"/>
                <a:ea typeface="Arial" pitchFamily="34" charset="-122"/>
                <a:cs typeface="Arial" pitchFamily="34" charset="-120"/>
              </a:rPr>
              <a:t>✂</a:t>
            </a:r>
            <a:endParaRPr lang="en-US" sz="1800" dirty="0"/>
          </a:p>
        </p:txBody>
      </p:sp>
      <p:sp>
        <p:nvSpPr>
          <p:cNvPr id="12" name="Shape 8"/>
          <p:cNvSpPr/>
          <p:nvPr/>
        </p:nvSpPr>
        <p:spPr>
          <a:xfrm>
            <a:off x="6277356" y="1554480"/>
            <a:ext cx="2361438" cy="1645920"/>
          </a:xfrm>
          <a:prstGeom prst="rect">
            <a:avLst/>
          </a:prstGeom>
          <a:solidFill>
            <a:srgbClr val="FAF8F1"/>
          </a:solidFill>
          <a:ln w="9525">
            <a:solidFill>
              <a:srgbClr val="D9D4C4"/>
            </a:solidFill>
            <a:prstDash val="solid"/>
          </a:ln>
        </p:spPr>
      </p:sp>
      <p:pic>
        <p:nvPicPr>
          <p:cNvPr id="13" name="Image 2" descr="/Users/dogan/Documents/Vaults/Courses/wiki/classes/media-studies/decks/_build/img/toystory-buzz-out.jpg">    </p:cNvPr>
          <p:cNvPicPr>
            <a:picLocks noChangeAspect="1"/>
          </p:cNvPicPr>
          <p:nvPr/>
        </p:nvPicPr>
        <p:blipFill>
          <a:blip r:embed="rId3"/>
          <a:stretch>
            <a:fillRect/>
          </a:stretch>
        </p:blipFill>
        <p:spPr>
          <a:xfrm>
            <a:off x="6350508" y="1661675"/>
            <a:ext cx="2215134" cy="1431530"/>
          </a:xfrm>
          <a:prstGeom prst="rect">
            <a:avLst/>
          </a:prstGeom>
        </p:spPr>
      </p:pic>
      <p:sp>
        <p:nvSpPr>
          <p:cNvPr id="14" name="Text 9"/>
          <p:cNvSpPr/>
          <p:nvPr/>
        </p:nvSpPr>
        <p:spPr>
          <a:xfrm>
            <a:off x="8620506" y="2148840"/>
            <a:ext cx="411480" cy="457200"/>
          </a:xfrm>
          <a:prstGeom prst="rect">
            <a:avLst/>
          </a:prstGeom>
          <a:noFill/>
          <a:ln/>
        </p:spPr>
        <p:txBody>
          <a:bodyPr wrap="square" lIns="0" tIns="0" rIns="0" bIns="0" rtlCol="0" anchor="ctr"/>
          <a:lstStyle/>
          <a:p>
            <a:pPr algn="ctr" indent="0" marL="0">
              <a:buNone/>
            </a:pPr>
            <a:r>
              <a:rPr lang="en-US" sz="1800" dirty="0">
                <a:solidFill>
                  <a:srgbClr val="8C3A38"/>
                </a:solidFill>
                <a:latin typeface="Arial" pitchFamily="34" charset="0"/>
                <a:ea typeface="Arial" pitchFamily="34" charset="-122"/>
                <a:cs typeface="Arial" pitchFamily="34" charset="-120"/>
              </a:rPr>
              <a:t>✂</a:t>
            </a:r>
            <a:endParaRPr lang="en-US" sz="1800" dirty="0"/>
          </a:p>
        </p:txBody>
      </p:sp>
      <p:sp>
        <p:nvSpPr>
          <p:cNvPr id="15" name="Shape 10"/>
          <p:cNvSpPr/>
          <p:nvPr/>
        </p:nvSpPr>
        <p:spPr>
          <a:xfrm>
            <a:off x="9004554" y="1554480"/>
            <a:ext cx="2361438" cy="1645920"/>
          </a:xfrm>
          <a:prstGeom prst="rect">
            <a:avLst/>
          </a:prstGeom>
          <a:solidFill>
            <a:srgbClr val="FAF8F1"/>
          </a:solidFill>
          <a:ln w="9525">
            <a:solidFill>
              <a:srgbClr val="D9D4C4"/>
            </a:solidFill>
            <a:prstDash val="solid"/>
          </a:ln>
        </p:spPr>
      </p:sp>
      <p:pic>
        <p:nvPicPr>
          <p:cNvPr id="16" name="Image 3" descr="/Users/dogan/Documents/Vaults/Courses/wiki/classes/media-studies/decks/_build/img/toystory-woody-window.jpg">    </p:cNvPr>
          <p:cNvPicPr>
            <a:picLocks noChangeAspect="1"/>
          </p:cNvPicPr>
          <p:nvPr/>
        </p:nvPicPr>
        <p:blipFill>
          <a:blip r:embed="rId4"/>
          <a:stretch>
            <a:fillRect/>
          </a:stretch>
        </p:blipFill>
        <p:spPr>
          <a:xfrm>
            <a:off x="9077706" y="1661675"/>
            <a:ext cx="2215134" cy="1431530"/>
          </a:xfrm>
          <a:prstGeom prst="rect">
            <a:avLst/>
          </a:prstGeom>
        </p:spPr>
      </p:pic>
      <p:sp>
        <p:nvSpPr>
          <p:cNvPr id="17" name="Text 11"/>
          <p:cNvSpPr/>
          <p:nvPr/>
        </p:nvSpPr>
        <p:spPr>
          <a:xfrm>
            <a:off x="822960" y="3246120"/>
            <a:ext cx="10543032" cy="320040"/>
          </a:xfrm>
          <a:prstGeom prst="rect">
            <a:avLst/>
          </a:prstGeom>
          <a:noFill/>
          <a:ln/>
        </p:spPr>
        <p:txBody>
          <a:bodyPr wrap="square" lIns="0" tIns="0" rIns="0" bIns="0" rtlCol="0" anchor="ctr"/>
          <a:lstStyle/>
          <a:p>
            <a:pPr algn="ctr" indent="0" marL="0">
              <a:buNone/>
            </a:pPr>
            <a:r>
              <a:rPr lang="en-US" sz="1100" dirty="0">
                <a:solidFill>
                  <a:srgbClr val="7A7F72"/>
                </a:solidFill>
                <a:latin typeface="Arial" pitchFamily="34" charset="0"/>
                <a:ea typeface="Arial" pitchFamily="34" charset="-122"/>
                <a:cs typeface="Arial" pitchFamily="34" charset="-120"/>
              </a:rPr>
              <a:t>Toy Story (1995): four shots, three cuts, a few seconds. Mid shot, insert, action, reaction: clap-clap-clap.</a:t>
            </a:r>
            <a:endParaRPr lang="en-US" sz="1100" dirty="0"/>
          </a:p>
        </p:txBody>
      </p:sp>
      <p:sp>
        <p:nvSpPr>
          <p:cNvPr id="18" name="Text 12"/>
          <p:cNvSpPr/>
          <p:nvPr/>
        </p:nvSpPr>
        <p:spPr>
          <a:xfrm>
            <a:off x="822960" y="3794760"/>
            <a:ext cx="914400" cy="411480"/>
          </a:xfrm>
          <a:prstGeom prst="rect">
            <a:avLst/>
          </a:prstGeom>
          <a:noFill/>
          <a:ln/>
        </p:spPr>
        <p:txBody>
          <a:bodyPr wrap="square" lIns="0" tIns="0" rIns="0" bIns="0" rtlCol="0" anchor="ctr"/>
          <a:lstStyle/>
          <a:p>
            <a:pPr indent="0" marL="0">
              <a:buNone/>
            </a:pPr>
            <a:r>
              <a:rPr lang="en-US" sz="2400" dirty="0">
                <a:solidFill>
                  <a:srgbClr val="A3C1AD"/>
                </a:solidFill>
                <a:latin typeface="Georgia" pitchFamily="34" charset="0"/>
                <a:ea typeface="Georgia" pitchFamily="34" charset="-122"/>
                <a:cs typeface="Georgia" pitchFamily="34" charset="-120"/>
              </a:rPr>
              <a:t>01</a:t>
            </a:r>
            <a:endParaRPr lang="en-US" sz="2400" dirty="0"/>
          </a:p>
        </p:txBody>
      </p:sp>
      <p:sp>
        <p:nvSpPr>
          <p:cNvPr id="19" name="Text 13"/>
          <p:cNvSpPr/>
          <p:nvPr/>
        </p:nvSpPr>
        <p:spPr>
          <a:xfrm>
            <a:off x="822960" y="4206240"/>
            <a:ext cx="3209544" cy="731520"/>
          </a:xfrm>
          <a:prstGeom prst="rect">
            <a:avLst/>
          </a:prstGeom>
          <a:noFill/>
          <a:ln/>
        </p:spPr>
        <p:txBody>
          <a:bodyPr wrap="square" lIns="0" tIns="0" rIns="0" bIns="0" rtlCol="0" anchor="t"/>
          <a:lstStyle/>
          <a:p>
            <a:pPr indent="0" marL="0">
              <a:lnSpc>
                <a:spcPts val="2200"/>
              </a:lnSpc>
              <a:buNone/>
            </a:pPr>
            <a:r>
              <a:rPr lang="en-US" sz="1800" dirty="0">
                <a:solidFill>
                  <a:srgbClr val="4A6B5D"/>
                </a:solidFill>
                <a:latin typeface="Georgia" pitchFamily="34" charset="0"/>
                <a:ea typeface="Georgia" pitchFamily="34" charset="-122"/>
                <a:cs typeface="Georgia" pitchFamily="34" charset="-120"/>
              </a:rPr>
              <a:t>How many claps?</a:t>
            </a:r>
            <a:endParaRPr lang="en-US" sz="1800" dirty="0"/>
          </a:p>
        </p:txBody>
      </p:sp>
      <p:sp>
        <p:nvSpPr>
          <p:cNvPr id="20" name="Shape 14"/>
          <p:cNvSpPr/>
          <p:nvPr/>
        </p:nvSpPr>
        <p:spPr>
          <a:xfrm>
            <a:off x="822960" y="4983480"/>
            <a:ext cx="3209544" cy="0"/>
          </a:xfrm>
          <a:prstGeom prst="line">
            <a:avLst/>
          </a:prstGeom>
          <a:noFill/>
          <a:ln w="9525">
            <a:solidFill>
              <a:srgbClr val="D9D4C4"/>
            </a:solidFill>
            <a:prstDash val="solid"/>
          </a:ln>
        </p:spPr>
      </p:sp>
      <p:sp>
        <p:nvSpPr>
          <p:cNvPr id="21" name="Text 15"/>
          <p:cNvSpPr/>
          <p:nvPr/>
        </p:nvSpPr>
        <p:spPr>
          <a:xfrm>
            <a:off x="822960" y="5102352"/>
            <a:ext cx="3209544" cy="914400"/>
          </a:xfrm>
          <a:prstGeom prst="rect">
            <a:avLst/>
          </a:prstGeom>
          <a:noFill/>
          <a:ln/>
        </p:spPr>
        <p:txBody>
          <a:bodyPr wrap="square" lIns="0" tIns="0" rIns="0" bIns="0" rtlCol="0" anchor="t"/>
          <a:lstStyle/>
          <a:p>
            <a:pPr indent="0" marL="0">
              <a:lnSpc>
                <a:spcPts val="1800"/>
              </a:lnSpc>
              <a:buNone/>
            </a:pPr>
            <a:r>
              <a:rPr lang="en-US" sz="1350" dirty="0">
                <a:solidFill>
                  <a:srgbClr val="24313F"/>
                </a:solidFill>
                <a:latin typeface="Georgia" pitchFamily="34" charset="0"/>
                <a:ea typeface="Georgia" pitchFamily="34" charset="-122"/>
                <a:cs typeface="Georgia" pitchFamily="34" charset="-120"/>
              </a:rPr>
              <a:t>The number is a fact. Write it down first.</a:t>
            </a:r>
            <a:endParaRPr lang="en-US" sz="1350" dirty="0"/>
          </a:p>
        </p:txBody>
      </p:sp>
      <p:sp>
        <p:nvSpPr>
          <p:cNvPr id="22" name="Text 16"/>
          <p:cNvSpPr/>
          <p:nvPr/>
        </p:nvSpPr>
        <p:spPr>
          <a:xfrm>
            <a:off x="4489704" y="3794760"/>
            <a:ext cx="914400" cy="411480"/>
          </a:xfrm>
          <a:prstGeom prst="rect">
            <a:avLst/>
          </a:prstGeom>
          <a:noFill/>
          <a:ln/>
        </p:spPr>
        <p:txBody>
          <a:bodyPr wrap="square" lIns="0" tIns="0" rIns="0" bIns="0" rtlCol="0" anchor="ctr"/>
          <a:lstStyle/>
          <a:p>
            <a:pPr indent="0" marL="0">
              <a:buNone/>
            </a:pPr>
            <a:r>
              <a:rPr lang="en-US" sz="2400" dirty="0">
                <a:solidFill>
                  <a:srgbClr val="A3C1AD"/>
                </a:solidFill>
                <a:latin typeface="Georgia" pitchFamily="34" charset="0"/>
                <a:ea typeface="Georgia" pitchFamily="34" charset="-122"/>
                <a:cs typeface="Georgia" pitchFamily="34" charset="-120"/>
              </a:rPr>
              <a:t>02</a:t>
            </a:r>
            <a:endParaRPr lang="en-US" sz="2400" dirty="0"/>
          </a:p>
        </p:txBody>
      </p:sp>
      <p:sp>
        <p:nvSpPr>
          <p:cNvPr id="23" name="Text 17"/>
          <p:cNvSpPr/>
          <p:nvPr/>
        </p:nvSpPr>
        <p:spPr>
          <a:xfrm>
            <a:off x="4489704" y="4206240"/>
            <a:ext cx="3209544" cy="731520"/>
          </a:xfrm>
          <a:prstGeom prst="rect">
            <a:avLst/>
          </a:prstGeom>
          <a:noFill/>
          <a:ln/>
        </p:spPr>
        <p:txBody>
          <a:bodyPr wrap="square" lIns="0" tIns="0" rIns="0" bIns="0" rtlCol="0" anchor="t"/>
          <a:lstStyle/>
          <a:p>
            <a:pPr indent="0" marL="0">
              <a:lnSpc>
                <a:spcPts val="2200"/>
              </a:lnSpc>
              <a:buNone/>
            </a:pPr>
            <a:r>
              <a:rPr lang="en-US" sz="1800" dirty="0">
                <a:solidFill>
                  <a:srgbClr val="4A6B5D"/>
                </a:solidFill>
                <a:latin typeface="Georgia" pitchFamily="34" charset="0"/>
                <a:ea typeface="Georgia" pitchFamily="34" charset="-122"/>
                <a:cs typeface="Georgia" pitchFamily="34" charset="-120"/>
              </a:rPr>
              <a:t>How did you feel?</a:t>
            </a:r>
            <a:endParaRPr lang="en-US" sz="1800" dirty="0"/>
          </a:p>
        </p:txBody>
      </p:sp>
      <p:sp>
        <p:nvSpPr>
          <p:cNvPr id="24" name="Shape 18"/>
          <p:cNvSpPr/>
          <p:nvPr/>
        </p:nvSpPr>
        <p:spPr>
          <a:xfrm>
            <a:off x="4489704" y="4983480"/>
            <a:ext cx="3209544" cy="0"/>
          </a:xfrm>
          <a:prstGeom prst="line">
            <a:avLst/>
          </a:prstGeom>
          <a:noFill/>
          <a:ln w="9525">
            <a:solidFill>
              <a:srgbClr val="D9D4C4"/>
            </a:solidFill>
            <a:prstDash val="solid"/>
          </a:ln>
        </p:spPr>
      </p:sp>
      <p:sp>
        <p:nvSpPr>
          <p:cNvPr id="25" name="Text 19"/>
          <p:cNvSpPr/>
          <p:nvPr/>
        </p:nvSpPr>
        <p:spPr>
          <a:xfrm>
            <a:off x="4489704" y="5102352"/>
            <a:ext cx="3209544" cy="914400"/>
          </a:xfrm>
          <a:prstGeom prst="rect">
            <a:avLst/>
          </a:prstGeom>
          <a:noFill/>
          <a:ln/>
        </p:spPr>
        <p:txBody>
          <a:bodyPr wrap="square" lIns="0" tIns="0" rIns="0" bIns="0" rtlCol="0" anchor="t"/>
          <a:lstStyle/>
          <a:p>
            <a:pPr indent="0" marL="0">
              <a:lnSpc>
                <a:spcPts val="1800"/>
              </a:lnSpc>
              <a:buNone/>
            </a:pPr>
            <a:r>
              <a:rPr lang="en-US" sz="1350" dirty="0">
                <a:solidFill>
                  <a:srgbClr val="24313F"/>
                </a:solidFill>
                <a:latin typeface="Georgia" pitchFamily="34" charset="0"/>
                <a:ea typeface="Georgia" pitchFamily="34" charset="-122"/>
                <a:cs typeface="Georgia" pitchFamily="34" charset="-120"/>
              </a:rPr>
              <a:t>Restless? Hurried? Calm? Given time to look?</a:t>
            </a:r>
            <a:endParaRPr lang="en-US" sz="1350" dirty="0"/>
          </a:p>
        </p:txBody>
      </p:sp>
      <p:sp>
        <p:nvSpPr>
          <p:cNvPr id="26" name="Text 20"/>
          <p:cNvSpPr/>
          <p:nvPr/>
        </p:nvSpPr>
        <p:spPr>
          <a:xfrm>
            <a:off x="8156448" y="3794760"/>
            <a:ext cx="914400" cy="411480"/>
          </a:xfrm>
          <a:prstGeom prst="rect">
            <a:avLst/>
          </a:prstGeom>
          <a:noFill/>
          <a:ln/>
        </p:spPr>
        <p:txBody>
          <a:bodyPr wrap="square" lIns="0" tIns="0" rIns="0" bIns="0" rtlCol="0" anchor="ctr"/>
          <a:lstStyle/>
          <a:p>
            <a:pPr indent="0" marL="0">
              <a:buNone/>
            </a:pPr>
            <a:r>
              <a:rPr lang="en-US" sz="2400" dirty="0">
                <a:solidFill>
                  <a:srgbClr val="A3C1AD"/>
                </a:solidFill>
                <a:latin typeface="Georgia" pitchFamily="34" charset="0"/>
                <a:ea typeface="Georgia" pitchFamily="34" charset="-122"/>
                <a:cs typeface="Georgia" pitchFamily="34" charset="-120"/>
              </a:rPr>
              <a:t>03</a:t>
            </a:r>
            <a:endParaRPr lang="en-US" sz="2400" dirty="0"/>
          </a:p>
        </p:txBody>
      </p:sp>
      <p:sp>
        <p:nvSpPr>
          <p:cNvPr id="27" name="Text 21"/>
          <p:cNvSpPr/>
          <p:nvPr/>
        </p:nvSpPr>
        <p:spPr>
          <a:xfrm>
            <a:off x="8156448" y="4206240"/>
            <a:ext cx="3209544" cy="731520"/>
          </a:xfrm>
          <a:prstGeom prst="rect">
            <a:avLst/>
          </a:prstGeom>
          <a:noFill/>
          <a:ln/>
        </p:spPr>
        <p:txBody>
          <a:bodyPr wrap="square" lIns="0" tIns="0" rIns="0" bIns="0" rtlCol="0" anchor="t"/>
          <a:lstStyle/>
          <a:p>
            <a:pPr indent="0" marL="0">
              <a:lnSpc>
                <a:spcPts val="2200"/>
              </a:lnSpc>
              <a:buNone/>
            </a:pPr>
            <a:r>
              <a:rPr lang="en-US" sz="1800" dirty="0">
                <a:solidFill>
                  <a:srgbClr val="4A6B5D"/>
                </a:solidFill>
                <a:latin typeface="Georgia" pitchFamily="34" charset="0"/>
                <a:ea typeface="Georgia" pitchFamily="34" charset="-122"/>
                <a:cs typeface="Georgia" pitchFamily="34" charset="-120"/>
              </a:rPr>
              <a:t>What was the editor doing to you?</a:t>
            </a:r>
            <a:endParaRPr lang="en-US" sz="1800" dirty="0"/>
          </a:p>
        </p:txBody>
      </p:sp>
      <p:sp>
        <p:nvSpPr>
          <p:cNvPr id="28" name="Shape 22"/>
          <p:cNvSpPr/>
          <p:nvPr/>
        </p:nvSpPr>
        <p:spPr>
          <a:xfrm>
            <a:off x="8156448" y="4983480"/>
            <a:ext cx="3209544" cy="0"/>
          </a:xfrm>
          <a:prstGeom prst="line">
            <a:avLst/>
          </a:prstGeom>
          <a:noFill/>
          <a:ln w="9525">
            <a:solidFill>
              <a:srgbClr val="D9D4C4"/>
            </a:solidFill>
            <a:prstDash val="solid"/>
          </a:ln>
        </p:spPr>
      </p:sp>
      <p:sp>
        <p:nvSpPr>
          <p:cNvPr id="29" name="Text 23"/>
          <p:cNvSpPr/>
          <p:nvPr/>
        </p:nvSpPr>
        <p:spPr>
          <a:xfrm>
            <a:off x="8156448" y="5102352"/>
            <a:ext cx="3209544" cy="914400"/>
          </a:xfrm>
          <a:prstGeom prst="rect">
            <a:avLst/>
          </a:prstGeom>
          <a:noFill/>
          <a:ln/>
        </p:spPr>
        <p:txBody>
          <a:bodyPr wrap="square" lIns="0" tIns="0" rIns="0" bIns="0" rtlCol="0" anchor="t"/>
          <a:lstStyle/>
          <a:p>
            <a:pPr indent="0" marL="0">
              <a:lnSpc>
                <a:spcPts val="1800"/>
              </a:lnSpc>
              <a:buNone/>
            </a:pPr>
            <a:r>
              <a:rPr lang="en-US" sz="1350" dirty="0">
                <a:solidFill>
                  <a:srgbClr val="24313F"/>
                </a:solidFill>
                <a:latin typeface="Georgia" pitchFamily="34" charset="0"/>
                <a:ea typeface="Georgia" pitchFamily="34" charset="-122"/>
                <a:cs typeface="Georgia" pitchFamily="34" charset="-120"/>
              </a:rPr>
              <a:t>Not what the scene shows: what the cutting speed does to your attention.</a:t>
            </a:r>
            <a:endParaRPr lang="en-US" sz="1350" dirty="0"/>
          </a:p>
        </p:txBody>
      </p:sp>
      <p:sp>
        <p:nvSpPr>
          <p:cNvPr id="30" name="Shape 24"/>
          <p:cNvSpPr/>
          <p:nvPr/>
        </p:nvSpPr>
        <p:spPr>
          <a:xfrm>
            <a:off x="822960" y="6382512"/>
            <a:ext cx="10543032" cy="0"/>
          </a:xfrm>
          <a:prstGeom prst="line">
            <a:avLst/>
          </a:prstGeom>
          <a:noFill/>
          <a:ln w="9525">
            <a:solidFill>
              <a:srgbClr val="D9D4C4"/>
            </a:solidFill>
            <a:prstDash val="solid"/>
          </a:ln>
        </p:spPr>
      </p:sp>
      <p:sp>
        <p:nvSpPr>
          <p:cNvPr id="31" name="Text 2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32" name="Text 2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37360"/>
            <a:ext cx="10424160" cy="3291840"/>
          </a:xfrm>
          <a:prstGeom prst="rect">
            <a:avLst/>
          </a:prstGeom>
          <a:noFill/>
          <a:ln/>
        </p:spPr>
        <p:txBody>
          <a:bodyPr wrap="square" lIns="0" tIns="0" rIns="0" bIns="0" rtlCol="0" anchor="ctr"/>
          <a:lstStyle/>
          <a:p>
            <a:pPr indent="0" marL="0">
              <a:lnSpc>
                <a:spcPts val="3600"/>
              </a:lnSpc>
              <a:buNone/>
            </a:pPr>
            <a:r>
              <a:rPr lang="en-US" sz="2600" dirty="0">
                <a:solidFill>
                  <a:srgbClr val="24313F"/>
                </a:solidFill>
                <a:latin typeface="Georgia" pitchFamily="34" charset="0"/>
                <a:ea typeface="Georgia" pitchFamily="34" charset="-122"/>
                <a:cs typeface="Georgia" pitchFamily="34" charset="-120"/>
              </a:rPr>
              <a:t>Editing short sequences, just two or three shots to begin with: someone looking off-screen followed by the object they are looking at; shot / reverse shot for a conversation between two people (which is also an opportunity to highlight the 180-degree rule).</a:t>
            </a:r>
            <a:endParaRPr lang="en-US" sz="26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Cambridge Scheme of Work, Foundation Portfolio</a:t>
            </a:r>
            <a:endParaRPr lang="en-US" sz="1400" dirty="0"/>
          </a:p>
        </p:txBody>
      </p:sp>
      <p:sp>
        <p:nvSpPr>
          <p:cNvPr id="6" name="Text 4"/>
          <p:cNvSpPr/>
          <p:nvPr/>
        </p:nvSpPr>
        <p:spPr>
          <a:xfrm>
            <a:off x="822960" y="5806440"/>
            <a:ext cx="10424160" cy="640080"/>
          </a:xfrm>
          <a:prstGeom prst="rect">
            <a:avLst/>
          </a:prstGeom>
          <a:noFill/>
          <a:ln/>
        </p:spPr>
        <p:txBody>
          <a:bodyPr wrap="square" lIns="0" tIns="0" rIns="0" bIns="0" rtlCol="0" anchor="t"/>
          <a:lstStyle/>
          <a:p>
            <a:pPr indent="0" marL="0">
              <a:lnSpc>
                <a:spcPts val="1900"/>
              </a:lnSpc>
              <a:buNone/>
            </a:pPr>
            <a:r>
              <a:rPr lang="en-US" sz="1200" b="1" spc="100" kern="0" dirty="0">
                <a:solidFill>
                  <a:srgbClr val="7A7F72"/>
                </a:solidFill>
                <a:latin typeface="Arial" pitchFamily="34" charset="0"/>
                <a:ea typeface="Arial" pitchFamily="34" charset="-122"/>
                <a:cs typeface="Arial" pitchFamily="34" charset="-120"/>
              </a:rPr>
              <a:t>IN PLAIN WORDS   </a:t>
            </a:r>
            <a:pPr indent="0" marL="0">
              <a:lnSpc>
                <a:spcPts val="1900"/>
              </a:lnSpc>
              <a:buNone/>
            </a:pPr>
            <a:r>
              <a:rPr lang="en-US" sz="1400" i="1" dirty="0">
                <a:solidFill>
                  <a:srgbClr val="4A6B5D"/>
                </a:solidFill>
                <a:latin typeface="Georgia" pitchFamily="34" charset="0"/>
                <a:ea typeface="Georgia" pitchFamily="34" charset="-122"/>
                <a:cs typeface="Georgia" pitchFamily="34" charset="-120"/>
              </a:rPr>
              <a:t>Start small: edit two or three shots. A look, then the thing seen. A conversation, cut shot by shot.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CONTINUITY SYSTEM</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GRAMMAR OF INVISIBLE CUTTING</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051560"/>
            <a:ext cx="3270504" cy="169164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adolescence-father-ots.jpg">    </p:cNvPr>
          <p:cNvPicPr>
            <a:picLocks noChangeAspect="1"/>
          </p:cNvPicPr>
          <p:nvPr/>
        </p:nvPicPr>
        <p:blipFill>
          <a:blip r:embed="rId1"/>
          <a:stretch>
            <a:fillRect/>
          </a:stretch>
        </p:blipFill>
        <p:spPr>
          <a:xfrm>
            <a:off x="913659" y="1124712"/>
            <a:ext cx="3089106" cy="1545336"/>
          </a:xfrm>
          <a:prstGeom prst="rect">
            <a:avLst/>
          </a:prstGeom>
        </p:spPr>
      </p:pic>
      <p:sp>
        <p:nvSpPr>
          <p:cNvPr id="7" name="Text 4"/>
          <p:cNvSpPr/>
          <p:nvPr/>
        </p:nvSpPr>
        <p:spPr>
          <a:xfrm>
            <a:off x="822960" y="2788920"/>
            <a:ext cx="3270504" cy="310896"/>
          </a:xfrm>
          <a:prstGeom prst="rect">
            <a:avLst/>
          </a:prstGeom>
          <a:noFill/>
          <a:ln/>
        </p:spPr>
        <p:txBody>
          <a:bodyPr wrap="square" lIns="0" tIns="0" rIns="0" bIns="0" rtlCol="0" anchor="ctr"/>
          <a:lstStyle/>
          <a:p>
            <a:pPr indent="0" marL="0">
              <a:buNone/>
            </a:pPr>
            <a:r>
              <a:rPr lang="en-US" sz="1550" dirty="0">
                <a:solidFill>
                  <a:srgbClr val="4A6B5D"/>
                </a:solidFill>
                <a:latin typeface="Georgia" pitchFamily="34" charset="0"/>
                <a:ea typeface="Georgia" pitchFamily="34" charset="-122"/>
                <a:cs typeface="Georgia" pitchFamily="34" charset="-120"/>
              </a:rPr>
              <a:t>Shot / reverse shot</a:t>
            </a:r>
            <a:endParaRPr lang="en-US" sz="1550" dirty="0"/>
          </a:p>
        </p:txBody>
      </p:sp>
      <p:sp>
        <p:nvSpPr>
          <p:cNvPr id="8" name="Text 5"/>
          <p:cNvSpPr/>
          <p:nvPr/>
        </p:nvSpPr>
        <p:spPr>
          <a:xfrm>
            <a:off x="822960" y="3099816"/>
            <a:ext cx="3270504" cy="457200"/>
          </a:xfrm>
          <a:prstGeom prst="rect">
            <a:avLst/>
          </a:prstGeom>
          <a:noFill/>
          <a:ln/>
        </p:spPr>
        <p:txBody>
          <a:bodyPr wrap="square" lIns="0" tIns="0" rIns="0" bIns="0" rtlCol="0" anchor="t"/>
          <a:lstStyle/>
          <a:p>
            <a:pPr indent="0" marL="0">
              <a:lnSpc>
                <a:spcPts val="1300"/>
              </a:lnSpc>
              <a:buNone/>
            </a:pPr>
            <a:r>
              <a:rPr lang="en-US" sz="1050" i="1" dirty="0">
                <a:solidFill>
                  <a:srgbClr val="7A7F72"/>
                </a:solidFill>
                <a:latin typeface="Arial" pitchFamily="34" charset="0"/>
                <a:ea typeface="Arial" pitchFamily="34" charset="-122"/>
                <a:cs typeface="Arial" pitchFamily="34" charset="-120"/>
              </a:rPr>
              <a:t>two angles that never share a frame</a:t>
            </a:r>
            <a:endParaRPr lang="en-US" sz="1050" dirty="0"/>
          </a:p>
        </p:txBody>
      </p:sp>
      <p:sp>
        <p:nvSpPr>
          <p:cNvPr id="9" name="Shape 6"/>
          <p:cNvSpPr/>
          <p:nvPr/>
        </p:nvSpPr>
        <p:spPr>
          <a:xfrm>
            <a:off x="4459224" y="1051560"/>
            <a:ext cx="3270504" cy="1691640"/>
          </a:xfrm>
          <a:prstGeom prst="rect">
            <a:avLst/>
          </a:prstGeom>
          <a:solidFill>
            <a:srgbClr val="FAF8F1"/>
          </a:solidFill>
          <a:ln w="9525">
            <a:solidFill>
              <a:srgbClr val="D9D4C4"/>
            </a:solidFill>
            <a:prstDash val="solid"/>
          </a:ln>
        </p:spPr>
      </p:sp>
      <p:pic>
        <p:nvPicPr>
          <p:cNvPr id="10" name="Image 1" descr="/Users/dogan/Documents/Vaults/Courses/wiki/classes/media-studies/decks/_build/img/toystory-woody-window.jpg">    </p:cNvPr>
          <p:cNvPicPr>
            <a:picLocks noChangeAspect="1"/>
          </p:cNvPicPr>
          <p:nvPr/>
        </p:nvPicPr>
        <p:blipFill>
          <a:blip r:embed="rId2"/>
          <a:stretch>
            <a:fillRect/>
          </a:stretch>
        </p:blipFill>
        <p:spPr>
          <a:xfrm>
            <a:off x="4898858" y="1124712"/>
            <a:ext cx="2391236" cy="1545336"/>
          </a:xfrm>
          <a:prstGeom prst="rect">
            <a:avLst/>
          </a:prstGeom>
        </p:spPr>
      </p:pic>
      <p:sp>
        <p:nvSpPr>
          <p:cNvPr id="11" name="Text 7"/>
          <p:cNvSpPr/>
          <p:nvPr/>
        </p:nvSpPr>
        <p:spPr>
          <a:xfrm>
            <a:off x="4459224" y="2788920"/>
            <a:ext cx="3270504" cy="310896"/>
          </a:xfrm>
          <a:prstGeom prst="rect">
            <a:avLst/>
          </a:prstGeom>
          <a:noFill/>
          <a:ln/>
        </p:spPr>
        <p:txBody>
          <a:bodyPr wrap="square" lIns="0" tIns="0" rIns="0" bIns="0" rtlCol="0" anchor="ctr"/>
          <a:lstStyle/>
          <a:p>
            <a:pPr indent="0" marL="0">
              <a:buNone/>
            </a:pPr>
            <a:r>
              <a:rPr lang="en-US" sz="1550" dirty="0">
                <a:solidFill>
                  <a:srgbClr val="4A6B5D"/>
                </a:solidFill>
                <a:latin typeface="Georgia" pitchFamily="34" charset="0"/>
                <a:ea typeface="Georgia" pitchFamily="34" charset="-122"/>
                <a:cs typeface="Georgia" pitchFamily="34" charset="-120"/>
              </a:rPr>
              <a:t>Eyeline match</a:t>
            </a:r>
            <a:endParaRPr lang="en-US" sz="1550" dirty="0"/>
          </a:p>
        </p:txBody>
      </p:sp>
      <p:sp>
        <p:nvSpPr>
          <p:cNvPr id="12" name="Text 8"/>
          <p:cNvSpPr/>
          <p:nvPr/>
        </p:nvSpPr>
        <p:spPr>
          <a:xfrm>
            <a:off x="4459224" y="3099816"/>
            <a:ext cx="3270504" cy="457200"/>
          </a:xfrm>
          <a:prstGeom prst="rect">
            <a:avLst/>
          </a:prstGeom>
          <a:noFill/>
          <a:ln/>
        </p:spPr>
        <p:txBody>
          <a:bodyPr wrap="square" lIns="0" tIns="0" rIns="0" bIns="0" rtlCol="0" anchor="t"/>
          <a:lstStyle/>
          <a:p>
            <a:pPr indent="0" marL="0">
              <a:lnSpc>
                <a:spcPts val="1300"/>
              </a:lnSpc>
              <a:buNone/>
            </a:pPr>
            <a:r>
              <a:rPr lang="en-US" sz="1050" i="1" dirty="0">
                <a:solidFill>
                  <a:srgbClr val="7A7F72"/>
                </a:solidFill>
                <a:latin typeface="Arial" pitchFamily="34" charset="0"/>
                <a:ea typeface="Arial" pitchFamily="34" charset="-122"/>
                <a:cs typeface="Arial" pitchFamily="34" charset="-120"/>
              </a:rPr>
              <a:t>he looks down; the next shot is what he sees</a:t>
            </a:r>
            <a:endParaRPr lang="en-US" sz="1050" dirty="0"/>
          </a:p>
        </p:txBody>
      </p:sp>
      <p:sp>
        <p:nvSpPr>
          <p:cNvPr id="13" name="Shape 9"/>
          <p:cNvSpPr/>
          <p:nvPr/>
        </p:nvSpPr>
        <p:spPr>
          <a:xfrm>
            <a:off x="8095488" y="1051560"/>
            <a:ext cx="3270504" cy="1691640"/>
          </a:xfrm>
          <a:prstGeom prst="rect">
            <a:avLst/>
          </a:prstGeom>
          <a:solidFill>
            <a:srgbClr val="FAF8F1"/>
          </a:solidFill>
          <a:ln w="9525">
            <a:solidFill>
              <a:srgbClr val="D9D4C4"/>
            </a:solidFill>
            <a:prstDash val="solid"/>
          </a:ln>
        </p:spPr>
      </p:sp>
      <p:pic>
        <p:nvPicPr>
          <p:cNvPr id="14" name="Image 2" descr="/Users/dogan/Documents/Vaults/Courses/wiki/classes/media-studies/decks/_build/img/toystory-remote-ecu.jpg">    </p:cNvPr>
          <p:cNvPicPr>
            <a:picLocks noChangeAspect="1"/>
          </p:cNvPicPr>
          <p:nvPr/>
        </p:nvPicPr>
        <p:blipFill>
          <a:blip r:embed="rId3"/>
          <a:stretch>
            <a:fillRect/>
          </a:stretch>
        </p:blipFill>
        <p:spPr>
          <a:xfrm>
            <a:off x="8535122" y="1124712"/>
            <a:ext cx="2391236" cy="1545336"/>
          </a:xfrm>
          <a:prstGeom prst="rect">
            <a:avLst/>
          </a:prstGeom>
        </p:spPr>
      </p:pic>
      <p:sp>
        <p:nvSpPr>
          <p:cNvPr id="15" name="Text 10"/>
          <p:cNvSpPr/>
          <p:nvPr/>
        </p:nvSpPr>
        <p:spPr>
          <a:xfrm>
            <a:off x="8095488" y="2788920"/>
            <a:ext cx="3270504" cy="310896"/>
          </a:xfrm>
          <a:prstGeom prst="rect">
            <a:avLst/>
          </a:prstGeom>
          <a:noFill/>
          <a:ln/>
        </p:spPr>
        <p:txBody>
          <a:bodyPr wrap="square" lIns="0" tIns="0" rIns="0" bIns="0" rtlCol="0" anchor="ctr"/>
          <a:lstStyle/>
          <a:p>
            <a:pPr indent="0" marL="0">
              <a:buNone/>
            </a:pPr>
            <a:r>
              <a:rPr lang="en-US" sz="1550" dirty="0">
                <a:solidFill>
                  <a:srgbClr val="4A6B5D"/>
                </a:solidFill>
                <a:latin typeface="Georgia" pitchFamily="34" charset="0"/>
                <a:ea typeface="Georgia" pitchFamily="34" charset="-122"/>
                <a:cs typeface="Georgia" pitchFamily="34" charset="-120"/>
              </a:rPr>
              <a:t>Cutaway and insert</a:t>
            </a:r>
            <a:endParaRPr lang="en-US" sz="1550" dirty="0"/>
          </a:p>
        </p:txBody>
      </p:sp>
      <p:sp>
        <p:nvSpPr>
          <p:cNvPr id="16" name="Text 11"/>
          <p:cNvSpPr/>
          <p:nvPr/>
        </p:nvSpPr>
        <p:spPr>
          <a:xfrm>
            <a:off x="8095488" y="3099816"/>
            <a:ext cx="3270504" cy="457200"/>
          </a:xfrm>
          <a:prstGeom prst="rect">
            <a:avLst/>
          </a:prstGeom>
          <a:noFill/>
          <a:ln/>
        </p:spPr>
        <p:txBody>
          <a:bodyPr wrap="square" lIns="0" tIns="0" rIns="0" bIns="0" rtlCol="0" anchor="t"/>
          <a:lstStyle/>
          <a:p>
            <a:pPr indent="0" marL="0">
              <a:lnSpc>
                <a:spcPts val="1300"/>
              </a:lnSpc>
              <a:buNone/>
            </a:pPr>
            <a:r>
              <a:rPr lang="en-US" sz="1050" i="1" dirty="0">
                <a:solidFill>
                  <a:srgbClr val="7A7F72"/>
                </a:solidFill>
                <a:latin typeface="Arial" pitchFamily="34" charset="0"/>
                <a:ea typeface="Arial" pitchFamily="34" charset="-122"/>
                <a:cs typeface="Arial" pitchFamily="34" charset="-120"/>
              </a:rPr>
              <a:t>a close detail that hides the join</a:t>
            </a:r>
            <a:endParaRPr lang="en-US" sz="1050" dirty="0"/>
          </a:p>
        </p:txBody>
      </p:sp>
      <p:sp>
        <p:nvSpPr>
          <p:cNvPr id="17" name="Shape 12"/>
          <p:cNvSpPr/>
          <p:nvPr/>
        </p:nvSpPr>
        <p:spPr>
          <a:xfrm>
            <a:off x="822960" y="3657600"/>
            <a:ext cx="3270504" cy="1691640"/>
          </a:xfrm>
          <a:prstGeom prst="rect">
            <a:avLst/>
          </a:prstGeom>
          <a:solidFill>
            <a:srgbClr val="FAF8F1"/>
          </a:solidFill>
          <a:ln w="9525">
            <a:solidFill>
              <a:srgbClr val="D9D4C4"/>
            </a:solidFill>
            <a:prstDash val="solid"/>
          </a:ln>
        </p:spPr>
      </p:sp>
      <p:sp>
        <p:nvSpPr>
          <p:cNvPr id="18" name="Shape 13"/>
          <p:cNvSpPr/>
          <p:nvPr/>
        </p:nvSpPr>
        <p:spPr>
          <a:xfrm>
            <a:off x="1874520" y="3913632"/>
            <a:ext cx="365760" cy="365760"/>
          </a:xfrm>
          <a:prstGeom prst="ellipse">
            <a:avLst/>
          </a:prstGeom>
          <a:solidFill>
            <a:srgbClr val="4A6B5D"/>
          </a:solidFill>
          <a:ln/>
        </p:spPr>
      </p:sp>
      <p:sp>
        <p:nvSpPr>
          <p:cNvPr id="19" name="Shape 14"/>
          <p:cNvSpPr/>
          <p:nvPr/>
        </p:nvSpPr>
        <p:spPr>
          <a:xfrm>
            <a:off x="2676144" y="3913632"/>
            <a:ext cx="365760" cy="365760"/>
          </a:xfrm>
          <a:prstGeom prst="ellipse">
            <a:avLst/>
          </a:prstGeom>
          <a:solidFill>
            <a:srgbClr val="5C7A6B"/>
          </a:solidFill>
          <a:ln/>
        </p:spPr>
      </p:sp>
      <p:sp>
        <p:nvSpPr>
          <p:cNvPr id="20" name="Shape 15"/>
          <p:cNvSpPr/>
          <p:nvPr/>
        </p:nvSpPr>
        <p:spPr>
          <a:xfrm>
            <a:off x="1143000" y="4096512"/>
            <a:ext cx="2630424" cy="0"/>
          </a:xfrm>
          <a:prstGeom prst="line">
            <a:avLst/>
          </a:prstGeom>
          <a:noFill/>
          <a:ln w="19050">
            <a:solidFill>
              <a:srgbClr val="8C3A38"/>
            </a:solidFill>
            <a:prstDash val="dash"/>
          </a:ln>
        </p:spPr>
      </p:sp>
      <p:sp>
        <p:nvSpPr>
          <p:cNvPr id="21" name="Shape 16"/>
          <p:cNvSpPr/>
          <p:nvPr/>
        </p:nvSpPr>
        <p:spPr>
          <a:xfrm>
            <a:off x="1508760" y="4800600"/>
            <a:ext cx="457200" cy="292608"/>
          </a:xfrm>
          <a:prstGeom prst="rect">
            <a:avLst/>
          </a:prstGeom>
          <a:solidFill>
            <a:srgbClr val="24313F"/>
          </a:solidFill>
          <a:ln/>
        </p:spPr>
      </p:sp>
      <p:sp>
        <p:nvSpPr>
          <p:cNvPr id="22" name="Text 17"/>
          <p:cNvSpPr/>
          <p:nvPr/>
        </p:nvSpPr>
        <p:spPr>
          <a:xfrm>
            <a:off x="1508760" y="4800600"/>
            <a:ext cx="457200" cy="292608"/>
          </a:xfrm>
          <a:prstGeom prst="rect">
            <a:avLst/>
          </a:prstGeom>
          <a:noFill/>
          <a:ln/>
        </p:spPr>
        <p:txBody>
          <a:bodyPr wrap="square" lIns="0" tIns="0" rIns="0" bIns="0" rtlCol="0" anchor="ctr"/>
          <a:lstStyle/>
          <a:p>
            <a:pPr algn="ctr" indent="0" marL="0">
              <a:buNone/>
            </a:pPr>
            <a:r>
              <a:rPr lang="en-US" sz="1000" b="1" dirty="0">
                <a:solidFill>
                  <a:srgbClr val="FAF8F1"/>
                </a:solidFill>
                <a:latin typeface="Arial" pitchFamily="34" charset="0"/>
                <a:ea typeface="Arial" pitchFamily="34" charset="-122"/>
                <a:cs typeface="Arial" pitchFamily="34" charset="-120"/>
              </a:rPr>
              <a:t>A</a:t>
            </a:r>
            <a:endParaRPr lang="en-US" sz="1000" dirty="0"/>
          </a:p>
        </p:txBody>
      </p:sp>
      <p:sp>
        <p:nvSpPr>
          <p:cNvPr id="23" name="Shape 18"/>
          <p:cNvSpPr/>
          <p:nvPr/>
        </p:nvSpPr>
        <p:spPr>
          <a:xfrm>
            <a:off x="2950464" y="4800600"/>
            <a:ext cx="457200" cy="292608"/>
          </a:xfrm>
          <a:prstGeom prst="rect">
            <a:avLst/>
          </a:prstGeom>
          <a:solidFill>
            <a:srgbClr val="24313F"/>
          </a:solidFill>
          <a:ln/>
        </p:spPr>
      </p:sp>
      <p:sp>
        <p:nvSpPr>
          <p:cNvPr id="24" name="Text 19"/>
          <p:cNvSpPr/>
          <p:nvPr/>
        </p:nvSpPr>
        <p:spPr>
          <a:xfrm>
            <a:off x="2950464" y="4800600"/>
            <a:ext cx="457200" cy="292608"/>
          </a:xfrm>
          <a:prstGeom prst="rect">
            <a:avLst/>
          </a:prstGeom>
          <a:noFill/>
          <a:ln/>
        </p:spPr>
        <p:txBody>
          <a:bodyPr wrap="square" lIns="0" tIns="0" rIns="0" bIns="0" rtlCol="0" anchor="ctr"/>
          <a:lstStyle/>
          <a:p>
            <a:pPr algn="ctr" indent="0" marL="0">
              <a:buNone/>
            </a:pPr>
            <a:r>
              <a:rPr lang="en-US" sz="1000" b="1" dirty="0">
                <a:solidFill>
                  <a:srgbClr val="FAF8F1"/>
                </a:solidFill>
                <a:latin typeface="Arial" pitchFamily="34" charset="0"/>
                <a:ea typeface="Arial" pitchFamily="34" charset="-122"/>
                <a:cs typeface="Arial" pitchFamily="34" charset="-120"/>
              </a:rPr>
              <a:t>B</a:t>
            </a:r>
            <a:endParaRPr lang="en-US" sz="1000" dirty="0"/>
          </a:p>
        </p:txBody>
      </p:sp>
      <p:sp>
        <p:nvSpPr>
          <p:cNvPr id="25" name="Shape 20"/>
          <p:cNvSpPr/>
          <p:nvPr/>
        </p:nvSpPr>
        <p:spPr>
          <a:xfrm>
            <a:off x="2229612" y="3675888"/>
            <a:ext cx="457200" cy="292608"/>
          </a:xfrm>
          <a:prstGeom prst="rect">
            <a:avLst/>
          </a:prstGeom>
          <a:solidFill>
            <a:srgbClr val="FAF8F1"/>
          </a:solidFill>
          <a:ln w="12700">
            <a:solidFill>
              <a:srgbClr val="8C3A38"/>
            </a:solidFill>
            <a:prstDash val="solid"/>
          </a:ln>
        </p:spPr>
      </p:sp>
      <p:sp>
        <p:nvSpPr>
          <p:cNvPr id="26" name="Text 21"/>
          <p:cNvSpPr/>
          <p:nvPr/>
        </p:nvSpPr>
        <p:spPr>
          <a:xfrm>
            <a:off x="2229612" y="3675888"/>
            <a:ext cx="457200" cy="292608"/>
          </a:xfrm>
          <a:prstGeom prst="rect">
            <a:avLst/>
          </a:prstGeom>
          <a:noFill/>
          <a:ln/>
        </p:spPr>
        <p:txBody>
          <a:bodyPr wrap="square" lIns="0" tIns="0" rIns="0" bIns="0" rtlCol="0" anchor="ctr"/>
          <a:lstStyle/>
          <a:p>
            <a:pPr algn="ctr" indent="0" marL="0">
              <a:buNone/>
            </a:pPr>
            <a:r>
              <a:rPr lang="en-US" sz="1000" b="1" dirty="0">
                <a:solidFill>
                  <a:srgbClr val="8C3A38"/>
                </a:solidFill>
                <a:latin typeface="Arial" pitchFamily="34" charset="0"/>
                <a:ea typeface="Arial" pitchFamily="34" charset="-122"/>
                <a:cs typeface="Arial" pitchFamily="34" charset="-120"/>
              </a:rPr>
              <a:t>C ✕</a:t>
            </a:r>
            <a:endParaRPr lang="en-US" sz="1000" dirty="0"/>
          </a:p>
        </p:txBody>
      </p:sp>
      <p:sp>
        <p:nvSpPr>
          <p:cNvPr id="27" name="Text 22"/>
          <p:cNvSpPr/>
          <p:nvPr/>
        </p:nvSpPr>
        <p:spPr>
          <a:xfrm>
            <a:off x="822960" y="5394960"/>
            <a:ext cx="3270504" cy="310896"/>
          </a:xfrm>
          <a:prstGeom prst="rect">
            <a:avLst/>
          </a:prstGeom>
          <a:noFill/>
          <a:ln/>
        </p:spPr>
        <p:txBody>
          <a:bodyPr wrap="square" lIns="0" tIns="0" rIns="0" bIns="0" rtlCol="0" anchor="ctr"/>
          <a:lstStyle/>
          <a:p>
            <a:pPr indent="0" marL="0">
              <a:buNone/>
            </a:pPr>
            <a:r>
              <a:rPr lang="en-US" sz="1550" dirty="0">
                <a:solidFill>
                  <a:srgbClr val="4A6B5D"/>
                </a:solidFill>
                <a:latin typeface="Georgia" pitchFamily="34" charset="0"/>
                <a:ea typeface="Georgia" pitchFamily="34" charset="-122"/>
                <a:cs typeface="Georgia" pitchFamily="34" charset="-120"/>
              </a:rPr>
              <a:t>The 180-degree rule</a:t>
            </a:r>
            <a:endParaRPr lang="en-US" sz="1550" dirty="0"/>
          </a:p>
        </p:txBody>
      </p:sp>
      <p:sp>
        <p:nvSpPr>
          <p:cNvPr id="28" name="Text 23"/>
          <p:cNvSpPr/>
          <p:nvPr/>
        </p:nvSpPr>
        <p:spPr>
          <a:xfrm>
            <a:off x="822960" y="5705856"/>
            <a:ext cx="3270504" cy="457200"/>
          </a:xfrm>
          <a:prstGeom prst="rect">
            <a:avLst/>
          </a:prstGeom>
          <a:noFill/>
          <a:ln/>
        </p:spPr>
        <p:txBody>
          <a:bodyPr wrap="square" lIns="0" tIns="0" rIns="0" bIns="0" rtlCol="0" anchor="t"/>
          <a:lstStyle/>
          <a:p>
            <a:pPr indent="0" marL="0">
              <a:lnSpc>
                <a:spcPts val="1300"/>
              </a:lnSpc>
              <a:buNone/>
            </a:pPr>
            <a:r>
              <a:rPr lang="en-US" sz="1050" i="1" dirty="0">
                <a:solidFill>
                  <a:srgbClr val="7A7F72"/>
                </a:solidFill>
                <a:latin typeface="Arial" pitchFamily="34" charset="0"/>
                <a:ea typeface="Arial" pitchFamily="34" charset="-122"/>
                <a:cs typeface="Arial" pitchFamily="34" charset="-120"/>
              </a:rPr>
              <a:t>stay on one side and directions stay clear</a:t>
            </a:r>
            <a:endParaRPr lang="en-US" sz="1050" dirty="0"/>
          </a:p>
        </p:txBody>
      </p:sp>
      <p:sp>
        <p:nvSpPr>
          <p:cNvPr id="29" name="Shape 24"/>
          <p:cNvSpPr/>
          <p:nvPr/>
        </p:nvSpPr>
        <p:spPr>
          <a:xfrm>
            <a:off x="4459224" y="3657600"/>
            <a:ext cx="3270504" cy="1691640"/>
          </a:xfrm>
          <a:prstGeom prst="rect">
            <a:avLst/>
          </a:prstGeom>
          <a:solidFill>
            <a:srgbClr val="FAF8F1"/>
          </a:solidFill>
          <a:ln w="9525">
            <a:solidFill>
              <a:srgbClr val="D9D4C4"/>
            </a:solidFill>
            <a:prstDash val="solid"/>
          </a:ln>
        </p:spPr>
      </p:sp>
      <p:pic>
        <p:nvPicPr>
          <p:cNvPr id="30" name="Image 3" descr="/Users/dogan/Documents/Vaults/Courses/wiki/classes/media-studies/decks/_build/img/toystory-buzz-out.jpg">    </p:cNvPr>
          <p:cNvPicPr>
            <a:picLocks noChangeAspect="1"/>
          </p:cNvPicPr>
          <p:nvPr/>
        </p:nvPicPr>
        <p:blipFill>
          <a:blip r:embed="rId4"/>
          <a:stretch>
            <a:fillRect/>
          </a:stretch>
        </p:blipFill>
        <p:spPr>
          <a:xfrm>
            <a:off x="4898858" y="3730752"/>
            <a:ext cx="2391236" cy="1545336"/>
          </a:xfrm>
          <a:prstGeom prst="rect">
            <a:avLst/>
          </a:prstGeom>
        </p:spPr>
      </p:pic>
      <p:sp>
        <p:nvSpPr>
          <p:cNvPr id="31" name="Text 25"/>
          <p:cNvSpPr/>
          <p:nvPr/>
        </p:nvSpPr>
        <p:spPr>
          <a:xfrm>
            <a:off x="4459224" y="5394960"/>
            <a:ext cx="3270504" cy="310896"/>
          </a:xfrm>
          <a:prstGeom prst="rect">
            <a:avLst/>
          </a:prstGeom>
          <a:noFill/>
          <a:ln/>
        </p:spPr>
        <p:txBody>
          <a:bodyPr wrap="square" lIns="0" tIns="0" rIns="0" bIns="0" rtlCol="0" anchor="ctr"/>
          <a:lstStyle/>
          <a:p>
            <a:pPr indent="0" marL="0">
              <a:buNone/>
            </a:pPr>
            <a:r>
              <a:rPr lang="en-US" sz="1550" dirty="0">
                <a:solidFill>
                  <a:srgbClr val="4A6B5D"/>
                </a:solidFill>
                <a:latin typeface="Georgia" pitchFamily="34" charset="0"/>
                <a:ea typeface="Georgia" pitchFamily="34" charset="-122"/>
                <a:cs typeface="Georgia" pitchFamily="34" charset="-120"/>
              </a:rPr>
              <a:t>Match on action</a:t>
            </a:r>
            <a:endParaRPr lang="en-US" sz="1550" dirty="0"/>
          </a:p>
        </p:txBody>
      </p:sp>
      <p:sp>
        <p:nvSpPr>
          <p:cNvPr id="32" name="Text 26"/>
          <p:cNvSpPr/>
          <p:nvPr/>
        </p:nvSpPr>
        <p:spPr>
          <a:xfrm>
            <a:off x="4459224" y="5705856"/>
            <a:ext cx="3270504" cy="457200"/>
          </a:xfrm>
          <a:prstGeom prst="rect">
            <a:avLst/>
          </a:prstGeom>
          <a:noFill/>
          <a:ln/>
        </p:spPr>
        <p:txBody>
          <a:bodyPr wrap="square" lIns="0" tIns="0" rIns="0" bIns="0" rtlCol="0" anchor="t"/>
          <a:lstStyle/>
          <a:p>
            <a:pPr indent="0" marL="0">
              <a:lnSpc>
                <a:spcPts val="1300"/>
              </a:lnSpc>
              <a:buNone/>
            </a:pPr>
            <a:r>
              <a:rPr lang="en-US" sz="1050" i="1" dirty="0">
                <a:solidFill>
                  <a:srgbClr val="7A7F72"/>
                </a:solidFill>
                <a:latin typeface="Arial" pitchFamily="34" charset="0"/>
                <a:ea typeface="Arial" pitchFamily="34" charset="-122"/>
                <a:cs typeface="Arial" pitchFamily="34" charset="-120"/>
              </a:rPr>
              <a:t>cut during a movement and you never feel the join</a:t>
            </a:r>
            <a:endParaRPr lang="en-US" sz="1050" dirty="0"/>
          </a:p>
        </p:txBody>
      </p:sp>
      <p:sp>
        <p:nvSpPr>
          <p:cNvPr id="33" name="Shape 27"/>
          <p:cNvSpPr/>
          <p:nvPr/>
        </p:nvSpPr>
        <p:spPr>
          <a:xfrm>
            <a:off x="8095488" y="3657600"/>
            <a:ext cx="3270504" cy="1691640"/>
          </a:xfrm>
          <a:prstGeom prst="rect">
            <a:avLst/>
          </a:prstGeom>
          <a:solidFill>
            <a:srgbClr val="FAF8F1"/>
          </a:solidFill>
          <a:ln w="9525">
            <a:solidFill>
              <a:srgbClr val="D9D4C4"/>
            </a:solidFill>
            <a:prstDash val="solid"/>
          </a:ln>
        </p:spPr>
      </p:sp>
      <p:sp>
        <p:nvSpPr>
          <p:cNvPr id="34" name="Shape 28"/>
          <p:cNvSpPr/>
          <p:nvPr/>
        </p:nvSpPr>
        <p:spPr>
          <a:xfrm>
            <a:off x="8324088" y="3931920"/>
            <a:ext cx="1223772" cy="1051560"/>
          </a:xfrm>
          <a:prstGeom prst="rect">
            <a:avLst/>
          </a:prstGeom>
          <a:solidFill>
            <a:srgbClr val="E8EFE7"/>
          </a:solidFill>
          <a:ln w="9525">
            <a:solidFill>
              <a:srgbClr val="8AA394"/>
            </a:solidFill>
            <a:prstDash val="solid"/>
          </a:ln>
        </p:spPr>
      </p:sp>
      <p:sp>
        <p:nvSpPr>
          <p:cNvPr id="35" name="Text 29"/>
          <p:cNvSpPr/>
          <p:nvPr/>
        </p:nvSpPr>
        <p:spPr>
          <a:xfrm>
            <a:off x="8324088" y="3931920"/>
            <a:ext cx="1223772" cy="1051560"/>
          </a:xfrm>
          <a:prstGeom prst="rect">
            <a:avLst/>
          </a:prstGeom>
          <a:noFill/>
          <a:ln/>
        </p:spPr>
        <p:txBody>
          <a:bodyPr wrap="square" lIns="0" tIns="0" rIns="0" bIns="0" rtlCol="0" anchor="ctr"/>
          <a:lstStyle/>
          <a:p>
            <a:pPr algn="ctr" indent="0" marL="0">
              <a:lnSpc>
                <a:spcPts val="1400"/>
              </a:lnSpc>
              <a:buNone/>
            </a:pPr>
            <a:r>
              <a:rPr lang="en-US" sz="1100" dirty="0">
                <a:solidFill>
                  <a:srgbClr val="7A7F72"/>
                </a:solidFill>
                <a:latin typeface="Arial" pitchFamily="34" charset="0"/>
                <a:ea typeface="Arial" pitchFamily="34" charset="-122"/>
                <a:cs typeface="Arial" pitchFamily="34" charset="-120"/>
              </a:rPr>
              <a:t>EXT.</a:t>
            </a:r>
            <a:endParaRPr lang="en-US" sz="1100" dirty="0"/>
          </a:p>
          <a:p>
            <a:pPr algn="ctr" indent="0" marL="0">
              <a:lnSpc>
                <a:spcPts val="1400"/>
              </a:lnSpc>
              <a:buNone/>
            </a:pPr>
            <a:r>
              <a:rPr lang="en-US" sz="1100" dirty="0">
                <a:solidFill>
                  <a:srgbClr val="7A7F72"/>
                </a:solidFill>
                <a:latin typeface="Arial" pitchFamily="34" charset="0"/>
                <a:ea typeface="Arial" pitchFamily="34" charset="-122"/>
                <a:cs typeface="Arial" pitchFamily="34" charset="-120"/>
              </a:rPr>
              <a:t>wide</a:t>
            </a:r>
            <a:endParaRPr lang="en-US" sz="1100" dirty="0"/>
          </a:p>
        </p:txBody>
      </p:sp>
      <p:sp>
        <p:nvSpPr>
          <p:cNvPr id="36" name="Text 30"/>
          <p:cNvSpPr/>
          <p:nvPr/>
        </p:nvSpPr>
        <p:spPr>
          <a:xfrm>
            <a:off x="9502140" y="4160520"/>
            <a:ext cx="457200" cy="548640"/>
          </a:xfrm>
          <a:prstGeom prst="rect">
            <a:avLst/>
          </a:prstGeom>
          <a:noFill/>
          <a:ln/>
        </p:spPr>
        <p:txBody>
          <a:bodyPr wrap="square" lIns="0" tIns="0" rIns="0" bIns="0" rtlCol="0" anchor="ctr"/>
          <a:lstStyle/>
          <a:p>
            <a:pPr algn="ctr" indent="0" marL="0">
              <a:buNone/>
            </a:pPr>
            <a:r>
              <a:rPr lang="en-US" sz="2200" dirty="0">
                <a:solidFill>
                  <a:srgbClr val="A3C1AD"/>
                </a:solidFill>
                <a:latin typeface="Georgia" pitchFamily="34" charset="0"/>
                <a:ea typeface="Georgia" pitchFamily="34" charset="-122"/>
                <a:cs typeface="Georgia" pitchFamily="34" charset="-120"/>
              </a:rPr>
              <a:t>→</a:t>
            </a:r>
            <a:endParaRPr lang="en-US" sz="2200" dirty="0"/>
          </a:p>
        </p:txBody>
      </p:sp>
      <p:sp>
        <p:nvSpPr>
          <p:cNvPr id="37" name="Shape 31"/>
          <p:cNvSpPr/>
          <p:nvPr/>
        </p:nvSpPr>
        <p:spPr>
          <a:xfrm>
            <a:off x="9913620" y="3931920"/>
            <a:ext cx="1223772" cy="1051560"/>
          </a:xfrm>
          <a:prstGeom prst="rect">
            <a:avLst/>
          </a:prstGeom>
          <a:solidFill>
            <a:srgbClr val="E8EFE7"/>
          </a:solidFill>
          <a:ln w="9525">
            <a:solidFill>
              <a:srgbClr val="8AA394"/>
            </a:solidFill>
            <a:prstDash val="solid"/>
          </a:ln>
        </p:spPr>
      </p:sp>
      <p:sp>
        <p:nvSpPr>
          <p:cNvPr id="38" name="Text 32"/>
          <p:cNvSpPr/>
          <p:nvPr/>
        </p:nvSpPr>
        <p:spPr>
          <a:xfrm>
            <a:off x="9913620" y="3931920"/>
            <a:ext cx="1223772" cy="1051560"/>
          </a:xfrm>
          <a:prstGeom prst="rect">
            <a:avLst/>
          </a:prstGeom>
          <a:noFill/>
          <a:ln/>
        </p:spPr>
        <p:txBody>
          <a:bodyPr wrap="square" lIns="0" tIns="0" rIns="0" bIns="0" rtlCol="0" anchor="ctr"/>
          <a:lstStyle/>
          <a:p>
            <a:pPr algn="ctr" indent="0" marL="0">
              <a:lnSpc>
                <a:spcPts val="1400"/>
              </a:lnSpc>
              <a:buNone/>
            </a:pPr>
            <a:r>
              <a:rPr lang="en-US" sz="1100" dirty="0">
                <a:solidFill>
                  <a:srgbClr val="7A7F72"/>
                </a:solidFill>
                <a:latin typeface="Arial" pitchFamily="34" charset="0"/>
                <a:ea typeface="Arial" pitchFamily="34" charset="-122"/>
                <a:cs typeface="Arial" pitchFamily="34" charset="-120"/>
              </a:rPr>
              <a:t>INT.</a:t>
            </a:r>
            <a:endParaRPr lang="en-US" sz="1100" dirty="0"/>
          </a:p>
          <a:p>
            <a:pPr algn="ctr" indent="0" marL="0">
              <a:lnSpc>
                <a:spcPts val="1400"/>
              </a:lnSpc>
              <a:buNone/>
            </a:pPr>
            <a:r>
              <a:rPr lang="en-US" sz="1100" dirty="0">
                <a:solidFill>
                  <a:srgbClr val="7A7F72"/>
                </a:solidFill>
                <a:latin typeface="Arial" pitchFamily="34" charset="0"/>
                <a:ea typeface="Arial" pitchFamily="34" charset="-122"/>
                <a:cs typeface="Arial" pitchFamily="34" charset="-120"/>
              </a:rPr>
              <a:t>room</a:t>
            </a:r>
            <a:endParaRPr lang="en-US" sz="1100" dirty="0"/>
          </a:p>
        </p:txBody>
      </p:sp>
      <p:sp>
        <p:nvSpPr>
          <p:cNvPr id="39" name="Text 33"/>
          <p:cNvSpPr/>
          <p:nvPr/>
        </p:nvSpPr>
        <p:spPr>
          <a:xfrm>
            <a:off x="8095488" y="5394960"/>
            <a:ext cx="3270504" cy="310896"/>
          </a:xfrm>
          <a:prstGeom prst="rect">
            <a:avLst/>
          </a:prstGeom>
          <a:noFill/>
          <a:ln/>
        </p:spPr>
        <p:txBody>
          <a:bodyPr wrap="square" lIns="0" tIns="0" rIns="0" bIns="0" rtlCol="0" anchor="ctr"/>
          <a:lstStyle/>
          <a:p>
            <a:pPr indent="0" marL="0">
              <a:buNone/>
            </a:pPr>
            <a:r>
              <a:rPr lang="en-US" sz="1550" dirty="0">
                <a:solidFill>
                  <a:srgbClr val="4A6B5D"/>
                </a:solidFill>
                <a:latin typeface="Georgia" pitchFamily="34" charset="0"/>
                <a:ea typeface="Georgia" pitchFamily="34" charset="-122"/>
                <a:cs typeface="Georgia" pitchFamily="34" charset="-120"/>
              </a:rPr>
              <a:t>Establishing to interior</a:t>
            </a:r>
            <a:endParaRPr lang="en-US" sz="1550" dirty="0"/>
          </a:p>
        </p:txBody>
      </p:sp>
      <p:sp>
        <p:nvSpPr>
          <p:cNvPr id="40" name="Text 34"/>
          <p:cNvSpPr/>
          <p:nvPr/>
        </p:nvSpPr>
        <p:spPr>
          <a:xfrm>
            <a:off x="8095488" y="5705856"/>
            <a:ext cx="3270504" cy="457200"/>
          </a:xfrm>
          <a:prstGeom prst="rect">
            <a:avLst/>
          </a:prstGeom>
          <a:noFill/>
          <a:ln/>
        </p:spPr>
        <p:txBody>
          <a:bodyPr wrap="square" lIns="0" tIns="0" rIns="0" bIns="0" rtlCol="0" anchor="t"/>
          <a:lstStyle/>
          <a:p>
            <a:pPr indent="0" marL="0">
              <a:lnSpc>
                <a:spcPts val="1300"/>
              </a:lnSpc>
              <a:buNone/>
            </a:pPr>
            <a:r>
              <a:rPr lang="en-US" sz="1050" i="1" dirty="0">
                <a:solidFill>
                  <a:srgbClr val="7A7F72"/>
                </a:solidFill>
                <a:latin typeface="Arial" pitchFamily="34" charset="0"/>
                <a:ea typeface="Arial" pitchFamily="34" charset="-122"/>
                <a:cs typeface="Arial" pitchFamily="34" charset="-120"/>
              </a:rPr>
              <a:t>outside first, then inside: the order tells you where you are</a:t>
            </a:r>
            <a:endParaRPr lang="en-US" sz="1050" dirty="0"/>
          </a:p>
        </p:txBody>
      </p:sp>
      <p:sp>
        <p:nvSpPr>
          <p:cNvPr id="41" name="Shape 35"/>
          <p:cNvSpPr/>
          <p:nvPr/>
        </p:nvSpPr>
        <p:spPr>
          <a:xfrm>
            <a:off x="822960" y="6382512"/>
            <a:ext cx="10543032" cy="0"/>
          </a:xfrm>
          <a:prstGeom prst="line">
            <a:avLst/>
          </a:prstGeom>
          <a:noFill/>
          <a:ln w="9525">
            <a:solidFill>
              <a:srgbClr val="D9D4C4"/>
            </a:solidFill>
            <a:prstDash val="solid"/>
          </a:ln>
        </p:spPr>
      </p:sp>
      <p:sp>
        <p:nvSpPr>
          <p:cNvPr id="42" name="Text 36"/>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43" name="Text 37"/>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180-DEGREE RULE</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CROSS IT AND THE ROOM FLIPS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188720"/>
            <a:ext cx="5760720" cy="1463040"/>
          </a:xfrm>
          <a:prstGeom prst="rect">
            <a:avLst/>
          </a:prstGeom>
          <a:noFill/>
          <a:ln/>
        </p:spPr>
        <p:txBody>
          <a:bodyPr wrap="square" lIns="0" tIns="0" rIns="0" bIns="0" rtlCol="0" anchor="t"/>
          <a:lstStyle/>
          <a:p>
            <a:pPr indent="0" marL="0">
              <a:lnSpc>
                <a:spcPts val="3600"/>
              </a:lnSpc>
              <a:buNone/>
            </a:pPr>
            <a:r>
              <a:rPr lang="en-US" sz="3000" dirty="0">
                <a:solidFill>
                  <a:srgbClr val="24313F"/>
                </a:solidFill>
                <a:latin typeface="Georgia" pitchFamily="34" charset="0"/>
                <a:ea typeface="Georgia" pitchFamily="34" charset="-122"/>
                <a:cs typeface="Georgia" pitchFamily="34" charset="-120"/>
              </a:rPr>
              <a:t>Cross the line and two people</a:t>
            </a:r>
            <a:endParaRPr lang="en-US" sz="3000" dirty="0"/>
          </a:p>
          <a:p>
            <a:pPr indent="0" marL="0">
              <a:lnSpc>
                <a:spcPts val="3600"/>
              </a:lnSpc>
              <a:buNone/>
            </a:pPr>
            <a:r>
              <a:rPr lang="en-US" sz="3000" dirty="0">
                <a:solidFill>
                  <a:srgbClr val="24313F"/>
                </a:solidFill>
                <a:latin typeface="Georgia" pitchFamily="34" charset="0"/>
                <a:ea typeface="Georgia" pitchFamily="34" charset="-122"/>
                <a:cs typeface="Georgia" pitchFamily="34" charset="-120"/>
              </a:rPr>
              <a:t>swap sides of the room</a:t>
            </a:r>
            <a:endParaRPr lang="en-US" sz="3000" dirty="0"/>
          </a:p>
        </p:txBody>
      </p:sp>
      <p:sp>
        <p:nvSpPr>
          <p:cNvPr id="6" name="Shape 4"/>
          <p:cNvSpPr/>
          <p:nvPr/>
        </p:nvSpPr>
        <p:spPr>
          <a:xfrm>
            <a:off x="822960" y="2834640"/>
            <a:ext cx="914400" cy="0"/>
          </a:xfrm>
          <a:prstGeom prst="line">
            <a:avLst/>
          </a:prstGeom>
          <a:noFill/>
          <a:ln w="31750">
            <a:solidFill>
              <a:srgbClr val="8C3A38"/>
            </a:solidFill>
            <a:prstDash val="solid"/>
          </a:ln>
        </p:spPr>
      </p:sp>
      <p:sp>
        <p:nvSpPr>
          <p:cNvPr id="7" name="Text 5"/>
          <p:cNvSpPr/>
          <p:nvPr/>
        </p:nvSpPr>
        <p:spPr>
          <a:xfrm>
            <a:off x="822960" y="3063240"/>
            <a:ext cx="5669280" cy="2743200"/>
          </a:xfrm>
          <a:prstGeom prst="rect">
            <a:avLst/>
          </a:prstGeom>
          <a:noFill/>
          <a:ln/>
        </p:spPr>
        <p:txBody>
          <a:bodyPr wrap="square" lIns="0" tIns="0" rIns="0" bIns="0" rtlCol="0" anchor="t"/>
          <a:lstStyle/>
          <a:p>
            <a:pPr indent="0" marL="0">
              <a:lnSpc>
                <a:spcPts val="2200"/>
              </a:lnSpc>
              <a:buNone/>
            </a:pPr>
            <a:r>
              <a:rPr lang="en-US" sz="1300" b="1" spc="100" kern="0" dirty="0">
                <a:solidFill>
                  <a:srgbClr val="4A6B5D"/>
                </a:solidFill>
                <a:latin typeface="Arial" pitchFamily="34" charset="0"/>
                <a:ea typeface="Arial" pitchFamily="34" charset="-122"/>
                <a:cs typeface="Arial" pitchFamily="34" charset="-120"/>
              </a:rPr>
              <a:t>THE RULE   </a:t>
            </a:r>
            <a:pPr indent="0" marL="0">
              <a:lnSpc>
                <a:spcPts val="2200"/>
              </a:lnSpc>
              <a:buNone/>
            </a:pPr>
            <a:r>
              <a:rPr lang="en-US" sz="1500" dirty="0">
                <a:solidFill>
                  <a:srgbClr val="24313F"/>
                </a:solidFill>
                <a:latin typeface="Georgia" pitchFamily="34" charset="0"/>
                <a:ea typeface="Georgia" pitchFamily="34" charset="-122"/>
                <a:cs typeface="Georgia" pitchFamily="34" charset="-120"/>
              </a:rPr>
              <a:t>Keep the camera on one side of the line between two speakers.</a:t>
            </a:r>
            <a:endParaRPr lang="en-US" sz="1300" dirty="0"/>
          </a:p>
          <a:p>
            <a:pPr indent="0" marL="0">
              <a:lnSpc>
                <a:spcPts val="2200"/>
              </a:lnSpc>
              <a:buNone/>
            </a:pPr>
            <a:r>
              <a:rPr lang="en-US" sz="1500" dirty="0">
                <a:solidFill>
                  <a:srgbClr val="24313F"/>
                </a:solidFill>
                <a:latin typeface="Georgia" pitchFamily="34" charset="0"/>
                <a:ea typeface="Georgia" pitchFamily="34" charset="-122"/>
                <a:cs typeface="Georgia" pitchFamily="34" charset="-120"/>
              </a:rPr>
              <a:t>Cameras A and B keep each face on its own side of the screen. Camera C crosses the line, and the faces swap sides mid-conversation.</a:t>
            </a:r>
            <a:endParaRPr lang="en-US" sz="1300" dirty="0"/>
          </a:p>
          <a:p>
            <a:pPr indent="0" marL="0">
              <a:lnSpc>
                <a:spcPts val="2200"/>
              </a:lnSpc>
              <a:buNone/>
            </a:pPr>
            <a:r>
              <a:rPr lang="en-US" sz="1300" b="1" spc="100" kern="0" dirty="0">
                <a:solidFill>
                  <a:srgbClr val="4A6B5D"/>
                </a:solidFill>
                <a:latin typeface="Arial" pitchFamily="34" charset="0"/>
                <a:ea typeface="Arial" pitchFamily="34" charset="-122"/>
                <a:cs typeface="Arial" pitchFamily="34" charset="-120"/>
              </a:rPr>
              <a:t>MONDAY   </a:t>
            </a:r>
            <a:pPr indent="0" marL="0">
              <a:lnSpc>
                <a:spcPts val="2200"/>
              </a:lnSpc>
              <a:buNone/>
            </a:pPr>
            <a:r>
              <a:rPr lang="en-US" sz="1500" dirty="0">
                <a:solidFill>
                  <a:srgbClr val="24313F"/>
                </a:solidFill>
                <a:latin typeface="Georgia" pitchFamily="34" charset="0"/>
                <a:ea typeface="Georgia" pitchFamily="34" charset="-122"/>
                <a:cs typeface="Georgia" pitchFamily="34" charset="-120"/>
              </a:rPr>
              <a:t>Every pair will make this error on purpose: it is version two of CS6.</a:t>
            </a:r>
            <a:endParaRPr lang="en-US" sz="1300" dirty="0"/>
          </a:p>
        </p:txBody>
      </p:sp>
      <p:sp>
        <p:nvSpPr>
          <p:cNvPr id="8" name="Shape 6"/>
          <p:cNvSpPr/>
          <p:nvPr/>
        </p:nvSpPr>
        <p:spPr>
          <a:xfrm>
            <a:off x="6675120" y="1280160"/>
            <a:ext cx="4663440" cy="4480560"/>
          </a:xfrm>
          <a:prstGeom prst="rect">
            <a:avLst/>
          </a:prstGeom>
          <a:solidFill>
            <a:srgbClr val="FAF8F1"/>
          </a:solidFill>
          <a:ln w="9525">
            <a:solidFill>
              <a:srgbClr val="D9D4C4"/>
            </a:solidFill>
            <a:prstDash val="solid"/>
          </a:ln>
        </p:spPr>
      </p:sp>
      <p:sp>
        <p:nvSpPr>
          <p:cNvPr id="9" name="Shape 7"/>
          <p:cNvSpPr/>
          <p:nvPr/>
        </p:nvSpPr>
        <p:spPr>
          <a:xfrm>
            <a:off x="7589520" y="2834640"/>
            <a:ext cx="685800" cy="685800"/>
          </a:xfrm>
          <a:prstGeom prst="ellipse">
            <a:avLst/>
          </a:prstGeom>
          <a:solidFill>
            <a:srgbClr val="4A6B5D"/>
          </a:solidFill>
          <a:ln/>
        </p:spPr>
      </p:sp>
      <p:sp>
        <p:nvSpPr>
          <p:cNvPr id="10" name="Text 8"/>
          <p:cNvSpPr/>
          <p:nvPr/>
        </p:nvSpPr>
        <p:spPr>
          <a:xfrm>
            <a:off x="7589520" y="2834640"/>
            <a:ext cx="685800" cy="685800"/>
          </a:xfrm>
          <a:prstGeom prst="rect">
            <a:avLst/>
          </a:prstGeom>
          <a:noFill/>
          <a:ln/>
        </p:spPr>
        <p:txBody>
          <a:bodyPr wrap="square" lIns="0" tIns="0" rIns="0" bIns="0" rtlCol="0" anchor="ctr"/>
          <a:lstStyle/>
          <a:p>
            <a:pPr algn="ctr" indent="0" marL="0">
              <a:buNone/>
            </a:pPr>
            <a:r>
              <a:rPr lang="en-US" sz="1300" b="1" dirty="0">
                <a:solidFill>
                  <a:srgbClr val="FAF8F1"/>
                </a:solidFill>
                <a:latin typeface="Arial" pitchFamily="34" charset="0"/>
                <a:ea typeface="Arial" pitchFamily="34" charset="-122"/>
                <a:cs typeface="Arial" pitchFamily="34" charset="-120"/>
              </a:rPr>
              <a:t>F1</a:t>
            </a:r>
            <a:endParaRPr lang="en-US" sz="1300" dirty="0"/>
          </a:p>
        </p:txBody>
      </p:sp>
      <p:sp>
        <p:nvSpPr>
          <p:cNvPr id="11" name="Shape 9"/>
          <p:cNvSpPr/>
          <p:nvPr/>
        </p:nvSpPr>
        <p:spPr>
          <a:xfrm>
            <a:off x="9738360" y="2834640"/>
            <a:ext cx="685800" cy="685800"/>
          </a:xfrm>
          <a:prstGeom prst="ellipse">
            <a:avLst/>
          </a:prstGeom>
          <a:solidFill>
            <a:srgbClr val="5C7A6B"/>
          </a:solidFill>
          <a:ln/>
        </p:spPr>
      </p:sp>
      <p:sp>
        <p:nvSpPr>
          <p:cNvPr id="12" name="Text 10"/>
          <p:cNvSpPr/>
          <p:nvPr/>
        </p:nvSpPr>
        <p:spPr>
          <a:xfrm>
            <a:off x="9738360" y="2834640"/>
            <a:ext cx="685800" cy="685800"/>
          </a:xfrm>
          <a:prstGeom prst="rect">
            <a:avLst/>
          </a:prstGeom>
          <a:noFill/>
          <a:ln/>
        </p:spPr>
        <p:txBody>
          <a:bodyPr wrap="square" lIns="0" tIns="0" rIns="0" bIns="0" rtlCol="0" anchor="ctr"/>
          <a:lstStyle/>
          <a:p>
            <a:pPr algn="ctr" indent="0" marL="0">
              <a:buNone/>
            </a:pPr>
            <a:r>
              <a:rPr lang="en-US" sz="1300" b="1" dirty="0">
                <a:solidFill>
                  <a:srgbClr val="FAF8F1"/>
                </a:solidFill>
                <a:latin typeface="Arial" pitchFamily="34" charset="0"/>
                <a:ea typeface="Arial" pitchFamily="34" charset="-122"/>
                <a:cs typeface="Arial" pitchFamily="34" charset="-120"/>
              </a:rPr>
              <a:t>F2</a:t>
            </a:r>
            <a:endParaRPr lang="en-US" sz="1300" dirty="0"/>
          </a:p>
        </p:txBody>
      </p:sp>
      <p:sp>
        <p:nvSpPr>
          <p:cNvPr id="13" name="Shape 11"/>
          <p:cNvSpPr/>
          <p:nvPr/>
        </p:nvSpPr>
        <p:spPr>
          <a:xfrm>
            <a:off x="6949440" y="3172968"/>
            <a:ext cx="4114800" cy="0"/>
          </a:xfrm>
          <a:prstGeom prst="line">
            <a:avLst/>
          </a:prstGeom>
          <a:noFill/>
          <a:ln w="25400">
            <a:solidFill>
              <a:srgbClr val="8C3A38"/>
            </a:solidFill>
            <a:prstDash val="dash"/>
          </a:ln>
        </p:spPr>
      </p:sp>
      <p:sp>
        <p:nvSpPr>
          <p:cNvPr id="14" name="Text 12"/>
          <p:cNvSpPr/>
          <p:nvPr/>
        </p:nvSpPr>
        <p:spPr>
          <a:xfrm>
            <a:off x="8366760" y="3218688"/>
            <a:ext cx="1280160" cy="274320"/>
          </a:xfrm>
          <a:prstGeom prst="rect">
            <a:avLst/>
          </a:prstGeom>
          <a:noFill/>
          <a:ln/>
        </p:spPr>
        <p:txBody>
          <a:bodyPr wrap="square" lIns="0" tIns="0" rIns="0" bIns="0" rtlCol="0" anchor="ctr"/>
          <a:lstStyle/>
          <a:p>
            <a:pPr algn="ctr" indent="0" marL="0">
              <a:buNone/>
            </a:pPr>
            <a:r>
              <a:rPr lang="en-US" sz="950" i="1" dirty="0">
                <a:solidFill>
                  <a:srgbClr val="8C3A38"/>
                </a:solidFill>
                <a:latin typeface="Arial" pitchFamily="34" charset="0"/>
                <a:ea typeface="Arial" pitchFamily="34" charset="-122"/>
                <a:cs typeface="Arial" pitchFamily="34" charset="-120"/>
              </a:rPr>
              <a:t>the line</a:t>
            </a:r>
            <a:endParaRPr lang="en-US" sz="950" dirty="0"/>
          </a:p>
        </p:txBody>
      </p:sp>
      <p:sp>
        <p:nvSpPr>
          <p:cNvPr id="15" name="Shape 13"/>
          <p:cNvSpPr/>
          <p:nvPr/>
        </p:nvSpPr>
        <p:spPr>
          <a:xfrm>
            <a:off x="7452360" y="4663440"/>
            <a:ext cx="777240" cy="457200"/>
          </a:xfrm>
          <a:prstGeom prst="rect">
            <a:avLst/>
          </a:prstGeom>
          <a:solidFill>
            <a:srgbClr val="24313F"/>
          </a:solidFill>
          <a:ln/>
        </p:spPr>
      </p:sp>
      <p:sp>
        <p:nvSpPr>
          <p:cNvPr id="16" name="Text 14"/>
          <p:cNvSpPr/>
          <p:nvPr/>
        </p:nvSpPr>
        <p:spPr>
          <a:xfrm>
            <a:off x="7452360" y="4663440"/>
            <a:ext cx="777240" cy="457200"/>
          </a:xfrm>
          <a:prstGeom prst="rect">
            <a:avLst/>
          </a:prstGeom>
          <a:noFill/>
          <a:ln/>
        </p:spPr>
        <p:txBody>
          <a:bodyPr wrap="square" lIns="0" tIns="0" rIns="0" bIns="0" rtlCol="0" anchor="ctr"/>
          <a:lstStyle/>
          <a:p>
            <a:pPr algn="ctr" indent="0" marL="0">
              <a:buNone/>
            </a:pPr>
            <a:r>
              <a:rPr lang="en-US" sz="1300" b="1" dirty="0">
                <a:solidFill>
                  <a:srgbClr val="FAF8F1"/>
                </a:solidFill>
                <a:latin typeface="Arial" pitchFamily="34" charset="0"/>
                <a:ea typeface="Arial" pitchFamily="34" charset="-122"/>
                <a:cs typeface="Arial" pitchFamily="34" charset="-120"/>
              </a:rPr>
              <a:t>A</a:t>
            </a:r>
            <a:endParaRPr lang="en-US" sz="1300" dirty="0"/>
          </a:p>
        </p:txBody>
      </p:sp>
      <p:sp>
        <p:nvSpPr>
          <p:cNvPr id="17" name="Shape 15"/>
          <p:cNvSpPr/>
          <p:nvPr/>
        </p:nvSpPr>
        <p:spPr>
          <a:xfrm>
            <a:off x="9784080" y="4663440"/>
            <a:ext cx="777240" cy="457200"/>
          </a:xfrm>
          <a:prstGeom prst="rect">
            <a:avLst/>
          </a:prstGeom>
          <a:solidFill>
            <a:srgbClr val="24313F"/>
          </a:solidFill>
          <a:ln/>
        </p:spPr>
      </p:sp>
      <p:sp>
        <p:nvSpPr>
          <p:cNvPr id="18" name="Text 16"/>
          <p:cNvSpPr/>
          <p:nvPr/>
        </p:nvSpPr>
        <p:spPr>
          <a:xfrm>
            <a:off x="9784080" y="4663440"/>
            <a:ext cx="777240" cy="457200"/>
          </a:xfrm>
          <a:prstGeom prst="rect">
            <a:avLst/>
          </a:prstGeom>
          <a:noFill/>
          <a:ln/>
        </p:spPr>
        <p:txBody>
          <a:bodyPr wrap="square" lIns="0" tIns="0" rIns="0" bIns="0" rtlCol="0" anchor="ctr"/>
          <a:lstStyle/>
          <a:p>
            <a:pPr algn="ctr" indent="0" marL="0">
              <a:buNone/>
            </a:pPr>
            <a:r>
              <a:rPr lang="en-US" sz="1300" b="1" dirty="0">
                <a:solidFill>
                  <a:srgbClr val="FAF8F1"/>
                </a:solidFill>
                <a:latin typeface="Arial" pitchFamily="34" charset="0"/>
                <a:ea typeface="Arial" pitchFamily="34" charset="-122"/>
                <a:cs typeface="Arial" pitchFamily="34" charset="-120"/>
              </a:rPr>
              <a:t>B</a:t>
            </a:r>
            <a:endParaRPr lang="en-US" sz="1300" dirty="0"/>
          </a:p>
        </p:txBody>
      </p:sp>
      <p:sp>
        <p:nvSpPr>
          <p:cNvPr id="19" name="Shape 17"/>
          <p:cNvSpPr/>
          <p:nvPr/>
        </p:nvSpPr>
        <p:spPr>
          <a:xfrm>
            <a:off x="7836408" y="3520440"/>
            <a:ext cx="320040" cy="1143000"/>
          </a:xfrm>
          <a:prstGeom prst="line">
            <a:avLst/>
          </a:prstGeom>
          <a:noFill/>
          <a:ln w="12700">
            <a:solidFill>
              <a:srgbClr val="7A7F72"/>
            </a:solidFill>
            <a:prstDash val="solid"/>
          </a:ln>
        </p:spPr>
      </p:sp>
      <p:sp>
        <p:nvSpPr>
          <p:cNvPr id="20" name="Shape 18"/>
          <p:cNvSpPr/>
          <p:nvPr/>
        </p:nvSpPr>
        <p:spPr>
          <a:xfrm>
            <a:off x="9857232" y="3520440"/>
            <a:ext cx="320040" cy="1143000"/>
          </a:xfrm>
          <a:prstGeom prst="line">
            <a:avLst/>
          </a:prstGeom>
          <a:noFill/>
          <a:ln w="12700">
            <a:solidFill>
              <a:srgbClr val="7A7F72"/>
            </a:solidFill>
            <a:prstDash val="solid"/>
          </a:ln>
        </p:spPr>
      </p:sp>
      <p:sp>
        <p:nvSpPr>
          <p:cNvPr id="21" name="Shape 19"/>
          <p:cNvSpPr/>
          <p:nvPr/>
        </p:nvSpPr>
        <p:spPr>
          <a:xfrm>
            <a:off x="8622792" y="1600200"/>
            <a:ext cx="777240" cy="457200"/>
          </a:xfrm>
          <a:prstGeom prst="rect">
            <a:avLst/>
          </a:prstGeom>
          <a:solidFill>
            <a:srgbClr val="FAF8F1"/>
          </a:solidFill>
          <a:ln w="19050">
            <a:solidFill>
              <a:srgbClr val="8C3A38"/>
            </a:solidFill>
            <a:prstDash val="solid"/>
          </a:ln>
        </p:spPr>
      </p:sp>
      <p:sp>
        <p:nvSpPr>
          <p:cNvPr id="22" name="Text 20"/>
          <p:cNvSpPr/>
          <p:nvPr/>
        </p:nvSpPr>
        <p:spPr>
          <a:xfrm>
            <a:off x="8622792" y="1600200"/>
            <a:ext cx="777240" cy="457200"/>
          </a:xfrm>
          <a:prstGeom prst="rect">
            <a:avLst/>
          </a:prstGeom>
          <a:noFill/>
          <a:ln/>
        </p:spPr>
        <p:txBody>
          <a:bodyPr wrap="square" lIns="0" tIns="0" rIns="0" bIns="0" rtlCol="0" anchor="ctr"/>
          <a:lstStyle/>
          <a:p>
            <a:pPr algn="ctr" indent="0" marL="0">
              <a:buNone/>
            </a:pPr>
            <a:r>
              <a:rPr lang="en-US" sz="1300" b="1" dirty="0">
                <a:solidFill>
                  <a:srgbClr val="8C3A38"/>
                </a:solidFill>
                <a:latin typeface="Arial" pitchFamily="34" charset="0"/>
                <a:ea typeface="Arial" pitchFamily="34" charset="-122"/>
                <a:cs typeface="Arial" pitchFamily="34" charset="-120"/>
              </a:rPr>
              <a:t>C</a:t>
            </a:r>
            <a:endParaRPr lang="en-US" sz="1300" dirty="0"/>
          </a:p>
        </p:txBody>
      </p:sp>
      <p:sp>
        <p:nvSpPr>
          <p:cNvPr id="23" name="Shape 21"/>
          <p:cNvSpPr/>
          <p:nvPr/>
        </p:nvSpPr>
        <p:spPr>
          <a:xfrm>
            <a:off x="8503920" y="1536192"/>
            <a:ext cx="1005840" cy="594360"/>
          </a:xfrm>
          <a:prstGeom prst="line">
            <a:avLst/>
          </a:prstGeom>
          <a:noFill/>
          <a:ln w="25400">
            <a:solidFill>
              <a:srgbClr val="8C3A38"/>
            </a:solidFill>
            <a:prstDash val="solid"/>
          </a:ln>
        </p:spPr>
      </p:sp>
      <p:sp>
        <p:nvSpPr>
          <p:cNvPr id="24" name="Shape 22"/>
          <p:cNvSpPr/>
          <p:nvPr/>
        </p:nvSpPr>
        <p:spPr>
          <a:xfrm flipV="1">
            <a:off x="8503920" y="1536192"/>
            <a:ext cx="1005840" cy="594360"/>
          </a:xfrm>
          <a:prstGeom prst="line">
            <a:avLst/>
          </a:prstGeom>
          <a:noFill/>
          <a:ln w="25400">
            <a:solidFill>
              <a:srgbClr val="8C3A38"/>
            </a:solidFill>
            <a:prstDash val="solid"/>
          </a:ln>
        </p:spPr>
      </p:sp>
      <p:sp>
        <p:nvSpPr>
          <p:cNvPr id="25" name="Text 23"/>
          <p:cNvSpPr/>
          <p:nvPr/>
        </p:nvSpPr>
        <p:spPr>
          <a:xfrm>
            <a:off x="6675120" y="5833872"/>
            <a:ext cx="4663440" cy="320040"/>
          </a:xfrm>
          <a:prstGeom prst="rect">
            <a:avLst/>
          </a:prstGeom>
          <a:noFill/>
          <a:ln/>
        </p:spPr>
        <p:txBody>
          <a:bodyPr wrap="square" lIns="0" tIns="0" rIns="0" bIns="0" rtlCol="0" anchor="ctr"/>
          <a:lstStyle/>
          <a:p>
            <a:pPr algn="ctr" indent="0" marL="0">
              <a:buNone/>
            </a:pPr>
            <a:r>
              <a:rPr lang="en-US" sz="1050" dirty="0">
                <a:solidFill>
                  <a:srgbClr val="7A7F72"/>
                </a:solidFill>
                <a:latin typeface="Arial" pitchFamily="34" charset="0"/>
                <a:ea typeface="Arial" pitchFamily="34" charset="-122"/>
                <a:cs typeface="Arial" pitchFamily="34" charset="-120"/>
              </a:rPr>
              <a:t>Keep A and B on one side; C flips the geography.</a:t>
            </a:r>
            <a:endParaRPr lang="en-US" sz="1050" dirty="0"/>
          </a:p>
        </p:txBody>
      </p:sp>
      <p:sp>
        <p:nvSpPr>
          <p:cNvPr id="26" name="Shape 24"/>
          <p:cNvSpPr/>
          <p:nvPr/>
        </p:nvSpPr>
        <p:spPr>
          <a:xfrm>
            <a:off x="822960" y="6382512"/>
            <a:ext cx="10543032" cy="0"/>
          </a:xfrm>
          <a:prstGeom prst="line">
            <a:avLst/>
          </a:prstGeom>
          <a:noFill/>
          <a:ln w="9525">
            <a:solidFill>
              <a:srgbClr val="D9D4C4"/>
            </a:solidFill>
            <a:prstDash val="solid"/>
          </a:ln>
        </p:spPr>
      </p:sp>
      <p:sp>
        <p:nvSpPr>
          <p:cNvPr id="27" name="Text 2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8" name="Text 2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Users/dogan/Documents/Vaults/Courses/wiki/classes/media-studies/decks/_build/img/crops/adolescence-bts_a1777.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502920" y="502920"/>
            <a:ext cx="5120640" cy="502920"/>
          </a:xfrm>
          <a:prstGeom prst="rect">
            <a:avLst/>
          </a:prstGeom>
          <a:solidFill>
            <a:srgbClr val="FAF8F1"/>
          </a:solidFill>
          <a:ln/>
        </p:spPr>
      </p:sp>
      <p:sp>
        <p:nvSpPr>
          <p:cNvPr id="4" name="Text 1"/>
          <p:cNvSpPr/>
          <p:nvPr/>
        </p:nvSpPr>
        <p:spPr>
          <a:xfrm>
            <a:off x="704088" y="521208"/>
            <a:ext cx="484632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DURATION · THE CUT YOU NEVER GOT</a:t>
            </a:r>
            <a:endParaRPr lang="en-US" sz="1100" dirty="0"/>
          </a:p>
        </p:txBody>
      </p:sp>
      <p:sp>
        <p:nvSpPr>
          <p:cNvPr id="5" name="Shape 2"/>
          <p:cNvSpPr/>
          <p:nvPr/>
        </p:nvSpPr>
        <p:spPr>
          <a:xfrm>
            <a:off x="457200" y="5230368"/>
            <a:ext cx="8778240" cy="1243584"/>
          </a:xfrm>
          <a:prstGeom prst="rect">
            <a:avLst/>
          </a:prstGeom>
          <a:solidFill>
            <a:srgbClr val="FAF8F1"/>
          </a:solidFill>
          <a:ln/>
        </p:spPr>
      </p:sp>
      <p:sp>
        <p:nvSpPr>
          <p:cNvPr id="6" name="Shape 3"/>
          <p:cNvSpPr/>
          <p:nvPr/>
        </p:nvSpPr>
        <p:spPr>
          <a:xfrm>
            <a:off x="676656" y="5468112"/>
            <a:ext cx="731520" cy="0"/>
          </a:xfrm>
          <a:prstGeom prst="line">
            <a:avLst/>
          </a:prstGeom>
          <a:noFill/>
          <a:ln w="28575">
            <a:solidFill>
              <a:srgbClr val="8C3A38"/>
            </a:solidFill>
            <a:prstDash val="solid"/>
          </a:ln>
        </p:spPr>
      </p:sp>
      <p:sp>
        <p:nvSpPr>
          <p:cNvPr id="7" name="Text 4"/>
          <p:cNvSpPr/>
          <p:nvPr/>
        </p:nvSpPr>
        <p:spPr>
          <a:xfrm>
            <a:off x="676656" y="5541264"/>
            <a:ext cx="8339328" cy="585216"/>
          </a:xfrm>
          <a:prstGeom prst="rect">
            <a:avLst/>
          </a:prstGeom>
          <a:noFill/>
          <a:ln/>
        </p:spPr>
        <p:txBody>
          <a:bodyPr wrap="square" lIns="0" tIns="0" rIns="0" bIns="0" rtlCol="0" anchor="t"/>
          <a:lstStyle/>
          <a:p>
            <a:pPr indent="0" marL="0">
              <a:lnSpc>
                <a:spcPts val="2200"/>
              </a:lnSpc>
              <a:buNone/>
            </a:pPr>
            <a:r>
              <a:rPr lang="en-US" sz="1800" dirty="0">
                <a:solidFill>
                  <a:srgbClr val="24313F"/>
                </a:solidFill>
                <a:latin typeface="Georgia" pitchFamily="34" charset="0"/>
                <a:ea typeface="Georgia" pitchFamily="34" charset="-122"/>
                <a:cs typeface="Georgia" pitchFamily="34" charset="-120"/>
              </a:rPr>
              <a:t>Two crew members carry the camera mid-take. One episode, one shot: every minute without a cut was rehearsed and carried by hand.</a:t>
            </a:r>
            <a:endParaRPr lang="en-US" sz="1800" dirty="0"/>
          </a:p>
        </p:txBody>
      </p:sp>
      <p:sp>
        <p:nvSpPr>
          <p:cNvPr id="8" name="Text 5"/>
          <p:cNvSpPr/>
          <p:nvPr/>
        </p:nvSpPr>
        <p:spPr>
          <a:xfrm>
            <a:off x="676656" y="6181344"/>
            <a:ext cx="8339328" cy="256032"/>
          </a:xfrm>
          <a:prstGeom prst="rect">
            <a:avLst/>
          </a:prstGeom>
          <a:no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Adolescence (Netflix, 2025), production photograph</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DAY TWO · JIGSAW</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WHEN THE SYSTEM IS REFUSED</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051560"/>
            <a:ext cx="5042916" cy="164592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breathless-jump-1.jpg">    </p:cNvPr>
          <p:cNvPicPr>
            <a:picLocks noChangeAspect="1"/>
          </p:cNvPicPr>
          <p:nvPr/>
        </p:nvPicPr>
        <p:blipFill>
          <a:blip r:embed="rId1"/>
          <a:stretch>
            <a:fillRect/>
          </a:stretch>
        </p:blipFill>
        <p:spPr>
          <a:xfrm>
            <a:off x="2351904" y="1106424"/>
            <a:ext cx="1985027" cy="1536192"/>
          </a:xfrm>
          <a:prstGeom prst="rect">
            <a:avLst/>
          </a:prstGeom>
        </p:spPr>
      </p:pic>
      <p:sp>
        <p:nvSpPr>
          <p:cNvPr id="7" name="Text 4"/>
          <p:cNvSpPr/>
          <p:nvPr/>
        </p:nvSpPr>
        <p:spPr>
          <a:xfrm>
            <a:off x="822960" y="2734056"/>
            <a:ext cx="2651760" cy="310896"/>
          </a:xfrm>
          <a:prstGeom prst="rect">
            <a:avLst/>
          </a:prstGeom>
          <a:noFill/>
          <a:ln/>
        </p:spPr>
        <p:txBody>
          <a:bodyPr wrap="square" lIns="0" tIns="0" rIns="0" bIns="0" rtlCol="0" anchor="ctr"/>
          <a:lstStyle/>
          <a:p>
            <a:pPr indent="0" marL="0">
              <a:buNone/>
            </a:pPr>
            <a:r>
              <a:rPr lang="en-US" sz="1600" dirty="0">
                <a:solidFill>
                  <a:srgbClr val="4A6B5D"/>
                </a:solidFill>
                <a:latin typeface="Georgia" pitchFamily="34" charset="0"/>
                <a:ea typeface="Georgia" pitchFamily="34" charset="-122"/>
                <a:cs typeface="Georgia" pitchFamily="34" charset="-120"/>
              </a:rPr>
              <a:t>Jump cut</a:t>
            </a:r>
            <a:endParaRPr lang="en-US" sz="1600" dirty="0"/>
          </a:p>
        </p:txBody>
      </p:sp>
      <p:sp>
        <p:nvSpPr>
          <p:cNvPr id="8" name="Text 5"/>
          <p:cNvSpPr/>
          <p:nvPr/>
        </p:nvSpPr>
        <p:spPr>
          <a:xfrm>
            <a:off x="3474720" y="2734056"/>
            <a:ext cx="2391156" cy="566928"/>
          </a:xfrm>
          <a:prstGeom prst="rect">
            <a:avLst/>
          </a:prstGeom>
          <a:noFill/>
          <a:ln/>
        </p:spPr>
        <p:txBody>
          <a:bodyPr wrap="square" lIns="0" tIns="0" rIns="0" bIns="0" rtlCol="0" anchor="t"/>
          <a:lstStyle/>
          <a:p>
            <a:pPr indent="0" marL="0">
              <a:lnSpc>
                <a:spcPts val="1200"/>
              </a:lnSpc>
              <a:buNone/>
            </a:pPr>
            <a:r>
              <a:rPr lang="en-US" sz="950" i="1" dirty="0">
                <a:solidFill>
                  <a:srgbClr val="7A7F72"/>
                </a:solidFill>
                <a:latin typeface="Arial" pitchFamily="34" charset="0"/>
                <a:ea typeface="Arial" pitchFamily="34" charset="-122"/>
                <a:cs typeface="Arial" pitchFamily="34" charset="-120"/>
              </a:rPr>
              <a:t>Breathless (1960): time jumps forward inside one shot. The jump cut breaks continuity on purpose.</a:t>
            </a:r>
            <a:endParaRPr lang="en-US" sz="950" dirty="0"/>
          </a:p>
        </p:txBody>
      </p:sp>
      <p:sp>
        <p:nvSpPr>
          <p:cNvPr id="9" name="Shape 6"/>
          <p:cNvSpPr/>
          <p:nvPr/>
        </p:nvSpPr>
        <p:spPr>
          <a:xfrm>
            <a:off x="6323076" y="1051560"/>
            <a:ext cx="2430018" cy="1645920"/>
          </a:xfrm>
          <a:prstGeom prst="rect">
            <a:avLst/>
          </a:prstGeom>
          <a:solidFill>
            <a:srgbClr val="FAF8F1"/>
          </a:solidFill>
          <a:ln w="9525">
            <a:solidFill>
              <a:srgbClr val="D9D4C4"/>
            </a:solidFill>
            <a:prstDash val="solid"/>
          </a:ln>
        </p:spPr>
      </p:sp>
      <p:pic>
        <p:nvPicPr>
          <p:cNvPr id="10" name="Image 1" descr="/Users/dogan/Documents/Vaults/Courses/wiki/classes/media-studies/decks/_build/img/dunkirk-beach.jpg">    </p:cNvPr>
          <p:cNvPicPr>
            <a:picLocks noChangeAspect="1"/>
          </p:cNvPicPr>
          <p:nvPr/>
        </p:nvPicPr>
        <p:blipFill>
          <a:blip r:embed="rId2"/>
          <a:stretch>
            <a:fillRect/>
          </a:stretch>
        </p:blipFill>
        <p:spPr>
          <a:xfrm>
            <a:off x="6377940" y="1221938"/>
            <a:ext cx="2320290" cy="1305163"/>
          </a:xfrm>
          <a:prstGeom prst="rect">
            <a:avLst/>
          </a:prstGeom>
        </p:spPr>
      </p:pic>
      <p:sp>
        <p:nvSpPr>
          <p:cNvPr id="11" name="Shape 7"/>
          <p:cNvSpPr/>
          <p:nvPr/>
        </p:nvSpPr>
        <p:spPr>
          <a:xfrm>
            <a:off x="8935974" y="1051560"/>
            <a:ext cx="2430018" cy="1645920"/>
          </a:xfrm>
          <a:prstGeom prst="rect">
            <a:avLst/>
          </a:prstGeom>
          <a:solidFill>
            <a:srgbClr val="FAF8F1"/>
          </a:solidFill>
          <a:ln w="9525">
            <a:solidFill>
              <a:srgbClr val="D9D4C4"/>
            </a:solidFill>
            <a:prstDash val="solid"/>
          </a:ln>
        </p:spPr>
      </p:sp>
      <p:pic>
        <p:nvPicPr>
          <p:cNvPr id="12" name="Image 2" descr="/Users/dogan/Documents/Vaults/Courses/wiki/classes/media-studies/decks/_build/img/dunkirk-air.jpg">    </p:cNvPr>
          <p:cNvPicPr>
            <a:picLocks noChangeAspect="1"/>
          </p:cNvPicPr>
          <p:nvPr/>
        </p:nvPicPr>
        <p:blipFill>
          <a:blip r:embed="rId3"/>
          <a:stretch>
            <a:fillRect/>
          </a:stretch>
        </p:blipFill>
        <p:spPr>
          <a:xfrm>
            <a:off x="8990838" y="1221938"/>
            <a:ext cx="2320290" cy="1305163"/>
          </a:xfrm>
          <a:prstGeom prst="rect">
            <a:avLst/>
          </a:prstGeom>
        </p:spPr>
      </p:pic>
      <p:sp>
        <p:nvSpPr>
          <p:cNvPr id="13" name="Text 8"/>
          <p:cNvSpPr/>
          <p:nvPr/>
        </p:nvSpPr>
        <p:spPr>
          <a:xfrm>
            <a:off x="6323076" y="2734056"/>
            <a:ext cx="2651760" cy="310896"/>
          </a:xfrm>
          <a:prstGeom prst="rect">
            <a:avLst/>
          </a:prstGeom>
          <a:noFill/>
          <a:ln/>
        </p:spPr>
        <p:txBody>
          <a:bodyPr wrap="square" lIns="0" tIns="0" rIns="0" bIns="0" rtlCol="0" anchor="ctr"/>
          <a:lstStyle/>
          <a:p>
            <a:pPr indent="0" marL="0">
              <a:buNone/>
            </a:pPr>
            <a:r>
              <a:rPr lang="en-US" sz="1600" dirty="0">
                <a:solidFill>
                  <a:srgbClr val="4A6B5D"/>
                </a:solidFill>
                <a:latin typeface="Georgia" pitchFamily="34" charset="0"/>
                <a:ea typeface="Georgia" pitchFamily="34" charset="-122"/>
                <a:cs typeface="Georgia" pitchFamily="34" charset="-120"/>
              </a:rPr>
              <a:t>Crosscutting</a:t>
            </a:r>
            <a:endParaRPr lang="en-US" sz="1600" dirty="0"/>
          </a:p>
        </p:txBody>
      </p:sp>
      <p:sp>
        <p:nvSpPr>
          <p:cNvPr id="14" name="Text 9"/>
          <p:cNvSpPr/>
          <p:nvPr/>
        </p:nvSpPr>
        <p:spPr>
          <a:xfrm>
            <a:off x="8974836" y="2734056"/>
            <a:ext cx="2391156" cy="566928"/>
          </a:xfrm>
          <a:prstGeom prst="rect">
            <a:avLst/>
          </a:prstGeom>
          <a:noFill/>
          <a:ln/>
        </p:spPr>
        <p:txBody>
          <a:bodyPr wrap="square" lIns="0" tIns="0" rIns="0" bIns="0" rtlCol="0" anchor="t"/>
          <a:lstStyle/>
          <a:p>
            <a:pPr indent="0" marL="0">
              <a:lnSpc>
                <a:spcPts val="1200"/>
              </a:lnSpc>
              <a:buNone/>
            </a:pPr>
            <a:r>
              <a:rPr lang="en-US" sz="950" i="1" dirty="0">
                <a:solidFill>
                  <a:srgbClr val="7A7F72"/>
                </a:solidFill>
                <a:latin typeface="Arial" pitchFamily="34" charset="0"/>
                <a:ea typeface="Arial" pitchFamily="34" charset="-122"/>
                <a:cs typeface="Arial" pitchFamily="34" charset="-120"/>
              </a:rPr>
              <a:t>Dunkirk (2017): two places, cut against each other. Crosscutting builds one shared tension.</a:t>
            </a:r>
            <a:endParaRPr lang="en-US" sz="950" dirty="0"/>
          </a:p>
        </p:txBody>
      </p:sp>
      <p:sp>
        <p:nvSpPr>
          <p:cNvPr id="15" name="Shape 10"/>
          <p:cNvSpPr/>
          <p:nvPr/>
        </p:nvSpPr>
        <p:spPr>
          <a:xfrm>
            <a:off x="822960" y="3566160"/>
            <a:ext cx="2430018" cy="1645920"/>
          </a:xfrm>
          <a:prstGeom prst="rect">
            <a:avLst/>
          </a:prstGeom>
          <a:solidFill>
            <a:srgbClr val="FAF8F1"/>
          </a:solidFill>
          <a:ln w="9525">
            <a:solidFill>
              <a:srgbClr val="D9D4C4"/>
            </a:solidFill>
            <a:prstDash val="solid"/>
          </a:ln>
        </p:spPr>
      </p:sp>
      <p:pic>
        <p:nvPicPr>
          <p:cNvPr id="16" name="Image 3" descr="/Users/dogan/Documents/Vaults/Courses/wiki/classes/media-studies/decks/_build/img/2001-bone.jpg">    </p:cNvPr>
          <p:cNvPicPr>
            <a:picLocks noChangeAspect="1"/>
          </p:cNvPicPr>
          <p:nvPr/>
        </p:nvPicPr>
        <p:blipFill>
          <a:blip r:embed="rId4"/>
          <a:stretch>
            <a:fillRect/>
          </a:stretch>
        </p:blipFill>
        <p:spPr>
          <a:xfrm>
            <a:off x="877824" y="3852100"/>
            <a:ext cx="2320290" cy="1074040"/>
          </a:xfrm>
          <a:prstGeom prst="rect">
            <a:avLst/>
          </a:prstGeom>
        </p:spPr>
      </p:pic>
      <p:sp>
        <p:nvSpPr>
          <p:cNvPr id="17" name="Shape 11"/>
          <p:cNvSpPr/>
          <p:nvPr/>
        </p:nvSpPr>
        <p:spPr>
          <a:xfrm>
            <a:off x="3435858" y="3566160"/>
            <a:ext cx="2430018" cy="1645920"/>
          </a:xfrm>
          <a:prstGeom prst="rect">
            <a:avLst/>
          </a:prstGeom>
          <a:solidFill>
            <a:srgbClr val="FAF8F1"/>
          </a:solidFill>
          <a:ln w="9525">
            <a:solidFill>
              <a:srgbClr val="D9D4C4"/>
            </a:solidFill>
            <a:prstDash val="solid"/>
          </a:ln>
        </p:spPr>
      </p:sp>
      <p:pic>
        <p:nvPicPr>
          <p:cNvPr id="18" name="Image 4" descr="/Users/dogan/Documents/Vaults/Courses/wiki/classes/media-studies/decks/_build/img/2001-satellite.jpg">    </p:cNvPr>
          <p:cNvPicPr>
            <a:picLocks noChangeAspect="1"/>
          </p:cNvPicPr>
          <p:nvPr/>
        </p:nvPicPr>
        <p:blipFill>
          <a:blip r:embed="rId5"/>
          <a:stretch>
            <a:fillRect/>
          </a:stretch>
        </p:blipFill>
        <p:spPr>
          <a:xfrm>
            <a:off x="3490722" y="3848701"/>
            <a:ext cx="2320290" cy="1080838"/>
          </a:xfrm>
          <a:prstGeom prst="rect">
            <a:avLst/>
          </a:prstGeom>
        </p:spPr>
      </p:pic>
      <p:sp>
        <p:nvSpPr>
          <p:cNvPr id="19" name="Text 12"/>
          <p:cNvSpPr/>
          <p:nvPr/>
        </p:nvSpPr>
        <p:spPr>
          <a:xfrm>
            <a:off x="822960" y="5248656"/>
            <a:ext cx="2651760" cy="310896"/>
          </a:xfrm>
          <a:prstGeom prst="rect">
            <a:avLst/>
          </a:prstGeom>
          <a:noFill/>
          <a:ln/>
        </p:spPr>
        <p:txBody>
          <a:bodyPr wrap="square" lIns="0" tIns="0" rIns="0" bIns="0" rtlCol="0" anchor="ctr"/>
          <a:lstStyle/>
          <a:p>
            <a:pPr indent="0" marL="0">
              <a:buNone/>
            </a:pPr>
            <a:r>
              <a:rPr lang="en-US" sz="1600" dirty="0">
                <a:solidFill>
                  <a:srgbClr val="4A6B5D"/>
                </a:solidFill>
                <a:latin typeface="Georgia" pitchFamily="34" charset="0"/>
                <a:ea typeface="Georgia" pitchFamily="34" charset="-122"/>
                <a:cs typeface="Georgia" pitchFamily="34" charset="-120"/>
              </a:rPr>
              <a:t>Graphic match</a:t>
            </a:r>
            <a:endParaRPr lang="en-US" sz="1600" dirty="0"/>
          </a:p>
        </p:txBody>
      </p:sp>
      <p:sp>
        <p:nvSpPr>
          <p:cNvPr id="20" name="Text 13"/>
          <p:cNvSpPr/>
          <p:nvPr/>
        </p:nvSpPr>
        <p:spPr>
          <a:xfrm>
            <a:off x="3474720" y="5248656"/>
            <a:ext cx="2391156" cy="566928"/>
          </a:xfrm>
          <a:prstGeom prst="rect">
            <a:avLst/>
          </a:prstGeom>
          <a:noFill/>
          <a:ln/>
        </p:spPr>
        <p:txBody>
          <a:bodyPr wrap="square" lIns="0" tIns="0" rIns="0" bIns="0" rtlCol="0" anchor="t"/>
          <a:lstStyle/>
          <a:p>
            <a:pPr indent="0" marL="0">
              <a:lnSpc>
                <a:spcPts val="1200"/>
              </a:lnSpc>
              <a:buNone/>
            </a:pPr>
            <a:r>
              <a:rPr lang="en-US" sz="950" i="1" dirty="0">
                <a:solidFill>
                  <a:srgbClr val="7A7F72"/>
                </a:solidFill>
                <a:latin typeface="Arial" pitchFamily="34" charset="0"/>
                <a:ea typeface="Arial" pitchFamily="34" charset="-122"/>
                <a:cs typeface="Arial" pitchFamily="34" charset="-120"/>
              </a:rPr>
              <a:t>2001 (1968): a bone becomes a spaceship. The matching shape carries the cut across millions of years.</a:t>
            </a:r>
            <a:endParaRPr lang="en-US" sz="950" dirty="0"/>
          </a:p>
        </p:txBody>
      </p:sp>
      <p:sp>
        <p:nvSpPr>
          <p:cNvPr id="21" name="Shape 14"/>
          <p:cNvSpPr/>
          <p:nvPr/>
        </p:nvSpPr>
        <p:spPr>
          <a:xfrm>
            <a:off x="6323076" y="3566160"/>
            <a:ext cx="5042916" cy="1645920"/>
          </a:xfrm>
          <a:prstGeom prst="rect">
            <a:avLst/>
          </a:prstGeom>
          <a:solidFill>
            <a:srgbClr val="FAF8F1"/>
          </a:solidFill>
          <a:ln w="9525">
            <a:solidFill>
              <a:srgbClr val="D9D4C4"/>
            </a:solidFill>
            <a:prstDash val="solid"/>
          </a:ln>
        </p:spPr>
      </p:sp>
      <p:pic>
        <p:nvPicPr>
          <p:cNvPr id="22" name="Image 5" descr="/Users/dogan/Documents/Vaults/Courses/wiki/classes/media-studies/decks/_build/img/1917-longtake.jpg">    </p:cNvPr>
          <p:cNvPicPr>
            <a:picLocks noChangeAspect="1"/>
          </p:cNvPicPr>
          <p:nvPr/>
        </p:nvPicPr>
        <p:blipFill>
          <a:blip r:embed="rId6"/>
          <a:stretch>
            <a:fillRect/>
          </a:stretch>
        </p:blipFill>
        <p:spPr>
          <a:xfrm>
            <a:off x="6999951" y="3621024"/>
            <a:ext cx="3689167" cy="1536192"/>
          </a:xfrm>
          <a:prstGeom prst="rect">
            <a:avLst/>
          </a:prstGeom>
        </p:spPr>
      </p:pic>
      <p:sp>
        <p:nvSpPr>
          <p:cNvPr id="23" name="Text 15"/>
          <p:cNvSpPr/>
          <p:nvPr/>
        </p:nvSpPr>
        <p:spPr>
          <a:xfrm>
            <a:off x="6323076" y="5248656"/>
            <a:ext cx="2651760" cy="310896"/>
          </a:xfrm>
          <a:prstGeom prst="rect">
            <a:avLst/>
          </a:prstGeom>
          <a:noFill/>
          <a:ln/>
        </p:spPr>
        <p:txBody>
          <a:bodyPr wrap="square" lIns="0" tIns="0" rIns="0" bIns="0" rtlCol="0" anchor="ctr"/>
          <a:lstStyle/>
          <a:p>
            <a:pPr indent="0" marL="0">
              <a:buNone/>
            </a:pPr>
            <a:r>
              <a:rPr lang="en-US" sz="1600" dirty="0">
                <a:solidFill>
                  <a:srgbClr val="4A6B5D"/>
                </a:solidFill>
                <a:latin typeface="Georgia" pitchFamily="34" charset="0"/>
                <a:ea typeface="Georgia" pitchFamily="34" charset="-122"/>
                <a:cs typeface="Georgia" pitchFamily="34" charset="-120"/>
              </a:rPr>
              <a:t>The long take</a:t>
            </a:r>
            <a:endParaRPr lang="en-US" sz="1600" dirty="0"/>
          </a:p>
        </p:txBody>
      </p:sp>
      <p:sp>
        <p:nvSpPr>
          <p:cNvPr id="24" name="Text 16"/>
          <p:cNvSpPr/>
          <p:nvPr/>
        </p:nvSpPr>
        <p:spPr>
          <a:xfrm>
            <a:off x="8974836" y="5248656"/>
            <a:ext cx="2391156" cy="566928"/>
          </a:xfrm>
          <a:prstGeom prst="rect">
            <a:avLst/>
          </a:prstGeom>
          <a:noFill/>
          <a:ln/>
        </p:spPr>
        <p:txBody>
          <a:bodyPr wrap="square" lIns="0" tIns="0" rIns="0" bIns="0" rtlCol="0" anchor="t"/>
          <a:lstStyle/>
          <a:p>
            <a:pPr indent="0" marL="0">
              <a:lnSpc>
                <a:spcPts val="1200"/>
              </a:lnSpc>
              <a:buNone/>
            </a:pPr>
            <a:r>
              <a:rPr lang="en-US" sz="950" i="1" dirty="0">
                <a:solidFill>
                  <a:srgbClr val="7A7F72"/>
                </a:solidFill>
                <a:latin typeface="Arial" pitchFamily="34" charset="0"/>
                <a:ea typeface="Arial" pitchFamily="34" charset="-122"/>
                <a:cs typeface="Arial" pitchFamily="34" charset="-120"/>
              </a:rPr>
              <a:t>1917 (2019): two hours with no visible cut. The long take builds tension.</a:t>
            </a:r>
            <a:endParaRPr lang="en-US" sz="950" dirty="0"/>
          </a:p>
        </p:txBody>
      </p:sp>
      <p:sp>
        <p:nvSpPr>
          <p:cNvPr id="25" name="Text 17"/>
          <p:cNvSpPr/>
          <p:nvPr/>
        </p:nvSpPr>
        <p:spPr>
          <a:xfrm>
            <a:off x="822960" y="6089904"/>
            <a:ext cx="10543032" cy="384048"/>
          </a:xfrm>
          <a:prstGeom prst="rect">
            <a:avLst/>
          </a:prstGeom>
          <a:noFill/>
          <a:ln/>
        </p:spPr>
        <p:txBody>
          <a:bodyPr wrap="square" lIns="0" tIns="0" rIns="0" bIns="0" rtlCol="0" anchor="t"/>
          <a:lstStyle/>
          <a:p>
            <a:pPr indent="0" marL="0">
              <a:lnSpc>
                <a:spcPts val="1350"/>
              </a:lnSpc>
              <a:buNone/>
            </a:pPr>
            <a:r>
              <a:rPr lang="en-US" sz="900" b="1" spc="100" kern="0" dirty="0">
                <a:solidFill>
                  <a:srgbClr val="4A6B5D"/>
                </a:solidFill>
                <a:latin typeface="Arial" pitchFamily="34" charset="0"/>
                <a:ea typeface="Arial" pitchFamily="34" charset="-122"/>
                <a:cs typeface="Arial" pitchFamily="34" charset="-120"/>
              </a:rPr>
              <a:t>ALSO ON THE LIST   </a:t>
            </a:r>
            <a:pPr indent="0" marL="0">
              <a:lnSpc>
                <a:spcPts val="1350"/>
              </a:lnSpc>
              <a:buNone/>
            </a:pPr>
            <a:r>
              <a:rPr lang="en-US" sz="1050" dirty="0">
                <a:solidFill>
                  <a:srgbClr val="7A7F72"/>
                </a:solidFill>
                <a:latin typeface="Georgia" pitchFamily="34" charset="0"/>
                <a:ea typeface="Georgia" pitchFamily="34" charset="-122"/>
                <a:cs typeface="Georgia" pitchFamily="34" charset="-120"/>
              </a:rPr>
              <a:t>ellipsis, expansion of time, slow motion, dissolves, fades, wipes, superimposition.</a:t>
            </a:r>
            <a:endParaRPr lang="en-US" sz="900" dirty="0"/>
          </a:p>
          <a:p>
            <a:pPr indent="0" marL="0">
              <a:lnSpc>
                <a:spcPts val="1350"/>
              </a:lnSpc>
              <a:buNone/>
            </a:pPr>
            <a:r>
              <a:rPr lang="en-US" sz="900" b="1" spc="100" kern="0" dirty="0">
                <a:solidFill>
                  <a:srgbClr val="4A6B5D"/>
                </a:solidFill>
                <a:latin typeface="Arial" pitchFamily="34" charset="0"/>
                <a:ea typeface="Arial" pitchFamily="34" charset="-122"/>
                <a:cs typeface="Arial" pitchFamily="34" charset="-120"/>
              </a:rPr>
              <a:t>EXAM WARNING   </a:t>
            </a:r>
            <a:pPr indent="0" marL="0">
              <a:lnSpc>
                <a:spcPts val="1350"/>
              </a:lnSpc>
              <a:buNone/>
            </a:pPr>
            <a:r>
              <a:rPr lang="en-US" sz="1050" dirty="0">
                <a:solidFill>
                  <a:srgbClr val="7A7F72"/>
                </a:solidFill>
                <a:latin typeface="Georgia" pitchFamily="34" charset="0"/>
                <a:ea typeface="Georgia" pitchFamily="34" charset="-122"/>
                <a:cs typeface="Georgia" pitchFamily="34" charset="-120"/>
              </a:rPr>
              <a:t>Long take, short take, and slow motion belong to editing, not camera. Candidates misfile them every year.</a:t>
            </a:r>
            <a:endParaRPr lang="en-US" sz="900" dirty="0"/>
          </a:p>
        </p:txBody>
      </p:sp>
      <p:sp>
        <p:nvSpPr>
          <p:cNvPr id="26" name="Shape 18"/>
          <p:cNvSpPr/>
          <p:nvPr/>
        </p:nvSpPr>
        <p:spPr>
          <a:xfrm>
            <a:off x="822960" y="6382512"/>
            <a:ext cx="10543032" cy="0"/>
          </a:xfrm>
          <a:prstGeom prst="line">
            <a:avLst/>
          </a:prstGeom>
          <a:noFill/>
          <a:ln w="9525">
            <a:solidFill>
              <a:srgbClr val="D9D4C4"/>
            </a:solidFill>
            <a:prstDash val="solid"/>
          </a:ln>
        </p:spPr>
      </p:sp>
      <p:sp>
        <p:nvSpPr>
          <p:cNvPr id="27" name="Text 1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8" name="Text 2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REWRITING THE DEAD SENTENCE</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EDITING'S VERSION OF THE NAMING PROBLEM</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143000"/>
            <a:ext cx="10543032" cy="822960"/>
          </a:xfrm>
          <a:prstGeom prst="rect">
            <a:avLst/>
          </a:prstGeom>
          <a:noFill/>
          <a:ln/>
        </p:spPr>
        <p:txBody>
          <a:bodyPr wrap="square" lIns="0" tIns="0" rIns="0" bIns="0" rtlCol="0" anchor="ctr"/>
          <a:lstStyle/>
          <a:p>
            <a:pPr indent="0" marL="0">
              <a:buNone/>
            </a:pPr>
            <a:r>
              <a:rPr lang="en-US" sz="3600" dirty="0">
                <a:solidFill>
                  <a:srgbClr val="7A7F72"/>
                </a:solidFill>
                <a:latin typeface="Georgia" pitchFamily="34" charset="0"/>
                <a:ea typeface="Georgia" pitchFamily="34" charset="-122"/>
                <a:cs typeface="Georgia" pitchFamily="34" charset="-120"/>
              </a:rPr>
              <a:t>'The editing is fast-paced'</a:t>
            </a:r>
            <a:endParaRPr lang="en-US" sz="3600" dirty="0"/>
          </a:p>
        </p:txBody>
      </p:sp>
      <p:sp>
        <p:nvSpPr>
          <p:cNvPr id="6" name="Shape 4"/>
          <p:cNvSpPr/>
          <p:nvPr/>
        </p:nvSpPr>
        <p:spPr>
          <a:xfrm>
            <a:off x="822960" y="2240280"/>
            <a:ext cx="914400" cy="0"/>
          </a:xfrm>
          <a:prstGeom prst="line">
            <a:avLst/>
          </a:prstGeom>
          <a:noFill/>
          <a:ln w="31750">
            <a:solidFill>
              <a:srgbClr val="8C3A38"/>
            </a:solidFill>
            <a:prstDash val="solid"/>
          </a:ln>
        </p:spPr>
      </p:sp>
      <p:sp>
        <p:nvSpPr>
          <p:cNvPr id="7" name="Text 5"/>
          <p:cNvSpPr/>
          <p:nvPr/>
        </p:nvSpPr>
        <p:spPr>
          <a:xfrm>
            <a:off x="822960" y="2423160"/>
            <a:ext cx="10058400" cy="457200"/>
          </a:xfrm>
          <a:prstGeom prst="rect">
            <a:avLst/>
          </a:prstGeom>
          <a:noFill/>
          <a:ln/>
        </p:spPr>
        <p:txBody>
          <a:bodyPr wrap="square" lIns="0" tIns="0" rIns="0" bIns="0" rtlCol="0" anchor="ctr"/>
          <a:lstStyle/>
          <a:p>
            <a:pPr indent="0" marL="0">
              <a:buNone/>
            </a:pPr>
            <a:r>
              <a:rPr lang="en-US" sz="1300" i="1" dirty="0">
                <a:solidFill>
                  <a:srgbClr val="7A7F72"/>
                </a:solidFill>
                <a:latin typeface="Arial" pitchFamily="34" charset="0"/>
                <a:ea typeface="Arial" pitchFamily="34" charset="-122"/>
                <a:cs typeface="Arial" pitchFamily="34" charset="-120"/>
              </a:rPr>
              <a:t>Worth nothing. No evidence, no effect, and every second script says it.</a:t>
            </a:r>
            <a:endParaRPr lang="en-US" sz="1300" dirty="0"/>
          </a:p>
        </p:txBody>
      </p:sp>
      <p:sp>
        <p:nvSpPr>
          <p:cNvPr id="8" name="Shape 6"/>
          <p:cNvSpPr/>
          <p:nvPr/>
        </p:nvSpPr>
        <p:spPr>
          <a:xfrm>
            <a:off x="822960" y="3017520"/>
            <a:ext cx="10543032" cy="1828800"/>
          </a:xfrm>
          <a:prstGeom prst="rect">
            <a:avLst/>
          </a:prstGeom>
          <a:solidFill>
            <a:srgbClr val="E8EFE7"/>
          </a:solidFill>
          <a:ln/>
        </p:spPr>
      </p:sp>
      <p:sp>
        <p:nvSpPr>
          <p:cNvPr id="9" name="Text 7"/>
          <p:cNvSpPr/>
          <p:nvPr/>
        </p:nvSpPr>
        <p:spPr>
          <a:xfrm>
            <a:off x="1143000" y="3200400"/>
            <a:ext cx="9902952" cy="1463040"/>
          </a:xfrm>
          <a:prstGeom prst="rect">
            <a:avLst/>
          </a:prstGeom>
          <a:noFill/>
          <a:ln/>
        </p:spPr>
        <p:txBody>
          <a:bodyPr wrap="square" lIns="0" tIns="0" rIns="0" bIns="0" rtlCol="0" anchor="ctr"/>
          <a:lstStyle/>
          <a:p>
            <a:pPr indent="0" marL="0">
              <a:lnSpc>
                <a:spcPts val="3000"/>
              </a:lnSpc>
              <a:buNone/>
            </a:pPr>
            <a:r>
              <a:rPr lang="en-US" sz="2100" dirty="0">
                <a:solidFill>
                  <a:srgbClr val="24313F"/>
                </a:solidFill>
                <a:latin typeface="Georgia" pitchFamily="34" charset="0"/>
                <a:ea typeface="Georgia" pitchFamily="34" charset="-122"/>
                <a:cs typeface="Georgia" pitchFamily="34" charset="-120"/>
              </a:rPr>
              <a:t>The sequence cuts eleven times in thirty seconds. The viewer never settles on one face, so the chase feels like disorientation, not observation.</a:t>
            </a:r>
            <a:endParaRPr lang="en-US" sz="2100" dirty="0"/>
          </a:p>
        </p:txBody>
      </p:sp>
      <p:sp>
        <p:nvSpPr>
          <p:cNvPr id="10" name="Text 8"/>
          <p:cNvSpPr/>
          <p:nvPr/>
        </p:nvSpPr>
        <p:spPr>
          <a:xfrm>
            <a:off x="822960" y="5074920"/>
            <a:ext cx="10424160" cy="457200"/>
          </a:xfrm>
          <a:prstGeom prst="rect">
            <a:avLst/>
          </a:prstGeom>
          <a:noFill/>
          <a:ln/>
        </p:spPr>
        <p:txBody>
          <a:bodyPr wrap="square" lIns="0" tIns="0" rIns="0" bIns="0" rtlCol="0" anchor="t"/>
          <a:lstStyle/>
          <a:p>
            <a:pPr indent="0" marL="0">
              <a:lnSpc>
                <a:spcPts val="2100"/>
              </a:lnSpc>
              <a:buNone/>
            </a:pPr>
            <a:r>
              <a:rPr lang="en-US" sz="1350" b="1" spc="100" kern="0" dirty="0">
                <a:solidFill>
                  <a:srgbClr val="4A6B5D"/>
                </a:solidFill>
                <a:latin typeface="Arial" pitchFamily="34" charset="0"/>
                <a:ea typeface="Arial" pitchFamily="34" charset="-122"/>
                <a:cs typeface="Arial" pitchFamily="34" charset="-120"/>
              </a:rPr>
              <a:t>THE FORMULA   </a:t>
            </a:r>
            <a:pPr indent="0" marL="0">
              <a:lnSpc>
                <a:spcPts val="2100"/>
              </a:lnSpc>
              <a:buNone/>
            </a:pPr>
            <a:r>
              <a:rPr lang="en-US" sz="1550" i="1" dirty="0">
                <a:solidFill>
                  <a:srgbClr val="4A6B5D"/>
                </a:solidFill>
                <a:latin typeface="Georgia" pitchFamily="34" charset="0"/>
                <a:ea typeface="Georgia" pitchFamily="34" charset="-122"/>
                <a:cs typeface="Georgia" pitchFamily="34" charset="-120"/>
              </a:rPr>
              <a:t>A count, an effect, and a claim about the viewer. The count is free: you learned it in the first fifteen minutes.</a:t>
            </a:r>
            <a:endParaRPr lang="en-US" sz="1350" dirty="0"/>
          </a:p>
        </p:txBody>
      </p:sp>
      <p:sp>
        <p:nvSpPr>
          <p:cNvPr id="11" name="Shape 9"/>
          <p:cNvSpPr/>
          <p:nvPr/>
        </p:nvSpPr>
        <p:spPr>
          <a:xfrm>
            <a:off x="822960" y="6382512"/>
            <a:ext cx="10543032" cy="0"/>
          </a:xfrm>
          <a:prstGeom prst="line">
            <a:avLst/>
          </a:prstGeom>
          <a:noFill/>
          <a:ln w="9525">
            <a:solidFill>
              <a:srgbClr val="D9D4C4"/>
            </a:solidFill>
            <a:prstDash val="solid"/>
          </a:ln>
        </p:spPr>
      </p:sp>
      <p:sp>
        <p:nvSpPr>
          <p:cNvPr id="12" name="Text 1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3" name="Text 1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DELIVERABLE · CS6</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MONDAY, TWENTY MINUTES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60120"/>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The same sequence, cut twice</a:t>
            </a:r>
            <a:endParaRPr lang="en-US" sz="3200" dirty="0"/>
          </a:p>
        </p:txBody>
      </p:sp>
      <p:sp>
        <p:nvSpPr>
          <p:cNvPr id="6" name="Text 4"/>
          <p:cNvSpPr/>
          <p:nvPr/>
        </p:nvSpPr>
        <p:spPr>
          <a:xfrm>
            <a:off x="822960" y="1783080"/>
            <a:ext cx="4846320" cy="457200"/>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Version one</a:t>
            </a:r>
            <a:endParaRPr lang="en-US" sz="2200" dirty="0"/>
          </a:p>
        </p:txBody>
      </p:sp>
      <p:sp>
        <p:nvSpPr>
          <p:cNvPr id="7" name="Shape 5"/>
          <p:cNvSpPr/>
          <p:nvPr/>
        </p:nvSpPr>
        <p:spPr>
          <a:xfrm>
            <a:off x="822960" y="2286000"/>
            <a:ext cx="4754880" cy="0"/>
          </a:xfrm>
          <a:prstGeom prst="line">
            <a:avLst/>
          </a:prstGeom>
          <a:noFill/>
          <a:ln w="9525">
            <a:solidFill>
              <a:srgbClr val="D9D4C4"/>
            </a:solidFill>
            <a:prstDash val="solid"/>
          </a:ln>
        </p:spPr>
      </p:sp>
      <p:sp>
        <p:nvSpPr>
          <p:cNvPr id="8" name="Text 6"/>
          <p:cNvSpPr/>
          <p:nvPr/>
        </p:nvSpPr>
        <p:spPr>
          <a:xfrm>
            <a:off x="822960" y="2423160"/>
            <a:ext cx="4846320" cy="146304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Continuity held. An establishing shot, a shot / reverse shot exchange, one eyeline match. It must hold together. It does not have to be beautiful.</a:t>
            </a:r>
            <a:endParaRPr lang="en-US" sz="1550" dirty="0"/>
          </a:p>
        </p:txBody>
      </p:sp>
      <p:sp>
        <p:nvSpPr>
          <p:cNvPr id="9" name="Text 7"/>
          <p:cNvSpPr/>
          <p:nvPr/>
        </p:nvSpPr>
        <p:spPr>
          <a:xfrm>
            <a:off x="6309360" y="1783080"/>
            <a:ext cx="4846320" cy="457200"/>
          </a:xfrm>
          <a:prstGeom prst="rect">
            <a:avLst/>
          </a:prstGeom>
          <a:noFill/>
          <a:ln/>
        </p:spPr>
        <p:txBody>
          <a:bodyPr wrap="square" lIns="0" tIns="0" rIns="0" bIns="0" rtlCol="0" anchor="ctr"/>
          <a:lstStyle/>
          <a:p>
            <a:pPr indent="0" marL="0">
              <a:buNone/>
            </a:pPr>
            <a:r>
              <a:rPr lang="en-US" sz="2200" dirty="0">
                <a:solidFill>
                  <a:srgbClr val="8C3A38"/>
                </a:solidFill>
                <a:latin typeface="Georgia" pitchFamily="34" charset="0"/>
                <a:ea typeface="Georgia" pitchFamily="34" charset="-122"/>
                <a:cs typeface="Georgia" pitchFamily="34" charset="-120"/>
              </a:rPr>
              <a:t>Version two</a:t>
            </a:r>
            <a:endParaRPr lang="en-US" sz="2200" dirty="0"/>
          </a:p>
        </p:txBody>
      </p:sp>
      <p:sp>
        <p:nvSpPr>
          <p:cNvPr id="10" name="Shape 8"/>
          <p:cNvSpPr/>
          <p:nvPr/>
        </p:nvSpPr>
        <p:spPr>
          <a:xfrm>
            <a:off x="6309360" y="2286000"/>
            <a:ext cx="4754880" cy="0"/>
          </a:xfrm>
          <a:prstGeom prst="line">
            <a:avLst/>
          </a:prstGeom>
          <a:noFill/>
          <a:ln w="9525">
            <a:solidFill>
              <a:srgbClr val="D9D4C4"/>
            </a:solidFill>
            <a:prstDash val="solid"/>
          </a:ln>
        </p:spPr>
      </p:sp>
      <p:sp>
        <p:nvSpPr>
          <p:cNvPr id="11" name="Text 9"/>
          <p:cNvSpPr/>
          <p:nvPr/>
        </p:nvSpPr>
        <p:spPr>
          <a:xfrm>
            <a:off x="6309360" y="2423160"/>
            <a:ext cx="4846320" cy="146304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The 180-degree rule broken on purpose, plus one transition chosen and justified. The break must be the intended one, not an accident.</a:t>
            </a:r>
            <a:endParaRPr lang="en-US" sz="1550" dirty="0"/>
          </a:p>
        </p:txBody>
      </p:sp>
      <p:sp>
        <p:nvSpPr>
          <p:cNvPr id="12" name="Shape 10"/>
          <p:cNvSpPr/>
          <p:nvPr/>
        </p:nvSpPr>
        <p:spPr>
          <a:xfrm>
            <a:off x="822960" y="4114800"/>
            <a:ext cx="10543032" cy="1600200"/>
          </a:xfrm>
          <a:prstGeom prst="rect">
            <a:avLst/>
          </a:prstGeom>
          <a:solidFill>
            <a:srgbClr val="FAF8F1"/>
          </a:solidFill>
          <a:ln w="9525">
            <a:solidFill>
              <a:srgbClr val="D9D4C4"/>
            </a:solidFill>
            <a:prstDash val="solid"/>
          </a:ln>
        </p:spPr>
      </p:sp>
      <p:pic>
        <p:nvPicPr>
          <p:cNvPr id="13" name="Image 0" descr="/Users/dogan/Documents/Vaults/Courses/wiki/classes/media-studies/decks/_build/img/edit-timeline.jpg">    </p:cNvPr>
          <p:cNvPicPr>
            <a:picLocks noChangeAspect="1"/>
          </p:cNvPicPr>
          <p:nvPr/>
        </p:nvPicPr>
        <p:blipFill>
          <a:blip r:embed="rId1"/>
          <a:stretch>
            <a:fillRect/>
          </a:stretch>
        </p:blipFill>
        <p:spPr>
          <a:xfrm>
            <a:off x="5086350" y="4242816"/>
            <a:ext cx="2016252" cy="1344168"/>
          </a:xfrm>
          <a:prstGeom prst="rect">
            <a:avLst/>
          </a:prstGeom>
        </p:spPr>
      </p:pic>
      <p:sp>
        <p:nvSpPr>
          <p:cNvPr id="14" name="Text 11"/>
          <p:cNvSpPr/>
          <p:nvPr/>
        </p:nvSpPr>
        <p:spPr>
          <a:xfrm>
            <a:off x="822960" y="5742432"/>
            <a:ext cx="10543032" cy="27432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The cut, on any timeline you own: layers, trims, one dissolve. Photograph: Peter Stumpf, Unsplash</a:t>
            </a:r>
            <a:endParaRPr lang="en-US" sz="1000" dirty="0"/>
          </a:p>
        </p:txBody>
      </p:sp>
      <p:sp>
        <p:nvSpPr>
          <p:cNvPr id="15" name="Text 12"/>
          <p:cNvSpPr/>
          <p:nvPr/>
        </p:nvSpPr>
        <p:spPr>
          <a:xfrm>
            <a:off x="822960" y="6053328"/>
            <a:ext cx="10543032" cy="292608"/>
          </a:xfrm>
          <a:prstGeom prst="rect">
            <a:avLst/>
          </a:prstGeom>
          <a:noFill/>
          <a:ln/>
        </p:spPr>
        <p:txBody>
          <a:bodyPr wrap="square" lIns="0" tIns="0" rIns="0" bIns="0" rtlCol="0" anchor="t"/>
          <a:lstStyle/>
          <a:p>
            <a:pPr indent="0" marL="0">
              <a:lnSpc>
                <a:spcPts val="1600"/>
              </a:lnSpc>
              <a:buNone/>
            </a:pPr>
            <a:r>
              <a:rPr lang="en-US" sz="1050" b="1" spc="100" kern="0" dirty="0">
                <a:solidFill>
                  <a:srgbClr val="4A6B5D"/>
                </a:solidFill>
                <a:latin typeface="Arial" pitchFamily="34" charset="0"/>
                <a:ea typeface="Arial" pitchFamily="34" charset="-122"/>
                <a:cs typeface="Arial" pitchFamily="34" charset="-120"/>
              </a:rPr>
              <a:t>THE BLOG   </a:t>
            </a:r>
            <a:pPr indent="0" marL="0">
              <a:lnSpc>
                <a:spcPts val="1600"/>
              </a:lnSpc>
              <a:buNone/>
            </a:pPr>
            <a:r>
              <a:rPr lang="en-US" sz="1250" i="1" dirty="0">
                <a:solidFill>
                  <a:srgbClr val="4A6B5D"/>
                </a:solidFill>
                <a:latin typeface="Georgia" pitchFamily="34" charset="0"/>
                <a:ea typeface="Georgia" pitchFamily="34" charset="-122"/>
                <a:cs typeface="Georgia" pitchFamily="34" charset="-120"/>
              </a:rPr>
              <a:t>Post both versions, dated, with two or three sentences naming what breaks in version two.</a:t>
            </a:r>
            <a:endParaRPr lang="en-US" sz="1050" dirty="0"/>
          </a:p>
        </p:txBody>
      </p:sp>
      <p:sp>
        <p:nvSpPr>
          <p:cNvPr id="16" name="Shape 13"/>
          <p:cNvSpPr/>
          <p:nvPr/>
        </p:nvSpPr>
        <p:spPr>
          <a:xfrm>
            <a:off x="822960" y="6382512"/>
            <a:ext cx="10543032" cy="0"/>
          </a:xfrm>
          <a:prstGeom prst="line">
            <a:avLst/>
          </a:prstGeom>
          <a:noFill/>
          <a:ln w="9525">
            <a:solidFill>
              <a:srgbClr val="D9D4C4"/>
            </a:solidFill>
            <a:prstDash val="solid"/>
          </a:ln>
        </p:spPr>
      </p:sp>
      <p:sp>
        <p:nvSpPr>
          <p:cNvPr id="17" name="Text 14"/>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8" name="Text 15"/>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FOUR ELEMENTS, FOUR BUILDS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WHAT IS NOW ON YOUR BLOG</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51560"/>
            <a:ext cx="10543032" cy="73152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The practice stage, evidenced</a:t>
            </a:r>
            <a:endParaRPr lang="en-US" sz="3400" dirty="0"/>
          </a:p>
        </p:txBody>
      </p:sp>
      <p:sp>
        <p:nvSpPr>
          <p:cNvPr id="6" name="Shape 4"/>
          <p:cNvSpPr/>
          <p:nvPr/>
        </p:nvSpPr>
        <p:spPr>
          <a:xfrm>
            <a:off x="822960" y="1965960"/>
            <a:ext cx="914400" cy="658368"/>
          </a:xfrm>
          <a:prstGeom prst="rect">
            <a:avLst/>
          </a:prstGeom>
          <a:solidFill>
            <a:srgbClr val="A3C1AD"/>
          </a:solidFill>
          <a:ln/>
        </p:spPr>
      </p:sp>
      <p:sp>
        <p:nvSpPr>
          <p:cNvPr id="7" name="Text 5"/>
          <p:cNvSpPr/>
          <p:nvPr/>
        </p:nvSpPr>
        <p:spPr>
          <a:xfrm>
            <a:off x="822960" y="1965960"/>
            <a:ext cx="914400" cy="658368"/>
          </a:xfrm>
          <a:prstGeom prst="rect">
            <a:avLst/>
          </a:prstGeom>
          <a:noFill/>
          <a:ln/>
        </p:spPr>
        <p:txBody>
          <a:bodyPr wrap="square" lIns="0" tIns="0" rIns="0" bIns="0" rtlCol="0" anchor="ctr"/>
          <a:lstStyle/>
          <a:p>
            <a:pPr algn="ctr" indent="0" marL="0">
              <a:buNone/>
            </a:pPr>
            <a:r>
              <a:rPr lang="en-US" sz="1300" b="1" dirty="0">
                <a:solidFill>
                  <a:srgbClr val="24313F"/>
                </a:solidFill>
                <a:latin typeface="Arial" pitchFamily="34" charset="0"/>
                <a:ea typeface="Arial" pitchFamily="34" charset="-122"/>
                <a:cs typeface="Arial" pitchFamily="34" charset="-120"/>
              </a:rPr>
              <a:t>CS3</a:t>
            </a:r>
            <a:endParaRPr lang="en-US" sz="1300" dirty="0"/>
          </a:p>
        </p:txBody>
      </p:sp>
      <p:sp>
        <p:nvSpPr>
          <p:cNvPr id="8" name="Text 6"/>
          <p:cNvSpPr/>
          <p:nvPr/>
        </p:nvSpPr>
        <p:spPr>
          <a:xfrm>
            <a:off x="1965960" y="1965960"/>
            <a:ext cx="2743200" cy="658368"/>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Camera</a:t>
            </a:r>
            <a:endParaRPr lang="en-US" sz="2100" dirty="0"/>
          </a:p>
        </p:txBody>
      </p:sp>
      <p:sp>
        <p:nvSpPr>
          <p:cNvPr id="9" name="Text 7"/>
          <p:cNvSpPr/>
          <p:nvPr/>
        </p:nvSpPr>
        <p:spPr>
          <a:xfrm>
            <a:off x="4846320" y="1965960"/>
            <a:ext cx="7132320" cy="658368"/>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Six shots to a storyboard, focus and exposure held</a:t>
            </a:r>
            <a:endParaRPr lang="en-US" sz="1650" dirty="0"/>
          </a:p>
        </p:txBody>
      </p:sp>
      <p:sp>
        <p:nvSpPr>
          <p:cNvPr id="10" name="Shape 8"/>
          <p:cNvSpPr/>
          <p:nvPr/>
        </p:nvSpPr>
        <p:spPr>
          <a:xfrm>
            <a:off x="822960" y="2834640"/>
            <a:ext cx="914400" cy="658368"/>
          </a:xfrm>
          <a:prstGeom prst="rect">
            <a:avLst/>
          </a:prstGeom>
          <a:solidFill>
            <a:srgbClr val="A3C1AD"/>
          </a:solidFill>
          <a:ln/>
        </p:spPr>
      </p:sp>
      <p:sp>
        <p:nvSpPr>
          <p:cNvPr id="11" name="Text 9"/>
          <p:cNvSpPr/>
          <p:nvPr/>
        </p:nvSpPr>
        <p:spPr>
          <a:xfrm>
            <a:off x="822960" y="2834640"/>
            <a:ext cx="914400" cy="658368"/>
          </a:xfrm>
          <a:prstGeom prst="rect">
            <a:avLst/>
          </a:prstGeom>
          <a:noFill/>
          <a:ln/>
        </p:spPr>
        <p:txBody>
          <a:bodyPr wrap="square" lIns="0" tIns="0" rIns="0" bIns="0" rtlCol="0" anchor="ctr"/>
          <a:lstStyle/>
          <a:p>
            <a:pPr algn="ctr" indent="0" marL="0">
              <a:buNone/>
            </a:pPr>
            <a:r>
              <a:rPr lang="en-US" sz="1300" b="1" dirty="0">
                <a:solidFill>
                  <a:srgbClr val="24313F"/>
                </a:solidFill>
                <a:latin typeface="Arial" pitchFamily="34" charset="0"/>
                <a:ea typeface="Arial" pitchFamily="34" charset="-122"/>
                <a:cs typeface="Arial" pitchFamily="34" charset="-120"/>
              </a:rPr>
              <a:t>CS4</a:t>
            </a:r>
            <a:endParaRPr lang="en-US" sz="1300" dirty="0"/>
          </a:p>
        </p:txBody>
      </p:sp>
      <p:sp>
        <p:nvSpPr>
          <p:cNvPr id="12" name="Text 10"/>
          <p:cNvSpPr/>
          <p:nvPr/>
        </p:nvSpPr>
        <p:spPr>
          <a:xfrm>
            <a:off x="1965960" y="2834640"/>
            <a:ext cx="2743200" cy="658368"/>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Sound</a:t>
            </a:r>
            <a:endParaRPr lang="en-US" sz="2100" dirty="0"/>
          </a:p>
        </p:txBody>
      </p:sp>
      <p:sp>
        <p:nvSpPr>
          <p:cNvPr id="13" name="Text 11"/>
          <p:cNvSpPr/>
          <p:nvPr/>
        </p:nvSpPr>
        <p:spPr>
          <a:xfrm>
            <a:off x="4846320" y="2834640"/>
            <a:ext cx="7132320" cy="658368"/>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A thirty-second soundscape, every choice named</a:t>
            </a:r>
            <a:endParaRPr lang="en-US" sz="1650" dirty="0"/>
          </a:p>
        </p:txBody>
      </p:sp>
      <p:sp>
        <p:nvSpPr>
          <p:cNvPr id="14" name="Shape 12"/>
          <p:cNvSpPr/>
          <p:nvPr/>
        </p:nvSpPr>
        <p:spPr>
          <a:xfrm>
            <a:off x="822960" y="3703320"/>
            <a:ext cx="914400" cy="658368"/>
          </a:xfrm>
          <a:prstGeom prst="rect">
            <a:avLst/>
          </a:prstGeom>
          <a:solidFill>
            <a:srgbClr val="A3C1AD"/>
          </a:solidFill>
          <a:ln/>
        </p:spPr>
      </p:sp>
      <p:sp>
        <p:nvSpPr>
          <p:cNvPr id="15" name="Text 13"/>
          <p:cNvSpPr/>
          <p:nvPr/>
        </p:nvSpPr>
        <p:spPr>
          <a:xfrm>
            <a:off x="822960" y="3703320"/>
            <a:ext cx="914400" cy="658368"/>
          </a:xfrm>
          <a:prstGeom prst="rect">
            <a:avLst/>
          </a:prstGeom>
          <a:noFill/>
          <a:ln/>
        </p:spPr>
        <p:txBody>
          <a:bodyPr wrap="square" lIns="0" tIns="0" rIns="0" bIns="0" rtlCol="0" anchor="ctr"/>
          <a:lstStyle/>
          <a:p>
            <a:pPr algn="ctr" indent="0" marL="0">
              <a:buNone/>
            </a:pPr>
            <a:r>
              <a:rPr lang="en-US" sz="1300" b="1" dirty="0">
                <a:solidFill>
                  <a:srgbClr val="24313F"/>
                </a:solidFill>
                <a:latin typeface="Arial" pitchFamily="34" charset="0"/>
                <a:ea typeface="Arial" pitchFamily="34" charset="-122"/>
                <a:cs typeface="Arial" pitchFamily="34" charset="-120"/>
              </a:rPr>
              <a:t>CS5</a:t>
            </a:r>
            <a:endParaRPr lang="en-US" sz="1300" dirty="0"/>
          </a:p>
        </p:txBody>
      </p:sp>
      <p:sp>
        <p:nvSpPr>
          <p:cNvPr id="16" name="Text 14"/>
          <p:cNvSpPr/>
          <p:nvPr/>
        </p:nvSpPr>
        <p:spPr>
          <a:xfrm>
            <a:off x="1965960" y="3703320"/>
            <a:ext cx="2743200" cy="658368"/>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Mise-en-scène</a:t>
            </a:r>
            <a:endParaRPr lang="en-US" sz="2100" dirty="0"/>
          </a:p>
        </p:txBody>
      </p:sp>
      <p:sp>
        <p:nvSpPr>
          <p:cNvPr id="17" name="Text 15"/>
          <p:cNvSpPr/>
          <p:nvPr/>
        </p:nvSpPr>
        <p:spPr>
          <a:xfrm>
            <a:off x="4846320" y="3703320"/>
            <a:ext cx="7132320" cy="658368"/>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A six-cell design board, a connotation per cell</a:t>
            </a:r>
            <a:endParaRPr lang="en-US" sz="1650" dirty="0"/>
          </a:p>
        </p:txBody>
      </p:sp>
      <p:sp>
        <p:nvSpPr>
          <p:cNvPr id="18" name="Shape 16"/>
          <p:cNvSpPr/>
          <p:nvPr/>
        </p:nvSpPr>
        <p:spPr>
          <a:xfrm>
            <a:off x="822960" y="4572000"/>
            <a:ext cx="914400" cy="658368"/>
          </a:xfrm>
          <a:prstGeom prst="rect">
            <a:avLst/>
          </a:prstGeom>
          <a:solidFill>
            <a:srgbClr val="A3C1AD"/>
          </a:solidFill>
          <a:ln/>
        </p:spPr>
      </p:sp>
      <p:sp>
        <p:nvSpPr>
          <p:cNvPr id="19" name="Text 17"/>
          <p:cNvSpPr/>
          <p:nvPr/>
        </p:nvSpPr>
        <p:spPr>
          <a:xfrm>
            <a:off x="822960" y="4572000"/>
            <a:ext cx="914400" cy="658368"/>
          </a:xfrm>
          <a:prstGeom prst="rect">
            <a:avLst/>
          </a:prstGeom>
          <a:noFill/>
          <a:ln/>
        </p:spPr>
        <p:txBody>
          <a:bodyPr wrap="square" lIns="0" tIns="0" rIns="0" bIns="0" rtlCol="0" anchor="ctr"/>
          <a:lstStyle/>
          <a:p>
            <a:pPr algn="ctr" indent="0" marL="0">
              <a:buNone/>
            </a:pPr>
            <a:r>
              <a:rPr lang="en-US" sz="1300" b="1" dirty="0">
                <a:solidFill>
                  <a:srgbClr val="24313F"/>
                </a:solidFill>
                <a:latin typeface="Arial" pitchFamily="34" charset="0"/>
                <a:ea typeface="Arial" pitchFamily="34" charset="-122"/>
                <a:cs typeface="Arial" pitchFamily="34" charset="-120"/>
              </a:rPr>
              <a:t>CS6</a:t>
            </a:r>
            <a:endParaRPr lang="en-US" sz="1300" dirty="0"/>
          </a:p>
        </p:txBody>
      </p:sp>
      <p:sp>
        <p:nvSpPr>
          <p:cNvPr id="20" name="Text 18"/>
          <p:cNvSpPr/>
          <p:nvPr/>
        </p:nvSpPr>
        <p:spPr>
          <a:xfrm>
            <a:off x="1965960" y="4572000"/>
            <a:ext cx="2743200" cy="658368"/>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Editing</a:t>
            </a:r>
            <a:endParaRPr lang="en-US" sz="2100" dirty="0"/>
          </a:p>
        </p:txBody>
      </p:sp>
      <p:sp>
        <p:nvSpPr>
          <p:cNvPr id="21" name="Text 19"/>
          <p:cNvSpPr/>
          <p:nvPr/>
        </p:nvSpPr>
        <p:spPr>
          <a:xfrm>
            <a:off x="4846320" y="4572000"/>
            <a:ext cx="7132320" cy="658368"/>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One sequence cut two ways, the difference explained</a:t>
            </a:r>
            <a:endParaRPr lang="en-US" sz="1650" dirty="0"/>
          </a:p>
        </p:txBody>
      </p:sp>
      <p:sp>
        <p:nvSpPr>
          <p:cNvPr id="22" name="Shape 20"/>
          <p:cNvSpPr/>
          <p:nvPr/>
        </p:nvSpPr>
        <p:spPr>
          <a:xfrm>
            <a:off x="822960" y="5623560"/>
            <a:ext cx="914400" cy="0"/>
          </a:xfrm>
          <a:prstGeom prst="line">
            <a:avLst/>
          </a:prstGeom>
          <a:noFill/>
          <a:ln w="31750">
            <a:solidFill>
              <a:srgbClr val="8C3A38"/>
            </a:solidFill>
            <a:prstDash val="solid"/>
          </a:ln>
        </p:spPr>
      </p:sp>
      <p:sp>
        <p:nvSpPr>
          <p:cNvPr id="23" name="Text 21"/>
          <p:cNvSpPr/>
          <p:nvPr/>
        </p:nvSpPr>
        <p:spPr>
          <a:xfrm>
            <a:off x="822960" y="5760720"/>
            <a:ext cx="10515600" cy="438912"/>
          </a:xfrm>
          <a:prstGeom prst="rect">
            <a:avLst/>
          </a:prstGeom>
          <a:noFill/>
          <a:ln/>
        </p:spPr>
        <p:txBody>
          <a:bodyPr wrap="square" lIns="0" tIns="0" rIns="0" bIns="0" rtlCol="0" anchor="t"/>
          <a:lstStyle/>
          <a:p>
            <a:pPr indent="0" marL="0">
              <a:lnSpc>
                <a:spcPts val="1600"/>
              </a:lnSpc>
              <a:buNone/>
            </a:pPr>
            <a:r>
              <a:rPr lang="en-US" sz="1000" b="1" spc="100" kern="0" dirty="0">
                <a:solidFill>
                  <a:srgbClr val="4A6B5D"/>
                </a:solidFill>
                <a:latin typeface="Arial" pitchFamily="34" charset="0"/>
                <a:ea typeface="Arial" pitchFamily="34" charset="-122"/>
                <a:cs typeface="Arial" pitchFamily="34" charset="-120"/>
              </a:rPr>
              <a:t>KEY POINT   </a:t>
            </a:r>
            <a:pPr indent="0" marL="0">
              <a:lnSpc>
                <a:spcPts val="1600"/>
              </a:lnSpc>
              <a:buNone/>
            </a:pPr>
            <a:r>
              <a:rPr lang="en-US" sz="1200" dirty="0">
                <a:solidFill>
                  <a:srgbClr val="7A7F72"/>
                </a:solidFill>
                <a:latin typeface="Georgia" pitchFamily="34" charset="0"/>
                <a:ea typeface="Georgia" pitchFamily="34" charset="-122"/>
                <a:cs typeface="Georgia" pitchFamily="34" charset="-120"/>
              </a:rPr>
              <a:t>Four dated posts: the research-and-practice stage of Component 1, already complete.</a:t>
            </a:r>
            <a:endParaRPr lang="en-US" sz="1000" dirty="0"/>
          </a:p>
          <a:p>
            <a:pPr indent="0" marL="0">
              <a:lnSpc>
                <a:spcPts val="1600"/>
              </a:lnSpc>
              <a:buNone/>
            </a:pPr>
            <a:r>
              <a:rPr lang="en-US" sz="1000" b="1" spc="100" kern="0" dirty="0">
                <a:solidFill>
                  <a:srgbClr val="4A6B5D"/>
                </a:solidFill>
                <a:latin typeface="Arial" pitchFamily="34" charset="0"/>
                <a:ea typeface="Arial" pitchFamily="34" charset="-122"/>
                <a:cs typeface="Arial" pitchFamily="34" charset="-120"/>
              </a:rPr>
              <a:t>LOOKING AHEAD   </a:t>
            </a:r>
            <a:pPr indent="0" marL="0">
              <a:lnSpc>
                <a:spcPts val="1600"/>
              </a:lnSpc>
              <a:buNone/>
            </a:pPr>
            <a:r>
              <a:rPr lang="en-US" sz="1200" dirty="0">
                <a:solidFill>
                  <a:srgbClr val="7A7F72"/>
                </a:solidFill>
                <a:latin typeface="Georgia" pitchFamily="34" charset="0"/>
                <a:ea typeface="Georgia" pitchFamily="34" charset="-122"/>
                <a:cs typeface="Georgia" pitchFamily="34" charset="-120"/>
              </a:rPr>
              <a:t>The Grade 12 Component 3 video task is an editing task. The grade lives in the cut.</a:t>
            </a:r>
            <a:endParaRPr lang="en-US" sz="1000" dirty="0"/>
          </a:p>
        </p:txBody>
      </p:sp>
      <p:sp>
        <p:nvSpPr>
          <p:cNvPr id="24" name="Shape 22"/>
          <p:cNvSpPr/>
          <p:nvPr/>
        </p:nvSpPr>
        <p:spPr>
          <a:xfrm>
            <a:off x="822960" y="6382512"/>
            <a:ext cx="10543032" cy="0"/>
          </a:xfrm>
          <a:prstGeom prst="line">
            <a:avLst/>
          </a:prstGeom>
          <a:noFill/>
          <a:ln w="9525">
            <a:solidFill>
              <a:srgbClr val="D9D4C4"/>
            </a:solidFill>
            <a:prstDash val="solid"/>
          </a:ln>
        </p:spPr>
      </p:sp>
      <p:sp>
        <p:nvSpPr>
          <p:cNvPr id="25" name="Text 2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6" name="Text 2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07</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514600"/>
            <a:ext cx="10241280" cy="2103120"/>
          </a:xfrm>
          <a:prstGeom prst="rect">
            <a:avLst/>
          </a:prstGeom>
          <a:noFill/>
          <a:ln/>
        </p:spPr>
        <p:txBody>
          <a:bodyPr wrap="square" lIns="0" tIns="0" rIns="0" bIns="0" rtlCol="0" anchor="t"/>
          <a:lstStyle/>
          <a:p>
            <a:pPr indent="0" marL="0">
              <a:lnSpc>
                <a:spcPts val="5600"/>
              </a:lnSpc>
              <a:buNone/>
            </a:pPr>
            <a:r>
              <a:rPr lang="en-US" sz="5200" dirty="0">
                <a:solidFill>
                  <a:srgbClr val="FAF8F1"/>
                </a:solidFill>
                <a:latin typeface="Georgia" pitchFamily="34" charset="0"/>
                <a:ea typeface="Georgia" pitchFamily="34" charset="-122"/>
                <a:cs typeface="Georgia" pitchFamily="34" charset="-120"/>
              </a:rPr>
              <a:t>Integration and</a:t>
            </a:r>
            <a:endParaRPr lang="en-US" sz="5200" dirty="0"/>
          </a:p>
          <a:p>
            <a:pPr indent="0" marL="0">
              <a:lnSpc>
                <a:spcPts val="5600"/>
              </a:lnSpc>
              <a:buNone/>
            </a:pPr>
            <a:r>
              <a:rPr lang="en-US" sz="5200" dirty="0">
                <a:solidFill>
                  <a:srgbClr val="FAF8F1"/>
                </a:solidFill>
                <a:latin typeface="Georgia" pitchFamily="34" charset="0"/>
                <a:ea typeface="Georgia" pitchFamily="34" charset="-122"/>
                <a:cs typeface="Georgia" pitchFamily="34" charset="-120"/>
              </a:rPr>
              <a:t>the Planning Lock</a:t>
            </a:r>
            <a:endParaRPr lang="en-US" sz="5200" dirty="0"/>
          </a:p>
        </p:txBody>
      </p:sp>
      <p:sp>
        <p:nvSpPr>
          <p:cNvPr id="5" name="Text 3"/>
          <p:cNvSpPr/>
          <p:nvPr/>
        </p:nvSpPr>
        <p:spPr>
          <a:xfrm>
            <a:off x="822960" y="4709160"/>
            <a:ext cx="10241280" cy="822960"/>
          </a:xfrm>
          <a:prstGeom prst="rect">
            <a:avLst/>
          </a:prstGeom>
          <a:noFill/>
          <a:ln/>
        </p:spPr>
        <p:txBody>
          <a:bodyPr wrap="square" lIns="0" tIns="0" rIns="0" bIns="0" rtlCol="0" anchor="t"/>
          <a:lstStyle/>
          <a:p>
            <a:pPr indent="0" marL="0">
              <a:lnSpc>
                <a:spcPts val="2800"/>
              </a:lnSpc>
              <a:buNone/>
            </a:pPr>
            <a:r>
              <a:rPr lang="en-US" sz="2200" i="1" dirty="0">
                <a:solidFill>
                  <a:srgbClr val="E8EFE7"/>
                </a:solidFill>
                <a:latin typeface="Georgia" pitchFamily="34" charset="0"/>
                <a:ea typeface="Georgia" pitchFamily="34" charset="-122"/>
                <a:cs typeface="Georgia" pitchFamily="34" charset="-120"/>
              </a:rPr>
              <a:t>Lesson 07. All four at once on one unseen extract, then a plan someone else could shoot.</a:t>
            </a:r>
            <a:endParaRPr lang="en-US" sz="22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08</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2026-08-25T03:05:18Z</dcterms:created>
  <dcterms:modified xsi:type="dcterms:W3CDTF">2026-08-25T03:05:18Z</dcterms:modified>
</cp:coreProperties>
</file>