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theory and production planning converge on one Wednesday: every C1 plan locked to the standard of a plan someone else could shoot.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Rubens' assistants painted whole ceilings from his sketches. That is the bar: a plan complete enough to be executed without asking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Rubens-sketch framing is the headline metaphor of the lock: a plan complete enough to hand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complex scene where everyone knows their role: what a locked plan looks like when it reaches the day of the shoot.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822960"/>
            <a:ext cx="30175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32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UNIT II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7680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5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Narrative and</a:t>
            </a:r>
            <a:endParaRPr lang="en-US" sz="54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5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Planning Lock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26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 Language · Lesson 05 of 16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days across the National Day break  ·  Monday 28 September to Friday 9 October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"/>
            <a:ext cx="3383280" cy="557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380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STANDARD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384048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788920"/>
            <a:ext cx="7589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50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plan someone else</a:t>
            </a:r>
            <a:endParaRPr lang="en-US" sz="5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50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could shoot.</a:t>
            </a:r>
            <a:endParaRPr lang="en-US" sz="5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TODOROV · THE NARRATIVE ARC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IS THE DISTURBANCE IN YOUR OPENING?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stages, one movement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877263" y="3657600"/>
            <a:ext cx="8434426" cy="0"/>
          </a:xfrm>
          <a:prstGeom prst="line">
            <a:avLst/>
          </a:prstGeom>
          <a:noFill/>
          <a:ln w="19050">
            <a:solidFill>
              <a:srgbClr val="8AA3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2943" y="3383280"/>
            <a:ext cx="548640" cy="548640"/>
          </a:xfrm>
          <a:prstGeom prst="ellipse">
            <a:avLst/>
          </a:prstGeom>
          <a:solidFill>
            <a:srgbClr val="4A6B5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19257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Equilibrium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4069080"/>
            <a:ext cx="19257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stable world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711550" y="3383280"/>
            <a:ext cx="548640" cy="548640"/>
          </a:xfrm>
          <a:prstGeom prst="ellipse">
            <a:avLst/>
          </a:prstGeom>
          <a:solidFill>
            <a:srgbClr val="4A6B5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023006" y="2606040"/>
            <a:ext cx="19257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Disruption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023006" y="4069080"/>
            <a:ext cx="19257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force breaks it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20156" y="3383280"/>
            <a:ext cx="548640" cy="548640"/>
          </a:xfrm>
          <a:prstGeom prst="ellipse">
            <a:avLst/>
          </a:prstGeom>
          <a:solidFill>
            <a:srgbClr val="4A6B5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131613" y="2606040"/>
            <a:ext cx="19257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Recognition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131613" y="4069080"/>
            <a:ext cx="19257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break is seen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928762" y="3383280"/>
            <a:ext cx="548640" cy="548640"/>
          </a:xfrm>
          <a:prstGeom prst="ellipse">
            <a:avLst/>
          </a:prstGeom>
          <a:solidFill>
            <a:srgbClr val="4A6B5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240219" y="2606040"/>
            <a:ext cx="19257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Repair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240219" y="4069080"/>
            <a:ext cx="19257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attempt to fix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037369" y="3383280"/>
            <a:ext cx="548640" cy="548640"/>
          </a:xfrm>
          <a:prstGeom prst="ellipse">
            <a:avLst/>
          </a:prstGeom>
          <a:solidFill>
            <a:srgbClr val="4A6B5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348826" y="2606040"/>
            <a:ext cx="192572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equilibrium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348826" y="4069080"/>
            <a:ext cx="19257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changed calm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" y="512064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caveat that earns marks: the model fails on non-linear narratives, and saying so is the top-band move.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424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minimal complete plot can be seen as the shift from one equilibrium to another.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22960" y="50292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Tzvetan Todorov, The Poetics of Prose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PROPP · CHARACTERS BY FUNCTION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DO, NOT WHO THEY ARE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roles a story fills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10543032" cy="0"/>
          </a:xfrm>
          <a:prstGeom prst="line">
            <a:avLst/>
          </a:prstGeom>
          <a:noFill/>
          <a:ln w="12700">
            <a:solidFill>
              <a:srgbClr val="2431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37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840480" y="17373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seeks, and is tested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28600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286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Villain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40480" y="22860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struggles against the hero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283464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834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Donor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840480" y="28346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gives the hero a tool or gift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338328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3832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40480" y="33832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aids the hero on the way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393192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931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Princess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840480" y="39319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sought-for person or prize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2960" y="448056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480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Dispatcher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840480" y="44805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sends the hero out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2960" y="502920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029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False hero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840480" y="5029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claims the reward unearned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2960" y="557784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71500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century-old caveat: folk tales, 1928. Apply with judgment; who is your donor, and do you even have one?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10424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functions of characters serve as stable, constant elements in a tale, independent of how and by whom they are fulfilled.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50292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Vladimir Propp, Morphology of the Folktale, 1928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ogan-Documents-Vaults-Courses/a3a5132d-721f-4cd4-8ddd-e62e2b37b51b/scratchpad/img/crops/rubens-sketch_a66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0"/>
            <a:ext cx="455371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18120" y="6126480"/>
            <a:ext cx="4187952" cy="365760"/>
          </a:xfrm>
          <a:prstGeom prst="rect">
            <a:avLst/>
          </a:prstGeom>
          <a:solidFill>
            <a:srgbClr val="FAF8F1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Rubens, Multiple Sketch for the Banqueting House Ceiling, c. 1629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822960" y="685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BAR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822960" y="1051560"/>
            <a:ext cx="649224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234440"/>
            <a:ext cx="6492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Painted from</a:t>
            </a:r>
            <a:endParaRPr lang="en-US" sz="4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sketch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246120"/>
            <a:ext cx="6583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Rubens' assistants painted a whole ceiling from a sketch this size, because the plan answered every question before the brush touched the wall. Your C1 plan is locked when it could be shot the same way: by someone who was not in the room.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LOCK · TEN ITEMS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DESCRIBE, QUESTION, SUGGEST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shootability checklist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828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Numbered shots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2359152"/>
            <a:ext cx="502920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871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24871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Confirmed locations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" y="3017520"/>
            <a:ext cx="502920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4553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31455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Cast attached to dates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3675888"/>
            <a:ext cx="502920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0390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38039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Equipment per session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22960" y="4334256"/>
            <a:ext cx="502920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622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44622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contingency day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22960" y="4992624"/>
            <a:ext cx="502920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8288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58000" y="1828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Assigned roles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217920" y="2359152"/>
            <a:ext cx="502920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24871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58000" y="24871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Costume and props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217920" y="3017520"/>
            <a:ext cx="502920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314553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858000" y="31455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Storyboard matches shot list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217920" y="3675888"/>
            <a:ext cx="502920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380390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858000" y="38039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 fits the break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6217920" y="4334256"/>
            <a:ext cx="502920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44622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858000" y="44622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outside dependencies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6217920" y="4992624"/>
            <a:ext cx="502920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525780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means locked: changes after the lock are documented decisions in the production diary, not silent swaps.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ogan-Documents-Vaults-Courses/a3a5132d-721f-4cd4-8ddd-e62e2b37b51b/scratchpad/img/crops/bruegel-wedding_a17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502920"/>
            <a:ext cx="5120640" cy="502920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4" name="Text 1"/>
          <p:cNvSpPr/>
          <p:nvPr/>
        </p:nvSpPr>
        <p:spPr>
          <a:xfrm>
            <a:off x="704088" y="521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PLAN EXECUTED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5230368"/>
            <a:ext cx="8778240" cy="1243584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6" name="Shape 3"/>
          <p:cNvSpPr/>
          <p:nvPr/>
        </p:nvSpPr>
        <p:spPr>
          <a:xfrm>
            <a:off x="676656" y="5468112"/>
            <a:ext cx="731520" cy="0"/>
          </a:xfrm>
          <a:prstGeom prst="line">
            <a:avLst/>
          </a:prstGeom>
          <a:noFill/>
          <a:ln w="28575">
            <a:solidFill>
              <a:srgbClr val="8C3A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6656" y="5541264"/>
            <a:ext cx="8339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Dozens of figures, every one with a job: the pourers, the carriers, the seated guests.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76656" y="6181344"/>
            <a:ext cx="8339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Pieter Bruegel the Elder, The Peasant Wedding, 1567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LESSON CARRIES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BLOG, BREAK TASK, AND THE A1 DATE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things go on the record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LB1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 29 SEP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66160" y="18288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Blog punctuality, posts 1 to 5. Ten minutes reserved to bring lagging blogs current.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288950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9992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HW1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" y="34564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WED 30 SEP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6160" y="2999232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A1-format analysis of a self-chosen sequence over the break, plus the production shoot window.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2960" y="4059936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16966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A1 announced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2960" y="46268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SITS WED 14 OCT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66160" y="4169664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attainment, announced today because its notice window falls inside the holiday.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22960" y="5230368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2514600"/>
            <a:ext cx="310896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65176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50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A1: Timed Media</a:t>
            </a:r>
            <a:endParaRPr lang="en-US" sz="5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50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 Analysis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822960" y="48463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06. The theory put under load, then the first sit.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6E8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E8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2026-07-25T04:00:00Z</dcterms:created>
  <dcterms:modified xsi:type="dcterms:W3CDTF">2026-07-25T04:00:00Z</dcterms:modified>
</cp:coreProperties>
</file>