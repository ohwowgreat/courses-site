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Genre theory and camera vocabulary land together because A1 will demand them in the same paragraph. The Friday is lost to Mid-Autumn Festival.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Genre reframed from a box of tropes into an agreement between industry and audience: the version that earns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Genre-recognition demonstrated on paintings students have never seen proves the mechanism is theirs already, before any film term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stations, about seven minutes each, in production groups. The point is that the failure is audible or visible in the room rather than described. Close by collecting the equipment decision: school sign-out slips go to the equipment room before Mid-Autumn, and the choice is re-confirmed at the L05 lock so the shootability checklist points at a kit the group has actually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7863840" y="822960"/>
            <a:ext cx="3566160" cy="4937760"/>
          </a:xfrm>
          <a:prstGeom prst="rect">
            <a:avLst/>
          </a:prstGeom>
          <a:noFill/>
          <a:ln/>
        </p:spPr>
        <p:txBody>
          <a:bodyPr wrap="square" lIns="0" tIns="0" rIns="0" bIns="0" rtlCol="0" anchor="ctr"/>
          <a:lstStyle/>
          <a:p>
            <a:pPr algn="ctr" indent="0" marL="0">
              <a:buNone/>
            </a:pPr>
            <a:r>
              <a:rPr lang="en-US" sz="30000" dirty="0">
                <a:solidFill>
                  <a:srgbClr val="A3C1AD"/>
                </a:solidFill>
                <a:latin typeface="Georgia" pitchFamily="34" charset="0"/>
                <a:ea typeface="Georgia" pitchFamily="34" charset="-122"/>
                <a:cs typeface="Georgia" pitchFamily="34" charset="-120"/>
              </a:rPr>
              <a:t>IV</a:t>
            </a:r>
            <a:endParaRPr lang="en-US" sz="30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II</a:t>
            </a:r>
            <a:endParaRPr lang="en-US" sz="1100" dirty="0"/>
          </a:p>
        </p:txBody>
      </p:sp>
      <p:sp>
        <p:nvSpPr>
          <p:cNvPr id="4" name="Text 2"/>
          <p:cNvSpPr/>
          <p:nvPr/>
        </p:nvSpPr>
        <p:spPr>
          <a:xfrm>
            <a:off x="822960" y="1737360"/>
            <a:ext cx="7315200" cy="2377440"/>
          </a:xfrm>
          <a:prstGeom prst="rect">
            <a:avLst/>
          </a:prstGeom>
          <a:noFill/>
          <a:ln/>
        </p:spPr>
        <p:txBody>
          <a:bodyPr wrap="square" lIns="0" tIns="0" rIns="0" bIns="0" rtlCol="0" anchor="t"/>
          <a:lstStyle/>
          <a:p>
            <a:pPr indent="0" marL="0">
              <a:lnSpc>
                <a:spcPts val="6600"/>
              </a:lnSpc>
              <a:buNone/>
            </a:pPr>
            <a:r>
              <a:rPr lang="en-US" sz="6600" dirty="0">
                <a:solidFill>
                  <a:srgbClr val="24313F"/>
                </a:solidFill>
                <a:latin typeface="Georgia" pitchFamily="34" charset="0"/>
                <a:ea typeface="Georgia" pitchFamily="34" charset="-122"/>
                <a:cs typeface="Georgia" pitchFamily="34" charset="-120"/>
              </a:rPr>
              <a:t>Genre</a:t>
            </a:r>
            <a:endParaRPr lang="en-US" sz="6600" dirty="0"/>
          </a:p>
          <a:p>
            <a:pPr indent="0" marL="0">
              <a:lnSpc>
                <a:spcPts val="6600"/>
              </a:lnSpc>
              <a:buNone/>
            </a:pPr>
            <a:r>
              <a:rPr lang="en-US" sz="6600" dirty="0">
                <a:solidFill>
                  <a:srgbClr val="24313F"/>
                </a:solidFill>
                <a:latin typeface="Georgia" pitchFamily="34" charset="0"/>
                <a:ea typeface="Georgia" pitchFamily="34" charset="-122"/>
                <a:cs typeface="Georgia" pitchFamily="34" charset="-120"/>
              </a:rPr>
              <a:t>and Camera</a:t>
            </a:r>
            <a:endParaRPr lang="en-US" sz="66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73152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Media Language · Lesson 04 of 16</a:t>
            </a:r>
            <a:endParaRPr lang="en-US" sz="2200" dirty="0"/>
          </a:p>
        </p:txBody>
      </p:sp>
      <p:sp>
        <p:nvSpPr>
          <p:cNvPr id="7" name="Text 5"/>
          <p:cNvSpPr/>
          <p:nvPr/>
        </p:nvSpPr>
        <p:spPr>
          <a:xfrm>
            <a:off x="822960" y="5029200"/>
            <a:ext cx="822960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Three days  ·  Monday 21 to Wednesday 23 September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7680960" y="640080"/>
            <a:ext cx="3931920" cy="5577840"/>
          </a:xfrm>
          <a:prstGeom prst="rect">
            <a:avLst/>
          </a:prstGeom>
          <a:noFill/>
          <a:ln/>
        </p:spPr>
        <p:txBody>
          <a:bodyPr wrap="square" lIns="0" tIns="0" rIns="0" bIns="0" rtlCol="0" anchor="ctr"/>
          <a:lstStyle/>
          <a:p>
            <a:pPr algn="ctr" indent="0" marL="0">
              <a:buNone/>
            </a:pPr>
            <a:r>
              <a:rPr lang="en-US" sz="34000" dirty="0">
                <a:solidFill>
                  <a:srgbClr val="5C7A6B"/>
                </a:solidFill>
                <a:latin typeface="Georgia" pitchFamily="34" charset="0"/>
                <a:ea typeface="Georgia" pitchFamily="34" charset="-122"/>
                <a:cs typeface="Georgia" pitchFamily="34" charset="-120"/>
              </a:rPr>
              <a:t>IV</a:t>
            </a:r>
            <a:endParaRPr lang="en-US" sz="34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ALTMAN · NEALE</a:t>
            </a:r>
            <a:endParaRPr lang="en-US" sz="1100" dirty="0"/>
          </a:p>
        </p:txBody>
      </p:sp>
      <p:sp>
        <p:nvSpPr>
          <p:cNvPr id="4" name="Shape 2"/>
          <p:cNvSpPr/>
          <p:nvPr/>
        </p:nvSpPr>
        <p:spPr>
          <a:xfrm>
            <a:off x="822960" y="2651760"/>
            <a:ext cx="3840480" cy="0"/>
          </a:xfrm>
          <a:prstGeom prst="line">
            <a:avLst/>
          </a:prstGeom>
          <a:noFill/>
          <a:ln w="9525">
            <a:solidFill>
              <a:srgbClr val="8AA394"/>
            </a:solidFill>
            <a:prstDash val="solid"/>
          </a:ln>
        </p:spPr>
      </p:sp>
      <p:sp>
        <p:nvSpPr>
          <p:cNvPr id="5" name="Text 3"/>
          <p:cNvSpPr/>
          <p:nvPr/>
        </p:nvSpPr>
        <p:spPr>
          <a:xfrm>
            <a:off x="822960" y="2788920"/>
            <a:ext cx="6858000" cy="2194560"/>
          </a:xfrm>
          <a:prstGeom prst="rect">
            <a:avLst/>
          </a:prstGeom>
          <a:noFill/>
          <a:ln/>
        </p:spPr>
        <p:txBody>
          <a:bodyPr wrap="square" lIns="0" tIns="0" rIns="0" bIns="0" rtlCol="0" anchor="t"/>
          <a:lstStyle/>
          <a:p>
            <a:pPr indent="0" marL="0">
              <a:lnSpc>
                <a:spcPts val="5800"/>
              </a:lnSpc>
              <a:buNone/>
            </a:pPr>
            <a:r>
              <a:rPr lang="en-US" sz="5800" dirty="0">
                <a:solidFill>
                  <a:srgbClr val="FAF8F1"/>
                </a:solidFill>
                <a:latin typeface="Georgia" pitchFamily="34" charset="0"/>
                <a:ea typeface="Georgia" pitchFamily="34" charset="-122"/>
                <a:cs typeface="Georgia" pitchFamily="34" charset="-120"/>
              </a:rPr>
              <a:t>Genre is</a:t>
            </a:r>
            <a:endParaRPr lang="en-US" sz="5800" dirty="0"/>
          </a:p>
          <a:p>
            <a:pPr indent="0" marL="0">
              <a:lnSpc>
                <a:spcPts val="5800"/>
              </a:lnSpc>
              <a:buNone/>
            </a:pPr>
            <a:r>
              <a:rPr lang="en-US" sz="5800" dirty="0">
                <a:solidFill>
                  <a:srgbClr val="FAF8F1"/>
                </a:solidFill>
                <a:latin typeface="Georgia" pitchFamily="34" charset="0"/>
                <a:ea typeface="Georgia" pitchFamily="34" charset="-122"/>
                <a:cs typeface="Georgia" pitchFamily="34" charset="-120"/>
              </a:rPr>
              <a:t>a contract.</a:t>
            </a:r>
            <a:endParaRPr lang="en-US" sz="5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GENRE, WORKING</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DIFFERENT PAINTERS, THREE CENTURIES APART</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You knew instantly they belong together</a:t>
            </a:r>
            <a:endParaRPr lang="en-US" sz="3000" dirty="0"/>
          </a:p>
        </p:txBody>
      </p:sp>
      <p:sp>
        <p:nvSpPr>
          <p:cNvPr id="6" name="Shape 4"/>
          <p:cNvSpPr/>
          <p:nvPr/>
        </p:nvSpPr>
        <p:spPr>
          <a:xfrm>
            <a:off x="822960" y="1737360"/>
            <a:ext cx="5088636" cy="3794760"/>
          </a:xfrm>
          <a:prstGeom prst="rect">
            <a:avLst/>
          </a:prstGeom>
          <a:solidFill>
            <a:srgbClr val="FAF8F1"/>
          </a:solidFill>
          <a:ln w="9525">
            <a:solidFill>
              <a:srgbClr val="D9D4C4"/>
            </a:solidFill>
            <a:prstDash val="solid"/>
          </a:ln>
        </p:spPr>
      </p:sp>
      <p:pic>
        <p:nvPicPr>
          <p:cNvPr id="7" name="Image 0" descr="/Users/dogan/Documents/Vaults/Courses/wiki/classes/media-studies/decks/_build/img/vanitas-dutch.jpg">    </p:cNvPr>
          <p:cNvPicPr>
            <a:picLocks noChangeAspect="1"/>
          </p:cNvPicPr>
          <p:nvPr/>
        </p:nvPicPr>
        <p:blipFill>
          <a:blip r:embed="rId1"/>
          <a:stretch>
            <a:fillRect/>
          </a:stretch>
        </p:blipFill>
        <p:spPr>
          <a:xfrm>
            <a:off x="1067536" y="1865376"/>
            <a:ext cx="4599484" cy="3538728"/>
          </a:xfrm>
          <a:prstGeom prst="rect">
            <a:avLst/>
          </a:prstGeom>
        </p:spPr>
      </p:pic>
      <p:sp>
        <p:nvSpPr>
          <p:cNvPr id="8" name="Shape 5"/>
          <p:cNvSpPr/>
          <p:nvPr/>
        </p:nvSpPr>
        <p:spPr>
          <a:xfrm>
            <a:off x="6277356" y="1737360"/>
            <a:ext cx="5088636" cy="3794760"/>
          </a:xfrm>
          <a:prstGeom prst="rect">
            <a:avLst/>
          </a:prstGeom>
          <a:solidFill>
            <a:srgbClr val="FAF8F1"/>
          </a:solidFill>
          <a:ln w="9525">
            <a:solidFill>
              <a:srgbClr val="D9D4C4"/>
            </a:solidFill>
            <a:prstDash val="solid"/>
          </a:ln>
        </p:spPr>
      </p:sp>
      <p:pic>
        <p:nvPicPr>
          <p:cNvPr id="9" name="Image 1" descr="/Users/dogan/Documents/Vaults/Courses/wiki/classes/media-studies/decks/_build/img/vangogh-skull.jpg">    </p:cNvPr>
          <p:cNvPicPr>
            <a:picLocks noChangeAspect="1"/>
          </p:cNvPicPr>
          <p:nvPr/>
        </p:nvPicPr>
        <p:blipFill>
          <a:blip r:embed="rId2"/>
          <a:stretch>
            <a:fillRect/>
          </a:stretch>
        </p:blipFill>
        <p:spPr>
          <a:xfrm>
            <a:off x="7524509" y="1865376"/>
            <a:ext cx="2594330" cy="3538728"/>
          </a:xfrm>
          <a:prstGeom prst="rect">
            <a:avLst/>
          </a:prstGeom>
        </p:spPr>
      </p:pic>
      <p:sp>
        <p:nvSpPr>
          <p:cNvPr id="10" name="Text 6"/>
          <p:cNvSpPr/>
          <p:nvPr/>
        </p:nvSpPr>
        <p:spPr>
          <a:xfrm>
            <a:off x="822960" y="5605272"/>
            <a:ext cx="5088636" cy="320040"/>
          </a:xfrm>
          <a:prstGeom prst="rect">
            <a:avLst/>
          </a:prstGeom>
          <a:noFill/>
          <a:ln/>
        </p:spPr>
        <p:txBody>
          <a:bodyPr wrap="square" lIns="0" tIns="0" rIns="0" bIns="0" rtlCol="0" anchor="ctr"/>
          <a:lstStyle/>
          <a:p>
            <a:pPr algn="ctr" indent="0" marL="0">
              <a:buNone/>
            </a:pPr>
            <a:r>
              <a:rPr lang="en-US" sz="1050" dirty="0">
                <a:solidFill>
                  <a:srgbClr val="7A7F72"/>
                </a:solidFill>
                <a:latin typeface="Arial" pitchFamily="34" charset="0"/>
                <a:ea typeface="Arial" pitchFamily="34" charset="-122"/>
                <a:cs typeface="Arial" pitchFamily="34" charset="-120"/>
              </a:rPr>
              <a:t>Dutch vanitas still life, 17th century</a:t>
            </a:r>
            <a:endParaRPr lang="en-US" sz="1050" dirty="0"/>
          </a:p>
        </p:txBody>
      </p:sp>
      <p:sp>
        <p:nvSpPr>
          <p:cNvPr id="11" name="Text 7"/>
          <p:cNvSpPr/>
          <p:nvPr/>
        </p:nvSpPr>
        <p:spPr>
          <a:xfrm>
            <a:off x="6277356" y="5605272"/>
            <a:ext cx="5088636" cy="320040"/>
          </a:xfrm>
          <a:prstGeom prst="rect">
            <a:avLst/>
          </a:prstGeom>
          <a:noFill/>
          <a:ln/>
        </p:spPr>
        <p:txBody>
          <a:bodyPr wrap="square" lIns="0" tIns="0" rIns="0" bIns="0" rtlCol="0" anchor="ctr"/>
          <a:lstStyle/>
          <a:p>
            <a:pPr algn="ctr" indent="0" marL="0">
              <a:buNone/>
            </a:pPr>
            <a:r>
              <a:rPr lang="en-US" sz="1050" dirty="0">
                <a:solidFill>
                  <a:srgbClr val="7A7F72"/>
                </a:solidFill>
                <a:latin typeface="Arial" pitchFamily="34" charset="0"/>
                <a:ea typeface="Arial" pitchFamily="34" charset="-122"/>
                <a:cs typeface="Arial" pitchFamily="34" charset="-120"/>
              </a:rPr>
              <a:t>Van Gogh, Skull with Burning Cigarette, 1885</a:t>
            </a:r>
            <a:endParaRPr lang="en-US" sz="1050" dirty="0"/>
          </a:p>
        </p:txBody>
      </p:sp>
      <p:sp>
        <p:nvSpPr>
          <p:cNvPr id="12" name="Text 8"/>
          <p:cNvSpPr/>
          <p:nvPr/>
        </p:nvSpPr>
        <p:spPr>
          <a:xfrm>
            <a:off x="822960" y="5943600"/>
            <a:ext cx="10543032" cy="365760"/>
          </a:xfrm>
          <a:prstGeom prst="rect">
            <a:avLst/>
          </a:prstGeom>
          <a:noFill/>
          <a:ln/>
        </p:spPr>
        <p:txBody>
          <a:bodyPr wrap="square" lIns="0" tIns="0" rIns="0" bIns="0" rtlCol="0" anchor="ctr"/>
          <a:lstStyle/>
          <a:p>
            <a:pPr indent="0" marL="0">
              <a:buNone/>
            </a:pPr>
            <a:r>
              <a:rPr lang="en-US" sz="1200" spc="50" kern="0" dirty="0">
                <a:solidFill>
                  <a:srgbClr val="7A7F72"/>
                </a:solidFill>
                <a:latin typeface="Arial" pitchFamily="34" charset="0"/>
                <a:ea typeface="Arial" pitchFamily="34" charset="-122"/>
                <a:cs typeface="Arial" pitchFamily="34" charset="-120"/>
              </a:rPr>
              <a:t>Two skulls, two centuries apart. The recognition was instant, and it happened before a single film term. That recognition is genre working.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783080"/>
            <a:ext cx="10424160" cy="3291840"/>
          </a:xfrm>
          <a:prstGeom prst="rect">
            <a:avLst/>
          </a:prstGeom>
          <a:noFill/>
          <a:ln/>
        </p:spPr>
        <p:txBody>
          <a:bodyPr wrap="square" lIns="0" tIns="0" rIns="0" bIns="0" rtlCol="0" anchor="ctr"/>
          <a:lstStyle/>
          <a:p>
            <a:pPr indent="0" marL="0">
              <a:lnSpc>
                <a:spcPts val="4800"/>
              </a:lnSpc>
              <a:buNone/>
            </a:pPr>
            <a:r>
              <a:rPr lang="en-US" sz="3800" dirty="0">
                <a:solidFill>
                  <a:srgbClr val="24313F"/>
                </a:solidFill>
                <a:latin typeface="Georgia" pitchFamily="34" charset="0"/>
                <a:ea typeface="Georgia" pitchFamily="34" charset="-122"/>
                <a:cs typeface="Georgia" pitchFamily="34" charset="-120"/>
              </a:rPr>
              <a:t>Genres are instances of repetition and difference, and difference is absolutely essential to the economy of genre.</a:t>
            </a:r>
            <a:endParaRPr lang="en-US" sz="38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Steve Neale, Genre and Hollywood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ALTMAN · THE DEAL</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TWO SIDES OF ONE CONTRACT</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3800" dirty="0">
                <a:solidFill>
                  <a:srgbClr val="24313F"/>
                </a:solidFill>
                <a:latin typeface="Georgia" pitchFamily="34" charset="0"/>
                <a:ea typeface="Georgia" pitchFamily="34" charset="-122"/>
                <a:cs typeface="Georgia" pitchFamily="34" charset="-120"/>
              </a:rPr>
              <a:t>Who gets what</a:t>
            </a:r>
            <a:endParaRPr lang="en-US" sz="3800" dirty="0"/>
          </a:p>
        </p:txBody>
      </p:sp>
      <p:sp>
        <p:nvSpPr>
          <p:cNvPr id="6" name="Text 4"/>
          <p:cNvSpPr/>
          <p:nvPr/>
        </p:nvSpPr>
        <p:spPr>
          <a:xfrm>
            <a:off x="822960" y="2011680"/>
            <a:ext cx="4846320" cy="502920"/>
          </a:xfrm>
          <a:prstGeom prst="rect">
            <a:avLst/>
          </a:prstGeom>
          <a:noFill/>
          <a:ln/>
        </p:spPr>
        <p:txBody>
          <a:bodyPr wrap="square" lIns="0" tIns="0" rIns="0" bIns="0" rtlCol="0" anchor="ctr"/>
          <a:lstStyle/>
          <a:p>
            <a:pPr indent="0" marL="0">
              <a:buNone/>
            </a:pPr>
            <a:r>
              <a:rPr lang="en-US" sz="2400" dirty="0">
                <a:solidFill>
                  <a:srgbClr val="4A6B5D"/>
                </a:solidFill>
                <a:latin typeface="Georgia" pitchFamily="34" charset="0"/>
                <a:ea typeface="Georgia" pitchFamily="34" charset="-122"/>
                <a:cs typeface="Georgia" pitchFamily="34" charset="-120"/>
              </a:rPr>
              <a:t>The industry gets</a:t>
            </a:r>
            <a:endParaRPr lang="en-US" sz="2400" dirty="0"/>
          </a:p>
        </p:txBody>
      </p:sp>
      <p:sp>
        <p:nvSpPr>
          <p:cNvPr id="7" name="Shape 5"/>
          <p:cNvSpPr/>
          <p:nvPr/>
        </p:nvSpPr>
        <p:spPr>
          <a:xfrm>
            <a:off x="822960" y="2560320"/>
            <a:ext cx="4754880" cy="0"/>
          </a:xfrm>
          <a:prstGeom prst="line">
            <a:avLst/>
          </a:prstGeom>
          <a:noFill/>
          <a:ln w="9525">
            <a:solidFill>
              <a:srgbClr val="D9D4C4"/>
            </a:solidFill>
            <a:prstDash val="solid"/>
          </a:ln>
        </p:spPr>
      </p:sp>
      <p:sp>
        <p:nvSpPr>
          <p:cNvPr id="8" name="Text 6"/>
          <p:cNvSpPr/>
          <p:nvPr/>
        </p:nvSpPr>
        <p:spPr>
          <a:xfrm>
            <a:off x="822960" y="2697480"/>
            <a:ext cx="4846320" cy="219456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A pre-sold, budgetable product. Genre lowers the risk: audiences already know roughly what they are buying.</a:t>
            </a:r>
            <a:endParaRPr lang="en-US" sz="1700" dirty="0"/>
          </a:p>
        </p:txBody>
      </p:sp>
      <p:sp>
        <p:nvSpPr>
          <p:cNvPr id="9" name="Text 7"/>
          <p:cNvSpPr/>
          <p:nvPr/>
        </p:nvSpPr>
        <p:spPr>
          <a:xfrm>
            <a:off x="6309360" y="2011680"/>
            <a:ext cx="4846320" cy="502920"/>
          </a:xfrm>
          <a:prstGeom prst="rect">
            <a:avLst/>
          </a:prstGeom>
          <a:noFill/>
          <a:ln/>
        </p:spPr>
        <p:txBody>
          <a:bodyPr wrap="square" lIns="0" tIns="0" rIns="0" bIns="0" rtlCol="0" anchor="ctr"/>
          <a:lstStyle/>
          <a:p>
            <a:pPr indent="0" marL="0">
              <a:buNone/>
            </a:pPr>
            <a:r>
              <a:rPr lang="en-US" sz="2400" dirty="0">
                <a:solidFill>
                  <a:srgbClr val="5C7A6B"/>
                </a:solidFill>
                <a:latin typeface="Georgia" pitchFamily="34" charset="0"/>
                <a:ea typeface="Georgia" pitchFamily="34" charset="-122"/>
                <a:cs typeface="Georgia" pitchFamily="34" charset="-120"/>
              </a:rPr>
              <a:t>The audience gets</a:t>
            </a:r>
            <a:endParaRPr lang="en-US" sz="2400" dirty="0"/>
          </a:p>
        </p:txBody>
      </p:sp>
      <p:sp>
        <p:nvSpPr>
          <p:cNvPr id="10" name="Shape 8"/>
          <p:cNvSpPr/>
          <p:nvPr/>
        </p:nvSpPr>
        <p:spPr>
          <a:xfrm>
            <a:off x="6309360" y="2560320"/>
            <a:ext cx="4754880" cy="0"/>
          </a:xfrm>
          <a:prstGeom prst="line">
            <a:avLst/>
          </a:prstGeom>
          <a:noFill/>
          <a:ln w="9525">
            <a:solidFill>
              <a:srgbClr val="D9D4C4"/>
            </a:solidFill>
            <a:prstDash val="solid"/>
          </a:ln>
        </p:spPr>
      </p:sp>
      <p:sp>
        <p:nvSpPr>
          <p:cNvPr id="11" name="Text 9"/>
          <p:cNvSpPr/>
          <p:nvPr/>
        </p:nvSpPr>
        <p:spPr>
          <a:xfrm>
            <a:off x="6309360" y="2697480"/>
            <a:ext cx="4846320" cy="219456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A promise of pleasure, with room for surprise. Enough of the familiar to trust it, enough difference to stay awake.</a:t>
            </a:r>
            <a:endParaRPr lang="en-US" sz="1700" dirty="0"/>
          </a:p>
        </p:txBody>
      </p:sp>
      <p:sp>
        <p:nvSpPr>
          <p:cNvPr id="12" name="Shape 10"/>
          <p:cNvSpPr/>
          <p:nvPr/>
        </p:nvSpPr>
        <p:spPr>
          <a:xfrm>
            <a:off x="822960" y="5212080"/>
            <a:ext cx="914400" cy="0"/>
          </a:xfrm>
          <a:prstGeom prst="line">
            <a:avLst/>
          </a:prstGeom>
          <a:noFill/>
          <a:ln w="31750">
            <a:solidFill>
              <a:srgbClr val="8C3A38"/>
            </a:solidFill>
            <a:prstDash val="solid"/>
          </a:ln>
        </p:spPr>
      </p:sp>
      <p:sp>
        <p:nvSpPr>
          <p:cNvPr id="13" name="Text 11"/>
          <p:cNvSpPr/>
          <p:nvPr/>
        </p:nvSpPr>
        <p:spPr>
          <a:xfrm>
            <a:off x="822960" y="5394960"/>
            <a:ext cx="10058400" cy="457200"/>
          </a:xfrm>
          <a:prstGeom prst="rect">
            <a:avLst/>
          </a:prstGeom>
          <a:noFill/>
          <a:ln/>
        </p:spPr>
        <p:txBody>
          <a:bodyPr wrap="square" lIns="0" tIns="0" rIns="0" bIns="0" rtlCol="0" anchor="ctr"/>
          <a:lstStyle/>
          <a:p>
            <a:pPr indent="0" marL="0">
              <a:buNone/>
            </a:pPr>
            <a:r>
              <a:rPr lang="en-US" sz="1250" i="1" dirty="0">
                <a:solidFill>
                  <a:srgbClr val="7A7F72"/>
                </a:solidFill>
                <a:latin typeface="Arial" pitchFamily="34" charset="0"/>
                <a:ea typeface="Arial" pitchFamily="34" charset="-122"/>
                <a:cs typeface="Arial" pitchFamily="34" charset="-120"/>
              </a:rPr>
              <a:t>Exit question: why does the industry need genre more than we do?</a:t>
            </a:r>
            <a:endParaRPr lang="en-US" sz="1250" dirty="0"/>
          </a:p>
        </p:txBody>
      </p:sp>
      <p:sp>
        <p:nvSpPr>
          <p:cNvPr id="14" name="Shape 12"/>
          <p:cNvSpPr/>
          <p:nvPr/>
        </p:nvSpPr>
        <p:spPr>
          <a:xfrm>
            <a:off x="822960" y="6382512"/>
            <a:ext cx="10543032" cy="0"/>
          </a:xfrm>
          <a:prstGeom prst="line">
            <a:avLst/>
          </a:prstGeom>
          <a:noFill/>
          <a:ln w="9525">
            <a:solidFill>
              <a:srgbClr val="D9D4C4"/>
            </a:solidFill>
            <a:prstDash val="solid"/>
          </a:ln>
        </p:spPr>
      </p:sp>
      <p:sp>
        <p:nvSpPr>
          <p:cNvPr id="15" name="Text 13"/>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6" name="Text 14"/>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MAP A GENRE YOU KNOW</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C-DRAMA, XIANXIA, HORROR, IDOL VARIETY</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Four questions of the contract</a:t>
            </a:r>
            <a:endParaRPr lang="en-US" sz="3200" dirty="0"/>
          </a:p>
        </p:txBody>
      </p:sp>
      <p:sp>
        <p:nvSpPr>
          <p:cNvPr id="6" name="Text 4"/>
          <p:cNvSpPr/>
          <p:nvPr/>
        </p:nvSpPr>
        <p:spPr>
          <a:xfrm>
            <a:off x="822960" y="1920240"/>
            <a:ext cx="914400" cy="548640"/>
          </a:xfrm>
          <a:prstGeom prst="rect">
            <a:avLst/>
          </a:prstGeom>
          <a:noFill/>
          <a:ln/>
        </p:spPr>
        <p:txBody>
          <a:bodyPr wrap="square" lIns="0" tIns="0" rIns="0" bIns="0" rtlCol="0" anchor="ctr"/>
          <a:lstStyle/>
          <a:p>
            <a:pPr indent="0" marL="0">
              <a:buNone/>
            </a:pPr>
            <a:r>
              <a:rPr lang="en-US" sz="3000" dirty="0">
                <a:solidFill>
                  <a:srgbClr val="A3C1AD"/>
                </a:solidFill>
                <a:latin typeface="Georgia" pitchFamily="34" charset="0"/>
                <a:ea typeface="Georgia" pitchFamily="34" charset="-122"/>
                <a:cs typeface="Georgia" pitchFamily="34" charset="-120"/>
              </a:rPr>
              <a:t>01</a:t>
            </a:r>
            <a:endParaRPr lang="en-US" sz="3000" dirty="0"/>
          </a:p>
        </p:txBody>
      </p:sp>
      <p:sp>
        <p:nvSpPr>
          <p:cNvPr id="7" name="Text 5"/>
          <p:cNvSpPr/>
          <p:nvPr/>
        </p:nvSpPr>
        <p:spPr>
          <a:xfrm>
            <a:off x="1737360" y="1938528"/>
            <a:ext cx="4082796" cy="457200"/>
          </a:xfrm>
          <a:prstGeom prst="rect">
            <a:avLst/>
          </a:prstGeom>
          <a:noFill/>
          <a:ln/>
        </p:spPr>
        <p:txBody>
          <a:bodyPr wrap="square" lIns="0" tIns="0" rIns="0" bIns="0" rtlCol="0" anchor="ctr"/>
          <a:lstStyle/>
          <a:p>
            <a:pPr indent="0" marL="0">
              <a:buNone/>
            </a:pPr>
            <a:r>
              <a:rPr lang="en-US" sz="2300" dirty="0">
                <a:solidFill>
                  <a:srgbClr val="4A6B5D"/>
                </a:solidFill>
                <a:latin typeface="Georgia" pitchFamily="34" charset="0"/>
                <a:ea typeface="Georgia" pitchFamily="34" charset="-122"/>
                <a:cs typeface="Georgia" pitchFamily="34" charset="-120"/>
              </a:rPr>
              <a:t>What repeats</a:t>
            </a:r>
            <a:endParaRPr lang="en-US" sz="2300" dirty="0"/>
          </a:p>
        </p:txBody>
      </p:sp>
      <p:sp>
        <p:nvSpPr>
          <p:cNvPr id="8" name="Text 6"/>
          <p:cNvSpPr/>
          <p:nvPr/>
        </p:nvSpPr>
        <p:spPr>
          <a:xfrm>
            <a:off x="1737360" y="2468880"/>
            <a:ext cx="4082796" cy="11887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The conventions the audience expects and would miss if absent.</a:t>
            </a:r>
            <a:endParaRPr lang="en-US" sz="1550" dirty="0"/>
          </a:p>
        </p:txBody>
      </p:sp>
      <p:sp>
        <p:nvSpPr>
          <p:cNvPr id="9" name="Text 7"/>
          <p:cNvSpPr/>
          <p:nvPr/>
        </p:nvSpPr>
        <p:spPr>
          <a:xfrm>
            <a:off x="6368796" y="1920240"/>
            <a:ext cx="914400" cy="548640"/>
          </a:xfrm>
          <a:prstGeom prst="rect">
            <a:avLst/>
          </a:prstGeom>
          <a:noFill/>
          <a:ln/>
        </p:spPr>
        <p:txBody>
          <a:bodyPr wrap="square" lIns="0" tIns="0" rIns="0" bIns="0" rtlCol="0" anchor="ctr"/>
          <a:lstStyle/>
          <a:p>
            <a:pPr indent="0" marL="0">
              <a:buNone/>
            </a:pPr>
            <a:r>
              <a:rPr lang="en-US" sz="3000" dirty="0">
                <a:solidFill>
                  <a:srgbClr val="A3C1AD"/>
                </a:solidFill>
                <a:latin typeface="Georgia" pitchFamily="34" charset="0"/>
                <a:ea typeface="Georgia" pitchFamily="34" charset="-122"/>
                <a:cs typeface="Georgia" pitchFamily="34" charset="-120"/>
              </a:rPr>
              <a:t>02</a:t>
            </a:r>
            <a:endParaRPr lang="en-US" sz="3000" dirty="0"/>
          </a:p>
        </p:txBody>
      </p:sp>
      <p:sp>
        <p:nvSpPr>
          <p:cNvPr id="10" name="Text 8"/>
          <p:cNvSpPr/>
          <p:nvPr/>
        </p:nvSpPr>
        <p:spPr>
          <a:xfrm>
            <a:off x="7283196" y="1938528"/>
            <a:ext cx="4082796" cy="457200"/>
          </a:xfrm>
          <a:prstGeom prst="rect">
            <a:avLst/>
          </a:prstGeom>
          <a:noFill/>
          <a:ln/>
        </p:spPr>
        <p:txBody>
          <a:bodyPr wrap="square" lIns="0" tIns="0" rIns="0" bIns="0" rtlCol="0" anchor="ctr"/>
          <a:lstStyle/>
          <a:p>
            <a:pPr indent="0" marL="0">
              <a:buNone/>
            </a:pPr>
            <a:r>
              <a:rPr lang="en-US" sz="2300" dirty="0">
                <a:solidFill>
                  <a:srgbClr val="4A6B5D"/>
                </a:solidFill>
                <a:latin typeface="Georgia" pitchFamily="34" charset="0"/>
                <a:ea typeface="Georgia" pitchFamily="34" charset="-122"/>
                <a:cs typeface="Georgia" pitchFamily="34" charset="-120"/>
              </a:rPr>
              <a:t>What varies</a:t>
            </a:r>
            <a:endParaRPr lang="en-US" sz="2300" dirty="0"/>
          </a:p>
        </p:txBody>
      </p:sp>
      <p:sp>
        <p:nvSpPr>
          <p:cNvPr id="11" name="Text 9"/>
          <p:cNvSpPr/>
          <p:nvPr/>
        </p:nvSpPr>
        <p:spPr>
          <a:xfrm>
            <a:off x="7283196" y="2468880"/>
            <a:ext cx="4082796" cy="11887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The difference this instance offers: the reason to watch this one.</a:t>
            </a:r>
            <a:endParaRPr lang="en-US" sz="1550" dirty="0"/>
          </a:p>
        </p:txBody>
      </p:sp>
      <p:sp>
        <p:nvSpPr>
          <p:cNvPr id="12" name="Text 10"/>
          <p:cNvSpPr/>
          <p:nvPr/>
        </p:nvSpPr>
        <p:spPr>
          <a:xfrm>
            <a:off x="822960" y="4114800"/>
            <a:ext cx="914400" cy="548640"/>
          </a:xfrm>
          <a:prstGeom prst="rect">
            <a:avLst/>
          </a:prstGeom>
          <a:noFill/>
          <a:ln/>
        </p:spPr>
        <p:txBody>
          <a:bodyPr wrap="square" lIns="0" tIns="0" rIns="0" bIns="0" rtlCol="0" anchor="ctr"/>
          <a:lstStyle/>
          <a:p>
            <a:pPr indent="0" marL="0">
              <a:buNone/>
            </a:pPr>
            <a:r>
              <a:rPr lang="en-US" sz="3000" dirty="0">
                <a:solidFill>
                  <a:srgbClr val="A3C1AD"/>
                </a:solidFill>
                <a:latin typeface="Georgia" pitchFamily="34" charset="0"/>
                <a:ea typeface="Georgia" pitchFamily="34" charset="-122"/>
                <a:cs typeface="Georgia" pitchFamily="34" charset="-120"/>
              </a:rPr>
              <a:t>03</a:t>
            </a:r>
            <a:endParaRPr lang="en-US" sz="3000" dirty="0"/>
          </a:p>
        </p:txBody>
      </p:sp>
      <p:sp>
        <p:nvSpPr>
          <p:cNvPr id="13" name="Text 11"/>
          <p:cNvSpPr/>
          <p:nvPr/>
        </p:nvSpPr>
        <p:spPr>
          <a:xfrm>
            <a:off x="1737360" y="4133088"/>
            <a:ext cx="4082796" cy="457200"/>
          </a:xfrm>
          <a:prstGeom prst="rect">
            <a:avLst/>
          </a:prstGeom>
          <a:noFill/>
          <a:ln/>
        </p:spPr>
        <p:txBody>
          <a:bodyPr wrap="square" lIns="0" tIns="0" rIns="0" bIns="0" rtlCol="0" anchor="ctr"/>
          <a:lstStyle/>
          <a:p>
            <a:pPr indent="0" marL="0">
              <a:buNone/>
            </a:pPr>
            <a:r>
              <a:rPr lang="en-US" sz="2300" dirty="0">
                <a:solidFill>
                  <a:srgbClr val="4A6B5D"/>
                </a:solidFill>
                <a:latin typeface="Georgia" pitchFamily="34" charset="0"/>
                <a:ea typeface="Georgia" pitchFamily="34" charset="-122"/>
                <a:cs typeface="Georgia" pitchFamily="34" charset="-120"/>
              </a:rPr>
              <a:t>Who profits</a:t>
            </a:r>
            <a:endParaRPr lang="en-US" sz="2300" dirty="0"/>
          </a:p>
        </p:txBody>
      </p:sp>
      <p:sp>
        <p:nvSpPr>
          <p:cNvPr id="14" name="Text 12"/>
          <p:cNvSpPr/>
          <p:nvPr/>
        </p:nvSpPr>
        <p:spPr>
          <a:xfrm>
            <a:off x="1737360" y="4663440"/>
            <a:ext cx="4082796" cy="11887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Who banks on the repetition: the studio, the platform, the franchise.</a:t>
            </a:r>
            <a:endParaRPr lang="en-US" sz="1550" dirty="0"/>
          </a:p>
        </p:txBody>
      </p:sp>
      <p:sp>
        <p:nvSpPr>
          <p:cNvPr id="15" name="Text 13"/>
          <p:cNvSpPr/>
          <p:nvPr/>
        </p:nvSpPr>
        <p:spPr>
          <a:xfrm>
            <a:off x="6368796" y="4114800"/>
            <a:ext cx="914400" cy="548640"/>
          </a:xfrm>
          <a:prstGeom prst="rect">
            <a:avLst/>
          </a:prstGeom>
          <a:noFill/>
          <a:ln/>
        </p:spPr>
        <p:txBody>
          <a:bodyPr wrap="square" lIns="0" tIns="0" rIns="0" bIns="0" rtlCol="0" anchor="ctr"/>
          <a:lstStyle/>
          <a:p>
            <a:pPr indent="0" marL="0">
              <a:buNone/>
            </a:pPr>
            <a:r>
              <a:rPr lang="en-US" sz="3000" dirty="0">
                <a:solidFill>
                  <a:srgbClr val="A3C1AD"/>
                </a:solidFill>
                <a:latin typeface="Georgia" pitchFamily="34" charset="0"/>
                <a:ea typeface="Georgia" pitchFamily="34" charset="-122"/>
                <a:cs typeface="Georgia" pitchFamily="34" charset="-120"/>
              </a:rPr>
              <a:t>04</a:t>
            </a:r>
            <a:endParaRPr lang="en-US" sz="3000" dirty="0"/>
          </a:p>
        </p:txBody>
      </p:sp>
      <p:sp>
        <p:nvSpPr>
          <p:cNvPr id="16" name="Text 14"/>
          <p:cNvSpPr/>
          <p:nvPr/>
        </p:nvSpPr>
        <p:spPr>
          <a:xfrm>
            <a:off x="7283196" y="4133088"/>
            <a:ext cx="4082796" cy="457200"/>
          </a:xfrm>
          <a:prstGeom prst="rect">
            <a:avLst/>
          </a:prstGeom>
          <a:noFill/>
          <a:ln/>
        </p:spPr>
        <p:txBody>
          <a:bodyPr wrap="square" lIns="0" tIns="0" rIns="0" bIns="0" rtlCol="0" anchor="ctr"/>
          <a:lstStyle/>
          <a:p>
            <a:pPr indent="0" marL="0">
              <a:buNone/>
            </a:pPr>
            <a:r>
              <a:rPr lang="en-US" sz="2300" dirty="0">
                <a:solidFill>
                  <a:srgbClr val="4A6B5D"/>
                </a:solidFill>
                <a:latin typeface="Georgia" pitchFamily="34" charset="0"/>
                <a:ea typeface="Georgia" pitchFamily="34" charset="-122"/>
                <a:cs typeface="Georgia" pitchFamily="34" charset="-120"/>
              </a:rPr>
              <a:t>What is promised</a:t>
            </a:r>
            <a:endParaRPr lang="en-US" sz="2300" dirty="0"/>
          </a:p>
        </p:txBody>
      </p:sp>
      <p:sp>
        <p:nvSpPr>
          <p:cNvPr id="17" name="Text 15"/>
          <p:cNvSpPr/>
          <p:nvPr/>
        </p:nvSpPr>
        <p:spPr>
          <a:xfrm>
            <a:off x="7283196" y="4663440"/>
            <a:ext cx="4082796" cy="11887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The pleasure the audience is being sold: fear, romance, awe, comfort.</a:t>
            </a:r>
            <a:endParaRPr lang="en-US" sz="1550" dirty="0"/>
          </a:p>
        </p:txBody>
      </p:sp>
      <p:sp>
        <p:nvSpPr>
          <p:cNvPr id="18" name="Shape 16"/>
          <p:cNvSpPr/>
          <p:nvPr/>
        </p:nvSpPr>
        <p:spPr>
          <a:xfrm>
            <a:off x="822960" y="6382512"/>
            <a:ext cx="10543032" cy="0"/>
          </a:xfrm>
          <a:prstGeom prst="line">
            <a:avLst/>
          </a:prstGeom>
          <a:noFill/>
          <a:ln w="9525">
            <a:solidFill>
              <a:srgbClr val="D9D4C4"/>
            </a:solidFill>
            <a:prstDash val="solid"/>
          </a:ln>
        </p:spPr>
      </p:sp>
      <p:sp>
        <p:nvSpPr>
          <p:cNvPr id="19" name="Text 17"/>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0" name="Text 18"/>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783080"/>
            <a:ext cx="10424160" cy="3291840"/>
          </a:xfrm>
          <a:prstGeom prst="rect">
            <a:avLst/>
          </a:prstGeom>
          <a:noFill/>
          <a:ln/>
        </p:spPr>
        <p:txBody>
          <a:bodyPr wrap="square" lIns="0" tIns="0" rIns="0" bIns="0" rtlCol="0" anchor="ctr"/>
          <a:lstStyle/>
          <a:p>
            <a:pPr indent="0" marL="0">
              <a:lnSpc>
                <a:spcPts val="5000"/>
              </a:lnSpc>
              <a:buNone/>
            </a:pPr>
            <a:r>
              <a:rPr lang="en-US" sz="4200" dirty="0">
                <a:solidFill>
                  <a:srgbClr val="24313F"/>
                </a:solidFill>
                <a:latin typeface="Georgia" pitchFamily="34" charset="0"/>
                <a:ea typeface="Georgia" pitchFamily="34" charset="-122"/>
                <a:cs typeface="Georgia" pitchFamily="34" charset="-120"/>
              </a:rPr>
              <a:t>Genre is not simply given by the culture: it is a constant process of negotiation and change.</a:t>
            </a:r>
            <a:endParaRPr lang="en-US" sz="42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David Buckingham</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CAMERA AS VERBS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WHAT IT DOES, THEN WHAT IT DOES TO YOU</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5486400"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The shot ladder</a:t>
            </a:r>
            <a:endParaRPr lang="en-US" sz="3200" dirty="0"/>
          </a:p>
        </p:txBody>
      </p:sp>
      <p:sp>
        <p:nvSpPr>
          <p:cNvPr id="6" name="Shape 4"/>
          <p:cNvSpPr/>
          <p:nvPr/>
        </p:nvSpPr>
        <p:spPr>
          <a:xfrm>
            <a:off x="822960" y="1828800"/>
            <a:ext cx="1280160" cy="402336"/>
          </a:xfrm>
          <a:prstGeom prst="rect">
            <a:avLst/>
          </a:prstGeom>
          <a:solidFill>
            <a:srgbClr val="A3C1AD"/>
          </a:solidFill>
          <a:ln/>
        </p:spPr>
      </p:sp>
      <p:sp>
        <p:nvSpPr>
          <p:cNvPr id="7" name="Text 5"/>
          <p:cNvSpPr/>
          <p:nvPr/>
        </p:nvSpPr>
        <p:spPr>
          <a:xfrm>
            <a:off x="932688" y="1828800"/>
            <a:ext cx="1097280" cy="402336"/>
          </a:xfrm>
          <a:prstGeom prst="rect">
            <a:avLst/>
          </a:prstGeom>
          <a:noFill/>
          <a:ln/>
        </p:spPr>
        <p:txBody>
          <a:bodyPr wrap="square" lIns="0" tIns="0" rIns="0" bIns="0" rtlCol="0" anchor="ctr"/>
          <a:lstStyle/>
          <a:p>
            <a:pPr indent="0" marL="0">
              <a:buNone/>
            </a:pPr>
            <a:r>
              <a:rPr lang="en-US" sz="1200" b="1" dirty="0">
                <a:solidFill>
                  <a:srgbClr val="24313F"/>
                </a:solidFill>
                <a:latin typeface="Arial" pitchFamily="34" charset="0"/>
                <a:ea typeface="Arial" pitchFamily="34" charset="-122"/>
                <a:cs typeface="Arial" pitchFamily="34" charset="-120"/>
              </a:rPr>
              <a:t>ECU</a:t>
            </a:r>
            <a:endParaRPr lang="en-US" sz="1200" dirty="0"/>
          </a:p>
        </p:txBody>
      </p:sp>
      <p:sp>
        <p:nvSpPr>
          <p:cNvPr id="8" name="Text 6"/>
          <p:cNvSpPr/>
          <p:nvPr/>
        </p:nvSpPr>
        <p:spPr>
          <a:xfrm>
            <a:off x="2286000" y="1828800"/>
            <a:ext cx="4114800" cy="402336"/>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Extreme close-up</a:t>
            </a:r>
            <a:endParaRPr lang="en-US" sz="1500" dirty="0"/>
          </a:p>
        </p:txBody>
      </p:sp>
      <p:sp>
        <p:nvSpPr>
          <p:cNvPr id="9" name="Shape 7"/>
          <p:cNvSpPr/>
          <p:nvPr/>
        </p:nvSpPr>
        <p:spPr>
          <a:xfrm>
            <a:off x="822960" y="2395728"/>
            <a:ext cx="2103120" cy="402336"/>
          </a:xfrm>
          <a:prstGeom prst="rect">
            <a:avLst/>
          </a:prstGeom>
          <a:solidFill>
            <a:srgbClr val="A3C1AD"/>
          </a:solidFill>
          <a:ln/>
        </p:spPr>
      </p:sp>
      <p:sp>
        <p:nvSpPr>
          <p:cNvPr id="10" name="Text 8"/>
          <p:cNvSpPr/>
          <p:nvPr/>
        </p:nvSpPr>
        <p:spPr>
          <a:xfrm>
            <a:off x="932688" y="2395728"/>
            <a:ext cx="1097280" cy="402336"/>
          </a:xfrm>
          <a:prstGeom prst="rect">
            <a:avLst/>
          </a:prstGeom>
          <a:noFill/>
          <a:ln/>
        </p:spPr>
        <p:txBody>
          <a:bodyPr wrap="square" lIns="0" tIns="0" rIns="0" bIns="0" rtlCol="0" anchor="ctr"/>
          <a:lstStyle/>
          <a:p>
            <a:pPr indent="0" marL="0">
              <a:buNone/>
            </a:pPr>
            <a:r>
              <a:rPr lang="en-US" sz="1200" b="1" dirty="0">
                <a:solidFill>
                  <a:srgbClr val="24313F"/>
                </a:solidFill>
                <a:latin typeface="Arial" pitchFamily="34" charset="0"/>
                <a:ea typeface="Arial" pitchFamily="34" charset="-122"/>
                <a:cs typeface="Arial" pitchFamily="34" charset="-120"/>
              </a:rPr>
              <a:t>CU</a:t>
            </a:r>
            <a:endParaRPr lang="en-US" sz="1200" dirty="0"/>
          </a:p>
        </p:txBody>
      </p:sp>
      <p:sp>
        <p:nvSpPr>
          <p:cNvPr id="11" name="Text 9"/>
          <p:cNvSpPr/>
          <p:nvPr/>
        </p:nvSpPr>
        <p:spPr>
          <a:xfrm>
            <a:off x="3108960" y="2395728"/>
            <a:ext cx="4114800" cy="402336"/>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Close-up</a:t>
            </a:r>
            <a:endParaRPr lang="en-US" sz="1500" dirty="0"/>
          </a:p>
        </p:txBody>
      </p:sp>
      <p:sp>
        <p:nvSpPr>
          <p:cNvPr id="12" name="Shape 10"/>
          <p:cNvSpPr/>
          <p:nvPr/>
        </p:nvSpPr>
        <p:spPr>
          <a:xfrm>
            <a:off x="822960" y="2962656"/>
            <a:ext cx="3200400" cy="402336"/>
          </a:xfrm>
          <a:prstGeom prst="rect">
            <a:avLst/>
          </a:prstGeom>
          <a:solidFill>
            <a:srgbClr val="A3C1AD"/>
          </a:solidFill>
          <a:ln/>
        </p:spPr>
      </p:sp>
      <p:sp>
        <p:nvSpPr>
          <p:cNvPr id="13" name="Text 11"/>
          <p:cNvSpPr/>
          <p:nvPr/>
        </p:nvSpPr>
        <p:spPr>
          <a:xfrm>
            <a:off x="932688" y="2962656"/>
            <a:ext cx="1097280" cy="402336"/>
          </a:xfrm>
          <a:prstGeom prst="rect">
            <a:avLst/>
          </a:prstGeom>
          <a:noFill/>
          <a:ln/>
        </p:spPr>
        <p:txBody>
          <a:bodyPr wrap="square" lIns="0" tIns="0" rIns="0" bIns="0" rtlCol="0" anchor="ctr"/>
          <a:lstStyle/>
          <a:p>
            <a:pPr indent="0" marL="0">
              <a:buNone/>
            </a:pPr>
            <a:r>
              <a:rPr lang="en-US" sz="1200" b="1" dirty="0">
                <a:solidFill>
                  <a:srgbClr val="24313F"/>
                </a:solidFill>
                <a:latin typeface="Arial" pitchFamily="34" charset="0"/>
                <a:ea typeface="Arial" pitchFamily="34" charset="-122"/>
                <a:cs typeface="Arial" pitchFamily="34" charset="-120"/>
              </a:rPr>
              <a:t>MS</a:t>
            </a:r>
            <a:endParaRPr lang="en-US" sz="1200" dirty="0"/>
          </a:p>
        </p:txBody>
      </p:sp>
      <p:sp>
        <p:nvSpPr>
          <p:cNvPr id="14" name="Text 12"/>
          <p:cNvSpPr/>
          <p:nvPr/>
        </p:nvSpPr>
        <p:spPr>
          <a:xfrm>
            <a:off x="4206240" y="2962656"/>
            <a:ext cx="4114800" cy="402336"/>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Mid shot</a:t>
            </a:r>
            <a:endParaRPr lang="en-US" sz="1500" dirty="0"/>
          </a:p>
        </p:txBody>
      </p:sp>
      <p:sp>
        <p:nvSpPr>
          <p:cNvPr id="15" name="Shape 13"/>
          <p:cNvSpPr/>
          <p:nvPr/>
        </p:nvSpPr>
        <p:spPr>
          <a:xfrm>
            <a:off x="822960" y="3529584"/>
            <a:ext cx="4389120" cy="402336"/>
          </a:xfrm>
          <a:prstGeom prst="rect">
            <a:avLst/>
          </a:prstGeom>
          <a:solidFill>
            <a:srgbClr val="A3C1AD"/>
          </a:solidFill>
          <a:ln/>
        </p:spPr>
      </p:sp>
      <p:sp>
        <p:nvSpPr>
          <p:cNvPr id="16" name="Text 14"/>
          <p:cNvSpPr/>
          <p:nvPr/>
        </p:nvSpPr>
        <p:spPr>
          <a:xfrm>
            <a:off x="932688" y="3529584"/>
            <a:ext cx="1097280" cy="402336"/>
          </a:xfrm>
          <a:prstGeom prst="rect">
            <a:avLst/>
          </a:prstGeom>
          <a:noFill/>
          <a:ln/>
        </p:spPr>
        <p:txBody>
          <a:bodyPr wrap="square" lIns="0" tIns="0" rIns="0" bIns="0" rtlCol="0" anchor="ctr"/>
          <a:lstStyle/>
          <a:p>
            <a:pPr indent="0" marL="0">
              <a:buNone/>
            </a:pPr>
            <a:r>
              <a:rPr lang="en-US" sz="1200" b="1" dirty="0">
                <a:solidFill>
                  <a:srgbClr val="24313F"/>
                </a:solidFill>
                <a:latin typeface="Arial" pitchFamily="34" charset="0"/>
                <a:ea typeface="Arial" pitchFamily="34" charset="-122"/>
                <a:cs typeface="Arial" pitchFamily="34" charset="-120"/>
              </a:rPr>
              <a:t>LS</a:t>
            </a:r>
            <a:endParaRPr lang="en-US" sz="1200" dirty="0"/>
          </a:p>
        </p:txBody>
      </p:sp>
      <p:sp>
        <p:nvSpPr>
          <p:cNvPr id="17" name="Text 15"/>
          <p:cNvSpPr/>
          <p:nvPr/>
        </p:nvSpPr>
        <p:spPr>
          <a:xfrm>
            <a:off x="5394960" y="3529584"/>
            <a:ext cx="4114800" cy="402336"/>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Long shot</a:t>
            </a:r>
            <a:endParaRPr lang="en-US" sz="1500" dirty="0"/>
          </a:p>
        </p:txBody>
      </p:sp>
      <p:sp>
        <p:nvSpPr>
          <p:cNvPr id="18" name="Shape 16"/>
          <p:cNvSpPr/>
          <p:nvPr/>
        </p:nvSpPr>
        <p:spPr>
          <a:xfrm>
            <a:off x="822960" y="4096512"/>
            <a:ext cx="5669280" cy="402336"/>
          </a:xfrm>
          <a:prstGeom prst="rect">
            <a:avLst/>
          </a:prstGeom>
          <a:solidFill>
            <a:srgbClr val="A3C1AD"/>
          </a:solidFill>
          <a:ln/>
        </p:spPr>
      </p:sp>
      <p:sp>
        <p:nvSpPr>
          <p:cNvPr id="19" name="Text 17"/>
          <p:cNvSpPr/>
          <p:nvPr/>
        </p:nvSpPr>
        <p:spPr>
          <a:xfrm>
            <a:off x="932688" y="4096512"/>
            <a:ext cx="1097280" cy="402336"/>
          </a:xfrm>
          <a:prstGeom prst="rect">
            <a:avLst/>
          </a:prstGeom>
          <a:noFill/>
          <a:ln/>
        </p:spPr>
        <p:txBody>
          <a:bodyPr wrap="square" lIns="0" tIns="0" rIns="0" bIns="0" rtlCol="0" anchor="ctr"/>
          <a:lstStyle/>
          <a:p>
            <a:pPr indent="0" marL="0">
              <a:buNone/>
            </a:pPr>
            <a:r>
              <a:rPr lang="en-US" sz="1200" b="1" dirty="0">
                <a:solidFill>
                  <a:srgbClr val="24313F"/>
                </a:solidFill>
                <a:latin typeface="Arial" pitchFamily="34" charset="0"/>
                <a:ea typeface="Arial" pitchFamily="34" charset="-122"/>
                <a:cs typeface="Arial" pitchFamily="34" charset="-120"/>
              </a:rPr>
              <a:t>ELS</a:t>
            </a:r>
            <a:endParaRPr lang="en-US" sz="1200" dirty="0"/>
          </a:p>
        </p:txBody>
      </p:sp>
      <p:sp>
        <p:nvSpPr>
          <p:cNvPr id="20" name="Text 18"/>
          <p:cNvSpPr/>
          <p:nvPr/>
        </p:nvSpPr>
        <p:spPr>
          <a:xfrm>
            <a:off x="6675120" y="4096512"/>
            <a:ext cx="4114800" cy="402336"/>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Extreme long shot</a:t>
            </a:r>
            <a:endParaRPr lang="en-US" sz="1500" dirty="0"/>
          </a:p>
        </p:txBody>
      </p:sp>
      <p:sp>
        <p:nvSpPr>
          <p:cNvPr id="21" name="Text 19"/>
          <p:cNvSpPr/>
          <p:nvPr/>
        </p:nvSpPr>
        <p:spPr>
          <a:xfrm>
            <a:off x="7680960" y="1828800"/>
            <a:ext cx="3657600" cy="365760"/>
          </a:xfrm>
          <a:prstGeom prst="rect">
            <a:avLst/>
          </a:prstGeom>
          <a:noFill/>
          <a:ln/>
        </p:spPr>
        <p:txBody>
          <a:bodyPr wrap="square" lIns="0" tIns="0" rIns="0" bIns="0" rtlCol="0" anchor="ctr"/>
          <a:lstStyle/>
          <a:p>
            <a:pPr indent="0" marL="0">
              <a:buNone/>
            </a:pPr>
            <a:r>
              <a:rPr lang="en-US" sz="1200" b="1" spc="150" kern="0" dirty="0">
                <a:solidFill>
                  <a:srgbClr val="4A6B5D"/>
                </a:solidFill>
                <a:latin typeface="Arial" pitchFamily="34" charset="0"/>
                <a:ea typeface="Arial" pitchFamily="34" charset="-122"/>
                <a:cs typeface="Arial" pitchFamily="34" charset="-120"/>
              </a:rPr>
              <a:t>Angles</a:t>
            </a:r>
            <a:endParaRPr lang="en-US" sz="1200" dirty="0"/>
          </a:p>
        </p:txBody>
      </p:sp>
      <p:sp>
        <p:nvSpPr>
          <p:cNvPr id="22" name="Text 20"/>
          <p:cNvSpPr/>
          <p:nvPr/>
        </p:nvSpPr>
        <p:spPr>
          <a:xfrm>
            <a:off x="7680960" y="2212848"/>
            <a:ext cx="4114800" cy="365760"/>
          </a:xfrm>
          <a:prstGeom prst="rect">
            <a:avLst/>
          </a:prstGeom>
          <a:noFill/>
          <a:ln/>
        </p:spPr>
        <p:txBody>
          <a:bodyPr wrap="square" lIns="0" tIns="0" rIns="0" bIns="0" rtlCol="0" anchor="ctr"/>
          <a:lstStyle/>
          <a:p>
            <a:pPr indent="0" marL="0">
              <a:buNone/>
            </a:pPr>
            <a:r>
              <a:rPr lang="en-US" sz="1600" dirty="0">
                <a:solidFill>
                  <a:srgbClr val="24313F"/>
                </a:solidFill>
                <a:latin typeface="Georgia" pitchFamily="34" charset="0"/>
                <a:ea typeface="Georgia" pitchFamily="34" charset="-122"/>
                <a:cs typeface="Georgia" pitchFamily="34" charset="-120"/>
              </a:rPr>
              <a:t>high  ·  low  ·  eye  ·  canted</a:t>
            </a:r>
            <a:endParaRPr lang="en-US" sz="1600" dirty="0"/>
          </a:p>
        </p:txBody>
      </p:sp>
      <p:sp>
        <p:nvSpPr>
          <p:cNvPr id="23" name="Text 21"/>
          <p:cNvSpPr/>
          <p:nvPr/>
        </p:nvSpPr>
        <p:spPr>
          <a:xfrm>
            <a:off x="7680960" y="3017520"/>
            <a:ext cx="3657600" cy="365760"/>
          </a:xfrm>
          <a:prstGeom prst="rect">
            <a:avLst/>
          </a:prstGeom>
          <a:noFill/>
          <a:ln/>
        </p:spPr>
        <p:txBody>
          <a:bodyPr wrap="square" lIns="0" tIns="0" rIns="0" bIns="0" rtlCol="0" anchor="ctr"/>
          <a:lstStyle/>
          <a:p>
            <a:pPr indent="0" marL="0">
              <a:buNone/>
            </a:pPr>
            <a:r>
              <a:rPr lang="en-US" sz="1200" b="1" spc="150" kern="0" dirty="0">
                <a:solidFill>
                  <a:srgbClr val="4A6B5D"/>
                </a:solidFill>
                <a:latin typeface="Arial" pitchFamily="34" charset="0"/>
                <a:ea typeface="Arial" pitchFamily="34" charset="-122"/>
                <a:cs typeface="Arial" pitchFamily="34" charset="-120"/>
              </a:rPr>
              <a:t>Movement</a:t>
            </a:r>
            <a:endParaRPr lang="en-US" sz="1200" dirty="0"/>
          </a:p>
        </p:txBody>
      </p:sp>
      <p:sp>
        <p:nvSpPr>
          <p:cNvPr id="24" name="Text 22"/>
          <p:cNvSpPr/>
          <p:nvPr/>
        </p:nvSpPr>
        <p:spPr>
          <a:xfrm>
            <a:off x="7680960" y="3401568"/>
            <a:ext cx="4206240" cy="822960"/>
          </a:xfrm>
          <a:prstGeom prst="rect">
            <a:avLst/>
          </a:prstGeom>
          <a:noFill/>
          <a:ln/>
        </p:spPr>
        <p:txBody>
          <a:bodyPr wrap="square" lIns="0" tIns="0" rIns="0" bIns="0" rtlCol="0" anchor="t"/>
          <a:lstStyle/>
          <a:p>
            <a:pPr indent="0" marL="0">
              <a:lnSpc>
                <a:spcPts val="2200"/>
              </a:lnSpc>
              <a:buNone/>
            </a:pPr>
            <a:r>
              <a:rPr lang="en-US" sz="1600" dirty="0">
                <a:solidFill>
                  <a:srgbClr val="24313F"/>
                </a:solidFill>
                <a:latin typeface="Georgia" pitchFamily="34" charset="0"/>
                <a:ea typeface="Georgia" pitchFamily="34" charset="-122"/>
                <a:cs typeface="Georgia" pitchFamily="34" charset="-120"/>
              </a:rPr>
              <a:t>pan  ·  tilt  ·  track  ·  dolly  ·  zoom  ·  handheld</a:t>
            </a:r>
            <a:endParaRPr lang="en-US" sz="1600" dirty="0"/>
          </a:p>
        </p:txBody>
      </p:sp>
      <p:sp>
        <p:nvSpPr>
          <p:cNvPr id="25" name="Shape 23"/>
          <p:cNvSpPr/>
          <p:nvPr/>
        </p:nvSpPr>
        <p:spPr>
          <a:xfrm>
            <a:off x="822960" y="5074920"/>
            <a:ext cx="914400" cy="0"/>
          </a:xfrm>
          <a:prstGeom prst="line">
            <a:avLst/>
          </a:prstGeom>
          <a:noFill/>
          <a:ln w="31750">
            <a:solidFill>
              <a:srgbClr val="8C3A38"/>
            </a:solidFill>
            <a:prstDash val="solid"/>
          </a:ln>
        </p:spPr>
      </p:sp>
      <p:sp>
        <p:nvSpPr>
          <p:cNvPr id="26" name="Text 24"/>
          <p:cNvSpPr/>
          <p:nvPr/>
        </p:nvSpPr>
        <p:spPr>
          <a:xfrm>
            <a:off x="822960" y="5257800"/>
            <a:ext cx="10058400" cy="457200"/>
          </a:xfrm>
          <a:prstGeom prst="rect">
            <a:avLst/>
          </a:prstGeom>
          <a:noFill/>
          <a:ln/>
        </p:spPr>
        <p:txBody>
          <a:bodyPr wrap="square" lIns="0" tIns="0" rIns="0" bIns="0" rtlCol="0" anchor="ctr"/>
          <a:lstStyle/>
          <a:p>
            <a:pPr indent="0" marL="0">
              <a:buNone/>
            </a:pPr>
            <a:r>
              <a:rPr lang="en-US" sz="1700" i="1" dirty="0">
                <a:solidFill>
                  <a:srgbClr val="4A6B5D"/>
                </a:solidFill>
                <a:latin typeface="Georgia" pitchFamily="34" charset="0"/>
                <a:ea typeface="Georgia" pitchFamily="34" charset="-122"/>
                <a:cs typeface="Georgia" pitchFamily="34" charset="-120"/>
              </a:rPr>
              <a:t>Name each as a verb: the camera looks up at, creeps toward, refuses to follow.</a:t>
            </a:r>
            <a:endParaRPr lang="en-US" sz="1700" dirty="0"/>
          </a:p>
        </p:txBody>
      </p:sp>
      <p:sp>
        <p:nvSpPr>
          <p:cNvPr id="27" name="Shape 25"/>
          <p:cNvSpPr/>
          <p:nvPr/>
        </p:nvSpPr>
        <p:spPr>
          <a:xfrm>
            <a:off x="822960" y="6382512"/>
            <a:ext cx="10543032" cy="0"/>
          </a:xfrm>
          <a:prstGeom prst="line">
            <a:avLst/>
          </a:prstGeom>
          <a:noFill/>
          <a:ln w="9525">
            <a:solidFill>
              <a:srgbClr val="D9D4C4"/>
            </a:solidFill>
            <a:prstDash val="solid"/>
          </a:ln>
        </p:spPr>
      </p:sp>
      <p:sp>
        <p:nvSpPr>
          <p:cNvPr id="28" name="Text 26"/>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9" name="Text 27"/>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2011680"/>
            <a:ext cx="10424160" cy="2194560"/>
          </a:xfrm>
          <a:prstGeom prst="rect">
            <a:avLst/>
          </a:prstGeom>
          <a:noFill/>
          <a:ln/>
        </p:spPr>
        <p:txBody>
          <a:bodyPr wrap="square" lIns="0" tIns="0" rIns="0" bIns="0" rtlCol="0" anchor="ctr"/>
          <a:lstStyle/>
          <a:p>
            <a:pPr indent="0" marL="0">
              <a:lnSpc>
                <a:spcPts val="5800"/>
              </a:lnSpc>
              <a:buNone/>
            </a:pPr>
            <a:r>
              <a:rPr lang="en-US" sz="5200" dirty="0">
                <a:solidFill>
                  <a:srgbClr val="24313F"/>
                </a:solidFill>
                <a:latin typeface="Georgia" pitchFamily="34" charset="0"/>
                <a:ea typeface="Georgia" pitchFamily="34" charset="-122"/>
                <a:cs typeface="Georgia" pitchFamily="34" charset="-120"/>
              </a:rPr>
              <a:t>Low angle: he towers.</a:t>
            </a:r>
            <a:endParaRPr lang="en-US" sz="5200" dirty="0"/>
          </a:p>
          <a:p>
            <a:pPr indent="0" marL="0">
              <a:lnSpc>
                <a:spcPts val="5800"/>
              </a:lnSpc>
              <a:buNone/>
            </a:pPr>
            <a:r>
              <a:rPr lang="en-US" sz="5200" dirty="0">
                <a:solidFill>
                  <a:srgbClr val="24313F"/>
                </a:solidFill>
                <a:latin typeface="Georgia" pitchFamily="34" charset="0"/>
                <a:ea typeface="Georgia" pitchFamily="34" charset="-122"/>
                <a:cs typeface="Georgia" pitchFamily="34" charset="-120"/>
              </a:rPr>
              <a:t>I am small.</a:t>
            </a:r>
            <a:endParaRPr lang="en-US" sz="5200" dirty="0"/>
          </a:p>
        </p:txBody>
      </p:sp>
      <p:sp>
        <p:nvSpPr>
          <p:cNvPr id="4" name="Shape 2"/>
          <p:cNvSpPr/>
          <p:nvPr/>
        </p:nvSpPr>
        <p:spPr>
          <a:xfrm>
            <a:off x="822960" y="4572000"/>
            <a:ext cx="914400" cy="0"/>
          </a:xfrm>
          <a:prstGeom prst="line">
            <a:avLst/>
          </a:prstGeom>
          <a:noFill/>
          <a:ln w="31750">
            <a:solidFill>
              <a:srgbClr val="8C3A38"/>
            </a:solidFill>
            <a:prstDash val="solid"/>
          </a:ln>
        </p:spPr>
      </p:sp>
      <p:sp>
        <p:nvSpPr>
          <p:cNvPr id="5" name="Text 3"/>
          <p:cNvSpPr/>
          <p:nvPr/>
        </p:nvSpPr>
        <p:spPr>
          <a:xfrm>
            <a:off x="822960" y="47548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Name the move, then name what it does to you. The effect is the analysis; the label alone earns nothing.</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DELIVERABLE · CS4</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WEDNESDAY DOUBLE, FIRST HALF</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280160"/>
            <a:ext cx="10543032" cy="914400"/>
          </a:xfrm>
          <a:prstGeom prst="rect">
            <a:avLst/>
          </a:prstGeom>
          <a:noFill/>
          <a:ln/>
        </p:spPr>
        <p:txBody>
          <a:bodyPr wrap="square" lIns="0" tIns="0" rIns="0" bIns="0" rtlCol="0" anchor="ctr"/>
          <a:lstStyle/>
          <a:p>
            <a:pPr indent="0" marL="0">
              <a:buNone/>
            </a:pPr>
            <a:r>
              <a:rPr lang="en-US" sz="3800" dirty="0">
                <a:solidFill>
                  <a:srgbClr val="24313F"/>
                </a:solidFill>
                <a:latin typeface="Georgia" pitchFamily="34" charset="0"/>
                <a:ea typeface="Georgia" pitchFamily="34" charset="-122"/>
                <a:cs typeface="Georgia" pitchFamily="34" charset="-120"/>
              </a:rPr>
              <a:t>A1, with the stakes off</a:t>
            </a:r>
            <a:endParaRPr lang="en-US" sz="3800" dirty="0"/>
          </a:p>
        </p:txBody>
      </p:sp>
      <p:sp>
        <p:nvSpPr>
          <p:cNvPr id="6" name="Shape 4"/>
          <p:cNvSpPr/>
          <p:nvPr/>
        </p:nvSpPr>
        <p:spPr>
          <a:xfrm>
            <a:off x="822960" y="2514600"/>
            <a:ext cx="914400" cy="0"/>
          </a:xfrm>
          <a:prstGeom prst="line">
            <a:avLst/>
          </a:prstGeom>
          <a:noFill/>
          <a:ln w="31750">
            <a:solidFill>
              <a:srgbClr val="8C3A38"/>
            </a:solidFill>
            <a:prstDash val="solid"/>
          </a:ln>
        </p:spPr>
      </p:sp>
      <p:sp>
        <p:nvSpPr>
          <p:cNvPr id="7" name="Text 5"/>
          <p:cNvSpPr/>
          <p:nvPr/>
        </p:nvSpPr>
        <p:spPr>
          <a:xfrm>
            <a:off x="822960" y="2743200"/>
            <a:ext cx="9875520" cy="2103120"/>
          </a:xfrm>
          <a:prstGeom prst="rect">
            <a:avLst/>
          </a:prstGeom>
          <a:noFill/>
          <a:ln/>
        </p:spPr>
        <p:txBody>
          <a:bodyPr wrap="square" lIns="0" tIns="0" rIns="0" bIns="0" rtlCol="0" anchor="t"/>
          <a:lstStyle/>
          <a:p>
            <a:pPr indent="0" marL="0">
              <a:lnSpc>
                <a:spcPts val="2800"/>
              </a:lnSpc>
              <a:buNone/>
            </a:pPr>
            <a:r>
              <a:rPr lang="en-US" sz="2000" dirty="0">
                <a:solidFill>
                  <a:srgbClr val="24313F"/>
                </a:solidFill>
                <a:latin typeface="Georgia" pitchFamily="34" charset="0"/>
                <a:ea typeface="Georgia" pitchFamily="34" charset="-122"/>
                <a:cs typeface="Georgia" pitchFamily="34" charset="-120"/>
              </a:rPr>
              <a:t>From an unlabeled clip, one analytical paragraph in exam register: a genre claim, technical evidence in camera verbs, symbolic evidence, and what the audience is being promised. Marked in the official Paper 2 language so the feedback transfers straight to A1.</a:t>
            </a:r>
            <a:endParaRPr lang="en-US" sz="2000" dirty="0"/>
          </a:p>
        </p:txBody>
      </p:sp>
      <p:sp>
        <p:nvSpPr>
          <p:cNvPr id="8" name="Text 6"/>
          <p:cNvSpPr/>
          <p:nvPr/>
        </p:nvSpPr>
        <p:spPr>
          <a:xfrm>
            <a:off x="822960" y="5029200"/>
            <a:ext cx="9601200" cy="457200"/>
          </a:xfrm>
          <a:prstGeom prst="rect">
            <a:avLst/>
          </a:prstGeom>
          <a:noFill/>
          <a:ln/>
        </p:spPr>
        <p:txBody>
          <a:bodyPr wrap="square" lIns="0" tIns="0" rIns="0" bIns="0" rtlCol="0" anchor="ctr"/>
          <a:lstStyle/>
          <a:p>
            <a:pPr indent="0" marL="0">
              <a:buNone/>
            </a:pPr>
            <a:r>
              <a:rPr lang="en-US" sz="1300" i="1" dirty="0">
                <a:solidFill>
                  <a:srgbClr val="7A7F72"/>
                </a:solidFill>
                <a:latin typeface="Arial" pitchFamily="34" charset="0"/>
                <a:ea typeface="Arial" pitchFamily="34" charset="-122"/>
                <a:cs typeface="Arial" pitchFamily="34" charset="-120"/>
              </a:rPr>
              <a:t>Concepts · terminology · analysis of how meaning is created · examples.</a:t>
            </a:r>
            <a:endParaRPr lang="en-US" sz="1300" dirty="0"/>
          </a:p>
        </p:txBody>
      </p:sp>
      <p:sp>
        <p:nvSpPr>
          <p:cNvPr id="9" name="Shape 7"/>
          <p:cNvSpPr/>
          <p:nvPr/>
        </p:nvSpPr>
        <p:spPr>
          <a:xfrm>
            <a:off x="822960" y="6382512"/>
            <a:ext cx="10543032" cy="0"/>
          </a:xfrm>
          <a:prstGeom prst="line">
            <a:avLst/>
          </a:prstGeom>
          <a:noFill/>
          <a:ln w="9525">
            <a:solidFill>
              <a:srgbClr val="D9D4C4"/>
            </a:solidFill>
            <a:prstDash val="solid"/>
          </a:ln>
        </p:spPr>
      </p:sp>
      <p:sp>
        <p:nvSpPr>
          <p:cNvPr id="10" name="Text 8"/>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1" name="Text 9"/>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CAMERAS IN HAND</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THIRTY MINUTES, ONE WEEK OUT</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The three that kill student footage</a:t>
            </a:r>
            <a:endParaRPr lang="en-US" sz="3200" dirty="0"/>
          </a:p>
        </p:txBody>
      </p:sp>
      <p:sp>
        <p:nvSpPr>
          <p:cNvPr id="6" name="Text 4"/>
          <p:cNvSpPr/>
          <p:nvPr/>
        </p:nvSpPr>
        <p:spPr>
          <a:xfrm>
            <a:off x="822960" y="1828800"/>
            <a:ext cx="914400" cy="457200"/>
          </a:xfrm>
          <a:prstGeom prst="rect">
            <a:avLst/>
          </a:prstGeom>
          <a:noFill/>
          <a:ln/>
        </p:spPr>
        <p:txBody>
          <a:bodyPr wrap="square" lIns="0" tIns="0" rIns="0" bIns="0" rtlCol="0" anchor="ctr"/>
          <a:lstStyle/>
          <a:p>
            <a:pPr indent="0" marL="0">
              <a:buNone/>
            </a:pPr>
            <a:r>
              <a:rPr lang="en-US" sz="2800" dirty="0">
                <a:solidFill>
                  <a:srgbClr val="A3C1AD"/>
                </a:solidFill>
                <a:latin typeface="Georgia" pitchFamily="34" charset="0"/>
                <a:ea typeface="Georgia" pitchFamily="34" charset="-122"/>
                <a:cs typeface="Georgia" pitchFamily="34" charset="-120"/>
              </a:rPr>
              <a:t>01</a:t>
            </a:r>
            <a:endParaRPr lang="en-US" sz="2800" dirty="0"/>
          </a:p>
        </p:txBody>
      </p:sp>
      <p:sp>
        <p:nvSpPr>
          <p:cNvPr id="7" name="Text 5"/>
          <p:cNvSpPr/>
          <p:nvPr/>
        </p:nvSpPr>
        <p:spPr>
          <a:xfrm>
            <a:off x="822960" y="2331720"/>
            <a:ext cx="3209544" cy="475488"/>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Audio</a:t>
            </a:r>
            <a:endParaRPr lang="en-US" sz="2200" dirty="0"/>
          </a:p>
        </p:txBody>
      </p:sp>
      <p:sp>
        <p:nvSpPr>
          <p:cNvPr id="8" name="Shape 6"/>
          <p:cNvSpPr/>
          <p:nvPr/>
        </p:nvSpPr>
        <p:spPr>
          <a:xfrm>
            <a:off x="822960" y="2871216"/>
            <a:ext cx="3209544" cy="0"/>
          </a:xfrm>
          <a:prstGeom prst="line">
            <a:avLst/>
          </a:prstGeom>
          <a:noFill/>
          <a:ln w="9525">
            <a:solidFill>
              <a:srgbClr val="D9D4C4"/>
            </a:solidFill>
            <a:prstDash val="solid"/>
          </a:ln>
        </p:spPr>
      </p:sp>
      <p:sp>
        <p:nvSpPr>
          <p:cNvPr id="9" name="Text 7"/>
          <p:cNvSpPr/>
          <p:nvPr/>
        </p:nvSpPr>
        <p:spPr>
          <a:xfrm>
            <a:off x="822960" y="2999232"/>
            <a:ext cx="3209544" cy="201168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Twenty seconds of dialogue recorded by the open door, played back on a speaker. Hear the room. Then the rule: monitor every take, and mic as close as the frame allows.</a:t>
            </a:r>
            <a:endParaRPr lang="en-US" sz="1550" dirty="0"/>
          </a:p>
        </p:txBody>
      </p:sp>
      <p:sp>
        <p:nvSpPr>
          <p:cNvPr id="10" name="Text 8"/>
          <p:cNvSpPr/>
          <p:nvPr/>
        </p:nvSpPr>
        <p:spPr>
          <a:xfrm>
            <a:off x="4489704" y="1828800"/>
            <a:ext cx="914400" cy="457200"/>
          </a:xfrm>
          <a:prstGeom prst="rect">
            <a:avLst/>
          </a:prstGeom>
          <a:noFill/>
          <a:ln/>
        </p:spPr>
        <p:txBody>
          <a:bodyPr wrap="square" lIns="0" tIns="0" rIns="0" bIns="0" rtlCol="0" anchor="ctr"/>
          <a:lstStyle/>
          <a:p>
            <a:pPr indent="0" marL="0">
              <a:buNone/>
            </a:pPr>
            <a:r>
              <a:rPr lang="en-US" sz="2800" dirty="0">
                <a:solidFill>
                  <a:srgbClr val="A3C1AD"/>
                </a:solidFill>
                <a:latin typeface="Georgia" pitchFamily="34" charset="0"/>
                <a:ea typeface="Georgia" pitchFamily="34" charset="-122"/>
                <a:cs typeface="Georgia" pitchFamily="34" charset="-120"/>
              </a:rPr>
              <a:t>02</a:t>
            </a:r>
            <a:endParaRPr lang="en-US" sz="2800" dirty="0"/>
          </a:p>
        </p:txBody>
      </p:sp>
      <p:sp>
        <p:nvSpPr>
          <p:cNvPr id="11" name="Text 9"/>
          <p:cNvSpPr/>
          <p:nvPr/>
        </p:nvSpPr>
        <p:spPr>
          <a:xfrm>
            <a:off x="4489704" y="2331720"/>
            <a:ext cx="3209544" cy="475488"/>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Continuity</a:t>
            </a:r>
            <a:endParaRPr lang="en-US" sz="2200" dirty="0"/>
          </a:p>
        </p:txBody>
      </p:sp>
      <p:sp>
        <p:nvSpPr>
          <p:cNvPr id="12" name="Shape 10"/>
          <p:cNvSpPr/>
          <p:nvPr/>
        </p:nvSpPr>
        <p:spPr>
          <a:xfrm>
            <a:off x="4489704" y="2871216"/>
            <a:ext cx="3209544" cy="0"/>
          </a:xfrm>
          <a:prstGeom prst="line">
            <a:avLst/>
          </a:prstGeom>
          <a:noFill/>
          <a:ln w="9525">
            <a:solidFill>
              <a:srgbClr val="D9D4C4"/>
            </a:solidFill>
            <a:prstDash val="solid"/>
          </a:ln>
        </p:spPr>
      </p:sp>
      <p:sp>
        <p:nvSpPr>
          <p:cNvPr id="13" name="Text 11"/>
          <p:cNvSpPr/>
          <p:nvPr/>
        </p:nvSpPr>
        <p:spPr>
          <a:xfrm>
            <a:off x="4489704" y="2999232"/>
            <a:ext cx="3209544" cy="201168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One action, sitting down with a cup, shot wide then close. Find the cut point where the hands match. Cheaper to shoot twice than to repair in the edit.</a:t>
            </a:r>
            <a:endParaRPr lang="en-US" sz="1550" dirty="0"/>
          </a:p>
        </p:txBody>
      </p:sp>
      <p:sp>
        <p:nvSpPr>
          <p:cNvPr id="14" name="Text 12"/>
          <p:cNvSpPr/>
          <p:nvPr/>
        </p:nvSpPr>
        <p:spPr>
          <a:xfrm>
            <a:off x="8156448" y="1828800"/>
            <a:ext cx="914400" cy="457200"/>
          </a:xfrm>
          <a:prstGeom prst="rect">
            <a:avLst/>
          </a:prstGeom>
          <a:noFill/>
          <a:ln/>
        </p:spPr>
        <p:txBody>
          <a:bodyPr wrap="square" lIns="0" tIns="0" rIns="0" bIns="0" rtlCol="0" anchor="ctr"/>
          <a:lstStyle/>
          <a:p>
            <a:pPr indent="0" marL="0">
              <a:buNone/>
            </a:pPr>
            <a:r>
              <a:rPr lang="en-US" sz="2800" dirty="0">
                <a:solidFill>
                  <a:srgbClr val="A3C1AD"/>
                </a:solidFill>
                <a:latin typeface="Georgia" pitchFamily="34" charset="0"/>
                <a:ea typeface="Georgia" pitchFamily="34" charset="-122"/>
                <a:cs typeface="Georgia" pitchFamily="34" charset="-120"/>
              </a:rPr>
              <a:t>03</a:t>
            </a:r>
            <a:endParaRPr lang="en-US" sz="2800" dirty="0"/>
          </a:p>
        </p:txBody>
      </p:sp>
      <p:sp>
        <p:nvSpPr>
          <p:cNvPr id="15" name="Text 13"/>
          <p:cNvSpPr/>
          <p:nvPr/>
        </p:nvSpPr>
        <p:spPr>
          <a:xfrm>
            <a:off x="8156448" y="2331720"/>
            <a:ext cx="3209544" cy="475488"/>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Focus and exposure</a:t>
            </a:r>
            <a:endParaRPr lang="en-US" sz="2200" dirty="0"/>
          </a:p>
        </p:txBody>
      </p:sp>
      <p:sp>
        <p:nvSpPr>
          <p:cNvPr id="16" name="Shape 14"/>
          <p:cNvSpPr/>
          <p:nvPr/>
        </p:nvSpPr>
        <p:spPr>
          <a:xfrm>
            <a:off x="8156448" y="2871216"/>
            <a:ext cx="3209544" cy="0"/>
          </a:xfrm>
          <a:prstGeom prst="line">
            <a:avLst/>
          </a:prstGeom>
          <a:noFill/>
          <a:ln w="9525">
            <a:solidFill>
              <a:srgbClr val="D9D4C4"/>
            </a:solidFill>
            <a:prstDash val="solid"/>
          </a:ln>
        </p:spPr>
      </p:sp>
      <p:sp>
        <p:nvSpPr>
          <p:cNvPr id="17" name="Text 15"/>
          <p:cNvSpPr/>
          <p:nvPr/>
        </p:nvSpPr>
        <p:spPr>
          <a:xfrm>
            <a:off x="8156448" y="2999232"/>
            <a:ext cx="3209544" cy="201168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A face against the bright window. Auto first, then tap to lock. Watch the face go dark, and fix it here rather than on location.</a:t>
            </a:r>
            <a:endParaRPr lang="en-US" sz="1550" dirty="0"/>
          </a:p>
        </p:txBody>
      </p:sp>
      <p:sp>
        <p:nvSpPr>
          <p:cNvPr id="18" name="Shape 16"/>
          <p:cNvSpPr/>
          <p:nvPr/>
        </p:nvSpPr>
        <p:spPr>
          <a:xfrm>
            <a:off x="822960" y="5230368"/>
            <a:ext cx="914400" cy="0"/>
          </a:xfrm>
          <a:prstGeom prst="line">
            <a:avLst/>
          </a:prstGeom>
          <a:noFill/>
          <a:ln w="31750">
            <a:solidFill>
              <a:srgbClr val="8C3A38"/>
            </a:solidFill>
            <a:prstDash val="solid"/>
          </a:ln>
        </p:spPr>
      </p:sp>
      <p:sp>
        <p:nvSpPr>
          <p:cNvPr id="19" name="Text 17"/>
          <p:cNvSpPr/>
          <p:nvPr/>
        </p:nvSpPr>
        <p:spPr>
          <a:xfrm>
            <a:off x="822960" y="5413248"/>
            <a:ext cx="10241280" cy="548640"/>
          </a:xfrm>
          <a:prstGeom prst="rect">
            <a:avLst/>
          </a:prstGeom>
          <a:noFill/>
          <a:ln/>
        </p:spPr>
        <p:txBody>
          <a:bodyPr wrap="square" lIns="0" tIns="0" rIns="0" bIns="0" rtlCol="0" anchor="ctr"/>
          <a:lstStyle/>
          <a:p>
            <a:pPr indent="0" marL="0">
              <a:buNone/>
            </a:pPr>
            <a:r>
              <a:rPr lang="en-US" sz="1250" i="1" dirty="0">
                <a:solidFill>
                  <a:srgbClr val="7A7F72"/>
                </a:solidFill>
                <a:latin typeface="Arial" pitchFamily="34" charset="0"/>
                <a:ea typeface="Arial" pitchFamily="34" charset="-122"/>
                <a:cs typeface="Arial" pitchFamily="34" charset="-120"/>
              </a:rPr>
              <a:t>Shot on the kit you will actually use over the break: a school camera signed out, or your own. Log the choice before you leave, and the one mistake your group will police.</a:t>
            </a:r>
            <a:endParaRPr lang="en-US" sz="1250" dirty="0"/>
          </a:p>
        </p:txBody>
      </p:sp>
      <p:sp>
        <p:nvSpPr>
          <p:cNvPr id="20" name="Shape 18"/>
          <p:cNvSpPr/>
          <p:nvPr/>
        </p:nvSpPr>
        <p:spPr>
          <a:xfrm>
            <a:off x="822960" y="6382512"/>
            <a:ext cx="10543032" cy="0"/>
          </a:xfrm>
          <a:prstGeom prst="line">
            <a:avLst/>
          </a:prstGeom>
          <a:noFill/>
          <a:ln w="9525">
            <a:solidFill>
              <a:srgbClr val="D9D4C4"/>
            </a:solidFill>
            <a:prstDash val="solid"/>
          </a:ln>
        </p:spPr>
      </p:sp>
      <p:sp>
        <p:nvSpPr>
          <p:cNvPr id="21" name="Text 1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2" name="Text 2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651760"/>
            <a:ext cx="10241280" cy="1920240"/>
          </a:xfrm>
          <a:prstGeom prst="rect">
            <a:avLst/>
          </a:prstGeom>
          <a:noFill/>
          <a:ln/>
        </p:spPr>
        <p:txBody>
          <a:bodyPr wrap="square" lIns="0" tIns="0" rIns="0" bIns="0" rtlCol="0" anchor="t"/>
          <a:lstStyle/>
          <a:p>
            <a:pPr indent="0" marL="0">
              <a:lnSpc>
                <a:spcPts val="5400"/>
              </a:lnSpc>
              <a:buNone/>
            </a:pPr>
            <a:r>
              <a:rPr lang="en-US" sz="5200" dirty="0">
                <a:solidFill>
                  <a:srgbClr val="FAF8F1"/>
                </a:solidFill>
                <a:latin typeface="Georgia" pitchFamily="34" charset="0"/>
                <a:ea typeface="Georgia" pitchFamily="34" charset="-122"/>
                <a:cs typeface="Georgia" pitchFamily="34" charset="-120"/>
              </a:rPr>
              <a:t>Narrative and</a:t>
            </a:r>
            <a:endParaRPr lang="en-US" sz="5200" dirty="0"/>
          </a:p>
          <a:p>
            <a:pPr indent="0" marL="0">
              <a:lnSpc>
                <a:spcPts val="5400"/>
              </a:lnSpc>
              <a:buNone/>
            </a:pPr>
            <a:r>
              <a:rPr lang="en-US" sz="5200" dirty="0">
                <a:solidFill>
                  <a:srgbClr val="FAF8F1"/>
                </a:solidFill>
                <a:latin typeface="Georgia" pitchFamily="34" charset="0"/>
                <a:ea typeface="Georgia" pitchFamily="34" charset="-122"/>
                <a:cs typeface="Georgia" pitchFamily="34" charset="-120"/>
              </a:rPr>
              <a:t>the Planning Lock</a:t>
            </a:r>
            <a:endParaRPr lang="en-US" sz="5200" dirty="0"/>
          </a:p>
        </p:txBody>
      </p:sp>
      <p:sp>
        <p:nvSpPr>
          <p:cNvPr id="5" name="Text 3"/>
          <p:cNvSpPr/>
          <p:nvPr/>
        </p:nvSpPr>
        <p:spPr>
          <a:xfrm>
            <a:off x="822960" y="4846320"/>
            <a:ext cx="9875520" cy="457200"/>
          </a:xfrm>
          <a:prstGeom prst="rect">
            <a:avLst/>
          </a:prstGeom>
          <a:noFill/>
          <a:ln/>
        </p:spPr>
        <p:txBody>
          <a:bodyPr wrap="square" lIns="0" tIns="0" rIns="0" bIns="0" rtlCol="0" anchor="ctr"/>
          <a:lstStyle/>
          <a:p>
            <a:pPr indent="0" marL="0">
              <a:buNone/>
            </a:pPr>
            <a:r>
              <a:rPr lang="en-US" sz="2200" i="1" dirty="0">
                <a:solidFill>
                  <a:srgbClr val="E8EFE7"/>
                </a:solidFill>
                <a:latin typeface="Georgia" pitchFamily="34" charset="0"/>
                <a:ea typeface="Georgia" pitchFamily="34" charset="-122"/>
                <a:cs typeface="Georgia" pitchFamily="34" charset="-120"/>
              </a:rPr>
              <a:t>Lesson 05. Todorov, Propp, and a plan someone else could shoot.</a:t>
            </a:r>
            <a:endParaRPr lang="en-US" sz="22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06</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2026-07-29T01:31:24Z</dcterms:created>
  <dcterms:modified xsi:type="dcterms:W3CDTF">2026-07-29T01:31:24Z</dcterms:modified>
</cp:coreProperties>
</file>