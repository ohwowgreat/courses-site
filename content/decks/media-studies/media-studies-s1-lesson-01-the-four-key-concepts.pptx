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one is the founding wager: 'I'm not impacted by media.' Record the vote, promise to re-run it in June. Warm, ordinary, unhurried.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media text is a made thing: someone chose the frame, the crop, the words. Say it flat on day one; the whole semester proves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opener's promised two-year map. Keep it under two minutes: the point is that the wager and the media-use log started something with a known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plates are Gardner's own, printed pages apart in his Sketch Book. The staging is not an accusation from historians; it is in the photographer's own captions. Content note: a dead soldier, photographed respectfully; name it plainly and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D2's teach: one shared text from the opening menu, read four times. The Dior Sauvage print ad (library, Print &amp; Advertising) carries all four lenses in one object: codes, a man being sold as wildness, a luxury conglomerate, an implied reader. Name the four concepts aloud before defining them; board anchors go up now and stay up all semester.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Library of Congress holds the whole series; both frames are public domain FSA work. Tell the choosing as a story: the discard is invisible and decisive.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proofs, now with their mechanism names. The live turn follows: one staged classroom event photographed once, three pairs re-crop and re-caption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women watch soldiers leave; the printed title names them and steers the emotion. The words carry meaning the image alone cannot fix. This returns in L02 as Barthes's anchorage.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lexicon promise is on the objectives: at least five entries with EN and ZH labels by Friday, and both languages are legitimate in the room. The 24 bilingual concept cards run Sort Wars on Wednesday.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CS1 announced day one to satisfy the 72-hour rule. Marked for discipline, not polish: zero interpretive claims is the single criterion. The frames are the ESL scaffold; using them costs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503920" y="822960"/>
            <a:ext cx="2926080" cy="4937760"/>
          </a:xfrm>
          <a:prstGeom prst="rect">
            <a:avLst/>
          </a:prstGeom>
          <a:noFill/>
          <a:ln/>
        </p:spPr>
        <p:txBody>
          <a:bodyPr wrap="square" lIns="0" tIns="0" rIns="0" bIns="0" rtlCol="0" anchor="ctr"/>
          <a:lstStyle/>
          <a:p>
            <a:pPr algn="ctr" indent="0" marL="0">
              <a:buNone/>
            </a:pPr>
            <a:r>
              <a:rPr lang="en-US" sz="32000" dirty="0">
                <a:solidFill>
                  <a:srgbClr val="A3C1AD"/>
                </a:solidFill>
                <a:latin typeface="Georgia" pitchFamily="34" charset="0"/>
                <a:ea typeface="Georgia" pitchFamily="34" charset="-122"/>
                <a:cs typeface="Georgia" pitchFamily="34" charset="-120"/>
              </a:rPr>
              <a:t>I</a:t>
            </a:r>
            <a:endParaRPr lang="en-US" sz="32000" dirty="0"/>
          </a:p>
        </p:txBody>
      </p:sp>
      <p:sp>
        <p:nvSpPr>
          <p:cNvPr id="3" name="Text 1"/>
          <p:cNvSpPr/>
          <p:nvPr/>
        </p:nvSpPr>
        <p:spPr>
          <a:xfrm>
            <a:off x="822960" y="1234440"/>
            <a:ext cx="82296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MEDIA STUDIES 9607 · UNIT I</a:t>
            </a:r>
            <a:endParaRPr lang="en-US" sz="1100" dirty="0"/>
          </a:p>
        </p:txBody>
      </p:sp>
      <p:sp>
        <p:nvSpPr>
          <p:cNvPr id="4" name="Text 2"/>
          <p:cNvSpPr/>
          <p:nvPr/>
        </p:nvSpPr>
        <p:spPr>
          <a:xfrm>
            <a:off x="822960" y="1737360"/>
            <a:ext cx="8229600" cy="2377440"/>
          </a:xfrm>
          <a:prstGeom prst="rect">
            <a:avLst/>
          </a:prstGeom>
          <a:noFill/>
          <a:ln/>
        </p:spPr>
        <p:txBody>
          <a:bodyPr wrap="square" lIns="0" tIns="0" rIns="0" bIns="0" rtlCol="0" anchor="t"/>
          <a:lstStyle/>
          <a:p>
            <a:pPr indent="0" marL="0">
              <a:lnSpc>
                <a:spcPts val="6800"/>
              </a:lnSpc>
              <a:buNone/>
            </a:pPr>
            <a:r>
              <a:rPr lang="en-US" sz="7000" dirty="0">
                <a:solidFill>
                  <a:srgbClr val="24313F"/>
                </a:solidFill>
                <a:latin typeface="Georgia" pitchFamily="34" charset="0"/>
                <a:ea typeface="Georgia" pitchFamily="34" charset="-122"/>
                <a:cs typeface="Georgia" pitchFamily="34" charset="-120"/>
              </a:rPr>
              <a:t>The Four</a:t>
            </a:r>
            <a:endParaRPr lang="en-US" sz="7000" dirty="0"/>
          </a:p>
          <a:p>
            <a:pPr indent="0" marL="0">
              <a:lnSpc>
                <a:spcPts val="6800"/>
              </a:lnSpc>
              <a:buNone/>
            </a:pPr>
            <a:r>
              <a:rPr lang="en-US" sz="7000" dirty="0">
                <a:solidFill>
                  <a:srgbClr val="24313F"/>
                </a:solidFill>
                <a:latin typeface="Georgia" pitchFamily="34" charset="0"/>
                <a:ea typeface="Georgia" pitchFamily="34" charset="-122"/>
                <a:cs typeface="Georgia" pitchFamily="34" charset="-120"/>
              </a:rPr>
              <a:t>Key Concepts</a:t>
            </a:r>
            <a:endParaRPr lang="en-US" sz="7000" dirty="0"/>
          </a:p>
        </p:txBody>
      </p:sp>
      <p:sp>
        <p:nvSpPr>
          <p:cNvPr id="5" name="Shape 3"/>
          <p:cNvSpPr/>
          <p:nvPr/>
        </p:nvSpPr>
        <p:spPr>
          <a:xfrm>
            <a:off x="822960" y="4343400"/>
            <a:ext cx="914400" cy="0"/>
          </a:xfrm>
          <a:prstGeom prst="line">
            <a:avLst/>
          </a:prstGeom>
          <a:noFill/>
          <a:ln w="31750">
            <a:solidFill>
              <a:srgbClr val="8C3A38"/>
            </a:solidFill>
            <a:prstDash val="solid"/>
          </a:ln>
        </p:spPr>
      </p:sp>
      <p:sp>
        <p:nvSpPr>
          <p:cNvPr id="6" name="Text 4"/>
          <p:cNvSpPr/>
          <p:nvPr/>
        </p:nvSpPr>
        <p:spPr>
          <a:xfrm>
            <a:off x="822960" y="4526280"/>
            <a:ext cx="7772400" cy="457200"/>
          </a:xfrm>
          <a:prstGeom prst="rect">
            <a:avLst/>
          </a:prstGeom>
          <a:noFill/>
          <a:ln/>
        </p:spPr>
        <p:txBody>
          <a:bodyPr wrap="square" lIns="0" tIns="0" rIns="0" bIns="0" rtlCol="0" anchor="ctr"/>
          <a:lstStyle/>
          <a:p>
            <a:pPr indent="0" marL="0">
              <a:buNone/>
            </a:pPr>
            <a:r>
              <a:rPr lang="en-US" sz="2200" i="1" dirty="0">
                <a:solidFill>
                  <a:srgbClr val="7A7F72"/>
                </a:solidFill>
                <a:latin typeface="Georgia" pitchFamily="34" charset="0"/>
                <a:ea typeface="Georgia" pitchFamily="34" charset="-122"/>
                <a:cs typeface="Georgia" pitchFamily="34" charset="-120"/>
              </a:rPr>
              <a:t>Introduction to Media · Lesson 01 of 19</a:t>
            </a:r>
            <a:endParaRPr lang="en-US" sz="2200" dirty="0"/>
          </a:p>
        </p:txBody>
      </p:sp>
      <p:sp>
        <p:nvSpPr>
          <p:cNvPr id="7" name="Text 5"/>
          <p:cNvSpPr/>
          <p:nvPr/>
        </p:nvSpPr>
        <p:spPr>
          <a:xfrm>
            <a:off x="822960" y="5029200"/>
            <a:ext cx="8229600" cy="365760"/>
          </a:xfrm>
          <a:prstGeom prst="rect">
            <a:avLst/>
          </a:prstGeom>
          <a:noFill/>
          <a:ln/>
        </p:spPr>
        <p:txBody>
          <a:bodyPr wrap="square" lIns="0" tIns="0" rIns="0" bIns="0" rtlCol="0" anchor="ctr"/>
          <a:lstStyle/>
          <a:p>
            <a:pPr indent="0" marL="0">
              <a:buNone/>
            </a:pPr>
            <a:r>
              <a:rPr lang="en-US" sz="1300" spc="100" kern="0" dirty="0">
                <a:solidFill>
                  <a:srgbClr val="7A7F72"/>
                </a:solidFill>
                <a:latin typeface="Arial" pitchFamily="34" charset="0"/>
                <a:ea typeface="Arial" pitchFamily="34" charset="-122"/>
                <a:cs typeface="Arial" pitchFamily="34" charset="-120"/>
              </a:rPr>
              <a:t>Three days  ·  Tuesday 1 to Friday 4 September</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4A6B5D"/>
        </a:solidFill>
      </p:bgPr>
    </p:bg>
    <p:spTree>
      <p:nvGrpSpPr>
        <p:cNvPr id="1" name=""/>
        <p:cNvGrpSpPr/>
        <p:nvPr/>
      </p:nvGrpSpPr>
      <p:grpSpPr>
        <a:xfrm>
          <a:off x="0" y="0"/>
          <a:ext cx="0" cy="0"/>
          <a:chOff x="0" y="0"/>
          <a:chExt cx="0" cy="0"/>
        </a:xfrm>
      </p:grpSpPr>
      <p:sp>
        <p:nvSpPr>
          <p:cNvPr id="2" name="Text 0"/>
          <p:cNvSpPr/>
          <p:nvPr/>
        </p:nvSpPr>
        <p:spPr>
          <a:xfrm>
            <a:off x="8321040" y="640080"/>
            <a:ext cx="3291840" cy="5577840"/>
          </a:xfrm>
          <a:prstGeom prst="rect">
            <a:avLst/>
          </a:prstGeom>
          <a:noFill/>
          <a:ln/>
        </p:spPr>
        <p:txBody>
          <a:bodyPr wrap="square" lIns="0" tIns="0" rIns="0" bIns="0" rtlCol="0" anchor="ctr"/>
          <a:lstStyle/>
          <a:p>
            <a:pPr algn="ctr" indent="0" marL="0">
              <a:buNone/>
            </a:pPr>
            <a:r>
              <a:rPr lang="en-US" sz="38000" dirty="0">
                <a:solidFill>
                  <a:srgbClr val="5C7A6B"/>
                </a:solidFill>
                <a:latin typeface="Georgia" pitchFamily="34" charset="0"/>
                <a:ea typeface="Georgia" pitchFamily="34" charset="-122"/>
                <a:cs typeface="Georgia" pitchFamily="34" charset="-120"/>
              </a:rPr>
              <a:t>I</a:t>
            </a:r>
            <a:endParaRPr lang="en-US" sz="38000" dirty="0"/>
          </a:p>
        </p:txBody>
      </p:sp>
      <p:sp>
        <p:nvSpPr>
          <p:cNvPr id="3" name="Text 1"/>
          <p:cNvSpPr/>
          <p:nvPr/>
        </p:nvSpPr>
        <p:spPr>
          <a:xfrm>
            <a:off x="822960" y="2286000"/>
            <a:ext cx="8229600" cy="274320"/>
          </a:xfrm>
          <a:prstGeom prst="rect">
            <a:avLst/>
          </a:prstGeom>
          <a:noFill/>
          <a:ln/>
        </p:spPr>
        <p:txBody>
          <a:bodyPr wrap="square" lIns="0" tIns="0" rIns="0" bIns="0" rtlCol="0" anchor="ctr"/>
          <a:lstStyle/>
          <a:p>
            <a:pPr algn="l" indent="0" marL="0">
              <a:buNone/>
            </a:pPr>
            <a:r>
              <a:rPr lang="en-US" sz="1100" b="1" spc="250" kern="0" dirty="0">
                <a:solidFill>
                  <a:srgbClr val="FAF8F1"/>
                </a:solidFill>
                <a:latin typeface="Arial" pitchFamily="34" charset="0"/>
                <a:ea typeface="Arial" pitchFamily="34" charset="-122"/>
                <a:cs typeface="Arial" pitchFamily="34" charset="-120"/>
              </a:rPr>
              <a:t>THE FOUNDING CLAIM</a:t>
            </a:r>
            <a:endParaRPr lang="en-US" sz="1100" dirty="0"/>
          </a:p>
        </p:txBody>
      </p:sp>
      <p:sp>
        <p:nvSpPr>
          <p:cNvPr id="4" name="Shape 2"/>
          <p:cNvSpPr/>
          <p:nvPr/>
        </p:nvSpPr>
        <p:spPr>
          <a:xfrm>
            <a:off x="822960" y="2651760"/>
            <a:ext cx="4206240" cy="0"/>
          </a:xfrm>
          <a:prstGeom prst="line">
            <a:avLst/>
          </a:prstGeom>
          <a:noFill/>
          <a:ln w="9525">
            <a:solidFill>
              <a:srgbClr val="8AA394"/>
            </a:solidFill>
            <a:prstDash val="solid"/>
          </a:ln>
        </p:spPr>
      </p:sp>
      <p:sp>
        <p:nvSpPr>
          <p:cNvPr id="5" name="Text 3"/>
          <p:cNvSpPr/>
          <p:nvPr/>
        </p:nvSpPr>
        <p:spPr>
          <a:xfrm>
            <a:off x="822960" y="2788920"/>
            <a:ext cx="7680960" cy="2194560"/>
          </a:xfrm>
          <a:prstGeom prst="rect">
            <a:avLst/>
          </a:prstGeom>
          <a:noFill/>
          <a:ln/>
        </p:spPr>
        <p:txBody>
          <a:bodyPr wrap="square" lIns="0" tIns="0" rIns="0" bIns="0" rtlCol="0" anchor="t"/>
          <a:lstStyle/>
          <a:p>
            <a:pPr indent="0" marL="0">
              <a:lnSpc>
                <a:spcPts val="6200"/>
              </a:lnSpc>
              <a:buNone/>
            </a:pPr>
            <a:r>
              <a:rPr lang="en-US" sz="6200" dirty="0">
                <a:solidFill>
                  <a:srgbClr val="FAF8F1"/>
                </a:solidFill>
                <a:latin typeface="Georgia" pitchFamily="34" charset="0"/>
                <a:ea typeface="Georgia" pitchFamily="34" charset="-122"/>
                <a:cs typeface="Georgia" pitchFamily="34" charset="-120"/>
              </a:rPr>
              <a:t>A version,</a:t>
            </a:r>
            <a:endParaRPr lang="en-US" sz="6200" dirty="0"/>
          </a:p>
          <a:p>
            <a:pPr indent="0" marL="0">
              <a:lnSpc>
                <a:spcPts val="6200"/>
              </a:lnSpc>
              <a:buNone/>
            </a:pPr>
            <a:r>
              <a:rPr lang="en-US" sz="6200" dirty="0">
                <a:solidFill>
                  <a:srgbClr val="FAF8F1"/>
                </a:solidFill>
                <a:latin typeface="Georgia" pitchFamily="34" charset="0"/>
                <a:ea typeface="Georgia" pitchFamily="34" charset="-122"/>
                <a:cs typeface="Georgia" pitchFamily="34" charset="-120"/>
              </a:rPr>
              <a:t>not a window.</a:t>
            </a:r>
            <a:endParaRPr lang="en-US" sz="6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TWO-YEAR MAP</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WHERE THIS COURSE GOES, IN ONE SLIDE</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32688"/>
            <a:ext cx="10543032" cy="594360"/>
          </a:xfrm>
          <a:prstGeom prst="rect">
            <a:avLst/>
          </a:prstGeom>
          <a:noFill/>
          <a:ln/>
        </p:spPr>
        <p:txBody>
          <a:bodyPr wrap="square" lIns="0" tIns="0" rIns="0" bIns="0" rtlCol="0" anchor="ctr"/>
          <a:lstStyle/>
          <a:p>
            <a:pPr indent="0" marL="0">
              <a:buNone/>
            </a:pPr>
            <a:r>
              <a:rPr lang="en-US" sz="3000" dirty="0">
                <a:solidFill>
                  <a:srgbClr val="24313F"/>
                </a:solidFill>
                <a:latin typeface="Georgia" pitchFamily="34" charset="0"/>
                <a:ea typeface="Georgia" pitchFamily="34" charset="-122"/>
                <a:cs typeface="Georgia" pitchFamily="34" charset="-120"/>
              </a:rPr>
              <a:t>Four semesters, two exams, two products</a:t>
            </a:r>
            <a:endParaRPr lang="en-US" sz="3000" dirty="0"/>
          </a:p>
        </p:txBody>
      </p:sp>
      <p:sp>
        <p:nvSpPr>
          <p:cNvPr id="6" name="Shape 4"/>
          <p:cNvSpPr/>
          <p:nvPr/>
        </p:nvSpPr>
        <p:spPr>
          <a:xfrm>
            <a:off x="822960" y="1828800"/>
            <a:ext cx="2430018" cy="566928"/>
          </a:xfrm>
          <a:prstGeom prst="rect">
            <a:avLst/>
          </a:prstGeom>
          <a:solidFill>
            <a:srgbClr val="A3C1AD"/>
          </a:solidFill>
          <a:ln/>
        </p:spPr>
      </p:sp>
      <p:sp>
        <p:nvSpPr>
          <p:cNvPr id="7" name="Text 5"/>
          <p:cNvSpPr/>
          <p:nvPr/>
        </p:nvSpPr>
        <p:spPr>
          <a:xfrm>
            <a:off x="822960" y="1828800"/>
            <a:ext cx="2430018" cy="566928"/>
          </a:xfrm>
          <a:prstGeom prst="rect">
            <a:avLst/>
          </a:prstGeom>
          <a:noFill/>
          <a:ln/>
        </p:spPr>
        <p:txBody>
          <a:bodyPr wrap="square" lIns="0" tIns="0" rIns="0" bIns="0" rtlCol="0" anchor="ctr"/>
          <a:lstStyle/>
          <a:p>
            <a:pPr algn="ctr" indent="0" marL="0">
              <a:buNone/>
            </a:pPr>
            <a:r>
              <a:rPr lang="en-US" sz="1300" b="1" spc="50" kern="0" dirty="0">
                <a:solidFill>
                  <a:srgbClr val="24313F"/>
                </a:solidFill>
                <a:latin typeface="Arial" pitchFamily="34" charset="0"/>
                <a:ea typeface="Arial" pitchFamily="34" charset="-122"/>
                <a:cs typeface="Arial" pitchFamily="34" charset="-120"/>
              </a:rPr>
              <a:t>S1 · now</a:t>
            </a:r>
            <a:endParaRPr lang="en-US" sz="1300" dirty="0"/>
          </a:p>
        </p:txBody>
      </p:sp>
      <p:sp>
        <p:nvSpPr>
          <p:cNvPr id="8" name="Text 6"/>
          <p:cNvSpPr/>
          <p:nvPr/>
        </p:nvSpPr>
        <p:spPr>
          <a:xfrm>
            <a:off x="822960" y="2542032"/>
            <a:ext cx="2430018" cy="2286000"/>
          </a:xfrm>
          <a:prstGeom prst="rect">
            <a:avLst/>
          </a:prstGeom>
          <a:noFill/>
          <a:ln/>
        </p:spPr>
        <p:txBody>
          <a:bodyPr wrap="square" lIns="0" tIns="0" rIns="0" bIns="0" rtlCol="0" anchor="t"/>
          <a:lstStyle/>
          <a:p>
            <a:pPr indent="0" marL="0">
              <a:lnSpc>
                <a:spcPts val="1900"/>
              </a:lnSpc>
              <a:buNone/>
            </a:pPr>
            <a:r>
              <a:rPr lang="en-US" sz="1400" dirty="0">
                <a:solidFill>
                  <a:srgbClr val="24313F"/>
                </a:solidFill>
                <a:latin typeface="Georgia" pitchFamily="34" charset="0"/>
                <a:ea typeface="Georgia" pitchFamily="34" charset="-122"/>
                <a:cs typeface="Georgia" pitchFamily="34" charset="-120"/>
              </a:rPr>
              <a:t>Media language, the four technical elements, and your Component 1 product built to complete.</a:t>
            </a:r>
            <a:endParaRPr lang="en-US" sz="1400" dirty="0"/>
          </a:p>
        </p:txBody>
      </p:sp>
      <p:sp>
        <p:nvSpPr>
          <p:cNvPr id="9" name="Shape 7"/>
          <p:cNvSpPr/>
          <p:nvPr/>
        </p:nvSpPr>
        <p:spPr>
          <a:xfrm>
            <a:off x="3527298" y="1828800"/>
            <a:ext cx="2430018" cy="566928"/>
          </a:xfrm>
          <a:prstGeom prst="rect">
            <a:avLst/>
          </a:prstGeom>
          <a:solidFill>
            <a:srgbClr val="A3C1AD"/>
          </a:solidFill>
          <a:ln/>
        </p:spPr>
      </p:sp>
      <p:sp>
        <p:nvSpPr>
          <p:cNvPr id="10" name="Text 8"/>
          <p:cNvSpPr/>
          <p:nvPr/>
        </p:nvSpPr>
        <p:spPr>
          <a:xfrm>
            <a:off x="3527298" y="1828800"/>
            <a:ext cx="2430018" cy="566928"/>
          </a:xfrm>
          <a:prstGeom prst="rect">
            <a:avLst/>
          </a:prstGeom>
          <a:noFill/>
          <a:ln/>
        </p:spPr>
        <p:txBody>
          <a:bodyPr wrap="square" lIns="0" tIns="0" rIns="0" bIns="0" rtlCol="0" anchor="ctr"/>
          <a:lstStyle/>
          <a:p>
            <a:pPr algn="ctr" indent="0" marL="0">
              <a:buNone/>
            </a:pPr>
            <a:r>
              <a:rPr lang="en-US" sz="1300" b="1" spc="50" kern="0" dirty="0">
                <a:solidFill>
                  <a:srgbClr val="24313F"/>
                </a:solidFill>
                <a:latin typeface="Arial" pitchFamily="34" charset="0"/>
                <a:ea typeface="Arial" pitchFamily="34" charset="-122"/>
                <a:cs typeface="Arial" pitchFamily="34" charset="-120"/>
              </a:rPr>
              <a:t>S2 · spring</a:t>
            </a:r>
            <a:endParaRPr lang="en-US" sz="1300" dirty="0"/>
          </a:p>
        </p:txBody>
      </p:sp>
      <p:sp>
        <p:nvSpPr>
          <p:cNvPr id="11" name="Text 9"/>
          <p:cNvSpPr/>
          <p:nvPr/>
        </p:nvSpPr>
        <p:spPr>
          <a:xfrm>
            <a:off x="3527298" y="2542032"/>
            <a:ext cx="2430018" cy="2286000"/>
          </a:xfrm>
          <a:prstGeom prst="rect">
            <a:avLst/>
          </a:prstGeom>
          <a:noFill/>
          <a:ln/>
        </p:spPr>
        <p:txBody>
          <a:bodyPr wrap="square" lIns="0" tIns="0" rIns="0" bIns="0" rtlCol="0" anchor="t"/>
          <a:lstStyle/>
          <a:p>
            <a:pPr indent="0" marL="0">
              <a:lnSpc>
                <a:spcPts val="1900"/>
              </a:lnSpc>
              <a:buNone/>
            </a:pPr>
            <a:r>
              <a:rPr lang="en-US" sz="1400" dirty="0">
                <a:solidFill>
                  <a:srgbClr val="24313F"/>
                </a:solidFill>
                <a:latin typeface="Georgia" pitchFamily="34" charset="0"/>
                <a:ea typeface="Georgia" pitchFamily="34" charset="-122"/>
                <a:cs typeface="Georgia" pitchFamily="34" charset="-120"/>
              </a:rPr>
              <a:t>C1 goes to Cambridge. The film-industry case study. Paper 2 sits in June: AS done.</a:t>
            </a:r>
            <a:endParaRPr lang="en-US" sz="1400" dirty="0"/>
          </a:p>
        </p:txBody>
      </p:sp>
      <p:sp>
        <p:nvSpPr>
          <p:cNvPr id="12" name="Shape 10"/>
          <p:cNvSpPr/>
          <p:nvPr/>
        </p:nvSpPr>
        <p:spPr>
          <a:xfrm>
            <a:off x="6231636" y="1828800"/>
            <a:ext cx="2430018" cy="566928"/>
          </a:xfrm>
          <a:prstGeom prst="rect">
            <a:avLst/>
          </a:prstGeom>
          <a:solidFill>
            <a:srgbClr val="4A6B5D"/>
          </a:solidFill>
          <a:ln/>
        </p:spPr>
      </p:sp>
      <p:sp>
        <p:nvSpPr>
          <p:cNvPr id="13" name="Text 11"/>
          <p:cNvSpPr/>
          <p:nvPr/>
        </p:nvSpPr>
        <p:spPr>
          <a:xfrm>
            <a:off x="6231636" y="1828800"/>
            <a:ext cx="2430018" cy="566928"/>
          </a:xfrm>
          <a:prstGeom prst="rect">
            <a:avLst/>
          </a:prstGeom>
          <a:noFill/>
          <a:ln/>
        </p:spPr>
        <p:txBody>
          <a:bodyPr wrap="square" lIns="0" tIns="0" rIns="0" bIns="0" rtlCol="0" anchor="ctr"/>
          <a:lstStyle/>
          <a:p>
            <a:pPr algn="ctr" indent="0" marL="0">
              <a:buNone/>
            </a:pPr>
            <a:r>
              <a:rPr lang="en-US" sz="1300" b="1" spc="50" kern="0" dirty="0">
                <a:solidFill>
                  <a:srgbClr val="FAF8F1"/>
                </a:solidFill>
                <a:latin typeface="Arial" pitchFamily="34" charset="0"/>
                <a:ea typeface="Arial" pitchFamily="34" charset="-122"/>
                <a:cs typeface="Arial" pitchFamily="34" charset="-120"/>
              </a:rPr>
              <a:t>S3 · autumn</a:t>
            </a:r>
            <a:endParaRPr lang="en-US" sz="1300" dirty="0"/>
          </a:p>
        </p:txBody>
      </p:sp>
      <p:sp>
        <p:nvSpPr>
          <p:cNvPr id="14" name="Text 12"/>
          <p:cNvSpPr/>
          <p:nvPr/>
        </p:nvSpPr>
        <p:spPr>
          <a:xfrm>
            <a:off x="6231636" y="2542032"/>
            <a:ext cx="2430018" cy="2286000"/>
          </a:xfrm>
          <a:prstGeom prst="rect">
            <a:avLst/>
          </a:prstGeom>
          <a:noFill/>
          <a:ln/>
        </p:spPr>
        <p:txBody>
          <a:bodyPr wrap="square" lIns="0" tIns="0" rIns="0" bIns="0" rtlCol="0" anchor="t"/>
          <a:lstStyle/>
          <a:p>
            <a:pPr indent="0" marL="0">
              <a:lnSpc>
                <a:spcPts val="1900"/>
              </a:lnSpc>
              <a:buNone/>
            </a:pPr>
            <a:r>
              <a:rPr lang="en-US" sz="1400" dirty="0">
                <a:solidFill>
                  <a:srgbClr val="24313F"/>
                </a:solidFill>
                <a:latin typeface="Georgia" pitchFamily="34" charset="0"/>
                <a:ea typeface="Georgia" pitchFamily="34" charset="-122"/>
                <a:cs typeface="Georgia" pitchFamily="34" charset="-120"/>
              </a:rPr>
              <a:t>A2 year: postmodern media, power topics, and the Component 3 campaign launched.</a:t>
            </a:r>
            <a:endParaRPr lang="en-US" sz="1400" dirty="0"/>
          </a:p>
        </p:txBody>
      </p:sp>
      <p:sp>
        <p:nvSpPr>
          <p:cNvPr id="15" name="Shape 13"/>
          <p:cNvSpPr/>
          <p:nvPr/>
        </p:nvSpPr>
        <p:spPr>
          <a:xfrm>
            <a:off x="8935974" y="1828800"/>
            <a:ext cx="2430018" cy="566928"/>
          </a:xfrm>
          <a:prstGeom prst="rect">
            <a:avLst/>
          </a:prstGeom>
          <a:solidFill>
            <a:srgbClr val="4A6B5D"/>
          </a:solidFill>
          <a:ln/>
        </p:spPr>
      </p:sp>
      <p:sp>
        <p:nvSpPr>
          <p:cNvPr id="16" name="Text 14"/>
          <p:cNvSpPr/>
          <p:nvPr/>
        </p:nvSpPr>
        <p:spPr>
          <a:xfrm>
            <a:off x="8935974" y="1828800"/>
            <a:ext cx="2430018" cy="566928"/>
          </a:xfrm>
          <a:prstGeom prst="rect">
            <a:avLst/>
          </a:prstGeom>
          <a:noFill/>
          <a:ln/>
        </p:spPr>
        <p:txBody>
          <a:bodyPr wrap="square" lIns="0" tIns="0" rIns="0" bIns="0" rtlCol="0" anchor="ctr"/>
          <a:lstStyle/>
          <a:p>
            <a:pPr algn="ctr" indent="0" marL="0">
              <a:buNone/>
            </a:pPr>
            <a:r>
              <a:rPr lang="en-US" sz="1300" b="1" spc="50" kern="0" dirty="0">
                <a:solidFill>
                  <a:srgbClr val="FAF8F1"/>
                </a:solidFill>
                <a:latin typeface="Arial" pitchFamily="34" charset="0"/>
                <a:ea typeface="Arial" pitchFamily="34" charset="-122"/>
                <a:cs typeface="Arial" pitchFamily="34" charset="-120"/>
              </a:rPr>
              <a:t>S4 · spring</a:t>
            </a:r>
            <a:endParaRPr lang="en-US" sz="1300" dirty="0"/>
          </a:p>
        </p:txBody>
      </p:sp>
      <p:sp>
        <p:nvSpPr>
          <p:cNvPr id="17" name="Text 15"/>
          <p:cNvSpPr/>
          <p:nvPr/>
        </p:nvSpPr>
        <p:spPr>
          <a:xfrm>
            <a:off x="8935974" y="2542032"/>
            <a:ext cx="2430018" cy="2286000"/>
          </a:xfrm>
          <a:prstGeom prst="rect">
            <a:avLst/>
          </a:prstGeom>
          <a:noFill/>
          <a:ln/>
        </p:spPr>
        <p:txBody>
          <a:bodyPr wrap="square" lIns="0" tIns="0" rIns="0" bIns="0" rtlCol="0" anchor="t"/>
          <a:lstStyle/>
          <a:p>
            <a:pPr indent="0" marL="0">
              <a:lnSpc>
                <a:spcPts val="1900"/>
              </a:lnSpc>
              <a:buNone/>
            </a:pPr>
            <a:r>
              <a:rPr lang="en-US" sz="1400" dirty="0">
                <a:solidFill>
                  <a:srgbClr val="24313F"/>
                </a:solidFill>
                <a:latin typeface="Georgia" pitchFamily="34" charset="0"/>
                <a:ea typeface="Georgia" pitchFamily="34" charset="-122"/>
                <a:cs typeface="Georgia" pitchFamily="34" charset="-120"/>
              </a:rPr>
              <a:t>C3 submitted, changing media environments, Paper 4 in June: the full A Level.</a:t>
            </a:r>
            <a:endParaRPr lang="en-US" sz="1400" dirty="0"/>
          </a:p>
        </p:txBody>
      </p:sp>
      <p:sp>
        <p:nvSpPr>
          <p:cNvPr id="18" name="Shape 16"/>
          <p:cNvSpPr/>
          <p:nvPr/>
        </p:nvSpPr>
        <p:spPr>
          <a:xfrm>
            <a:off x="822960" y="4892040"/>
            <a:ext cx="10543032" cy="0"/>
          </a:xfrm>
          <a:prstGeom prst="line">
            <a:avLst/>
          </a:prstGeom>
          <a:noFill/>
          <a:ln w="9525">
            <a:solidFill>
              <a:srgbClr val="D9D4C4"/>
            </a:solidFill>
            <a:prstDash val="solid"/>
          </a:ln>
        </p:spPr>
      </p:sp>
      <p:sp>
        <p:nvSpPr>
          <p:cNvPr id="19" name="Text 17"/>
          <p:cNvSpPr/>
          <p:nvPr/>
        </p:nvSpPr>
        <p:spPr>
          <a:xfrm>
            <a:off x="822960" y="4983480"/>
            <a:ext cx="5134356" cy="320040"/>
          </a:xfrm>
          <a:prstGeom prst="rect">
            <a:avLst/>
          </a:prstGeom>
          <a:noFill/>
          <a:ln/>
        </p:spPr>
        <p:txBody>
          <a:bodyPr wrap="square" lIns="0" tIns="0" rIns="0" bIns="0" rtlCol="0" anchor="ctr"/>
          <a:lstStyle/>
          <a:p>
            <a:pPr algn="ctr" indent="0" marL="0">
              <a:buNone/>
            </a:pPr>
            <a:r>
              <a:rPr lang="en-US" sz="1100" b="1" spc="150" kern="0" dirty="0">
                <a:solidFill>
                  <a:srgbClr val="A3C1AD"/>
                </a:solidFill>
                <a:latin typeface="Arial" pitchFamily="34" charset="0"/>
                <a:ea typeface="Arial" pitchFamily="34" charset="-122"/>
                <a:cs typeface="Arial" pitchFamily="34" charset="-120"/>
              </a:rPr>
              <a:t>AS year</a:t>
            </a:r>
            <a:endParaRPr lang="en-US" sz="1100" dirty="0"/>
          </a:p>
        </p:txBody>
      </p:sp>
      <p:sp>
        <p:nvSpPr>
          <p:cNvPr id="20" name="Text 18"/>
          <p:cNvSpPr/>
          <p:nvPr/>
        </p:nvSpPr>
        <p:spPr>
          <a:xfrm>
            <a:off x="6231636" y="4983480"/>
            <a:ext cx="5134356" cy="320040"/>
          </a:xfrm>
          <a:prstGeom prst="rect">
            <a:avLst/>
          </a:prstGeom>
          <a:noFill/>
          <a:ln/>
        </p:spPr>
        <p:txBody>
          <a:bodyPr wrap="square" lIns="0" tIns="0" rIns="0" bIns="0" rtlCol="0" anchor="ctr"/>
          <a:lstStyle/>
          <a:p>
            <a:pPr algn="ctr" indent="0" marL="0">
              <a:buNone/>
            </a:pPr>
            <a:r>
              <a:rPr lang="en-US" sz="1100" b="1" spc="150" kern="0" dirty="0">
                <a:solidFill>
                  <a:srgbClr val="4A6B5D"/>
                </a:solidFill>
                <a:latin typeface="Arial" pitchFamily="34" charset="0"/>
                <a:ea typeface="Arial" pitchFamily="34" charset="-122"/>
                <a:cs typeface="Arial" pitchFamily="34" charset="-120"/>
              </a:rPr>
              <a:t>A2 year</a:t>
            </a:r>
            <a:endParaRPr lang="en-US" sz="1100" dirty="0"/>
          </a:p>
        </p:txBody>
      </p:sp>
      <p:sp>
        <p:nvSpPr>
          <p:cNvPr id="21" name="Text 19"/>
          <p:cNvSpPr/>
          <p:nvPr/>
        </p:nvSpPr>
        <p:spPr>
          <a:xfrm>
            <a:off x="822960" y="5532120"/>
            <a:ext cx="10543032" cy="411480"/>
          </a:xfrm>
          <a:prstGeom prst="rect">
            <a:avLst/>
          </a:prstGeom>
          <a:noFill/>
          <a:ln/>
        </p:spPr>
        <p:txBody>
          <a:bodyPr wrap="square" lIns="0" tIns="0" rIns="0" bIns="0" rtlCol="0" anchor="ctr"/>
          <a:lstStyle/>
          <a:p>
            <a:pPr indent="0" marL="0">
              <a:buNone/>
            </a:pPr>
            <a:r>
              <a:rPr lang="en-US" sz="1500" i="1" dirty="0">
                <a:solidFill>
                  <a:srgbClr val="4A6B5D"/>
                </a:solidFill>
                <a:latin typeface="Georgia" pitchFamily="34" charset="0"/>
                <a:ea typeface="Georgia" pitchFamily="34" charset="-122"/>
                <a:cs typeface="Georgia" pitchFamily="34" charset="-120"/>
              </a:rPr>
              <a:t>Half of the AS grade is a thing you make. That starts this week, with a blog.</a:t>
            </a:r>
            <a:endParaRPr lang="en-US" sz="1500" dirty="0"/>
          </a:p>
        </p:txBody>
      </p:sp>
      <p:sp>
        <p:nvSpPr>
          <p:cNvPr id="22" name="Shape 20"/>
          <p:cNvSpPr/>
          <p:nvPr/>
        </p:nvSpPr>
        <p:spPr>
          <a:xfrm>
            <a:off x="822960" y="6382512"/>
            <a:ext cx="10543032" cy="0"/>
          </a:xfrm>
          <a:prstGeom prst="line">
            <a:avLst/>
          </a:prstGeom>
          <a:noFill/>
          <a:ln w="9525">
            <a:solidFill>
              <a:srgbClr val="D9D4C4"/>
            </a:solidFill>
            <a:prstDash val="solid"/>
          </a:ln>
        </p:spPr>
      </p:sp>
      <p:sp>
        <p:nvSpPr>
          <p:cNvPr id="23" name="Text 21"/>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24" name="Text 22"/>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01</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STAGING · PROOF ONE</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THE EVIDENCE IS A SECOND PHOTOGRAPH</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14400"/>
            <a:ext cx="10543032" cy="548640"/>
          </a:xfrm>
          <a:prstGeom prst="rect">
            <a:avLst/>
          </a:prstGeom>
          <a:noFill/>
          <a:ln/>
        </p:spPr>
        <p:txBody>
          <a:bodyPr wrap="square" lIns="0" tIns="0" rIns="0" bIns="0" rtlCol="0" anchor="ctr"/>
          <a:lstStyle/>
          <a:p>
            <a:pPr indent="0" marL="0">
              <a:buNone/>
            </a:pPr>
            <a:r>
              <a:rPr lang="en-US" sz="3000" dirty="0">
                <a:solidFill>
                  <a:srgbClr val="24313F"/>
                </a:solidFill>
                <a:latin typeface="Georgia" pitchFamily="34" charset="0"/>
                <a:ea typeface="Georgia" pitchFamily="34" charset="-122"/>
                <a:cs typeface="Georgia" pitchFamily="34" charset="-120"/>
              </a:rPr>
              <a:t>Same body, two homes</a:t>
            </a:r>
            <a:endParaRPr lang="en-US" sz="3000" dirty="0"/>
          </a:p>
        </p:txBody>
      </p:sp>
      <p:sp>
        <p:nvSpPr>
          <p:cNvPr id="6" name="Shape 4"/>
          <p:cNvSpPr/>
          <p:nvPr/>
        </p:nvSpPr>
        <p:spPr>
          <a:xfrm>
            <a:off x="822960" y="1600200"/>
            <a:ext cx="5088636" cy="3749040"/>
          </a:xfrm>
          <a:prstGeom prst="rect">
            <a:avLst/>
          </a:prstGeom>
          <a:solidFill>
            <a:srgbClr val="FAF8F1"/>
          </a:solidFill>
          <a:ln w="9525">
            <a:solidFill>
              <a:srgbClr val="D9D4C4"/>
            </a:solidFill>
            <a:prstDash val="solid"/>
          </a:ln>
        </p:spPr>
      </p:sp>
      <p:pic>
        <p:nvPicPr>
          <p:cNvPr id="7" name="Image 0" descr="/Users/dogan/Documents/Vaults/Courses/wiki/classes/media-studies/decks/_build/img/gardner-last-sleep.jpg">    </p:cNvPr>
          <p:cNvPicPr>
            <a:picLocks noChangeAspect="1"/>
          </p:cNvPicPr>
          <p:nvPr/>
        </p:nvPicPr>
        <p:blipFill>
          <a:blip r:embed="rId1"/>
          <a:stretch>
            <a:fillRect/>
          </a:stretch>
        </p:blipFill>
        <p:spPr>
          <a:xfrm>
            <a:off x="1114935" y="1728216"/>
            <a:ext cx="4504685" cy="3493008"/>
          </a:xfrm>
          <a:prstGeom prst="rect">
            <a:avLst/>
          </a:prstGeom>
        </p:spPr>
      </p:pic>
      <p:sp>
        <p:nvSpPr>
          <p:cNvPr id="8" name="Shape 5"/>
          <p:cNvSpPr/>
          <p:nvPr/>
        </p:nvSpPr>
        <p:spPr>
          <a:xfrm>
            <a:off x="6277356" y="1600200"/>
            <a:ext cx="5088636" cy="3749040"/>
          </a:xfrm>
          <a:prstGeom prst="rect">
            <a:avLst/>
          </a:prstGeom>
          <a:solidFill>
            <a:srgbClr val="FAF8F1"/>
          </a:solidFill>
          <a:ln w="9525">
            <a:solidFill>
              <a:srgbClr val="D9D4C4"/>
            </a:solidFill>
            <a:prstDash val="solid"/>
          </a:ln>
        </p:spPr>
      </p:sp>
      <p:pic>
        <p:nvPicPr>
          <p:cNvPr id="9" name="Image 1" descr="/Users/dogan/Documents/Vaults/Courses/wiki/classes/media-studies/decks/_build/img/gardner-sharpshooter.jpg">    </p:cNvPr>
          <p:cNvPicPr>
            <a:picLocks noChangeAspect="1"/>
          </p:cNvPicPr>
          <p:nvPr/>
        </p:nvPicPr>
        <p:blipFill>
          <a:blip r:embed="rId2"/>
          <a:stretch>
            <a:fillRect/>
          </a:stretch>
        </p:blipFill>
        <p:spPr>
          <a:xfrm>
            <a:off x="6546099" y="1728216"/>
            <a:ext cx="4551150" cy="3493008"/>
          </a:xfrm>
          <a:prstGeom prst="rect">
            <a:avLst/>
          </a:prstGeom>
        </p:spPr>
      </p:pic>
      <p:sp>
        <p:nvSpPr>
          <p:cNvPr id="10" name="Text 6"/>
          <p:cNvSpPr/>
          <p:nvPr/>
        </p:nvSpPr>
        <p:spPr>
          <a:xfrm>
            <a:off x="822960" y="5404104"/>
            <a:ext cx="5088636" cy="320040"/>
          </a:xfrm>
          <a:prstGeom prst="rect">
            <a:avLst/>
          </a:prstGeom>
          <a:noFill/>
          <a:ln/>
        </p:spPr>
        <p:txBody>
          <a:bodyPr wrap="square" lIns="0" tIns="0" rIns="0" bIns="0" rtlCol="0" anchor="ctr"/>
          <a:lstStyle/>
          <a:p>
            <a:pPr algn="ctr" indent="0" marL="0">
              <a:buNone/>
            </a:pPr>
            <a:r>
              <a:rPr lang="en-US" sz="1050" dirty="0">
                <a:solidFill>
                  <a:srgbClr val="7A7F72"/>
                </a:solidFill>
                <a:latin typeface="Arial" pitchFamily="34" charset="0"/>
                <a:ea typeface="Arial" pitchFamily="34" charset="-122"/>
                <a:cs typeface="Arial" pitchFamily="34" charset="-120"/>
              </a:rPr>
              <a:t>Where he fell: A Sharpshooter's Last Sleep</a:t>
            </a:r>
            <a:endParaRPr lang="en-US" sz="1050" dirty="0"/>
          </a:p>
        </p:txBody>
      </p:sp>
      <p:sp>
        <p:nvSpPr>
          <p:cNvPr id="11" name="Text 7"/>
          <p:cNvSpPr/>
          <p:nvPr/>
        </p:nvSpPr>
        <p:spPr>
          <a:xfrm>
            <a:off x="6277356" y="5404104"/>
            <a:ext cx="5088636" cy="320040"/>
          </a:xfrm>
          <a:prstGeom prst="rect">
            <a:avLst/>
          </a:prstGeom>
          <a:noFill/>
          <a:ln/>
        </p:spPr>
        <p:txBody>
          <a:bodyPr wrap="square" lIns="0" tIns="0" rIns="0" bIns="0" rtlCol="0" anchor="ctr"/>
          <a:lstStyle/>
          <a:p>
            <a:pPr algn="ctr" indent="0" marL="0">
              <a:buNone/>
            </a:pPr>
            <a:r>
              <a:rPr lang="en-US" sz="1050" dirty="0">
                <a:solidFill>
                  <a:srgbClr val="7A7F72"/>
                </a:solidFill>
                <a:latin typeface="Arial" pitchFamily="34" charset="0"/>
                <a:ea typeface="Arial" pitchFamily="34" charset="-122"/>
                <a:cs typeface="Arial" pitchFamily="34" charset="-120"/>
              </a:rPr>
              <a:t>Where he was carried: Home of a Rebel Sharpshooter</a:t>
            </a:r>
            <a:endParaRPr lang="en-US" sz="1050" dirty="0"/>
          </a:p>
        </p:txBody>
      </p:sp>
      <p:sp>
        <p:nvSpPr>
          <p:cNvPr id="12" name="Shape 8"/>
          <p:cNvSpPr/>
          <p:nvPr/>
        </p:nvSpPr>
        <p:spPr>
          <a:xfrm>
            <a:off x="822960" y="5852160"/>
            <a:ext cx="914400" cy="0"/>
          </a:xfrm>
          <a:prstGeom prst="line">
            <a:avLst/>
          </a:prstGeom>
          <a:noFill/>
          <a:ln w="31750">
            <a:solidFill>
              <a:srgbClr val="8C3A38"/>
            </a:solidFill>
            <a:prstDash val="solid"/>
          </a:ln>
        </p:spPr>
      </p:sp>
      <p:sp>
        <p:nvSpPr>
          <p:cNvPr id="13" name="Text 9"/>
          <p:cNvSpPr/>
          <p:nvPr/>
        </p:nvSpPr>
        <p:spPr>
          <a:xfrm>
            <a:off x="822960" y="5961888"/>
            <a:ext cx="10543032" cy="457200"/>
          </a:xfrm>
          <a:prstGeom prst="rect">
            <a:avLst/>
          </a:prstGeom>
          <a:noFill/>
          <a:ln/>
        </p:spPr>
        <p:txBody>
          <a:bodyPr wrap="square" lIns="0" tIns="0" rIns="0" bIns="0" rtlCol="0" anchor="t"/>
          <a:lstStyle/>
          <a:p>
            <a:pPr indent="0" marL="0">
              <a:lnSpc>
                <a:spcPts val="1600"/>
              </a:lnSpc>
              <a:buNone/>
            </a:pPr>
            <a:r>
              <a:rPr lang="en-US" sz="1250" i="1" dirty="0">
                <a:solidFill>
                  <a:srgbClr val="4A6B5D"/>
                </a:solidFill>
                <a:latin typeface="Georgia" pitchFamily="34" charset="0"/>
                <a:ea typeface="Georgia" pitchFamily="34" charset="-122"/>
                <a:cs typeface="Georgia" pitchFamily="34" charset="-120"/>
              </a:rPr>
              <a:t>Alexander Gardner, Gettysburg, July 1863. The same soldier, moved forty yards to the better backdrop, the rifle propped by the photographer. The most famous war photograph of its century records an arrangement.</a:t>
            </a:r>
            <a:endParaRPr lang="en-US" sz="1250" dirty="0"/>
          </a:p>
        </p:txBody>
      </p:sp>
      <p:sp>
        <p:nvSpPr>
          <p:cNvPr id="14" name="Shape 10"/>
          <p:cNvSpPr/>
          <p:nvPr/>
        </p:nvSpPr>
        <p:spPr>
          <a:xfrm>
            <a:off x="822960" y="6382512"/>
            <a:ext cx="10543032" cy="0"/>
          </a:xfrm>
          <a:prstGeom prst="line">
            <a:avLst/>
          </a:prstGeom>
          <a:noFill/>
          <a:ln w="9525">
            <a:solidFill>
              <a:srgbClr val="D9D4C4"/>
            </a:solidFill>
            <a:prstDash val="solid"/>
          </a:ln>
        </p:spPr>
      </p:sp>
      <p:sp>
        <p:nvSpPr>
          <p:cNvPr id="15" name="Text 11"/>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6" name="Text 12"/>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02</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8EFE7"/>
        </a:solidFill>
      </p:bgPr>
    </p:bg>
    <p:spTree>
      <p:nvGrpSpPr>
        <p:cNvPr id="1" name=""/>
        <p:cNvGrpSpPr/>
        <p:nvPr/>
      </p:nvGrpSpPr>
      <p:grpSpPr>
        <a:xfrm>
          <a:off x="0" y="0"/>
          <a:ext cx="0" cy="0"/>
          <a:chOff x="0" y="0"/>
          <a:chExt cx="0" cy="0"/>
        </a:xfrm>
      </p:grpSpPr>
      <p:sp>
        <p:nvSpPr>
          <p:cNvPr id="2" name="Text 0"/>
          <p:cNvSpPr/>
          <p:nvPr/>
        </p:nvSpPr>
        <p:spPr>
          <a:xfrm>
            <a:off x="502920" y="548640"/>
            <a:ext cx="1828800" cy="1828800"/>
          </a:xfrm>
          <a:prstGeom prst="rect">
            <a:avLst/>
          </a:prstGeom>
          <a:noFill/>
          <a:ln/>
        </p:spPr>
        <p:txBody>
          <a:bodyPr wrap="square" lIns="0" tIns="0" rIns="0" bIns="0" rtlCol="0" anchor="t"/>
          <a:lstStyle/>
          <a:p>
            <a:pPr indent="0" marL="0">
              <a:buNone/>
            </a:pPr>
            <a:r>
              <a:rPr lang="en-US" sz="20000" dirty="0">
                <a:solidFill>
                  <a:srgbClr val="A3C1AD"/>
                </a:solidFill>
                <a:latin typeface="Georgia" pitchFamily="34" charset="0"/>
                <a:ea typeface="Georgia" pitchFamily="34" charset="-122"/>
                <a:cs typeface="Georgia" pitchFamily="34" charset="-120"/>
              </a:rPr>
              <a:t>“</a:t>
            </a:r>
            <a:endParaRPr lang="en-US" sz="20000" dirty="0"/>
          </a:p>
        </p:txBody>
      </p:sp>
      <p:sp>
        <p:nvSpPr>
          <p:cNvPr id="3" name="Text 1"/>
          <p:cNvSpPr/>
          <p:nvPr/>
        </p:nvSpPr>
        <p:spPr>
          <a:xfrm>
            <a:off x="822960" y="1783080"/>
            <a:ext cx="10424160" cy="3291840"/>
          </a:xfrm>
          <a:prstGeom prst="rect">
            <a:avLst/>
          </a:prstGeom>
          <a:noFill/>
          <a:ln/>
        </p:spPr>
        <p:txBody>
          <a:bodyPr wrap="square" lIns="0" tIns="0" rIns="0" bIns="0" rtlCol="0" anchor="ctr"/>
          <a:lstStyle/>
          <a:p>
            <a:pPr indent="0" marL="0">
              <a:lnSpc>
                <a:spcPts val="5200"/>
              </a:lnSpc>
              <a:buNone/>
            </a:pPr>
            <a:r>
              <a:rPr lang="en-US" sz="4400" dirty="0">
                <a:solidFill>
                  <a:srgbClr val="24313F"/>
                </a:solidFill>
                <a:latin typeface="Georgia" pitchFamily="34" charset="0"/>
                <a:ea typeface="Georgia" pitchFamily="34" charset="-122"/>
                <a:cs typeface="Georgia" pitchFamily="34" charset="-120"/>
              </a:rPr>
              <a:t>A photograph passes for incontrovertible proof that a given thing happened.</a:t>
            </a:r>
            <a:endParaRPr lang="en-US" sz="4400" dirty="0"/>
          </a:p>
        </p:txBody>
      </p:sp>
      <p:sp>
        <p:nvSpPr>
          <p:cNvPr id="4" name="Shape 2"/>
          <p:cNvSpPr/>
          <p:nvPr/>
        </p:nvSpPr>
        <p:spPr>
          <a:xfrm>
            <a:off x="822960" y="5029200"/>
            <a:ext cx="914400" cy="0"/>
          </a:xfrm>
          <a:prstGeom prst="line">
            <a:avLst/>
          </a:prstGeom>
          <a:noFill/>
          <a:ln w="31750">
            <a:solidFill>
              <a:srgbClr val="8C3A38"/>
            </a:solidFill>
            <a:prstDash val="solid"/>
          </a:ln>
        </p:spPr>
      </p:sp>
      <p:sp>
        <p:nvSpPr>
          <p:cNvPr id="5" name="Text 3"/>
          <p:cNvSpPr/>
          <p:nvPr/>
        </p:nvSpPr>
        <p:spPr>
          <a:xfrm>
            <a:off x="822960" y="5212080"/>
            <a:ext cx="10058400" cy="457200"/>
          </a:xfrm>
          <a:prstGeom prst="rect">
            <a:avLst/>
          </a:prstGeom>
          <a:noFill/>
          <a:ln/>
        </p:spPr>
        <p:txBody>
          <a:bodyPr wrap="square" lIns="0" tIns="0" rIns="0" bIns="0" rtlCol="0" anchor="ctr"/>
          <a:lstStyle/>
          <a:p>
            <a:pPr indent="0" marL="0">
              <a:buNone/>
            </a:pPr>
            <a:r>
              <a:rPr lang="en-US" sz="1400" spc="100" kern="0" dirty="0">
                <a:solidFill>
                  <a:srgbClr val="4A6B5D"/>
                </a:solidFill>
                <a:latin typeface="Arial" pitchFamily="34" charset="0"/>
                <a:ea typeface="Arial" pitchFamily="34" charset="-122"/>
                <a:cs typeface="Arial" pitchFamily="34" charset="-120"/>
              </a:rPr>
              <a:t>Susan Sontag, On Photography, 1977</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FOUR KEY CONCEPTS</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READ EVERY TEXT FOUR TIMES</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14400"/>
            <a:ext cx="6766560" cy="548640"/>
          </a:xfrm>
          <a:prstGeom prst="rect">
            <a:avLst/>
          </a:prstGeom>
          <a:noFill/>
          <a:ln/>
        </p:spPr>
        <p:txBody>
          <a:bodyPr wrap="square" lIns="0" tIns="0" rIns="0" bIns="0" rtlCol="0" anchor="ctr"/>
          <a:lstStyle/>
          <a:p>
            <a:pPr indent="0" marL="0">
              <a:buNone/>
            </a:pPr>
            <a:r>
              <a:rPr lang="en-US" sz="2800" dirty="0">
                <a:solidFill>
                  <a:srgbClr val="24313F"/>
                </a:solidFill>
                <a:latin typeface="Georgia" pitchFamily="34" charset="0"/>
                <a:ea typeface="Georgia" pitchFamily="34" charset="-122"/>
                <a:cs typeface="Georgia" pitchFamily="34" charset="-120"/>
              </a:rPr>
              <a:t>Four tools, not four words</a:t>
            </a:r>
            <a:endParaRPr lang="en-US" sz="2800" dirty="0"/>
          </a:p>
        </p:txBody>
      </p:sp>
      <p:sp>
        <p:nvSpPr>
          <p:cNvPr id="6" name="Text 4"/>
          <p:cNvSpPr/>
          <p:nvPr/>
        </p:nvSpPr>
        <p:spPr>
          <a:xfrm>
            <a:off x="822960" y="1645920"/>
            <a:ext cx="685800" cy="502920"/>
          </a:xfrm>
          <a:prstGeom prst="rect">
            <a:avLst/>
          </a:prstGeom>
          <a:noFill/>
          <a:ln/>
        </p:spPr>
        <p:txBody>
          <a:bodyPr wrap="square" lIns="0" tIns="0" rIns="0" bIns="0" rtlCol="0" anchor="ctr"/>
          <a:lstStyle/>
          <a:p>
            <a:pPr indent="0" marL="0">
              <a:buNone/>
            </a:pPr>
            <a:r>
              <a:rPr lang="en-US" sz="2400" dirty="0">
                <a:solidFill>
                  <a:srgbClr val="A3C1AD"/>
                </a:solidFill>
                <a:latin typeface="Georgia" pitchFamily="34" charset="0"/>
                <a:ea typeface="Georgia" pitchFamily="34" charset="-122"/>
                <a:cs typeface="Georgia" pitchFamily="34" charset="-120"/>
              </a:rPr>
              <a:t>01</a:t>
            </a:r>
            <a:endParaRPr lang="en-US" sz="2400" dirty="0"/>
          </a:p>
        </p:txBody>
      </p:sp>
      <p:sp>
        <p:nvSpPr>
          <p:cNvPr id="7" name="Text 5"/>
          <p:cNvSpPr/>
          <p:nvPr/>
        </p:nvSpPr>
        <p:spPr>
          <a:xfrm>
            <a:off x="1554480" y="1645920"/>
            <a:ext cx="2468880" cy="502920"/>
          </a:xfrm>
          <a:prstGeom prst="rect">
            <a:avLst/>
          </a:prstGeom>
          <a:noFill/>
          <a:ln/>
        </p:spPr>
        <p:txBody>
          <a:bodyPr wrap="square" lIns="0" tIns="0" rIns="0" bIns="0" rtlCol="0" anchor="ctr"/>
          <a:lstStyle/>
          <a:p>
            <a:pPr indent="0" marL="0">
              <a:buNone/>
            </a:pPr>
            <a:r>
              <a:rPr lang="en-US" sz="1900" dirty="0">
                <a:solidFill>
                  <a:srgbClr val="4A6B5D"/>
                </a:solidFill>
                <a:latin typeface="Georgia" pitchFamily="34" charset="0"/>
                <a:ea typeface="Georgia" pitchFamily="34" charset="-122"/>
                <a:cs typeface="Georgia" pitchFamily="34" charset="-120"/>
              </a:rPr>
              <a:t>Language</a:t>
            </a:r>
            <a:endParaRPr lang="en-US" sz="1900" dirty="0"/>
          </a:p>
        </p:txBody>
      </p:sp>
      <p:sp>
        <p:nvSpPr>
          <p:cNvPr id="8" name="Text 6"/>
          <p:cNvSpPr/>
          <p:nvPr/>
        </p:nvSpPr>
        <p:spPr>
          <a:xfrm>
            <a:off x="4069080" y="1645920"/>
            <a:ext cx="3566160" cy="960120"/>
          </a:xfrm>
          <a:prstGeom prst="rect">
            <a:avLst/>
          </a:prstGeom>
          <a:noFill/>
          <a:ln/>
        </p:spPr>
        <p:txBody>
          <a:bodyPr wrap="square" lIns="0" tIns="0" rIns="0" bIns="0" rtlCol="0" anchor="t"/>
          <a:lstStyle/>
          <a:p>
            <a:pPr indent="0" marL="0">
              <a:lnSpc>
                <a:spcPts val="1700"/>
              </a:lnSpc>
              <a:buNone/>
            </a:pPr>
            <a:r>
              <a:rPr lang="en-US" sz="1300" dirty="0">
                <a:solidFill>
                  <a:srgbClr val="24313F"/>
                </a:solidFill>
                <a:latin typeface="Georgia" pitchFamily="34" charset="0"/>
                <a:ea typeface="Georgia" pitchFamily="34" charset="-122"/>
                <a:cs typeface="Georgia" pitchFamily="34" charset="-120"/>
              </a:rPr>
              <a:t>How it is made to mean: the codes, framing and choices that build the message.</a:t>
            </a:r>
            <a:endParaRPr lang="en-US" sz="1300" dirty="0"/>
          </a:p>
        </p:txBody>
      </p:sp>
      <p:sp>
        <p:nvSpPr>
          <p:cNvPr id="9" name="Shape 7"/>
          <p:cNvSpPr/>
          <p:nvPr/>
        </p:nvSpPr>
        <p:spPr>
          <a:xfrm>
            <a:off x="822960" y="2633472"/>
            <a:ext cx="6766560" cy="0"/>
          </a:xfrm>
          <a:prstGeom prst="line">
            <a:avLst/>
          </a:prstGeom>
          <a:noFill/>
          <a:ln w="9525">
            <a:solidFill>
              <a:srgbClr val="D9D4C4"/>
            </a:solidFill>
            <a:prstDash val="solid"/>
          </a:ln>
        </p:spPr>
      </p:sp>
      <p:sp>
        <p:nvSpPr>
          <p:cNvPr id="10" name="Text 8"/>
          <p:cNvSpPr/>
          <p:nvPr/>
        </p:nvSpPr>
        <p:spPr>
          <a:xfrm>
            <a:off x="822960" y="2724912"/>
            <a:ext cx="685800" cy="502920"/>
          </a:xfrm>
          <a:prstGeom prst="rect">
            <a:avLst/>
          </a:prstGeom>
          <a:noFill/>
          <a:ln/>
        </p:spPr>
        <p:txBody>
          <a:bodyPr wrap="square" lIns="0" tIns="0" rIns="0" bIns="0" rtlCol="0" anchor="ctr"/>
          <a:lstStyle/>
          <a:p>
            <a:pPr indent="0" marL="0">
              <a:buNone/>
            </a:pPr>
            <a:r>
              <a:rPr lang="en-US" sz="2400" dirty="0">
                <a:solidFill>
                  <a:srgbClr val="A3C1AD"/>
                </a:solidFill>
                <a:latin typeface="Georgia" pitchFamily="34" charset="0"/>
                <a:ea typeface="Georgia" pitchFamily="34" charset="-122"/>
                <a:cs typeface="Georgia" pitchFamily="34" charset="-120"/>
              </a:rPr>
              <a:t>02</a:t>
            </a:r>
            <a:endParaRPr lang="en-US" sz="2400" dirty="0"/>
          </a:p>
        </p:txBody>
      </p:sp>
      <p:sp>
        <p:nvSpPr>
          <p:cNvPr id="11" name="Text 9"/>
          <p:cNvSpPr/>
          <p:nvPr/>
        </p:nvSpPr>
        <p:spPr>
          <a:xfrm>
            <a:off x="1554480" y="2724912"/>
            <a:ext cx="2468880" cy="502920"/>
          </a:xfrm>
          <a:prstGeom prst="rect">
            <a:avLst/>
          </a:prstGeom>
          <a:noFill/>
          <a:ln/>
        </p:spPr>
        <p:txBody>
          <a:bodyPr wrap="square" lIns="0" tIns="0" rIns="0" bIns="0" rtlCol="0" anchor="ctr"/>
          <a:lstStyle/>
          <a:p>
            <a:pPr indent="0" marL="0">
              <a:buNone/>
            </a:pPr>
            <a:r>
              <a:rPr lang="en-US" sz="1900" dirty="0">
                <a:solidFill>
                  <a:srgbClr val="4A6B5D"/>
                </a:solidFill>
                <a:latin typeface="Georgia" pitchFamily="34" charset="0"/>
                <a:ea typeface="Georgia" pitchFamily="34" charset="-122"/>
                <a:cs typeface="Georgia" pitchFamily="34" charset="-120"/>
              </a:rPr>
              <a:t>Representation</a:t>
            </a:r>
            <a:endParaRPr lang="en-US" sz="1900" dirty="0"/>
          </a:p>
        </p:txBody>
      </p:sp>
      <p:sp>
        <p:nvSpPr>
          <p:cNvPr id="12" name="Text 10"/>
          <p:cNvSpPr/>
          <p:nvPr/>
        </p:nvSpPr>
        <p:spPr>
          <a:xfrm>
            <a:off x="4069080" y="2724912"/>
            <a:ext cx="3566160" cy="960120"/>
          </a:xfrm>
          <a:prstGeom prst="rect">
            <a:avLst/>
          </a:prstGeom>
          <a:noFill/>
          <a:ln/>
        </p:spPr>
        <p:txBody>
          <a:bodyPr wrap="square" lIns="0" tIns="0" rIns="0" bIns="0" rtlCol="0" anchor="t"/>
          <a:lstStyle/>
          <a:p>
            <a:pPr indent="0" marL="0">
              <a:lnSpc>
                <a:spcPts val="1700"/>
              </a:lnSpc>
              <a:buNone/>
            </a:pPr>
            <a:r>
              <a:rPr lang="en-US" sz="1300" dirty="0">
                <a:solidFill>
                  <a:srgbClr val="24313F"/>
                </a:solidFill>
                <a:latin typeface="Georgia" pitchFamily="34" charset="0"/>
                <a:ea typeface="Georgia" pitchFamily="34" charset="-122"/>
                <a:cs typeface="Georgia" pitchFamily="34" charset="-120"/>
              </a:rPr>
              <a:t>How people, places and ideas are shown, and what each showing leaves out.</a:t>
            </a:r>
            <a:endParaRPr lang="en-US" sz="1300" dirty="0"/>
          </a:p>
        </p:txBody>
      </p:sp>
      <p:sp>
        <p:nvSpPr>
          <p:cNvPr id="13" name="Shape 11"/>
          <p:cNvSpPr/>
          <p:nvPr/>
        </p:nvSpPr>
        <p:spPr>
          <a:xfrm>
            <a:off x="822960" y="3712464"/>
            <a:ext cx="6766560" cy="0"/>
          </a:xfrm>
          <a:prstGeom prst="line">
            <a:avLst/>
          </a:prstGeom>
          <a:noFill/>
          <a:ln w="9525">
            <a:solidFill>
              <a:srgbClr val="D9D4C4"/>
            </a:solidFill>
            <a:prstDash val="solid"/>
          </a:ln>
        </p:spPr>
      </p:sp>
      <p:sp>
        <p:nvSpPr>
          <p:cNvPr id="14" name="Text 12"/>
          <p:cNvSpPr/>
          <p:nvPr/>
        </p:nvSpPr>
        <p:spPr>
          <a:xfrm>
            <a:off x="822960" y="3803904"/>
            <a:ext cx="685800" cy="502920"/>
          </a:xfrm>
          <a:prstGeom prst="rect">
            <a:avLst/>
          </a:prstGeom>
          <a:noFill/>
          <a:ln/>
        </p:spPr>
        <p:txBody>
          <a:bodyPr wrap="square" lIns="0" tIns="0" rIns="0" bIns="0" rtlCol="0" anchor="ctr"/>
          <a:lstStyle/>
          <a:p>
            <a:pPr indent="0" marL="0">
              <a:buNone/>
            </a:pPr>
            <a:r>
              <a:rPr lang="en-US" sz="2400" dirty="0">
                <a:solidFill>
                  <a:srgbClr val="A3C1AD"/>
                </a:solidFill>
                <a:latin typeface="Georgia" pitchFamily="34" charset="0"/>
                <a:ea typeface="Georgia" pitchFamily="34" charset="-122"/>
                <a:cs typeface="Georgia" pitchFamily="34" charset="-120"/>
              </a:rPr>
              <a:t>03</a:t>
            </a:r>
            <a:endParaRPr lang="en-US" sz="2400" dirty="0"/>
          </a:p>
        </p:txBody>
      </p:sp>
      <p:sp>
        <p:nvSpPr>
          <p:cNvPr id="15" name="Text 13"/>
          <p:cNvSpPr/>
          <p:nvPr/>
        </p:nvSpPr>
        <p:spPr>
          <a:xfrm>
            <a:off x="1554480" y="3803904"/>
            <a:ext cx="2468880" cy="502920"/>
          </a:xfrm>
          <a:prstGeom prst="rect">
            <a:avLst/>
          </a:prstGeom>
          <a:noFill/>
          <a:ln/>
        </p:spPr>
        <p:txBody>
          <a:bodyPr wrap="square" lIns="0" tIns="0" rIns="0" bIns="0" rtlCol="0" anchor="ctr"/>
          <a:lstStyle/>
          <a:p>
            <a:pPr indent="0" marL="0">
              <a:buNone/>
            </a:pPr>
            <a:r>
              <a:rPr lang="en-US" sz="1900" dirty="0">
                <a:solidFill>
                  <a:srgbClr val="4A6B5D"/>
                </a:solidFill>
                <a:latin typeface="Georgia" pitchFamily="34" charset="0"/>
                <a:ea typeface="Georgia" pitchFamily="34" charset="-122"/>
                <a:cs typeface="Georgia" pitchFamily="34" charset="-120"/>
              </a:rPr>
              <a:t>Industry</a:t>
            </a:r>
            <a:endParaRPr lang="en-US" sz="1900" dirty="0"/>
          </a:p>
        </p:txBody>
      </p:sp>
      <p:sp>
        <p:nvSpPr>
          <p:cNvPr id="16" name="Text 14"/>
          <p:cNvSpPr/>
          <p:nvPr/>
        </p:nvSpPr>
        <p:spPr>
          <a:xfrm>
            <a:off x="4069080" y="3803904"/>
            <a:ext cx="3566160" cy="960120"/>
          </a:xfrm>
          <a:prstGeom prst="rect">
            <a:avLst/>
          </a:prstGeom>
          <a:noFill/>
          <a:ln/>
        </p:spPr>
        <p:txBody>
          <a:bodyPr wrap="square" lIns="0" tIns="0" rIns="0" bIns="0" rtlCol="0" anchor="t"/>
          <a:lstStyle/>
          <a:p>
            <a:pPr indent="0" marL="0">
              <a:lnSpc>
                <a:spcPts val="1700"/>
              </a:lnSpc>
              <a:buNone/>
            </a:pPr>
            <a:r>
              <a:rPr lang="en-US" sz="1300" dirty="0">
                <a:solidFill>
                  <a:srgbClr val="24313F"/>
                </a:solidFill>
                <a:latin typeface="Georgia" pitchFamily="34" charset="0"/>
                <a:ea typeface="Georgia" pitchFamily="34" charset="-122"/>
                <a:cs typeface="Georgia" pitchFamily="34" charset="-120"/>
              </a:rPr>
              <a:t>Who made it, who paid, and why: funding follows content, always.</a:t>
            </a:r>
            <a:endParaRPr lang="en-US" sz="1300" dirty="0"/>
          </a:p>
        </p:txBody>
      </p:sp>
      <p:sp>
        <p:nvSpPr>
          <p:cNvPr id="17" name="Shape 15"/>
          <p:cNvSpPr/>
          <p:nvPr/>
        </p:nvSpPr>
        <p:spPr>
          <a:xfrm>
            <a:off x="822960" y="4791456"/>
            <a:ext cx="6766560" cy="0"/>
          </a:xfrm>
          <a:prstGeom prst="line">
            <a:avLst/>
          </a:prstGeom>
          <a:noFill/>
          <a:ln w="9525">
            <a:solidFill>
              <a:srgbClr val="D9D4C4"/>
            </a:solidFill>
            <a:prstDash val="solid"/>
          </a:ln>
        </p:spPr>
      </p:sp>
      <p:sp>
        <p:nvSpPr>
          <p:cNvPr id="18" name="Text 16"/>
          <p:cNvSpPr/>
          <p:nvPr/>
        </p:nvSpPr>
        <p:spPr>
          <a:xfrm>
            <a:off x="822960" y="4882896"/>
            <a:ext cx="685800" cy="502920"/>
          </a:xfrm>
          <a:prstGeom prst="rect">
            <a:avLst/>
          </a:prstGeom>
          <a:noFill/>
          <a:ln/>
        </p:spPr>
        <p:txBody>
          <a:bodyPr wrap="square" lIns="0" tIns="0" rIns="0" bIns="0" rtlCol="0" anchor="ctr"/>
          <a:lstStyle/>
          <a:p>
            <a:pPr indent="0" marL="0">
              <a:buNone/>
            </a:pPr>
            <a:r>
              <a:rPr lang="en-US" sz="2400" dirty="0">
                <a:solidFill>
                  <a:srgbClr val="A3C1AD"/>
                </a:solidFill>
                <a:latin typeface="Georgia" pitchFamily="34" charset="0"/>
                <a:ea typeface="Georgia" pitchFamily="34" charset="-122"/>
                <a:cs typeface="Georgia" pitchFamily="34" charset="-120"/>
              </a:rPr>
              <a:t>04</a:t>
            </a:r>
            <a:endParaRPr lang="en-US" sz="2400" dirty="0"/>
          </a:p>
        </p:txBody>
      </p:sp>
      <p:sp>
        <p:nvSpPr>
          <p:cNvPr id="19" name="Text 17"/>
          <p:cNvSpPr/>
          <p:nvPr/>
        </p:nvSpPr>
        <p:spPr>
          <a:xfrm>
            <a:off x="1554480" y="4882896"/>
            <a:ext cx="2468880" cy="502920"/>
          </a:xfrm>
          <a:prstGeom prst="rect">
            <a:avLst/>
          </a:prstGeom>
          <a:noFill/>
          <a:ln/>
        </p:spPr>
        <p:txBody>
          <a:bodyPr wrap="square" lIns="0" tIns="0" rIns="0" bIns="0" rtlCol="0" anchor="ctr"/>
          <a:lstStyle/>
          <a:p>
            <a:pPr indent="0" marL="0">
              <a:buNone/>
            </a:pPr>
            <a:r>
              <a:rPr lang="en-US" sz="1900" dirty="0">
                <a:solidFill>
                  <a:srgbClr val="4A6B5D"/>
                </a:solidFill>
                <a:latin typeface="Georgia" pitchFamily="34" charset="0"/>
                <a:ea typeface="Georgia" pitchFamily="34" charset="-122"/>
                <a:cs typeface="Georgia" pitchFamily="34" charset="-120"/>
              </a:rPr>
              <a:t>Audience</a:t>
            </a:r>
            <a:endParaRPr lang="en-US" sz="1900" dirty="0"/>
          </a:p>
        </p:txBody>
      </p:sp>
      <p:sp>
        <p:nvSpPr>
          <p:cNvPr id="20" name="Text 18"/>
          <p:cNvSpPr/>
          <p:nvPr/>
        </p:nvSpPr>
        <p:spPr>
          <a:xfrm>
            <a:off x="4069080" y="4882896"/>
            <a:ext cx="3566160" cy="960120"/>
          </a:xfrm>
          <a:prstGeom prst="rect">
            <a:avLst/>
          </a:prstGeom>
          <a:noFill/>
          <a:ln/>
        </p:spPr>
        <p:txBody>
          <a:bodyPr wrap="square" lIns="0" tIns="0" rIns="0" bIns="0" rtlCol="0" anchor="t"/>
          <a:lstStyle/>
          <a:p>
            <a:pPr indent="0" marL="0">
              <a:lnSpc>
                <a:spcPts val="1700"/>
              </a:lnSpc>
              <a:buNone/>
            </a:pPr>
            <a:r>
              <a:rPr lang="en-US" sz="1300" dirty="0">
                <a:solidFill>
                  <a:srgbClr val="24313F"/>
                </a:solidFill>
                <a:latin typeface="Georgia" pitchFamily="34" charset="0"/>
                <a:ea typeface="Georgia" pitchFamily="34" charset="-122"/>
                <a:cs typeface="Georgia" pitchFamily="34" charset="-120"/>
              </a:rPr>
              <a:t>Who it is for, and what they do with it. You are an audience before anything else.</a:t>
            </a:r>
            <a:endParaRPr lang="en-US" sz="1300" dirty="0"/>
          </a:p>
        </p:txBody>
      </p:sp>
      <p:sp>
        <p:nvSpPr>
          <p:cNvPr id="21" name="Shape 19"/>
          <p:cNvSpPr/>
          <p:nvPr/>
        </p:nvSpPr>
        <p:spPr>
          <a:xfrm>
            <a:off x="822960" y="5870448"/>
            <a:ext cx="6766560" cy="0"/>
          </a:xfrm>
          <a:prstGeom prst="line">
            <a:avLst/>
          </a:prstGeom>
          <a:noFill/>
          <a:ln w="9525">
            <a:solidFill>
              <a:srgbClr val="D9D4C4"/>
            </a:solidFill>
            <a:prstDash val="solid"/>
          </a:ln>
        </p:spPr>
      </p:sp>
      <p:sp>
        <p:nvSpPr>
          <p:cNvPr id="22" name="Shape 20"/>
          <p:cNvSpPr/>
          <p:nvPr/>
        </p:nvSpPr>
        <p:spPr>
          <a:xfrm>
            <a:off x="7498080" y="1051560"/>
            <a:ext cx="3886200" cy="4800600"/>
          </a:xfrm>
          <a:prstGeom prst="rect">
            <a:avLst/>
          </a:prstGeom>
          <a:solidFill>
            <a:srgbClr val="FAF8F1"/>
          </a:solidFill>
          <a:ln w="9525">
            <a:solidFill>
              <a:srgbClr val="D9D4C4"/>
            </a:solidFill>
            <a:prstDash val="solid"/>
          </a:ln>
        </p:spPr>
      </p:sp>
      <p:pic>
        <p:nvPicPr>
          <p:cNvPr id="23" name="Image 0" descr="/Users/dogan/Documents/Vaults/Courses/wiki/classes/media-studies/decks/_build/img/dior-sauvage.jpg">    </p:cNvPr>
          <p:cNvPicPr>
            <a:picLocks noChangeAspect="1"/>
          </p:cNvPicPr>
          <p:nvPr/>
        </p:nvPicPr>
        <p:blipFill>
          <a:blip r:embed="rId1"/>
          <a:stretch>
            <a:fillRect/>
          </a:stretch>
        </p:blipFill>
        <p:spPr>
          <a:xfrm>
            <a:off x="7796465" y="1179576"/>
            <a:ext cx="3289430" cy="4544568"/>
          </a:xfrm>
          <a:prstGeom prst="rect">
            <a:avLst/>
          </a:prstGeom>
        </p:spPr>
      </p:pic>
      <p:sp>
        <p:nvSpPr>
          <p:cNvPr id="24" name="Text 21"/>
          <p:cNvSpPr/>
          <p:nvPr/>
        </p:nvSpPr>
        <p:spPr>
          <a:xfrm>
            <a:off x="7498080" y="5897880"/>
            <a:ext cx="3886200" cy="320040"/>
          </a:xfrm>
          <a:prstGeom prst="rect">
            <a:avLst/>
          </a:prstGeom>
          <a:noFill/>
          <a:ln/>
        </p:spPr>
        <p:txBody>
          <a:bodyPr wrap="square" lIns="0" tIns="0" rIns="0" bIns="0" rtlCol="0" anchor="ctr"/>
          <a:lstStyle/>
          <a:p>
            <a:pPr algn="ctr" indent="0" marL="0">
              <a:buNone/>
            </a:pPr>
            <a:r>
              <a:rPr lang="en-US" sz="1000" dirty="0">
                <a:solidFill>
                  <a:srgbClr val="7A7F72"/>
                </a:solidFill>
                <a:latin typeface="Arial" pitchFamily="34" charset="0"/>
                <a:ea typeface="Arial" pitchFamily="34" charset="-122"/>
                <a:cs typeface="Arial" pitchFamily="34" charset="-120"/>
              </a:rPr>
              <a:t>The shared text: one print ad, read four times through four lenses</a:t>
            </a:r>
            <a:endParaRPr lang="en-US" sz="1000" dirty="0"/>
          </a:p>
        </p:txBody>
      </p:sp>
      <p:sp>
        <p:nvSpPr>
          <p:cNvPr id="25" name="Shape 22"/>
          <p:cNvSpPr/>
          <p:nvPr/>
        </p:nvSpPr>
        <p:spPr>
          <a:xfrm>
            <a:off x="822960" y="6382512"/>
            <a:ext cx="10543032" cy="0"/>
          </a:xfrm>
          <a:prstGeom prst="line">
            <a:avLst/>
          </a:prstGeom>
          <a:noFill/>
          <a:ln w="9525">
            <a:solidFill>
              <a:srgbClr val="D9D4C4"/>
            </a:solidFill>
            <a:prstDash val="solid"/>
          </a:ln>
        </p:spPr>
      </p:sp>
      <p:sp>
        <p:nvSpPr>
          <p:cNvPr id="26" name="Text 23"/>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27" name="Text 24"/>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03</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SELECTION · PROOF TWO</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EVERY PHOTOGRAPH IS ALSO THE FRAMES NOBODY CHOSE</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14400"/>
            <a:ext cx="10543032" cy="548640"/>
          </a:xfrm>
          <a:prstGeom prst="rect">
            <a:avLst/>
          </a:prstGeom>
          <a:noFill/>
          <a:ln/>
        </p:spPr>
        <p:txBody>
          <a:bodyPr wrap="square" lIns="0" tIns="0" rIns="0" bIns="0" rtlCol="0" anchor="ctr"/>
          <a:lstStyle/>
          <a:p>
            <a:pPr indent="0" marL="0">
              <a:buNone/>
            </a:pPr>
            <a:r>
              <a:rPr lang="en-US" sz="3000" dirty="0">
                <a:solidFill>
                  <a:srgbClr val="24313F"/>
                </a:solidFill>
                <a:latin typeface="Georgia" pitchFamily="34" charset="0"/>
                <a:ea typeface="Georgia" pitchFamily="34" charset="-122"/>
                <a:cs typeface="Georgia" pitchFamily="34" charset="-120"/>
              </a:rPr>
              <a:t>One frame of six</a:t>
            </a:r>
            <a:endParaRPr lang="en-US" sz="3000" dirty="0"/>
          </a:p>
        </p:txBody>
      </p:sp>
      <p:sp>
        <p:nvSpPr>
          <p:cNvPr id="6" name="Shape 4"/>
          <p:cNvSpPr/>
          <p:nvPr/>
        </p:nvSpPr>
        <p:spPr>
          <a:xfrm>
            <a:off x="822960" y="1600200"/>
            <a:ext cx="5088636" cy="3749040"/>
          </a:xfrm>
          <a:prstGeom prst="rect">
            <a:avLst/>
          </a:prstGeom>
          <a:solidFill>
            <a:srgbClr val="FAF8F1"/>
          </a:solidFill>
          <a:ln w="9525">
            <a:solidFill>
              <a:srgbClr val="D9D4C4"/>
            </a:solidFill>
            <a:prstDash val="solid"/>
          </a:ln>
        </p:spPr>
      </p:sp>
      <p:pic>
        <p:nvPicPr>
          <p:cNvPr id="7" name="Image 0" descr="/Users/dogan/Documents/Vaults/Courses/wiki/classes/media-studies/decks/_build/img/lange-nipomo-alt.jpg">    </p:cNvPr>
          <p:cNvPicPr>
            <a:picLocks noChangeAspect="1"/>
          </p:cNvPicPr>
          <p:nvPr/>
        </p:nvPicPr>
        <p:blipFill>
          <a:blip r:embed="rId1"/>
          <a:stretch>
            <a:fillRect/>
          </a:stretch>
        </p:blipFill>
        <p:spPr>
          <a:xfrm>
            <a:off x="1171568" y="1728216"/>
            <a:ext cx="4391419" cy="3493008"/>
          </a:xfrm>
          <a:prstGeom prst="rect">
            <a:avLst/>
          </a:prstGeom>
        </p:spPr>
      </p:pic>
      <p:sp>
        <p:nvSpPr>
          <p:cNvPr id="8" name="Shape 5"/>
          <p:cNvSpPr/>
          <p:nvPr/>
        </p:nvSpPr>
        <p:spPr>
          <a:xfrm>
            <a:off x="6277356" y="1600200"/>
            <a:ext cx="5088636" cy="3749040"/>
          </a:xfrm>
          <a:prstGeom prst="rect">
            <a:avLst/>
          </a:prstGeom>
          <a:solidFill>
            <a:srgbClr val="FAF8F1"/>
          </a:solidFill>
          <a:ln w="9525">
            <a:solidFill>
              <a:srgbClr val="D9D4C4"/>
            </a:solidFill>
            <a:prstDash val="solid"/>
          </a:ln>
        </p:spPr>
      </p:sp>
      <p:pic>
        <p:nvPicPr>
          <p:cNvPr id="9" name="Image 1" descr="/Users/dogan/Documents/Vaults/Courses/wiki/classes/media-studies/decks/_build/img/migrant-mother.jpg">    </p:cNvPr>
          <p:cNvPicPr>
            <a:picLocks noChangeAspect="1"/>
          </p:cNvPicPr>
          <p:nvPr/>
        </p:nvPicPr>
        <p:blipFill>
          <a:blip r:embed="rId2"/>
          <a:stretch>
            <a:fillRect/>
          </a:stretch>
        </p:blipFill>
        <p:spPr>
          <a:xfrm>
            <a:off x="7615495" y="1728216"/>
            <a:ext cx="2412359" cy="3493008"/>
          </a:xfrm>
          <a:prstGeom prst="rect">
            <a:avLst/>
          </a:prstGeom>
        </p:spPr>
      </p:pic>
      <p:sp>
        <p:nvSpPr>
          <p:cNvPr id="10" name="Text 6"/>
          <p:cNvSpPr/>
          <p:nvPr/>
        </p:nvSpPr>
        <p:spPr>
          <a:xfrm>
            <a:off x="822960" y="5404104"/>
            <a:ext cx="5088636" cy="320040"/>
          </a:xfrm>
          <a:prstGeom prst="rect">
            <a:avLst/>
          </a:prstGeom>
          <a:noFill/>
          <a:ln/>
        </p:spPr>
        <p:txBody>
          <a:bodyPr wrap="square" lIns="0" tIns="0" rIns="0" bIns="0" rtlCol="0" anchor="ctr"/>
          <a:lstStyle/>
          <a:p>
            <a:pPr algn="ctr" indent="0" marL="0">
              <a:buNone/>
            </a:pPr>
            <a:r>
              <a:rPr lang="en-US" sz="1050" dirty="0">
                <a:solidFill>
                  <a:srgbClr val="7A7F72"/>
                </a:solidFill>
                <a:latin typeface="Arial" pitchFamily="34" charset="0"/>
                <a:ea typeface="Arial" pitchFamily="34" charset="-122"/>
                <a:cs typeface="Arial" pitchFamily="34" charset="-120"/>
              </a:rPr>
              <a:t>An exposure nobody remembers: the tent, the setting, the children's faces</a:t>
            </a:r>
            <a:endParaRPr lang="en-US" sz="1050" dirty="0"/>
          </a:p>
        </p:txBody>
      </p:sp>
      <p:sp>
        <p:nvSpPr>
          <p:cNvPr id="11" name="Text 7"/>
          <p:cNvSpPr/>
          <p:nvPr/>
        </p:nvSpPr>
        <p:spPr>
          <a:xfrm>
            <a:off x="6277356" y="5404104"/>
            <a:ext cx="5088636" cy="320040"/>
          </a:xfrm>
          <a:prstGeom prst="rect">
            <a:avLst/>
          </a:prstGeom>
          <a:noFill/>
          <a:ln/>
        </p:spPr>
        <p:txBody>
          <a:bodyPr wrap="square" lIns="0" tIns="0" rIns="0" bIns="0" rtlCol="0" anchor="ctr"/>
          <a:lstStyle/>
          <a:p>
            <a:pPr algn="ctr" indent="0" marL="0">
              <a:buNone/>
            </a:pPr>
            <a:r>
              <a:rPr lang="en-US" sz="1050" dirty="0">
                <a:solidFill>
                  <a:srgbClr val="7A7F72"/>
                </a:solidFill>
                <a:latin typeface="Arial" pitchFamily="34" charset="0"/>
                <a:ea typeface="Arial" pitchFamily="34" charset="-122"/>
                <a:cs typeface="Arial" pitchFamily="34" charset="-120"/>
              </a:rPr>
              <a:t>The frame the century kept: Migrant Mother</a:t>
            </a:r>
            <a:endParaRPr lang="en-US" sz="1050" dirty="0"/>
          </a:p>
        </p:txBody>
      </p:sp>
      <p:sp>
        <p:nvSpPr>
          <p:cNvPr id="12" name="Shape 8"/>
          <p:cNvSpPr/>
          <p:nvPr/>
        </p:nvSpPr>
        <p:spPr>
          <a:xfrm>
            <a:off x="822960" y="5852160"/>
            <a:ext cx="914400" cy="0"/>
          </a:xfrm>
          <a:prstGeom prst="line">
            <a:avLst/>
          </a:prstGeom>
          <a:noFill/>
          <a:ln w="31750">
            <a:solidFill>
              <a:srgbClr val="8C3A38"/>
            </a:solidFill>
            <a:prstDash val="solid"/>
          </a:ln>
        </p:spPr>
      </p:sp>
      <p:sp>
        <p:nvSpPr>
          <p:cNvPr id="13" name="Text 9"/>
          <p:cNvSpPr/>
          <p:nvPr/>
        </p:nvSpPr>
        <p:spPr>
          <a:xfrm>
            <a:off x="822960" y="5961888"/>
            <a:ext cx="10543032" cy="457200"/>
          </a:xfrm>
          <a:prstGeom prst="rect">
            <a:avLst/>
          </a:prstGeom>
          <a:noFill/>
          <a:ln/>
        </p:spPr>
        <p:txBody>
          <a:bodyPr wrap="square" lIns="0" tIns="0" rIns="0" bIns="0" rtlCol="0" anchor="t"/>
          <a:lstStyle/>
          <a:p>
            <a:pPr indent="0" marL="0">
              <a:lnSpc>
                <a:spcPts val="1600"/>
              </a:lnSpc>
              <a:buNone/>
            </a:pPr>
            <a:r>
              <a:rPr lang="en-US" sz="1250" i="1" dirty="0">
                <a:solidFill>
                  <a:srgbClr val="4A6B5D"/>
                </a:solidFill>
                <a:latin typeface="Georgia" pitchFamily="34" charset="0"/>
                <a:ea typeface="Georgia" pitchFamily="34" charset="-122"/>
                <a:cs typeface="Georgia" pitchFamily="34" charset="-120"/>
              </a:rPr>
              <a:t>Dorothea Lange, Nipomo, 1936. Six exposures of the same family; one was chosen, cropped, and later retouched (a thumb removed at lower right). Selection is the mediation nobody thinks to look for.</a:t>
            </a:r>
            <a:endParaRPr lang="en-US" sz="1250" dirty="0"/>
          </a:p>
        </p:txBody>
      </p:sp>
      <p:sp>
        <p:nvSpPr>
          <p:cNvPr id="14" name="Shape 10"/>
          <p:cNvSpPr/>
          <p:nvPr/>
        </p:nvSpPr>
        <p:spPr>
          <a:xfrm>
            <a:off x="822960" y="6382512"/>
            <a:ext cx="10543032" cy="0"/>
          </a:xfrm>
          <a:prstGeom prst="line">
            <a:avLst/>
          </a:prstGeom>
          <a:noFill/>
          <a:ln w="9525">
            <a:solidFill>
              <a:srgbClr val="D9D4C4"/>
            </a:solidFill>
            <a:prstDash val="solid"/>
          </a:ln>
        </p:spPr>
      </p:sp>
      <p:sp>
        <p:nvSpPr>
          <p:cNvPr id="15" name="Text 11"/>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6" name="Text 12"/>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04</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HOW MEDIATION WORKS</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THREE MECHANISMS, THREE NAMES</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14400"/>
            <a:ext cx="10543032" cy="548640"/>
          </a:xfrm>
          <a:prstGeom prst="rect">
            <a:avLst/>
          </a:prstGeom>
          <a:noFill/>
          <a:ln/>
        </p:spPr>
        <p:txBody>
          <a:bodyPr wrap="square" lIns="0" tIns="0" rIns="0" bIns="0" rtlCol="0" anchor="ctr"/>
          <a:lstStyle/>
          <a:p>
            <a:pPr indent="0" marL="0">
              <a:buNone/>
            </a:pPr>
            <a:r>
              <a:rPr lang="en-US" sz="3000" dirty="0">
                <a:solidFill>
                  <a:srgbClr val="24313F"/>
                </a:solidFill>
                <a:latin typeface="Georgia" pitchFamily="34" charset="0"/>
                <a:ea typeface="Georgia" pitchFamily="34" charset="-122"/>
                <a:cs typeface="Georgia" pitchFamily="34" charset="-120"/>
              </a:rPr>
              <a:t>Named so you can reuse them</a:t>
            </a:r>
            <a:endParaRPr lang="en-US" sz="3000" dirty="0"/>
          </a:p>
        </p:txBody>
      </p:sp>
      <p:sp>
        <p:nvSpPr>
          <p:cNvPr id="6" name="Shape 4"/>
          <p:cNvSpPr/>
          <p:nvPr/>
        </p:nvSpPr>
        <p:spPr>
          <a:xfrm>
            <a:off x="822960" y="1600200"/>
            <a:ext cx="3246120" cy="1965960"/>
          </a:xfrm>
          <a:prstGeom prst="rect">
            <a:avLst/>
          </a:prstGeom>
          <a:solidFill>
            <a:srgbClr val="FAF8F1"/>
          </a:solidFill>
          <a:ln w="9525">
            <a:solidFill>
              <a:srgbClr val="D9D4C4"/>
            </a:solidFill>
            <a:prstDash val="solid"/>
          </a:ln>
        </p:spPr>
      </p:sp>
      <p:pic>
        <p:nvPicPr>
          <p:cNvPr id="7" name="Image 0" descr="/Users/dogan/Documents/Vaults/Courses/wiki/classes/media-studies/decks/_build/img/gardner-sharpshooter.jpg">    </p:cNvPr>
          <p:cNvPicPr>
            <a:picLocks noChangeAspect="1"/>
          </p:cNvPicPr>
          <p:nvPr/>
        </p:nvPicPr>
        <p:blipFill>
          <a:blip r:embed="rId1"/>
          <a:stretch>
            <a:fillRect/>
          </a:stretch>
        </p:blipFill>
        <p:spPr>
          <a:xfrm>
            <a:off x="1260576" y="1673352"/>
            <a:ext cx="2370887" cy="1819656"/>
          </a:xfrm>
          <a:prstGeom prst="rect">
            <a:avLst/>
          </a:prstGeom>
        </p:spPr>
      </p:pic>
      <p:sp>
        <p:nvSpPr>
          <p:cNvPr id="8" name="Text 5"/>
          <p:cNvSpPr/>
          <p:nvPr/>
        </p:nvSpPr>
        <p:spPr>
          <a:xfrm>
            <a:off x="822960" y="3657600"/>
            <a:ext cx="3246120" cy="365760"/>
          </a:xfrm>
          <a:prstGeom prst="rect">
            <a:avLst/>
          </a:prstGeom>
          <a:noFill/>
          <a:ln/>
        </p:spPr>
        <p:txBody>
          <a:bodyPr wrap="square" lIns="0" tIns="0" rIns="0" bIns="0" rtlCol="0" anchor="ctr"/>
          <a:lstStyle/>
          <a:p>
            <a:pPr indent="0" marL="0">
              <a:buNone/>
            </a:pPr>
            <a:r>
              <a:rPr lang="en-US" sz="1400" b="1" spc="150" kern="0" dirty="0">
                <a:solidFill>
                  <a:srgbClr val="4A6B5D"/>
                </a:solidFill>
                <a:latin typeface="Arial" pitchFamily="34" charset="0"/>
                <a:ea typeface="Arial" pitchFamily="34" charset="-122"/>
                <a:cs typeface="Arial" pitchFamily="34" charset="-120"/>
              </a:rPr>
              <a:t>Staging</a:t>
            </a:r>
            <a:endParaRPr lang="en-US" sz="1400" dirty="0"/>
          </a:p>
        </p:txBody>
      </p:sp>
      <p:sp>
        <p:nvSpPr>
          <p:cNvPr id="9" name="Shape 6"/>
          <p:cNvSpPr/>
          <p:nvPr/>
        </p:nvSpPr>
        <p:spPr>
          <a:xfrm>
            <a:off x="822960" y="4069080"/>
            <a:ext cx="3246120" cy="0"/>
          </a:xfrm>
          <a:prstGeom prst="line">
            <a:avLst/>
          </a:prstGeom>
          <a:noFill/>
          <a:ln w="9525">
            <a:solidFill>
              <a:srgbClr val="D9D4C4"/>
            </a:solidFill>
            <a:prstDash val="solid"/>
          </a:ln>
        </p:spPr>
      </p:sp>
      <p:sp>
        <p:nvSpPr>
          <p:cNvPr id="10" name="Text 7"/>
          <p:cNvSpPr/>
          <p:nvPr/>
        </p:nvSpPr>
        <p:spPr>
          <a:xfrm>
            <a:off x="822960" y="4206240"/>
            <a:ext cx="3246120" cy="1737360"/>
          </a:xfrm>
          <a:prstGeom prst="rect">
            <a:avLst/>
          </a:prstGeom>
          <a:noFill/>
          <a:ln/>
        </p:spPr>
        <p:txBody>
          <a:bodyPr wrap="square" lIns="0" tIns="0" rIns="0" bIns="0" rtlCol="0" anchor="t"/>
          <a:lstStyle/>
          <a:p>
            <a:pPr indent="0" marL="0">
              <a:lnSpc>
                <a:spcPts val="2000"/>
              </a:lnSpc>
              <a:buNone/>
            </a:pPr>
            <a:r>
              <a:rPr lang="en-US" sz="1450" dirty="0">
                <a:solidFill>
                  <a:srgbClr val="24313F"/>
                </a:solidFill>
                <a:latin typeface="Georgia" pitchFamily="34" charset="0"/>
                <a:ea typeface="Georgia" pitchFamily="34" charset="-122"/>
                <a:cs typeface="Georgia" pitchFamily="34" charset="-120"/>
              </a:rPr>
              <a:t>Arranging the scene before the shutter. Gardner moved the body; the photograph records a fiction.</a:t>
            </a:r>
            <a:endParaRPr lang="en-US" sz="1450" dirty="0"/>
          </a:p>
        </p:txBody>
      </p:sp>
      <p:sp>
        <p:nvSpPr>
          <p:cNvPr id="11" name="Shape 8"/>
          <p:cNvSpPr/>
          <p:nvPr/>
        </p:nvSpPr>
        <p:spPr>
          <a:xfrm>
            <a:off x="4471416" y="1600200"/>
            <a:ext cx="3246120" cy="1965960"/>
          </a:xfrm>
          <a:prstGeom prst="rect">
            <a:avLst/>
          </a:prstGeom>
          <a:solidFill>
            <a:srgbClr val="FAF8F1"/>
          </a:solidFill>
          <a:ln w="9525">
            <a:solidFill>
              <a:srgbClr val="D9D4C4"/>
            </a:solidFill>
            <a:prstDash val="solid"/>
          </a:ln>
        </p:spPr>
      </p:sp>
      <p:pic>
        <p:nvPicPr>
          <p:cNvPr id="12" name="Image 1" descr="/Users/dogan/Documents/Vaults/Courses/wiki/classes/media-studies/decks/_build/img/migrant-mother.jpg">    </p:cNvPr>
          <p:cNvPicPr>
            <a:picLocks noChangeAspect="1"/>
          </p:cNvPicPr>
          <p:nvPr/>
        </p:nvPicPr>
        <p:blipFill>
          <a:blip r:embed="rId2"/>
          <a:stretch>
            <a:fillRect/>
          </a:stretch>
        </p:blipFill>
        <p:spPr>
          <a:xfrm>
            <a:off x="5466126" y="1673352"/>
            <a:ext cx="1256700" cy="1819656"/>
          </a:xfrm>
          <a:prstGeom prst="rect">
            <a:avLst/>
          </a:prstGeom>
        </p:spPr>
      </p:pic>
      <p:sp>
        <p:nvSpPr>
          <p:cNvPr id="13" name="Text 9"/>
          <p:cNvSpPr/>
          <p:nvPr/>
        </p:nvSpPr>
        <p:spPr>
          <a:xfrm>
            <a:off x="4471416" y="3657600"/>
            <a:ext cx="3246120" cy="365760"/>
          </a:xfrm>
          <a:prstGeom prst="rect">
            <a:avLst/>
          </a:prstGeom>
          <a:noFill/>
          <a:ln/>
        </p:spPr>
        <p:txBody>
          <a:bodyPr wrap="square" lIns="0" tIns="0" rIns="0" bIns="0" rtlCol="0" anchor="ctr"/>
          <a:lstStyle/>
          <a:p>
            <a:pPr indent="0" marL="0">
              <a:buNone/>
            </a:pPr>
            <a:r>
              <a:rPr lang="en-US" sz="1400" b="1" spc="150" kern="0" dirty="0">
                <a:solidFill>
                  <a:srgbClr val="4A6B5D"/>
                </a:solidFill>
                <a:latin typeface="Arial" pitchFamily="34" charset="0"/>
                <a:ea typeface="Arial" pitchFamily="34" charset="-122"/>
                <a:cs typeface="Arial" pitchFamily="34" charset="-120"/>
              </a:rPr>
              <a:t>Selection</a:t>
            </a:r>
            <a:endParaRPr lang="en-US" sz="1400" dirty="0"/>
          </a:p>
        </p:txBody>
      </p:sp>
      <p:sp>
        <p:nvSpPr>
          <p:cNvPr id="14" name="Shape 10"/>
          <p:cNvSpPr/>
          <p:nvPr/>
        </p:nvSpPr>
        <p:spPr>
          <a:xfrm>
            <a:off x="4471416" y="4069080"/>
            <a:ext cx="3246120" cy="0"/>
          </a:xfrm>
          <a:prstGeom prst="line">
            <a:avLst/>
          </a:prstGeom>
          <a:noFill/>
          <a:ln w="9525">
            <a:solidFill>
              <a:srgbClr val="D9D4C4"/>
            </a:solidFill>
            <a:prstDash val="solid"/>
          </a:ln>
        </p:spPr>
      </p:sp>
      <p:sp>
        <p:nvSpPr>
          <p:cNvPr id="15" name="Text 11"/>
          <p:cNvSpPr/>
          <p:nvPr/>
        </p:nvSpPr>
        <p:spPr>
          <a:xfrm>
            <a:off x="4471416" y="4206240"/>
            <a:ext cx="3246120" cy="1737360"/>
          </a:xfrm>
          <a:prstGeom prst="rect">
            <a:avLst/>
          </a:prstGeom>
          <a:noFill/>
          <a:ln/>
        </p:spPr>
        <p:txBody>
          <a:bodyPr wrap="square" lIns="0" tIns="0" rIns="0" bIns="0" rtlCol="0" anchor="t"/>
          <a:lstStyle/>
          <a:p>
            <a:pPr indent="0" marL="0">
              <a:lnSpc>
                <a:spcPts val="2000"/>
              </a:lnSpc>
              <a:buNone/>
            </a:pPr>
            <a:r>
              <a:rPr lang="en-US" sz="1450" dirty="0">
                <a:solidFill>
                  <a:srgbClr val="24313F"/>
                </a:solidFill>
                <a:latin typeface="Georgia" pitchFamily="34" charset="0"/>
                <a:ea typeface="Georgia" pitchFamily="34" charset="-122"/>
                <a:cs typeface="Georgia" pitchFamily="34" charset="-120"/>
              </a:rPr>
              <a:t>Choosing this frame, this crop. Lange kept one of six; the discard is invisible and decisive.</a:t>
            </a:r>
            <a:endParaRPr lang="en-US" sz="1450" dirty="0"/>
          </a:p>
        </p:txBody>
      </p:sp>
      <p:sp>
        <p:nvSpPr>
          <p:cNvPr id="16" name="Shape 12"/>
          <p:cNvSpPr/>
          <p:nvPr/>
        </p:nvSpPr>
        <p:spPr>
          <a:xfrm>
            <a:off x="8119872" y="1600200"/>
            <a:ext cx="3246120" cy="1965960"/>
          </a:xfrm>
          <a:prstGeom prst="rect">
            <a:avLst/>
          </a:prstGeom>
          <a:solidFill>
            <a:srgbClr val="FAF8F1"/>
          </a:solidFill>
          <a:ln w="9525">
            <a:solidFill>
              <a:srgbClr val="D9D4C4"/>
            </a:solidFill>
            <a:prstDash val="solid"/>
          </a:ln>
        </p:spPr>
      </p:sp>
      <p:pic>
        <p:nvPicPr>
          <p:cNvPr id="17" name="Image 2" descr="/Users/dogan/Documents/Vaults/Courses/wiki/classes/media-studies/decks/_build/img/underwood-sweetheart.jpg">    </p:cNvPr>
          <p:cNvPicPr>
            <a:picLocks noChangeAspect="1"/>
          </p:cNvPicPr>
          <p:nvPr/>
        </p:nvPicPr>
        <p:blipFill>
          <a:blip r:embed="rId3"/>
          <a:stretch>
            <a:fillRect/>
          </a:stretch>
        </p:blipFill>
        <p:spPr>
          <a:xfrm>
            <a:off x="8580213" y="1673352"/>
            <a:ext cx="2325439" cy="1819656"/>
          </a:xfrm>
          <a:prstGeom prst="rect">
            <a:avLst/>
          </a:prstGeom>
        </p:spPr>
      </p:pic>
      <p:sp>
        <p:nvSpPr>
          <p:cNvPr id="18" name="Text 13"/>
          <p:cNvSpPr/>
          <p:nvPr/>
        </p:nvSpPr>
        <p:spPr>
          <a:xfrm>
            <a:off x="8119872" y="3657600"/>
            <a:ext cx="3246120" cy="365760"/>
          </a:xfrm>
          <a:prstGeom prst="rect">
            <a:avLst/>
          </a:prstGeom>
          <a:noFill/>
          <a:ln/>
        </p:spPr>
        <p:txBody>
          <a:bodyPr wrap="square" lIns="0" tIns="0" rIns="0" bIns="0" rtlCol="0" anchor="ctr"/>
          <a:lstStyle/>
          <a:p>
            <a:pPr indent="0" marL="0">
              <a:buNone/>
            </a:pPr>
            <a:r>
              <a:rPr lang="en-US" sz="1400" b="1" spc="150" kern="0" dirty="0">
                <a:solidFill>
                  <a:srgbClr val="4A6B5D"/>
                </a:solidFill>
                <a:latin typeface="Arial" pitchFamily="34" charset="0"/>
                <a:ea typeface="Arial" pitchFamily="34" charset="-122"/>
                <a:cs typeface="Arial" pitchFamily="34" charset="-120"/>
              </a:rPr>
              <a:t>Anchorage</a:t>
            </a:r>
            <a:endParaRPr lang="en-US" sz="1400" dirty="0"/>
          </a:p>
        </p:txBody>
      </p:sp>
      <p:sp>
        <p:nvSpPr>
          <p:cNvPr id="19" name="Shape 14"/>
          <p:cNvSpPr/>
          <p:nvPr/>
        </p:nvSpPr>
        <p:spPr>
          <a:xfrm>
            <a:off x="8119872" y="4069080"/>
            <a:ext cx="3246120" cy="0"/>
          </a:xfrm>
          <a:prstGeom prst="line">
            <a:avLst/>
          </a:prstGeom>
          <a:noFill/>
          <a:ln w="9525">
            <a:solidFill>
              <a:srgbClr val="D9D4C4"/>
            </a:solidFill>
            <a:prstDash val="solid"/>
          </a:ln>
        </p:spPr>
      </p:sp>
      <p:sp>
        <p:nvSpPr>
          <p:cNvPr id="20" name="Text 15"/>
          <p:cNvSpPr/>
          <p:nvPr/>
        </p:nvSpPr>
        <p:spPr>
          <a:xfrm>
            <a:off x="8119872" y="4206240"/>
            <a:ext cx="3246120" cy="1737360"/>
          </a:xfrm>
          <a:prstGeom prst="rect">
            <a:avLst/>
          </a:prstGeom>
          <a:noFill/>
          <a:ln/>
        </p:spPr>
        <p:txBody>
          <a:bodyPr wrap="square" lIns="0" tIns="0" rIns="0" bIns="0" rtlCol="0" anchor="t"/>
          <a:lstStyle/>
          <a:p>
            <a:pPr indent="0" marL="0">
              <a:lnSpc>
                <a:spcPts val="2000"/>
              </a:lnSpc>
              <a:buNone/>
            </a:pPr>
            <a:r>
              <a:rPr lang="en-US" sz="1450" dirty="0">
                <a:solidFill>
                  <a:srgbClr val="24313F"/>
                </a:solidFill>
                <a:latin typeface="Georgia" pitchFamily="34" charset="0"/>
                <a:ea typeface="Georgia" pitchFamily="34" charset="-122"/>
                <a:cs typeface="Georgia" pitchFamily="34" charset="-120"/>
              </a:rPr>
              <a:t>The words that tell you how to read the picture. A caption steers a meaning the image alone cannot fix.</a:t>
            </a:r>
            <a:endParaRPr lang="en-US" sz="1450" dirty="0"/>
          </a:p>
        </p:txBody>
      </p:sp>
      <p:sp>
        <p:nvSpPr>
          <p:cNvPr id="21" name="Shape 16"/>
          <p:cNvSpPr/>
          <p:nvPr/>
        </p:nvSpPr>
        <p:spPr>
          <a:xfrm>
            <a:off x="822960" y="6382512"/>
            <a:ext cx="10543032" cy="0"/>
          </a:xfrm>
          <a:prstGeom prst="line">
            <a:avLst/>
          </a:prstGeom>
          <a:noFill/>
          <a:ln w="9525">
            <a:solidFill>
              <a:srgbClr val="D9D4C4"/>
            </a:solidFill>
            <a:prstDash val="solid"/>
          </a:ln>
        </p:spPr>
      </p:sp>
      <p:sp>
        <p:nvSpPr>
          <p:cNvPr id="22" name="Text 17"/>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23" name="Text 18"/>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05</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Users/dogan/Documents/Vaults/Courses/wiki/classes/media-studies/decks/_build/img/crops/underwood-sweetheart_a1777.jpg">    </p:cNvPr>
          <p:cNvPicPr>
            <a:picLocks noChangeAspect="1"/>
          </p:cNvPicPr>
          <p:nvPr/>
        </p:nvPicPr>
        <p:blipFill>
          <a:blip r:embed="rId1"/>
          <a:stretch>
            <a:fillRect/>
          </a:stretch>
        </p:blipFill>
        <p:spPr>
          <a:xfrm>
            <a:off x="0" y="0"/>
            <a:ext cx="12188952" cy="6858000"/>
          </a:xfrm>
          <a:prstGeom prst="rect">
            <a:avLst/>
          </a:prstGeom>
        </p:spPr>
      </p:pic>
      <p:sp>
        <p:nvSpPr>
          <p:cNvPr id="3" name="Shape 0"/>
          <p:cNvSpPr/>
          <p:nvPr/>
        </p:nvSpPr>
        <p:spPr>
          <a:xfrm>
            <a:off x="502920" y="502920"/>
            <a:ext cx="5120640" cy="502920"/>
          </a:xfrm>
          <a:prstGeom prst="rect">
            <a:avLst/>
          </a:prstGeom>
          <a:solidFill>
            <a:srgbClr val="FAF8F1"/>
          </a:solidFill>
          <a:ln/>
        </p:spPr>
      </p:sp>
      <p:sp>
        <p:nvSpPr>
          <p:cNvPr id="4" name="Text 1"/>
          <p:cNvSpPr/>
          <p:nvPr/>
        </p:nvSpPr>
        <p:spPr>
          <a:xfrm>
            <a:off x="704088" y="521208"/>
            <a:ext cx="484632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ANCHORAGE · PROOF THREE</a:t>
            </a:r>
            <a:endParaRPr lang="en-US" sz="1100" dirty="0"/>
          </a:p>
        </p:txBody>
      </p:sp>
      <p:sp>
        <p:nvSpPr>
          <p:cNvPr id="5" name="Shape 2"/>
          <p:cNvSpPr/>
          <p:nvPr/>
        </p:nvSpPr>
        <p:spPr>
          <a:xfrm>
            <a:off x="457200" y="5230368"/>
            <a:ext cx="8778240" cy="1243584"/>
          </a:xfrm>
          <a:prstGeom prst="rect">
            <a:avLst/>
          </a:prstGeom>
          <a:solidFill>
            <a:srgbClr val="FAF8F1"/>
          </a:solidFill>
          <a:ln/>
        </p:spPr>
      </p:sp>
      <p:sp>
        <p:nvSpPr>
          <p:cNvPr id="6" name="Shape 3"/>
          <p:cNvSpPr/>
          <p:nvPr/>
        </p:nvSpPr>
        <p:spPr>
          <a:xfrm>
            <a:off x="676656" y="5468112"/>
            <a:ext cx="731520" cy="0"/>
          </a:xfrm>
          <a:prstGeom prst="line">
            <a:avLst/>
          </a:prstGeom>
          <a:noFill/>
          <a:ln w="28575">
            <a:solidFill>
              <a:srgbClr val="8C3A38"/>
            </a:solidFill>
            <a:prstDash val="solid"/>
          </a:ln>
        </p:spPr>
      </p:sp>
      <p:sp>
        <p:nvSpPr>
          <p:cNvPr id="7" name="Text 4"/>
          <p:cNvSpPr/>
          <p:nvPr/>
        </p:nvSpPr>
        <p:spPr>
          <a:xfrm>
            <a:off x="676656" y="5541264"/>
            <a:ext cx="8339328" cy="585216"/>
          </a:xfrm>
          <a:prstGeom prst="rect">
            <a:avLst/>
          </a:prstGeom>
          <a:noFill/>
          <a:ln/>
        </p:spPr>
        <p:txBody>
          <a:bodyPr wrap="square" lIns="0" tIns="0" rIns="0" bIns="0" rtlCol="0" anchor="t"/>
          <a:lstStyle/>
          <a:p>
            <a:pPr indent="0" marL="0">
              <a:lnSpc>
                <a:spcPts val="2200"/>
              </a:lnSpc>
              <a:buNone/>
            </a:pPr>
            <a:r>
              <a:rPr lang="en-US" sz="1800" dirty="0">
                <a:solidFill>
                  <a:srgbClr val="24313F"/>
                </a:solidFill>
                <a:latin typeface="Georgia" pitchFamily="34" charset="0"/>
                <a:ea typeface="Georgia" pitchFamily="34" charset="-122"/>
                <a:cs typeface="Georgia" pitchFamily="34" charset="-120"/>
              </a:rPr>
              <a:t>The caption tells you who they are and how to feel: Mother, Wife, and Sweetheart.</a:t>
            </a:r>
            <a:endParaRPr lang="en-US" sz="1800" dirty="0"/>
          </a:p>
        </p:txBody>
      </p:sp>
      <p:sp>
        <p:nvSpPr>
          <p:cNvPr id="8" name="Text 5"/>
          <p:cNvSpPr/>
          <p:nvPr/>
        </p:nvSpPr>
        <p:spPr>
          <a:xfrm>
            <a:off x="676656" y="6181344"/>
            <a:ext cx="8339328" cy="256032"/>
          </a:xfrm>
          <a:prstGeom prst="rect">
            <a:avLst/>
          </a:prstGeom>
          <a:noFill/>
          <a:ln/>
        </p:spPr>
        <p:txBody>
          <a:bodyPr wrap="square" lIns="0" tIns="0" rIns="0" bIns="0" rtlCol="0" anchor="ctr"/>
          <a:lstStyle/>
          <a:p>
            <a:pPr indent="0" marL="0">
              <a:buNone/>
            </a:pPr>
            <a:r>
              <a:rPr lang="en-US" sz="950" spc="50" kern="0" dirty="0">
                <a:solidFill>
                  <a:srgbClr val="7A7F72"/>
                </a:solidFill>
                <a:latin typeface="Arial" pitchFamily="34" charset="0"/>
                <a:ea typeface="Arial" pitchFamily="34" charset="-122"/>
                <a:cs typeface="Arial" pitchFamily="34" charset="-120"/>
              </a:rPr>
              <a:t>Underwood &amp; Underwood, Seventh Regiment marching to war, c. 1917</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8EFE7"/>
        </a:solidFill>
      </p:bgPr>
    </p:bg>
    <p:spTree>
      <p:nvGrpSpPr>
        <p:cNvPr id="1" name=""/>
        <p:cNvGrpSpPr/>
        <p:nvPr/>
      </p:nvGrpSpPr>
      <p:grpSpPr>
        <a:xfrm>
          <a:off x="0" y="0"/>
          <a:ext cx="0" cy="0"/>
          <a:chOff x="0" y="0"/>
          <a:chExt cx="0" cy="0"/>
        </a:xfrm>
      </p:grpSpPr>
      <p:sp>
        <p:nvSpPr>
          <p:cNvPr id="2" name="Text 0"/>
          <p:cNvSpPr/>
          <p:nvPr/>
        </p:nvSpPr>
        <p:spPr>
          <a:xfrm>
            <a:off x="502920" y="548640"/>
            <a:ext cx="1828800" cy="1828800"/>
          </a:xfrm>
          <a:prstGeom prst="rect">
            <a:avLst/>
          </a:prstGeom>
          <a:noFill/>
          <a:ln/>
        </p:spPr>
        <p:txBody>
          <a:bodyPr wrap="square" lIns="0" tIns="0" rIns="0" bIns="0" rtlCol="0" anchor="t"/>
          <a:lstStyle/>
          <a:p>
            <a:pPr indent="0" marL="0">
              <a:buNone/>
            </a:pPr>
            <a:r>
              <a:rPr lang="en-US" sz="20000" dirty="0">
                <a:solidFill>
                  <a:srgbClr val="A3C1AD"/>
                </a:solidFill>
                <a:latin typeface="Georgia" pitchFamily="34" charset="0"/>
                <a:ea typeface="Georgia" pitchFamily="34" charset="-122"/>
                <a:cs typeface="Georgia" pitchFamily="34" charset="-120"/>
              </a:rPr>
              <a:t>“</a:t>
            </a:r>
            <a:endParaRPr lang="en-US" sz="20000" dirty="0"/>
          </a:p>
        </p:txBody>
      </p:sp>
      <p:sp>
        <p:nvSpPr>
          <p:cNvPr id="3" name="Text 1"/>
          <p:cNvSpPr/>
          <p:nvPr/>
        </p:nvSpPr>
        <p:spPr>
          <a:xfrm>
            <a:off x="822960" y="1783080"/>
            <a:ext cx="10424160" cy="3291840"/>
          </a:xfrm>
          <a:prstGeom prst="rect">
            <a:avLst/>
          </a:prstGeom>
          <a:noFill/>
          <a:ln/>
        </p:spPr>
        <p:txBody>
          <a:bodyPr wrap="square" lIns="0" tIns="0" rIns="0" bIns="0" rtlCol="0" anchor="ctr"/>
          <a:lstStyle/>
          <a:p>
            <a:pPr indent="0" marL="0">
              <a:lnSpc>
                <a:spcPts val="5000"/>
              </a:lnSpc>
              <a:buNone/>
            </a:pPr>
            <a:r>
              <a:rPr lang="en-US" sz="4200" dirty="0">
                <a:solidFill>
                  <a:srgbClr val="24313F"/>
                </a:solidFill>
                <a:latin typeface="Georgia" pitchFamily="34" charset="0"/>
                <a:ea typeface="Georgia" pitchFamily="34" charset="-122"/>
                <a:cs typeface="Georgia" pitchFamily="34" charset="-120"/>
              </a:rPr>
              <a:t>Seeing comes before words. The child looks and recognizes before it can speak.</a:t>
            </a:r>
            <a:endParaRPr lang="en-US" sz="4200" dirty="0"/>
          </a:p>
        </p:txBody>
      </p:sp>
      <p:sp>
        <p:nvSpPr>
          <p:cNvPr id="4" name="Shape 2"/>
          <p:cNvSpPr/>
          <p:nvPr/>
        </p:nvSpPr>
        <p:spPr>
          <a:xfrm>
            <a:off x="822960" y="5029200"/>
            <a:ext cx="914400" cy="0"/>
          </a:xfrm>
          <a:prstGeom prst="line">
            <a:avLst/>
          </a:prstGeom>
          <a:noFill/>
          <a:ln w="31750">
            <a:solidFill>
              <a:srgbClr val="8C3A38"/>
            </a:solidFill>
            <a:prstDash val="solid"/>
          </a:ln>
        </p:spPr>
      </p:sp>
      <p:sp>
        <p:nvSpPr>
          <p:cNvPr id="5" name="Text 3"/>
          <p:cNvSpPr/>
          <p:nvPr/>
        </p:nvSpPr>
        <p:spPr>
          <a:xfrm>
            <a:off x="822960" y="5212080"/>
            <a:ext cx="10058400" cy="457200"/>
          </a:xfrm>
          <a:prstGeom prst="rect">
            <a:avLst/>
          </a:prstGeom>
          <a:noFill/>
          <a:ln/>
        </p:spPr>
        <p:txBody>
          <a:bodyPr wrap="square" lIns="0" tIns="0" rIns="0" bIns="0" rtlCol="0" anchor="ctr"/>
          <a:lstStyle/>
          <a:p>
            <a:pPr indent="0" marL="0">
              <a:buNone/>
            </a:pPr>
            <a:r>
              <a:rPr lang="en-US" sz="1400" spc="100" kern="0" dirty="0">
                <a:solidFill>
                  <a:srgbClr val="4A6B5D"/>
                </a:solidFill>
                <a:latin typeface="Arial" pitchFamily="34" charset="0"/>
                <a:ea typeface="Arial" pitchFamily="34" charset="-122"/>
                <a:cs typeface="Arial" pitchFamily="34" charset="-120"/>
              </a:rPr>
              <a:t>John Berger, Ways of Seeing, 1972</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HOW IT RUNS</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THREE SESSIONS</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005840"/>
            <a:ext cx="10543032" cy="731520"/>
          </a:xfrm>
          <a:prstGeom prst="rect">
            <a:avLst/>
          </a:prstGeom>
          <a:noFill/>
          <a:ln/>
        </p:spPr>
        <p:txBody>
          <a:bodyPr wrap="square" lIns="0" tIns="0" rIns="0" bIns="0" rtlCol="0" anchor="ctr"/>
          <a:lstStyle/>
          <a:p>
            <a:pPr indent="0" marL="0">
              <a:buNone/>
            </a:pPr>
            <a:r>
              <a:rPr lang="en-US" sz="4000" dirty="0">
                <a:solidFill>
                  <a:srgbClr val="24313F"/>
                </a:solidFill>
                <a:latin typeface="Georgia" pitchFamily="34" charset="0"/>
                <a:ea typeface="Georgia" pitchFamily="34" charset="-122"/>
                <a:cs typeface="Georgia" pitchFamily="34" charset="-120"/>
              </a:rPr>
              <a:t>Three days, one habit</a:t>
            </a:r>
            <a:endParaRPr lang="en-US" sz="4000" dirty="0"/>
          </a:p>
        </p:txBody>
      </p:sp>
      <p:sp>
        <p:nvSpPr>
          <p:cNvPr id="6" name="Text 4"/>
          <p:cNvSpPr/>
          <p:nvPr/>
        </p:nvSpPr>
        <p:spPr>
          <a:xfrm>
            <a:off x="822960" y="2057400"/>
            <a:ext cx="3246120" cy="822960"/>
          </a:xfrm>
          <a:prstGeom prst="rect">
            <a:avLst/>
          </a:prstGeom>
          <a:noFill/>
          <a:ln/>
        </p:spPr>
        <p:txBody>
          <a:bodyPr wrap="square" lIns="0" tIns="0" rIns="0" bIns="0" rtlCol="0" anchor="ctr"/>
          <a:lstStyle/>
          <a:p>
            <a:pPr indent="0" marL="0">
              <a:buNone/>
            </a:pPr>
            <a:r>
              <a:rPr lang="en-US" sz="4600" dirty="0">
                <a:solidFill>
                  <a:srgbClr val="A3C1AD"/>
                </a:solidFill>
                <a:latin typeface="Georgia" pitchFamily="34" charset="0"/>
                <a:ea typeface="Georgia" pitchFamily="34" charset="-122"/>
                <a:cs typeface="Georgia" pitchFamily="34" charset="-120"/>
              </a:rPr>
              <a:t>01</a:t>
            </a:r>
            <a:endParaRPr lang="en-US" sz="4600" dirty="0"/>
          </a:p>
        </p:txBody>
      </p:sp>
      <p:sp>
        <p:nvSpPr>
          <p:cNvPr id="7" name="Shape 5"/>
          <p:cNvSpPr/>
          <p:nvPr/>
        </p:nvSpPr>
        <p:spPr>
          <a:xfrm>
            <a:off x="822960" y="2971800"/>
            <a:ext cx="3246120" cy="0"/>
          </a:xfrm>
          <a:prstGeom prst="line">
            <a:avLst/>
          </a:prstGeom>
          <a:noFill/>
          <a:ln w="9525">
            <a:solidFill>
              <a:srgbClr val="D9D4C4"/>
            </a:solidFill>
            <a:prstDash val="solid"/>
          </a:ln>
        </p:spPr>
      </p:sp>
      <p:sp>
        <p:nvSpPr>
          <p:cNvPr id="8" name="Text 6"/>
          <p:cNvSpPr/>
          <p:nvPr/>
        </p:nvSpPr>
        <p:spPr>
          <a:xfrm>
            <a:off x="822960" y="3108960"/>
            <a:ext cx="3246120" cy="365760"/>
          </a:xfrm>
          <a:prstGeom prst="rect">
            <a:avLst/>
          </a:prstGeom>
          <a:noFill/>
          <a:ln/>
        </p:spPr>
        <p:txBody>
          <a:bodyPr wrap="square" lIns="0" tIns="0" rIns="0" bIns="0" rtlCol="0" anchor="ctr"/>
          <a:lstStyle/>
          <a:p>
            <a:pPr indent="0" marL="0">
              <a:buNone/>
            </a:pPr>
            <a:r>
              <a:rPr lang="en-US" sz="1400" b="1" spc="150" kern="0" dirty="0">
                <a:solidFill>
                  <a:srgbClr val="4A6B5D"/>
                </a:solidFill>
                <a:latin typeface="Arial" pitchFamily="34" charset="0"/>
                <a:ea typeface="Arial" pitchFamily="34" charset="-122"/>
                <a:cs typeface="Arial" pitchFamily="34" charset="-120"/>
              </a:rPr>
              <a:t>Tuesday</a:t>
            </a:r>
            <a:endParaRPr lang="en-US" sz="1400" dirty="0"/>
          </a:p>
        </p:txBody>
      </p:sp>
      <p:sp>
        <p:nvSpPr>
          <p:cNvPr id="9" name="Text 7"/>
          <p:cNvSpPr/>
          <p:nvPr/>
        </p:nvSpPr>
        <p:spPr>
          <a:xfrm>
            <a:off x="822960" y="3520440"/>
            <a:ext cx="3246120" cy="2011680"/>
          </a:xfrm>
          <a:prstGeom prst="rect">
            <a:avLst/>
          </a:prstGeom>
          <a:noFill/>
          <a:ln/>
        </p:spPr>
        <p:txBody>
          <a:bodyPr wrap="square" lIns="0" tIns="0" rIns="0" bIns="0" rtlCol="0" anchor="t"/>
          <a:lstStyle/>
          <a:p>
            <a:pPr indent="0" marL="0">
              <a:lnSpc>
                <a:spcPts val="2100"/>
              </a:lnSpc>
              <a:buNone/>
            </a:pPr>
            <a:r>
              <a:rPr lang="en-US" sz="1550" dirty="0">
                <a:solidFill>
                  <a:srgbClr val="24313F"/>
                </a:solidFill>
                <a:latin typeface="Georgia" pitchFamily="34" charset="0"/>
                <a:ea typeface="Georgia" pitchFamily="34" charset="-122"/>
                <a:cs typeface="Georgia" pitchFamily="34" charset="-120"/>
              </a:rPr>
              <a:t>The opener and the wager: keep a 24-hour media-use log. Blog set-up begins, and the EN/ZH lexicon opens: five entries by Friday.</a:t>
            </a:r>
            <a:endParaRPr lang="en-US" sz="1550" dirty="0"/>
          </a:p>
        </p:txBody>
      </p:sp>
      <p:sp>
        <p:nvSpPr>
          <p:cNvPr id="10" name="Text 8"/>
          <p:cNvSpPr/>
          <p:nvPr/>
        </p:nvSpPr>
        <p:spPr>
          <a:xfrm>
            <a:off x="4471416" y="2057400"/>
            <a:ext cx="3246120" cy="822960"/>
          </a:xfrm>
          <a:prstGeom prst="rect">
            <a:avLst/>
          </a:prstGeom>
          <a:noFill/>
          <a:ln/>
        </p:spPr>
        <p:txBody>
          <a:bodyPr wrap="square" lIns="0" tIns="0" rIns="0" bIns="0" rtlCol="0" anchor="ctr"/>
          <a:lstStyle/>
          <a:p>
            <a:pPr indent="0" marL="0">
              <a:buNone/>
            </a:pPr>
            <a:r>
              <a:rPr lang="en-US" sz="4600" dirty="0">
                <a:solidFill>
                  <a:srgbClr val="A3C1AD"/>
                </a:solidFill>
                <a:latin typeface="Georgia" pitchFamily="34" charset="0"/>
                <a:ea typeface="Georgia" pitchFamily="34" charset="-122"/>
                <a:cs typeface="Georgia" pitchFamily="34" charset="-120"/>
              </a:rPr>
              <a:t>02</a:t>
            </a:r>
            <a:endParaRPr lang="en-US" sz="4600" dirty="0"/>
          </a:p>
        </p:txBody>
      </p:sp>
      <p:sp>
        <p:nvSpPr>
          <p:cNvPr id="11" name="Shape 9"/>
          <p:cNvSpPr/>
          <p:nvPr/>
        </p:nvSpPr>
        <p:spPr>
          <a:xfrm>
            <a:off x="4471416" y="2971800"/>
            <a:ext cx="3246120" cy="0"/>
          </a:xfrm>
          <a:prstGeom prst="line">
            <a:avLst/>
          </a:prstGeom>
          <a:noFill/>
          <a:ln w="9525">
            <a:solidFill>
              <a:srgbClr val="D9D4C4"/>
            </a:solidFill>
            <a:prstDash val="solid"/>
          </a:ln>
        </p:spPr>
      </p:sp>
      <p:sp>
        <p:nvSpPr>
          <p:cNvPr id="12" name="Text 10"/>
          <p:cNvSpPr/>
          <p:nvPr/>
        </p:nvSpPr>
        <p:spPr>
          <a:xfrm>
            <a:off x="4471416" y="3108960"/>
            <a:ext cx="3246120" cy="365760"/>
          </a:xfrm>
          <a:prstGeom prst="rect">
            <a:avLst/>
          </a:prstGeom>
          <a:noFill/>
          <a:ln/>
        </p:spPr>
        <p:txBody>
          <a:bodyPr wrap="square" lIns="0" tIns="0" rIns="0" bIns="0" rtlCol="0" anchor="ctr"/>
          <a:lstStyle/>
          <a:p>
            <a:pPr indent="0" marL="0">
              <a:buNone/>
            </a:pPr>
            <a:r>
              <a:rPr lang="en-US" sz="1400" b="1" spc="150" kern="0" dirty="0">
                <a:solidFill>
                  <a:srgbClr val="4A6B5D"/>
                </a:solidFill>
                <a:latin typeface="Arial" pitchFamily="34" charset="0"/>
                <a:ea typeface="Arial" pitchFamily="34" charset="-122"/>
                <a:cs typeface="Arial" pitchFamily="34" charset="-120"/>
              </a:rPr>
              <a:t>Wednesday</a:t>
            </a:r>
            <a:endParaRPr lang="en-US" sz="1400" dirty="0"/>
          </a:p>
        </p:txBody>
      </p:sp>
      <p:sp>
        <p:nvSpPr>
          <p:cNvPr id="13" name="Text 11"/>
          <p:cNvSpPr/>
          <p:nvPr/>
        </p:nvSpPr>
        <p:spPr>
          <a:xfrm>
            <a:off x="4471416" y="3520440"/>
            <a:ext cx="3246120" cy="2011680"/>
          </a:xfrm>
          <a:prstGeom prst="rect">
            <a:avLst/>
          </a:prstGeom>
          <a:noFill/>
          <a:ln/>
        </p:spPr>
        <p:txBody>
          <a:bodyPr wrap="square" lIns="0" tIns="0" rIns="0" bIns="0" rtlCol="0" anchor="t"/>
          <a:lstStyle/>
          <a:p>
            <a:pPr indent="0" marL="0">
              <a:lnSpc>
                <a:spcPts val="2100"/>
              </a:lnSpc>
              <a:buNone/>
            </a:pPr>
            <a:r>
              <a:rPr lang="en-US" sz="1550" dirty="0">
                <a:solidFill>
                  <a:srgbClr val="24313F"/>
                </a:solidFill>
                <a:latin typeface="Georgia" pitchFamily="34" charset="0"/>
                <a:ea typeface="Georgia" pitchFamily="34" charset="-122"/>
                <a:cs typeface="Georgia" pitchFamily="34" charset="-120"/>
              </a:rPr>
              <a:t>The four Key Concepts named and applied, a version not a window proven three times; Sort Wars closes the double.</a:t>
            </a:r>
            <a:endParaRPr lang="en-US" sz="1550" dirty="0"/>
          </a:p>
        </p:txBody>
      </p:sp>
      <p:sp>
        <p:nvSpPr>
          <p:cNvPr id="14" name="Text 12"/>
          <p:cNvSpPr/>
          <p:nvPr/>
        </p:nvSpPr>
        <p:spPr>
          <a:xfrm>
            <a:off x="8119872" y="2057400"/>
            <a:ext cx="3246120" cy="822960"/>
          </a:xfrm>
          <a:prstGeom prst="rect">
            <a:avLst/>
          </a:prstGeom>
          <a:noFill/>
          <a:ln/>
        </p:spPr>
        <p:txBody>
          <a:bodyPr wrap="square" lIns="0" tIns="0" rIns="0" bIns="0" rtlCol="0" anchor="ctr"/>
          <a:lstStyle/>
          <a:p>
            <a:pPr indent="0" marL="0">
              <a:buNone/>
            </a:pPr>
            <a:r>
              <a:rPr lang="en-US" sz="4600" dirty="0">
                <a:solidFill>
                  <a:srgbClr val="A3C1AD"/>
                </a:solidFill>
                <a:latin typeface="Georgia" pitchFamily="34" charset="0"/>
                <a:ea typeface="Georgia" pitchFamily="34" charset="-122"/>
                <a:cs typeface="Georgia" pitchFamily="34" charset="-120"/>
              </a:rPr>
              <a:t>03</a:t>
            </a:r>
            <a:endParaRPr lang="en-US" sz="4600" dirty="0"/>
          </a:p>
        </p:txBody>
      </p:sp>
      <p:sp>
        <p:nvSpPr>
          <p:cNvPr id="15" name="Shape 13"/>
          <p:cNvSpPr/>
          <p:nvPr/>
        </p:nvSpPr>
        <p:spPr>
          <a:xfrm>
            <a:off x="8119872" y="2971800"/>
            <a:ext cx="3246120" cy="0"/>
          </a:xfrm>
          <a:prstGeom prst="line">
            <a:avLst/>
          </a:prstGeom>
          <a:noFill/>
          <a:ln w="9525">
            <a:solidFill>
              <a:srgbClr val="D9D4C4"/>
            </a:solidFill>
            <a:prstDash val="solid"/>
          </a:ln>
        </p:spPr>
      </p:sp>
      <p:sp>
        <p:nvSpPr>
          <p:cNvPr id="16" name="Text 14"/>
          <p:cNvSpPr/>
          <p:nvPr/>
        </p:nvSpPr>
        <p:spPr>
          <a:xfrm>
            <a:off x="8119872" y="3108960"/>
            <a:ext cx="3246120" cy="365760"/>
          </a:xfrm>
          <a:prstGeom prst="rect">
            <a:avLst/>
          </a:prstGeom>
          <a:noFill/>
          <a:ln/>
        </p:spPr>
        <p:txBody>
          <a:bodyPr wrap="square" lIns="0" tIns="0" rIns="0" bIns="0" rtlCol="0" anchor="ctr"/>
          <a:lstStyle/>
          <a:p>
            <a:pPr indent="0" marL="0">
              <a:buNone/>
            </a:pPr>
            <a:r>
              <a:rPr lang="en-US" sz="1400" b="1" spc="150" kern="0" dirty="0">
                <a:solidFill>
                  <a:srgbClr val="4A6B5D"/>
                </a:solidFill>
                <a:latin typeface="Arial" pitchFamily="34" charset="0"/>
                <a:ea typeface="Arial" pitchFamily="34" charset="-122"/>
                <a:cs typeface="Arial" pitchFamily="34" charset="-120"/>
              </a:rPr>
              <a:t>Friday</a:t>
            </a:r>
            <a:endParaRPr lang="en-US" sz="1400" dirty="0"/>
          </a:p>
        </p:txBody>
      </p:sp>
      <p:sp>
        <p:nvSpPr>
          <p:cNvPr id="17" name="Text 15"/>
          <p:cNvSpPr/>
          <p:nvPr/>
        </p:nvSpPr>
        <p:spPr>
          <a:xfrm>
            <a:off x="8119872" y="3520440"/>
            <a:ext cx="3246120" cy="2011680"/>
          </a:xfrm>
          <a:prstGeom prst="rect">
            <a:avLst/>
          </a:prstGeom>
          <a:noFill/>
          <a:ln/>
        </p:spPr>
        <p:txBody>
          <a:bodyPr wrap="square" lIns="0" tIns="0" rIns="0" bIns="0" rtlCol="0" anchor="t"/>
          <a:lstStyle/>
          <a:p>
            <a:pPr indent="0" marL="0">
              <a:lnSpc>
                <a:spcPts val="2100"/>
              </a:lnSpc>
              <a:buNone/>
            </a:pPr>
            <a:r>
              <a:rPr lang="en-US" sz="1550" dirty="0">
                <a:solidFill>
                  <a:srgbClr val="24313F"/>
                </a:solidFill>
                <a:latin typeface="Georgia" pitchFamily="34" charset="0"/>
                <a:ea typeface="Georgia" pitchFamily="34" charset="-122"/>
                <a:cs typeface="Georgia" pitchFamily="34" charset="-120"/>
              </a:rPr>
              <a:t>Denotation only: every meaning held back. CS1 is written, then faces the Smuggler Hunt.</a:t>
            </a:r>
            <a:endParaRPr lang="en-US" sz="1550" dirty="0"/>
          </a:p>
        </p:txBody>
      </p:sp>
      <p:sp>
        <p:nvSpPr>
          <p:cNvPr id="18" name="Shape 16"/>
          <p:cNvSpPr/>
          <p:nvPr/>
        </p:nvSpPr>
        <p:spPr>
          <a:xfrm>
            <a:off x="822960" y="6382512"/>
            <a:ext cx="10543032" cy="0"/>
          </a:xfrm>
          <a:prstGeom prst="line">
            <a:avLst/>
          </a:prstGeom>
          <a:noFill/>
          <a:ln w="9525">
            <a:solidFill>
              <a:srgbClr val="D9D4C4"/>
            </a:solidFill>
            <a:prstDash val="solid"/>
          </a:ln>
        </p:spPr>
      </p:sp>
      <p:sp>
        <p:nvSpPr>
          <p:cNvPr id="19" name="Text 17"/>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20" name="Text 18"/>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06</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DELIVERABLE · CS1</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FRIDAY, IN CLASS</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051560"/>
            <a:ext cx="10543032" cy="731520"/>
          </a:xfrm>
          <a:prstGeom prst="rect">
            <a:avLst/>
          </a:prstGeom>
          <a:noFill/>
          <a:ln/>
        </p:spPr>
        <p:txBody>
          <a:bodyPr wrap="square" lIns="0" tIns="0" rIns="0" bIns="0" rtlCol="0" anchor="ctr"/>
          <a:lstStyle/>
          <a:p>
            <a:pPr indent="0" marL="0">
              <a:buNone/>
            </a:pPr>
            <a:r>
              <a:rPr lang="en-US" sz="3400" dirty="0">
                <a:solidFill>
                  <a:srgbClr val="24313F"/>
                </a:solidFill>
                <a:latin typeface="Georgia" pitchFamily="34" charset="0"/>
                <a:ea typeface="Georgia" pitchFamily="34" charset="-122"/>
                <a:cs typeface="Georgia" pitchFamily="34" charset="-120"/>
              </a:rPr>
              <a:t>Describe only. Hold every meaning back.</a:t>
            </a:r>
            <a:endParaRPr lang="en-US" sz="3400" dirty="0"/>
          </a:p>
        </p:txBody>
      </p:sp>
      <p:sp>
        <p:nvSpPr>
          <p:cNvPr id="6" name="Shape 4"/>
          <p:cNvSpPr/>
          <p:nvPr/>
        </p:nvSpPr>
        <p:spPr>
          <a:xfrm>
            <a:off x="822960" y="2011680"/>
            <a:ext cx="914400" cy="0"/>
          </a:xfrm>
          <a:prstGeom prst="line">
            <a:avLst/>
          </a:prstGeom>
          <a:noFill/>
          <a:ln w="31750">
            <a:solidFill>
              <a:srgbClr val="8C3A38"/>
            </a:solidFill>
            <a:prstDash val="solid"/>
          </a:ln>
        </p:spPr>
      </p:sp>
      <p:sp>
        <p:nvSpPr>
          <p:cNvPr id="7" name="Text 5"/>
          <p:cNvSpPr/>
          <p:nvPr/>
        </p:nvSpPr>
        <p:spPr>
          <a:xfrm>
            <a:off x="822960" y="2240280"/>
            <a:ext cx="9875520" cy="1463040"/>
          </a:xfrm>
          <a:prstGeom prst="rect">
            <a:avLst/>
          </a:prstGeom>
          <a:noFill/>
          <a:ln/>
        </p:spPr>
        <p:txBody>
          <a:bodyPr wrap="square" lIns="0" tIns="0" rIns="0" bIns="0" rtlCol="0" anchor="t"/>
          <a:lstStyle/>
          <a:p>
            <a:pPr indent="0" marL="0">
              <a:lnSpc>
                <a:spcPts val="2600"/>
              </a:lnSpc>
              <a:buNone/>
            </a:pPr>
            <a:r>
              <a:rPr lang="en-US" sz="1850" dirty="0">
                <a:solidFill>
                  <a:srgbClr val="24313F"/>
                </a:solidFill>
                <a:latin typeface="Georgia" pitchFamily="34" charset="0"/>
                <a:ea typeface="Georgia" pitchFamily="34" charset="-122"/>
                <a:cs typeface="Georgia" pitchFamily="34" charset="-120"/>
              </a:rPr>
              <a:t>One paragraph on an unseen image, pure denotation: what is there, not what it means. Worried, poor, desperate go on a parked list that L02 will collect. A paragraph with zero interpretive claims, one that survives the Smuggler Hunt, is the win.</a:t>
            </a:r>
            <a:endParaRPr lang="en-US" sz="1850" dirty="0"/>
          </a:p>
        </p:txBody>
      </p:sp>
      <p:sp>
        <p:nvSpPr>
          <p:cNvPr id="8" name="Shape 6"/>
          <p:cNvSpPr/>
          <p:nvPr/>
        </p:nvSpPr>
        <p:spPr>
          <a:xfrm>
            <a:off x="822960" y="3840480"/>
            <a:ext cx="10543032" cy="1371600"/>
          </a:xfrm>
          <a:prstGeom prst="rect">
            <a:avLst/>
          </a:prstGeom>
          <a:solidFill>
            <a:srgbClr val="E8EFE7"/>
          </a:solidFill>
          <a:ln/>
        </p:spPr>
      </p:sp>
      <p:sp>
        <p:nvSpPr>
          <p:cNvPr id="9" name="Text 7"/>
          <p:cNvSpPr/>
          <p:nvPr/>
        </p:nvSpPr>
        <p:spPr>
          <a:xfrm>
            <a:off x="1097280" y="3977640"/>
            <a:ext cx="5486400" cy="274320"/>
          </a:xfrm>
          <a:prstGeom prst="rect">
            <a:avLst/>
          </a:prstGeom>
          <a:noFill/>
          <a:ln/>
        </p:spPr>
        <p:txBody>
          <a:bodyPr wrap="square" lIns="0" tIns="0" rIns="0" bIns="0" rtlCol="0" anchor="ctr"/>
          <a:lstStyle/>
          <a:p>
            <a:pPr indent="0" marL="0">
              <a:buNone/>
            </a:pPr>
            <a:r>
              <a:rPr lang="en-US" sz="1050" b="1" spc="150" kern="0" dirty="0">
                <a:solidFill>
                  <a:srgbClr val="7A7F72"/>
                </a:solidFill>
                <a:latin typeface="Arial" pitchFamily="34" charset="0"/>
                <a:ea typeface="Arial" pitchFamily="34" charset="-122"/>
                <a:cs typeface="Arial" pitchFamily="34" charset="-120"/>
              </a:rPr>
              <a:t>THE FRAMES ON EVERY DESK</a:t>
            </a:r>
            <a:endParaRPr lang="en-US" sz="1050" dirty="0"/>
          </a:p>
        </p:txBody>
      </p:sp>
      <p:sp>
        <p:nvSpPr>
          <p:cNvPr id="10" name="Text 8"/>
          <p:cNvSpPr/>
          <p:nvPr/>
        </p:nvSpPr>
        <p:spPr>
          <a:xfrm>
            <a:off x="1097280" y="4297680"/>
            <a:ext cx="9994392" cy="822960"/>
          </a:xfrm>
          <a:prstGeom prst="rect">
            <a:avLst/>
          </a:prstGeom>
          <a:noFill/>
          <a:ln/>
        </p:spPr>
        <p:txBody>
          <a:bodyPr wrap="square" lIns="0" tIns="0" rIns="0" bIns="0" rtlCol="0" anchor="t"/>
          <a:lstStyle/>
          <a:p>
            <a:pPr indent="0" marL="0">
              <a:lnSpc>
                <a:spcPts val="2400"/>
              </a:lnSpc>
              <a:buNone/>
            </a:pPr>
            <a:r>
              <a:rPr lang="en-US" sz="1700" i="1" dirty="0">
                <a:solidFill>
                  <a:srgbClr val="24313F"/>
                </a:solidFill>
                <a:latin typeface="Georgia" pitchFamily="34" charset="0"/>
                <a:ea typeface="Georgia" pitchFamily="34" charset="-122"/>
                <a:cs typeface="Georgia" pitchFamily="34" charset="-120"/>
              </a:rPr>
              <a:t>The image shows ...   ·   In the foreground / background ...   ·   The figure is positioned ...   ·   The text reads ...</a:t>
            </a:r>
            <a:endParaRPr lang="en-US" sz="1700" dirty="0"/>
          </a:p>
        </p:txBody>
      </p:sp>
      <p:sp>
        <p:nvSpPr>
          <p:cNvPr id="11" name="Text 9"/>
          <p:cNvSpPr/>
          <p:nvPr/>
        </p:nvSpPr>
        <p:spPr>
          <a:xfrm>
            <a:off x="822960" y="5440680"/>
            <a:ext cx="9601200" cy="457200"/>
          </a:xfrm>
          <a:prstGeom prst="rect">
            <a:avLst/>
          </a:prstGeom>
          <a:noFill/>
          <a:ln/>
        </p:spPr>
        <p:txBody>
          <a:bodyPr wrap="square" lIns="0" tIns="0" rIns="0" bIns="0" rtlCol="0" anchor="ctr"/>
          <a:lstStyle/>
          <a:p>
            <a:pPr indent="0" marL="0">
              <a:buNone/>
            </a:pPr>
            <a:r>
              <a:rPr lang="en-US" sz="1300" i="1" dirty="0">
                <a:solidFill>
                  <a:srgbClr val="7A7F72"/>
                </a:solidFill>
                <a:latin typeface="Arial" pitchFamily="34" charset="0"/>
                <a:ea typeface="Arial" pitchFamily="34" charset="-122"/>
                <a:cs typeface="Arial" pitchFamily="34" charset="-120"/>
              </a:rPr>
              <a:t>Describing before meaning is what the exam rewards, so it is installed on day three, not discovered in October.</a:t>
            </a:r>
            <a:endParaRPr lang="en-US" sz="1300" dirty="0"/>
          </a:p>
        </p:txBody>
      </p:sp>
      <p:sp>
        <p:nvSpPr>
          <p:cNvPr id="12" name="Shape 10"/>
          <p:cNvSpPr/>
          <p:nvPr/>
        </p:nvSpPr>
        <p:spPr>
          <a:xfrm>
            <a:off x="822960" y="6382512"/>
            <a:ext cx="10543032" cy="0"/>
          </a:xfrm>
          <a:prstGeom prst="line">
            <a:avLst/>
          </a:prstGeom>
          <a:noFill/>
          <a:ln w="9525">
            <a:solidFill>
              <a:srgbClr val="D9D4C4"/>
            </a:solidFill>
            <a:prstDash val="solid"/>
          </a:ln>
        </p:spPr>
      </p:sp>
      <p:sp>
        <p:nvSpPr>
          <p:cNvPr id="13" name="Text 11"/>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4" name="Text 12"/>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07</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4A6B5D"/>
        </a:solidFill>
      </p:bgPr>
    </p:bg>
    <p:spTree>
      <p:nvGrpSpPr>
        <p:cNvPr id="1" name=""/>
        <p:cNvGrpSpPr/>
        <p:nvPr/>
      </p:nvGrpSpPr>
      <p:grpSpPr>
        <a:xfrm>
          <a:off x="0" y="0"/>
          <a:ext cx="0" cy="0"/>
          <a:chOff x="0" y="0"/>
          <a:chExt cx="0" cy="0"/>
        </a:xfrm>
      </p:grpSpPr>
      <p:sp>
        <p:nvSpPr>
          <p:cNvPr id="2" name="Text 0"/>
          <p:cNvSpPr/>
          <p:nvPr/>
        </p:nvSpPr>
        <p:spPr>
          <a:xfrm>
            <a:off x="822960" y="1188720"/>
            <a:ext cx="10424160" cy="365760"/>
          </a:xfrm>
          <a:prstGeom prst="rect">
            <a:avLst/>
          </a:prstGeom>
          <a:noFill/>
          <a:ln/>
        </p:spPr>
        <p:txBody>
          <a:bodyPr wrap="square" lIns="0" tIns="0" rIns="0" bIns="0" rtlCol="0" anchor="ctr"/>
          <a:lstStyle/>
          <a:p>
            <a:pPr indent="0" marL="0">
              <a:buNone/>
            </a:pPr>
            <a:r>
              <a:rPr lang="en-US" sz="1300" spc="100" kern="0" dirty="0">
                <a:solidFill>
                  <a:srgbClr val="E8EFE7"/>
                </a:solidFill>
                <a:latin typeface="Arial" pitchFamily="34" charset="0"/>
                <a:ea typeface="Arial" pitchFamily="34" charset="-122"/>
                <a:cs typeface="Arial" pitchFamily="34" charset="-120"/>
              </a:rPr>
              <a:t>Language · Representation · Industry · Audience: the four Key Concepts, now yours.</a:t>
            </a:r>
            <a:endParaRPr lang="en-US" sz="1300" dirty="0"/>
          </a:p>
        </p:txBody>
      </p:sp>
      <p:sp>
        <p:nvSpPr>
          <p:cNvPr id="3" name="Text 1"/>
          <p:cNvSpPr/>
          <p:nvPr/>
        </p:nvSpPr>
        <p:spPr>
          <a:xfrm>
            <a:off x="822960" y="2148840"/>
            <a:ext cx="5486400" cy="274320"/>
          </a:xfrm>
          <a:prstGeom prst="rect">
            <a:avLst/>
          </a:prstGeom>
          <a:noFill/>
          <a:ln/>
        </p:spPr>
        <p:txBody>
          <a:bodyPr wrap="square" lIns="0" tIns="0" rIns="0" bIns="0" rtlCol="0" anchor="ctr"/>
          <a:lstStyle/>
          <a:p>
            <a:pPr algn="l" indent="0" marL="0">
              <a:buNone/>
            </a:pPr>
            <a:r>
              <a:rPr lang="en-US" sz="1100" b="1" spc="250" kern="0" dirty="0">
                <a:solidFill>
                  <a:srgbClr val="FAF8F1"/>
                </a:solidFill>
                <a:latin typeface="Arial" pitchFamily="34" charset="0"/>
                <a:ea typeface="Arial" pitchFamily="34" charset="-122"/>
                <a:cs typeface="Arial" pitchFamily="34" charset="-120"/>
              </a:rPr>
              <a:t>NEXT</a:t>
            </a:r>
            <a:endParaRPr lang="en-US" sz="1100" dirty="0"/>
          </a:p>
        </p:txBody>
      </p:sp>
      <p:sp>
        <p:nvSpPr>
          <p:cNvPr id="4" name="Shape 2"/>
          <p:cNvSpPr/>
          <p:nvPr/>
        </p:nvSpPr>
        <p:spPr>
          <a:xfrm>
            <a:off x="822960" y="2514600"/>
            <a:ext cx="3108960" cy="0"/>
          </a:xfrm>
          <a:prstGeom prst="line">
            <a:avLst/>
          </a:prstGeom>
          <a:noFill/>
          <a:ln w="9525">
            <a:solidFill>
              <a:srgbClr val="8AA394"/>
            </a:solidFill>
            <a:prstDash val="solid"/>
          </a:ln>
        </p:spPr>
      </p:sp>
      <p:sp>
        <p:nvSpPr>
          <p:cNvPr id="5" name="Text 3"/>
          <p:cNvSpPr/>
          <p:nvPr/>
        </p:nvSpPr>
        <p:spPr>
          <a:xfrm>
            <a:off x="822960" y="2651760"/>
            <a:ext cx="10058400" cy="1920240"/>
          </a:xfrm>
          <a:prstGeom prst="rect">
            <a:avLst/>
          </a:prstGeom>
          <a:noFill/>
          <a:ln/>
        </p:spPr>
        <p:txBody>
          <a:bodyPr wrap="square" lIns="0" tIns="0" rIns="0" bIns="0" rtlCol="0" anchor="t"/>
          <a:lstStyle/>
          <a:p>
            <a:pPr indent="0" marL="0">
              <a:lnSpc>
                <a:spcPts val="5600"/>
              </a:lnSpc>
              <a:buNone/>
            </a:pPr>
            <a:r>
              <a:rPr lang="en-US" sz="5400" dirty="0">
                <a:solidFill>
                  <a:srgbClr val="FAF8F1"/>
                </a:solidFill>
                <a:latin typeface="Georgia" pitchFamily="34" charset="0"/>
                <a:ea typeface="Georgia" pitchFamily="34" charset="-122"/>
                <a:cs typeface="Georgia" pitchFamily="34" charset="-120"/>
              </a:rPr>
              <a:t>Semiotics,</a:t>
            </a:r>
            <a:endParaRPr lang="en-US" sz="5400" dirty="0"/>
          </a:p>
          <a:p>
            <a:pPr indent="0" marL="0">
              <a:lnSpc>
                <a:spcPts val="5600"/>
              </a:lnSpc>
              <a:buNone/>
            </a:pPr>
            <a:r>
              <a:rPr lang="en-US" sz="5400" dirty="0">
                <a:solidFill>
                  <a:srgbClr val="FAF8F1"/>
                </a:solidFill>
                <a:latin typeface="Georgia" pitchFamily="34" charset="0"/>
                <a:ea typeface="Georgia" pitchFamily="34" charset="-122"/>
                <a:cs typeface="Georgia" pitchFamily="34" charset="-120"/>
              </a:rPr>
              <a:t>Signs and Codes</a:t>
            </a:r>
            <a:endParaRPr lang="en-US" sz="5400" dirty="0"/>
          </a:p>
        </p:txBody>
      </p:sp>
      <p:sp>
        <p:nvSpPr>
          <p:cNvPr id="6" name="Text 4"/>
          <p:cNvSpPr/>
          <p:nvPr/>
        </p:nvSpPr>
        <p:spPr>
          <a:xfrm>
            <a:off x="822960" y="4892040"/>
            <a:ext cx="9601200" cy="457200"/>
          </a:xfrm>
          <a:prstGeom prst="rect">
            <a:avLst/>
          </a:prstGeom>
          <a:noFill/>
          <a:ln/>
        </p:spPr>
        <p:txBody>
          <a:bodyPr wrap="square" lIns="0" tIns="0" rIns="0" bIns="0" rtlCol="0" anchor="ctr"/>
          <a:lstStyle/>
          <a:p>
            <a:pPr indent="0" marL="0">
              <a:buNone/>
            </a:pPr>
            <a:r>
              <a:rPr lang="en-US" sz="2200" i="1" dirty="0">
                <a:solidFill>
                  <a:srgbClr val="E8EFE7"/>
                </a:solidFill>
                <a:latin typeface="Georgia" pitchFamily="34" charset="0"/>
                <a:ea typeface="Georgia" pitchFamily="34" charset="-122"/>
                <a:cs typeface="Georgia" pitchFamily="34" charset="-120"/>
              </a:rPr>
              <a:t>Lesson 02. The parked list gets its name: connotation.</a:t>
            </a:r>
            <a:endParaRPr lang="en-US" sz="2200" dirty="0"/>
          </a:p>
        </p:txBody>
      </p:sp>
      <p:sp>
        <p:nvSpPr>
          <p:cNvPr id="7" name="Shape 5"/>
          <p:cNvSpPr/>
          <p:nvPr/>
        </p:nvSpPr>
        <p:spPr>
          <a:xfrm>
            <a:off x="822960" y="6382512"/>
            <a:ext cx="10543032" cy="0"/>
          </a:xfrm>
          <a:prstGeom prst="line">
            <a:avLst/>
          </a:prstGeom>
          <a:noFill/>
          <a:ln w="9525">
            <a:solidFill>
              <a:srgbClr val="6E8A7C"/>
            </a:solidFill>
            <a:prstDash val="solid"/>
          </a:ln>
        </p:spPr>
      </p:sp>
      <p:sp>
        <p:nvSpPr>
          <p:cNvPr id="8" name="Text 6"/>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E8EFE7"/>
                </a:solidFill>
                <a:latin typeface="Arial" pitchFamily="34" charset="0"/>
                <a:ea typeface="Arial" pitchFamily="34" charset="-122"/>
                <a:cs typeface="Arial" pitchFamily="34" charset="-120"/>
              </a:rPr>
              <a:t>MEDIA STUDIES 9607 · SEMESTER I</a:t>
            </a:r>
            <a:endParaRPr lang="en-US" sz="900" dirty="0"/>
          </a:p>
        </p:txBody>
      </p:sp>
      <p:sp>
        <p:nvSpPr>
          <p:cNvPr id="9" name="Text 7"/>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E8EFE7"/>
                </a:solidFill>
                <a:latin typeface="Georgia" pitchFamily="34" charset="0"/>
                <a:ea typeface="Georgia" pitchFamily="34" charset="-122"/>
                <a:cs typeface="Georgia" pitchFamily="34" charset="-120"/>
              </a:rPr>
              <a:t>08</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2026-08-24T08:49:57Z</dcterms:created>
  <dcterms:modified xsi:type="dcterms:W3CDTF">2026-08-24T08:49:57Z</dcterms:modified>
</cp:coreProperties>
</file>