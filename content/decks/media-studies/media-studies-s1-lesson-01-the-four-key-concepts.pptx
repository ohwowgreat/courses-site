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one is the founding wager: 'I'm not impacted by media.' Record the vote, promise to re-run it in June. Warm, ordinary, unhurried.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media text is a made thing: someone chose the frame, the crop, the words. Say it flat on day one; the whole semester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famous photograph of the American Civil War, and it was arranged. The staging is older than Photoshop by a century and a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them explicitly as the four Key Concepts and have the room say all four aloud before the definitions are read. Board anchors go up now and stay up all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six-exposure contact sheet and the retouched thumb are documented. Tell it as a story. Selection is the mediation students never think to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women watch soldiers leave; the printed title names them and steers the emotion. The words carry meaning the image alone cannot fix. This returns in L02 as Barthes's anchorage.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CS1 announced day one to satisfy the 72-hour rule. Marked for discipline, not polish: zero interpretive claims is the single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503920" y="822960"/>
            <a:ext cx="2926080" cy="4937760"/>
          </a:xfrm>
          <a:prstGeom prst="rect">
            <a:avLst/>
          </a:prstGeom>
          <a:noFill/>
          <a:ln/>
        </p:spPr>
        <p:txBody>
          <a:bodyPr wrap="square" lIns="0" tIns="0" rIns="0" bIns="0" rtlCol="0" anchor="ctr"/>
          <a:lstStyle/>
          <a:p>
            <a:pPr algn="ctr" indent="0" marL="0">
              <a:buNone/>
            </a:pPr>
            <a:r>
              <a:rPr lang="en-US" sz="32000" dirty="0">
                <a:solidFill>
                  <a:srgbClr val="A3C1AD"/>
                </a:solidFill>
                <a:latin typeface="Georgia" pitchFamily="34" charset="0"/>
                <a:ea typeface="Georgia" pitchFamily="34" charset="-122"/>
                <a:cs typeface="Georgia" pitchFamily="34" charset="-120"/>
              </a:rPr>
              <a:t>I</a:t>
            </a:r>
            <a:endParaRPr lang="en-US" sz="32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a:t>
            </a:r>
            <a:endParaRPr lang="en-US" sz="1100" dirty="0"/>
          </a:p>
        </p:txBody>
      </p:sp>
      <p:sp>
        <p:nvSpPr>
          <p:cNvPr id="4" name="Text 2"/>
          <p:cNvSpPr/>
          <p:nvPr/>
        </p:nvSpPr>
        <p:spPr>
          <a:xfrm>
            <a:off x="822960" y="1737360"/>
            <a:ext cx="8229600" cy="2377440"/>
          </a:xfrm>
          <a:prstGeom prst="rect">
            <a:avLst/>
          </a:prstGeom>
          <a:noFill/>
          <a:ln/>
        </p:spPr>
        <p:txBody>
          <a:bodyPr wrap="square" lIns="0" tIns="0" rIns="0" bIns="0" rtlCol="0" anchor="t"/>
          <a:lstStyle/>
          <a:p>
            <a:pPr indent="0" marL="0">
              <a:lnSpc>
                <a:spcPts val="6800"/>
              </a:lnSpc>
              <a:buNone/>
            </a:pPr>
            <a:r>
              <a:rPr lang="en-US" sz="7000" dirty="0">
                <a:solidFill>
                  <a:srgbClr val="24313F"/>
                </a:solidFill>
                <a:latin typeface="Georgia" pitchFamily="34" charset="0"/>
                <a:ea typeface="Georgia" pitchFamily="34" charset="-122"/>
                <a:cs typeface="Georgia" pitchFamily="34" charset="-120"/>
              </a:rPr>
              <a:t>The Four</a:t>
            </a:r>
            <a:endParaRPr lang="en-US" sz="7000" dirty="0"/>
          </a:p>
          <a:p>
            <a:pPr indent="0" marL="0">
              <a:lnSpc>
                <a:spcPts val="6800"/>
              </a:lnSpc>
              <a:buNone/>
            </a:pPr>
            <a:r>
              <a:rPr lang="en-US" sz="7000" dirty="0">
                <a:solidFill>
                  <a:srgbClr val="24313F"/>
                </a:solidFill>
                <a:latin typeface="Georgia" pitchFamily="34" charset="0"/>
                <a:ea typeface="Georgia" pitchFamily="34" charset="-122"/>
                <a:cs typeface="Georgia" pitchFamily="34" charset="-120"/>
              </a:rPr>
              <a:t>Key Concepts</a:t>
            </a:r>
            <a:endParaRPr lang="en-US" sz="70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7724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Introduction to Media · Lesson 01 of 19</a:t>
            </a:r>
            <a:endParaRPr lang="en-US" sz="2200" dirty="0"/>
          </a:p>
        </p:txBody>
      </p:sp>
      <p:sp>
        <p:nvSpPr>
          <p:cNvPr id="7" name="Text 5"/>
          <p:cNvSpPr/>
          <p:nvPr/>
        </p:nvSpPr>
        <p:spPr>
          <a:xfrm>
            <a:off x="822960" y="502920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Three days  ·  Tuesday 1 to Friday 4 September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321040" y="640080"/>
            <a:ext cx="3291840" cy="5577840"/>
          </a:xfrm>
          <a:prstGeom prst="rect">
            <a:avLst/>
          </a:prstGeom>
          <a:noFill/>
          <a:ln/>
        </p:spPr>
        <p:txBody>
          <a:bodyPr wrap="square" lIns="0" tIns="0" rIns="0" bIns="0" rtlCol="0" anchor="ctr"/>
          <a:lstStyle/>
          <a:p>
            <a:pPr algn="ctr" indent="0" marL="0">
              <a:buNone/>
            </a:pPr>
            <a:r>
              <a:rPr lang="en-US" sz="38000" dirty="0">
                <a:solidFill>
                  <a:srgbClr val="5C7A6B"/>
                </a:solidFill>
                <a:latin typeface="Georgia" pitchFamily="34" charset="0"/>
                <a:ea typeface="Georgia" pitchFamily="34" charset="-122"/>
                <a:cs typeface="Georgia" pitchFamily="34" charset="-120"/>
              </a:rPr>
              <a:t>I</a:t>
            </a:r>
            <a:endParaRPr lang="en-US" sz="38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FOUNDING CLAIM</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680960" cy="2194560"/>
          </a:xfrm>
          <a:prstGeom prst="rect">
            <a:avLst/>
          </a:prstGeom>
          <a:noFill/>
          <a:ln/>
        </p:spPr>
        <p:txBody>
          <a:bodyPr wrap="square" lIns="0" tIns="0" rIns="0" bIns="0" rtlCol="0" anchor="t"/>
          <a:lstStyle/>
          <a:p>
            <a:pPr indent="0" marL="0">
              <a:lnSpc>
                <a:spcPts val="6200"/>
              </a:lnSpc>
              <a:buNone/>
            </a:pPr>
            <a:r>
              <a:rPr lang="en-US" sz="6200" dirty="0">
                <a:solidFill>
                  <a:srgbClr val="FAF8F1"/>
                </a:solidFill>
                <a:latin typeface="Georgia" pitchFamily="34" charset="0"/>
                <a:ea typeface="Georgia" pitchFamily="34" charset="-122"/>
                <a:cs typeface="Georgia" pitchFamily="34" charset="-120"/>
              </a:rPr>
              <a:t>A version,</a:t>
            </a:r>
            <a:endParaRPr lang="en-US" sz="6200" dirty="0"/>
          </a:p>
          <a:p>
            <a:pPr indent="0" marL="0">
              <a:lnSpc>
                <a:spcPts val="6200"/>
              </a:lnSpc>
              <a:buNone/>
            </a:pPr>
            <a:r>
              <a:rPr lang="en-US" sz="6200" dirty="0">
                <a:solidFill>
                  <a:srgbClr val="FAF8F1"/>
                </a:solidFill>
                <a:latin typeface="Georgia" pitchFamily="34" charset="0"/>
                <a:ea typeface="Georgia" pitchFamily="34" charset="-122"/>
                <a:cs typeface="Georgia" pitchFamily="34" charset="-120"/>
              </a:rPr>
              <a:t>not a window.</a:t>
            </a:r>
            <a:endParaRPr lang="en-US" sz="6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dogan/Documents/Vaults/Courses/wiki/classes/media-studies/decks/_build/img/crops/gardner-sharpshooter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STAGING · PROOF ONE</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The body was moved and the rifle propped, before the shutter ever opened.</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Alexander Gardner, Home of a Rebel Sharpshooter, Gettysburg, 1863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200"/>
              </a:lnSpc>
              <a:buNone/>
            </a:pPr>
            <a:r>
              <a:rPr lang="en-US" sz="4400" dirty="0">
                <a:solidFill>
                  <a:srgbClr val="24313F"/>
                </a:solidFill>
                <a:latin typeface="Georgia" pitchFamily="34" charset="0"/>
                <a:ea typeface="Georgia" pitchFamily="34" charset="-122"/>
                <a:cs typeface="Georgia" pitchFamily="34" charset="-120"/>
              </a:rPr>
              <a:t>A photograph passes for incontrovertible proof that a given thing happened.</a:t>
            </a:r>
            <a:endParaRPr lang="en-US" sz="44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Susan Sontag, On Photography, 1977</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FOUR KEY CONCEPTS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READ EVERY TEXT FOUR TIMES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48640"/>
          </a:xfrm>
          <a:prstGeom prst="rect">
            <a:avLst/>
          </a:prstGeom>
          <a:noFill/>
          <a:ln/>
        </p:spPr>
        <p:txBody>
          <a:bodyPr wrap="square" lIns="0" tIns="0" rIns="0" bIns="0" rtlCol="0" anchor="ctr"/>
          <a:lstStyle/>
          <a:p>
            <a:pPr indent="0" marL="0">
              <a:buNone/>
            </a:pPr>
            <a:r>
              <a:rPr lang="en-US" sz="2800" dirty="0">
                <a:solidFill>
                  <a:srgbClr val="24313F"/>
                </a:solidFill>
                <a:latin typeface="Georgia" pitchFamily="34" charset="0"/>
                <a:ea typeface="Georgia" pitchFamily="34" charset="-122"/>
                <a:cs typeface="Georgia" pitchFamily="34" charset="-120"/>
              </a:rPr>
              <a:t>Language · Representation · Industry · Audience</a:t>
            </a:r>
            <a:endParaRPr lang="en-US" sz="2800" dirty="0"/>
          </a:p>
        </p:txBody>
      </p:sp>
      <p:sp>
        <p:nvSpPr>
          <p:cNvPr id="6" name="Text 4"/>
          <p:cNvSpPr/>
          <p:nvPr/>
        </p:nvSpPr>
        <p:spPr>
          <a:xfrm>
            <a:off x="822960" y="1499616"/>
            <a:ext cx="10543032" cy="36576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Cambridge reads every media text through these four Key Concepts. So does this course, for two years. Four tools, not four words.</a:t>
            </a:r>
            <a:endParaRPr lang="en-US" sz="1250" dirty="0"/>
          </a:p>
        </p:txBody>
      </p:sp>
      <p:sp>
        <p:nvSpPr>
          <p:cNvPr id="7" name="Text 5"/>
          <p:cNvSpPr/>
          <p:nvPr/>
        </p:nvSpPr>
        <p:spPr>
          <a:xfrm>
            <a:off x="822960" y="192024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01</a:t>
            </a:r>
            <a:endParaRPr lang="en-US" sz="3000" dirty="0"/>
          </a:p>
        </p:txBody>
      </p:sp>
      <p:sp>
        <p:nvSpPr>
          <p:cNvPr id="8" name="Text 6"/>
          <p:cNvSpPr/>
          <p:nvPr/>
        </p:nvSpPr>
        <p:spPr>
          <a:xfrm>
            <a:off x="1737360" y="1938528"/>
            <a:ext cx="4082796" cy="45720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Language</a:t>
            </a:r>
            <a:endParaRPr lang="en-US" sz="2400" dirty="0"/>
          </a:p>
        </p:txBody>
      </p:sp>
      <p:sp>
        <p:nvSpPr>
          <p:cNvPr id="9" name="Text 7"/>
          <p:cNvSpPr/>
          <p:nvPr/>
        </p:nvSpPr>
        <p:spPr>
          <a:xfrm>
            <a:off x="1737360" y="2487168"/>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How it is made to mean: the codes, framing and choices that build the message.</a:t>
            </a:r>
            <a:endParaRPr lang="en-US" sz="1550" dirty="0"/>
          </a:p>
        </p:txBody>
      </p:sp>
      <p:sp>
        <p:nvSpPr>
          <p:cNvPr id="10" name="Text 8"/>
          <p:cNvSpPr/>
          <p:nvPr/>
        </p:nvSpPr>
        <p:spPr>
          <a:xfrm>
            <a:off x="6368796" y="192024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02</a:t>
            </a:r>
            <a:endParaRPr lang="en-US" sz="3000" dirty="0"/>
          </a:p>
        </p:txBody>
      </p:sp>
      <p:sp>
        <p:nvSpPr>
          <p:cNvPr id="11" name="Text 9"/>
          <p:cNvSpPr/>
          <p:nvPr/>
        </p:nvSpPr>
        <p:spPr>
          <a:xfrm>
            <a:off x="7283196" y="1938528"/>
            <a:ext cx="4082796" cy="45720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Representation</a:t>
            </a:r>
            <a:endParaRPr lang="en-US" sz="2400" dirty="0"/>
          </a:p>
        </p:txBody>
      </p:sp>
      <p:sp>
        <p:nvSpPr>
          <p:cNvPr id="12" name="Text 10"/>
          <p:cNvSpPr/>
          <p:nvPr/>
        </p:nvSpPr>
        <p:spPr>
          <a:xfrm>
            <a:off x="7283196" y="2487168"/>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How people, places and ideas are shown, and what each showing leaves out.</a:t>
            </a:r>
            <a:endParaRPr lang="en-US" sz="1550" dirty="0"/>
          </a:p>
        </p:txBody>
      </p:sp>
      <p:sp>
        <p:nvSpPr>
          <p:cNvPr id="13" name="Text 11"/>
          <p:cNvSpPr/>
          <p:nvPr/>
        </p:nvSpPr>
        <p:spPr>
          <a:xfrm>
            <a:off x="822960" y="411480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03</a:t>
            </a:r>
            <a:endParaRPr lang="en-US" sz="3000" dirty="0"/>
          </a:p>
        </p:txBody>
      </p:sp>
      <p:sp>
        <p:nvSpPr>
          <p:cNvPr id="14" name="Text 12"/>
          <p:cNvSpPr/>
          <p:nvPr/>
        </p:nvSpPr>
        <p:spPr>
          <a:xfrm>
            <a:off x="1737360" y="4133088"/>
            <a:ext cx="4082796" cy="45720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Industry</a:t>
            </a:r>
            <a:endParaRPr lang="en-US" sz="2400" dirty="0"/>
          </a:p>
        </p:txBody>
      </p:sp>
      <p:sp>
        <p:nvSpPr>
          <p:cNvPr id="15" name="Text 13"/>
          <p:cNvSpPr/>
          <p:nvPr/>
        </p:nvSpPr>
        <p:spPr>
          <a:xfrm>
            <a:off x="1737360" y="4681728"/>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Who made it, who paid, and why: funding follows content, always.</a:t>
            </a:r>
            <a:endParaRPr lang="en-US" sz="1550" dirty="0"/>
          </a:p>
        </p:txBody>
      </p:sp>
      <p:sp>
        <p:nvSpPr>
          <p:cNvPr id="16" name="Text 14"/>
          <p:cNvSpPr/>
          <p:nvPr/>
        </p:nvSpPr>
        <p:spPr>
          <a:xfrm>
            <a:off x="6368796" y="411480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04</a:t>
            </a:r>
            <a:endParaRPr lang="en-US" sz="3000" dirty="0"/>
          </a:p>
        </p:txBody>
      </p:sp>
      <p:sp>
        <p:nvSpPr>
          <p:cNvPr id="17" name="Text 15"/>
          <p:cNvSpPr/>
          <p:nvPr/>
        </p:nvSpPr>
        <p:spPr>
          <a:xfrm>
            <a:off x="7283196" y="4133088"/>
            <a:ext cx="4082796" cy="45720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Audience</a:t>
            </a:r>
            <a:endParaRPr lang="en-US" sz="2400" dirty="0"/>
          </a:p>
        </p:txBody>
      </p:sp>
      <p:sp>
        <p:nvSpPr>
          <p:cNvPr id="18" name="Text 16"/>
          <p:cNvSpPr/>
          <p:nvPr/>
        </p:nvSpPr>
        <p:spPr>
          <a:xfrm>
            <a:off x="7283196" y="4681728"/>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Who it is for, and what they do with it. You are an audience before anything else.</a:t>
            </a:r>
            <a:endParaRPr lang="en-US" sz="1550" dirty="0"/>
          </a:p>
        </p:txBody>
      </p:sp>
      <p:sp>
        <p:nvSpPr>
          <p:cNvPr id="19" name="Shape 17"/>
          <p:cNvSpPr/>
          <p:nvPr/>
        </p:nvSpPr>
        <p:spPr>
          <a:xfrm>
            <a:off x="822960" y="6382512"/>
            <a:ext cx="10543032" cy="0"/>
          </a:xfrm>
          <a:prstGeom prst="line">
            <a:avLst/>
          </a:prstGeom>
          <a:noFill/>
          <a:ln w="9525">
            <a:solidFill>
              <a:srgbClr val="D9D4C4"/>
            </a:solidFill>
            <a:prstDash val="solid"/>
          </a:ln>
        </p:spPr>
      </p:sp>
      <p:sp>
        <p:nvSpPr>
          <p:cNvPr id="20" name="Text 1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1" name="Text 1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media-studies/decks/_build/img/crops/migrant-mother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Dorothea Lange, Migrant Mother, 1936</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SELECTION · PROOF TWO</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234440"/>
            <a:ext cx="6217920" cy="1737360"/>
          </a:xfrm>
          <a:prstGeom prst="rect">
            <a:avLst/>
          </a:prstGeom>
          <a:noFill/>
          <a:ln/>
        </p:spPr>
        <p:txBody>
          <a:bodyPr wrap="square" lIns="0" tIns="0" rIns="0" bIns="0" rtlCol="0" anchor="t"/>
          <a:lstStyle/>
          <a:p>
            <a:pPr indent="0" marL="0">
              <a:lnSpc>
                <a:spcPts val="4800"/>
              </a:lnSpc>
              <a:buNone/>
            </a:pPr>
            <a:r>
              <a:rPr lang="en-US" sz="4800" dirty="0">
                <a:solidFill>
                  <a:srgbClr val="24313F"/>
                </a:solidFill>
                <a:latin typeface="Georgia" pitchFamily="34" charset="0"/>
                <a:ea typeface="Georgia" pitchFamily="34" charset="-122"/>
                <a:cs typeface="Georgia" pitchFamily="34" charset="-120"/>
              </a:rPr>
              <a:t>One frame</a:t>
            </a:r>
            <a:endParaRPr lang="en-US" sz="4800" dirty="0"/>
          </a:p>
          <a:p>
            <a:pPr indent="0" marL="0">
              <a:lnSpc>
                <a:spcPts val="4800"/>
              </a:lnSpc>
              <a:buNone/>
            </a:pPr>
            <a:r>
              <a:rPr lang="en-US" sz="4800" dirty="0">
                <a:solidFill>
                  <a:srgbClr val="24313F"/>
                </a:solidFill>
                <a:latin typeface="Georgia" pitchFamily="34" charset="0"/>
                <a:ea typeface="Georgia" pitchFamily="34" charset="-122"/>
                <a:cs typeface="Georgia" pitchFamily="34" charset="-120"/>
              </a:rPr>
              <a:t>of six</a:t>
            </a:r>
            <a:endParaRPr lang="en-US" sz="4800" dirty="0"/>
          </a:p>
        </p:txBody>
      </p:sp>
      <p:sp>
        <p:nvSpPr>
          <p:cNvPr id="7" name="Text 4"/>
          <p:cNvSpPr/>
          <p:nvPr/>
        </p:nvSpPr>
        <p:spPr>
          <a:xfrm>
            <a:off x="822960" y="3246120"/>
            <a:ext cx="6309360" cy="2377440"/>
          </a:xfrm>
          <a:prstGeom prst="rect">
            <a:avLst/>
          </a:prstGeom>
          <a:noFill/>
          <a:ln/>
        </p:spPr>
        <p:txBody>
          <a:bodyPr wrap="square" lIns="0" tIns="0" rIns="0" bIns="0" rtlCol="0" anchor="t"/>
          <a:lstStyle/>
          <a:p>
            <a:pPr indent="0" marL="0">
              <a:lnSpc>
                <a:spcPts val="2600"/>
              </a:lnSpc>
              <a:buNone/>
            </a:pPr>
            <a:r>
              <a:rPr lang="en-US" sz="1800" dirty="0">
                <a:solidFill>
                  <a:srgbClr val="24313F"/>
                </a:solidFill>
                <a:latin typeface="Georgia" pitchFamily="34" charset="0"/>
                <a:ea typeface="Georgia" pitchFamily="34" charset="-122"/>
                <a:cs typeface="Georgia" pitchFamily="34" charset="-120"/>
              </a:rPr>
              <a:t>Lange shot six exposures and chose this one. It was cropped, and a distracting thumb was later retouched away. Every photograph is also the frames nobody chose.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HOW MEDIATION WORKS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THREE MECHANISMS, THREE NAMES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Named so you can reuse them</a:t>
            </a:r>
            <a:endParaRPr lang="en-US" sz="3400" dirty="0"/>
          </a:p>
        </p:txBody>
      </p:sp>
      <p:sp>
        <p:nvSpPr>
          <p:cNvPr id="6" name="Text 4"/>
          <p:cNvSpPr/>
          <p:nvPr/>
        </p:nvSpPr>
        <p:spPr>
          <a:xfrm>
            <a:off x="822960" y="2057400"/>
            <a:ext cx="3246120" cy="822960"/>
          </a:xfrm>
          <a:prstGeom prst="rect">
            <a:avLst/>
          </a:prstGeom>
          <a:noFill/>
          <a:ln/>
        </p:spPr>
        <p:txBody>
          <a:bodyPr wrap="square" lIns="0" tIns="0" rIns="0" bIns="0" rtlCol="0" anchor="ctr"/>
          <a:lstStyle/>
          <a:p>
            <a:pPr indent="0" marL="0">
              <a:buNone/>
            </a:pPr>
            <a:r>
              <a:rPr lang="en-US" sz="4400" dirty="0">
                <a:solidFill>
                  <a:srgbClr val="A3C1AD"/>
                </a:solidFill>
                <a:latin typeface="Georgia" pitchFamily="34" charset="0"/>
                <a:ea typeface="Georgia" pitchFamily="34" charset="-122"/>
                <a:cs typeface="Georgia" pitchFamily="34" charset="-120"/>
              </a:rPr>
              <a:t>01</a:t>
            </a:r>
            <a:endParaRPr lang="en-US" sz="4400" dirty="0"/>
          </a:p>
        </p:txBody>
      </p:sp>
      <p:sp>
        <p:nvSpPr>
          <p:cNvPr id="7" name="Shape 5"/>
          <p:cNvSpPr/>
          <p:nvPr/>
        </p:nvSpPr>
        <p:spPr>
          <a:xfrm>
            <a:off x="822960" y="2926080"/>
            <a:ext cx="3246120" cy="0"/>
          </a:xfrm>
          <a:prstGeom prst="line">
            <a:avLst/>
          </a:prstGeom>
          <a:noFill/>
          <a:ln w="9525">
            <a:solidFill>
              <a:srgbClr val="D9D4C4"/>
            </a:solidFill>
            <a:prstDash val="solid"/>
          </a:ln>
        </p:spPr>
      </p:sp>
      <p:sp>
        <p:nvSpPr>
          <p:cNvPr id="8" name="Text 6"/>
          <p:cNvSpPr/>
          <p:nvPr/>
        </p:nvSpPr>
        <p:spPr>
          <a:xfrm>
            <a:off x="822960" y="3063240"/>
            <a:ext cx="3246120" cy="36576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Staging</a:t>
            </a:r>
            <a:endParaRPr lang="en-US" sz="1400" dirty="0"/>
          </a:p>
        </p:txBody>
      </p:sp>
      <p:sp>
        <p:nvSpPr>
          <p:cNvPr id="9" name="Text 7"/>
          <p:cNvSpPr/>
          <p:nvPr/>
        </p:nvSpPr>
        <p:spPr>
          <a:xfrm>
            <a:off x="822960" y="3474720"/>
            <a:ext cx="3246120" cy="21945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Arranging the scene before the shutter. Gardner moved the body; the photograph records a fiction.</a:t>
            </a:r>
            <a:endParaRPr lang="en-US" sz="1600" dirty="0"/>
          </a:p>
        </p:txBody>
      </p:sp>
      <p:sp>
        <p:nvSpPr>
          <p:cNvPr id="10" name="Text 8"/>
          <p:cNvSpPr/>
          <p:nvPr/>
        </p:nvSpPr>
        <p:spPr>
          <a:xfrm>
            <a:off x="4471416" y="2057400"/>
            <a:ext cx="3246120" cy="822960"/>
          </a:xfrm>
          <a:prstGeom prst="rect">
            <a:avLst/>
          </a:prstGeom>
          <a:noFill/>
          <a:ln/>
        </p:spPr>
        <p:txBody>
          <a:bodyPr wrap="square" lIns="0" tIns="0" rIns="0" bIns="0" rtlCol="0" anchor="ctr"/>
          <a:lstStyle/>
          <a:p>
            <a:pPr indent="0" marL="0">
              <a:buNone/>
            </a:pPr>
            <a:r>
              <a:rPr lang="en-US" sz="4400" dirty="0">
                <a:solidFill>
                  <a:srgbClr val="A3C1AD"/>
                </a:solidFill>
                <a:latin typeface="Georgia" pitchFamily="34" charset="0"/>
                <a:ea typeface="Georgia" pitchFamily="34" charset="-122"/>
                <a:cs typeface="Georgia" pitchFamily="34" charset="-120"/>
              </a:rPr>
              <a:t>02</a:t>
            </a:r>
            <a:endParaRPr lang="en-US" sz="4400" dirty="0"/>
          </a:p>
        </p:txBody>
      </p:sp>
      <p:sp>
        <p:nvSpPr>
          <p:cNvPr id="11" name="Shape 9"/>
          <p:cNvSpPr/>
          <p:nvPr/>
        </p:nvSpPr>
        <p:spPr>
          <a:xfrm>
            <a:off x="4471416" y="2926080"/>
            <a:ext cx="3246120" cy="0"/>
          </a:xfrm>
          <a:prstGeom prst="line">
            <a:avLst/>
          </a:prstGeom>
          <a:noFill/>
          <a:ln w="9525">
            <a:solidFill>
              <a:srgbClr val="D9D4C4"/>
            </a:solidFill>
            <a:prstDash val="solid"/>
          </a:ln>
        </p:spPr>
      </p:sp>
      <p:sp>
        <p:nvSpPr>
          <p:cNvPr id="12" name="Text 10"/>
          <p:cNvSpPr/>
          <p:nvPr/>
        </p:nvSpPr>
        <p:spPr>
          <a:xfrm>
            <a:off x="4471416" y="3063240"/>
            <a:ext cx="3246120" cy="36576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Selection</a:t>
            </a:r>
            <a:endParaRPr lang="en-US" sz="1400" dirty="0"/>
          </a:p>
        </p:txBody>
      </p:sp>
      <p:sp>
        <p:nvSpPr>
          <p:cNvPr id="13" name="Text 11"/>
          <p:cNvSpPr/>
          <p:nvPr/>
        </p:nvSpPr>
        <p:spPr>
          <a:xfrm>
            <a:off x="4471416" y="3474720"/>
            <a:ext cx="3246120" cy="21945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Choosing this frame, this crop. Lange kept one of six; the discard is invisible and decisive.</a:t>
            </a:r>
            <a:endParaRPr lang="en-US" sz="1600" dirty="0"/>
          </a:p>
        </p:txBody>
      </p:sp>
      <p:sp>
        <p:nvSpPr>
          <p:cNvPr id="14" name="Text 12"/>
          <p:cNvSpPr/>
          <p:nvPr/>
        </p:nvSpPr>
        <p:spPr>
          <a:xfrm>
            <a:off x="8119872" y="2057400"/>
            <a:ext cx="3246120" cy="822960"/>
          </a:xfrm>
          <a:prstGeom prst="rect">
            <a:avLst/>
          </a:prstGeom>
          <a:noFill/>
          <a:ln/>
        </p:spPr>
        <p:txBody>
          <a:bodyPr wrap="square" lIns="0" tIns="0" rIns="0" bIns="0" rtlCol="0" anchor="ctr"/>
          <a:lstStyle/>
          <a:p>
            <a:pPr indent="0" marL="0">
              <a:buNone/>
            </a:pPr>
            <a:r>
              <a:rPr lang="en-US" sz="4400" dirty="0">
                <a:solidFill>
                  <a:srgbClr val="A3C1AD"/>
                </a:solidFill>
                <a:latin typeface="Georgia" pitchFamily="34" charset="0"/>
                <a:ea typeface="Georgia" pitchFamily="34" charset="-122"/>
                <a:cs typeface="Georgia" pitchFamily="34" charset="-120"/>
              </a:rPr>
              <a:t>03</a:t>
            </a:r>
            <a:endParaRPr lang="en-US" sz="4400" dirty="0"/>
          </a:p>
        </p:txBody>
      </p:sp>
      <p:sp>
        <p:nvSpPr>
          <p:cNvPr id="15" name="Shape 13"/>
          <p:cNvSpPr/>
          <p:nvPr/>
        </p:nvSpPr>
        <p:spPr>
          <a:xfrm>
            <a:off x="8119872" y="2926080"/>
            <a:ext cx="3246120" cy="0"/>
          </a:xfrm>
          <a:prstGeom prst="line">
            <a:avLst/>
          </a:prstGeom>
          <a:noFill/>
          <a:ln w="9525">
            <a:solidFill>
              <a:srgbClr val="D9D4C4"/>
            </a:solidFill>
            <a:prstDash val="solid"/>
          </a:ln>
        </p:spPr>
      </p:sp>
      <p:sp>
        <p:nvSpPr>
          <p:cNvPr id="16" name="Text 14"/>
          <p:cNvSpPr/>
          <p:nvPr/>
        </p:nvSpPr>
        <p:spPr>
          <a:xfrm>
            <a:off x="8119872" y="3063240"/>
            <a:ext cx="3246120" cy="36576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Anchorage</a:t>
            </a:r>
            <a:endParaRPr lang="en-US" sz="1400" dirty="0"/>
          </a:p>
        </p:txBody>
      </p:sp>
      <p:sp>
        <p:nvSpPr>
          <p:cNvPr id="17" name="Text 15"/>
          <p:cNvSpPr/>
          <p:nvPr/>
        </p:nvSpPr>
        <p:spPr>
          <a:xfrm>
            <a:off x="8119872" y="3474720"/>
            <a:ext cx="3246120" cy="21945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The words that tell you how to read the picture. A caption steers a meaning the image alone cannot fix.</a:t>
            </a:r>
            <a:endParaRPr lang="en-US" sz="160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dogan/Documents/Vaults/Courses/wiki/classes/media-studies/decks/_build/img/crops/underwood-sweetheart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ANCHORAGE · PROOF THREE</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The caption tells you who they are and how to feel: Mother, Wife, and Sweetheart.</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Underwood &amp; Underwood, Seventh Regiment marching to war, c. 1917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000"/>
              </a:lnSpc>
              <a:buNone/>
            </a:pPr>
            <a:r>
              <a:rPr lang="en-US" sz="4200" dirty="0">
                <a:solidFill>
                  <a:srgbClr val="24313F"/>
                </a:solidFill>
                <a:latin typeface="Georgia" pitchFamily="34" charset="0"/>
                <a:ea typeface="Georgia" pitchFamily="34" charset="-122"/>
                <a:cs typeface="Georgia" pitchFamily="34" charset="-120"/>
              </a:rPr>
              <a:t>Seeing comes before words. The child looks and recognizes before it can speak.</a:t>
            </a:r>
            <a:endParaRPr lang="en-US" sz="42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John Berger, Ways of Seeing, 1972</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HOW IT RUNS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THREE SESSIONS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4000" dirty="0">
                <a:solidFill>
                  <a:srgbClr val="24313F"/>
                </a:solidFill>
                <a:latin typeface="Georgia" pitchFamily="34" charset="0"/>
                <a:ea typeface="Georgia" pitchFamily="34" charset="-122"/>
                <a:cs typeface="Georgia" pitchFamily="34" charset="-120"/>
              </a:rPr>
              <a:t>Three days, one habit</a:t>
            </a:r>
            <a:endParaRPr lang="en-US" sz="4000" dirty="0"/>
          </a:p>
        </p:txBody>
      </p:sp>
      <p:sp>
        <p:nvSpPr>
          <p:cNvPr id="6" name="Text 4"/>
          <p:cNvSpPr/>
          <p:nvPr/>
        </p:nvSpPr>
        <p:spPr>
          <a:xfrm>
            <a:off x="822960" y="2057400"/>
            <a:ext cx="3246120" cy="822960"/>
          </a:xfrm>
          <a:prstGeom prst="rect">
            <a:avLst/>
          </a:prstGeom>
          <a:noFill/>
          <a:ln/>
        </p:spPr>
        <p:txBody>
          <a:bodyPr wrap="square" lIns="0" tIns="0" rIns="0" bIns="0" rtlCol="0" anchor="ctr"/>
          <a:lstStyle/>
          <a:p>
            <a:pPr indent="0" marL="0">
              <a:buNone/>
            </a:pPr>
            <a:r>
              <a:rPr lang="en-US" sz="4600" dirty="0">
                <a:solidFill>
                  <a:srgbClr val="A3C1AD"/>
                </a:solidFill>
                <a:latin typeface="Georgia" pitchFamily="34" charset="0"/>
                <a:ea typeface="Georgia" pitchFamily="34" charset="-122"/>
                <a:cs typeface="Georgia" pitchFamily="34" charset="-120"/>
              </a:rPr>
              <a:t>01</a:t>
            </a:r>
            <a:endParaRPr lang="en-US" sz="4600" dirty="0"/>
          </a:p>
        </p:txBody>
      </p:sp>
      <p:sp>
        <p:nvSpPr>
          <p:cNvPr id="7" name="Shape 5"/>
          <p:cNvSpPr/>
          <p:nvPr/>
        </p:nvSpPr>
        <p:spPr>
          <a:xfrm>
            <a:off x="822960" y="2971800"/>
            <a:ext cx="3246120" cy="0"/>
          </a:xfrm>
          <a:prstGeom prst="line">
            <a:avLst/>
          </a:prstGeom>
          <a:noFill/>
          <a:ln w="9525">
            <a:solidFill>
              <a:srgbClr val="D9D4C4"/>
            </a:solidFill>
            <a:prstDash val="solid"/>
          </a:ln>
        </p:spPr>
      </p:sp>
      <p:sp>
        <p:nvSpPr>
          <p:cNvPr id="8" name="Text 6"/>
          <p:cNvSpPr/>
          <p:nvPr/>
        </p:nvSpPr>
        <p:spPr>
          <a:xfrm>
            <a:off x="822960" y="3108960"/>
            <a:ext cx="3246120" cy="36576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Tuesday</a:t>
            </a:r>
            <a:endParaRPr lang="en-US" sz="1400" dirty="0"/>
          </a:p>
        </p:txBody>
      </p:sp>
      <p:sp>
        <p:nvSpPr>
          <p:cNvPr id="9" name="Text 7"/>
          <p:cNvSpPr/>
          <p:nvPr/>
        </p:nvSpPr>
        <p:spPr>
          <a:xfrm>
            <a:off x="822960" y="3520440"/>
            <a:ext cx="3246120" cy="201168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The opener and the wager: keep a 24-hour media-use log. Nobody's list will be short.</a:t>
            </a:r>
            <a:endParaRPr lang="en-US" sz="1600" dirty="0"/>
          </a:p>
        </p:txBody>
      </p:sp>
      <p:sp>
        <p:nvSpPr>
          <p:cNvPr id="10" name="Text 8"/>
          <p:cNvSpPr/>
          <p:nvPr/>
        </p:nvSpPr>
        <p:spPr>
          <a:xfrm>
            <a:off x="4471416" y="2057400"/>
            <a:ext cx="3246120" cy="822960"/>
          </a:xfrm>
          <a:prstGeom prst="rect">
            <a:avLst/>
          </a:prstGeom>
          <a:noFill/>
          <a:ln/>
        </p:spPr>
        <p:txBody>
          <a:bodyPr wrap="square" lIns="0" tIns="0" rIns="0" bIns="0" rtlCol="0" anchor="ctr"/>
          <a:lstStyle/>
          <a:p>
            <a:pPr indent="0" marL="0">
              <a:buNone/>
            </a:pPr>
            <a:r>
              <a:rPr lang="en-US" sz="4600" dirty="0">
                <a:solidFill>
                  <a:srgbClr val="A3C1AD"/>
                </a:solidFill>
                <a:latin typeface="Georgia" pitchFamily="34" charset="0"/>
                <a:ea typeface="Georgia" pitchFamily="34" charset="-122"/>
                <a:cs typeface="Georgia" pitchFamily="34" charset="-120"/>
              </a:rPr>
              <a:t>02</a:t>
            </a:r>
            <a:endParaRPr lang="en-US" sz="4600" dirty="0"/>
          </a:p>
        </p:txBody>
      </p:sp>
      <p:sp>
        <p:nvSpPr>
          <p:cNvPr id="11" name="Shape 9"/>
          <p:cNvSpPr/>
          <p:nvPr/>
        </p:nvSpPr>
        <p:spPr>
          <a:xfrm>
            <a:off x="4471416" y="2971800"/>
            <a:ext cx="3246120" cy="0"/>
          </a:xfrm>
          <a:prstGeom prst="line">
            <a:avLst/>
          </a:prstGeom>
          <a:noFill/>
          <a:ln w="9525">
            <a:solidFill>
              <a:srgbClr val="D9D4C4"/>
            </a:solidFill>
            <a:prstDash val="solid"/>
          </a:ln>
        </p:spPr>
      </p:sp>
      <p:sp>
        <p:nvSpPr>
          <p:cNvPr id="12" name="Text 10"/>
          <p:cNvSpPr/>
          <p:nvPr/>
        </p:nvSpPr>
        <p:spPr>
          <a:xfrm>
            <a:off x="4471416" y="3108960"/>
            <a:ext cx="3246120" cy="36576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Wednesday</a:t>
            </a:r>
            <a:endParaRPr lang="en-US" sz="1400" dirty="0"/>
          </a:p>
        </p:txBody>
      </p:sp>
      <p:sp>
        <p:nvSpPr>
          <p:cNvPr id="13" name="Text 11"/>
          <p:cNvSpPr/>
          <p:nvPr/>
        </p:nvSpPr>
        <p:spPr>
          <a:xfrm>
            <a:off x="4471416" y="3520440"/>
            <a:ext cx="3246120" cy="201168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The four Key Concepts named and applied, a version not a window proven three times; Sort Wars closes the double.</a:t>
            </a:r>
            <a:endParaRPr lang="en-US" sz="1600" dirty="0"/>
          </a:p>
        </p:txBody>
      </p:sp>
      <p:sp>
        <p:nvSpPr>
          <p:cNvPr id="14" name="Text 12"/>
          <p:cNvSpPr/>
          <p:nvPr/>
        </p:nvSpPr>
        <p:spPr>
          <a:xfrm>
            <a:off x="8119872" y="2057400"/>
            <a:ext cx="3246120" cy="822960"/>
          </a:xfrm>
          <a:prstGeom prst="rect">
            <a:avLst/>
          </a:prstGeom>
          <a:noFill/>
          <a:ln/>
        </p:spPr>
        <p:txBody>
          <a:bodyPr wrap="square" lIns="0" tIns="0" rIns="0" bIns="0" rtlCol="0" anchor="ctr"/>
          <a:lstStyle/>
          <a:p>
            <a:pPr indent="0" marL="0">
              <a:buNone/>
            </a:pPr>
            <a:r>
              <a:rPr lang="en-US" sz="4600" dirty="0">
                <a:solidFill>
                  <a:srgbClr val="A3C1AD"/>
                </a:solidFill>
                <a:latin typeface="Georgia" pitchFamily="34" charset="0"/>
                <a:ea typeface="Georgia" pitchFamily="34" charset="-122"/>
                <a:cs typeface="Georgia" pitchFamily="34" charset="-120"/>
              </a:rPr>
              <a:t>03</a:t>
            </a:r>
            <a:endParaRPr lang="en-US" sz="4600" dirty="0"/>
          </a:p>
        </p:txBody>
      </p:sp>
      <p:sp>
        <p:nvSpPr>
          <p:cNvPr id="15" name="Shape 13"/>
          <p:cNvSpPr/>
          <p:nvPr/>
        </p:nvSpPr>
        <p:spPr>
          <a:xfrm>
            <a:off x="8119872" y="2971800"/>
            <a:ext cx="3246120" cy="0"/>
          </a:xfrm>
          <a:prstGeom prst="line">
            <a:avLst/>
          </a:prstGeom>
          <a:noFill/>
          <a:ln w="9525">
            <a:solidFill>
              <a:srgbClr val="D9D4C4"/>
            </a:solidFill>
            <a:prstDash val="solid"/>
          </a:ln>
        </p:spPr>
      </p:sp>
      <p:sp>
        <p:nvSpPr>
          <p:cNvPr id="16" name="Text 14"/>
          <p:cNvSpPr/>
          <p:nvPr/>
        </p:nvSpPr>
        <p:spPr>
          <a:xfrm>
            <a:off x="8119872" y="3108960"/>
            <a:ext cx="3246120" cy="36576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Friday</a:t>
            </a:r>
            <a:endParaRPr lang="en-US" sz="1400" dirty="0"/>
          </a:p>
        </p:txBody>
      </p:sp>
      <p:sp>
        <p:nvSpPr>
          <p:cNvPr id="17" name="Text 15"/>
          <p:cNvSpPr/>
          <p:nvPr/>
        </p:nvSpPr>
        <p:spPr>
          <a:xfrm>
            <a:off x="8119872" y="3520440"/>
            <a:ext cx="3246120" cy="201168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Denotation only: every meaning held back. CS1 is written, then faces the Smuggler Hunt.</a:t>
            </a:r>
            <a:endParaRPr lang="en-US" sz="160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CS1</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FRIDAY, IN CLASS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Describe only. Hold every meaning back.</a:t>
            </a:r>
            <a:endParaRPr lang="en-US" sz="38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2194560"/>
          </a:xfrm>
          <a:prstGeom prst="rect">
            <a:avLst/>
          </a:prstGeom>
          <a:noFill/>
          <a:ln/>
        </p:spPr>
        <p:txBody>
          <a:bodyPr wrap="square" lIns="0" tIns="0" rIns="0" bIns="0" rtlCol="0" anchor="t"/>
          <a:lstStyle/>
          <a:p>
            <a:pPr indent="0" marL="0">
              <a:lnSpc>
                <a:spcPts val="3000"/>
              </a:lnSpc>
              <a:buNone/>
            </a:pPr>
            <a:r>
              <a:rPr lang="en-US" sz="2100" dirty="0">
                <a:solidFill>
                  <a:srgbClr val="24313F"/>
                </a:solidFill>
                <a:latin typeface="Georgia" pitchFamily="34" charset="0"/>
                <a:ea typeface="Georgia" pitchFamily="34" charset="-122"/>
                <a:cs typeface="Georgia" pitchFamily="34" charset="-120"/>
              </a:rPr>
              <a:t>One paragraph on an unseen image, pure denotation: what is there, not what it means. Worried, poor, desperate go on a parked list that L02 will collect. A paragraph with zero interpretive claims, one that survives the Smuggler Hunt, is the win.</a:t>
            </a:r>
            <a:endParaRPr lang="en-US" sz="2100" dirty="0"/>
          </a:p>
        </p:txBody>
      </p:sp>
      <p:sp>
        <p:nvSpPr>
          <p:cNvPr id="8" name="Text 6"/>
          <p:cNvSpPr/>
          <p:nvPr/>
        </p:nvSpPr>
        <p:spPr>
          <a:xfrm>
            <a:off x="822960" y="5029200"/>
            <a:ext cx="960120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Describing before meaning is what the exam rewards, so it is installed on day three, not discovered in October.</a:t>
            </a:r>
            <a:endParaRPr lang="en-US" sz="1300" dirty="0"/>
          </a:p>
        </p:txBody>
      </p:sp>
      <p:sp>
        <p:nvSpPr>
          <p:cNvPr id="9" name="Shape 7"/>
          <p:cNvSpPr/>
          <p:nvPr/>
        </p:nvSpPr>
        <p:spPr>
          <a:xfrm>
            <a:off x="822960" y="6382512"/>
            <a:ext cx="10543032" cy="0"/>
          </a:xfrm>
          <a:prstGeom prst="line">
            <a:avLst/>
          </a:prstGeom>
          <a:noFill/>
          <a:ln w="9525">
            <a:solidFill>
              <a:srgbClr val="D9D4C4"/>
            </a:solidFill>
            <a:prstDash val="solid"/>
          </a:ln>
        </p:spPr>
      </p:sp>
      <p:sp>
        <p:nvSpPr>
          <p:cNvPr id="10"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1"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1188720"/>
            <a:ext cx="10424160" cy="365760"/>
          </a:xfrm>
          <a:prstGeom prst="rect">
            <a:avLst/>
          </a:prstGeom>
          <a:noFill/>
          <a:ln/>
        </p:spPr>
        <p:txBody>
          <a:bodyPr wrap="square" lIns="0" tIns="0" rIns="0" bIns="0" rtlCol="0" anchor="ctr"/>
          <a:lstStyle/>
          <a:p>
            <a:pPr indent="0" marL="0">
              <a:buNone/>
            </a:pPr>
            <a:r>
              <a:rPr lang="en-US" sz="1300" spc="100" kern="0" dirty="0">
                <a:solidFill>
                  <a:srgbClr val="E8EFE7"/>
                </a:solidFill>
                <a:latin typeface="Arial" pitchFamily="34" charset="0"/>
                <a:ea typeface="Arial" pitchFamily="34" charset="-122"/>
                <a:cs typeface="Arial" pitchFamily="34" charset="-120"/>
              </a:rPr>
              <a:t>Language · Representation · Industry · Audience: the four Key Concepts, now yours.</a:t>
            </a:r>
            <a:endParaRPr lang="en-US" sz="1300" dirty="0"/>
          </a:p>
        </p:txBody>
      </p:sp>
      <p:sp>
        <p:nvSpPr>
          <p:cNvPr id="3" name="Text 1"/>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4" name="Shape 2"/>
          <p:cNvSpPr/>
          <p:nvPr/>
        </p:nvSpPr>
        <p:spPr>
          <a:xfrm>
            <a:off x="822960" y="2514600"/>
            <a:ext cx="3108960" cy="0"/>
          </a:xfrm>
          <a:prstGeom prst="line">
            <a:avLst/>
          </a:prstGeom>
          <a:noFill/>
          <a:ln w="9525">
            <a:solidFill>
              <a:srgbClr val="8AA394"/>
            </a:solidFill>
            <a:prstDash val="solid"/>
          </a:ln>
        </p:spPr>
      </p:sp>
      <p:sp>
        <p:nvSpPr>
          <p:cNvPr id="5" name="Text 3"/>
          <p:cNvSpPr/>
          <p:nvPr/>
        </p:nvSpPr>
        <p:spPr>
          <a:xfrm>
            <a:off x="822960" y="2651760"/>
            <a:ext cx="10058400" cy="1920240"/>
          </a:xfrm>
          <a:prstGeom prst="rect">
            <a:avLst/>
          </a:prstGeom>
          <a:noFill/>
          <a:ln/>
        </p:spPr>
        <p:txBody>
          <a:bodyPr wrap="square" lIns="0" tIns="0" rIns="0" bIns="0" rtlCol="0" anchor="t"/>
          <a:lstStyle/>
          <a:p>
            <a:pPr indent="0" marL="0">
              <a:lnSpc>
                <a:spcPts val="5600"/>
              </a:lnSpc>
              <a:buNone/>
            </a:pPr>
            <a:r>
              <a:rPr lang="en-US" sz="5400" dirty="0">
                <a:solidFill>
                  <a:srgbClr val="FAF8F1"/>
                </a:solidFill>
                <a:latin typeface="Georgia" pitchFamily="34" charset="0"/>
                <a:ea typeface="Georgia" pitchFamily="34" charset="-122"/>
                <a:cs typeface="Georgia" pitchFamily="34" charset="-120"/>
              </a:rPr>
              <a:t>Semiotics:</a:t>
            </a:r>
            <a:endParaRPr lang="en-US" sz="5400" dirty="0"/>
          </a:p>
          <a:p>
            <a:pPr indent="0" marL="0">
              <a:lnSpc>
                <a:spcPts val="5600"/>
              </a:lnSpc>
              <a:buNone/>
            </a:pPr>
            <a:r>
              <a:rPr lang="en-US" sz="5400" dirty="0">
                <a:solidFill>
                  <a:srgbClr val="FAF8F1"/>
                </a:solidFill>
                <a:latin typeface="Georgia" pitchFamily="34" charset="0"/>
                <a:ea typeface="Georgia" pitchFamily="34" charset="-122"/>
                <a:cs typeface="Georgia" pitchFamily="34" charset="-120"/>
              </a:rPr>
              <a:t>How Images Mean</a:t>
            </a:r>
            <a:endParaRPr lang="en-US" sz="5400" dirty="0"/>
          </a:p>
        </p:txBody>
      </p:sp>
      <p:sp>
        <p:nvSpPr>
          <p:cNvPr id="6" name="Text 4"/>
          <p:cNvSpPr/>
          <p:nvPr/>
        </p:nvSpPr>
        <p:spPr>
          <a:xfrm>
            <a:off x="822960" y="48920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Lesson 02. The parked list gets its name: connotation.</a:t>
            </a:r>
            <a:endParaRPr lang="en-US" sz="2200" dirty="0"/>
          </a:p>
        </p:txBody>
      </p:sp>
      <p:sp>
        <p:nvSpPr>
          <p:cNvPr id="7" name="Shape 5"/>
          <p:cNvSpPr/>
          <p:nvPr/>
        </p:nvSpPr>
        <p:spPr>
          <a:xfrm>
            <a:off x="822960" y="6382512"/>
            <a:ext cx="10543032" cy="0"/>
          </a:xfrm>
          <a:prstGeom prst="line">
            <a:avLst/>
          </a:prstGeom>
          <a:noFill/>
          <a:ln w="9525">
            <a:solidFill>
              <a:srgbClr val="6E8A7C"/>
            </a:solidFill>
            <a:prstDash val="solid"/>
          </a:ln>
        </p:spPr>
      </p:sp>
      <p:sp>
        <p:nvSpPr>
          <p:cNvPr id="8" name="Text 6"/>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9" name="Text 7"/>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2026-08-09T08:11:55Z</dcterms:created>
  <dcterms:modified xsi:type="dcterms:W3CDTF">2026-08-09T08:11:55Z</dcterms:modified>
</cp:coreProperties>
</file>