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macro element, and the audit that makes A2 survivable. Wednesday's double is the hinge of the whole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top-band answer discusses where a model strains. The model fits perfectly is neither true nor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Coursebook 3.2 teaches Todorov through Toy Story, so the frames match the reading students do. Run WS 3.2 as written: I-do on these frames, we-do on a second text, you-do on a story they know. The Christmas-window coda frame exists in img/ if you want the sequel joke: every new equilibrium is the next film's equilibrium.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Binary oppositions follow via the TNS's worked Lupin table on the next slides: narratives run on conflicts of value, not just people. The strain log starts here and is harvested at L17.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D1: one TV cold open screened twice. First pass, list every question the text plants; second, every promise it makes. The TNS worked table for D1 is Lupin, so the frame and the table now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frame owes you an answer; the right frame owes you a consequence. One makes you lean in with a question, the other with anticipation.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from the TNS's worked Lupin binary-oppositions table; the pairs on the slide are the frame's own, as prompts. Levi-Strauss via coursebook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audit is A2's marking preview. It sits with working days to spare so there is still time to act on what it finds. Kept deliberately: the systematic-study mood image for the audit ritual; the checklist itself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Protocol is describe, question, suggest. Enforce findings-as-actions in the first five minutes or the audit degrades into politeness. Teacher circulates to the thinnest blogs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 scripts also return Wednesday under the five-day rule: two minutes of silent reading, one written action each, the commonest gap named aloud from the pile.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D3: one contemporary trailer, cast mapped onto functions in pairs, then the harder question logged in writing: where did Propp fail to fit, and why is that interesting? Pairs trade logs to steal each other's best strain.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046720" y="822960"/>
            <a:ext cx="3383280" cy="4937760"/>
          </a:xfrm>
          <a:prstGeom prst="rect">
            <a:avLst/>
          </a:prstGeom>
          <a:noFill/>
          <a:ln/>
        </p:spPr>
        <p:txBody>
          <a:bodyPr wrap="square" lIns="0" tIns="0" rIns="0" bIns="0" rtlCol="0" anchor="ctr"/>
          <a:lstStyle/>
          <a:p>
            <a:pPr algn="ctr" indent="0" marL="0">
              <a:buNone/>
            </a:pPr>
            <a:r>
              <a:rPr lang="en-US" sz="32000" dirty="0">
                <a:solidFill>
                  <a:srgbClr val="A3C1AD"/>
                </a:solidFill>
                <a:latin typeface="Georgia" pitchFamily="34" charset="0"/>
                <a:ea typeface="Georgia" pitchFamily="34" charset="-122"/>
                <a:cs typeface="Georgia" pitchFamily="34" charset="-120"/>
              </a:rPr>
              <a:t>X</a:t>
            </a:r>
            <a:endParaRPr lang="en-US" sz="32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III</a:t>
            </a:r>
            <a:endParaRPr lang="en-US" sz="1100" dirty="0"/>
          </a:p>
        </p:txBody>
      </p:sp>
      <p:sp>
        <p:nvSpPr>
          <p:cNvPr id="4" name="Text 2"/>
          <p:cNvSpPr/>
          <p:nvPr/>
        </p:nvSpPr>
        <p:spPr>
          <a:xfrm>
            <a:off x="822960" y="1737360"/>
            <a:ext cx="8229600" cy="2377440"/>
          </a:xfrm>
          <a:prstGeom prst="rect">
            <a:avLst/>
          </a:prstGeom>
          <a:noFill/>
          <a:ln/>
        </p:spPr>
        <p:txBody>
          <a:bodyPr wrap="square" lIns="0" tIns="0" rIns="0" bIns="0" rtlCol="0" anchor="t"/>
          <a:lstStyle/>
          <a:p>
            <a:pPr indent="0" marL="0">
              <a:lnSpc>
                <a:spcPts val="4400"/>
              </a:lnSpc>
              <a:buNone/>
            </a:pPr>
            <a:r>
              <a:rPr lang="en-US" sz="4400" dirty="0">
                <a:solidFill>
                  <a:srgbClr val="24313F"/>
                </a:solidFill>
                <a:latin typeface="Georgia" pitchFamily="34" charset="0"/>
                <a:ea typeface="Georgia" pitchFamily="34" charset="-122"/>
                <a:cs typeface="Georgia" pitchFamily="34" charset="-120"/>
              </a:rPr>
              <a:t>Narrative, Barthes</a:t>
            </a:r>
            <a:endParaRPr lang="en-US" sz="4400" dirty="0"/>
          </a:p>
          <a:p>
            <a:pPr indent="0" marL="0">
              <a:lnSpc>
                <a:spcPts val="4400"/>
              </a:lnSpc>
              <a:buNone/>
            </a:pPr>
            <a:r>
              <a:rPr lang="en-US" sz="4400" dirty="0">
                <a:solidFill>
                  <a:srgbClr val="24313F"/>
                </a:solidFill>
                <a:latin typeface="Georgia" pitchFamily="34" charset="0"/>
                <a:ea typeface="Georgia" pitchFamily="34" charset="-122"/>
                <a:cs typeface="Georgia" pitchFamily="34" charset="-120"/>
              </a:rPr>
              <a:t>and the Blog Audit</a:t>
            </a:r>
            <a:endParaRPr lang="en-US" sz="44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82296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Macro and Textual Analysis · Lesson 10 of 19</a:t>
            </a:r>
            <a:endParaRPr lang="en-US" sz="2200" dirty="0"/>
          </a:p>
        </p:txBody>
      </p:sp>
      <p:sp>
        <p:nvSpPr>
          <p:cNvPr id="7" name="Text 5"/>
          <p:cNvSpPr/>
          <p:nvPr/>
        </p:nvSpPr>
        <p:spPr>
          <a:xfrm>
            <a:off x="822960" y="5029200"/>
            <a:ext cx="100584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Three days  ·  Tuesday 20 to Friday 23 October  ·  A2 falls the following Monday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7863840" y="640080"/>
            <a:ext cx="3749040" cy="5577840"/>
          </a:xfrm>
          <a:prstGeom prst="rect">
            <a:avLst/>
          </a:prstGeom>
          <a:noFill/>
          <a:ln/>
        </p:spPr>
        <p:txBody>
          <a:bodyPr wrap="square" lIns="0" tIns="0" rIns="0" bIns="0" rtlCol="0" anchor="ctr"/>
          <a:lstStyle/>
          <a:p>
            <a:pPr algn="ctr" indent="0" marL="0">
              <a:buNone/>
            </a:pPr>
            <a:r>
              <a:rPr lang="en-US" sz="38000" dirty="0">
                <a:solidFill>
                  <a:srgbClr val="5C7A6B"/>
                </a:solidFill>
                <a:latin typeface="Georgia" pitchFamily="34" charset="0"/>
                <a:ea typeface="Georgia" pitchFamily="34" charset="-122"/>
                <a:cs typeface="Georgia" pitchFamily="34" charset="-120"/>
              </a:rPr>
              <a:t>X</a:t>
            </a:r>
            <a:endParaRPr lang="en-US" sz="38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HOW THE MODELS ARE TAUGHT</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43200"/>
            <a:ext cx="6949440" cy="2377440"/>
          </a:xfrm>
          <a:prstGeom prst="rect">
            <a:avLst/>
          </a:prstGeom>
          <a:noFill/>
          <a:ln/>
        </p:spPr>
        <p:txBody>
          <a:bodyPr wrap="square" lIns="0" tIns="0" rIns="0" bIns="0" rtlCol="0" anchor="t"/>
          <a:lstStyle/>
          <a:p>
            <a:pPr indent="0" marL="0">
              <a:lnSpc>
                <a:spcPts val="4800"/>
              </a:lnSpc>
              <a:buNone/>
            </a:pPr>
            <a:r>
              <a:rPr lang="en-US" sz="4400" dirty="0">
                <a:solidFill>
                  <a:srgbClr val="FAF8F1"/>
                </a:solidFill>
                <a:latin typeface="Georgia" pitchFamily="34" charset="0"/>
                <a:ea typeface="Georgia" pitchFamily="34" charset="-122"/>
                <a:cs typeface="Georgia" pitchFamily="34" charset="-120"/>
              </a:rPr>
              <a:t>With their failure</a:t>
            </a:r>
            <a:endParaRPr lang="en-US" sz="4400" dirty="0"/>
          </a:p>
          <a:p>
            <a:pPr indent="0" marL="0">
              <a:lnSpc>
                <a:spcPts val="4800"/>
              </a:lnSpc>
              <a:buNone/>
            </a:pPr>
            <a:r>
              <a:rPr lang="en-US" sz="4400" dirty="0">
                <a:solidFill>
                  <a:srgbClr val="FAF8F1"/>
                </a:solidFill>
                <a:latin typeface="Georgia" pitchFamily="34" charset="0"/>
                <a:ea typeface="Georgia" pitchFamily="34" charset="-122"/>
                <a:cs typeface="Georgia" pitchFamily="34" charset="-120"/>
              </a:rPr>
              <a:t>conditions attached.</a:t>
            </a:r>
            <a:endParaRPr lang="en-US" sz="4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TODOROV · THE NARRATIVE ARC</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WHERE IS THE DISTURBANCE IN YOUR OPENING?</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14400"/>
            <a:ext cx="10543032" cy="54864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Five stages, one movement</a:t>
            </a:r>
            <a:endParaRPr lang="en-US" sz="3000" dirty="0"/>
          </a:p>
        </p:txBody>
      </p:sp>
      <p:sp>
        <p:nvSpPr>
          <p:cNvPr id="6" name="Shape 4"/>
          <p:cNvSpPr/>
          <p:nvPr/>
        </p:nvSpPr>
        <p:spPr>
          <a:xfrm>
            <a:off x="1877263" y="2212848"/>
            <a:ext cx="8434426" cy="0"/>
          </a:xfrm>
          <a:prstGeom prst="line">
            <a:avLst/>
          </a:prstGeom>
          <a:noFill/>
          <a:ln w="19050">
            <a:solidFill>
              <a:srgbClr val="8AA394"/>
            </a:solidFill>
            <a:prstDash val="solid"/>
          </a:ln>
        </p:spPr>
      </p:sp>
      <p:sp>
        <p:nvSpPr>
          <p:cNvPr id="7" name="Text 5"/>
          <p:cNvSpPr/>
          <p:nvPr/>
        </p:nvSpPr>
        <p:spPr>
          <a:xfrm>
            <a:off x="1630375" y="1965960"/>
            <a:ext cx="493776" cy="493776"/>
          </a:xfrm>
          <a:prstGeom prst="ellipse">
            <a:avLst/>
          </a:prstGeom>
          <a:solidFill>
            <a:srgbClr val="4A6B5D"/>
          </a:solidFill>
          <a:ln/>
        </p:spPr>
        <p:txBody>
          <a:bodyPr wrap="square" lIns="0" tIns="0" rIns="0" bIns="0" rtlCol="0" anchor="ctr"/>
          <a:lstStyle/>
          <a:p>
            <a:pPr algn="ctr" indent="0" marL="0">
              <a:buNone/>
            </a:pPr>
            <a:r>
              <a:rPr lang="en-US" sz="1900" dirty="0">
                <a:solidFill>
                  <a:srgbClr val="FAF8F1"/>
                </a:solidFill>
                <a:latin typeface="Georgia" pitchFamily="34" charset="0"/>
                <a:ea typeface="Georgia" pitchFamily="34" charset="-122"/>
                <a:cs typeface="Georgia" pitchFamily="34" charset="-120"/>
              </a:rPr>
              <a:t>1</a:t>
            </a:r>
            <a:endParaRPr lang="en-US" sz="1900" dirty="0"/>
          </a:p>
        </p:txBody>
      </p:sp>
      <p:sp>
        <p:nvSpPr>
          <p:cNvPr id="8" name="Text 6"/>
          <p:cNvSpPr/>
          <p:nvPr/>
        </p:nvSpPr>
        <p:spPr>
          <a:xfrm>
            <a:off x="896112" y="1316736"/>
            <a:ext cx="1962302" cy="548640"/>
          </a:xfrm>
          <a:prstGeom prst="rect">
            <a:avLst/>
          </a:prstGeom>
          <a:noFill/>
          <a:ln/>
        </p:spPr>
        <p:txBody>
          <a:bodyPr wrap="square" lIns="0" tIns="0" rIns="0" bIns="0" rtlCol="0" anchor="b"/>
          <a:lstStyle/>
          <a:p>
            <a:pPr algn="ctr" indent="0" marL="0">
              <a:buNone/>
            </a:pPr>
            <a:r>
              <a:rPr lang="en-US" sz="1550" dirty="0">
                <a:solidFill>
                  <a:srgbClr val="24313F"/>
                </a:solidFill>
                <a:latin typeface="Georgia" pitchFamily="34" charset="0"/>
                <a:ea typeface="Georgia" pitchFamily="34" charset="-122"/>
                <a:cs typeface="Georgia" pitchFamily="34" charset="-120"/>
              </a:rPr>
              <a:t>Equilibrium</a:t>
            </a:r>
            <a:endParaRPr lang="en-US" sz="1550" dirty="0"/>
          </a:p>
        </p:txBody>
      </p:sp>
      <p:sp>
        <p:nvSpPr>
          <p:cNvPr id="9" name="Text 7"/>
          <p:cNvSpPr/>
          <p:nvPr/>
        </p:nvSpPr>
        <p:spPr>
          <a:xfrm>
            <a:off x="896112" y="2542032"/>
            <a:ext cx="1962302" cy="365760"/>
          </a:xfrm>
          <a:prstGeom prst="rect">
            <a:avLst/>
          </a:prstGeom>
          <a:noFill/>
          <a:ln/>
        </p:spPr>
        <p:txBody>
          <a:bodyPr wrap="square" lIns="0" tIns="0" rIns="0" bIns="0" rtlCol="0" anchor="ctr"/>
          <a:lstStyle/>
          <a:p>
            <a:pPr algn="ctr" indent="0" marL="0">
              <a:buNone/>
            </a:pPr>
            <a:r>
              <a:rPr lang="en-US" sz="1050" i="1" dirty="0">
                <a:solidFill>
                  <a:srgbClr val="7A7F72"/>
                </a:solidFill>
                <a:latin typeface="Arial" pitchFamily="34" charset="0"/>
                <a:ea typeface="Arial" pitchFamily="34" charset="-122"/>
                <a:cs typeface="Arial" pitchFamily="34" charset="-120"/>
              </a:rPr>
              <a:t>a stable world</a:t>
            </a:r>
            <a:endParaRPr lang="en-US" sz="1050" dirty="0"/>
          </a:p>
        </p:txBody>
      </p:sp>
      <p:sp>
        <p:nvSpPr>
          <p:cNvPr id="10" name="Shape 8"/>
          <p:cNvSpPr/>
          <p:nvPr/>
        </p:nvSpPr>
        <p:spPr>
          <a:xfrm>
            <a:off x="914400" y="3063240"/>
            <a:ext cx="1925726" cy="1481328"/>
          </a:xfrm>
          <a:prstGeom prst="rect">
            <a:avLst/>
          </a:prstGeom>
          <a:solidFill>
            <a:srgbClr val="FAF8F1"/>
          </a:solidFill>
          <a:ln w="9525">
            <a:solidFill>
              <a:srgbClr val="D9D4C4"/>
            </a:solidFill>
            <a:prstDash val="solid"/>
          </a:ln>
        </p:spPr>
      </p:sp>
      <p:pic>
        <p:nvPicPr>
          <p:cNvPr id="11" name="Image 0" descr="/Users/dogan/Documents/Vaults/Courses/wiki/classes/media-studies/decks/_build/img/toystory-staffmeeting.jpg">    </p:cNvPr>
          <p:cNvPicPr>
            <a:picLocks noChangeAspect="1"/>
          </p:cNvPicPr>
          <p:nvPr/>
        </p:nvPicPr>
        <p:blipFill>
          <a:blip r:embed="rId1"/>
          <a:stretch>
            <a:fillRect/>
          </a:stretch>
        </p:blipFill>
        <p:spPr>
          <a:xfrm>
            <a:off x="987552" y="3228928"/>
            <a:ext cx="1779422" cy="1149952"/>
          </a:xfrm>
          <a:prstGeom prst="rect">
            <a:avLst/>
          </a:prstGeom>
        </p:spPr>
      </p:pic>
      <p:sp>
        <p:nvSpPr>
          <p:cNvPr id="12" name="Text 9"/>
          <p:cNvSpPr/>
          <p:nvPr/>
        </p:nvSpPr>
        <p:spPr>
          <a:xfrm>
            <a:off x="3738982" y="1965960"/>
            <a:ext cx="493776" cy="493776"/>
          </a:xfrm>
          <a:prstGeom prst="ellipse">
            <a:avLst/>
          </a:prstGeom>
          <a:solidFill>
            <a:srgbClr val="4A6B5D"/>
          </a:solidFill>
          <a:ln/>
        </p:spPr>
        <p:txBody>
          <a:bodyPr wrap="square" lIns="0" tIns="0" rIns="0" bIns="0" rtlCol="0" anchor="ctr"/>
          <a:lstStyle/>
          <a:p>
            <a:pPr algn="ctr" indent="0" marL="0">
              <a:buNone/>
            </a:pPr>
            <a:r>
              <a:rPr lang="en-US" sz="1900" dirty="0">
                <a:solidFill>
                  <a:srgbClr val="FAF8F1"/>
                </a:solidFill>
                <a:latin typeface="Georgia" pitchFamily="34" charset="0"/>
                <a:ea typeface="Georgia" pitchFamily="34" charset="-122"/>
                <a:cs typeface="Georgia" pitchFamily="34" charset="-120"/>
              </a:rPr>
              <a:t>2</a:t>
            </a:r>
            <a:endParaRPr lang="en-US" sz="1900" dirty="0"/>
          </a:p>
        </p:txBody>
      </p:sp>
      <p:sp>
        <p:nvSpPr>
          <p:cNvPr id="13" name="Text 10"/>
          <p:cNvSpPr/>
          <p:nvPr/>
        </p:nvSpPr>
        <p:spPr>
          <a:xfrm>
            <a:off x="3004718" y="1316736"/>
            <a:ext cx="1962302" cy="548640"/>
          </a:xfrm>
          <a:prstGeom prst="rect">
            <a:avLst/>
          </a:prstGeom>
          <a:noFill/>
          <a:ln/>
        </p:spPr>
        <p:txBody>
          <a:bodyPr wrap="square" lIns="0" tIns="0" rIns="0" bIns="0" rtlCol="0" anchor="b"/>
          <a:lstStyle/>
          <a:p>
            <a:pPr algn="ctr" indent="0" marL="0">
              <a:buNone/>
            </a:pPr>
            <a:r>
              <a:rPr lang="en-US" sz="1550" dirty="0">
                <a:solidFill>
                  <a:srgbClr val="24313F"/>
                </a:solidFill>
                <a:latin typeface="Georgia" pitchFamily="34" charset="0"/>
                <a:ea typeface="Georgia" pitchFamily="34" charset="-122"/>
                <a:cs typeface="Georgia" pitchFamily="34" charset="-120"/>
              </a:rPr>
              <a:t>Disruption</a:t>
            </a:r>
            <a:endParaRPr lang="en-US" sz="1550" dirty="0"/>
          </a:p>
        </p:txBody>
      </p:sp>
      <p:sp>
        <p:nvSpPr>
          <p:cNvPr id="14" name="Text 11"/>
          <p:cNvSpPr/>
          <p:nvPr/>
        </p:nvSpPr>
        <p:spPr>
          <a:xfrm>
            <a:off x="3004718" y="2542032"/>
            <a:ext cx="1962302" cy="365760"/>
          </a:xfrm>
          <a:prstGeom prst="rect">
            <a:avLst/>
          </a:prstGeom>
          <a:noFill/>
          <a:ln/>
        </p:spPr>
        <p:txBody>
          <a:bodyPr wrap="square" lIns="0" tIns="0" rIns="0" bIns="0" rtlCol="0" anchor="ctr"/>
          <a:lstStyle/>
          <a:p>
            <a:pPr algn="ctr" indent="0" marL="0">
              <a:buNone/>
            </a:pPr>
            <a:r>
              <a:rPr lang="en-US" sz="1050" i="1" dirty="0">
                <a:solidFill>
                  <a:srgbClr val="7A7F72"/>
                </a:solidFill>
                <a:latin typeface="Arial" pitchFamily="34" charset="0"/>
                <a:ea typeface="Arial" pitchFamily="34" charset="-122"/>
                <a:cs typeface="Arial" pitchFamily="34" charset="-120"/>
              </a:rPr>
              <a:t>a force breaks it</a:t>
            </a:r>
            <a:endParaRPr lang="en-US" sz="1050" dirty="0"/>
          </a:p>
        </p:txBody>
      </p:sp>
      <p:sp>
        <p:nvSpPr>
          <p:cNvPr id="15" name="Shape 12"/>
          <p:cNvSpPr/>
          <p:nvPr/>
        </p:nvSpPr>
        <p:spPr>
          <a:xfrm>
            <a:off x="3023006" y="3063240"/>
            <a:ext cx="1925726" cy="1481328"/>
          </a:xfrm>
          <a:prstGeom prst="rect">
            <a:avLst/>
          </a:prstGeom>
          <a:solidFill>
            <a:srgbClr val="FAF8F1"/>
          </a:solidFill>
          <a:ln w="9525">
            <a:solidFill>
              <a:srgbClr val="D9D4C4"/>
            </a:solidFill>
            <a:prstDash val="solid"/>
          </a:ln>
        </p:spPr>
      </p:sp>
      <p:pic>
        <p:nvPicPr>
          <p:cNvPr id="16" name="Image 1" descr="/Users/dogan/Documents/Vaults/Courses/wiki/classes/media-studies/decks/_build/img/toystory-buzz-unwrapped.jpg">    </p:cNvPr>
          <p:cNvPicPr>
            <a:picLocks noChangeAspect="1"/>
          </p:cNvPicPr>
          <p:nvPr/>
        </p:nvPicPr>
        <p:blipFill>
          <a:blip r:embed="rId2"/>
          <a:stretch>
            <a:fillRect/>
          </a:stretch>
        </p:blipFill>
        <p:spPr>
          <a:xfrm>
            <a:off x="3096158" y="3228928"/>
            <a:ext cx="1779422" cy="1149952"/>
          </a:xfrm>
          <a:prstGeom prst="rect">
            <a:avLst/>
          </a:prstGeom>
        </p:spPr>
      </p:pic>
      <p:sp>
        <p:nvSpPr>
          <p:cNvPr id="17" name="Text 13"/>
          <p:cNvSpPr/>
          <p:nvPr/>
        </p:nvSpPr>
        <p:spPr>
          <a:xfrm>
            <a:off x="5847588" y="1965960"/>
            <a:ext cx="493776" cy="493776"/>
          </a:xfrm>
          <a:prstGeom prst="ellipse">
            <a:avLst/>
          </a:prstGeom>
          <a:solidFill>
            <a:srgbClr val="4A6B5D"/>
          </a:solidFill>
          <a:ln/>
        </p:spPr>
        <p:txBody>
          <a:bodyPr wrap="square" lIns="0" tIns="0" rIns="0" bIns="0" rtlCol="0" anchor="ctr"/>
          <a:lstStyle/>
          <a:p>
            <a:pPr algn="ctr" indent="0" marL="0">
              <a:buNone/>
            </a:pPr>
            <a:r>
              <a:rPr lang="en-US" sz="1900" dirty="0">
                <a:solidFill>
                  <a:srgbClr val="FAF8F1"/>
                </a:solidFill>
                <a:latin typeface="Georgia" pitchFamily="34" charset="0"/>
                <a:ea typeface="Georgia" pitchFamily="34" charset="-122"/>
                <a:cs typeface="Georgia" pitchFamily="34" charset="-120"/>
              </a:rPr>
              <a:t>3</a:t>
            </a:r>
            <a:endParaRPr lang="en-US" sz="1900" dirty="0"/>
          </a:p>
        </p:txBody>
      </p:sp>
      <p:sp>
        <p:nvSpPr>
          <p:cNvPr id="18" name="Text 14"/>
          <p:cNvSpPr/>
          <p:nvPr/>
        </p:nvSpPr>
        <p:spPr>
          <a:xfrm>
            <a:off x="5113325" y="1316736"/>
            <a:ext cx="1962302" cy="548640"/>
          </a:xfrm>
          <a:prstGeom prst="rect">
            <a:avLst/>
          </a:prstGeom>
          <a:noFill/>
          <a:ln/>
        </p:spPr>
        <p:txBody>
          <a:bodyPr wrap="square" lIns="0" tIns="0" rIns="0" bIns="0" rtlCol="0" anchor="b"/>
          <a:lstStyle/>
          <a:p>
            <a:pPr algn="ctr" indent="0" marL="0">
              <a:buNone/>
            </a:pPr>
            <a:r>
              <a:rPr lang="en-US" sz="1550" dirty="0">
                <a:solidFill>
                  <a:srgbClr val="24313F"/>
                </a:solidFill>
                <a:latin typeface="Georgia" pitchFamily="34" charset="0"/>
                <a:ea typeface="Georgia" pitchFamily="34" charset="-122"/>
                <a:cs typeface="Georgia" pitchFamily="34" charset="-120"/>
              </a:rPr>
              <a:t>Recognition</a:t>
            </a:r>
            <a:endParaRPr lang="en-US" sz="1550" dirty="0"/>
          </a:p>
        </p:txBody>
      </p:sp>
      <p:sp>
        <p:nvSpPr>
          <p:cNvPr id="19" name="Text 15"/>
          <p:cNvSpPr/>
          <p:nvPr/>
        </p:nvSpPr>
        <p:spPr>
          <a:xfrm>
            <a:off x="5113325" y="2542032"/>
            <a:ext cx="1962302" cy="365760"/>
          </a:xfrm>
          <a:prstGeom prst="rect">
            <a:avLst/>
          </a:prstGeom>
          <a:noFill/>
          <a:ln/>
        </p:spPr>
        <p:txBody>
          <a:bodyPr wrap="square" lIns="0" tIns="0" rIns="0" bIns="0" rtlCol="0" anchor="ctr"/>
          <a:lstStyle/>
          <a:p>
            <a:pPr algn="ctr" indent="0" marL="0">
              <a:buNone/>
            </a:pPr>
            <a:r>
              <a:rPr lang="en-US" sz="1050" i="1" dirty="0">
                <a:solidFill>
                  <a:srgbClr val="7A7F72"/>
                </a:solidFill>
                <a:latin typeface="Arial" pitchFamily="34" charset="0"/>
                <a:ea typeface="Arial" pitchFamily="34" charset="-122"/>
                <a:cs typeface="Arial" pitchFamily="34" charset="-120"/>
              </a:rPr>
              <a:t>the break is seen</a:t>
            </a:r>
            <a:endParaRPr lang="en-US" sz="1050" dirty="0"/>
          </a:p>
        </p:txBody>
      </p:sp>
      <p:sp>
        <p:nvSpPr>
          <p:cNvPr id="20" name="Shape 16"/>
          <p:cNvSpPr/>
          <p:nvPr/>
        </p:nvSpPr>
        <p:spPr>
          <a:xfrm>
            <a:off x="5131613" y="3063240"/>
            <a:ext cx="1925726" cy="1481328"/>
          </a:xfrm>
          <a:prstGeom prst="rect">
            <a:avLst/>
          </a:prstGeom>
          <a:solidFill>
            <a:srgbClr val="FAF8F1"/>
          </a:solidFill>
          <a:ln w="9525">
            <a:solidFill>
              <a:srgbClr val="D9D4C4"/>
            </a:solidFill>
            <a:prstDash val="solid"/>
          </a:ln>
        </p:spPr>
      </p:sp>
      <p:pic>
        <p:nvPicPr>
          <p:cNvPr id="21" name="Image 2" descr="/Users/dogan/Documents/Vaults/Courses/wiki/classes/media-studies/decks/_build/img/toystory-woody-window.jpg">    </p:cNvPr>
          <p:cNvPicPr>
            <a:picLocks noChangeAspect="1"/>
          </p:cNvPicPr>
          <p:nvPr/>
        </p:nvPicPr>
        <p:blipFill>
          <a:blip r:embed="rId3"/>
          <a:stretch>
            <a:fillRect/>
          </a:stretch>
        </p:blipFill>
        <p:spPr>
          <a:xfrm>
            <a:off x="5204765" y="3228928"/>
            <a:ext cx="1779422" cy="1149952"/>
          </a:xfrm>
          <a:prstGeom prst="rect">
            <a:avLst/>
          </a:prstGeom>
        </p:spPr>
      </p:pic>
      <p:sp>
        <p:nvSpPr>
          <p:cNvPr id="22" name="Text 17"/>
          <p:cNvSpPr/>
          <p:nvPr/>
        </p:nvSpPr>
        <p:spPr>
          <a:xfrm>
            <a:off x="7956194" y="1965960"/>
            <a:ext cx="493776" cy="493776"/>
          </a:xfrm>
          <a:prstGeom prst="ellipse">
            <a:avLst/>
          </a:prstGeom>
          <a:solidFill>
            <a:srgbClr val="4A6B5D"/>
          </a:solidFill>
          <a:ln/>
        </p:spPr>
        <p:txBody>
          <a:bodyPr wrap="square" lIns="0" tIns="0" rIns="0" bIns="0" rtlCol="0" anchor="ctr"/>
          <a:lstStyle/>
          <a:p>
            <a:pPr algn="ctr" indent="0" marL="0">
              <a:buNone/>
            </a:pPr>
            <a:r>
              <a:rPr lang="en-US" sz="1900" dirty="0">
                <a:solidFill>
                  <a:srgbClr val="FAF8F1"/>
                </a:solidFill>
                <a:latin typeface="Georgia" pitchFamily="34" charset="0"/>
                <a:ea typeface="Georgia" pitchFamily="34" charset="-122"/>
                <a:cs typeface="Georgia" pitchFamily="34" charset="-120"/>
              </a:rPr>
              <a:t>4</a:t>
            </a:r>
            <a:endParaRPr lang="en-US" sz="1900" dirty="0"/>
          </a:p>
        </p:txBody>
      </p:sp>
      <p:sp>
        <p:nvSpPr>
          <p:cNvPr id="23" name="Text 18"/>
          <p:cNvSpPr/>
          <p:nvPr/>
        </p:nvSpPr>
        <p:spPr>
          <a:xfrm>
            <a:off x="7221931" y="1316736"/>
            <a:ext cx="1962302" cy="548640"/>
          </a:xfrm>
          <a:prstGeom prst="rect">
            <a:avLst/>
          </a:prstGeom>
          <a:noFill/>
          <a:ln/>
        </p:spPr>
        <p:txBody>
          <a:bodyPr wrap="square" lIns="0" tIns="0" rIns="0" bIns="0" rtlCol="0" anchor="b"/>
          <a:lstStyle/>
          <a:p>
            <a:pPr algn="ctr" indent="0" marL="0">
              <a:buNone/>
            </a:pPr>
            <a:r>
              <a:rPr lang="en-US" sz="1550" dirty="0">
                <a:solidFill>
                  <a:srgbClr val="24313F"/>
                </a:solidFill>
                <a:latin typeface="Georgia" pitchFamily="34" charset="0"/>
                <a:ea typeface="Georgia" pitchFamily="34" charset="-122"/>
                <a:cs typeface="Georgia" pitchFamily="34" charset="-120"/>
              </a:rPr>
              <a:t>Repair</a:t>
            </a:r>
            <a:endParaRPr lang="en-US" sz="1550" dirty="0"/>
          </a:p>
        </p:txBody>
      </p:sp>
      <p:sp>
        <p:nvSpPr>
          <p:cNvPr id="24" name="Text 19"/>
          <p:cNvSpPr/>
          <p:nvPr/>
        </p:nvSpPr>
        <p:spPr>
          <a:xfrm>
            <a:off x="7221931" y="2542032"/>
            <a:ext cx="1962302" cy="365760"/>
          </a:xfrm>
          <a:prstGeom prst="rect">
            <a:avLst/>
          </a:prstGeom>
          <a:noFill/>
          <a:ln/>
        </p:spPr>
        <p:txBody>
          <a:bodyPr wrap="square" lIns="0" tIns="0" rIns="0" bIns="0" rtlCol="0" anchor="ctr"/>
          <a:lstStyle/>
          <a:p>
            <a:pPr algn="ctr" indent="0" marL="0">
              <a:buNone/>
            </a:pPr>
            <a:r>
              <a:rPr lang="en-US" sz="1050" i="1" dirty="0">
                <a:solidFill>
                  <a:srgbClr val="7A7F72"/>
                </a:solidFill>
                <a:latin typeface="Arial" pitchFamily="34" charset="0"/>
                <a:ea typeface="Arial" pitchFamily="34" charset="-122"/>
                <a:cs typeface="Arial" pitchFamily="34" charset="-120"/>
              </a:rPr>
              <a:t>an attempt to fix</a:t>
            </a:r>
            <a:endParaRPr lang="en-US" sz="1050" dirty="0"/>
          </a:p>
        </p:txBody>
      </p:sp>
      <p:sp>
        <p:nvSpPr>
          <p:cNvPr id="25" name="Shape 20"/>
          <p:cNvSpPr/>
          <p:nvPr/>
        </p:nvSpPr>
        <p:spPr>
          <a:xfrm>
            <a:off x="7240219" y="3063240"/>
            <a:ext cx="1925726" cy="1481328"/>
          </a:xfrm>
          <a:prstGeom prst="rect">
            <a:avLst/>
          </a:prstGeom>
          <a:solidFill>
            <a:srgbClr val="FAF8F1"/>
          </a:solidFill>
          <a:ln w="9525">
            <a:solidFill>
              <a:srgbClr val="D9D4C4"/>
            </a:solidFill>
            <a:prstDash val="solid"/>
          </a:ln>
        </p:spPr>
      </p:sp>
      <p:pic>
        <p:nvPicPr>
          <p:cNvPr id="26" name="Image 3" descr="/Users/dogan/Documents/Vaults/Courses/wiki/classes/media-studies/decks/_build/img/toystory-sids-room.jpg">    </p:cNvPr>
          <p:cNvPicPr>
            <a:picLocks noChangeAspect="1"/>
          </p:cNvPicPr>
          <p:nvPr/>
        </p:nvPicPr>
        <p:blipFill>
          <a:blip r:embed="rId4"/>
          <a:stretch>
            <a:fillRect/>
          </a:stretch>
        </p:blipFill>
        <p:spPr>
          <a:xfrm>
            <a:off x="7313371" y="3305295"/>
            <a:ext cx="1779422" cy="997218"/>
          </a:xfrm>
          <a:prstGeom prst="rect">
            <a:avLst/>
          </a:prstGeom>
        </p:spPr>
      </p:pic>
      <p:sp>
        <p:nvSpPr>
          <p:cNvPr id="27" name="Text 21"/>
          <p:cNvSpPr/>
          <p:nvPr/>
        </p:nvSpPr>
        <p:spPr>
          <a:xfrm>
            <a:off x="10064801" y="1965960"/>
            <a:ext cx="493776" cy="493776"/>
          </a:xfrm>
          <a:prstGeom prst="ellipse">
            <a:avLst/>
          </a:prstGeom>
          <a:solidFill>
            <a:srgbClr val="4A6B5D"/>
          </a:solidFill>
          <a:ln/>
        </p:spPr>
        <p:txBody>
          <a:bodyPr wrap="square" lIns="0" tIns="0" rIns="0" bIns="0" rtlCol="0" anchor="ctr"/>
          <a:lstStyle/>
          <a:p>
            <a:pPr algn="ctr" indent="0" marL="0">
              <a:buNone/>
            </a:pPr>
            <a:r>
              <a:rPr lang="en-US" sz="1900" dirty="0">
                <a:solidFill>
                  <a:srgbClr val="FAF8F1"/>
                </a:solidFill>
                <a:latin typeface="Georgia" pitchFamily="34" charset="0"/>
                <a:ea typeface="Georgia" pitchFamily="34" charset="-122"/>
                <a:cs typeface="Georgia" pitchFamily="34" charset="-120"/>
              </a:rPr>
              <a:t>5</a:t>
            </a:r>
            <a:endParaRPr lang="en-US" sz="1900" dirty="0"/>
          </a:p>
        </p:txBody>
      </p:sp>
      <p:sp>
        <p:nvSpPr>
          <p:cNvPr id="28" name="Text 22"/>
          <p:cNvSpPr/>
          <p:nvPr/>
        </p:nvSpPr>
        <p:spPr>
          <a:xfrm>
            <a:off x="9330538" y="1316736"/>
            <a:ext cx="1962302" cy="548640"/>
          </a:xfrm>
          <a:prstGeom prst="rect">
            <a:avLst/>
          </a:prstGeom>
          <a:noFill/>
          <a:ln/>
        </p:spPr>
        <p:txBody>
          <a:bodyPr wrap="square" lIns="0" tIns="0" rIns="0" bIns="0" rtlCol="0" anchor="b"/>
          <a:lstStyle/>
          <a:p>
            <a:pPr algn="ctr" indent="0" marL="0">
              <a:buNone/>
            </a:pPr>
            <a:r>
              <a:rPr lang="en-US" sz="1550" dirty="0">
                <a:solidFill>
                  <a:srgbClr val="24313F"/>
                </a:solidFill>
                <a:latin typeface="Georgia" pitchFamily="34" charset="0"/>
                <a:ea typeface="Georgia" pitchFamily="34" charset="-122"/>
                <a:cs typeface="Georgia" pitchFamily="34" charset="-120"/>
              </a:rPr>
              <a:t>New equilibrium</a:t>
            </a:r>
            <a:endParaRPr lang="en-US" sz="1550" dirty="0"/>
          </a:p>
        </p:txBody>
      </p:sp>
      <p:sp>
        <p:nvSpPr>
          <p:cNvPr id="29" name="Text 23"/>
          <p:cNvSpPr/>
          <p:nvPr/>
        </p:nvSpPr>
        <p:spPr>
          <a:xfrm>
            <a:off x="9330538" y="2542032"/>
            <a:ext cx="1962302" cy="365760"/>
          </a:xfrm>
          <a:prstGeom prst="rect">
            <a:avLst/>
          </a:prstGeom>
          <a:noFill/>
          <a:ln/>
        </p:spPr>
        <p:txBody>
          <a:bodyPr wrap="square" lIns="0" tIns="0" rIns="0" bIns="0" rtlCol="0" anchor="ctr"/>
          <a:lstStyle/>
          <a:p>
            <a:pPr algn="ctr" indent="0" marL="0">
              <a:buNone/>
            </a:pPr>
            <a:r>
              <a:rPr lang="en-US" sz="1050" i="1" dirty="0">
                <a:solidFill>
                  <a:srgbClr val="7A7F72"/>
                </a:solidFill>
                <a:latin typeface="Arial" pitchFamily="34" charset="0"/>
                <a:ea typeface="Arial" pitchFamily="34" charset="-122"/>
                <a:cs typeface="Arial" pitchFamily="34" charset="-120"/>
              </a:rPr>
              <a:t>a changed calm</a:t>
            </a:r>
            <a:endParaRPr lang="en-US" sz="1050" dirty="0"/>
          </a:p>
        </p:txBody>
      </p:sp>
      <p:sp>
        <p:nvSpPr>
          <p:cNvPr id="30" name="Shape 24"/>
          <p:cNvSpPr/>
          <p:nvPr/>
        </p:nvSpPr>
        <p:spPr>
          <a:xfrm>
            <a:off x="9348826" y="3063240"/>
            <a:ext cx="1925726" cy="1481328"/>
          </a:xfrm>
          <a:prstGeom prst="rect">
            <a:avLst/>
          </a:prstGeom>
          <a:solidFill>
            <a:srgbClr val="FAF8F1"/>
          </a:solidFill>
          <a:ln w="9525">
            <a:solidFill>
              <a:srgbClr val="D9D4C4"/>
            </a:solidFill>
            <a:prstDash val="solid"/>
          </a:ln>
        </p:spPr>
      </p:sp>
      <p:pic>
        <p:nvPicPr>
          <p:cNvPr id="31" name="Image 4" descr="/Users/dogan/Documents/Vaults/Courses/wiki/classes/media-studies/decks/_build/img/toystory-reunited.jpg">    </p:cNvPr>
          <p:cNvPicPr>
            <a:picLocks noChangeAspect="1"/>
          </p:cNvPicPr>
          <p:nvPr/>
        </p:nvPicPr>
        <p:blipFill>
          <a:blip r:embed="rId5"/>
          <a:stretch>
            <a:fillRect/>
          </a:stretch>
        </p:blipFill>
        <p:spPr>
          <a:xfrm>
            <a:off x="9421978" y="3306778"/>
            <a:ext cx="1779422" cy="994252"/>
          </a:xfrm>
          <a:prstGeom prst="rect">
            <a:avLst/>
          </a:prstGeom>
        </p:spPr>
      </p:pic>
      <p:sp>
        <p:nvSpPr>
          <p:cNvPr id="32" name="Text 25"/>
          <p:cNvSpPr/>
          <p:nvPr/>
        </p:nvSpPr>
        <p:spPr>
          <a:xfrm>
            <a:off x="822960" y="4681728"/>
            <a:ext cx="10543032" cy="365760"/>
          </a:xfrm>
          <a:prstGeom prst="rect">
            <a:avLst/>
          </a:prstGeom>
          <a:noFill/>
          <a:ln/>
        </p:spPr>
        <p:txBody>
          <a:bodyPr wrap="square" lIns="0" tIns="0" rIns="0" bIns="0" rtlCol="0" anchor="ctr"/>
          <a:lstStyle/>
          <a:p>
            <a:pPr algn="ctr" indent="0" marL="0">
              <a:buNone/>
            </a:pPr>
            <a:r>
              <a:rPr lang="en-US" sz="1100" dirty="0">
                <a:solidFill>
                  <a:srgbClr val="7A7F72"/>
                </a:solidFill>
                <a:latin typeface="Arial" pitchFamily="34" charset="0"/>
                <a:ea typeface="Arial" pitchFamily="34" charset="-122"/>
                <a:cs typeface="Arial" pitchFamily="34" charset="-120"/>
              </a:rPr>
              <a:t>Toy Story (1995, Pixar/Disney): the coursebook's own worked arc, one frame per stage. Woody's world, Buzz's arrival, the window, Sid's room, the bed shared.</a:t>
            </a:r>
            <a:endParaRPr lang="en-US" sz="1100" dirty="0"/>
          </a:p>
        </p:txBody>
      </p:sp>
      <p:sp>
        <p:nvSpPr>
          <p:cNvPr id="33" name="Shape 26"/>
          <p:cNvSpPr/>
          <p:nvPr/>
        </p:nvSpPr>
        <p:spPr>
          <a:xfrm>
            <a:off x="822960" y="5257800"/>
            <a:ext cx="914400" cy="0"/>
          </a:xfrm>
          <a:prstGeom prst="line">
            <a:avLst/>
          </a:prstGeom>
          <a:noFill/>
          <a:ln w="31750">
            <a:solidFill>
              <a:srgbClr val="8C3A38"/>
            </a:solidFill>
            <a:prstDash val="solid"/>
          </a:ln>
        </p:spPr>
      </p:sp>
      <p:sp>
        <p:nvSpPr>
          <p:cNvPr id="34" name="Text 27"/>
          <p:cNvSpPr/>
          <p:nvPr/>
        </p:nvSpPr>
        <p:spPr>
          <a:xfrm>
            <a:off x="822960" y="5413248"/>
            <a:ext cx="10543032" cy="41148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The caveat that earns marks: the model fails on non-linear narratives, and saying so is the top-band move.</a:t>
            </a:r>
            <a:endParaRPr lang="en-US" sz="1250" dirty="0"/>
          </a:p>
        </p:txBody>
      </p:sp>
      <p:sp>
        <p:nvSpPr>
          <p:cNvPr id="35" name="Shape 28"/>
          <p:cNvSpPr/>
          <p:nvPr/>
        </p:nvSpPr>
        <p:spPr>
          <a:xfrm>
            <a:off x="822960" y="6382512"/>
            <a:ext cx="10543032" cy="0"/>
          </a:xfrm>
          <a:prstGeom prst="line">
            <a:avLst/>
          </a:prstGeom>
          <a:noFill/>
          <a:ln w="9525">
            <a:solidFill>
              <a:srgbClr val="D9D4C4"/>
            </a:solidFill>
            <a:prstDash val="solid"/>
          </a:ln>
        </p:spPr>
      </p:sp>
      <p:sp>
        <p:nvSpPr>
          <p:cNvPr id="36" name="Text 2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7" name="Text 3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5000"/>
              </a:lnSpc>
              <a:buNone/>
            </a:pPr>
            <a:r>
              <a:rPr lang="en-US" sz="4000" dirty="0">
                <a:solidFill>
                  <a:srgbClr val="24313F"/>
                </a:solidFill>
                <a:latin typeface="Georgia" pitchFamily="34" charset="0"/>
                <a:ea typeface="Georgia" pitchFamily="34" charset="-122"/>
                <a:cs typeface="Georgia" pitchFamily="34" charset="-120"/>
              </a:rPr>
              <a:t>The minimal complete plot consists in the passage from one equilibrium to another.</a:t>
            </a:r>
            <a:endParaRPr lang="en-US" sz="40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after Tzvetan Todorov, Structural Analysis of Narrative, 1969</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PROPP · CHARACTERS BY FUNCTION</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WHAT THEY DO, NOT WHO THEY ARE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7315200"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Seven roles a story fills</a:t>
            </a:r>
            <a:endParaRPr lang="en-US" sz="3200" dirty="0"/>
          </a:p>
        </p:txBody>
      </p:sp>
      <p:sp>
        <p:nvSpPr>
          <p:cNvPr id="6" name="Shape 4"/>
          <p:cNvSpPr/>
          <p:nvPr/>
        </p:nvSpPr>
        <p:spPr>
          <a:xfrm>
            <a:off x="822960" y="1737360"/>
            <a:ext cx="7315200" cy="0"/>
          </a:xfrm>
          <a:prstGeom prst="line">
            <a:avLst/>
          </a:prstGeom>
          <a:noFill/>
          <a:ln w="12700">
            <a:solidFill>
              <a:srgbClr val="24313F"/>
            </a:solidFill>
            <a:prstDash val="solid"/>
          </a:ln>
        </p:spPr>
      </p:sp>
      <p:sp>
        <p:nvSpPr>
          <p:cNvPr id="7" name="Text 5"/>
          <p:cNvSpPr/>
          <p:nvPr/>
        </p:nvSpPr>
        <p:spPr>
          <a:xfrm>
            <a:off x="822960" y="1737360"/>
            <a:ext cx="2468880" cy="512064"/>
          </a:xfrm>
          <a:prstGeom prst="rect">
            <a:avLst/>
          </a:prstGeom>
          <a:noFill/>
          <a:ln/>
        </p:spPr>
        <p:txBody>
          <a:bodyPr wrap="square" lIns="0" tIns="0" rIns="0" bIns="0" rtlCol="0" anchor="ctr"/>
          <a:lstStyle/>
          <a:p>
            <a:pPr indent="0" marL="0">
              <a:buNone/>
            </a:pPr>
            <a:r>
              <a:rPr lang="en-US" sz="1700" dirty="0">
                <a:solidFill>
                  <a:srgbClr val="4A6B5D"/>
                </a:solidFill>
                <a:latin typeface="Georgia" pitchFamily="34" charset="0"/>
                <a:ea typeface="Georgia" pitchFamily="34" charset="-122"/>
                <a:cs typeface="Georgia" pitchFamily="34" charset="-120"/>
              </a:rPr>
              <a:t>Hero</a:t>
            </a:r>
            <a:endParaRPr lang="en-US" sz="1700" dirty="0"/>
          </a:p>
        </p:txBody>
      </p:sp>
      <p:sp>
        <p:nvSpPr>
          <p:cNvPr id="8" name="Text 6"/>
          <p:cNvSpPr/>
          <p:nvPr/>
        </p:nvSpPr>
        <p:spPr>
          <a:xfrm>
            <a:off x="3383280" y="1737360"/>
            <a:ext cx="4754880" cy="512064"/>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seeks, and is tested</a:t>
            </a:r>
            <a:endParaRPr lang="en-US" sz="1500" dirty="0"/>
          </a:p>
        </p:txBody>
      </p:sp>
      <p:sp>
        <p:nvSpPr>
          <p:cNvPr id="9" name="Shape 7"/>
          <p:cNvSpPr/>
          <p:nvPr/>
        </p:nvSpPr>
        <p:spPr>
          <a:xfrm>
            <a:off x="822960" y="2249424"/>
            <a:ext cx="7315200" cy="0"/>
          </a:xfrm>
          <a:prstGeom prst="line">
            <a:avLst/>
          </a:prstGeom>
          <a:noFill/>
          <a:ln w="9525">
            <a:solidFill>
              <a:srgbClr val="D9D4C4"/>
            </a:solidFill>
            <a:prstDash val="solid"/>
          </a:ln>
        </p:spPr>
      </p:sp>
      <p:sp>
        <p:nvSpPr>
          <p:cNvPr id="10" name="Text 8"/>
          <p:cNvSpPr/>
          <p:nvPr/>
        </p:nvSpPr>
        <p:spPr>
          <a:xfrm>
            <a:off x="822960" y="2249424"/>
            <a:ext cx="2468880" cy="512064"/>
          </a:xfrm>
          <a:prstGeom prst="rect">
            <a:avLst/>
          </a:prstGeom>
          <a:noFill/>
          <a:ln/>
        </p:spPr>
        <p:txBody>
          <a:bodyPr wrap="square" lIns="0" tIns="0" rIns="0" bIns="0" rtlCol="0" anchor="ctr"/>
          <a:lstStyle/>
          <a:p>
            <a:pPr indent="0" marL="0">
              <a:buNone/>
            </a:pPr>
            <a:r>
              <a:rPr lang="en-US" sz="1700" dirty="0">
                <a:solidFill>
                  <a:srgbClr val="4A6B5D"/>
                </a:solidFill>
                <a:latin typeface="Georgia" pitchFamily="34" charset="0"/>
                <a:ea typeface="Georgia" pitchFamily="34" charset="-122"/>
                <a:cs typeface="Georgia" pitchFamily="34" charset="-120"/>
              </a:rPr>
              <a:t>Villain</a:t>
            </a:r>
            <a:endParaRPr lang="en-US" sz="1700" dirty="0"/>
          </a:p>
        </p:txBody>
      </p:sp>
      <p:sp>
        <p:nvSpPr>
          <p:cNvPr id="11" name="Text 9"/>
          <p:cNvSpPr/>
          <p:nvPr/>
        </p:nvSpPr>
        <p:spPr>
          <a:xfrm>
            <a:off x="3383280" y="2249424"/>
            <a:ext cx="4754880" cy="512064"/>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struggles against the hero</a:t>
            </a:r>
            <a:endParaRPr lang="en-US" sz="1500" dirty="0"/>
          </a:p>
        </p:txBody>
      </p:sp>
      <p:sp>
        <p:nvSpPr>
          <p:cNvPr id="12" name="Shape 10"/>
          <p:cNvSpPr/>
          <p:nvPr/>
        </p:nvSpPr>
        <p:spPr>
          <a:xfrm>
            <a:off x="822960" y="2761488"/>
            <a:ext cx="7315200" cy="0"/>
          </a:xfrm>
          <a:prstGeom prst="line">
            <a:avLst/>
          </a:prstGeom>
          <a:noFill/>
          <a:ln w="9525">
            <a:solidFill>
              <a:srgbClr val="D9D4C4"/>
            </a:solidFill>
            <a:prstDash val="solid"/>
          </a:ln>
        </p:spPr>
      </p:sp>
      <p:sp>
        <p:nvSpPr>
          <p:cNvPr id="13" name="Text 11"/>
          <p:cNvSpPr/>
          <p:nvPr/>
        </p:nvSpPr>
        <p:spPr>
          <a:xfrm>
            <a:off x="822960" y="2761488"/>
            <a:ext cx="2468880" cy="512064"/>
          </a:xfrm>
          <a:prstGeom prst="rect">
            <a:avLst/>
          </a:prstGeom>
          <a:noFill/>
          <a:ln/>
        </p:spPr>
        <p:txBody>
          <a:bodyPr wrap="square" lIns="0" tIns="0" rIns="0" bIns="0" rtlCol="0" anchor="ctr"/>
          <a:lstStyle/>
          <a:p>
            <a:pPr indent="0" marL="0">
              <a:buNone/>
            </a:pPr>
            <a:r>
              <a:rPr lang="en-US" sz="1700" dirty="0">
                <a:solidFill>
                  <a:srgbClr val="4A6B5D"/>
                </a:solidFill>
                <a:latin typeface="Georgia" pitchFamily="34" charset="0"/>
                <a:ea typeface="Georgia" pitchFamily="34" charset="-122"/>
                <a:cs typeface="Georgia" pitchFamily="34" charset="-120"/>
              </a:rPr>
              <a:t>Donor</a:t>
            </a:r>
            <a:endParaRPr lang="en-US" sz="1700" dirty="0"/>
          </a:p>
        </p:txBody>
      </p:sp>
      <p:sp>
        <p:nvSpPr>
          <p:cNvPr id="14" name="Text 12"/>
          <p:cNvSpPr/>
          <p:nvPr/>
        </p:nvSpPr>
        <p:spPr>
          <a:xfrm>
            <a:off x="3383280" y="2761488"/>
            <a:ext cx="4754880" cy="512064"/>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gives the hero a tool or gift</a:t>
            </a:r>
            <a:endParaRPr lang="en-US" sz="1500" dirty="0"/>
          </a:p>
        </p:txBody>
      </p:sp>
      <p:sp>
        <p:nvSpPr>
          <p:cNvPr id="15" name="Shape 13"/>
          <p:cNvSpPr/>
          <p:nvPr/>
        </p:nvSpPr>
        <p:spPr>
          <a:xfrm>
            <a:off x="822960" y="3273552"/>
            <a:ext cx="7315200" cy="0"/>
          </a:xfrm>
          <a:prstGeom prst="line">
            <a:avLst/>
          </a:prstGeom>
          <a:noFill/>
          <a:ln w="9525">
            <a:solidFill>
              <a:srgbClr val="D9D4C4"/>
            </a:solidFill>
            <a:prstDash val="solid"/>
          </a:ln>
        </p:spPr>
      </p:sp>
      <p:sp>
        <p:nvSpPr>
          <p:cNvPr id="16" name="Text 14"/>
          <p:cNvSpPr/>
          <p:nvPr/>
        </p:nvSpPr>
        <p:spPr>
          <a:xfrm>
            <a:off x="822960" y="3273552"/>
            <a:ext cx="2468880" cy="512064"/>
          </a:xfrm>
          <a:prstGeom prst="rect">
            <a:avLst/>
          </a:prstGeom>
          <a:noFill/>
          <a:ln/>
        </p:spPr>
        <p:txBody>
          <a:bodyPr wrap="square" lIns="0" tIns="0" rIns="0" bIns="0" rtlCol="0" anchor="ctr"/>
          <a:lstStyle/>
          <a:p>
            <a:pPr indent="0" marL="0">
              <a:buNone/>
            </a:pPr>
            <a:r>
              <a:rPr lang="en-US" sz="1700" dirty="0">
                <a:solidFill>
                  <a:srgbClr val="4A6B5D"/>
                </a:solidFill>
                <a:latin typeface="Georgia" pitchFamily="34" charset="0"/>
                <a:ea typeface="Georgia" pitchFamily="34" charset="-122"/>
                <a:cs typeface="Georgia" pitchFamily="34" charset="-120"/>
              </a:rPr>
              <a:t>Helper</a:t>
            </a:r>
            <a:endParaRPr lang="en-US" sz="1700" dirty="0"/>
          </a:p>
        </p:txBody>
      </p:sp>
      <p:sp>
        <p:nvSpPr>
          <p:cNvPr id="17" name="Text 15"/>
          <p:cNvSpPr/>
          <p:nvPr/>
        </p:nvSpPr>
        <p:spPr>
          <a:xfrm>
            <a:off x="3383280" y="3273552"/>
            <a:ext cx="4754880" cy="512064"/>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aids the hero on the way</a:t>
            </a:r>
            <a:endParaRPr lang="en-US" sz="1500" dirty="0"/>
          </a:p>
        </p:txBody>
      </p:sp>
      <p:sp>
        <p:nvSpPr>
          <p:cNvPr id="18" name="Shape 16"/>
          <p:cNvSpPr/>
          <p:nvPr/>
        </p:nvSpPr>
        <p:spPr>
          <a:xfrm>
            <a:off x="822960" y="3785616"/>
            <a:ext cx="7315200" cy="0"/>
          </a:xfrm>
          <a:prstGeom prst="line">
            <a:avLst/>
          </a:prstGeom>
          <a:noFill/>
          <a:ln w="9525">
            <a:solidFill>
              <a:srgbClr val="D9D4C4"/>
            </a:solidFill>
            <a:prstDash val="solid"/>
          </a:ln>
        </p:spPr>
      </p:sp>
      <p:sp>
        <p:nvSpPr>
          <p:cNvPr id="19" name="Text 17"/>
          <p:cNvSpPr/>
          <p:nvPr/>
        </p:nvSpPr>
        <p:spPr>
          <a:xfrm>
            <a:off x="822960" y="3785616"/>
            <a:ext cx="2468880" cy="512064"/>
          </a:xfrm>
          <a:prstGeom prst="rect">
            <a:avLst/>
          </a:prstGeom>
          <a:noFill/>
          <a:ln/>
        </p:spPr>
        <p:txBody>
          <a:bodyPr wrap="square" lIns="0" tIns="0" rIns="0" bIns="0" rtlCol="0" anchor="ctr"/>
          <a:lstStyle/>
          <a:p>
            <a:pPr indent="0" marL="0">
              <a:buNone/>
            </a:pPr>
            <a:r>
              <a:rPr lang="en-US" sz="1700" dirty="0">
                <a:solidFill>
                  <a:srgbClr val="4A6B5D"/>
                </a:solidFill>
                <a:latin typeface="Georgia" pitchFamily="34" charset="0"/>
                <a:ea typeface="Georgia" pitchFamily="34" charset="-122"/>
                <a:cs typeface="Georgia" pitchFamily="34" charset="-120"/>
              </a:rPr>
              <a:t>Princess</a:t>
            </a:r>
            <a:endParaRPr lang="en-US" sz="1700" dirty="0"/>
          </a:p>
        </p:txBody>
      </p:sp>
      <p:sp>
        <p:nvSpPr>
          <p:cNvPr id="20" name="Text 18"/>
          <p:cNvSpPr/>
          <p:nvPr/>
        </p:nvSpPr>
        <p:spPr>
          <a:xfrm>
            <a:off x="3383280" y="3785616"/>
            <a:ext cx="4754880" cy="512064"/>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the sought-for person or prize</a:t>
            </a:r>
            <a:endParaRPr lang="en-US" sz="1500" dirty="0"/>
          </a:p>
        </p:txBody>
      </p:sp>
      <p:sp>
        <p:nvSpPr>
          <p:cNvPr id="21" name="Shape 19"/>
          <p:cNvSpPr/>
          <p:nvPr/>
        </p:nvSpPr>
        <p:spPr>
          <a:xfrm>
            <a:off x="822960" y="4297680"/>
            <a:ext cx="7315200" cy="0"/>
          </a:xfrm>
          <a:prstGeom prst="line">
            <a:avLst/>
          </a:prstGeom>
          <a:noFill/>
          <a:ln w="9525">
            <a:solidFill>
              <a:srgbClr val="D9D4C4"/>
            </a:solidFill>
            <a:prstDash val="solid"/>
          </a:ln>
        </p:spPr>
      </p:sp>
      <p:sp>
        <p:nvSpPr>
          <p:cNvPr id="22" name="Text 20"/>
          <p:cNvSpPr/>
          <p:nvPr/>
        </p:nvSpPr>
        <p:spPr>
          <a:xfrm>
            <a:off x="822960" y="4297680"/>
            <a:ext cx="2468880" cy="512064"/>
          </a:xfrm>
          <a:prstGeom prst="rect">
            <a:avLst/>
          </a:prstGeom>
          <a:noFill/>
          <a:ln/>
        </p:spPr>
        <p:txBody>
          <a:bodyPr wrap="square" lIns="0" tIns="0" rIns="0" bIns="0" rtlCol="0" anchor="ctr"/>
          <a:lstStyle/>
          <a:p>
            <a:pPr indent="0" marL="0">
              <a:buNone/>
            </a:pPr>
            <a:r>
              <a:rPr lang="en-US" sz="1700" dirty="0">
                <a:solidFill>
                  <a:srgbClr val="4A6B5D"/>
                </a:solidFill>
                <a:latin typeface="Georgia" pitchFamily="34" charset="0"/>
                <a:ea typeface="Georgia" pitchFamily="34" charset="-122"/>
                <a:cs typeface="Georgia" pitchFamily="34" charset="-120"/>
              </a:rPr>
              <a:t>Dispatcher</a:t>
            </a:r>
            <a:endParaRPr lang="en-US" sz="1700" dirty="0"/>
          </a:p>
        </p:txBody>
      </p:sp>
      <p:sp>
        <p:nvSpPr>
          <p:cNvPr id="23" name="Text 21"/>
          <p:cNvSpPr/>
          <p:nvPr/>
        </p:nvSpPr>
        <p:spPr>
          <a:xfrm>
            <a:off x="3383280" y="4297680"/>
            <a:ext cx="4754880" cy="512064"/>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sends the hero out</a:t>
            </a:r>
            <a:endParaRPr lang="en-US" sz="1500" dirty="0"/>
          </a:p>
        </p:txBody>
      </p:sp>
      <p:sp>
        <p:nvSpPr>
          <p:cNvPr id="24" name="Shape 22"/>
          <p:cNvSpPr/>
          <p:nvPr/>
        </p:nvSpPr>
        <p:spPr>
          <a:xfrm>
            <a:off x="822960" y="4809744"/>
            <a:ext cx="7315200" cy="0"/>
          </a:xfrm>
          <a:prstGeom prst="line">
            <a:avLst/>
          </a:prstGeom>
          <a:noFill/>
          <a:ln w="9525">
            <a:solidFill>
              <a:srgbClr val="D9D4C4"/>
            </a:solidFill>
            <a:prstDash val="solid"/>
          </a:ln>
        </p:spPr>
      </p:sp>
      <p:sp>
        <p:nvSpPr>
          <p:cNvPr id="25" name="Text 23"/>
          <p:cNvSpPr/>
          <p:nvPr/>
        </p:nvSpPr>
        <p:spPr>
          <a:xfrm>
            <a:off x="822960" y="4809744"/>
            <a:ext cx="2468880" cy="512064"/>
          </a:xfrm>
          <a:prstGeom prst="rect">
            <a:avLst/>
          </a:prstGeom>
          <a:noFill/>
          <a:ln/>
        </p:spPr>
        <p:txBody>
          <a:bodyPr wrap="square" lIns="0" tIns="0" rIns="0" bIns="0" rtlCol="0" anchor="ctr"/>
          <a:lstStyle/>
          <a:p>
            <a:pPr indent="0" marL="0">
              <a:buNone/>
            </a:pPr>
            <a:r>
              <a:rPr lang="en-US" sz="1700" dirty="0">
                <a:solidFill>
                  <a:srgbClr val="4A6B5D"/>
                </a:solidFill>
                <a:latin typeface="Georgia" pitchFamily="34" charset="0"/>
                <a:ea typeface="Georgia" pitchFamily="34" charset="-122"/>
                <a:cs typeface="Georgia" pitchFamily="34" charset="-120"/>
              </a:rPr>
              <a:t>False hero</a:t>
            </a:r>
            <a:endParaRPr lang="en-US" sz="1700" dirty="0"/>
          </a:p>
        </p:txBody>
      </p:sp>
      <p:sp>
        <p:nvSpPr>
          <p:cNvPr id="26" name="Text 24"/>
          <p:cNvSpPr/>
          <p:nvPr/>
        </p:nvSpPr>
        <p:spPr>
          <a:xfrm>
            <a:off x="3383280" y="4809744"/>
            <a:ext cx="4754880" cy="512064"/>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claims the reward unearned</a:t>
            </a:r>
            <a:endParaRPr lang="en-US" sz="1500" dirty="0"/>
          </a:p>
        </p:txBody>
      </p:sp>
      <p:sp>
        <p:nvSpPr>
          <p:cNvPr id="27" name="Shape 25"/>
          <p:cNvSpPr/>
          <p:nvPr/>
        </p:nvSpPr>
        <p:spPr>
          <a:xfrm>
            <a:off x="822960" y="5321808"/>
            <a:ext cx="7315200" cy="0"/>
          </a:xfrm>
          <a:prstGeom prst="line">
            <a:avLst/>
          </a:prstGeom>
          <a:noFill/>
          <a:ln w="9525">
            <a:solidFill>
              <a:srgbClr val="D9D4C4"/>
            </a:solidFill>
            <a:prstDash val="solid"/>
          </a:ln>
        </p:spPr>
      </p:sp>
      <p:sp>
        <p:nvSpPr>
          <p:cNvPr id="28" name="Shape 26"/>
          <p:cNvSpPr/>
          <p:nvPr/>
        </p:nvSpPr>
        <p:spPr>
          <a:xfrm>
            <a:off x="8366760" y="1783080"/>
            <a:ext cx="3017520" cy="2377440"/>
          </a:xfrm>
          <a:prstGeom prst="rect">
            <a:avLst/>
          </a:prstGeom>
          <a:solidFill>
            <a:srgbClr val="FAF8F1"/>
          </a:solidFill>
          <a:ln w="9525">
            <a:solidFill>
              <a:srgbClr val="D9D4C4"/>
            </a:solidFill>
            <a:prstDash val="solid"/>
          </a:ln>
        </p:spPr>
      </p:sp>
      <p:pic>
        <p:nvPicPr>
          <p:cNvPr id="29" name="Image 0" descr="/Users/dogan/Documents/Vaults/Courses/wiki/classes/media-studies/decks/_build/img/toystory-buzz-unwrapped.jpg">    </p:cNvPr>
          <p:cNvPicPr>
            <a:picLocks noChangeAspect="1"/>
          </p:cNvPicPr>
          <p:nvPr/>
        </p:nvPicPr>
        <p:blipFill>
          <a:blip r:embed="rId1"/>
          <a:stretch>
            <a:fillRect/>
          </a:stretch>
        </p:blipFill>
        <p:spPr>
          <a:xfrm>
            <a:off x="8494776" y="2079494"/>
            <a:ext cx="2761488" cy="1784612"/>
          </a:xfrm>
          <a:prstGeom prst="rect">
            <a:avLst/>
          </a:prstGeom>
        </p:spPr>
      </p:pic>
      <p:sp>
        <p:nvSpPr>
          <p:cNvPr id="30" name="Text 27"/>
          <p:cNvSpPr/>
          <p:nvPr/>
        </p:nvSpPr>
        <p:spPr>
          <a:xfrm>
            <a:off x="8366760" y="4251960"/>
            <a:ext cx="3017520" cy="1371600"/>
          </a:xfrm>
          <a:prstGeom prst="rect">
            <a:avLst/>
          </a:prstGeom>
          <a:noFill/>
          <a:ln/>
        </p:spPr>
        <p:txBody>
          <a:bodyPr wrap="square" lIns="0" tIns="0" rIns="0" bIns="0" rtlCol="0" anchor="t"/>
          <a:lstStyle/>
          <a:p>
            <a:pPr indent="0" marL="0">
              <a:lnSpc>
                <a:spcPts val="1500"/>
              </a:lnSpc>
              <a:buNone/>
            </a:pPr>
            <a:r>
              <a:rPr lang="en-US" sz="1100" i="1" dirty="0">
                <a:solidFill>
                  <a:srgbClr val="7A7F72"/>
                </a:solidFill>
                <a:latin typeface="Arial" pitchFamily="34" charset="0"/>
                <a:ea typeface="Arial" pitchFamily="34" charset="-122"/>
                <a:cs typeface="Arial" pitchFamily="34" charset="-120"/>
              </a:rPr>
              <a:t>Map this cast. Woody: hero, or the villain of act one? Buzz: prize, rival, helper? Where Propp refuses to sit still is the strain log's first entry.</a:t>
            </a:r>
            <a:endParaRPr lang="en-US" sz="1100" dirty="0"/>
          </a:p>
        </p:txBody>
      </p:sp>
      <p:sp>
        <p:nvSpPr>
          <p:cNvPr id="31" name="Text 28"/>
          <p:cNvSpPr/>
          <p:nvPr/>
        </p:nvSpPr>
        <p:spPr>
          <a:xfrm>
            <a:off x="822960" y="5458968"/>
            <a:ext cx="7315200" cy="685800"/>
          </a:xfrm>
          <a:prstGeom prst="rect">
            <a:avLst/>
          </a:prstGeom>
          <a:noFill/>
          <a:ln/>
        </p:spPr>
        <p:txBody>
          <a:bodyPr wrap="square" lIns="0" tIns="0" rIns="0" bIns="0" rtlCol="0" anchor="t"/>
          <a:lstStyle/>
          <a:p>
            <a:pPr indent="0" marL="0">
              <a:lnSpc>
                <a:spcPts val="1500"/>
              </a:lnSpc>
              <a:buNone/>
            </a:pPr>
            <a:r>
              <a:rPr lang="en-US" sz="1150" i="1" dirty="0">
                <a:solidFill>
                  <a:srgbClr val="7A7F72"/>
                </a:solidFill>
                <a:latin typeface="Arial" pitchFamily="34" charset="0"/>
                <a:ea typeface="Arial" pitchFamily="34" charset="-122"/>
                <a:cs typeface="Arial" pitchFamily="34" charset="-120"/>
              </a:rPr>
              <a:t>The caveat: folk tales, 1928; apply with judgment. Dealt as Sort Wars cards: rebuild a scrambled tale, then ask your own opening: who is your donor, and do you even have one?</a:t>
            </a:r>
            <a:endParaRPr lang="en-US" sz="1150" dirty="0"/>
          </a:p>
        </p:txBody>
      </p:sp>
      <p:sp>
        <p:nvSpPr>
          <p:cNvPr id="32" name="Shape 29"/>
          <p:cNvSpPr/>
          <p:nvPr/>
        </p:nvSpPr>
        <p:spPr>
          <a:xfrm>
            <a:off x="822960" y="6382512"/>
            <a:ext cx="10543032" cy="0"/>
          </a:xfrm>
          <a:prstGeom prst="line">
            <a:avLst/>
          </a:prstGeom>
          <a:noFill/>
          <a:ln w="9525">
            <a:solidFill>
              <a:srgbClr val="D9D4C4"/>
            </a:solidFill>
            <a:prstDash val="solid"/>
          </a:ln>
        </p:spPr>
      </p:sp>
      <p:sp>
        <p:nvSpPr>
          <p:cNvPr id="33" name="Text 3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4" name="Text 3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pic>
        <p:nvPicPr>
          <p:cNvPr id="2" name="Image 0" descr="/Users/dogan/Documents/Vaults/Courses/wiki/classes/media-studies/decks/_build/img/crops/lupin-unit_a664.jpg">    </p:cNvPr>
          <p:cNvPicPr>
            <a:picLocks noChangeAspect="1"/>
          </p:cNvPicPr>
          <p:nvPr/>
        </p:nvPicPr>
        <p:blipFill>
          <a:blip r:embed="rId1"/>
          <a:stretch>
            <a:fillRect/>
          </a:stretch>
        </p:blipFill>
        <p:spPr>
          <a:xfrm>
            <a:off x="7635240" y="0"/>
            <a:ext cx="4553712" cy="6858000"/>
          </a:xfrm>
          <a:prstGeom prst="rect">
            <a:avLst/>
          </a:prstGeom>
        </p:spPr>
      </p:pic>
      <p:sp>
        <p:nvSpPr>
          <p:cNvPr id="3" name="Text 0"/>
          <p:cNvSpPr/>
          <p:nvPr/>
        </p:nvSpPr>
        <p:spPr>
          <a:xfrm>
            <a:off x="7818120" y="6126480"/>
            <a:ext cx="418795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Lupin, Part 3 (Netflix, 2023). Unit still</a:t>
            </a:r>
            <a:endParaRPr lang="en-US" sz="950" dirty="0"/>
          </a:p>
        </p:txBody>
      </p:sp>
      <p:sp>
        <p:nvSpPr>
          <p:cNvPr id="4" name="Text 1"/>
          <p:cNvSpPr/>
          <p:nvPr/>
        </p:nvSpPr>
        <p:spPr>
          <a:xfrm>
            <a:off x="822960" y="685800"/>
            <a:ext cx="54864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ENIGMA CODE</a:t>
            </a:r>
            <a:endParaRPr lang="en-US" sz="1100" dirty="0"/>
          </a:p>
        </p:txBody>
      </p:sp>
      <p:sp>
        <p:nvSpPr>
          <p:cNvPr id="5" name="Shape 2"/>
          <p:cNvSpPr/>
          <p:nvPr/>
        </p:nvSpPr>
        <p:spPr>
          <a:xfrm>
            <a:off x="822960" y="1051560"/>
            <a:ext cx="6492240" cy="0"/>
          </a:xfrm>
          <a:prstGeom prst="line">
            <a:avLst/>
          </a:prstGeom>
          <a:noFill/>
          <a:ln w="9525">
            <a:solidFill>
              <a:srgbClr val="D9D4C4"/>
            </a:solidFill>
            <a:prstDash val="solid"/>
          </a:ln>
        </p:spPr>
      </p:sp>
      <p:sp>
        <p:nvSpPr>
          <p:cNvPr id="6" name="Text 3"/>
          <p:cNvSpPr/>
          <p:nvPr/>
        </p:nvSpPr>
        <p:spPr>
          <a:xfrm>
            <a:off x="822960" y="1234440"/>
            <a:ext cx="6492240" cy="914400"/>
          </a:xfrm>
          <a:prstGeom prst="rect">
            <a:avLst/>
          </a:prstGeom>
          <a:noFill/>
          <a:ln/>
        </p:spPr>
        <p:txBody>
          <a:bodyPr wrap="square" lIns="0" tIns="0" rIns="0" bIns="0" rtlCol="0" anchor="t"/>
          <a:lstStyle/>
          <a:p>
            <a:pPr indent="0" marL="0">
              <a:buNone/>
            </a:pPr>
            <a:r>
              <a:rPr lang="en-US" sz="4600" dirty="0">
                <a:solidFill>
                  <a:srgbClr val="24313F"/>
                </a:solidFill>
                <a:latin typeface="Georgia" pitchFamily="34" charset="0"/>
                <a:ea typeface="Georgia" pitchFamily="34" charset="-122"/>
                <a:cs typeface="Georgia" pitchFamily="34" charset="-120"/>
              </a:rPr>
              <a:t>You leaned in</a:t>
            </a:r>
            <a:endParaRPr lang="en-US" sz="4600" dirty="0"/>
          </a:p>
        </p:txBody>
      </p:sp>
      <p:sp>
        <p:nvSpPr>
          <p:cNvPr id="7" name="Text 4"/>
          <p:cNvSpPr/>
          <p:nvPr/>
        </p:nvSpPr>
        <p:spPr>
          <a:xfrm>
            <a:off x="822960" y="2286000"/>
            <a:ext cx="6583680" cy="3108960"/>
          </a:xfrm>
          <a:prstGeom prst="rect">
            <a:avLst/>
          </a:prstGeom>
          <a:noFill/>
          <a:ln/>
        </p:spPr>
        <p:txBody>
          <a:bodyPr wrap="square" lIns="0" tIns="0" rIns="0" bIns="0" rtlCol="0" anchor="t"/>
          <a:lstStyle/>
          <a:p>
            <a:pPr indent="0" marL="0">
              <a:lnSpc>
                <a:spcPts val="2600"/>
              </a:lnSpc>
              <a:buNone/>
            </a:pPr>
            <a:r>
              <a:rPr lang="en-US" sz="1800" dirty="0">
                <a:solidFill>
                  <a:srgbClr val="24313F"/>
                </a:solidFill>
                <a:latin typeface="Georgia" pitchFamily="34" charset="0"/>
                <a:ea typeface="Georgia" pitchFamily="34" charset="-122"/>
                <a:cs typeface="Georgia" pitchFamily="34" charset="-120"/>
              </a:rPr>
              <a:t>White hair, tinted glasses, a borrowed name: the man at the gala is the series' hero in disguise, and every viewer at home is asking the same two questions. Will he be recognised? What is he here to take? The show plants questions and pays them off on a schedule, and that lean toward the answer is Barthes's enigma code working. Every opening is engineered to owe you answers, and your D1 table maps exactly what this frame owes.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BARTHES · TWO OF THE FIVE CODES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QUESTION AND THE PROMISE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97280"/>
            <a:ext cx="5088636" cy="274320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lupin-vitrine.jpg">    </p:cNvPr>
          <p:cNvPicPr>
            <a:picLocks noChangeAspect="1"/>
          </p:cNvPicPr>
          <p:nvPr/>
        </p:nvPicPr>
        <p:blipFill>
          <a:blip r:embed="rId1"/>
          <a:stretch>
            <a:fillRect/>
          </a:stretch>
        </p:blipFill>
        <p:spPr>
          <a:xfrm>
            <a:off x="1501902" y="1225296"/>
            <a:ext cx="3730752" cy="2487168"/>
          </a:xfrm>
          <a:prstGeom prst="rect">
            <a:avLst/>
          </a:prstGeom>
        </p:spPr>
      </p:pic>
      <p:sp>
        <p:nvSpPr>
          <p:cNvPr id="7" name="Shape 4"/>
          <p:cNvSpPr/>
          <p:nvPr/>
        </p:nvSpPr>
        <p:spPr>
          <a:xfrm>
            <a:off x="6277356" y="1097280"/>
            <a:ext cx="5088636" cy="2743200"/>
          </a:xfrm>
          <a:prstGeom prst="rect">
            <a:avLst/>
          </a:prstGeom>
          <a:solidFill>
            <a:srgbClr val="FAF8F1"/>
          </a:solidFill>
          <a:ln w="9525">
            <a:solidFill>
              <a:srgbClr val="D9D4C4"/>
            </a:solidFill>
            <a:prstDash val="solid"/>
          </a:ln>
        </p:spPr>
      </p:sp>
      <p:pic>
        <p:nvPicPr>
          <p:cNvPr id="8" name="Image 1" descr="/Users/dogan/Documents/Vaults/Courses/wiki/classes/media-studies/decks/_build/img/toystory-remote-ecu.jpg">    </p:cNvPr>
          <p:cNvPicPr>
            <a:picLocks noChangeAspect="1"/>
          </p:cNvPicPr>
          <p:nvPr/>
        </p:nvPicPr>
        <p:blipFill>
          <a:blip r:embed="rId2"/>
          <a:stretch>
            <a:fillRect/>
          </a:stretch>
        </p:blipFill>
        <p:spPr>
          <a:xfrm>
            <a:off x="6897366" y="1225296"/>
            <a:ext cx="3848616" cy="2487168"/>
          </a:xfrm>
          <a:prstGeom prst="rect">
            <a:avLst/>
          </a:prstGeom>
        </p:spPr>
      </p:pic>
      <p:sp>
        <p:nvSpPr>
          <p:cNvPr id="9" name="Text 5"/>
          <p:cNvSpPr/>
          <p:nvPr/>
        </p:nvSpPr>
        <p:spPr>
          <a:xfrm>
            <a:off x="822960" y="3877056"/>
            <a:ext cx="5088636" cy="32004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Lupin (Netflix, 2021): the cleaner nobody sees, at the necklace nobody guards</a:t>
            </a:r>
            <a:endParaRPr lang="en-US" sz="1000" dirty="0"/>
          </a:p>
        </p:txBody>
      </p:sp>
      <p:sp>
        <p:nvSpPr>
          <p:cNvPr id="10" name="Text 6"/>
          <p:cNvSpPr/>
          <p:nvPr/>
        </p:nvSpPr>
        <p:spPr>
          <a:xfrm>
            <a:off x="6277356" y="3877056"/>
            <a:ext cx="5088636" cy="32004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Toy Story (1995): a thumb on a trigger is a promise the scene must keep</a:t>
            </a:r>
            <a:endParaRPr lang="en-US" sz="1000" dirty="0"/>
          </a:p>
        </p:txBody>
      </p:sp>
      <p:sp>
        <p:nvSpPr>
          <p:cNvPr id="11" name="Text 7"/>
          <p:cNvSpPr/>
          <p:nvPr/>
        </p:nvSpPr>
        <p:spPr>
          <a:xfrm>
            <a:off x="822960" y="4343400"/>
            <a:ext cx="5088636" cy="411480"/>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Enigma code</a:t>
            </a:r>
            <a:endParaRPr lang="en-US" sz="2000" dirty="0"/>
          </a:p>
        </p:txBody>
      </p:sp>
      <p:sp>
        <p:nvSpPr>
          <p:cNvPr id="12" name="Text 8"/>
          <p:cNvSpPr/>
          <p:nvPr/>
        </p:nvSpPr>
        <p:spPr>
          <a:xfrm>
            <a:off x="822960" y="4800600"/>
            <a:ext cx="5088636" cy="1097280"/>
          </a:xfrm>
          <a:prstGeom prst="rect">
            <a:avLst/>
          </a:prstGeom>
          <a:noFill/>
          <a:ln/>
        </p:spPr>
        <p:txBody>
          <a:bodyPr wrap="square" lIns="0" tIns="0" rIns="0" bIns="0" rtlCol="0" anchor="t"/>
          <a:lstStyle/>
          <a:p>
            <a:pPr indent="0" marL="0">
              <a:lnSpc>
                <a:spcPts val="2000"/>
              </a:lnSpc>
              <a:buNone/>
            </a:pPr>
            <a:r>
              <a:rPr lang="en-US" sz="1450" dirty="0">
                <a:solidFill>
                  <a:srgbClr val="24313F"/>
                </a:solidFill>
                <a:latin typeface="Georgia" pitchFamily="34" charset="0"/>
                <a:ea typeface="Georgia" pitchFamily="34" charset="-122"/>
                <a:cs typeface="Georgia" pitchFamily="34" charset="-120"/>
              </a:rPr>
              <a:t>The question a text plants and refuses to answer yet: who is he, what is he here to take?</a:t>
            </a:r>
            <a:endParaRPr lang="en-US" sz="1450" dirty="0"/>
          </a:p>
        </p:txBody>
      </p:sp>
      <p:sp>
        <p:nvSpPr>
          <p:cNvPr id="13" name="Text 9"/>
          <p:cNvSpPr/>
          <p:nvPr/>
        </p:nvSpPr>
        <p:spPr>
          <a:xfrm>
            <a:off x="6277356" y="4343400"/>
            <a:ext cx="5088636" cy="411480"/>
          </a:xfrm>
          <a:prstGeom prst="rect">
            <a:avLst/>
          </a:prstGeom>
          <a:noFill/>
          <a:ln/>
        </p:spPr>
        <p:txBody>
          <a:bodyPr wrap="square" lIns="0" tIns="0" rIns="0" bIns="0" rtlCol="0" anchor="ctr"/>
          <a:lstStyle/>
          <a:p>
            <a:pPr indent="0" marL="0">
              <a:buNone/>
            </a:pPr>
            <a:r>
              <a:rPr lang="en-US" sz="2000" dirty="0">
                <a:solidFill>
                  <a:srgbClr val="5C7A6B"/>
                </a:solidFill>
                <a:latin typeface="Georgia" pitchFamily="34" charset="0"/>
                <a:ea typeface="Georgia" pitchFamily="34" charset="-122"/>
                <a:cs typeface="Georgia" pitchFamily="34" charset="-120"/>
              </a:rPr>
              <a:t>Action code</a:t>
            </a:r>
            <a:endParaRPr lang="en-US" sz="2000" dirty="0"/>
          </a:p>
        </p:txBody>
      </p:sp>
      <p:sp>
        <p:nvSpPr>
          <p:cNvPr id="14" name="Text 10"/>
          <p:cNvSpPr/>
          <p:nvPr/>
        </p:nvSpPr>
        <p:spPr>
          <a:xfrm>
            <a:off x="6277356" y="4800600"/>
            <a:ext cx="5088636" cy="1097280"/>
          </a:xfrm>
          <a:prstGeom prst="rect">
            <a:avLst/>
          </a:prstGeom>
          <a:noFill/>
          <a:ln/>
        </p:spPr>
        <p:txBody>
          <a:bodyPr wrap="square" lIns="0" tIns="0" rIns="0" bIns="0" rtlCol="0" anchor="t"/>
          <a:lstStyle/>
          <a:p>
            <a:pPr indent="0" marL="0">
              <a:lnSpc>
                <a:spcPts val="2000"/>
              </a:lnSpc>
              <a:buNone/>
            </a:pPr>
            <a:r>
              <a:rPr lang="en-US" sz="1450" dirty="0">
                <a:solidFill>
                  <a:srgbClr val="24313F"/>
                </a:solidFill>
                <a:latin typeface="Georgia" pitchFamily="34" charset="0"/>
                <a:ea typeface="Georgia" pitchFamily="34" charset="-122"/>
                <a:cs typeface="Georgia" pitchFamily="34" charset="-120"/>
              </a:rPr>
              <a:t>The promise that something will happen, and soon: a loaded gun, a lit fuse, a pressed trigger.</a:t>
            </a:r>
            <a:endParaRPr lang="en-US" sz="1450" dirty="0"/>
          </a:p>
        </p:txBody>
      </p:sp>
      <p:sp>
        <p:nvSpPr>
          <p:cNvPr id="15" name="Shape 11"/>
          <p:cNvSpPr/>
          <p:nvPr/>
        </p:nvSpPr>
        <p:spPr>
          <a:xfrm>
            <a:off x="822960" y="6382512"/>
            <a:ext cx="10543032" cy="0"/>
          </a:xfrm>
          <a:prstGeom prst="line">
            <a:avLst/>
          </a:prstGeom>
          <a:noFill/>
          <a:ln w="9525">
            <a:solidFill>
              <a:srgbClr val="D9D4C4"/>
            </a:solidFill>
            <a:prstDash val="solid"/>
          </a:ln>
        </p:spPr>
      </p:sp>
      <p:sp>
        <p:nvSpPr>
          <p:cNvPr id="16" name="Text 12"/>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7" name="Text 13"/>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4800"/>
              </a:lnSpc>
              <a:buNone/>
            </a:pPr>
            <a:r>
              <a:rPr lang="en-US" sz="3800" dirty="0">
                <a:solidFill>
                  <a:srgbClr val="24313F"/>
                </a:solidFill>
                <a:latin typeface="Georgia" pitchFamily="34" charset="0"/>
                <a:ea typeface="Georgia" pitchFamily="34" charset="-122"/>
                <a:cs typeface="Georgia" pitchFamily="34" charset="-120"/>
              </a:rPr>
              <a:t>An enigma can be distinguished, suggested, formulated, held in suspense, and finally disclosed.</a:t>
            </a:r>
            <a:endParaRPr lang="en-US" sz="38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Roland Barthes, S/Z, 1970</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BINARY OPPOSITIONS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NARRATIVES RUN ON CONFLICTS OF VALUE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51560"/>
            <a:ext cx="5852160" cy="448056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lupin-vitrine.jpg">    </p:cNvPr>
          <p:cNvPicPr>
            <a:picLocks noChangeAspect="1"/>
          </p:cNvPicPr>
          <p:nvPr/>
        </p:nvPicPr>
        <p:blipFill>
          <a:blip r:embed="rId1"/>
          <a:stretch>
            <a:fillRect/>
          </a:stretch>
        </p:blipFill>
        <p:spPr>
          <a:xfrm>
            <a:off x="950976" y="1426464"/>
            <a:ext cx="5596128" cy="3730752"/>
          </a:xfrm>
          <a:prstGeom prst="rect">
            <a:avLst/>
          </a:prstGeom>
        </p:spPr>
      </p:pic>
      <p:sp>
        <p:nvSpPr>
          <p:cNvPr id="7" name="Text 4"/>
          <p:cNvSpPr/>
          <p:nvPr/>
        </p:nvSpPr>
        <p:spPr>
          <a:xfrm>
            <a:off x="822960" y="5577840"/>
            <a:ext cx="5852160" cy="27432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Lupin S1 E1 (Netflix, 2021): Assane at the vitrine</a:t>
            </a:r>
            <a:endParaRPr lang="en-US" sz="1000" dirty="0"/>
          </a:p>
        </p:txBody>
      </p:sp>
      <p:sp>
        <p:nvSpPr>
          <p:cNvPr id="8" name="Text 5"/>
          <p:cNvSpPr/>
          <p:nvPr/>
        </p:nvSpPr>
        <p:spPr>
          <a:xfrm>
            <a:off x="7223760" y="1188720"/>
            <a:ext cx="4206240" cy="822960"/>
          </a:xfrm>
          <a:prstGeom prst="rect">
            <a:avLst/>
          </a:prstGeom>
          <a:noFill/>
          <a:ln/>
        </p:spPr>
        <p:txBody>
          <a:bodyPr wrap="square" lIns="0" tIns="0" rIns="0" bIns="0" rtlCol="0" anchor="ctr"/>
          <a:lstStyle/>
          <a:p>
            <a:pPr indent="0" marL="0">
              <a:lnSpc>
                <a:spcPts val="3000"/>
              </a:lnSpc>
              <a:buNone/>
            </a:pPr>
            <a:r>
              <a:rPr lang="en-US" sz="2600" dirty="0">
                <a:solidFill>
                  <a:srgbClr val="24313F"/>
                </a:solidFill>
                <a:latin typeface="Georgia" pitchFamily="34" charset="0"/>
                <a:ea typeface="Georgia" pitchFamily="34" charset="-122"/>
                <a:cs typeface="Georgia" pitchFamily="34" charset="-120"/>
              </a:rPr>
              <a:t>One frame, four value conflicts</a:t>
            </a:r>
            <a:endParaRPr lang="en-US" sz="2600" dirty="0"/>
          </a:p>
        </p:txBody>
      </p:sp>
      <p:sp>
        <p:nvSpPr>
          <p:cNvPr id="9" name="Shape 6"/>
          <p:cNvSpPr/>
          <p:nvPr/>
        </p:nvSpPr>
        <p:spPr>
          <a:xfrm>
            <a:off x="7223760" y="2103120"/>
            <a:ext cx="4114800" cy="0"/>
          </a:xfrm>
          <a:prstGeom prst="line">
            <a:avLst/>
          </a:prstGeom>
          <a:noFill/>
          <a:ln w="9525">
            <a:solidFill>
              <a:srgbClr val="D9D4C4"/>
            </a:solidFill>
            <a:prstDash val="solid"/>
          </a:ln>
        </p:spPr>
      </p:sp>
      <p:sp>
        <p:nvSpPr>
          <p:cNvPr id="10" name="Text 7"/>
          <p:cNvSpPr/>
          <p:nvPr/>
        </p:nvSpPr>
        <p:spPr>
          <a:xfrm>
            <a:off x="7223760" y="2331720"/>
            <a:ext cx="1737360" cy="457200"/>
          </a:xfrm>
          <a:prstGeom prst="rect">
            <a:avLst/>
          </a:prstGeom>
          <a:noFill/>
          <a:ln/>
        </p:spPr>
        <p:txBody>
          <a:bodyPr wrap="square" lIns="0" tIns="0" rIns="0" bIns="0" rtlCol="0" anchor="ctr"/>
          <a:lstStyle/>
          <a:p>
            <a:pPr algn="r" indent="0" marL="0">
              <a:buNone/>
            </a:pPr>
            <a:r>
              <a:rPr lang="en-US" sz="1700" dirty="0">
                <a:solidFill>
                  <a:srgbClr val="4A6B5D"/>
                </a:solidFill>
                <a:latin typeface="Georgia" pitchFamily="34" charset="0"/>
                <a:ea typeface="Georgia" pitchFamily="34" charset="-122"/>
                <a:cs typeface="Georgia" pitchFamily="34" charset="-120"/>
              </a:rPr>
              <a:t>seen</a:t>
            </a:r>
            <a:endParaRPr lang="en-US" sz="1700" dirty="0"/>
          </a:p>
        </p:txBody>
      </p:sp>
      <p:sp>
        <p:nvSpPr>
          <p:cNvPr id="11" name="Text 8"/>
          <p:cNvSpPr/>
          <p:nvPr/>
        </p:nvSpPr>
        <p:spPr>
          <a:xfrm>
            <a:off x="9006840" y="2331720"/>
            <a:ext cx="548640" cy="457200"/>
          </a:xfrm>
          <a:prstGeom prst="rect">
            <a:avLst/>
          </a:prstGeom>
          <a:noFill/>
          <a:ln/>
        </p:spPr>
        <p:txBody>
          <a:bodyPr wrap="square" lIns="0" tIns="0" rIns="0" bIns="0" rtlCol="0" anchor="ctr"/>
          <a:lstStyle/>
          <a:p>
            <a:pPr algn="ctr" indent="0" marL="0">
              <a:buNone/>
            </a:pPr>
            <a:r>
              <a:rPr lang="en-US" sz="1100" dirty="0">
                <a:solidFill>
                  <a:srgbClr val="7A7F72"/>
                </a:solidFill>
                <a:latin typeface="Arial" pitchFamily="34" charset="0"/>
                <a:ea typeface="Arial" pitchFamily="34" charset="-122"/>
                <a:cs typeface="Arial" pitchFamily="34" charset="-120"/>
              </a:rPr>
              <a:t>vs</a:t>
            </a:r>
            <a:endParaRPr lang="en-US" sz="1100" dirty="0"/>
          </a:p>
        </p:txBody>
      </p:sp>
      <p:sp>
        <p:nvSpPr>
          <p:cNvPr id="12" name="Text 9"/>
          <p:cNvSpPr/>
          <p:nvPr/>
        </p:nvSpPr>
        <p:spPr>
          <a:xfrm>
            <a:off x="9601200" y="2331720"/>
            <a:ext cx="1737360" cy="457200"/>
          </a:xfrm>
          <a:prstGeom prst="rect">
            <a:avLst/>
          </a:prstGeom>
          <a:noFill/>
          <a:ln/>
        </p:spPr>
        <p:txBody>
          <a:bodyPr wrap="square" lIns="0" tIns="0" rIns="0" bIns="0" rtlCol="0" anchor="ctr"/>
          <a:lstStyle/>
          <a:p>
            <a:pPr indent="0" marL="0">
              <a:buNone/>
            </a:pPr>
            <a:r>
              <a:rPr lang="en-US" sz="1700" dirty="0">
                <a:solidFill>
                  <a:srgbClr val="5C7A6B"/>
                </a:solidFill>
                <a:latin typeface="Georgia" pitchFamily="34" charset="0"/>
                <a:ea typeface="Georgia" pitchFamily="34" charset="-122"/>
                <a:cs typeface="Georgia" pitchFamily="34" charset="-120"/>
              </a:rPr>
              <a:t>unseen</a:t>
            </a:r>
            <a:endParaRPr lang="en-US" sz="1700" dirty="0"/>
          </a:p>
        </p:txBody>
      </p:sp>
      <p:sp>
        <p:nvSpPr>
          <p:cNvPr id="13" name="Text 10"/>
          <p:cNvSpPr/>
          <p:nvPr/>
        </p:nvSpPr>
        <p:spPr>
          <a:xfrm>
            <a:off x="7223760" y="2898648"/>
            <a:ext cx="1737360" cy="457200"/>
          </a:xfrm>
          <a:prstGeom prst="rect">
            <a:avLst/>
          </a:prstGeom>
          <a:noFill/>
          <a:ln/>
        </p:spPr>
        <p:txBody>
          <a:bodyPr wrap="square" lIns="0" tIns="0" rIns="0" bIns="0" rtlCol="0" anchor="ctr"/>
          <a:lstStyle/>
          <a:p>
            <a:pPr algn="r" indent="0" marL="0">
              <a:buNone/>
            </a:pPr>
            <a:r>
              <a:rPr lang="en-US" sz="1700" dirty="0">
                <a:solidFill>
                  <a:srgbClr val="4A6B5D"/>
                </a:solidFill>
                <a:latin typeface="Georgia" pitchFamily="34" charset="0"/>
                <a:ea typeface="Georgia" pitchFamily="34" charset="-122"/>
                <a:cs typeface="Georgia" pitchFamily="34" charset="-120"/>
              </a:rPr>
              <a:t>guardian</a:t>
            </a:r>
            <a:endParaRPr lang="en-US" sz="1700" dirty="0"/>
          </a:p>
        </p:txBody>
      </p:sp>
      <p:sp>
        <p:nvSpPr>
          <p:cNvPr id="14" name="Text 11"/>
          <p:cNvSpPr/>
          <p:nvPr/>
        </p:nvSpPr>
        <p:spPr>
          <a:xfrm>
            <a:off x="9006840" y="2898648"/>
            <a:ext cx="548640" cy="457200"/>
          </a:xfrm>
          <a:prstGeom prst="rect">
            <a:avLst/>
          </a:prstGeom>
          <a:noFill/>
          <a:ln/>
        </p:spPr>
        <p:txBody>
          <a:bodyPr wrap="square" lIns="0" tIns="0" rIns="0" bIns="0" rtlCol="0" anchor="ctr"/>
          <a:lstStyle/>
          <a:p>
            <a:pPr algn="ctr" indent="0" marL="0">
              <a:buNone/>
            </a:pPr>
            <a:r>
              <a:rPr lang="en-US" sz="1100" dirty="0">
                <a:solidFill>
                  <a:srgbClr val="7A7F72"/>
                </a:solidFill>
                <a:latin typeface="Arial" pitchFamily="34" charset="0"/>
                <a:ea typeface="Arial" pitchFamily="34" charset="-122"/>
                <a:cs typeface="Arial" pitchFamily="34" charset="-120"/>
              </a:rPr>
              <a:t>vs</a:t>
            </a:r>
            <a:endParaRPr lang="en-US" sz="1100" dirty="0"/>
          </a:p>
        </p:txBody>
      </p:sp>
      <p:sp>
        <p:nvSpPr>
          <p:cNvPr id="15" name="Text 12"/>
          <p:cNvSpPr/>
          <p:nvPr/>
        </p:nvSpPr>
        <p:spPr>
          <a:xfrm>
            <a:off x="9601200" y="2898648"/>
            <a:ext cx="1737360" cy="457200"/>
          </a:xfrm>
          <a:prstGeom prst="rect">
            <a:avLst/>
          </a:prstGeom>
          <a:noFill/>
          <a:ln/>
        </p:spPr>
        <p:txBody>
          <a:bodyPr wrap="square" lIns="0" tIns="0" rIns="0" bIns="0" rtlCol="0" anchor="ctr"/>
          <a:lstStyle/>
          <a:p>
            <a:pPr indent="0" marL="0">
              <a:buNone/>
            </a:pPr>
            <a:r>
              <a:rPr lang="en-US" sz="1700" dirty="0">
                <a:solidFill>
                  <a:srgbClr val="5C7A6B"/>
                </a:solidFill>
                <a:latin typeface="Georgia" pitchFamily="34" charset="0"/>
                <a:ea typeface="Georgia" pitchFamily="34" charset="-122"/>
                <a:cs typeface="Georgia" pitchFamily="34" charset="-120"/>
              </a:rPr>
              <a:t>thief</a:t>
            </a:r>
            <a:endParaRPr lang="en-US" sz="1700" dirty="0"/>
          </a:p>
        </p:txBody>
      </p:sp>
      <p:sp>
        <p:nvSpPr>
          <p:cNvPr id="16" name="Text 13"/>
          <p:cNvSpPr/>
          <p:nvPr/>
        </p:nvSpPr>
        <p:spPr>
          <a:xfrm>
            <a:off x="7223760" y="3465576"/>
            <a:ext cx="1737360" cy="457200"/>
          </a:xfrm>
          <a:prstGeom prst="rect">
            <a:avLst/>
          </a:prstGeom>
          <a:noFill/>
          <a:ln/>
        </p:spPr>
        <p:txBody>
          <a:bodyPr wrap="square" lIns="0" tIns="0" rIns="0" bIns="0" rtlCol="0" anchor="ctr"/>
          <a:lstStyle/>
          <a:p>
            <a:pPr algn="r" indent="0" marL="0">
              <a:buNone/>
            </a:pPr>
            <a:r>
              <a:rPr lang="en-US" sz="1700" dirty="0">
                <a:solidFill>
                  <a:srgbClr val="4A6B5D"/>
                </a:solidFill>
                <a:latin typeface="Georgia" pitchFamily="34" charset="0"/>
                <a:ea typeface="Georgia" pitchFamily="34" charset="-122"/>
                <a:cs typeface="Georgia" pitchFamily="34" charset="-120"/>
              </a:rPr>
              <a:t>wealth</a:t>
            </a:r>
            <a:endParaRPr lang="en-US" sz="1700" dirty="0"/>
          </a:p>
        </p:txBody>
      </p:sp>
      <p:sp>
        <p:nvSpPr>
          <p:cNvPr id="17" name="Text 14"/>
          <p:cNvSpPr/>
          <p:nvPr/>
        </p:nvSpPr>
        <p:spPr>
          <a:xfrm>
            <a:off x="9006840" y="3465576"/>
            <a:ext cx="548640" cy="457200"/>
          </a:xfrm>
          <a:prstGeom prst="rect">
            <a:avLst/>
          </a:prstGeom>
          <a:noFill/>
          <a:ln/>
        </p:spPr>
        <p:txBody>
          <a:bodyPr wrap="square" lIns="0" tIns="0" rIns="0" bIns="0" rtlCol="0" anchor="ctr"/>
          <a:lstStyle/>
          <a:p>
            <a:pPr algn="ctr" indent="0" marL="0">
              <a:buNone/>
            </a:pPr>
            <a:r>
              <a:rPr lang="en-US" sz="1100" dirty="0">
                <a:solidFill>
                  <a:srgbClr val="7A7F72"/>
                </a:solidFill>
                <a:latin typeface="Arial" pitchFamily="34" charset="0"/>
                <a:ea typeface="Arial" pitchFamily="34" charset="-122"/>
                <a:cs typeface="Arial" pitchFamily="34" charset="-120"/>
              </a:rPr>
              <a:t>vs</a:t>
            </a:r>
            <a:endParaRPr lang="en-US" sz="1100" dirty="0"/>
          </a:p>
        </p:txBody>
      </p:sp>
      <p:sp>
        <p:nvSpPr>
          <p:cNvPr id="18" name="Text 15"/>
          <p:cNvSpPr/>
          <p:nvPr/>
        </p:nvSpPr>
        <p:spPr>
          <a:xfrm>
            <a:off x="9601200" y="3465576"/>
            <a:ext cx="1737360" cy="457200"/>
          </a:xfrm>
          <a:prstGeom prst="rect">
            <a:avLst/>
          </a:prstGeom>
          <a:noFill/>
          <a:ln/>
        </p:spPr>
        <p:txBody>
          <a:bodyPr wrap="square" lIns="0" tIns="0" rIns="0" bIns="0" rtlCol="0" anchor="ctr"/>
          <a:lstStyle/>
          <a:p>
            <a:pPr indent="0" marL="0">
              <a:buNone/>
            </a:pPr>
            <a:r>
              <a:rPr lang="en-US" sz="1700" dirty="0">
                <a:solidFill>
                  <a:srgbClr val="5C7A6B"/>
                </a:solidFill>
                <a:latin typeface="Georgia" pitchFamily="34" charset="0"/>
                <a:ea typeface="Georgia" pitchFamily="34" charset="-122"/>
                <a:cs typeface="Georgia" pitchFamily="34" charset="-120"/>
              </a:rPr>
              <a:t>service</a:t>
            </a:r>
            <a:endParaRPr lang="en-US" sz="1700" dirty="0"/>
          </a:p>
        </p:txBody>
      </p:sp>
      <p:sp>
        <p:nvSpPr>
          <p:cNvPr id="19" name="Text 16"/>
          <p:cNvSpPr/>
          <p:nvPr/>
        </p:nvSpPr>
        <p:spPr>
          <a:xfrm>
            <a:off x="7223760" y="4032504"/>
            <a:ext cx="1737360" cy="457200"/>
          </a:xfrm>
          <a:prstGeom prst="rect">
            <a:avLst/>
          </a:prstGeom>
          <a:noFill/>
          <a:ln/>
        </p:spPr>
        <p:txBody>
          <a:bodyPr wrap="square" lIns="0" tIns="0" rIns="0" bIns="0" rtlCol="0" anchor="ctr"/>
          <a:lstStyle/>
          <a:p>
            <a:pPr algn="r" indent="0" marL="0">
              <a:buNone/>
            </a:pPr>
            <a:r>
              <a:rPr lang="en-US" sz="1700" dirty="0">
                <a:solidFill>
                  <a:srgbClr val="4A6B5D"/>
                </a:solidFill>
                <a:latin typeface="Georgia" pitchFamily="34" charset="0"/>
                <a:ea typeface="Georgia" pitchFamily="34" charset="-122"/>
                <a:cs typeface="Georgia" pitchFamily="34" charset="-120"/>
              </a:rPr>
              <a:t>light</a:t>
            </a:r>
            <a:endParaRPr lang="en-US" sz="1700" dirty="0"/>
          </a:p>
        </p:txBody>
      </p:sp>
      <p:sp>
        <p:nvSpPr>
          <p:cNvPr id="20" name="Text 17"/>
          <p:cNvSpPr/>
          <p:nvPr/>
        </p:nvSpPr>
        <p:spPr>
          <a:xfrm>
            <a:off x="9006840" y="4032504"/>
            <a:ext cx="548640" cy="457200"/>
          </a:xfrm>
          <a:prstGeom prst="rect">
            <a:avLst/>
          </a:prstGeom>
          <a:noFill/>
          <a:ln/>
        </p:spPr>
        <p:txBody>
          <a:bodyPr wrap="square" lIns="0" tIns="0" rIns="0" bIns="0" rtlCol="0" anchor="ctr"/>
          <a:lstStyle/>
          <a:p>
            <a:pPr algn="ctr" indent="0" marL="0">
              <a:buNone/>
            </a:pPr>
            <a:r>
              <a:rPr lang="en-US" sz="1100" dirty="0">
                <a:solidFill>
                  <a:srgbClr val="7A7F72"/>
                </a:solidFill>
                <a:latin typeface="Arial" pitchFamily="34" charset="0"/>
                <a:ea typeface="Arial" pitchFamily="34" charset="-122"/>
                <a:cs typeface="Arial" pitchFamily="34" charset="-120"/>
              </a:rPr>
              <a:t>vs</a:t>
            </a:r>
            <a:endParaRPr lang="en-US" sz="1100" dirty="0"/>
          </a:p>
        </p:txBody>
      </p:sp>
      <p:sp>
        <p:nvSpPr>
          <p:cNvPr id="21" name="Text 18"/>
          <p:cNvSpPr/>
          <p:nvPr/>
        </p:nvSpPr>
        <p:spPr>
          <a:xfrm>
            <a:off x="9601200" y="4032504"/>
            <a:ext cx="1737360" cy="457200"/>
          </a:xfrm>
          <a:prstGeom prst="rect">
            <a:avLst/>
          </a:prstGeom>
          <a:noFill/>
          <a:ln/>
        </p:spPr>
        <p:txBody>
          <a:bodyPr wrap="square" lIns="0" tIns="0" rIns="0" bIns="0" rtlCol="0" anchor="ctr"/>
          <a:lstStyle/>
          <a:p>
            <a:pPr indent="0" marL="0">
              <a:buNone/>
            </a:pPr>
            <a:r>
              <a:rPr lang="en-US" sz="1700" dirty="0">
                <a:solidFill>
                  <a:srgbClr val="5C7A6B"/>
                </a:solidFill>
                <a:latin typeface="Georgia" pitchFamily="34" charset="0"/>
                <a:ea typeface="Georgia" pitchFamily="34" charset="-122"/>
                <a:cs typeface="Georgia" pitchFamily="34" charset="-120"/>
              </a:rPr>
              <a:t>dark</a:t>
            </a:r>
            <a:endParaRPr lang="en-US" sz="1700" dirty="0"/>
          </a:p>
        </p:txBody>
      </p:sp>
      <p:sp>
        <p:nvSpPr>
          <p:cNvPr id="22" name="Text 19"/>
          <p:cNvSpPr/>
          <p:nvPr/>
        </p:nvSpPr>
        <p:spPr>
          <a:xfrm>
            <a:off x="7223760" y="4690872"/>
            <a:ext cx="4114800" cy="1097280"/>
          </a:xfrm>
          <a:prstGeom prst="rect">
            <a:avLst/>
          </a:prstGeom>
          <a:noFill/>
          <a:ln/>
        </p:spPr>
        <p:txBody>
          <a:bodyPr wrap="square" lIns="0" tIns="0" rIns="0" bIns="0" rtlCol="0" anchor="t"/>
          <a:lstStyle/>
          <a:p>
            <a:pPr indent="0" marL="0">
              <a:lnSpc>
                <a:spcPts val="1600"/>
              </a:lnSpc>
              <a:buNone/>
            </a:pPr>
            <a:r>
              <a:rPr lang="en-US" sz="1200" i="1" dirty="0">
                <a:solidFill>
                  <a:srgbClr val="7A7F72"/>
                </a:solidFill>
                <a:latin typeface="Arial" pitchFamily="34" charset="0"/>
                <a:ea typeface="Arial" pitchFamily="34" charset="-122"/>
                <a:cs typeface="Arial" pitchFamily="34" charset="-120"/>
              </a:rPr>
              <a:t>The test of a real pair: scenes, costumes and settings line up on the two sides. Name your own opening's pair before Friday.</a:t>
            </a:r>
            <a:endParaRPr lang="en-US" sz="1200" dirty="0"/>
          </a:p>
        </p:txBody>
      </p:sp>
      <p:sp>
        <p:nvSpPr>
          <p:cNvPr id="23" name="Shape 20"/>
          <p:cNvSpPr/>
          <p:nvPr/>
        </p:nvSpPr>
        <p:spPr>
          <a:xfrm>
            <a:off x="822960" y="6382512"/>
            <a:ext cx="10543032" cy="0"/>
          </a:xfrm>
          <a:prstGeom prst="line">
            <a:avLst/>
          </a:prstGeom>
          <a:noFill/>
          <a:ln w="9525">
            <a:solidFill>
              <a:srgbClr val="D9D4C4"/>
            </a:solidFill>
            <a:prstDash val="solid"/>
          </a:ln>
        </p:spPr>
      </p:sp>
      <p:sp>
        <p:nvSpPr>
          <p:cNvPr id="24" name="Text 2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5" name="Text 2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Users/dogan/Documents/Vaults/Courses/wiki/classes/media-studies/decks/_build/img/crops/johnston-geography_a1777.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502920" y="502920"/>
            <a:ext cx="5120640" cy="502920"/>
          </a:xfrm>
          <a:prstGeom prst="rect">
            <a:avLst/>
          </a:prstGeom>
          <a:solidFill>
            <a:srgbClr val="FAF8F1"/>
          </a:solidFill>
          <a:ln/>
        </p:spPr>
      </p:sp>
      <p:sp>
        <p:nvSpPr>
          <p:cNvPr id="4" name="Text 1"/>
          <p:cNvSpPr/>
          <p:nvPr/>
        </p:nvSpPr>
        <p:spPr>
          <a:xfrm>
            <a:off x="704088" y="521208"/>
            <a:ext cx="484632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CS9 · THE BLOG AUDIT</a:t>
            </a:r>
            <a:endParaRPr lang="en-US" sz="1100" dirty="0"/>
          </a:p>
        </p:txBody>
      </p:sp>
      <p:sp>
        <p:nvSpPr>
          <p:cNvPr id="5" name="Shape 2"/>
          <p:cNvSpPr/>
          <p:nvPr/>
        </p:nvSpPr>
        <p:spPr>
          <a:xfrm>
            <a:off x="457200" y="5230368"/>
            <a:ext cx="8778240" cy="1243584"/>
          </a:xfrm>
          <a:prstGeom prst="rect">
            <a:avLst/>
          </a:prstGeom>
          <a:solidFill>
            <a:srgbClr val="FAF8F1"/>
          </a:solidFill>
          <a:ln/>
        </p:spPr>
      </p:sp>
      <p:sp>
        <p:nvSpPr>
          <p:cNvPr id="6" name="Shape 3"/>
          <p:cNvSpPr/>
          <p:nvPr/>
        </p:nvSpPr>
        <p:spPr>
          <a:xfrm>
            <a:off x="676656" y="5468112"/>
            <a:ext cx="731520" cy="0"/>
          </a:xfrm>
          <a:prstGeom prst="line">
            <a:avLst/>
          </a:prstGeom>
          <a:noFill/>
          <a:ln w="28575">
            <a:solidFill>
              <a:srgbClr val="8C3A38"/>
            </a:solidFill>
            <a:prstDash val="solid"/>
          </a:ln>
        </p:spPr>
      </p:sp>
      <p:sp>
        <p:nvSpPr>
          <p:cNvPr id="7" name="Text 4"/>
          <p:cNvSpPr/>
          <p:nvPr/>
        </p:nvSpPr>
        <p:spPr>
          <a:xfrm>
            <a:off x="676656" y="5541264"/>
            <a:ext cx="8339328" cy="585216"/>
          </a:xfrm>
          <a:prstGeom prst="rect">
            <a:avLst/>
          </a:prstGeom>
          <a:noFill/>
          <a:ln/>
        </p:spPr>
        <p:txBody>
          <a:bodyPr wrap="square" lIns="0" tIns="0" rIns="0" bIns="0" rtlCol="0" anchor="t"/>
          <a:lstStyle/>
          <a:p>
            <a:pPr indent="0" marL="0">
              <a:lnSpc>
                <a:spcPts val="2200"/>
              </a:lnSpc>
              <a:buNone/>
            </a:pPr>
            <a:r>
              <a:rPr lang="en-US" sz="1800" dirty="0">
                <a:solidFill>
                  <a:srgbClr val="24313F"/>
                </a:solidFill>
                <a:latin typeface="Georgia" pitchFamily="34" charset="0"/>
                <a:ea typeface="Georgia" pitchFamily="34" charset="-122"/>
                <a:cs typeface="Georgia" pitchFamily="34" charset="-120"/>
              </a:rPr>
              <a:t>Every blog read by a peer against the same checklist A2 is marked with, three days before it is due.</a:t>
            </a:r>
            <a:endParaRPr lang="en-US" sz="1800" dirty="0"/>
          </a:p>
        </p:txBody>
      </p:sp>
      <p:sp>
        <p:nvSpPr>
          <p:cNvPr id="8" name="Text 5"/>
          <p:cNvSpPr/>
          <p:nvPr/>
        </p:nvSpPr>
        <p:spPr>
          <a:xfrm>
            <a:off x="676656" y="6181344"/>
            <a:ext cx="8339328" cy="256032"/>
          </a:xfrm>
          <a:prstGeom prst="rect">
            <a:avLst/>
          </a:prstGeom>
          <a:no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Frances Benjamin Johnston, a Geography class, Hampton, c. 1899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CS9 · THE AUDIT</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SAME CHECKLIST A2 IS MARKED WITH</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Post by post, findings as actions</a:t>
            </a:r>
            <a:endParaRPr lang="en-US" sz="3200" dirty="0"/>
          </a:p>
        </p:txBody>
      </p:sp>
      <p:sp>
        <p:nvSpPr>
          <p:cNvPr id="6" name="Shape 4"/>
          <p:cNvSpPr/>
          <p:nvPr/>
        </p:nvSpPr>
        <p:spPr>
          <a:xfrm>
            <a:off x="822960" y="1783080"/>
            <a:ext cx="2361438" cy="548640"/>
          </a:xfrm>
          <a:prstGeom prst="rect">
            <a:avLst/>
          </a:prstGeom>
          <a:solidFill>
            <a:srgbClr val="E8EFE7"/>
          </a:solidFill>
          <a:ln/>
        </p:spPr>
      </p:sp>
      <p:sp>
        <p:nvSpPr>
          <p:cNvPr id="7" name="Text 5"/>
          <p:cNvSpPr/>
          <p:nvPr/>
        </p:nvSpPr>
        <p:spPr>
          <a:xfrm>
            <a:off x="987552" y="1783080"/>
            <a:ext cx="2087118" cy="548640"/>
          </a:xfrm>
          <a:prstGeom prst="rect">
            <a:avLst/>
          </a:prstGeom>
          <a:noFill/>
          <a:ln/>
        </p:spPr>
        <p:txBody>
          <a:bodyPr wrap="square" lIns="0" tIns="0" rIns="0" bIns="0" rtlCol="0" anchor="ctr"/>
          <a:lstStyle/>
          <a:p>
            <a:pPr indent="0" marL="0">
              <a:buNone/>
            </a:pPr>
            <a:r>
              <a:rPr lang="en-US" sz="1400" dirty="0">
                <a:solidFill>
                  <a:srgbClr val="24313F"/>
                </a:solidFill>
                <a:latin typeface="Georgia" pitchFamily="34" charset="0"/>
                <a:ea typeface="Georgia" pitchFamily="34" charset="-122"/>
                <a:cs typeface="Georgia" pitchFamily="34" charset="-120"/>
              </a:rPr>
              <a:t>Brief and group</a:t>
            </a:r>
            <a:endParaRPr lang="en-US" sz="1400" dirty="0"/>
          </a:p>
        </p:txBody>
      </p:sp>
      <p:sp>
        <p:nvSpPr>
          <p:cNvPr id="8" name="Shape 6"/>
          <p:cNvSpPr/>
          <p:nvPr/>
        </p:nvSpPr>
        <p:spPr>
          <a:xfrm>
            <a:off x="3550158" y="1783080"/>
            <a:ext cx="2361438" cy="548640"/>
          </a:xfrm>
          <a:prstGeom prst="rect">
            <a:avLst/>
          </a:prstGeom>
          <a:solidFill>
            <a:srgbClr val="E8EFE7"/>
          </a:solidFill>
          <a:ln/>
        </p:spPr>
      </p:sp>
      <p:sp>
        <p:nvSpPr>
          <p:cNvPr id="9" name="Text 7"/>
          <p:cNvSpPr/>
          <p:nvPr/>
        </p:nvSpPr>
        <p:spPr>
          <a:xfrm>
            <a:off x="3714750" y="1783080"/>
            <a:ext cx="2087118" cy="548640"/>
          </a:xfrm>
          <a:prstGeom prst="rect">
            <a:avLst/>
          </a:prstGeom>
          <a:noFill/>
          <a:ln/>
        </p:spPr>
        <p:txBody>
          <a:bodyPr wrap="square" lIns="0" tIns="0" rIns="0" bIns="0" rtlCol="0" anchor="ctr"/>
          <a:lstStyle/>
          <a:p>
            <a:pPr indent="0" marL="0">
              <a:buNone/>
            </a:pPr>
            <a:r>
              <a:rPr lang="en-US" sz="1400" dirty="0">
                <a:solidFill>
                  <a:srgbClr val="24313F"/>
                </a:solidFill>
                <a:latin typeface="Georgia" pitchFamily="34" charset="0"/>
                <a:ea typeface="Georgia" pitchFamily="34" charset="-122"/>
                <a:cs typeface="Georgia" pitchFamily="34" charset="-120"/>
              </a:rPr>
              <a:t>Research</a:t>
            </a:r>
            <a:endParaRPr lang="en-US" sz="1400" dirty="0"/>
          </a:p>
        </p:txBody>
      </p:sp>
      <p:sp>
        <p:nvSpPr>
          <p:cNvPr id="10" name="Shape 8"/>
          <p:cNvSpPr/>
          <p:nvPr/>
        </p:nvSpPr>
        <p:spPr>
          <a:xfrm>
            <a:off x="6277356" y="1783080"/>
            <a:ext cx="2361438" cy="548640"/>
          </a:xfrm>
          <a:prstGeom prst="rect">
            <a:avLst/>
          </a:prstGeom>
          <a:solidFill>
            <a:srgbClr val="E8EFE7"/>
          </a:solidFill>
          <a:ln/>
        </p:spPr>
      </p:sp>
      <p:sp>
        <p:nvSpPr>
          <p:cNvPr id="11" name="Text 9"/>
          <p:cNvSpPr/>
          <p:nvPr/>
        </p:nvSpPr>
        <p:spPr>
          <a:xfrm>
            <a:off x="6441948" y="1783080"/>
            <a:ext cx="2087118" cy="548640"/>
          </a:xfrm>
          <a:prstGeom prst="rect">
            <a:avLst/>
          </a:prstGeom>
          <a:noFill/>
          <a:ln/>
        </p:spPr>
        <p:txBody>
          <a:bodyPr wrap="square" lIns="0" tIns="0" rIns="0" bIns="0" rtlCol="0" anchor="ctr"/>
          <a:lstStyle/>
          <a:p>
            <a:pPr indent="0" marL="0">
              <a:buNone/>
            </a:pPr>
            <a:r>
              <a:rPr lang="en-US" sz="1400" dirty="0">
                <a:solidFill>
                  <a:srgbClr val="24313F"/>
                </a:solidFill>
                <a:latin typeface="Georgia" pitchFamily="34" charset="0"/>
                <a:ea typeface="Georgia" pitchFamily="34" charset="-122"/>
                <a:cs typeface="Georgia" pitchFamily="34" charset="-120"/>
              </a:rPr>
              <a:t>Audience profile</a:t>
            </a:r>
            <a:endParaRPr lang="en-US" sz="1400" dirty="0"/>
          </a:p>
        </p:txBody>
      </p:sp>
      <p:sp>
        <p:nvSpPr>
          <p:cNvPr id="12" name="Shape 10"/>
          <p:cNvSpPr/>
          <p:nvPr/>
        </p:nvSpPr>
        <p:spPr>
          <a:xfrm>
            <a:off x="9004554" y="1783080"/>
            <a:ext cx="2361438" cy="548640"/>
          </a:xfrm>
          <a:prstGeom prst="rect">
            <a:avLst/>
          </a:prstGeom>
          <a:solidFill>
            <a:srgbClr val="E8EFE7"/>
          </a:solidFill>
          <a:ln/>
        </p:spPr>
      </p:sp>
      <p:sp>
        <p:nvSpPr>
          <p:cNvPr id="13" name="Text 11"/>
          <p:cNvSpPr/>
          <p:nvPr/>
        </p:nvSpPr>
        <p:spPr>
          <a:xfrm>
            <a:off x="9169146" y="1783080"/>
            <a:ext cx="2087118" cy="548640"/>
          </a:xfrm>
          <a:prstGeom prst="rect">
            <a:avLst/>
          </a:prstGeom>
          <a:noFill/>
          <a:ln/>
        </p:spPr>
        <p:txBody>
          <a:bodyPr wrap="square" lIns="0" tIns="0" rIns="0" bIns="0" rtlCol="0" anchor="ctr"/>
          <a:lstStyle/>
          <a:p>
            <a:pPr indent="0" marL="0">
              <a:buNone/>
            </a:pPr>
            <a:r>
              <a:rPr lang="en-US" sz="1400" dirty="0">
                <a:solidFill>
                  <a:srgbClr val="24313F"/>
                </a:solidFill>
                <a:latin typeface="Georgia" pitchFamily="34" charset="0"/>
                <a:ea typeface="Georgia" pitchFamily="34" charset="-122"/>
                <a:cs typeface="Georgia" pitchFamily="34" charset="-120"/>
              </a:rPr>
              <a:t>Pitch</a:t>
            </a:r>
            <a:endParaRPr lang="en-US" sz="1400" dirty="0"/>
          </a:p>
        </p:txBody>
      </p:sp>
      <p:sp>
        <p:nvSpPr>
          <p:cNvPr id="14" name="Shape 12"/>
          <p:cNvSpPr/>
          <p:nvPr/>
        </p:nvSpPr>
        <p:spPr>
          <a:xfrm>
            <a:off x="822960" y="2496312"/>
            <a:ext cx="2361438" cy="548640"/>
          </a:xfrm>
          <a:prstGeom prst="rect">
            <a:avLst/>
          </a:prstGeom>
          <a:solidFill>
            <a:srgbClr val="E8EFE7"/>
          </a:solidFill>
          <a:ln/>
        </p:spPr>
      </p:sp>
      <p:sp>
        <p:nvSpPr>
          <p:cNvPr id="15" name="Text 13"/>
          <p:cNvSpPr/>
          <p:nvPr/>
        </p:nvSpPr>
        <p:spPr>
          <a:xfrm>
            <a:off x="987552" y="2496312"/>
            <a:ext cx="2087118" cy="548640"/>
          </a:xfrm>
          <a:prstGeom prst="rect">
            <a:avLst/>
          </a:prstGeom>
          <a:noFill/>
          <a:ln/>
        </p:spPr>
        <p:txBody>
          <a:bodyPr wrap="square" lIns="0" tIns="0" rIns="0" bIns="0" rtlCol="0" anchor="ctr"/>
          <a:lstStyle/>
          <a:p>
            <a:pPr indent="0" marL="0">
              <a:buNone/>
            </a:pPr>
            <a:r>
              <a:rPr lang="en-US" sz="1400" dirty="0">
                <a:solidFill>
                  <a:srgbClr val="24313F"/>
                </a:solidFill>
                <a:latin typeface="Georgia" pitchFamily="34" charset="0"/>
                <a:ea typeface="Georgia" pitchFamily="34" charset="-122"/>
                <a:cs typeface="Georgia" pitchFamily="34" charset="-120"/>
              </a:rPr>
              <a:t>Planning suite</a:t>
            </a:r>
            <a:endParaRPr lang="en-US" sz="1400" dirty="0"/>
          </a:p>
        </p:txBody>
      </p:sp>
      <p:sp>
        <p:nvSpPr>
          <p:cNvPr id="16" name="Shape 14"/>
          <p:cNvSpPr/>
          <p:nvPr/>
        </p:nvSpPr>
        <p:spPr>
          <a:xfrm>
            <a:off x="3550158" y="2496312"/>
            <a:ext cx="2361438" cy="548640"/>
          </a:xfrm>
          <a:prstGeom prst="rect">
            <a:avLst/>
          </a:prstGeom>
          <a:solidFill>
            <a:srgbClr val="E8EFE7"/>
          </a:solidFill>
          <a:ln/>
        </p:spPr>
      </p:sp>
      <p:sp>
        <p:nvSpPr>
          <p:cNvPr id="17" name="Text 15"/>
          <p:cNvSpPr/>
          <p:nvPr/>
        </p:nvSpPr>
        <p:spPr>
          <a:xfrm>
            <a:off x="3714750" y="2496312"/>
            <a:ext cx="2087118" cy="548640"/>
          </a:xfrm>
          <a:prstGeom prst="rect">
            <a:avLst/>
          </a:prstGeom>
          <a:noFill/>
          <a:ln/>
        </p:spPr>
        <p:txBody>
          <a:bodyPr wrap="square" lIns="0" tIns="0" rIns="0" bIns="0" rtlCol="0" anchor="ctr"/>
          <a:lstStyle/>
          <a:p>
            <a:pPr indent="0" marL="0">
              <a:buNone/>
            </a:pPr>
            <a:r>
              <a:rPr lang="en-US" sz="1400" dirty="0">
                <a:solidFill>
                  <a:srgbClr val="24313F"/>
                </a:solidFill>
                <a:latin typeface="Georgia" pitchFamily="34" charset="0"/>
                <a:ea typeface="Georgia" pitchFamily="34" charset="-122"/>
                <a:cs typeface="Georgia" pitchFamily="34" charset="-120"/>
              </a:rPr>
              <a:t>CS3 camera build</a:t>
            </a:r>
            <a:endParaRPr lang="en-US" sz="1400" dirty="0"/>
          </a:p>
        </p:txBody>
      </p:sp>
      <p:sp>
        <p:nvSpPr>
          <p:cNvPr id="18" name="Shape 16"/>
          <p:cNvSpPr/>
          <p:nvPr/>
        </p:nvSpPr>
        <p:spPr>
          <a:xfrm>
            <a:off x="6277356" y="2496312"/>
            <a:ext cx="2361438" cy="548640"/>
          </a:xfrm>
          <a:prstGeom prst="rect">
            <a:avLst/>
          </a:prstGeom>
          <a:solidFill>
            <a:srgbClr val="E8EFE7"/>
          </a:solidFill>
          <a:ln/>
        </p:spPr>
      </p:sp>
      <p:sp>
        <p:nvSpPr>
          <p:cNvPr id="19" name="Text 17"/>
          <p:cNvSpPr/>
          <p:nvPr/>
        </p:nvSpPr>
        <p:spPr>
          <a:xfrm>
            <a:off x="6441948" y="2496312"/>
            <a:ext cx="2087118" cy="548640"/>
          </a:xfrm>
          <a:prstGeom prst="rect">
            <a:avLst/>
          </a:prstGeom>
          <a:noFill/>
          <a:ln/>
        </p:spPr>
        <p:txBody>
          <a:bodyPr wrap="square" lIns="0" tIns="0" rIns="0" bIns="0" rtlCol="0" anchor="ctr"/>
          <a:lstStyle/>
          <a:p>
            <a:pPr indent="0" marL="0">
              <a:buNone/>
            </a:pPr>
            <a:r>
              <a:rPr lang="en-US" sz="1400" dirty="0">
                <a:solidFill>
                  <a:srgbClr val="24313F"/>
                </a:solidFill>
                <a:latin typeface="Georgia" pitchFamily="34" charset="0"/>
                <a:ea typeface="Georgia" pitchFamily="34" charset="-122"/>
                <a:cs typeface="Georgia" pitchFamily="34" charset="-120"/>
              </a:rPr>
              <a:t>CS4 soundscape</a:t>
            </a:r>
            <a:endParaRPr lang="en-US" sz="1400" dirty="0"/>
          </a:p>
        </p:txBody>
      </p:sp>
      <p:sp>
        <p:nvSpPr>
          <p:cNvPr id="20" name="Shape 18"/>
          <p:cNvSpPr/>
          <p:nvPr/>
        </p:nvSpPr>
        <p:spPr>
          <a:xfrm>
            <a:off x="9004554" y="2496312"/>
            <a:ext cx="2361438" cy="548640"/>
          </a:xfrm>
          <a:prstGeom prst="rect">
            <a:avLst/>
          </a:prstGeom>
          <a:solidFill>
            <a:srgbClr val="E8EFE7"/>
          </a:solidFill>
          <a:ln/>
        </p:spPr>
      </p:sp>
      <p:sp>
        <p:nvSpPr>
          <p:cNvPr id="21" name="Text 19"/>
          <p:cNvSpPr/>
          <p:nvPr/>
        </p:nvSpPr>
        <p:spPr>
          <a:xfrm>
            <a:off x="9169146" y="2496312"/>
            <a:ext cx="2087118" cy="548640"/>
          </a:xfrm>
          <a:prstGeom prst="rect">
            <a:avLst/>
          </a:prstGeom>
          <a:noFill/>
          <a:ln/>
        </p:spPr>
        <p:txBody>
          <a:bodyPr wrap="square" lIns="0" tIns="0" rIns="0" bIns="0" rtlCol="0" anchor="ctr"/>
          <a:lstStyle/>
          <a:p>
            <a:pPr indent="0" marL="0">
              <a:buNone/>
            </a:pPr>
            <a:r>
              <a:rPr lang="en-US" sz="1400" dirty="0">
                <a:solidFill>
                  <a:srgbClr val="24313F"/>
                </a:solidFill>
                <a:latin typeface="Georgia" pitchFamily="34" charset="0"/>
                <a:ea typeface="Georgia" pitchFamily="34" charset="-122"/>
                <a:cs typeface="Georgia" pitchFamily="34" charset="-120"/>
              </a:rPr>
              <a:t>CS5 design board</a:t>
            </a:r>
            <a:endParaRPr lang="en-US" sz="1400" dirty="0"/>
          </a:p>
        </p:txBody>
      </p:sp>
      <p:sp>
        <p:nvSpPr>
          <p:cNvPr id="22" name="Shape 20"/>
          <p:cNvSpPr/>
          <p:nvPr/>
        </p:nvSpPr>
        <p:spPr>
          <a:xfrm>
            <a:off x="822960" y="3209544"/>
            <a:ext cx="2361438" cy="548640"/>
          </a:xfrm>
          <a:prstGeom prst="rect">
            <a:avLst/>
          </a:prstGeom>
          <a:solidFill>
            <a:srgbClr val="E8EFE7"/>
          </a:solidFill>
          <a:ln/>
        </p:spPr>
      </p:sp>
      <p:sp>
        <p:nvSpPr>
          <p:cNvPr id="23" name="Text 21"/>
          <p:cNvSpPr/>
          <p:nvPr/>
        </p:nvSpPr>
        <p:spPr>
          <a:xfrm>
            <a:off x="987552" y="3209544"/>
            <a:ext cx="2087118" cy="548640"/>
          </a:xfrm>
          <a:prstGeom prst="rect">
            <a:avLst/>
          </a:prstGeom>
          <a:noFill/>
          <a:ln/>
        </p:spPr>
        <p:txBody>
          <a:bodyPr wrap="square" lIns="0" tIns="0" rIns="0" bIns="0" rtlCol="0" anchor="ctr"/>
          <a:lstStyle/>
          <a:p>
            <a:pPr indent="0" marL="0">
              <a:buNone/>
            </a:pPr>
            <a:r>
              <a:rPr lang="en-US" sz="1400" dirty="0">
                <a:solidFill>
                  <a:srgbClr val="24313F"/>
                </a:solidFill>
                <a:latin typeface="Georgia" pitchFamily="34" charset="0"/>
                <a:ea typeface="Georgia" pitchFamily="34" charset="-122"/>
                <a:cs typeface="Georgia" pitchFamily="34" charset="-120"/>
              </a:rPr>
              <a:t>CS6 edit, both versions</a:t>
            </a:r>
            <a:endParaRPr lang="en-US" sz="1400" dirty="0"/>
          </a:p>
        </p:txBody>
      </p:sp>
      <p:sp>
        <p:nvSpPr>
          <p:cNvPr id="24" name="Shape 22"/>
          <p:cNvSpPr/>
          <p:nvPr/>
        </p:nvSpPr>
        <p:spPr>
          <a:xfrm>
            <a:off x="3550158" y="3209544"/>
            <a:ext cx="2361438" cy="548640"/>
          </a:xfrm>
          <a:prstGeom prst="rect">
            <a:avLst/>
          </a:prstGeom>
          <a:solidFill>
            <a:srgbClr val="E8EFE7"/>
          </a:solidFill>
          <a:ln/>
        </p:spPr>
      </p:sp>
      <p:sp>
        <p:nvSpPr>
          <p:cNvPr id="25" name="Text 23"/>
          <p:cNvSpPr/>
          <p:nvPr/>
        </p:nvSpPr>
        <p:spPr>
          <a:xfrm>
            <a:off x="3714750" y="3209544"/>
            <a:ext cx="2087118" cy="548640"/>
          </a:xfrm>
          <a:prstGeom prst="rect">
            <a:avLst/>
          </a:prstGeom>
          <a:noFill/>
          <a:ln/>
        </p:spPr>
        <p:txBody>
          <a:bodyPr wrap="square" lIns="0" tIns="0" rIns="0" bIns="0" rtlCol="0" anchor="ctr"/>
          <a:lstStyle/>
          <a:p>
            <a:pPr indent="0" marL="0">
              <a:buNone/>
            </a:pPr>
            <a:r>
              <a:rPr lang="en-US" sz="1400" dirty="0">
                <a:solidFill>
                  <a:srgbClr val="24313F"/>
                </a:solidFill>
                <a:latin typeface="Georgia" pitchFamily="34" charset="0"/>
                <a:ea typeface="Georgia" pitchFamily="34" charset="-122"/>
                <a:cs typeface="Georgia" pitchFamily="34" charset="-120"/>
              </a:rPr>
              <a:t>Genre contract</a:t>
            </a:r>
            <a:endParaRPr lang="en-US" sz="1400" dirty="0"/>
          </a:p>
        </p:txBody>
      </p:sp>
      <p:sp>
        <p:nvSpPr>
          <p:cNvPr id="26" name="Shape 24"/>
          <p:cNvSpPr/>
          <p:nvPr/>
        </p:nvSpPr>
        <p:spPr>
          <a:xfrm>
            <a:off x="6277356" y="3209544"/>
            <a:ext cx="2361438" cy="548640"/>
          </a:xfrm>
          <a:prstGeom prst="rect">
            <a:avLst/>
          </a:prstGeom>
          <a:solidFill>
            <a:srgbClr val="E8EFE7"/>
          </a:solidFill>
          <a:ln/>
        </p:spPr>
      </p:sp>
      <p:sp>
        <p:nvSpPr>
          <p:cNvPr id="27" name="Text 25"/>
          <p:cNvSpPr/>
          <p:nvPr/>
        </p:nvSpPr>
        <p:spPr>
          <a:xfrm>
            <a:off x="6441948" y="3209544"/>
            <a:ext cx="2087118" cy="548640"/>
          </a:xfrm>
          <a:prstGeom prst="rect">
            <a:avLst/>
          </a:prstGeom>
          <a:noFill/>
          <a:ln/>
        </p:spPr>
        <p:txBody>
          <a:bodyPr wrap="square" lIns="0" tIns="0" rIns="0" bIns="0" rtlCol="0" anchor="ctr"/>
          <a:lstStyle/>
          <a:p>
            <a:pPr indent="0" marL="0">
              <a:buNone/>
            </a:pPr>
            <a:r>
              <a:rPr lang="en-US" sz="1400" dirty="0">
                <a:solidFill>
                  <a:srgbClr val="24313F"/>
                </a:solidFill>
                <a:latin typeface="Georgia" pitchFamily="34" charset="0"/>
                <a:ea typeface="Georgia" pitchFamily="34" charset="-122"/>
                <a:cs typeface="Georgia" pitchFamily="34" charset="-120"/>
              </a:rPr>
              <a:t>Production log</a:t>
            </a:r>
            <a:endParaRPr lang="en-US" sz="1400" dirty="0"/>
          </a:p>
        </p:txBody>
      </p:sp>
      <p:sp>
        <p:nvSpPr>
          <p:cNvPr id="28" name="Shape 26"/>
          <p:cNvSpPr/>
          <p:nvPr/>
        </p:nvSpPr>
        <p:spPr>
          <a:xfrm>
            <a:off x="9004554" y="3209544"/>
            <a:ext cx="2361438" cy="548640"/>
          </a:xfrm>
          <a:prstGeom prst="rect">
            <a:avLst/>
          </a:prstGeom>
          <a:solidFill>
            <a:srgbClr val="E8EFE7"/>
          </a:solidFill>
          <a:ln/>
        </p:spPr>
      </p:sp>
      <p:sp>
        <p:nvSpPr>
          <p:cNvPr id="29" name="Text 27"/>
          <p:cNvSpPr/>
          <p:nvPr/>
        </p:nvSpPr>
        <p:spPr>
          <a:xfrm>
            <a:off x="9169146" y="3209544"/>
            <a:ext cx="2087118" cy="548640"/>
          </a:xfrm>
          <a:prstGeom prst="rect">
            <a:avLst/>
          </a:prstGeom>
          <a:noFill/>
          <a:ln/>
        </p:spPr>
        <p:txBody>
          <a:bodyPr wrap="square" lIns="0" tIns="0" rIns="0" bIns="0" rtlCol="0" anchor="ctr"/>
          <a:lstStyle/>
          <a:p>
            <a:pPr indent="0" marL="0">
              <a:buNone/>
            </a:pPr>
            <a:r>
              <a:rPr lang="en-US" sz="1400" dirty="0">
                <a:solidFill>
                  <a:srgbClr val="24313F"/>
                </a:solidFill>
                <a:latin typeface="Georgia" pitchFamily="34" charset="0"/>
                <a:ea typeface="Georgia" pitchFamily="34" charset="-122"/>
                <a:cs typeface="Georgia" pitchFamily="34" charset="-120"/>
              </a:rPr>
              <a:t>Early evidence</a:t>
            </a:r>
            <a:endParaRPr lang="en-US" sz="1400" dirty="0"/>
          </a:p>
        </p:txBody>
      </p:sp>
      <p:sp>
        <p:nvSpPr>
          <p:cNvPr id="30" name="Text 28"/>
          <p:cNvSpPr/>
          <p:nvPr/>
        </p:nvSpPr>
        <p:spPr>
          <a:xfrm>
            <a:off x="822960" y="4069080"/>
            <a:ext cx="10424160" cy="1097280"/>
          </a:xfrm>
          <a:prstGeom prst="rect">
            <a:avLst/>
          </a:prstGeom>
          <a:noFill/>
          <a:ln/>
        </p:spPr>
        <p:txBody>
          <a:bodyPr wrap="square" lIns="0" tIns="0" rIns="0" bIns="0" rtlCol="0" anchor="t"/>
          <a:lstStyle/>
          <a:p>
            <a:pPr indent="0" marL="0">
              <a:lnSpc>
                <a:spcPts val="2300"/>
              </a:lnSpc>
              <a:buNone/>
            </a:pPr>
            <a:r>
              <a:rPr lang="en-US" sz="1700" dirty="0">
                <a:solidFill>
                  <a:srgbClr val="24313F"/>
                </a:solidFill>
                <a:latin typeface="Georgia" pitchFamily="34" charset="0"/>
                <a:ea typeface="Georgia" pitchFamily="34" charset="-122"/>
                <a:cs typeface="Georgia" pitchFamily="34" charset="-120"/>
              </a:rPr>
              <a:t>Every post dated on the day it happened, contributions labelled, no gaps. The four technical builds are named on this checklist for the first time: they are Component 1 evidence under Cambridge's own portfolio structure, and a blog missing them is missing marks it already earned in class.</a:t>
            </a:r>
            <a:endParaRPr lang="en-US" sz="1700" dirty="0"/>
          </a:p>
        </p:txBody>
      </p:sp>
      <p:sp>
        <p:nvSpPr>
          <p:cNvPr id="31" name="Shape 29"/>
          <p:cNvSpPr/>
          <p:nvPr/>
        </p:nvSpPr>
        <p:spPr>
          <a:xfrm>
            <a:off x="822960" y="5303520"/>
            <a:ext cx="914400" cy="0"/>
          </a:xfrm>
          <a:prstGeom prst="line">
            <a:avLst/>
          </a:prstGeom>
          <a:noFill/>
          <a:ln w="31750">
            <a:solidFill>
              <a:srgbClr val="8C3A38"/>
            </a:solidFill>
            <a:prstDash val="solid"/>
          </a:ln>
        </p:spPr>
      </p:sp>
      <p:sp>
        <p:nvSpPr>
          <p:cNvPr id="32" name="Text 30"/>
          <p:cNvSpPr/>
          <p:nvPr/>
        </p:nvSpPr>
        <p:spPr>
          <a:xfrm>
            <a:off x="822960" y="5486400"/>
            <a:ext cx="10424160" cy="45720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Findings written as actions, not comments. Post 3 has no audience data, add the survey screenshot beats more detail. Three teaching days to Monday.</a:t>
            </a:r>
            <a:endParaRPr lang="en-US" sz="1250" dirty="0"/>
          </a:p>
        </p:txBody>
      </p:sp>
      <p:sp>
        <p:nvSpPr>
          <p:cNvPr id="33" name="Shape 31"/>
          <p:cNvSpPr/>
          <p:nvPr/>
        </p:nvSpPr>
        <p:spPr>
          <a:xfrm>
            <a:off x="822960" y="6382512"/>
            <a:ext cx="10543032" cy="0"/>
          </a:xfrm>
          <a:prstGeom prst="line">
            <a:avLst/>
          </a:prstGeom>
          <a:noFill/>
          <a:ln w="9525">
            <a:solidFill>
              <a:srgbClr val="D9D4C4"/>
            </a:solidFill>
            <a:prstDash val="solid"/>
          </a:ln>
        </p:spPr>
      </p:sp>
      <p:sp>
        <p:nvSpPr>
          <p:cNvPr id="34" name="Text 32"/>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5" name="Text 33"/>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CS9</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AUDIT THAT MAKES A2 SAFE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280160"/>
            <a:ext cx="10543032" cy="914400"/>
          </a:xfrm>
          <a:prstGeom prst="rect">
            <a:avLst/>
          </a:prstGeom>
          <a:noFill/>
          <a:ln/>
        </p:spPr>
        <p:txBody>
          <a:bodyPr wrap="square" lIns="0" tIns="0" rIns="0" bIns="0" rtlCol="0" anchor="ctr"/>
          <a:lstStyle/>
          <a:p>
            <a:pPr indent="0" marL="0">
              <a:buNone/>
            </a:pPr>
            <a:r>
              <a:rPr lang="en-US" sz="3600" dirty="0">
                <a:solidFill>
                  <a:srgbClr val="24313F"/>
                </a:solidFill>
                <a:latin typeface="Georgia" pitchFamily="34" charset="0"/>
                <a:ea typeface="Georgia" pitchFamily="34" charset="-122"/>
                <a:cs typeface="Georgia" pitchFamily="34" charset="-120"/>
              </a:rPr>
              <a:t>Three teaching days to Monday</a:t>
            </a:r>
            <a:endParaRPr lang="en-US" sz="3600" dirty="0"/>
          </a:p>
        </p:txBody>
      </p:sp>
      <p:sp>
        <p:nvSpPr>
          <p:cNvPr id="6" name="Shape 4"/>
          <p:cNvSpPr/>
          <p:nvPr/>
        </p:nvSpPr>
        <p:spPr>
          <a:xfrm>
            <a:off x="822960" y="2514600"/>
            <a:ext cx="914400" cy="0"/>
          </a:xfrm>
          <a:prstGeom prst="line">
            <a:avLst/>
          </a:prstGeom>
          <a:noFill/>
          <a:ln w="31750">
            <a:solidFill>
              <a:srgbClr val="8C3A38"/>
            </a:solidFill>
            <a:prstDash val="solid"/>
          </a:ln>
        </p:spPr>
      </p:sp>
      <p:sp>
        <p:nvSpPr>
          <p:cNvPr id="7" name="Text 5"/>
          <p:cNvSpPr/>
          <p:nvPr/>
        </p:nvSpPr>
        <p:spPr>
          <a:xfrm>
            <a:off x="822960" y="2743200"/>
            <a:ext cx="9875520" cy="1920240"/>
          </a:xfrm>
          <a:prstGeom prst="rect">
            <a:avLst/>
          </a:prstGeom>
          <a:noFill/>
          <a:ln/>
        </p:spPr>
        <p:txBody>
          <a:bodyPr wrap="square" lIns="0" tIns="0" rIns="0" bIns="0" rtlCol="0" anchor="t"/>
          <a:lstStyle/>
          <a:p>
            <a:pPr indent="0" marL="0">
              <a:lnSpc>
                <a:spcPts val="2800"/>
              </a:lnSpc>
              <a:buNone/>
            </a:pPr>
            <a:r>
              <a:rPr lang="en-US" sz="2000" dirty="0">
                <a:solidFill>
                  <a:srgbClr val="24313F"/>
                </a:solidFill>
                <a:latin typeface="Georgia" pitchFamily="34" charset="0"/>
                <a:ea typeface="Georgia" pitchFamily="34" charset="-122"/>
                <a:cs typeface="Georgia" pitchFamily="34" charset="-120"/>
              </a:rPr>
              <a:t>CS9 is a peer blog audit against the mid-point checklist, the same instrument A2 is marked with. It is placed with working days to spare on purpose, so the deadline surprises nobody. A2 is submitted work, not a sitting: it is due the Monday after this lesson ends.</a:t>
            </a:r>
            <a:endParaRPr lang="en-US" sz="2000" dirty="0"/>
          </a:p>
        </p:txBody>
      </p:sp>
      <p:sp>
        <p:nvSpPr>
          <p:cNvPr id="8" name="Shape 6"/>
          <p:cNvSpPr/>
          <p:nvPr/>
        </p:nvSpPr>
        <p:spPr>
          <a:xfrm>
            <a:off x="822960" y="6382512"/>
            <a:ext cx="10543032" cy="0"/>
          </a:xfrm>
          <a:prstGeom prst="line">
            <a:avLst/>
          </a:prstGeom>
          <a:noFill/>
          <a:ln w="9525">
            <a:solidFill>
              <a:srgbClr val="D9D4C4"/>
            </a:solidFill>
            <a:prstDash val="solid"/>
          </a:ln>
        </p:spPr>
      </p:sp>
      <p:sp>
        <p:nvSpPr>
          <p:cNvPr id="9" name="Text 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0" name="Text 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FRIDAY · NARRATIVE UNDER LOAD</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STRAIN IS WHERE THE MARKS ARE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60120"/>
            <a:ext cx="6766560" cy="822960"/>
          </a:xfrm>
          <a:prstGeom prst="rect">
            <a:avLst/>
          </a:prstGeom>
          <a:noFill/>
          <a:ln/>
        </p:spPr>
        <p:txBody>
          <a:bodyPr wrap="square" lIns="0" tIns="0" rIns="0" bIns="0" rtlCol="0" anchor="ctr"/>
          <a:lstStyle/>
          <a:p>
            <a:pPr indent="0" marL="0">
              <a:buNone/>
            </a:pPr>
            <a:r>
              <a:rPr lang="en-US" sz="2800" dirty="0">
                <a:solidFill>
                  <a:srgbClr val="24313F"/>
                </a:solidFill>
                <a:latin typeface="Georgia" pitchFamily="34" charset="0"/>
                <a:ea typeface="Georgia" pitchFamily="34" charset="-122"/>
                <a:cs typeface="Georgia" pitchFamily="34" charset="-120"/>
              </a:rPr>
              <a:t>The exam sentence, rehearsed aloud</a:t>
            </a:r>
            <a:endParaRPr lang="en-US" sz="2800" dirty="0"/>
          </a:p>
        </p:txBody>
      </p:sp>
      <p:sp>
        <p:nvSpPr>
          <p:cNvPr id="6" name="Shape 4"/>
          <p:cNvSpPr/>
          <p:nvPr/>
        </p:nvSpPr>
        <p:spPr>
          <a:xfrm>
            <a:off x="822960" y="1828800"/>
            <a:ext cx="6766560" cy="1371600"/>
          </a:xfrm>
          <a:prstGeom prst="rect">
            <a:avLst/>
          </a:prstGeom>
          <a:solidFill>
            <a:srgbClr val="E8EFE7"/>
          </a:solidFill>
          <a:ln/>
        </p:spPr>
      </p:sp>
      <p:sp>
        <p:nvSpPr>
          <p:cNvPr id="7" name="Text 5"/>
          <p:cNvSpPr/>
          <p:nvPr/>
        </p:nvSpPr>
        <p:spPr>
          <a:xfrm>
            <a:off x="1051560" y="1920240"/>
            <a:ext cx="6309360" cy="1188720"/>
          </a:xfrm>
          <a:prstGeom prst="rect">
            <a:avLst/>
          </a:prstGeom>
          <a:noFill/>
          <a:ln/>
        </p:spPr>
        <p:txBody>
          <a:bodyPr wrap="square" lIns="0" tIns="0" rIns="0" bIns="0" rtlCol="0" anchor="ctr"/>
          <a:lstStyle/>
          <a:p>
            <a:pPr indent="0" marL="0">
              <a:lnSpc>
                <a:spcPts val="2600"/>
              </a:lnSpc>
              <a:buNone/>
            </a:pPr>
            <a:r>
              <a:rPr lang="en-US" sz="1900" i="1" dirty="0">
                <a:solidFill>
                  <a:srgbClr val="24313F"/>
                </a:solidFill>
                <a:latin typeface="Georgia" pitchFamily="34" charset="0"/>
                <a:ea typeface="Georgia" pitchFamily="34" charset="-122"/>
                <a:cs typeface="Georgia" pitchFamily="34" charset="-120"/>
              </a:rPr>
              <a:t>“Todorov's model illuminates X, although the extract complicates it by Y.”</a:t>
            </a:r>
            <a:endParaRPr lang="en-US" sz="1900" dirty="0"/>
          </a:p>
        </p:txBody>
      </p:sp>
      <p:sp>
        <p:nvSpPr>
          <p:cNvPr id="8" name="Text 6"/>
          <p:cNvSpPr/>
          <p:nvPr/>
        </p:nvSpPr>
        <p:spPr>
          <a:xfrm>
            <a:off x="822960" y="3429000"/>
            <a:ext cx="6766560" cy="2103120"/>
          </a:xfrm>
          <a:prstGeom prst="rect">
            <a:avLst/>
          </a:prstGeom>
          <a:noFill/>
          <a:ln/>
        </p:spPr>
        <p:txBody>
          <a:bodyPr wrap="square" lIns="0" tIns="0" rIns="0" bIns="0" rtlCol="0" anchor="t"/>
          <a:lstStyle/>
          <a:p>
            <a:pPr indent="0" marL="0">
              <a:lnSpc>
                <a:spcPts val="2200"/>
              </a:lnSpc>
              <a:buNone/>
            </a:pPr>
            <a:r>
              <a:rPr lang="en-US" sz="1550" dirty="0">
                <a:solidFill>
                  <a:srgbClr val="24313F"/>
                </a:solidFill>
                <a:latin typeface="Georgia" pitchFamily="34" charset="0"/>
                <a:ea typeface="Georgia" pitchFamily="34" charset="-122"/>
                <a:cs typeface="Georgia" pitchFamily="34" charset="-120"/>
              </a:rPr>
              <a:t>The second half is where the marks are. The strain log feeds Y: the false hero who is also the donor, the trailer that hides its villain on purpose, the film told out of order. Coursebook 3.2 closes on Dil Chahta Hai for exactly this reason: the arc is there, and the culture it runs in is not Hollywood's.</a:t>
            </a:r>
            <a:endParaRPr lang="en-US" sz="1550" dirty="0"/>
          </a:p>
        </p:txBody>
      </p:sp>
      <p:sp>
        <p:nvSpPr>
          <p:cNvPr id="9" name="Shape 7"/>
          <p:cNvSpPr/>
          <p:nvPr/>
        </p:nvSpPr>
        <p:spPr>
          <a:xfrm>
            <a:off x="7543800" y="1097280"/>
            <a:ext cx="3822192" cy="3931920"/>
          </a:xfrm>
          <a:prstGeom prst="rect">
            <a:avLst/>
          </a:prstGeom>
          <a:solidFill>
            <a:srgbClr val="FAF8F1"/>
          </a:solidFill>
          <a:ln w="9525">
            <a:solidFill>
              <a:srgbClr val="D9D4C4"/>
            </a:solidFill>
            <a:prstDash val="solid"/>
          </a:ln>
        </p:spPr>
      </p:sp>
      <p:pic>
        <p:nvPicPr>
          <p:cNvPr id="10" name="Image 0" descr="/Users/dogan/Documents/Vaults/Courses/wiki/classes/media-studies/decks/_build/img/knives-family.jpg">    </p:cNvPr>
          <p:cNvPicPr>
            <a:picLocks noChangeAspect="1"/>
          </p:cNvPicPr>
          <p:nvPr/>
        </p:nvPicPr>
        <p:blipFill>
          <a:blip r:embed="rId1"/>
          <a:stretch>
            <a:fillRect/>
          </a:stretch>
        </p:blipFill>
        <p:spPr>
          <a:xfrm>
            <a:off x="7671816" y="2097869"/>
            <a:ext cx="3566160" cy="1930741"/>
          </a:xfrm>
          <a:prstGeom prst="rect">
            <a:avLst/>
          </a:prstGeom>
        </p:spPr>
      </p:pic>
      <p:sp>
        <p:nvSpPr>
          <p:cNvPr id="11" name="Text 8"/>
          <p:cNvSpPr/>
          <p:nvPr/>
        </p:nvSpPr>
        <p:spPr>
          <a:xfrm>
            <a:off x="7543800" y="5074920"/>
            <a:ext cx="3822192" cy="548640"/>
          </a:xfrm>
          <a:prstGeom prst="rect">
            <a:avLst/>
          </a:prstGeom>
          <a:noFill/>
          <a:ln/>
        </p:spPr>
        <p:txBody>
          <a:bodyPr wrap="square" lIns="0" tIns="0" rIns="0" bIns="0" rtlCol="0" anchor="t"/>
          <a:lstStyle/>
          <a:p>
            <a:pPr algn="ctr" indent="0" marL="0">
              <a:lnSpc>
                <a:spcPts val="1300"/>
              </a:lnSpc>
              <a:buNone/>
            </a:pPr>
            <a:r>
              <a:rPr lang="en-US" sz="1000" dirty="0">
                <a:solidFill>
                  <a:srgbClr val="7A7F72"/>
                </a:solidFill>
                <a:latin typeface="Arial" pitchFamily="34" charset="0"/>
                <a:ea typeface="Arial" pitchFamily="34" charset="-122"/>
                <a:cs typeface="Arial" pitchFamily="34" charset="-120"/>
              </a:rPr>
              <a:t>Knives Out (2019): Propp on a trailer. A withheld villain is a marketing decision.</a:t>
            </a:r>
            <a:endParaRPr lang="en-US" sz="1000" dirty="0"/>
          </a:p>
        </p:txBody>
      </p:sp>
      <p:sp>
        <p:nvSpPr>
          <p:cNvPr id="12" name="Shape 9"/>
          <p:cNvSpPr/>
          <p:nvPr/>
        </p:nvSpPr>
        <p:spPr>
          <a:xfrm>
            <a:off x="822960" y="6382512"/>
            <a:ext cx="10543032" cy="0"/>
          </a:xfrm>
          <a:prstGeom prst="line">
            <a:avLst/>
          </a:prstGeom>
          <a:noFill/>
          <a:ln w="9525">
            <a:solidFill>
              <a:srgbClr val="D9D4C4"/>
            </a:solidFill>
            <a:prstDash val="solid"/>
          </a:ln>
        </p:spPr>
      </p:sp>
      <p:sp>
        <p:nvSpPr>
          <p:cNvPr id="13" name="Text 1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4" name="Text 1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514600"/>
            <a:ext cx="10241280" cy="2103120"/>
          </a:xfrm>
          <a:prstGeom prst="rect">
            <a:avLst/>
          </a:prstGeom>
          <a:noFill/>
          <a:ln/>
        </p:spPr>
        <p:txBody>
          <a:bodyPr wrap="square" lIns="0" tIns="0" rIns="0" bIns="0" rtlCol="0" anchor="t"/>
          <a:lstStyle/>
          <a:p>
            <a:pPr indent="0" marL="0">
              <a:lnSpc>
                <a:spcPts val="5200"/>
              </a:lnSpc>
              <a:buNone/>
            </a:pPr>
            <a:r>
              <a:rPr lang="en-US" sz="4800" dirty="0">
                <a:solidFill>
                  <a:srgbClr val="FAF8F1"/>
                </a:solidFill>
                <a:latin typeface="Georgia" pitchFamily="34" charset="0"/>
                <a:ea typeface="Georgia" pitchFamily="34" charset="-122"/>
                <a:cs typeface="Georgia" pitchFamily="34" charset="-120"/>
              </a:rPr>
              <a:t>Representation,</a:t>
            </a:r>
            <a:endParaRPr lang="en-US" sz="4800" dirty="0"/>
          </a:p>
          <a:p>
            <a:pPr indent="0" marL="0">
              <a:lnSpc>
                <a:spcPts val="5200"/>
              </a:lnSpc>
              <a:buNone/>
            </a:pPr>
            <a:r>
              <a:rPr lang="en-US" sz="4800" dirty="0">
                <a:solidFill>
                  <a:srgbClr val="FAF8F1"/>
                </a:solidFill>
                <a:latin typeface="Georgia" pitchFamily="34" charset="0"/>
                <a:ea typeface="Georgia" pitchFamily="34" charset="-122"/>
                <a:cs typeface="Georgia" pitchFamily="34" charset="-120"/>
              </a:rPr>
              <a:t>Applied</a:t>
            </a:r>
            <a:endParaRPr lang="en-US" sz="4800" dirty="0"/>
          </a:p>
        </p:txBody>
      </p:sp>
      <p:sp>
        <p:nvSpPr>
          <p:cNvPr id="5" name="Text 3"/>
          <p:cNvSpPr/>
          <p:nvPr/>
        </p:nvSpPr>
        <p:spPr>
          <a:xfrm>
            <a:off x="822960" y="4480560"/>
            <a:ext cx="10241280" cy="822960"/>
          </a:xfrm>
          <a:prstGeom prst="rect">
            <a:avLst/>
          </a:prstGeom>
          <a:noFill/>
          <a:ln/>
        </p:spPr>
        <p:txBody>
          <a:bodyPr wrap="square" lIns="0" tIns="0" rIns="0" bIns="0" rtlCol="0" anchor="t"/>
          <a:lstStyle/>
          <a:p>
            <a:pPr indent="0" marL="0">
              <a:lnSpc>
                <a:spcPts val="2800"/>
              </a:lnSpc>
              <a:buNone/>
            </a:pPr>
            <a:r>
              <a:rPr lang="en-US" sz="2200" i="1" dirty="0">
                <a:solidFill>
                  <a:srgbClr val="E8EFE7"/>
                </a:solidFill>
                <a:latin typeface="Georgia" pitchFamily="34" charset="0"/>
                <a:ea typeface="Georgia" pitchFamily="34" charset="-122"/>
                <a:cs typeface="Georgia" pitchFamily="34" charset="-120"/>
              </a:rPr>
              <a:t>Lesson 11. A2 goes in on Monday, and representation turns on the product you are making.</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08</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2026-08-24T07:42:07Z</dcterms:created>
  <dcterms:modified xsi:type="dcterms:W3CDTF">2026-08-24T07:42:07Z</dcterms:modified>
</cp:coreProperties>
</file>