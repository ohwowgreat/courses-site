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 macro element, and the audit that makes A2 survivable. Wednesday's double is the hinge of the whole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top-band answer discusses where a model strains. The model fits perfectly is neither true nor interesting.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Coursebook 3.2 teaches Todorov through Toy Story, so the frames match the reading students do. Run WS 3.2 as written: I-do on these frames, we-do on a second text, you-do on a story they know. The Christmas-window coda frame exists in img/ if you want the sequel joke: every new equilibrium is the next film's equilibrium.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Binary oppositions follow via the TNS's worked Lupin table on the next slides: narratives run on conflicts of value, not just people. The strain log starts here and is harvested at L17.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D1: one TV cold open screened twice. First pass, list every question the text plants; second, every promise it makes. The TNS worked table for D1 is Lupin, so the frame and the table now match.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left frame owes you an answer; the right frame owes you a consequence. One makes you lean in with a question, the other with anticipation.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from the TNS's worked Lupin binary-oppositions table; the pairs on the slide are the frame's own, as prompts. Levi-Strauss via coursebook 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audit is A2's marking preview. It sits with working days to spare so there is still time to act on what it finds. Kept deliberately: the systematic-study mood image for the audit ritual; the checklist itself is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Protocol is describe, question, suggest. Enforce findings-as-actions in the first five minutes or the audit degrades into politeness. Teacher circulates to the thinnest blogs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A1 scripts also return Wednesday under the five-day rule: two minutes of silent reading, one written action each, the commonest gap named aloud from the pile.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D3: one contemporary trailer, cast mapped onto functions in pairs, then the harder question logged in writing: where did Propp fail to fit, and why is that interesting? Pairs trade logs to steal each other's best strain.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822960"/>
            <a:ext cx="33832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endParaRPr lang="en-US" sz="32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Narrative, Barthes</a:t>
            </a:r>
            <a:endParaRPr lang="en-US" sz="4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the Blog Audit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Macro and Textual Analysis · Lesson 10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days  ·  Wednesday 21 to Friday 23 October  ·  A2 falls the following Monday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640080"/>
            <a:ext cx="374904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endParaRPr lang="en-US" sz="38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MODELS ARE TAUGHT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4320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Taught with the cases</a:t>
            </a:r>
            <a:endParaRPr lang="en-US" sz="44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they fail.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TODOROV · THE NARRATIVE ARC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THE DISTURBANCE IN YOUR OPENING?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stages, one movement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877263" y="2212848"/>
            <a:ext cx="8434426" cy="0"/>
          </a:xfrm>
          <a:prstGeom prst="line">
            <a:avLst/>
          </a:prstGeom>
          <a:noFill/>
          <a:ln w="19050">
            <a:solidFill>
              <a:srgbClr val="8AA3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30375" y="1965960"/>
            <a:ext cx="493776" cy="493776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96112" y="1316736"/>
            <a:ext cx="19623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Equilibrium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96112" y="2542032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stable world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14400" y="3063240"/>
            <a:ext cx="1925726" cy="1481328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1" name="Image 0" descr="/Users/dogan/Documents/Vaults/Courses/wiki/classes/media-studies/decks/_build/img/toystory-staffmeet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3228928"/>
            <a:ext cx="1779422" cy="114995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738982" y="1965960"/>
            <a:ext cx="493776" cy="493776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3004718" y="1316736"/>
            <a:ext cx="19623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Disruption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3004718" y="2542032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force breaks it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023006" y="3063240"/>
            <a:ext cx="1925726" cy="1481328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6" name="Image 1" descr="/Users/dogan/Documents/Vaults/Courses/wiki/classes/media-studies/decks/_build/img/toystory-buzz-unwrapp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6158" y="3228928"/>
            <a:ext cx="1779422" cy="114995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847588" y="1965960"/>
            <a:ext cx="493776" cy="493776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5113325" y="1316736"/>
            <a:ext cx="19623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Recognition</a:t>
            </a:r>
            <a:endParaRPr lang="en-US" sz="1550" dirty="0"/>
          </a:p>
        </p:txBody>
      </p:sp>
      <p:sp>
        <p:nvSpPr>
          <p:cNvPr id="19" name="Text 15"/>
          <p:cNvSpPr/>
          <p:nvPr/>
        </p:nvSpPr>
        <p:spPr>
          <a:xfrm>
            <a:off x="5113325" y="2542032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break is seen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131613" y="3063240"/>
            <a:ext cx="1925726" cy="1481328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21" name="Image 2" descr="/Users/dogan/Documents/Vaults/Courses/wiki/classes/media-studies/decks/_build/img/toystory-woody-window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4765" y="3228928"/>
            <a:ext cx="1779422" cy="114995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956194" y="1965960"/>
            <a:ext cx="493776" cy="493776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18"/>
          <p:cNvSpPr/>
          <p:nvPr/>
        </p:nvSpPr>
        <p:spPr>
          <a:xfrm>
            <a:off x="7221931" y="1316736"/>
            <a:ext cx="19623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Repair</a:t>
            </a:r>
            <a:endParaRPr lang="en-US" sz="1550" dirty="0"/>
          </a:p>
        </p:txBody>
      </p:sp>
      <p:sp>
        <p:nvSpPr>
          <p:cNvPr id="24" name="Text 19"/>
          <p:cNvSpPr/>
          <p:nvPr/>
        </p:nvSpPr>
        <p:spPr>
          <a:xfrm>
            <a:off x="7221931" y="2542032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attempt to fix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7240219" y="3063240"/>
            <a:ext cx="1925726" cy="1481328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26" name="Image 3" descr="/Users/dogan/Documents/Vaults/Courses/wiki/classes/media-studies/decks/_build/img/toystory-sids-room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3371" y="3305295"/>
            <a:ext cx="1779422" cy="99721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0064801" y="1965960"/>
            <a:ext cx="493776" cy="493776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900" dirty="0"/>
          </a:p>
        </p:txBody>
      </p:sp>
      <p:sp>
        <p:nvSpPr>
          <p:cNvPr id="28" name="Text 22"/>
          <p:cNvSpPr/>
          <p:nvPr/>
        </p:nvSpPr>
        <p:spPr>
          <a:xfrm>
            <a:off x="9330538" y="1316736"/>
            <a:ext cx="19623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equilibrium</a:t>
            </a:r>
            <a:endParaRPr lang="en-US" sz="1550" dirty="0"/>
          </a:p>
        </p:txBody>
      </p:sp>
      <p:sp>
        <p:nvSpPr>
          <p:cNvPr id="29" name="Text 23"/>
          <p:cNvSpPr/>
          <p:nvPr/>
        </p:nvSpPr>
        <p:spPr>
          <a:xfrm>
            <a:off x="9330538" y="2542032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changed calm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9348826" y="3063240"/>
            <a:ext cx="1925726" cy="1481328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31" name="Image 4" descr="/Users/dogan/Documents/Vaults/Courses/wiki/classes/media-studies/decks/_build/img/toystory-reunited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1978" y="3306778"/>
            <a:ext cx="1779422" cy="99425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822960" y="4681728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Toy Story (1995, Pixar/Disney): the coursebook's own worked arc, one frame per stage. Woody's world, Buzz's arrival, the window, Sid's room, the bed shared.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822960" y="52578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822960" y="5413248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MOVE 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 fails on non-linear stories. Saying where it fails is the top-band move.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7" name="Text 3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minimal complete plot consists in the passage from one equilibrium to another.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Tzvetan Todorov, Structural Analysis of Narrative, 1969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complete story moves from one stable state, through disruption, to a new stable state.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PROPP · CHARACTERS BY FUNCTION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DO, NOT WHO THEY ARE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Seven roles a story fills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7315200" cy="0"/>
          </a:xfrm>
          <a:prstGeom prst="line">
            <a:avLst/>
          </a:prstGeom>
          <a:noFill/>
          <a:ln w="12700">
            <a:solidFill>
              <a:srgbClr val="2431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73736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83280" y="1737360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seeks, and is tested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2249424"/>
            <a:ext cx="7315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494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Villain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83280" y="2249424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struggles against the hero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2761488"/>
            <a:ext cx="7315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76148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Donor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383280" y="2761488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gives the hero a tool or gift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3273552"/>
            <a:ext cx="7315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27355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Helper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383280" y="3273552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aids the hero on the way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" y="3785616"/>
            <a:ext cx="7315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78561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Princess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383280" y="3785616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sought-for person or prize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22960" y="4297680"/>
            <a:ext cx="7315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29768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Dispatcher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383280" y="4297680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sends the hero out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22960" y="4809744"/>
            <a:ext cx="7315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80974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False hero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3383280" y="4809744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claims the reward unearned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" y="5321808"/>
            <a:ext cx="7315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66760" y="1783080"/>
            <a:ext cx="3017520" cy="23774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29" name="Image 0" descr="/Users/dogan/Documents/Vaults/Courses/wiki/classes/media-studies/decks/_build/img/toystory-buzz-unwrapp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94776" y="2079494"/>
            <a:ext cx="2761488" cy="1784612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8366760" y="42519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this cast. Is Woody the hero, or act one's villain? Is Buzz a prize, a rival, a helper? Where Propp does not fit is your strain log's first entry.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22960" y="5458968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Propp studied folk tales in 1928, so apply him with care. Sort Wars: rebuild a scrambled tale from the cards. Then ask your own opening: who is your donor? Do you have one?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lupin-unit_a6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0"/>
            <a:ext cx="455371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18120" y="6126480"/>
            <a:ext cx="418795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Lupin, Part 3 (Netflix, 2023). Unit still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ENIGMA CODE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4922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leaned in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2286000"/>
            <a:ext cx="65836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 hair, tinted glasses, a borrowed name: the hero in disguise. Two questions pull you in. Will he be recognized? What is he here to take?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enigma code (Barthes): a question the text plants and delays answering.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D1 table maps every question and promise this opening owes you.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BARTHES · TWO OF THE FIVE CODES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AND THE PROMISE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97280"/>
            <a:ext cx="5088636" cy="27432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lupin-vitri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1902" y="1225296"/>
            <a:ext cx="3730752" cy="24871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77356" y="1097280"/>
            <a:ext cx="5088636" cy="27432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8" name="Image 1" descr="/Users/dogan/Documents/Vaults/Courses/wiki/classes/media-studies/decks/_build/img/toystory-remote-ecu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7366" y="1225296"/>
            <a:ext cx="3848616" cy="248716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877056"/>
            <a:ext cx="50886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Lupin (Netflix, 2021): the cleaner nobody sees, at the necklace nobody guards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6277356" y="3877056"/>
            <a:ext cx="50886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Toy Story (1995): a thumb on a trigger is a promise the scene must keep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822960" y="434340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Enigma code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822960" y="4800600"/>
            <a:ext cx="50886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question a text plants and refuses to answer yet: who is he, what is he here to take?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277356" y="434340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Action code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277356" y="4800600"/>
            <a:ext cx="50886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promise that something will happen, and soon: a loaded gun, a lit fuse, a pressed trigger.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enigma can be distinguished, suggested, formulated, held in suspense, and finally disclosed.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Roland Barthes, S/Z, 1970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story can hint at a mystery, state it, delay it, and finally reveal the answer.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OPPOSITIONS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NARRATIVES RUN ON CONFLICTS OF VALUE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51560"/>
            <a:ext cx="5852160" cy="44805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lupin-vitri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426464"/>
            <a:ext cx="5596128" cy="3730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5778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Lupin S1 E1 (Netflix, 2021): Assane at the glass display case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223760" y="11887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frame, four value conflicts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7223760" y="2103120"/>
            <a:ext cx="41148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2376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00684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60120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unseen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7223760" y="28986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guardian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9006840" y="289864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9601200" y="28986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thief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7223760" y="34655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wealth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9006840" y="34655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601200" y="34655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service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7223760" y="403250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light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9006840" y="403250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9601200" y="403250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dark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7223760" y="4690872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real pair organizes the text: scenes, costumes, and settings line up on the two sides.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 your own opening's pair before Friday.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johnston-geography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CS9 · THE BLOG AUDIT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blog read by a peer against the same checklist A2 is marked with, three days before it is due.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Frances Benjamin Johnston, a Geography class, Hampton, c. 1899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CS9 · THE AUDIT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CHECKLIST A2 IS MARKED WITH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 by post, findings as actions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7" name="Text 5"/>
          <p:cNvSpPr/>
          <p:nvPr/>
        </p:nvSpPr>
        <p:spPr>
          <a:xfrm>
            <a:off x="987552" y="1783080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Brief and group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550158" y="1783080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9" name="Text 7"/>
          <p:cNvSpPr/>
          <p:nvPr/>
        </p:nvSpPr>
        <p:spPr>
          <a:xfrm>
            <a:off x="3714750" y="1783080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77356" y="1783080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1" name="Text 9"/>
          <p:cNvSpPr/>
          <p:nvPr/>
        </p:nvSpPr>
        <p:spPr>
          <a:xfrm>
            <a:off x="6441948" y="1783080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 profile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004554" y="1783080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3" name="Text 11"/>
          <p:cNvSpPr/>
          <p:nvPr/>
        </p:nvSpPr>
        <p:spPr>
          <a:xfrm>
            <a:off x="9169146" y="1783080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Pitch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2496312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5" name="Text 13"/>
          <p:cNvSpPr/>
          <p:nvPr/>
        </p:nvSpPr>
        <p:spPr>
          <a:xfrm>
            <a:off x="987552" y="2496312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Planning suite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550158" y="2496312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7" name="Text 15"/>
          <p:cNvSpPr/>
          <p:nvPr/>
        </p:nvSpPr>
        <p:spPr>
          <a:xfrm>
            <a:off x="3714750" y="2496312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CS3 camera build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77356" y="2496312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9" name="Text 17"/>
          <p:cNvSpPr/>
          <p:nvPr/>
        </p:nvSpPr>
        <p:spPr>
          <a:xfrm>
            <a:off x="6441948" y="2496312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CS4 soundscape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004554" y="2496312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21" name="Text 19"/>
          <p:cNvSpPr/>
          <p:nvPr/>
        </p:nvSpPr>
        <p:spPr>
          <a:xfrm>
            <a:off x="9169146" y="2496312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CS5 design board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22960" y="3209544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3209544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CS6 edit, both versions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550158" y="3209544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25" name="Text 23"/>
          <p:cNvSpPr/>
          <p:nvPr/>
        </p:nvSpPr>
        <p:spPr>
          <a:xfrm>
            <a:off x="3714750" y="3209544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Genre contract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277356" y="3209544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27" name="Text 25"/>
          <p:cNvSpPr/>
          <p:nvPr/>
        </p:nvSpPr>
        <p:spPr>
          <a:xfrm>
            <a:off x="6441948" y="3209544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log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9004554" y="3209544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29" name="Text 27"/>
          <p:cNvSpPr/>
          <p:nvPr/>
        </p:nvSpPr>
        <p:spPr>
          <a:xfrm>
            <a:off x="9169146" y="3209544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evidence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22960" y="416052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STANDARD   </a:t>
            </a:r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post dated on the day it happened. Contributions labeled. No gaps.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 technical builds are Component 1 evidence. A blog missing them loses marks it already earned.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22960" y="530352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4864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findings as actions. “Add the survey screenshot to post 3” beats “more detail please.”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CLOCK 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teaching days to Monday.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· CS9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AUDIT THAT MAKES A2 SAFE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teaching days to Monday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CS9   </a:t>
            </a:r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peer blog audit, using the same checklist A2 is marked with.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   </a:t>
            </a:r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Days to spare, on purpose. The deadline should surprise nobody.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  </a:t>
            </a:r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Submitted work, not an exam sitting. Due the Monday after this lesson.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 · NARRATIVE UNDER LOAD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STRAIN IS WHERE THE MARKS ARE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exam sentence, rehearsed aloud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22960" y="1828800"/>
            <a:ext cx="6766560" cy="137160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92024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“Todorov's model illuminates X, although the extract complicates it by Y.”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3429000"/>
            <a:ext cx="6766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second half of the sentence earns the marks.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   </a:t>
            </a:r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your strain log: a false hero who is also the donor, a hidden villain, a story told out of order.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Coursebook 3.2 ends on Dil Chahta Hai: the arc fits, and the culture is not Hollywood's.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543800" y="1097280"/>
            <a:ext cx="3822192" cy="393192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0" name="Image 0" descr="/Users/dogan/Documents/Vaults/Courses/wiki/classes/media-studies/decks/_build/img/knives-fami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1816" y="2097869"/>
            <a:ext cx="3566160" cy="193074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543800" y="5074920"/>
            <a:ext cx="3822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Knives Out (2019): Propp on a trailer. A hidden villain is a marketing decision.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514600"/>
            <a:ext cx="10241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Representation,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Applied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11. A2 goes in on Monday, and representation turns on the product you are making.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2026-08-25T13:06:06Z</dcterms:created>
  <dcterms:modified xsi:type="dcterms:W3CDTF">2026-08-25T13:06:06Z</dcterms:modified>
</cp:coreProperties>
</file>