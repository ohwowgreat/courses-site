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macro element, and the audit that makes A2 survivable. Wednesday's double is the hinge of the whole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top-band answer discusses where a model strains. The model fits perfectly is neither true nor 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D1: one TV cold open screened twice. First pass, list every question the text plants; second, every promise it makes. The TNS worked table for D1 is Lupin, so the frame and the table now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is A2's marking preview. It sits with working days to spare so there is still time to act on what it finds.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046720" y="822960"/>
            <a:ext cx="3383280" cy="4937760"/>
          </a:xfrm>
          <a:prstGeom prst="rect">
            <a:avLst/>
          </a:prstGeom>
          <a:noFill/>
          <a:ln/>
        </p:spPr>
        <p:txBody>
          <a:bodyPr wrap="square" lIns="0" tIns="0" rIns="0" bIns="0" rtlCol="0" anchor="ctr"/>
          <a:lstStyle/>
          <a:p>
            <a:pPr algn="ctr" indent="0" marL="0">
              <a:buNone/>
            </a:pPr>
            <a:r>
              <a:rPr lang="en-US" sz="32000" dirty="0">
                <a:solidFill>
                  <a:srgbClr val="A3C1AD"/>
                </a:solidFill>
                <a:latin typeface="Georgia" pitchFamily="34" charset="0"/>
                <a:ea typeface="Georgia" pitchFamily="34" charset="-122"/>
                <a:cs typeface="Georgia" pitchFamily="34" charset="-120"/>
              </a:rPr>
              <a:t>X</a:t>
            </a:r>
            <a:endParaRPr lang="en-US" sz="32000" dirty="0"/>
          </a:p>
        </p:txBody>
      </p:sp>
      <p:sp>
        <p:nvSpPr>
          <p:cNvPr id="3" name="Text 1"/>
          <p:cNvSpPr/>
          <p:nvPr/>
        </p:nvSpPr>
        <p:spPr>
          <a:xfrm>
            <a:off x="822960" y="1234440"/>
            <a:ext cx="82296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MEDIA STUDIES 9607 · UNIT III</a:t>
            </a:r>
            <a:endParaRPr lang="en-US" sz="1100" dirty="0"/>
          </a:p>
        </p:txBody>
      </p:sp>
      <p:sp>
        <p:nvSpPr>
          <p:cNvPr id="4" name="Text 2"/>
          <p:cNvSpPr/>
          <p:nvPr/>
        </p:nvSpPr>
        <p:spPr>
          <a:xfrm>
            <a:off x="822960" y="1737360"/>
            <a:ext cx="8229600" cy="2377440"/>
          </a:xfrm>
          <a:prstGeom prst="rect">
            <a:avLst/>
          </a:prstGeom>
          <a:noFill/>
          <a:ln/>
        </p:spPr>
        <p:txBody>
          <a:bodyPr wrap="square" lIns="0" tIns="0" rIns="0" bIns="0" rtlCol="0" anchor="t"/>
          <a:lstStyle/>
          <a:p>
            <a:pPr indent="0" marL="0">
              <a:lnSpc>
                <a:spcPts val="4400"/>
              </a:lnSpc>
              <a:buNone/>
            </a:pPr>
            <a:r>
              <a:rPr lang="en-US" sz="4400" dirty="0">
                <a:solidFill>
                  <a:srgbClr val="24313F"/>
                </a:solidFill>
                <a:latin typeface="Georgia" pitchFamily="34" charset="0"/>
                <a:ea typeface="Georgia" pitchFamily="34" charset="-122"/>
                <a:cs typeface="Georgia" pitchFamily="34" charset="-120"/>
              </a:rPr>
              <a:t>Narrative, Barthes</a:t>
            </a:r>
            <a:endParaRPr lang="en-US" sz="4400" dirty="0"/>
          </a:p>
          <a:p>
            <a:pPr indent="0" marL="0">
              <a:lnSpc>
                <a:spcPts val="4400"/>
              </a:lnSpc>
              <a:buNone/>
            </a:pPr>
            <a:r>
              <a:rPr lang="en-US" sz="4400" dirty="0">
                <a:solidFill>
                  <a:srgbClr val="24313F"/>
                </a:solidFill>
                <a:latin typeface="Georgia" pitchFamily="34" charset="0"/>
                <a:ea typeface="Georgia" pitchFamily="34" charset="-122"/>
                <a:cs typeface="Georgia" pitchFamily="34" charset="-120"/>
              </a:rPr>
              <a:t>and the Blog Audit</a:t>
            </a:r>
            <a:endParaRPr lang="en-US" sz="4400" dirty="0"/>
          </a:p>
        </p:txBody>
      </p:sp>
      <p:sp>
        <p:nvSpPr>
          <p:cNvPr id="5" name="Shape 3"/>
          <p:cNvSpPr/>
          <p:nvPr/>
        </p:nvSpPr>
        <p:spPr>
          <a:xfrm>
            <a:off x="822960" y="4343400"/>
            <a:ext cx="914400" cy="0"/>
          </a:xfrm>
          <a:prstGeom prst="line">
            <a:avLst/>
          </a:prstGeom>
          <a:noFill/>
          <a:ln w="31750">
            <a:solidFill>
              <a:srgbClr val="8C3A38"/>
            </a:solidFill>
            <a:prstDash val="solid"/>
          </a:ln>
        </p:spPr>
      </p:sp>
      <p:sp>
        <p:nvSpPr>
          <p:cNvPr id="6" name="Text 4"/>
          <p:cNvSpPr/>
          <p:nvPr/>
        </p:nvSpPr>
        <p:spPr>
          <a:xfrm>
            <a:off x="822960" y="4526280"/>
            <a:ext cx="8229600" cy="457200"/>
          </a:xfrm>
          <a:prstGeom prst="rect">
            <a:avLst/>
          </a:prstGeom>
          <a:noFill/>
          <a:ln/>
        </p:spPr>
        <p:txBody>
          <a:bodyPr wrap="square" lIns="0" tIns="0" rIns="0" bIns="0" rtlCol="0" anchor="ctr"/>
          <a:lstStyle/>
          <a:p>
            <a:pPr indent="0" marL="0">
              <a:buNone/>
            </a:pPr>
            <a:r>
              <a:rPr lang="en-US" sz="2200" i="1" dirty="0">
                <a:solidFill>
                  <a:srgbClr val="7A7F72"/>
                </a:solidFill>
                <a:latin typeface="Georgia" pitchFamily="34" charset="0"/>
                <a:ea typeface="Georgia" pitchFamily="34" charset="-122"/>
                <a:cs typeface="Georgia" pitchFamily="34" charset="-120"/>
              </a:rPr>
              <a:t>Macro and Textual Analysis · Lesson 10 of 19</a:t>
            </a:r>
            <a:endParaRPr lang="en-US" sz="2200" dirty="0"/>
          </a:p>
        </p:txBody>
      </p:sp>
      <p:sp>
        <p:nvSpPr>
          <p:cNvPr id="7" name="Text 5"/>
          <p:cNvSpPr/>
          <p:nvPr/>
        </p:nvSpPr>
        <p:spPr>
          <a:xfrm>
            <a:off x="822960" y="5029200"/>
            <a:ext cx="10058400" cy="365760"/>
          </a:xfrm>
          <a:prstGeom prst="rect">
            <a:avLst/>
          </a:prstGeom>
          <a:noFill/>
          <a:ln/>
        </p:spPr>
        <p:txBody>
          <a:bodyPr wrap="square" lIns="0" tIns="0" rIns="0" bIns="0" rtlCol="0" anchor="ctr"/>
          <a:lstStyle/>
          <a:p>
            <a:pPr indent="0" marL="0">
              <a:buNone/>
            </a:pPr>
            <a:r>
              <a:rPr lang="en-US" sz="1300" spc="100" kern="0" dirty="0">
                <a:solidFill>
                  <a:srgbClr val="7A7F72"/>
                </a:solidFill>
                <a:latin typeface="Arial" pitchFamily="34" charset="0"/>
                <a:ea typeface="Arial" pitchFamily="34" charset="-122"/>
                <a:cs typeface="Arial" pitchFamily="34" charset="-120"/>
              </a:rPr>
              <a:t>Three days  ·  Tuesday 20 to Friday 23 October  ·  A2 falls the following Monday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7863840" y="640080"/>
            <a:ext cx="3749040" cy="5577840"/>
          </a:xfrm>
          <a:prstGeom prst="rect">
            <a:avLst/>
          </a:prstGeom>
          <a:noFill/>
          <a:ln/>
        </p:spPr>
        <p:txBody>
          <a:bodyPr wrap="square" lIns="0" tIns="0" rIns="0" bIns="0" rtlCol="0" anchor="ctr"/>
          <a:lstStyle/>
          <a:p>
            <a:pPr algn="ctr" indent="0" marL="0">
              <a:buNone/>
            </a:pPr>
            <a:r>
              <a:rPr lang="en-US" sz="38000" dirty="0">
                <a:solidFill>
                  <a:srgbClr val="5C7A6B"/>
                </a:solidFill>
                <a:latin typeface="Georgia" pitchFamily="34" charset="0"/>
                <a:ea typeface="Georgia" pitchFamily="34" charset="-122"/>
                <a:cs typeface="Georgia" pitchFamily="34" charset="-120"/>
              </a:rPr>
              <a:t>X</a:t>
            </a:r>
            <a:endParaRPr lang="en-US" sz="38000" dirty="0"/>
          </a:p>
        </p:txBody>
      </p:sp>
      <p:sp>
        <p:nvSpPr>
          <p:cNvPr id="3" name="Text 1"/>
          <p:cNvSpPr/>
          <p:nvPr/>
        </p:nvSpPr>
        <p:spPr>
          <a:xfrm>
            <a:off x="822960" y="2286000"/>
            <a:ext cx="82296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HOW THE MODELS ARE TAUGHT</a:t>
            </a:r>
            <a:endParaRPr lang="en-US" sz="1100" dirty="0"/>
          </a:p>
        </p:txBody>
      </p:sp>
      <p:sp>
        <p:nvSpPr>
          <p:cNvPr id="4" name="Shape 2"/>
          <p:cNvSpPr/>
          <p:nvPr/>
        </p:nvSpPr>
        <p:spPr>
          <a:xfrm>
            <a:off x="822960" y="2651760"/>
            <a:ext cx="3840480" cy="0"/>
          </a:xfrm>
          <a:prstGeom prst="line">
            <a:avLst/>
          </a:prstGeom>
          <a:noFill/>
          <a:ln w="9525">
            <a:solidFill>
              <a:srgbClr val="8AA394"/>
            </a:solidFill>
            <a:prstDash val="solid"/>
          </a:ln>
        </p:spPr>
      </p:sp>
      <p:sp>
        <p:nvSpPr>
          <p:cNvPr id="5" name="Text 3"/>
          <p:cNvSpPr/>
          <p:nvPr/>
        </p:nvSpPr>
        <p:spPr>
          <a:xfrm>
            <a:off x="822960" y="2743200"/>
            <a:ext cx="6949440" cy="2377440"/>
          </a:xfrm>
          <a:prstGeom prst="rect">
            <a:avLst/>
          </a:prstGeom>
          <a:noFill/>
          <a:ln/>
        </p:spPr>
        <p:txBody>
          <a:bodyPr wrap="square" lIns="0" tIns="0" rIns="0" bIns="0" rtlCol="0" anchor="t"/>
          <a:lstStyle/>
          <a:p>
            <a:pPr indent="0" marL="0">
              <a:lnSpc>
                <a:spcPts val="4800"/>
              </a:lnSpc>
              <a:buNone/>
            </a:pPr>
            <a:r>
              <a:rPr lang="en-US" sz="4400" dirty="0">
                <a:solidFill>
                  <a:srgbClr val="FAF8F1"/>
                </a:solidFill>
                <a:latin typeface="Georgia" pitchFamily="34" charset="0"/>
                <a:ea typeface="Georgia" pitchFamily="34" charset="-122"/>
                <a:cs typeface="Georgia" pitchFamily="34" charset="-120"/>
              </a:rPr>
              <a:t>With their failure</a:t>
            </a:r>
            <a:endParaRPr lang="en-US" sz="4400" dirty="0"/>
          </a:p>
          <a:p>
            <a:pPr indent="0" marL="0">
              <a:lnSpc>
                <a:spcPts val="4800"/>
              </a:lnSpc>
              <a:buNone/>
            </a:pPr>
            <a:r>
              <a:rPr lang="en-US" sz="4400" dirty="0">
                <a:solidFill>
                  <a:srgbClr val="FAF8F1"/>
                </a:solidFill>
                <a:latin typeface="Georgia" pitchFamily="34" charset="0"/>
                <a:ea typeface="Georgia" pitchFamily="34" charset="-122"/>
                <a:cs typeface="Georgia" pitchFamily="34" charset="-120"/>
              </a:rPr>
              <a:t>conditions attached.</a:t>
            </a:r>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TODOROV · THE NARRATIVE ARC</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WHERE IS THE DISTURBANCE IN YOUR OPENING?</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Five stages, one movement</a:t>
            </a:r>
            <a:endParaRPr lang="en-US" sz="3200" dirty="0"/>
          </a:p>
        </p:txBody>
      </p:sp>
      <p:sp>
        <p:nvSpPr>
          <p:cNvPr id="6" name="Shape 4"/>
          <p:cNvSpPr/>
          <p:nvPr/>
        </p:nvSpPr>
        <p:spPr>
          <a:xfrm>
            <a:off x="1877263" y="3657600"/>
            <a:ext cx="8434426" cy="0"/>
          </a:xfrm>
          <a:prstGeom prst="line">
            <a:avLst/>
          </a:prstGeom>
          <a:noFill/>
          <a:ln w="19050">
            <a:solidFill>
              <a:srgbClr val="8AA394"/>
            </a:solidFill>
            <a:prstDash val="solid"/>
          </a:ln>
        </p:spPr>
      </p:sp>
      <p:sp>
        <p:nvSpPr>
          <p:cNvPr id="7" name="Text 5"/>
          <p:cNvSpPr/>
          <p:nvPr/>
        </p:nvSpPr>
        <p:spPr>
          <a:xfrm>
            <a:off x="1602943" y="3383280"/>
            <a:ext cx="548640" cy="548640"/>
          </a:xfrm>
          <a:prstGeom prst="ellipse">
            <a:avLst/>
          </a:prstGeom>
          <a:solidFill>
            <a:srgbClr val="4A6B5D"/>
          </a:solidFill>
          <a:ln/>
        </p:spPr>
        <p:txBody>
          <a:bodyPr wrap="square" lIns="0" tIns="0" rIns="0" bIns="0" rtlCol="0" anchor="ctr"/>
          <a:lstStyle/>
          <a:p>
            <a:pPr algn="ctr" indent="0" marL="0">
              <a:buNone/>
            </a:pPr>
            <a:r>
              <a:rPr lang="en-US" sz="2200" dirty="0">
                <a:solidFill>
                  <a:srgbClr val="FAF8F1"/>
                </a:solidFill>
                <a:latin typeface="Georgia" pitchFamily="34" charset="0"/>
                <a:ea typeface="Georgia" pitchFamily="34" charset="-122"/>
                <a:cs typeface="Georgia" pitchFamily="34" charset="-120"/>
              </a:rPr>
              <a:t>1</a:t>
            </a:r>
            <a:endParaRPr lang="en-US" sz="2200" dirty="0"/>
          </a:p>
        </p:txBody>
      </p:sp>
      <p:sp>
        <p:nvSpPr>
          <p:cNvPr id="8" name="Text 6"/>
          <p:cNvSpPr/>
          <p:nvPr/>
        </p:nvSpPr>
        <p:spPr>
          <a:xfrm>
            <a:off x="914400" y="2606040"/>
            <a:ext cx="1925726" cy="640080"/>
          </a:xfrm>
          <a:prstGeom prst="rect">
            <a:avLst/>
          </a:prstGeom>
          <a:noFill/>
          <a:ln/>
        </p:spPr>
        <p:txBody>
          <a:bodyPr wrap="square" lIns="0" tIns="0" rIns="0" bIns="0" rtlCol="0" anchor="b"/>
          <a:lstStyle/>
          <a:p>
            <a:pPr algn="ctr" indent="0" marL="0">
              <a:buNone/>
            </a:pPr>
            <a:r>
              <a:rPr lang="en-US" sz="1700" dirty="0">
                <a:solidFill>
                  <a:srgbClr val="24313F"/>
                </a:solidFill>
                <a:latin typeface="Georgia" pitchFamily="34" charset="0"/>
                <a:ea typeface="Georgia" pitchFamily="34" charset="-122"/>
                <a:cs typeface="Georgia" pitchFamily="34" charset="-120"/>
              </a:rPr>
              <a:t>Equilibrium</a:t>
            </a:r>
            <a:endParaRPr lang="en-US" sz="1700" dirty="0"/>
          </a:p>
        </p:txBody>
      </p:sp>
      <p:sp>
        <p:nvSpPr>
          <p:cNvPr id="9" name="Text 7"/>
          <p:cNvSpPr/>
          <p:nvPr/>
        </p:nvSpPr>
        <p:spPr>
          <a:xfrm>
            <a:off x="914400" y="4069080"/>
            <a:ext cx="1925726" cy="457200"/>
          </a:xfrm>
          <a:prstGeom prst="rect">
            <a:avLst/>
          </a:prstGeom>
          <a:noFill/>
          <a:ln/>
        </p:spPr>
        <p:txBody>
          <a:bodyPr wrap="square" lIns="0" tIns="0" rIns="0" bIns="0" rtlCol="0" anchor="ctr"/>
          <a:lstStyle/>
          <a:p>
            <a:pPr algn="ctr" indent="0" marL="0">
              <a:buNone/>
            </a:pPr>
            <a:r>
              <a:rPr lang="en-US" sz="1150" i="1" dirty="0">
                <a:solidFill>
                  <a:srgbClr val="7A7F72"/>
                </a:solidFill>
                <a:latin typeface="Arial" pitchFamily="34" charset="0"/>
                <a:ea typeface="Arial" pitchFamily="34" charset="-122"/>
                <a:cs typeface="Arial" pitchFamily="34" charset="-120"/>
              </a:rPr>
              <a:t>a stable world</a:t>
            </a:r>
            <a:endParaRPr lang="en-US" sz="1150" dirty="0"/>
          </a:p>
        </p:txBody>
      </p:sp>
      <p:sp>
        <p:nvSpPr>
          <p:cNvPr id="10" name="Text 8"/>
          <p:cNvSpPr/>
          <p:nvPr/>
        </p:nvSpPr>
        <p:spPr>
          <a:xfrm>
            <a:off x="3711550" y="3383280"/>
            <a:ext cx="548640" cy="548640"/>
          </a:xfrm>
          <a:prstGeom prst="ellipse">
            <a:avLst/>
          </a:prstGeom>
          <a:solidFill>
            <a:srgbClr val="4A6B5D"/>
          </a:solidFill>
          <a:ln/>
        </p:spPr>
        <p:txBody>
          <a:bodyPr wrap="square" lIns="0" tIns="0" rIns="0" bIns="0" rtlCol="0" anchor="ctr"/>
          <a:lstStyle/>
          <a:p>
            <a:pPr algn="ctr" indent="0" marL="0">
              <a:buNone/>
            </a:pPr>
            <a:r>
              <a:rPr lang="en-US" sz="2200" dirty="0">
                <a:solidFill>
                  <a:srgbClr val="FAF8F1"/>
                </a:solidFill>
                <a:latin typeface="Georgia" pitchFamily="34" charset="0"/>
                <a:ea typeface="Georgia" pitchFamily="34" charset="-122"/>
                <a:cs typeface="Georgia" pitchFamily="34" charset="-120"/>
              </a:rPr>
              <a:t>2</a:t>
            </a:r>
            <a:endParaRPr lang="en-US" sz="2200" dirty="0"/>
          </a:p>
        </p:txBody>
      </p:sp>
      <p:sp>
        <p:nvSpPr>
          <p:cNvPr id="11" name="Text 9"/>
          <p:cNvSpPr/>
          <p:nvPr/>
        </p:nvSpPr>
        <p:spPr>
          <a:xfrm>
            <a:off x="3023006" y="2606040"/>
            <a:ext cx="1925726" cy="640080"/>
          </a:xfrm>
          <a:prstGeom prst="rect">
            <a:avLst/>
          </a:prstGeom>
          <a:noFill/>
          <a:ln/>
        </p:spPr>
        <p:txBody>
          <a:bodyPr wrap="square" lIns="0" tIns="0" rIns="0" bIns="0" rtlCol="0" anchor="b"/>
          <a:lstStyle/>
          <a:p>
            <a:pPr algn="ctr" indent="0" marL="0">
              <a:buNone/>
            </a:pPr>
            <a:r>
              <a:rPr lang="en-US" sz="1700" dirty="0">
                <a:solidFill>
                  <a:srgbClr val="24313F"/>
                </a:solidFill>
                <a:latin typeface="Georgia" pitchFamily="34" charset="0"/>
                <a:ea typeface="Georgia" pitchFamily="34" charset="-122"/>
                <a:cs typeface="Georgia" pitchFamily="34" charset="-120"/>
              </a:rPr>
              <a:t>Disruption</a:t>
            </a:r>
            <a:endParaRPr lang="en-US" sz="1700" dirty="0"/>
          </a:p>
        </p:txBody>
      </p:sp>
      <p:sp>
        <p:nvSpPr>
          <p:cNvPr id="12" name="Text 10"/>
          <p:cNvSpPr/>
          <p:nvPr/>
        </p:nvSpPr>
        <p:spPr>
          <a:xfrm>
            <a:off x="3023006" y="4069080"/>
            <a:ext cx="1925726" cy="457200"/>
          </a:xfrm>
          <a:prstGeom prst="rect">
            <a:avLst/>
          </a:prstGeom>
          <a:noFill/>
          <a:ln/>
        </p:spPr>
        <p:txBody>
          <a:bodyPr wrap="square" lIns="0" tIns="0" rIns="0" bIns="0" rtlCol="0" anchor="ctr"/>
          <a:lstStyle/>
          <a:p>
            <a:pPr algn="ctr" indent="0" marL="0">
              <a:buNone/>
            </a:pPr>
            <a:r>
              <a:rPr lang="en-US" sz="1150" i="1" dirty="0">
                <a:solidFill>
                  <a:srgbClr val="7A7F72"/>
                </a:solidFill>
                <a:latin typeface="Arial" pitchFamily="34" charset="0"/>
                <a:ea typeface="Arial" pitchFamily="34" charset="-122"/>
                <a:cs typeface="Arial" pitchFamily="34" charset="-120"/>
              </a:rPr>
              <a:t>a force breaks it</a:t>
            </a:r>
            <a:endParaRPr lang="en-US" sz="1150" dirty="0"/>
          </a:p>
        </p:txBody>
      </p:sp>
      <p:sp>
        <p:nvSpPr>
          <p:cNvPr id="13" name="Text 11"/>
          <p:cNvSpPr/>
          <p:nvPr/>
        </p:nvSpPr>
        <p:spPr>
          <a:xfrm>
            <a:off x="5820156" y="3383280"/>
            <a:ext cx="548640" cy="548640"/>
          </a:xfrm>
          <a:prstGeom prst="ellipse">
            <a:avLst/>
          </a:prstGeom>
          <a:solidFill>
            <a:srgbClr val="4A6B5D"/>
          </a:solidFill>
          <a:ln/>
        </p:spPr>
        <p:txBody>
          <a:bodyPr wrap="square" lIns="0" tIns="0" rIns="0" bIns="0" rtlCol="0" anchor="ctr"/>
          <a:lstStyle/>
          <a:p>
            <a:pPr algn="ctr" indent="0" marL="0">
              <a:buNone/>
            </a:pPr>
            <a:r>
              <a:rPr lang="en-US" sz="2200" dirty="0">
                <a:solidFill>
                  <a:srgbClr val="FAF8F1"/>
                </a:solidFill>
                <a:latin typeface="Georgia" pitchFamily="34" charset="0"/>
                <a:ea typeface="Georgia" pitchFamily="34" charset="-122"/>
                <a:cs typeface="Georgia" pitchFamily="34" charset="-120"/>
              </a:rPr>
              <a:t>3</a:t>
            </a:r>
            <a:endParaRPr lang="en-US" sz="2200" dirty="0"/>
          </a:p>
        </p:txBody>
      </p:sp>
      <p:sp>
        <p:nvSpPr>
          <p:cNvPr id="14" name="Text 12"/>
          <p:cNvSpPr/>
          <p:nvPr/>
        </p:nvSpPr>
        <p:spPr>
          <a:xfrm>
            <a:off x="5131613" y="2606040"/>
            <a:ext cx="1925726" cy="640080"/>
          </a:xfrm>
          <a:prstGeom prst="rect">
            <a:avLst/>
          </a:prstGeom>
          <a:noFill/>
          <a:ln/>
        </p:spPr>
        <p:txBody>
          <a:bodyPr wrap="square" lIns="0" tIns="0" rIns="0" bIns="0" rtlCol="0" anchor="b"/>
          <a:lstStyle/>
          <a:p>
            <a:pPr algn="ctr" indent="0" marL="0">
              <a:buNone/>
            </a:pPr>
            <a:r>
              <a:rPr lang="en-US" sz="1700" dirty="0">
                <a:solidFill>
                  <a:srgbClr val="24313F"/>
                </a:solidFill>
                <a:latin typeface="Georgia" pitchFamily="34" charset="0"/>
                <a:ea typeface="Georgia" pitchFamily="34" charset="-122"/>
                <a:cs typeface="Georgia" pitchFamily="34" charset="-120"/>
              </a:rPr>
              <a:t>Recognition</a:t>
            </a:r>
            <a:endParaRPr lang="en-US" sz="1700" dirty="0"/>
          </a:p>
        </p:txBody>
      </p:sp>
      <p:sp>
        <p:nvSpPr>
          <p:cNvPr id="15" name="Text 13"/>
          <p:cNvSpPr/>
          <p:nvPr/>
        </p:nvSpPr>
        <p:spPr>
          <a:xfrm>
            <a:off x="5131613" y="4069080"/>
            <a:ext cx="1925726" cy="457200"/>
          </a:xfrm>
          <a:prstGeom prst="rect">
            <a:avLst/>
          </a:prstGeom>
          <a:noFill/>
          <a:ln/>
        </p:spPr>
        <p:txBody>
          <a:bodyPr wrap="square" lIns="0" tIns="0" rIns="0" bIns="0" rtlCol="0" anchor="ctr"/>
          <a:lstStyle/>
          <a:p>
            <a:pPr algn="ctr" indent="0" marL="0">
              <a:buNone/>
            </a:pPr>
            <a:r>
              <a:rPr lang="en-US" sz="1150" i="1" dirty="0">
                <a:solidFill>
                  <a:srgbClr val="7A7F72"/>
                </a:solidFill>
                <a:latin typeface="Arial" pitchFamily="34" charset="0"/>
                <a:ea typeface="Arial" pitchFamily="34" charset="-122"/>
                <a:cs typeface="Arial" pitchFamily="34" charset="-120"/>
              </a:rPr>
              <a:t>the break is seen</a:t>
            </a:r>
            <a:endParaRPr lang="en-US" sz="1150" dirty="0"/>
          </a:p>
        </p:txBody>
      </p:sp>
      <p:sp>
        <p:nvSpPr>
          <p:cNvPr id="16" name="Text 14"/>
          <p:cNvSpPr/>
          <p:nvPr/>
        </p:nvSpPr>
        <p:spPr>
          <a:xfrm>
            <a:off x="7928762" y="3383280"/>
            <a:ext cx="548640" cy="548640"/>
          </a:xfrm>
          <a:prstGeom prst="ellipse">
            <a:avLst/>
          </a:prstGeom>
          <a:solidFill>
            <a:srgbClr val="4A6B5D"/>
          </a:solidFill>
          <a:ln/>
        </p:spPr>
        <p:txBody>
          <a:bodyPr wrap="square" lIns="0" tIns="0" rIns="0" bIns="0" rtlCol="0" anchor="ctr"/>
          <a:lstStyle/>
          <a:p>
            <a:pPr algn="ctr" indent="0" marL="0">
              <a:buNone/>
            </a:pPr>
            <a:r>
              <a:rPr lang="en-US" sz="2200" dirty="0">
                <a:solidFill>
                  <a:srgbClr val="FAF8F1"/>
                </a:solidFill>
                <a:latin typeface="Georgia" pitchFamily="34" charset="0"/>
                <a:ea typeface="Georgia" pitchFamily="34" charset="-122"/>
                <a:cs typeface="Georgia" pitchFamily="34" charset="-120"/>
              </a:rPr>
              <a:t>4</a:t>
            </a:r>
            <a:endParaRPr lang="en-US" sz="2200" dirty="0"/>
          </a:p>
        </p:txBody>
      </p:sp>
      <p:sp>
        <p:nvSpPr>
          <p:cNvPr id="17" name="Text 15"/>
          <p:cNvSpPr/>
          <p:nvPr/>
        </p:nvSpPr>
        <p:spPr>
          <a:xfrm>
            <a:off x="7240219" y="2606040"/>
            <a:ext cx="1925726" cy="640080"/>
          </a:xfrm>
          <a:prstGeom prst="rect">
            <a:avLst/>
          </a:prstGeom>
          <a:noFill/>
          <a:ln/>
        </p:spPr>
        <p:txBody>
          <a:bodyPr wrap="square" lIns="0" tIns="0" rIns="0" bIns="0" rtlCol="0" anchor="b"/>
          <a:lstStyle/>
          <a:p>
            <a:pPr algn="ctr" indent="0" marL="0">
              <a:buNone/>
            </a:pPr>
            <a:r>
              <a:rPr lang="en-US" sz="1700" dirty="0">
                <a:solidFill>
                  <a:srgbClr val="24313F"/>
                </a:solidFill>
                <a:latin typeface="Georgia" pitchFamily="34" charset="0"/>
                <a:ea typeface="Georgia" pitchFamily="34" charset="-122"/>
                <a:cs typeface="Georgia" pitchFamily="34" charset="-120"/>
              </a:rPr>
              <a:t>Repair</a:t>
            </a:r>
            <a:endParaRPr lang="en-US" sz="1700" dirty="0"/>
          </a:p>
        </p:txBody>
      </p:sp>
      <p:sp>
        <p:nvSpPr>
          <p:cNvPr id="18" name="Text 16"/>
          <p:cNvSpPr/>
          <p:nvPr/>
        </p:nvSpPr>
        <p:spPr>
          <a:xfrm>
            <a:off x="7240219" y="4069080"/>
            <a:ext cx="1925726" cy="457200"/>
          </a:xfrm>
          <a:prstGeom prst="rect">
            <a:avLst/>
          </a:prstGeom>
          <a:noFill/>
          <a:ln/>
        </p:spPr>
        <p:txBody>
          <a:bodyPr wrap="square" lIns="0" tIns="0" rIns="0" bIns="0" rtlCol="0" anchor="ctr"/>
          <a:lstStyle/>
          <a:p>
            <a:pPr algn="ctr" indent="0" marL="0">
              <a:buNone/>
            </a:pPr>
            <a:r>
              <a:rPr lang="en-US" sz="1150" i="1" dirty="0">
                <a:solidFill>
                  <a:srgbClr val="7A7F72"/>
                </a:solidFill>
                <a:latin typeface="Arial" pitchFamily="34" charset="0"/>
                <a:ea typeface="Arial" pitchFamily="34" charset="-122"/>
                <a:cs typeface="Arial" pitchFamily="34" charset="-120"/>
              </a:rPr>
              <a:t>an attempt to fix</a:t>
            </a:r>
            <a:endParaRPr lang="en-US" sz="1150" dirty="0"/>
          </a:p>
        </p:txBody>
      </p:sp>
      <p:sp>
        <p:nvSpPr>
          <p:cNvPr id="19" name="Text 17"/>
          <p:cNvSpPr/>
          <p:nvPr/>
        </p:nvSpPr>
        <p:spPr>
          <a:xfrm>
            <a:off x="10037369" y="3383280"/>
            <a:ext cx="548640" cy="548640"/>
          </a:xfrm>
          <a:prstGeom prst="ellipse">
            <a:avLst/>
          </a:prstGeom>
          <a:solidFill>
            <a:srgbClr val="4A6B5D"/>
          </a:solidFill>
          <a:ln/>
        </p:spPr>
        <p:txBody>
          <a:bodyPr wrap="square" lIns="0" tIns="0" rIns="0" bIns="0" rtlCol="0" anchor="ctr"/>
          <a:lstStyle/>
          <a:p>
            <a:pPr algn="ctr" indent="0" marL="0">
              <a:buNone/>
            </a:pPr>
            <a:r>
              <a:rPr lang="en-US" sz="2200" dirty="0">
                <a:solidFill>
                  <a:srgbClr val="FAF8F1"/>
                </a:solidFill>
                <a:latin typeface="Georgia" pitchFamily="34" charset="0"/>
                <a:ea typeface="Georgia" pitchFamily="34" charset="-122"/>
                <a:cs typeface="Georgia" pitchFamily="34" charset="-120"/>
              </a:rPr>
              <a:t>5</a:t>
            </a:r>
            <a:endParaRPr lang="en-US" sz="2200" dirty="0"/>
          </a:p>
        </p:txBody>
      </p:sp>
      <p:sp>
        <p:nvSpPr>
          <p:cNvPr id="20" name="Text 18"/>
          <p:cNvSpPr/>
          <p:nvPr/>
        </p:nvSpPr>
        <p:spPr>
          <a:xfrm>
            <a:off x="9348826" y="2606040"/>
            <a:ext cx="1925726" cy="640080"/>
          </a:xfrm>
          <a:prstGeom prst="rect">
            <a:avLst/>
          </a:prstGeom>
          <a:noFill/>
          <a:ln/>
        </p:spPr>
        <p:txBody>
          <a:bodyPr wrap="square" lIns="0" tIns="0" rIns="0" bIns="0" rtlCol="0" anchor="b"/>
          <a:lstStyle/>
          <a:p>
            <a:pPr algn="ctr" indent="0" marL="0">
              <a:buNone/>
            </a:pPr>
            <a:r>
              <a:rPr lang="en-US" sz="1700" dirty="0">
                <a:solidFill>
                  <a:srgbClr val="24313F"/>
                </a:solidFill>
                <a:latin typeface="Georgia" pitchFamily="34" charset="0"/>
                <a:ea typeface="Georgia" pitchFamily="34" charset="-122"/>
                <a:cs typeface="Georgia" pitchFamily="34" charset="-120"/>
              </a:rPr>
              <a:t>New equilibrium</a:t>
            </a:r>
            <a:endParaRPr lang="en-US" sz="1700" dirty="0"/>
          </a:p>
        </p:txBody>
      </p:sp>
      <p:sp>
        <p:nvSpPr>
          <p:cNvPr id="21" name="Text 19"/>
          <p:cNvSpPr/>
          <p:nvPr/>
        </p:nvSpPr>
        <p:spPr>
          <a:xfrm>
            <a:off x="9348826" y="4069080"/>
            <a:ext cx="1925726" cy="457200"/>
          </a:xfrm>
          <a:prstGeom prst="rect">
            <a:avLst/>
          </a:prstGeom>
          <a:noFill/>
          <a:ln/>
        </p:spPr>
        <p:txBody>
          <a:bodyPr wrap="square" lIns="0" tIns="0" rIns="0" bIns="0" rtlCol="0" anchor="ctr"/>
          <a:lstStyle/>
          <a:p>
            <a:pPr algn="ctr" indent="0" marL="0">
              <a:buNone/>
            </a:pPr>
            <a:r>
              <a:rPr lang="en-US" sz="1150" i="1" dirty="0">
                <a:solidFill>
                  <a:srgbClr val="7A7F72"/>
                </a:solidFill>
                <a:latin typeface="Arial" pitchFamily="34" charset="0"/>
                <a:ea typeface="Arial" pitchFamily="34" charset="-122"/>
                <a:cs typeface="Arial" pitchFamily="34" charset="-120"/>
              </a:rPr>
              <a:t>a changed calm</a:t>
            </a:r>
            <a:endParaRPr lang="en-US" sz="1150" dirty="0"/>
          </a:p>
        </p:txBody>
      </p:sp>
      <p:sp>
        <p:nvSpPr>
          <p:cNvPr id="22" name="Text 20"/>
          <p:cNvSpPr/>
          <p:nvPr/>
        </p:nvSpPr>
        <p:spPr>
          <a:xfrm>
            <a:off x="822960" y="5120640"/>
            <a:ext cx="10543032" cy="457200"/>
          </a:xfrm>
          <a:prstGeom prst="rect">
            <a:avLst/>
          </a:prstGeom>
          <a:noFill/>
          <a:ln/>
        </p:spPr>
        <p:txBody>
          <a:bodyPr wrap="square" lIns="0" tIns="0" rIns="0" bIns="0" rtlCol="0" anchor="ctr"/>
          <a:lstStyle/>
          <a:p>
            <a:pPr indent="0" marL="0">
              <a:buNone/>
            </a:pPr>
            <a:r>
              <a:rPr lang="en-US" sz="1250" i="1" dirty="0">
                <a:solidFill>
                  <a:srgbClr val="7A7F72"/>
                </a:solidFill>
                <a:latin typeface="Arial" pitchFamily="34" charset="0"/>
                <a:ea typeface="Arial" pitchFamily="34" charset="-122"/>
                <a:cs typeface="Arial" pitchFamily="34" charset="-120"/>
              </a:rPr>
              <a:t>The caveat that earns marks: the model fails on non-linear narratives, and saying so is the top-band move.</a:t>
            </a:r>
            <a:endParaRPr lang="en-US" sz="1250" dirty="0"/>
          </a:p>
        </p:txBody>
      </p:sp>
      <p:sp>
        <p:nvSpPr>
          <p:cNvPr id="23" name="Shape 21"/>
          <p:cNvSpPr/>
          <p:nvPr/>
        </p:nvSpPr>
        <p:spPr>
          <a:xfrm>
            <a:off x="822960" y="6382512"/>
            <a:ext cx="10543032" cy="0"/>
          </a:xfrm>
          <a:prstGeom prst="line">
            <a:avLst/>
          </a:prstGeom>
          <a:noFill/>
          <a:ln w="9525">
            <a:solidFill>
              <a:srgbClr val="D9D4C4"/>
            </a:solidFill>
            <a:prstDash val="solid"/>
          </a:ln>
        </p:spPr>
      </p:sp>
      <p:sp>
        <p:nvSpPr>
          <p:cNvPr id="24" name="Text 22"/>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5" name="Text 23"/>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783080"/>
            <a:ext cx="10424160" cy="3291840"/>
          </a:xfrm>
          <a:prstGeom prst="rect">
            <a:avLst/>
          </a:prstGeom>
          <a:noFill/>
          <a:ln/>
        </p:spPr>
        <p:txBody>
          <a:bodyPr wrap="square" lIns="0" tIns="0" rIns="0" bIns="0" rtlCol="0" anchor="ctr"/>
          <a:lstStyle/>
          <a:p>
            <a:pPr indent="0" marL="0">
              <a:lnSpc>
                <a:spcPts val="5000"/>
              </a:lnSpc>
              <a:buNone/>
            </a:pPr>
            <a:r>
              <a:rPr lang="en-US" sz="4200" dirty="0">
                <a:solidFill>
                  <a:srgbClr val="24313F"/>
                </a:solidFill>
                <a:latin typeface="Georgia" pitchFamily="34" charset="0"/>
                <a:ea typeface="Georgia" pitchFamily="34" charset="-122"/>
                <a:cs typeface="Georgia" pitchFamily="34" charset="-120"/>
              </a:rPr>
              <a:t>The minimal complete plot can be seen as the shift from one equilibrium to another.</a:t>
            </a:r>
            <a:endParaRPr lang="en-US" sz="4200" dirty="0"/>
          </a:p>
        </p:txBody>
      </p:sp>
      <p:sp>
        <p:nvSpPr>
          <p:cNvPr id="4" name="Shape 2"/>
          <p:cNvSpPr/>
          <p:nvPr/>
        </p:nvSpPr>
        <p:spPr>
          <a:xfrm>
            <a:off x="822960" y="5029200"/>
            <a:ext cx="914400" cy="0"/>
          </a:xfrm>
          <a:prstGeom prst="line">
            <a:avLst/>
          </a:prstGeom>
          <a:noFill/>
          <a:ln w="31750">
            <a:solidFill>
              <a:srgbClr val="8C3A38"/>
            </a:solidFill>
            <a:prstDash val="solid"/>
          </a:ln>
        </p:spPr>
      </p:sp>
      <p:sp>
        <p:nvSpPr>
          <p:cNvPr id="5" name="Text 3"/>
          <p:cNvSpPr/>
          <p:nvPr/>
        </p:nvSpPr>
        <p:spPr>
          <a:xfrm>
            <a:off x="822960" y="5212080"/>
            <a:ext cx="100584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Tzvetan Todorov, The Poetics of Prose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PROPP · CHARACTERS BY FUNCTION</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WHAT THEY DO, NOT WHO THEY ARE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Seven roles a story fills</a:t>
            </a:r>
            <a:endParaRPr lang="en-US" sz="3200" dirty="0"/>
          </a:p>
        </p:txBody>
      </p:sp>
      <p:sp>
        <p:nvSpPr>
          <p:cNvPr id="6" name="Shape 4"/>
          <p:cNvSpPr/>
          <p:nvPr/>
        </p:nvSpPr>
        <p:spPr>
          <a:xfrm>
            <a:off x="822960" y="1737360"/>
            <a:ext cx="10543032" cy="0"/>
          </a:xfrm>
          <a:prstGeom prst="line">
            <a:avLst/>
          </a:prstGeom>
          <a:noFill/>
          <a:ln w="12700">
            <a:solidFill>
              <a:srgbClr val="24313F"/>
            </a:solidFill>
            <a:prstDash val="solid"/>
          </a:ln>
        </p:spPr>
      </p:sp>
      <p:sp>
        <p:nvSpPr>
          <p:cNvPr id="7" name="Text 5"/>
          <p:cNvSpPr/>
          <p:nvPr/>
        </p:nvSpPr>
        <p:spPr>
          <a:xfrm>
            <a:off x="822960" y="1737360"/>
            <a:ext cx="2926080" cy="548640"/>
          </a:xfrm>
          <a:prstGeom prst="rect">
            <a:avLst/>
          </a:prstGeom>
          <a:noFill/>
          <a:ln/>
        </p:spPr>
        <p:txBody>
          <a:bodyPr wrap="square" lIns="0" tIns="0" rIns="0" bIns="0" rtlCol="0" anchor="ctr"/>
          <a:lstStyle/>
          <a:p>
            <a:pPr indent="0" marL="0">
              <a:buNone/>
            </a:pPr>
            <a:r>
              <a:rPr lang="en-US" sz="1800" dirty="0">
                <a:solidFill>
                  <a:srgbClr val="4A6B5D"/>
                </a:solidFill>
                <a:latin typeface="Georgia" pitchFamily="34" charset="0"/>
                <a:ea typeface="Georgia" pitchFamily="34" charset="-122"/>
                <a:cs typeface="Georgia" pitchFamily="34" charset="-120"/>
              </a:rPr>
              <a:t>Hero</a:t>
            </a:r>
            <a:endParaRPr lang="en-US" sz="1800" dirty="0"/>
          </a:p>
        </p:txBody>
      </p:sp>
      <p:sp>
        <p:nvSpPr>
          <p:cNvPr id="8" name="Text 6"/>
          <p:cNvSpPr/>
          <p:nvPr/>
        </p:nvSpPr>
        <p:spPr>
          <a:xfrm>
            <a:off x="3840480" y="1737360"/>
            <a:ext cx="7498080" cy="548640"/>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seeks, and is tested</a:t>
            </a:r>
            <a:endParaRPr lang="en-US" sz="1600" dirty="0"/>
          </a:p>
        </p:txBody>
      </p:sp>
      <p:sp>
        <p:nvSpPr>
          <p:cNvPr id="9" name="Shape 7"/>
          <p:cNvSpPr/>
          <p:nvPr/>
        </p:nvSpPr>
        <p:spPr>
          <a:xfrm>
            <a:off x="822960" y="2286000"/>
            <a:ext cx="10543032" cy="0"/>
          </a:xfrm>
          <a:prstGeom prst="line">
            <a:avLst/>
          </a:prstGeom>
          <a:noFill/>
          <a:ln w="9525">
            <a:solidFill>
              <a:srgbClr val="D9D4C4"/>
            </a:solidFill>
            <a:prstDash val="solid"/>
          </a:ln>
        </p:spPr>
      </p:sp>
      <p:sp>
        <p:nvSpPr>
          <p:cNvPr id="10" name="Text 8"/>
          <p:cNvSpPr/>
          <p:nvPr/>
        </p:nvSpPr>
        <p:spPr>
          <a:xfrm>
            <a:off x="822960" y="2286000"/>
            <a:ext cx="2926080" cy="548640"/>
          </a:xfrm>
          <a:prstGeom prst="rect">
            <a:avLst/>
          </a:prstGeom>
          <a:noFill/>
          <a:ln/>
        </p:spPr>
        <p:txBody>
          <a:bodyPr wrap="square" lIns="0" tIns="0" rIns="0" bIns="0" rtlCol="0" anchor="ctr"/>
          <a:lstStyle/>
          <a:p>
            <a:pPr indent="0" marL="0">
              <a:buNone/>
            </a:pPr>
            <a:r>
              <a:rPr lang="en-US" sz="1800" dirty="0">
                <a:solidFill>
                  <a:srgbClr val="4A6B5D"/>
                </a:solidFill>
                <a:latin typeface="Georgia" pitchFamily="34" charset="0"/>
                <a:ea typeface="Georgia" pitchFamily="34" charset="-122"/>
                <a:cs typeface="Georgia" pitchFamily="34" charset="-120"/>
              </a:rPr>
              <a:t>Villain</a:t>
            </a:r>
            <a:endParaRPr lang="en-US" sz="1800" dirty="0"/>
          </a:p>
        </p:txBody>
      </p:sp>
      <p:sp>
        <p:nvSpPr>
          <p:cNvPr id="11" name="Text 9"/>
          <p:cNvSpPr/>
          <p:nvPr/>
        </p:nvSpPr>
        <p:spPr>
          <a:xfrm>
            <a:off x="3840480" y="2286000"/>
            <a:ext cx="7498080" cy="548640"/>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struggles against the hero</a:t>
            </a:r>
            <a:endParaRPr lang="en-US" sz="1600" dirty="0"/>
          </a:p>
        </p:txBody>
      </p:sp>
      <p:sp>
        <p:nvSpPr>
          <p:cNvPr id="12" name="Shape 10"/>
          <p:cNvSpPr/>
          <p:nvPr/>
        </p:nvSpPr>
        <p:spPr>
          <a:xfrm>
            <a:off x="822960" y="2834640"/>
            <a:ext cx="10543032" cy="0"/>
          </a:xfrm>
          <a:prstGeom prst="line">
            <a:avLst/>
          </a:prstGeom>
          <a:noFill/>
          <a:ln w="9525">
            <a:solidFill>
              <a:srgbClr val="D9D4C4"/>
            </a:solidFill>
            <a:prstDash val="solid"/>
          </a:ln>
        </p:spPr>
      </p:sp>
      <p:sp>
        <p:nvSpPr>
          <p:cNvPr id="13" name="Text 11"/>
          <p:cNvSpPr/>
          <p:nvPr/>
        </p:nvSpPr>
        <p:spPr>
          <a:xfrm>
            <a:off x="822960" y="2834640"/>
            <a:ext cx="2926080" cy="548640"/>
          </a:xfrm>
          <a:prstGeom prst="rect">
            <a:avLst/>
          </a:prstGeom>
          <a:noFill/>
          <a:ln/>
        </p:spPr>
        <p:txBody>
          <a:bodyPr wrap="square" lIns="0" tIns="0" rIns="0" bIns="0" rtlCol="0" anchor="ctr"/>
          <a:lstStyle/>
          <a:p>
            <a:pPr indent="0" marL="0">
              <a:buNone/>
            </a:pPr>
            <a:r>
              <a:rPr lang="en-US" sz="1800" dirty="0">
                <a:solidFill>
                  <a:srgbClr val="4A6B5D"/>
                </a:solidFill>
                <a:latin typeface="Georgia" pitchFamily="34" charset="0"/>
                <a:ea typeface="Georgia" pitchFamily="34" charset="-122"/>
                <a:cs typeface="Georgia" pitchFamily="34" charset="-120"/>
              </a:rPr>
              <a:t>Donor</a:t>
            </a:r>
            <a:endParaRPr lang="en-US" sz="1800" dirty="0"/>
          </a:p>
        </p:txBody>
      </p:sp>
      <p:sp>
        <p:nvSpPr>
          <p:cNvPr id="14" name="Text 12"/>
          <p:cNvSpPr/>
          <p:nvPr/>
        </p:nvSpPr>
        <p:spPr>
          <a:xfrm>
            <a:off x="3840480" y="2834640"/>
            <a:ext cx="7498080" cy="548640"/>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gives the hero a tool or gift</a:t>
            </a:r>
            <a:endParaRPr lang="en-US" sz="1600" dirty="0"/>
          </a:p>
        </p:txBody>
      </p:sp>
      <p:sp>
        <p:nvSpPr>
          <p:cNvPr id="15" name="Shape 13"/>
          <p:cNvSpPr/>
          <p:nvPr/>
        </p:nvSpPr>
        <p:spPr>
          <a:xfrm>
            <a:off x="822960" y="3383280"/>
            <a:ext cx="10543032" cy="0"/>
          </a:xfrm>
          <a:prstGeom prst="line">
            <a:avLst/>
          </a:prstGeom>
          <a:noFill/>
          <a:ln w="9525">
            <a:solidFill>
              <a:srgbClr val="D9D4C4"/>
            </a:solidFill>
            <a:prstDash val="solid"/>
          </a:ln>
        </p:spPr>
      </p:sp>
      <p:sp>
        <p:nvSpPr>
          <p:cNvPr id="16" name="Text 14"/>
          <p:cNvSpPr/>
          <p:nvPr/>
        </p:nvSpPr>
        <p:spPr>
          <a:xfrm>
            <a:off x="822960" y="3383280"/>
            <a:ext cx="2926080" cy="548640"/>
          </a:xfrm>
          <a:prstGeom prst="rect">
            <a:avLst/>
          </a:prstGeom>
          <a:noFill/>
          <a:ln/>
        </p:spPr>
        <p:txBody>
          <a:bodyPr wrap="square" lIns="0" tIns="0" rIns="0" bIns="0" rtlCol="0" anchor="ctr"/>
          <a:lstStyle/>
          <a:p>
            <a:pPr indent="0" marL="0">
              <a:buNone/>
            </a:pPr>
            <a:r>
              <a:rPr lang="en-US" sz="1800" dirty="0">
                <a:solidFill>
                  <a:srgbClr val="4A6B5D"/>
                </a:solidFill>
                <a:latin typeface="Georgia" pitchFamily="34" charset="0"/>
                <a:ea typeface="Georgia" pitchFamily="34" charset="-122"/>
                <a:cs typeface="Georgia" pitchFamily="34" charset="-120"/>
              </a:rPr>
              <a:t>Helper</a:t>
            </a:r>
            <a:endParaRPr lang="en-US" sz="1800" dirty="0"/>
          </a:p>
        </p:txBody>
      </p:sp>
      <p:sp>
        <p:nvSpPr>
          <p:cNvPr id="17" name="Text 15"/>
          <p:cNvSpPr/>
          <p:nvPr/>
        </p:nvSpPr>
        <p:spPr>
          <a:xfrm>
            <a:off x="3840480" y="3383280"/>
            <a:ext cx="7498080" cy="548640"/>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aids the hero on the way</a:t>
            </a:r>
            <a:endParaRPr lang="en-US" sz="1600" dirty="0"/>
          </a:p>
        </p:txBody>
      </p:sp>
      <p:sp>
        <p:nvSpPr>
          <p:cNvPr id="18" name="Shape 16"/>
          <p:cNvSpPr/>
          <p:nvPr/>
        </p:nvSpPr>
        <p:spPr>
          <a:xfrm>
            <a:off x="822960" y="3931920"/>
            <a:ext cx="10543032" cy="0"/>
          </a:xfrm>
          <a:prstGeom prst="line">
            <a:avLst/>
          </a:prstGeom>
          <a:noFill/>
          <a:ln w="9525">
            <a:solidFill>
              <a:srgbClr val="D9D4C4"/>
            </a:solidFill>
            <a:prstDash val="solid"/>
          </a:ln>
        </p:spPr>
      </p:sp>
      <p:sp>
        <p:nvSpPr>
          <p:cNvPr id="19" name="Text 17"/>
          <p:cNvSpPr/>
          <p:nvPr/>
        </p:nvSpPr>
        <p:spPr>
          <a:xfrm>
            <a:off x="822960" y="3931920"/>
            <a:ext cx="2926080" cy="548640"/>
          </a:xfrm>
          <a:prstGeom prst="rect">
            <a:avLst/>
          </a:prstGeom>
          <a:noFill/>
          <a:ln/>
        </p:spPr>
        <p:txBody>
          <a:bodyPr wrap="square" lIns="0" tIns="0" rIns="0" bIns="0" rtlCol="0" anchor="ctr"/>
          <a:lstStyle/>
          <a:p>
            <a:pPr indent="0" marL="0">
              <a:buNone/>
            </a:pPr>
            <a:r>
              <a:rPr lang="en-US" sz="1800" dirty="0">
                <a:solidFill>
                  <a:srgbClr val="4A6B5D"/>
                </a:solidFill>
                <a:latin typeface="Georgia" pitchFamily="34" charset="0"/>
                <a:ea typeface="Georgia" pitchFamily="34" charset="-122"/>
                <a:cs typeface="Georgia" pitchFamily="34" charset="-120"/>
              </a:rPr>
              <a:t>Princess</a:t>
            </a:r>
            <a:endParaRPr lang="en-US" sz="1800" dirty="0"/>
          </a:p>
        </p:txBody>
      </p:sp>
      <p:sp>
        <p:nvSpPr>
          <p:cNvPr id="20" name="Text 18"/>
          <p:cNvSpPr/>
          <p:nvPr/>
        </p:nvSpPr>
        <p:spPr>
          <a:xfrm>
            <a:off x="3840480" y="3931920"/>
            <a:ext cx="7498080" cy="548640"/>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the sought-for person or prize</a:t>
            </a:r>
            <a:endParaRPr lang="en-US" sz="1600" dirty="0"/>
          </a:p>
        </p:txBody>
      </p:sp>
      <p:sp>
        <p:nvSpPr>
          <p:cNvPr id="21" name="Shape 19"/>
          <p:cNvSpPr/>
          <p:nvPr/>
        </p:nvSpPr>
        <p:spPr>
          <a:xfrm>
            <a:off x="822960" y="4480560"/>
            <a:ext cx="10543032" cy="0"/>
          </a:xfrm>
          <a:prstGeom prst="line">
            <a:avLst/>
          </a:prstGeom>
          <a:noFill/>
          <a:ln w="9525">
            <a:solidFill>
              <a:srgbClr val="D9D4C4"/>
            </a:solidFill>
            <a:prstDash val="solid"/>
          </a:ln>
        </p:spPr>
      </p:sp>
      <p:sp>
        <p:nvSpPr>
          <p:cNvPr id="22" name="Text 20"/>
          <p:cNvSpPr/>
          <p:nvPr/>
        </p:nvSpPr>
        <p:spPr>
          <a:xfrm>
            <a:off x="822960" y="4480560"/>
            <a:ext cx="2926080" cy="548640"/>
          </a:xfrm>
          <a:prstGeom prst="rect">
            <a:avLst/>
          </a:prstGeom>
          <a:noFill/>
          <a:ln/>
        </p:spPr>
        <p:txBody>
          <a:bodyPr wrap="square" lIns="0" tIns="0" rIns="0" bIns="0" rtlCol="0" anchor="ctr"/>
          <a:lstStyle/>
          <a:p>
            <a:pPr indent="0" marL="0">
              <a:buNone/>
            </a:pPr>
            <a:r>
              <a:rPr lang="en-US" sz="1800" dirty="0">
                <a:solidFill>
                  <a:srgbClr val="4A6B5D"/>
                </a:solidFill>
                <a:latin typeface="Georgia" pitchFamily="34" charset="0"/>
                <a:ea typeface="Georgia" pitchFamily="34" charset="-122"/>
                <a:cs typeface="Georgia" pitchFamily="34" charset="-120"/>
              </a:rPr>
              <a:t>Dispatcher</a:t>
            </a:r>
            <a:endParaRPr lang="en-US" sz="1800" dirty="0"/>
          </a:p>
        </p:txBody>
      </p:sp>
      <p:sp>
        <p:nvSpPr>
          <p:cNvPr id="23" name="Text 21"/>
          <p:cNvSpPr/>
          <p:nvPr/>
        </p:nvSpPr>
        <p:spPr>
          <a:xfrm>
            <a:off x="3840480" y="4480560"/>
            <a:ext cx="7498080" cy="548640"/>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sends the hero out</a:t>
            </a:r>
            <a:endParaRPr lang="en-US" sz="1600" dirty="0"/>
          </a:p>
        </p:txBody>
      </p:sp>
      <p:sp>
        <p:nvSpPr>
          <p:cNvPr id="24" name="Shape 22"/>
          <p:cNvSpPr/>
          <p:nvPr/>
        </p:nvSpPr>
        <p:spPr>
          <a:xfrm>
            <a:off x="822960" y="5029200"/>
            <a:ext cx="10543032" cy="0"/>
          </a:xfrm>
          <a:prstGeom prst="line">
            <a:avLst/>
          </a:prstGeom>
          <a:noFill/>
          <a:ln w="9525">
            <a:solidFill>
              <a:srgbClr val="D9D4C4"/>
            </a:solidFill>
            <a:prstDash val="solid"/>
          </a:ln>
        </p:spPr>
      </p:sp>
      <p:sp>
        <p:nvSpPr>
          <p:cNvPr id="25" name="Text 23"/>
          <p:cNvSpPr/>
          <p:nvPr/>
        </p:nvSpPr>
        <p:spPr>
          <a:xfrm>
            <a:off x="822960" y="5029200"/>
            <a:ext cx="2926080" cy="548640"/>
          </a:xfrm>
          <a:prstGeom prst="rect">
            <a:avLst/>
          </a:prstGeom>
          <a:noFill/>
          <a:ln/>
        </p:spPr>
        <p:txBody>
          <a:bodyPr wrap="square" lIns="0" tIns="0" rIns="0" bIns="0" rtlCol="0" anchor="ctr"/>
          <a:lstStyle/>
          <a:p>
            <a:pPr indent="0" marL="0">
              <a:buNone/>
            </a:pPr>
            <a:r>
              <a:rPr lang="en-US" sz="1800" dirty="0">
                <a:solidFill>
                  <a:srgbClr val="4A6B5D"/>
                </a:solidFill>
                <a:latin typeface="Georgia" pitchFamily="34" charset="0"/>
                <a:ea typeface="Georgia" pitchFamily="34" charset="-122"/>
                <a:cs typeface="Georgia" pitchFamily="34" charset="-120"/>
              </a:rPr>
              <a:t>False hero</a:t>
            </a:r>
            <a:endParaRPr lang="en-US" sz="1800" dirty="0"/>
          </a:p>
        </p:txBody>
      </p:sp>
      <p:sp>
        <p:nvSpPr>
          <p:cNvPr id="26" name="Text 24"/>
          <p:cNvSpPr/>
          <p:nvPr/>
        </p:nvSpPr>
        <p:spPr>
          <a:xfrm>
            <a:off x="3840480" y="5029200"/>
            <a:ext cx="7498080" cy="548640"/>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claims the reward unearned</a:t>
            </a:r>
            <a:endParaRPr lang="en-US" sz="1600" dirty="0"/>
          </a:p>
        </p:txBody>
      </p:sp>
      <p:sp>
        <p:nvSpPr>
          <p:cNvPr id="27" name="Shape 25"/>
          <p:cNvSpPr/>
          <p:nvPr/>
        </p:nvSpPr>
        <p:spPr>
          <a:xfrm>
            <a:off x="822960" y="5577840"/>
            <a:ext cx="10543032" cy="0"/>
          </a:xfrm>
          <a:prstGeom prst="line">
            <a:avLst/>
          </a:prstGeom>
          <a:noFill/>
          <a:ln w="9525">
            <a:solidFill>
              <a:srgbClr val="D9D4C4"/>
            </a:solidFill>
            <a:prstDash val="solid"/>
          </a:ln>
        </p:spPr>
      </p:sp>
      <p:sp>
        <p:nvSpPr>
          <p:cNvPr id="28" name="Text 26"/>
          <p:cNvSpPr/>
          <p:nvPr/>
        </p:nvSpPr>
        <p:spPr>
          <a:xfrm>
            <a:off x="822960" y="5715000"/>
            <a:ext cx="10543032" cy="594360"/>
          </a:xfrm>
          <a:prstGeom prst="rect">
            <a:avLst/>
          </a:prstGeom>
          <a:noFill/>
          <a:ln/>
        </p:spPr>
        <p:txBody>
          <a:bodyPr wrap="square" lIns="0" tIns="0" rIns="0" bIns="0" rtlCol="0" anchor="t"/>
          <a:lstStyle/>
          <a:p>
            <a:pPr indent="0" marL="0">
              <a:lnSpc>
                <a:spcPts val="1600"/>
              </a:lnSpc>
              <a:buNone/>
            </a:pPr>
            <a:r>
              <a:rPr lang="en-US" sz="1200" i="1" dirty="0">
                <a:solidFill>
                  <a:srgbClr val="7A7F72"/>
                </a:solidFill>
                <a:latin typeface="Arial" pitchFamily="34" charset="0"/>
                <a:ea typeface="Arial" pitchFamily="34" charset="-122"/>
                <a:cs typeface="Arial" pitchFamily="34" charset="-120"/>
              </a:rPr>
              <a:t>The caveat: folk tales, 1928; apply with judgment. Dealt as Sort Wars cards: rebuild a scrambled tale, then ask your own opening: who is your donor, and do you even have one?</a:t>
            </a:r>
            <a:endParaRPr lang="en-US" sz="1200" dirty="0"/>
          </a:p>
        </p:txBody>
      </p:sp>
      <p:sp>
        <p:nvSpPr>
          <p:cNvPr id="29" name="Shape 27"/>
          <p:cNvSpPr/>
          <p:nvPr/>
        </p:nvSpPr>
        <p:spPr>
          <a:xfrm>
            <a:off x="822960" y="6382512"/>
            <a:ext cx="10543032" cy="0"/>
          </a:xfrm>
          <a:prstGeom prst="line">
            <a:avLst/>
          </a:prstGeom>
          <a:noFill/>
          <a:ln w="9525">
            <a:solidFill>
              <a:srgbClr val="D9D4C4"/>
            </a:solidFill>
            <a:prstDash val="solid"/>
          </a:ln>
        </p:spPr>
      </p:sp>
      <p:sp>
        <p:nvSpPr>
          <p:cNvPr id="30" name="Text 28"/>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31" name="Text 29"/>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02</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1"/>
        </a:solidFill>
      </p:bgPr>
    </p:bg>
    <p:spTree>
      <p:nvGrpSpPr>
        <p:cNvPr id="1" name=""/>
        <p:cNvGrpSpPr/>
        <p:nvPr/>
      </p:nvGrpSpPr>
      <p:grpSpPr>
        <a:xfrm>
          <a:off x="0" y="0"/>
          <a:ext cx="0" cy="0"/>
          <a:chOff x="0" y="0"/>
          <a:chExt cx="0" cy="0"/>
        </a:xfrm>
      </p:grpSpPr>
      <p:pic>
        <p:nvPicPr>
          <p:cNvPr id="2" name="Image 0" descr="/Users/dogan/Documents/Vaults/Courses/wiki/classes/media-studies/decks/_build/img/crops/lupin-unit_a664.jpg">    </p:cNvPr>
          <p:cNvPicPr>
            <a:picLocks noChangeAspect="1"/>
          </p:cNvPicPr>
          <p:nvPr/>
        </p:nvPicPr>
        <p:blipFill>
          <a:blip r:embed="rId1"/>
          <a:stretch>
            <a:fillRect/>
          </a:stretch>
        </p:blipFill>
        <p:spPr>
          <a:xfrm>
            <a:off x="7635240" y="0"/>
            <a:ext cx="4553712" cy="6858000"/>
          </a:xfrm>
          <a:prstGeom prst="rect">
            <a:avLst/>
          </a:prstGeom>
        </p:spPr>
      </p:pic>
      <p:sp>
        <p:nvSpPr>
          <p:cNvPr id="3" name="Text 0"/>
          <p:cNvSpPr/>
          <p:nvPr/>
        </p:nvSpPr>
        <p:spPr>
          <a:xfrm>
            <a:off x="7818120" y="6126480"/>
            <a:ext cx="4187952" cy="365760"/>
          </a:xfrm>
          <a:prstGeom prst="rect">
            <a:avLst/>
          </a:prstGeom>
          <a:solidFill>
            <a:srgbClr val="FAF8F1"/>
          </a:solid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Lupin, Part 3 (Netflix, 2023). Unit still</a:t>
            </a:r>
            <a:endParaRPr lang="en-US" sz="950" dirty="0"/>
          </a:p>
        </p:txBody>
      </p:sp>
      <p:sp>
        <p:nvSpPr>
          <p:cNvPr id="4" name="Text 1"/>
          <p:cNvSpPr/>
          <p:nvPr/>
        </p:nvSpPr>
        <p:spPr>
          <a:xfrm>
            <a:off x="822960" y="685800"/>
            <a:ext cx="54864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ENIGMA CODE</a:t>
            </a:r>
            <a:endParaRPr lang="en-US" sz="1100" dirty="0"/>
          </a:p>
        </p:txBody>
      </p:sp>
      <p:sp>
        <p:nvSpPr>
          <p:cNvPr id="5" name="Shape 2"/>
          <p:cNvSpPr/>
          <p:nvPr/>
        </p:nvSpPr>
        <p:spPr>
          <a:xfrm>
            <a:off x="822960" y="1051560"/>
            <a:ext cx="6492240" cy="0"/>
          </a:xfrm>
          <a:prstGeom prst="line">
            <a:avLst/>
          </a:prstGeom>
          <a:noFill/>
          <a:ln w="9525">
            <a:solidFill>
              <a:srgbClr val="D9D4C4"/>
            </a:solidFill>
            <a:prstDash val="solid"/>
          </a:ln>
        </p:spPr>
      </p:sp>
      <p:sp>
        <p:nvSpPr>
          <p:cNvPr id="6" name="Text 3"/>
          <p:cNvSpPr/>
          <p:nvPr/>
        </p:nvSpPr>
        <p:spPr>
          <a:xfrm>
            <a:off x="822960" y="1234440"/>
            <a:ext cx="6492240" cy="914400"/>
          </a:xfrm>
          <a:prstGeom prst="rect">
            <a:avLst/>
          </a:prstGeom>
          <a:noFill/>
          <a:ln/>
        </p:spPr>
        <p:txBody>
          <a:bodyPr wrap="square" lIns="0" tIns="0" rIns="0" bIns="0" rtlCol="0" anchor="t"/>
          <a:lstStyle/>
          <a:p>
            <a:pPr indent="0" marL="0">
              <a:buNone/>
            </a:pPr>
            <a:r>
              <a:rPr lang="en-US" sz="4600" dirty="0">
                <a:solidFill>
                  <a:srgbClr val="24313F"/>
                </a:solidFill>
                <a:latin typeface="Georgia" pitchFamily="34" charset="0"/>
                <a:ea typeface="Georgia" pitchFamily="34" charset="-122"/>
                <a:cs typeface="Georgia" pitchFamily="34" charset="-120"/>
              </a:rPr>
              <a:t>You leaned in</a:t>
            </a:r>
            <a:endParaRPr lang="en-US" sz="4600" dirty="0"/>
          </a:p>
        </p:txBody>
      </p:sp>
      <p:sp>
        <p:nvSpPr>
          <p:cNvPr id="7" name="Text 4"/>
          <p:cNvSpPr/>
          <p:nvPr/>
        </p:nvSpPr>
        <p:spPr>
          <a:xfrm>
            <a:off x="822960" y="2286000"/>
            <a:ext cx="6583680" cy="3108960"/>
          </a:xfrm>
          <a:prstGeom prst="rect">
            <a:avLst/>
          </a:prstGeom>
          <a:noFill/>
          <a:ln/>
        </p:spPr>
        <p:txBody>
          <a:bodyPr wrap="square" lIns="0" tIns="0" rIns="0" bIns="0" rtlCol="0" anchor="t"/>
          <a:lstStyle/>
          <a:p>
            <a:pPr indent="0" marL="0">
              <a:lnSpc>
                <a:spcPts val="2600"/>
              </a:lnSpc>
              <a:buNone/>
            </a:pPr>
            <a:r>
              <a:rPr lang="en-US" sz="1800" dirty="0">
                <a:solidFill>
                  <a:srgbClr val="24313F"/>
                </a:solidFill>
                <a:latin typeface="Georgia" pitchFamily="34" charset="0"/>
                <a:ea typeface="Georgia" pitchFamily="34" charset="-122"/>
                <a:cs typeface="Georgia" pitchFamily="34" charset="-120"/>
              </a:rPr>
              <a:t>White hair, tinted glasses, a borrowed name: the man at the gala is the series' hero in disguise, and every viewer at home is asking the same two questions. Will he be recognised? What is he here to take? The show plants questions and pays them off on a schedule, and that lean toward the answer is Barthes's enigma code working. Every opening is engineered to owe you answers, and your D1 table maps exactly what this frame owes.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BARTHES · TWO OF THE FIVE CODES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THE QUESTION AND THE PROMISE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3600" dirty="0">
                <a:solidFill>
                  <a:srgbClr val="24313F"/>
                </a:solidFill>
                <a:latin typeface="Georgia" pitchFamily="34" charset="0"/>
                <a:ea typeface="Georgia" pitchFamily="34" charset="-122"/>
                <a:cs typeface="Georgia" pitchFamily="34" charset="-120"/>
              </a:rPr>
              <a:t>What a text owes you</a:t>
            </a:r>
            <a:endParaRPr lang="en-US" sz="3600" dirty="0"/>
          </a:p>
        </p:txBody>
      </p:sp>
      <p:sp>
        <p:nvSpPr>
          <p:cNvPr id="6" name="Text 4"/>
          <p:cNvSpPr/>
          <p:nvPr/>
        </p:nvSpPr>
        <p:spPr>
          <a:xfrm>
            <a:off x="822960" y="2011680"/>
            <a:ext cx="4846320" cy="502920"/>
          </a:xfrm>
          <a:prstGeom prst="rect">
            <a:avLst/>
          </a:prstGeom>
          <a:noFill/>
          <a:ln/>
        </p:spPr>
        <p:txBody>
          <a:bodyPr wrap="square" lIns="0" tIns="0" rIns="0" bIns="0" rtlCol="0" anchor="ctr"/>
          <a:lstStyle/>
          <a:p>
            <a:pPr indent="0" marL="0">
              <a:buNone/>
            </a:pPr>
            <a:r>
              <a:rPr lang="en-US" sz="2400" dirty="0">
                <a:solidFill>
                  <a:srgbClr val="4A6B5D"/>
                </a:solidFill>
                <a:latin typeface="Georgia" pitchFamily="34" charset="0"/>
                <a:ea typeface="Georgia" pitchFamily="34" charset="-122"/>
                <a:cs typeface="Georgia" pitchFamily="34" charset="-120"/>
              </a:rPr>
              <a:t>Enigma code</a:t>
            </a:r>
            <a:endParaRPr lang="en-US" sz="2400" dirty="0"/>
          </a:p>
        </p:txBody>
      </p:sp>
      <p:sp>
        <p:nvSpPr>
          <p:cNvPr id="7" name="Shape 5"/>
          <p:cNvSpPr/>
          <p:nvPr/>
        </p:nvSpPr>
        <p:spPr>
          <a:xfrm>
            <a:off x="822960" y="2560320"/>
            <a:ext cx="4754880" cy="0"/>
          </a:xfrm>
          <a:prstGeom prst="line">
            <a:avLst/>
          </a:prstGeom>
          <a:noFill/>
          <a:ln w="9525">
            <a:solidFill>
              <a:srgbClr val="D9D4C4"/>
            </a:solidFill>
            <a:prstDash val="solid"/>
          </a:ln>
        </p:spPr>
      </p:sp>
      <p:sp>
        <p:nvSpPr>
          <p:cNvPr id="8" name="Text 6"/>
          <p:cNvSpPr/>
          <p:nvPr/>
        </p:nvSpPr>
        <p:spPr>
          <a:xfrm>
            <a:off x="822960" y="2697480"/>
            <a:ext cx="4846320" cy="237744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The question a text plants and refuses to answer yet. It creates the debt that keeps you watching: who did it, what is behind the door, will they survive?</a:t>
            </a:r>
            <a:endParaRPr lang="en-US" sz="1700" dirty="0"/>
          </a:p>
        </p:txBody>
      </p:sp>
      <p:sp>
        <p:nvSpPr>
          <p:cNvPr id="9" name="Text 7"/>
          <p:cNvSpPr/>
          <p:nvPr/>
        </p:nvSpPr>
        <p:spPr>
          <a:xfrm>
            <a:off x="6309360" y="2011680"/>
            <a:ext cx="4846320" cy="502920"/>
          </a:xfrm>
          <a:prstGeom prst="rect">
            <a:avLst/>
          </a:prstGeom>
          <a:noFill/>
          <a:ln/>
        </p:spPr>
        <p:txBody>
          <a:bodyPr wrap="square" lIns="0" tIns="0" rIns="0" bIns="0" rtlCol="0" anchor="ctr"/>
          <a:lstStyle/>
          <a:p>
            <a:pPr indent="0" marL="0">
              <a:buNone/>
            </a:pPr>
            <a:r>
              <a:rPr lang="en-US" sz="2400" dirty="0">
                <a:solidFill>
                  <a:srgbClr val="5C7A6B"/>
                </a:solidFill>
                <a:latin typeface="Georgia" pitchFamily="34" charset="0"/>
                <a:ea typeface="Georgia" pitchFamily="34" charset="-122"/>
                <a:cs typeface="Georgia" pitchFamily="34" charset="-120"/>
              </a:rPr>
              <a:t>Action code</a:t>
            </a:r>
            <a:endParaRPr lang="en-US" sz="2400" dirty="0"/>
          </a:p>
        </p:txBody>
      </p:sp>
      <p:sp>
        <p:nvSpPr>
          <p:cNvPr id="10" name="Shape 8"/>
          <p:cNvSpPr/>
          <p:nvPr/>
        </p:nvSpPr>
        <p:spPr>
          <a:xfrm>
            <a:off x="6309360" y="2560320"/>
            <a:ext cx="4754880" cy="0"/>
          </a:xfrm>
          <a:prstGeom prst="line">
            <a:avLst/>
          </a:prstGeom>
          <a:noFill/>
          <a:ln w="9525">
            <a:solidFill>
              <a:srgbClr val="D9D4C4"/>
            </a:solidFill>
            <a:prstDash val="solid"/>
          </a:ln>
        </p:spPr>
      </p:sp>
      <p:sp>
        <p:nvSpPr>
          <p:cNvPr id="11" name="Text 9"/>
          <p:cNvSpPr/>
          <p:nvPr/>
        </p:nvSpPr>
        <p:spPr>
          <a:xfrm>
            <a:off x="6309360" y="2697480"/>
            <a:ext cx="4846320" cy="237744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The promise that something will happen, and soon. A loaded gun, a lit fuse, a packed suitcase: the text owes you a consequence.</a:t>
            </a:r>
            <a:endParaRPr lang="en-US" sz="1700" dirty="0"/>
          </a:p>
        </p:txBody>
      </p:sp>
      <p:sp>
        <p:nvSpPr>
          <p:cNvPr id="12" name="Shape 10"/>
          <p:cNvSpPr/>
          <p:nvPr/>
        </p:nvSpPr>
        <p:spPr>
          <a:xfrm>
            <a:off x="822960" y="6382512"/>
            <a:ext cx="10543032" cy="0"/>
          </a:xfrm>
          <a:prstGeom prst="line">
            <a:avLst/>
          </a:prstGeom>
          <a:noFill/>
          <a:ln w="9525">
            <a:solidFill>
              <a:srgbClr val="D9D4C4"/>
            </a:solidFill>
            <a:prstDash val="solid"/>
          </a:ln>
        </p:spPr>
      </p:sp>
      <p:sp>
        <p:nvSpPr>
          <p:cNvPr id="13" name="Text 11"/>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4" name="Text 12"/>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03</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783080"/>
            <a:ext cx="10424160" cy="3291840"/>
          </a:xfrm>
          <a:prstGeom prst="rect">
            <a:avLst/>
          </a:prstGeom>
          <a:noFill/>
          <a:ln/>
        </p:spPr>
        <p:txBody>
          <a:bodyPr wrap="square" lIns="0" tIns="0" rIns="0" bIns="0" rtlCol="0" anchor="ctr"/>
          <a:lstStyle/>
          <a:p>
            <a:pPr indent="0" marL="0">
              <a:lnSpc>
                <a:spcPts val="5200"/>
              </a:lnSpc>
              <a:buNone/>
            </a:pPr>
            <a:r>
              <a:rPr lang="en-US" sz="4400" dirty="0">
                <a:solidFill>
                  <a:srgbClr val="24313F"/>
                </a:solidFill>
                <a:latin typeface="Georgia" pitchFamily="34" charset="0"/>
                <a:ea typeface="Georgia" pitchFamily="34" charset="-122"/>
                <a:cs typeface="Georgia" pitchFamily="34" charset="-120"/>
              </a:rPr>
              <a:t>The birth of the reader must be at the cost of the death of the Author.</a:t>
            </a:r>
            <a:endParaRPr lang="en-US" sz="4400" dirty="0"/>
          </a:p>
        </p:txBody>
      </p:sp>
      <p:sp>
        <p:nvSpPr>
          <p:cNvPr id="4" name="Shape 2"/>
          <p:cNvSpPr/>
          <p:nvPr/>
        </p:nvSpPr>
        <p:spPr>
          <a:xfrm>
            <a:off x="822960" y="5029200"/>
            <a:ext cx="914400" cy="0"/>
          </a:xfrm>
          <a:prstGeom prst="line">
            <a:avLst/>
          </a:prstGeom>
          <a:noFill/>
          <a:ln w="31750">
            <a:solidFill>
              <a:srgbClr val="8C3A38"/>
            </a:solidFill>
            <a:prstDash val="solid"/>
          </a:ln>
        </p:spPr>
      </p:sp>
      <p:sp>
        <p:nvSpPr>
          <p:cNvPr id="5" name="Text 3"/>
          <p:cNvSpPr/>
          <p:nvPr/>
        </p:nvSpPr>
        <p:spPr>
          <a:xfrm>
            <a:off x="822960" y="5212080"/>
            <a:ext cx="100584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Roland Barthes, The Death of the Author, 1967</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Users/dogan/Documents/Vaults/Courses/wiki/classes/media-studies/decks/_build/img/crops/johnston-geography_a1777.jp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502920" y="502920"/>
            <a:ext cx="5120640" cy="502920"/>
          </a:xfrm>
          <a:prstGeom prst="rect">
            <a:avLst/>
          </a:prstGeom>
          <a:solidFill>
            <a:srgbClr val="FAF8F1"/>
          </a:solidFill>
          <a:ln/>
        </p:spPr>
      </p:sp>
      <p:sp>
        <p:nvSpPr>
          <p:cNvPr id="4" name="Text 1"/>
          <p:cNvSpPr/>
          <p:nvPr/>
        </p:nvSpPr>
        <p:spPr>
          <a:xfrm>
            <a:off x="704088" y="521208"/>
            <a:ext cx="484632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CS9 · THE BLOG AUDIT</a:t>
            </a:r>
            <a:endParaRPr lang="en-US" sz="1100" dirty="0"/>
          </a:p>
        </p:txBody>
      </p:sp>
      <p:sp>
        <p:nvSpPr>
          <p:cNvPr id="5" name="Shape 2"/>
          <p:cNvSpPr/>
          <p:nvPr/>
        </p:nvSpPr>
        <p:spPr>
          <a:xfrm>
            <a:off x="457200" y="5230368"/>
            <a:ext cx="8778240" cy="1243584"/>
          </a:xfrm>
          <a:prstGeom prst="rect">
            <a:avLst/>
          </a:prstGeom>
          <a:solidFill>
            <a:srgbClr val="FAF8F1"/>
          </a:solidFill>
          <a:ln/>
        </p:spPr>
      </p:sp>
      <p:sp>
        <p:nvSpPr>
          <p:cNvPr id="6" name="Shape 3"/>
          <p:cNvSpPr/>
          <p:nvPr/>
        </p:nvSpPr>
        <p:spPr>
          <a:xfrm>
            <a:off x="676656" y="5468112"/>
            <a:ext cx="731520" cy="0"/>
          </a:xfrm>
          <a:prstGeom prst="line">
            <a:avLst/>
          </a:prstGeom>
          <a:noFill/>
          <a:ln w="28575">
            <a:solidFill>
              <a:srgbClr val="8C3A38"/>
            </a:solidFill>
            <a:prstDash val="solid"/>
          </a:ln>
        </p:spPr>
      </p:sp>
      <p:sp>
        <p:nvSpPr>
          <p:cNvPr id="7" name="Text 4"/>
          <p:cNvSpPr/>
          <p:nvPr/>
        </p:nvSpPr>
        <p:spPr>
          <a:xfrm>
            <a:off x="676656" y="5541264"/>
            <a:ext cx="8339328" cy="585216"/>
          </a:xfrm>
          <a:prstGeom prst="rect">
            <a:avLst/>
          </a:prstGeom>
          <a:noFill/>
          <a:ln/>
        </p:spPr>
        <p:txBody>
          <a:bodyPr wrap="square" lIns="0" tIns="0" rIns="0" bIns="0" rtlCol="0" anchor="t"/>
          <a:lstStyle/>
          <a:p>
            <a:pPr indent="0" marL="0">
              <a:lnSpc>
                <a:spcPts val="2200"/>
              </a:lnSpc>
              <a:buNone/>
            </a:pPr>
            <a:r>
              <a:rPr lang="en-US" sz="1800" dirty="0">
                <a:solidFill>
                  <a:srgbClr val="24313F"/>
                </a:solidFill>
                <a:latin typeface="Georgia" pitchFamily="34" charset="0"/>
                <a:ea typeface="Georgia" pitchFamily="34" charset="-122"/>
                <a:cs typeface="Georgia" pitchFamily="34" charset="-120"/>
              </a:rPr>
              <a:t>Every blog read by a peer against the same checklist A2 is marked with, three days before it is due.</a:t>
            </a:r>
            <a:endParaRPr lang="en-US" sz="1800" dirty="0"/>
          </a:p>
        </p:txBody>
      </p:sp>
      <p:sp>
        <p:nvSpPr>
          <p:cNvPr id="8" name="Text 5"/>
          <p:cNvSpPr/>
          <p:nvPr/>
        </p:nvSpPr>
        <p:spPr>
          <a:xfrm>
            <a:off x="676656" y="6181344"/>
            <a:ext cx="8339328" cy="256032"/>
          </a:xfrm>
          <a:prstGeom prst="rect">
            <a:avLst/>
          </a:prstGeom>
          <a:no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Frances Benjamin Johnston, a Geography class, Hampton, c. 1899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CS9 · THE AUDIT</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THE SAME CHECKLIST A2 IS MARKED WITH</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Post by post, findings as actions</a:t>
            </a:r>
            <a:endParaRPr lang="en-US" sz="3200" dirty="0"/>
          </a:p>
        </p:txBody>
      </p:sp>
      <p:sp>
        <p:nvSpPr>
          <p:cNvPr id="6" name="Shape 4"/>
          <p:cNvSpPr/>
          <p:nvPr/>
        </p:nvSpPr>
        <p:spPr>
          <a:xfrm>
            <a:off x="822960" y="1783080"/>
            <a:ext cx="2361438" cy="548640"/>
          </a:xfrm>
          <a:prstGeom prst="rect">
            <a:avLst/>
          </a:prstGeom>
          <a:solidFill>
            <a:srgbClr val="E8EFE7"/>
          </a:solidFill>
          <a:ln/>
        </p:spPr>
      </p:sp>
      <p:sp>
        <p:nvSpPr>
          <p:cNvPr id="7" name="Text 5"/>
          <p:cNvSpPr/>
          <p:nvPr/>
        </p:nvSpPr>
        <p:spPr>
          <a:xfrm>
            <a:off x="987552" y="1783080"/>
            <a:ext cx="2087118" cy="548640"/>
          </a:xfrm>
          <a:prstGeom prst="rect">
            <a:avLst/>
          </a:prstGeom>
          <a:noFill/>
          <a:ln/>
        </p:spPr>
        <p:txBody>
          <a:bodyPr wrap="square" lIns="0" tIns="0" rIns="0" bIns="0" rtlCol="0" anchor="ctr"/>
          <a:lstStyle/>
          <a:p>
            <a:pPr indent="0" marL="0">
              <a:buNone/>
            </a:pPr>
            <a:r>
              <a:rPr lang="en-US" sz="1400" dirty="0">
                <a:solidFill>
                  <a:srgbClr val="24313F"/>
                </a:solidFill>
                <a:latin typeface="Georgia" pitchFamily="34" charset="0"/>
                <a:ea typeface="Georgia" pitchFamily="34" charset="-122"/>
                <a:cs typeface="Georgia" pitchFamily="34" charset="-120"/>
              </a:rPr>
              <a:t>Brief and group</a:t>
            </a:r>
            <a:endParaRPr lang="en-US" sz="1400" dirty="0"/>
          </a:p>
        </p:txBody>
      </p:sp>
      <p:sp>
        <p:nvSpPr>
          <p:cNvPr id="8" name="Shape 6"/>
          <p:cNvSpPr/>
          <p:nvPr/>
        </p:nvSpPr>
        <p:spPr>
          <a:xfrm>
            <a:off x="3550158" y="1783080"/>
            <a:ext cx="2361438" cy="548640"/>
          </a:xfrm>
          <a:prstGeom prst="rect">
            <a:avLst/>
          </a:prstGeom>
          <a:solidFill>
            <a:srgbClr val="E8EFE7"/>
          </a:solidFill>
          <a:ln/>
        </p:spPr>
      </p:sp>
      <p:sp>
        <p:nvSpPr>
          <p:cNvPr id="9" name="Text 7"/>
          <p:cNvSpPr/>
          <p:nvPr/>
        </p:nvSpPr>
        <p:spPr>
          <a:xfrm>
            <a:off x="3714750" y="1783080"/>
            <a:ext cx="2087118" cy="548640"/>
          </a:xfrm>
          <a:prstGeom prst="rect">
            <a:avLst/>
          </a:prstGeom>
          <a:noFill/>
          <a:ln/>
        </p:spPr>
        <p:txBody>
          <a:bodyPr wrap="square" lIns="0" tIns="0" rIns="0" bIns="0" rtlCol="0" anchor="ctr"/>
          <a:lstStyle/>
          <a:p>
            <a:pPr indent="0" marL="0">
              <a:buNone/>
            </a:pPr>
            <a:r>
              <a:rPr lang="en-US" sz="1400" dirty="0">
                <a:solidFill>
                  <a:srgbClr val="24313F"/>
                </a:solidFill>
                <a:latin typeface="Georgia" pitchFamily="34" charset="0"/>
                <a:ea typeface="Georgia" pitchFamily="34" charset="-122"/>
                <a:cs typeface="Georgia" pitchFamily="34" charset="-120"/>
              </a:rPr>
              <a:t>Research</a:t>
            </a:r>
            <a:endParaRPr lang="en-US" sz="1400" dirty="0"/>
          </a:p>
        </p:txBody>
      </p:sp>
      <p:sp>
        <p:nvSpPr>
          <p:cNvPr id="10" name="Shape 8"/>
          <p:cNvSpPr/>
          <p:nvPr/>
        </p:nvSpPr>
        <p:spPr>
          <a:xfrm>
            <a:off x="6277356" y="1783080"/>
            <a:ext cx="2361438" cy="548640"/>
          </a:xfrm>
          <a:prstGeom prst="rect">
            <a:avLst/>
          </a:prstGeom>
          <a:solidFill>
            <a:srgbClr val="E8EFE7"/>
          </a:solidFill>
          <a:ln/>
        </p:spPr>
      </p:sp>
      <p:sp>
        <p:nvSpPr>
          <p:cNvPr id="11" name="Text 9"/>
          <p:cNvSpPr/>
          <p:nvPr/>
        </p:nvSpPr>
        <p:spPr>
          <a:xfrm>
            <a:off x="6441948" y="1783080"/>
            <a:ext cx="2087118" cy="548640"/>
          </a:xfrm>
          <a:prstGeom prst="rect">
            <a:avLst/>
          </a:prstGeom>
          <a:noFill/>
          <a:ln/>
        </p:spPr>
        <p:txBody>
          <a:bodyPr wrap="square" lIns="0" tIns="0" rIns="0" bIns="0" rtlCol="0" anchor="ctr"/>
          <a:lstStyle/>
          <a:p>
            <a:pPr indent="0" marL="0">
              <a:buNone/>
            </a:pPr>
            <a:r>
              <a:rPr lang="en-US" sz="1400" dirty="0">
                <a:solidFill>
                  <a:srgbClr val="24313F"/>
                </a:solidFill>
                <a:latin typeface="Georgia" pitchFamily="34" charset="0"/>
                <a:ea typeface="Georgia" pitchFamily="34" charset="-122"/>
                <a:cs typeface="Georgia" pitchFamily="34" charset="-120"/>
              </a:rPr>
              <a:t>Audience profile</a:t>
            </a:r>
            <a:endParaRPr lang="en-US" sz="1400" dirty="0"/>
          </a:p>
        </p:txBody>
      </p:sp>
      <p:sp>
        <p:nvSpPr>
          <p:cNvPr id="12" name="Shape 10"/>
          <p:cNvSpPr/>
          <p:nvPr/>
        </p:nvSpPr>
        <p:spPr>
          <a:xfrm>
            <a:off x="9004554" y="1783080"/>
            <a:ext cx="2361438" cy="548640"/>
          </a:xfrm>
          <a:prstGeom prst="rect">
            <a:avLst/>
          </a:prstGeom>
          <a:solidFill>
            <a:srgbClr val="E8EFE7"/>
          </a:solidFill>
          <a:ln/>
        </p:spPr>
      </p:sp>
      <p:sp>
        <p:nvSpPr>
          <p:cNvPr id="13" name="Text 11"/>
          <p:cNvSpPr/>
          <p:nvPr/>
        </p:nvSpPr>
        <p:spPr>
          <a:xfrm>
            <a:off x="9169146" y="1783080"/>
            <a:ext cx="2087118" cy="548640"/>
          </a:xfrm>
          <a:prstGeom prst="rect">
            <a:avLst/>
          </a:prstGeom>
          <a:noFill/>
          <a:ln/>
        </p:spPr>
        <p:txBody>
          <a:bodyPr wrap="square" lIns="0" tIns="0" rIns="0" bIns="0" rtlCol="0" anchor="ctr"/>
          <a:lstStyle/>
          <a:p>
            <a:pPr indent="0" marL="0">
              <a:buNone/>
            </a:pPr>
            <a:r>
              <a:rPr lang="en-US" sz="1400" dirty="0">
                <a:solidFill>
                  <a:srgbClr val="24313F"/>
                </a:solidFill>
                <a:latin typeface="Georgia" pitchFamily="34" charset="0"/>
                <a:ea typeface="Georgia" pitchFamily="34" charset="-122"/>
                <a:cs typeface="Georgia" pitchFamily="34" charset="-120"/>
              </a:rPr>
              <a:t>Pitch</a:t>
            </a:r>
            <a:endParaRPr lang="en-US" sz="1400" dirty="0"/>
          </a:p>
        </p:txBody>
      </p:sp>
      <p:sp>
        <p:nvSpPr>
          <p:cNvPr id="14" name="Shape 12"/>
          <p:cNvSpPr/>
          <p:nvPr/>
        </p:nvSpPr>
        <p:spPr>
          <a:xfrm>
            <a:off x="822960" y="2496312"/>
            <a:ext cx="2361438" cy="548640"/>
          </a:xfrm>
          <a:prstGeom prst="rect">
            <a:avLst/>
          </a:prstGeom>
          <a:solidFill>
            <a:srgbClr val="E8EFE7"/>
          </a:solidFill>
          <a:ln/>
        </p:spPr>
      </p:sp>
      <p:sp>
        <p:nvSpPr>
          <p:cNvPr id="15" name="Text 13"/>
          <p:cNvSpPr/>
          <p:nvPr/>
        </p:nvSpPr>
        <p:spPr>
          <a:xfrm>
            <a:off x="987552" y="2496312"/>
            <a:ext cx="2087118" cy="548640"/>
          </a:xfrm>
          <a:prstGeom prst="rect">
            <a:avLst/>
          </a:prstGeom>
          <a:noFill/>
          <a:ln/>
        </p:spPr>
        <p:txBody>
          <a:bodyPr wrap="square" lIns="0" tIns="0" rIns="0" bIns="0" rtlCol="0" anchor="ctr"/>
          <a:lstStyle/>
          <a:p>
            <a:pPr indent="0" marL="0">
              <a:buNone/>
            </a:pPr>
            <a:r>
              <a:rPr lang="en-US" sz="1400" dirty="0">
                <a:solidFill>
                  <a:srgbClr val="24313F"/>
                </a:solidFill>
                <a:latin typeface="Georgia" pitchFamily="34" charset="0"/>
                <a:ea typeface="Georgia" pitchFamily="34" charset="-122"/>
                <a:cs typeface="Georgia" pitchFamily="34" charset="-120"/>
              </a:rPr>
              <a:t>Planning suite</a:t>
            </a:r>
            <a:endParaRPr lang="en-US" sz="1400" dirty="0"/>
          </a:p>
        </p:txBody>
      </p:sp>
      <p:sp>
        <p:nvSpPr>
          <p:cNvPr id="16" name="Shape 14"/>
          <p:cNvSpPr/>
          <p:nvPr/>
        </p:nvSpPr>
        <p:spPr>
          <a:xfrm>
            <a:off x="3550158" y="2496312"/>
            <a:ext cx="2361438" cy="548640"/>
          </a:xfrm>
          <a:prstGeom prst="rect">
            <a:avLst/>
          </a:prstGeom>
          <a:solidFill>
            <a:srgbClr val="E8EFE7"/>
          </a:solidFill>
          <a:ln/>
        </p:spPr>
      </p:sp>
      <p:sp>
        <p:nvSpPr>
          <p:cNvPr id="17" name="Text 15"/>
          <p:cNvSpPr/>
          <p:nvPr/>
        </p:nvSpPr>
        <p:spPr>
          <a:xfrm>
            <a:off x="3714750" y="2496312"/>
            <a:ext cx="2087118" cy="548640"/>
          </a:xfrm>
          <a:prstGeom prst="rect">
            <a:avLst/>
          </a:prstGeom>
          <a:noFill/>
          <a:ln/>
        </p:spPr>
        <p:txBody>
          <a:bodyPr wrap="square" lIns="0" tIns="0" rIns="0" bIns="0" rtlCol="0" anchor="ctr"/>
          <a:lstStyle/>
          <a:p>
            <a:pPr indent="0" marL="0">
              <a:buNone/>
            </a:pPr>
            <a:r>
              <a:rPr lang="en-US" sz="1400" dirty="0">
                <a:solidFill>
                  <a:srgbClr val="24313F"/>
                </a:solidFill>
                <a:latin typeface="Georgia" pitchFamily="34" charset="0"/>
                <a:ea typeface="Georgia" pitchFamily="34" charset="-122"/>
                <a:cs typeface="Georgia" pitchFamily="34" charset="-120"/>
              </a:rPr>
              <a:t>CS3 camera build</a:t>
            </a:r>
            <a:endParaRPr lang="en-US" sz="1400" dirty="0"/>
          </a:p>
        </p:txBody>
      </p:sp>
      <p:sp>
        <p:nvSpPr>
          <p:cNvPr id="18" name="Shape 16"/>
          <p:cNvSpPr/>
          <p:nvPr/>
        </p:nvSpPr>
        <p:spPr>
          <a:xfrm>
            <a:off x="6277356" y="2496312"/>
            <a:ext cx="2361438" cy="548640"/>
          </a:xfrm>
          <a:prstGeom prst="rect">
            <a:avLst/>
          </a:prstGeom>
          <a:solidFill>
            <a:srgbClr val="E8EFE7"/>
          </a:solidFill>
          <a:ln/>
        </p:spPr>
      </p:sp>
      <p:sp>
        <p:nvSpPr>
          <p:cNvPr id="19" name="Text 17"/>
          <p:cNvSpPr/>
          <p:nvPr/>
        </p:nvSpPr>
        <p:spPr>
          <a:xfrm>
            <a:off x="6441948" y="2496312"/>
            <a:ext cx="2087118" cy="548640"/>
          </a:xfrm>
          <a:prstGeom prst="rect">
            <a:avLst/>
          </a:prstGeom>
          <a:noFill/>
          <a:ln/>
        </p:spPr>
        <p:txBody>
          <a:bodyPr wrap="square" lIns="0" tIns="0" rIns="0" bIns="0" rtlCol="0" anchor="ctr"/>
          <a:lstStyle/>
          <a:p>
            <a:pPr indent="0" marL="0">
              <a:buNone/>
            </a:pPr>
            <a:r>
              <a:rPr lang="en-US" sz="1400" dirty="0">
                <a:solidFill>
                  <a:srgbClr val="24313F"/>
                </a:solidFill>
                <a:latin typeface="Georgia" pitchFamily="34" charset="0"/>
                <a:ea typeface="Georgia" pitchFamily="34" charset="-122"/>
                <a:cs typeface="Georgia" pitchFamily="34" charset="-120"/>
              </a:rPr>
              <a:t>CS4 soundscape</a:t>
            </a:r>
            <a:endParaRPr lang="en-US" sz="1400" dirty="0"/>
          </a:p>
        </p:txBody>
      </p:sp>
      <p:sp>
        <p:nvSpPr>
          <p:cNvPr id="20" name="Shape 18"/>
          <p:cNvSpPr/>
          <p:nvPr/>
        </p:nvSpPr>
        <p:spPr>
          <a:xfrm>
            <a:off x="9004554" y="2496312"/>
            <a:ext cx="2361438" cy="548640"/>
          </a:xfrm>
          <a:prstGeom prst="rect">
            <a:avLst/>
          </a:prstGeom>
          <a:solidFill>
            <a:srgbClr val="E8EFE7"/>
          </a:solidFill>
          <a:ln/>
        </p:spPr>
      </p:sp>
      <p:sp>
        <p:nvSpPr>
          <p:cNvPr id="21" name="Text 19"/>
          <p:cNvSpPr/>
          <p:nvPr/>
        </p:nvSpPr>
        <p:spPr>
          <a:xfrm>
            <a:off x="9169146" y="2496312"/>
            <a:ext cx="2087118" cy="548640"/>
          </a:xfrm>
          <a:prstGeom prst="rect">
            <a:avLst/>
          </a:prstGeom>
          <a:noFill/>
          <a:ln/>
        </p:spPr>
        <p:txBody>
          <a:bodyPr wrap="square" lIns="0" tIns="0" rIns="0" bIns="0" rtlCol="0" anchor="ctr"/>
          <a:lstStyle/>
          <a:p>
            <a:pPr indent="0" marL="0">
              <a:buNone/>
            </a:pPr>
            <a:r>
              <a:rPr lang="en-US" sz="1400" dirty="0">
                <a:solidFill>
                  <a:srgbClr val="24313F"/>
                </a:solidFill>
                <a:latin typeface="Georgia" pitchFamily="34" charset="0"/>
                <a:ea typeface="Georgia" pitchFamily="34" charset="-122"/>
                <a:cs typeface="Georgia" pitchFamily="34" charset="-120"/>
              </a:rPr>
              <a:t>CS5 design board</a:t>
            </a:r>
            <a:endParaRPr lang="en-US" sz="1400" dirty="0"/>
          </a:p>
        </p:txBody>
      </p:sp>
      <p:sp>
        <p:nvSpPr>
          <p:cNvPr id="22" name="Shape 20"/>
          <p:cNvSpPr/>
          <p:nvPr/>
        </p:nvSpPr>
        <p:spPr>
          <a:xfrm>
            <a:off x="822960" y="3209544"/>
            <a:ext cx="2361438" cy="548640"/>
          </a:xfrm>
          <a:prstGeom prst="rect">
            <a:avLst/>
          </a:prstGeom>
          <a:solidFill>
            <a:srgbClr val="E8EFE7"/>
          </a:solidFill>
          <a:ln/>
        </p:spPr>
      </p:sp>
      <p:sp>
        <p:nvSpPr>
          <p:cNvPr id="23" name="Text 21"/>
          <p:cNvSpPr/>
          <p:nvPr/>
        </p:nvSpPr>
        <p:spPr>
          <a:xfrm>
            <a:off x="987552" y="3209544"/>
            <a:ext cx="2087118" cy="548640"/>
          </a:xfrm>
          <a:prstGeom prst="rect">
            <a:avLst/>
          </a:prstGeom>
          <a:noFill/>
          <a:ln/>
        </p:spPr>
        <p:txBody>
          <a:bodyPr wrap="square" lIns="0" tIns="0" rIns="0" bIns="0" rtlCol="0" anchor="ctr"/>
          <a:lstStyle/>
          <a:p>
            <a:pPr indent="0" marL="0">
              <a:buNone/>
            </a:pPr>
            <a:r>
              <a:rPr lang="en-US" sz="1400" dirty="0">
                <a:solidFill>
                  <a:srgbClr val="24313F"/>
                </a:solidFill>
                <a:latin typeface="Georgia" pitchFamily="34" charset="0"/>
                <a:ea typeface="Georgia" pitchFamily="34" charset="-122"/>
                <a:cs typeface="Georgia" pitchFamily="34" charset="-120"/>
              </a:rPr>
              <a:t>CS6 edit, both versions</a:t>
            </a:r>
            <a:endParaRPr lang="en-US" sz="1400" dirty="0"/>
          </a:p>
        </p:txBody>
      </p:sp>
      <p:sp>
        <p:nvSpPr>
          <p:cNvPr id="24" name="Shape 22"/>
          <p:cNvSpPr/>
          <p:nvPr/>
        </p:nvSpPr>
        <p:spPr>
          <a:xfrm>
            <a:off x="3550158" y="3209544"/>
            <a:ext cx="2361438" cy="548640"/>
          </a:xfrm>
          <a:prstGeom prst="rect">
            <a:avLst/>
          </a:prstGeom>
          <a:solidFill>
            <a:srgbClr val="E8EFE7"/>
          </a:solidFill>
          <a:ln/>
        </p:spPr>
      </p:sp>
      <p:sp>
        <p:nvSpPr>
          <p:cNvPr id="25" name="Text 23"/>
          <p:cNvSpPr/>
          <p:nvPr/>
        </p:nvSpPr>
        <p:spPr>
          <a:xfrm>
            <a:off x="3714750" y="3209544"/>
            <a:ext cx="2087118" cy="548640"/>
          </a:xfrm>
          <a:prstGeom prst="rect">
            <a:avLst/>
          </a:prstGeom>
          <a:noFill/>
          <a:ln/>
        </p:spPr>
        <p:txBody>
          <a:bodyPr wrap="square" lIns="0" tIns="0" rIns="0" bIns="0" rtlCol="0" anchor="ctr"/>
          <a:lstStyle/>
          <a:p>
            <a:pPr indent="0" marL="0">
              <a:buNone/>
            </a:pPr>
            <a:r>
              <a:rPr lang="en-US" sz="1400" dirty="0">
                <a:solidFill>
                  <a:srgbClr val="24313F"/>
                </a:solidFill>
                <a:latin typeface="Georgia" pitchFamily="34" charset="0"/>
                <a:ea typeface="Georgia" pitchFamily="34" charset="-122"/>
                <a:cs typeface="Georgia" pitchFamily="34" charset="-120"/>
              </a:rPr>
              <a:t>Genre contract</a:t>
            </a:r>
            <a:endParaRPr lang="en-US" sz="1400" dirty="0"/>
          </a:p>
        </p:txBody>
      </p:sp>
      <p:sp>
        <p:nvSpPr>
          <p:cNvPr id="26" name="Shape 24"/>
          <p:cNvSpPr/>
          <p:nvPr/>
        </p:nvSpPr>
        <p:spPr>
          <a:xfrm>
            <a:off x="6277356" y="3209544"/>
            <a:ext cx="2361438" cy="548640"/>
          </a:xfrm>
          <a:prstGeom prst="rect">
            <a:avLst/>
          </a:prstGeom>
          <a:solidFill>
            <a:srgbClr val="E8EFE7"/>
          </a:solidFill>
          <a:ln/>
        </p:spPr>
      </p:sp>
      <p:sp>
        <p:nvSpPr>
          <p:cNvPr id="27" name="Text 25"/>
          <p:cNvSpPr/>
          <p:nvPr/>
        </p:nvSpPr>
        <p:spPr>
          <a:xfrm>
            <a:off x="6441948" y="3209544"/>
            <a:ext cx="2087118" cy="548640"/>
          </a:xfrm>
          <a:prstGeom prst="rect">
            <a:avLst/>
          </a:prstGeom>
          <a:noFill/>
          <a:ln/>
        </p:spPr>
        <p:txBody>
          <a:bodyPr wrap="square" lIns="0" tIns="0" rIns="0" bIns="0" rtlCol="0" anchor="ctr"/>
          <a:lstStyle/>
          <a:p>
            <a:pPr indent="0" marL="0">
              <a:buNone/>
            </a:pPr>
            <a:r>
              <a:rPr lang="en-US" sz="1400" dirty="0">
                <a:solidFill>
                  <a:srgbClr val="24313F"/>
                </a:solidFill>
                <a:latin typeface="Georgia" pitchFamily="34" charset="0"/>
                <a:ea typeface="Georgia" pitchFamily="34" charset="-122"/>
                <a:cs typeface="Georgia" pitchFamily="34" charset="-120"/>
              </a:rPr>
              <a:t>Production log</a:t>
            </a:r>
            <a:endParaRPr lang="en-US" sz="1400" dirty="0"/>
          </a:p>
        </p:txBody>
      </p:sp>
      <p:sp>
        <p:nvSpPr>
          <p:cNvPr id="28" name="Shape 26"/>
          <p:cNvSpPr/>
          <p:nvPr/>
        </p:nvSpPr>
        <p:spPr>
          <a:xfrm>
            <a:off x="9004554" y="3209544"/>
            <a:ext cx="2361438" cy="548640"/>
          </a:xfrm>
          <a:prstGeom prst="rect">
            <a:avLst/>
          </a:prstGeom>
          <a:solidFill>
            <a:srgbClr val="E8EFE7"/>
          </a:solidFill>
          <a:ln/>
        </p:spPr>
      </p:sp>
      <p:sp>
        <p:nvSpPr>
          <p:cNvPr id="29" name="Text 27"/>
          <p:cNvSpPr/>
          <p:nvPr/>
        </p:nvSpPr>
        <p:spPr>
          <a:xfrm>
            <a:off x="9169146" y="3209544"/>
            <a:ext cx="2087118" cy="548640"/>
          </a:xfrm>
          <a:prstGeom prst="rect">
            <a:avLst/>
          </a:prstGeom>
          <a:noFill/>
          <a:ln/>
        </p:spPr>
        <p:txBody>
          <a:bodyPr wrap="square" lIns="0" tIns="0" rIns="0" bIns="0" rtlCol="0" anchor="ctr"/>
          <a:lstStyle/>
          <a:p>
            <a:pPr indent="0" marL="0">
              <a:buNone/>
            </a:pPr>
            <a:r>
              <a:rPr lang="en-US" sz="1400" dirty="0">
                <a:solidFill>
                  <a:srgbClr val="24313F"/>
                </a:solidFill>
                <a:latin typeface="Georgia" pitchFamily="34" charset="0"/>
                <a:ea typeface="Georgia" pitchFamily="34" charset="-122"/>
                <a:cs typeface="Georgia" pitchFamily="34" charset="-120"/>
              </a:rPr>
              <a:t>Early evidence</a:t>
            </a:r>
            <a:endParaRPr lang="en-US" sz="1400" dirty="0"/>
          </a:p>
        </p:txBody>
      </p:sp>
      <p:sp>
        <p:nvSpPr>
          <p:cNvPr id="30" name="Text 28"/>
          <p:cNvSpPr/>
          <p:nvPr/>
        </p:nvSpPr>
        <p:spPr>
          <a:xfrm>
            <a:off x="822960" y="4069080"/>
            <a:ext cx="10424160" cy="1097280"/>
          </a:xfrm>
          <a:prstGeom prst="rect">
            <a:avLst/>
          </a:prstGeom>
          <a:noFill/>
          <a:ln/>
        </p:spPr>
        <p:txBody>
          <a:bodyPr wrap="square" lIns="0" tIns="0" rIns="0" bIns="0" rtlCol="0" anchor="t"/>
          <a:lstStyle/>
          <a:p>
            <a:pPr indent="0" marL="0">
              <a:lnSpc>
                <a:spcPts val="2300"/>
              </a:lnSpc>
              <a:buNone/>
            </a:pPr>
            <a:r>
              <a:rPr lang="en-US" sz="1700" dirty="0">
                <a:solidFill>
                  <a:srgbClr val="24313F"/>
                </a:solidFill>
                <a:latin typeface="Georgia" pitchFamily="34" charset="0"/>
                <a:ea typeface="Georgia" pitchFamily="34" charset="-122"/>
                <a:cs typeface="Georgia" pitchFamily="34" charset="-120"/>
              </a:rPr>
              <a:t>Every post dated on the day it happened, contributions labelled, no gaps. The four technical builds are named on this checklist for the first time: they are Component 1 evidence under Cambridge's own portfolio structure, and a blog missing them is missing marks it already earned in class.</a:t>
            </a:r>
            <a:endParaRPr lang="en-US" sz="1700" dirty="0"/>
          </a:p>
        </p:txBody>
      </p:sp>
      <p:sp>
        <p:nvSpPr>
          <p:cNvPr id="31" name="Shape 29"/>
          <p:cNvSpPr/>
          <p:nvPr/>
        </p:nvSpPr>
        <p:spPr>
          <a:xfrm>
            <a:off x="822960" y="5303520"/>
            <a:ext cx="914400" cy="0"/>
          </a:xfrm>
          <a:prstGeom prst="line">
            <a:avLst/>
          </a:prstGeom>
          <a:noFill/>
          <a:ln w="31750">
            <a:solidFill>
              <a:srgbClr val="8C3A38"/>
            </a:solidFill>
            <a:prstDash val="solid"/>
          </a:ln>
        </p:spPr>
      </p:sp>
      <p:sp>
        <p:nvSpPr>
          <p:cNvPr id="32" name="Text 30"/>
          <p:cNvSpPr/>
          <p:nvPr/>
        </p:nvSpPr>
        <p:spPr>
          <a:xfrm>
            <a:off x="822960" y="5486400"/>
            <a:ext cx="10424160" cy="457200"/>
          </a:xfrm>
          <a:prstGeom prst="rect">
            <a:avLst/>
          </a:prstGeom>
          <a:noFill/>
          <a:ln/>
        </p:spPr>
        <p:txBody>
          <a:bodyPr wrap="square" lIns="0" tIns="0" rIns="0" bIns="0" rtlCol="0" anchor="ctr"/>
          <a:lstStyle/>
          <a:p>
            <a:pPr indent="0" marL="0">
              <a:buNone/>
            </a:pPr>
            <a:r>
              <a:rPr lang="en-US" sz="1250" i="1" dirty="0">
                <a:solidFill>
                  <a:srgbClr val="7A7F72"/>
                </a:solidFill>
                <a:latin typeface="Arial" pitchFamily="34" charset="0"/>
                <a:ea typeface="Arial" pitchFamily="34" charset="-122"/>
                <a:cs typeface="Arial" pitchFamily="34" charset="-120"/>
              </a:rPr>
              <a:t>Findings written as actions, not comments. Post 3 has no audience data, add the survey screenshot beats more detail. Three teaching days to Monday.</a:t>
            </a:r>
            <a:endParaRPr lang="en-US" sz="1250" dirty="0"/>
          </a:p>
        </p:txBody>
      </p:sp>
      <p:sp>
        <p:nvSpPr>
          <p:cNvPr id="33" name="Shape 31"/>
          <p:cNvSpPr/>
          <p:nvPr/>
        </p:nvSpPr>
        <p:spPr>
          <a:xfrm>
            <a:off x="822960" y="6382512"/>
            <a:ext cx="10543032" cy="0"/>
          </a:xfrm>
          <a:prstGeom prst="line">
            <a:avLst/>
          </a:prstGeom>
          <a:noFill/>
          <a:ln w="9525">
            <a:solidFill>
              <a:srgbClr val="D9D4C4"/>
            </a:solidFill>
            <a:prstDash val="solid"/>
          </a:ln>
        </p:spPr>
      </p:sp>
      <p:sp>
        <p:nvSpPr>
          <p:cNvPr id="34" name="Text 32"/>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35" name="Text 33"/>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04</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DELIVERABLE · CS5</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THE AUDIT THAT MAKES A2 SAFE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280160"/>
            <a:ext cx="10543032" cy="914400"/>
          </a:xfrm>
          <a:prstGeom prst="rect">
            <a:avLst/>
          </a:prstGeom>
          <a:noFill/>
          <a:ln/>
        </p:spPr>
        <p:txBody>
          <a:bodyPr wrap="square" lIns="0" tIns="0" rIns="0" bIns="0" rtlCol="0" anchor="ctr"/>
          <a:lstStyle/>
          <a:p>
            <a:pPr indent="0" marL="0">
              <a:buNone/>
            </a:pPr>
            <a:r>
              <a:rPr lang="en-US" sz="3600" dirty="0">
                <a:solidFill>
                  <a:srgbClr val="24313F"/>
                </a:solidFill>
                <a:latin typeface="Georgia" pitchFamily="34" charset="0"/>
                <a:ea typeface="Georgia" pitchFamily="34" charset="-122"/>
                <a:cs typeface="Georgia" pitchFamily="34" charset="-120"/>
              </a:rPr>
              <a:t>Three teaching days to Monday</a:t>
            </a:r>
            <a:endParaRPr lang="en-US" sz="3600" dirty="0"/>
          </a:p>
        </p:txBody>
      </p:sp>
      <p:sp>
        <p:nvSpPr>
          <p:cNvPr id="6" name="Shape 4"/>
          <p:cNvSpPr/>
          <p:nvPr/>
        </p:nvSpPr>
        <p:spPr>
          <a:xfrm>
            <a:off x="822960" y="2514600"/>
            <a:ext cx="914400" cy="0"/>
          </a:xfrm>
          <a:prstGeom prst="line">
            <a:avLst/>
          </a:prstGeom>
          <a:noFill/>
          <a:ln w="31750">
            <a:solidFill>
              <a:srgbClr val="8C3A38"/>
            </a:solidFill>
            <a:prstDash val="solid"/>
          </a:ln>
        </p:spPr>
      </p:sp>
      <p:sp>
        <p:nvSpPr>
          <p:cNvPr id="7" name="Text 5"/>
          <p:cNvSpPr/>
          <p:nvPr/>
        </p:nvSpPr>
        <p:spPr>
          <a:xfrm>
            <a:off x="822960" y="2743200"/>
            <a:ext cx="9875520" cy="1920240"/>
          </a:xfrm>
          <a:prstGeom prst="rect">
            <a:avLst/>
          </a:prstGeom>
          <a:noFill/>
          <a:ln/>
        </p:spPr>
        <p:txBody>
          <a:bodyPr wrap="square" lIns="0" tIns="0" rIns="0" bIns="0" rtlCol="0" anchor="t"/>
          <a:lstStyle/>
          <a:p>
            <a:pPr indent="0" marL="0">
              <a:lnSpc>
                <a:spcPts val="2800"/>
              </a:lnSpc>
              <a:buNone/>
            </a:pPr>
            <a:r>
              <a:rPr lang="en-US" sz="2000" dirty="0">
                <a:solidFill>
                  <a:srgbClr val="24313F"/>
                </a:solidFill>
                <a:latin typeface="Georgia" pitchFamily="34" charset="0"/>
                <a:ea typeface="Georgia" pitchFamily="34" charset="-122"/>
                <a:cs typeface="Georgia" pitchFamily="34" charset="-120"/>
              </a:rPr>
              <a:t>CS5 is a peer blog audit against the mid-point checklist, the same instrument A2 is marked with. It is placed with working days to spare on purpose, so the deadline surprises nobody. A2 is submitted work, not a sitting: it is due the Monday after this lesson ends.</a:t>
            </a:r>
            <a:endParaRPr lang="en-US" sz="2000" dirty="0"/>
          </a:p>
        </p:txBody>
      </p:sp>
      <p:sp>
        <p:nvSpPr>
          <p:cNvPr id="8" name="Shape 6"/>
          <p:cNvSpPr/>
          <p:nvPr/>
        </p:nvSpPr>
        <p:spPr>
          <a:xfrm>
            <a:off x="822960" y="6382512"/>
            <a:ext cx="10543032" cy="0"/>
          </a:xfrm>
          <a:prstGeom prst="line">
            <a:avLst/>
          </a:prstGeom>
          <a:noFill/>
          <a:ln w="9525">
            <a:solidFill>
              <a:srgbClr val="D9D4C4"/>
            </a:solidFill>
            <a:prstDash val="solid"/>
          </a:ln>
        </p:spPr>
      </p:sp>
      <p:sp>
        <p:nvSpPr>
          <p:cNvPr id="9" name="Text 7"/>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0" name="Text 8"/>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05</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 y="2148840"/>
            <a:ext cx="54864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NEXT</a:t>
            </a:r>
            <a:endParaRPr lang="en-US" sz="1100" dirty="0"/>
          </a:p>
        </p:txBody>
      </p:sp>
      <p:sp>
        <p:nvSpPr>
          <p:cNvPr id="3" name="Shape 1"/>
          <p:cNvSpPr/>
          <p:nvPr/>
        </p:nvSpPr>
        <p:spPr>
          <a:xfrm>
            <a:off x="822960" y="2514600"/>
            <a:ext cx="3108960" cy="0"/>
          </a:xfrm>
          <a:prstGeom prst="line">
            <a:avLst/>
          </a:prstGeom>
          <a:noFill/>
          <a:ln w="9525">
            <a:solidFill>
              <a:srgbClr val="8AA394"/>
            </a:solidFill>
            <a:prstDash val="solid"/>
          </a:ln>
        </p:spPr>
      </p:sp>
      <p:sp>
        <p:nvSpPr>
          <p:cNvPr id="4" name="Text 2"/>
          <p:cNvSpPr/>
          <p:nvPr/>
        </p:nvSpPr>
        <p:spPr>
          <a:xfrm>
            <a:off x="822960" y="2514600"/>
            <a:ext cx="10241280" cy="2103120"/>
          </a:xfrm>
          <a:prstGeom prst="rect">
            <a:avLst/>
          </a:prstGeom>
          <a:noFill/>
          <a:ln/>
        </p:spPr>
        <p:txBody>
          <a:bodyPr wrap="square" lIns="0" tIns="0" rIns="0" bIns="0" rtlCol="0" anchor="t"/>
          <a:lstStyle/>
          <a:p>
            <a:pPr indent="0" marL="0">
              <a:lnSpc>
                <a:spcPts val="5200"/>
              </a:lnSpc>
              <a:buNone/>
            </a:pPr>
            <a:r>
              <a:rPr lang="en-US" sz="4800" dirty="0">
                <a:solidFill>
                  <a:srgbClr val="FAF8F1"/>
                </a:solidFill>
                <a:latin typeface="Georgia" pitchFamily="34" charset="0"/>
                <a:ea typeface="Georgia" pitchFamily="34" charset="-122"/>
                <a:cs typeface="Georgia" pitchFamily="34" charset="-120"/>
              </a:rPr>
              <a:t>Representation,</a:t>
            </a:r>
            <a:endParaRPr lang="en-US" sz="4800" dirty="0"/>
          </a:p>
          <a:p>
            <a:pPr indent="0" marL="0">
              <a:lnSpc>
                <a:spcPts val="5200"/>
              </a:lnSpc>
              <a:buNone/>
            </a:pPr>
            <a:r>
              <a:rPr lang="en-US" sz="4800" dirty="0">
                <a:solidFill>
                  <a:srgbClr val="FAF8F1"/>
                </a:solidFill>
                <a:latin typeface="Georgia" pitchFamily="34" charset="0"/>
                <a:ea typeface="Georgia" pitchFamily="34" charset="-122"/>
                <a:cs typeface="Georgia" pitchFamily="34" charset="-120"/>
              </a:rPr>
              <a:t>Applied</a:t>
            </a:r>
            <a:endParaRPr lang="en-US" sz="4800" dirty="0"/>
          </a:p>
        </p:txBody>
      </p:sp>
      <p:sp>
        <p:nvSpPr>
          <p:cNvPr id="5" name="Text 3"/>
          <p:cNvSpPr/>
          <p:nvPr/>
        </p:nvSpPr>
        <p:spPr>
          <a:xfrm>
            <a:off x="822960" y="4480560"/>
            <a:ext cx="10241280" cy="822960"/>
          </a:xfrm>
          <a:prstGeom prst="rect">
            <a:avLst/>
          </a:prstGeom>
          <a:noFill/>
          <a:ln/>
        </p:spPr>
        <p:txBody>
          <a:bodyPr wrap="square" lIns="0" tIns="0" rIns="0" bIns="0" rtlCol="0" anchor="t"/>
          <a:lstStyle/>
          <a:p>
            <a:pPr indent="0" marL="0">
              <a:lnSpc>
                <a:spcPts val="2800"/>
              </a:lnSpc>
              <a:buNone/>
            </a:pPr>
            <a:r>
              <a:rPr lang="en-US" sz="2200" i="1" dirty="0">
                <a:solidFill>
                  <a:srgbClr val="E8EFE7"/>
                </a:solidFill>
                <a:latin typeface="Georgia" pitchFamily="34" charset="0"/>
                <a:ea typeface="Georgia" pitchFamily="34" charset="-122"/>
                <a:cs typeface="Georgia" pitchFamily="34" charset="-120"/>
              </a:rPr>
              <a:t>Lesson 11. A2 goes in on Monday, and representation turns on the product you are making.</a:t>
            </a:r>
            <a:endParaRPr lang="en-US" sz="2200" dirty="0"/>
          </a:p>
        </p:txBody>
      </p:sp>
      <p:sp>
        <p:nvSpPr>
          <p:cNvPr id="6" name="Shape 4"/>
          <p:cNvSpPr/>
          <p:nvPr/>
        </p:nvSpPr>
        <p:spPr>
          <a:xfrm>
            <a:off x="822960" y="6382512"/>
            <a:ext cx="10543032" cy="0"/>
          </a:xfrm>
          <a:prstGeom prst="line">
            <a:avLst/>
          </a:prstGeom>
          <a:noFill/>
          <a:ln w="9525">
            <a:solidFill>
              <a:srgbClr val="6E8A7C"/>
            </a:solidFill>
            <a:prstDash val="solid"/>
          </a:ln>
        </p:spPr>
      </p:sp>
      <p:sp>
        <p:nvSpPr>
          <p:cNvPr id="7" name="Text 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E8EFE7"/>
                </a:solidFill>
                <a:latin typeface="Arial" pitchFamily="34" charset="0"/>
                <a:ea typeface="Arial" pitchFamily="34" charset="-122"/>
                <a:cs typeface="Arial" pitchFamily="34" charset="-120"/>
              </a:rPr>
              <a:t>MEDIA STUDIES 9607 · SEMESTER I</a:t>
            </a:r>
            <a:endParaRPr lang="en-US" sz="900" dirty="0"/>
          </a:p>
        </p:txBody>
      </p:sp>
      <p:sp>
        <p:nvSpPr>
          <p:cNvPr id="8" name="Text 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E8EFE7"/>
                </a:solidFill>
                <a:latin typeface="Georgia" pitchFamily="34" charset="0"/>
                <a:ea typeface="Georgia" pitchFamily="34" charset="-122"/>
                <a:cs typeface="Georgia" pitchFamily="34" charset="-120"/>
              </a:rPr>
              <a:t>06</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2026-08-12T14:04:18Z</dcterms:created>
  <dcterms:modified xsi:type="dcterms:W3CDTF">2026-08-12T14:04:18Z</dcterms:modified>
</cp:coreProperties>
</file>