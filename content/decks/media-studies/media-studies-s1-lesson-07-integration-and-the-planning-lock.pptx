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elements taught one at a time and shot one at a time. Tuesday is where they stop being four lessons and start being one instrument.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extract, the protocol order, everything at the same time. That paragraph is A1 with the stakes off, two weeks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Rubens sketch sets the standard for the lock: a plan complete enough to hand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822960"/>
            <a:ext cx="41148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UNIT 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and</a:t>
            </a:r>
            <a:endParaRPr lang="en-US" sz="4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Planning Lock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Language · Lesson 07 of 19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days  ·  Tuesday 29, Wednesday 30 September, then Friday 9 October after the break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640080"/>
            <a:ext cx="448056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TUESDAY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4320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5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four at once,</a:t>
            </a:r>
            <a:endParaRPr lang="en-US" sz="50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pass.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VIEWING PROTOCOL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ORDER, EVERY EXTRACT, FOR TWO YEARS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passes, always in this order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566928" cy="566928"/>
          </a:xfrm>
          <a:prstGeom prst="rect">
            <a:avLst/>
          </a:prstGeom>
          <a:solidFill>
            <a:srgbClr val="A3C1A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17830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Framing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480560" y="17830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in the frame, and what has been kept out of it.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566928" cy="566928"/>
          </a:xfrm>
          <a:prstGeom prst="rect">
            <a:avLst/>
          </a:prstGeom>
          <a:solidFill>
            <a:srgbClr val="A3C1A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24414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Camera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480560" y="24414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Shot, angle, movement, composition. Lesson 03.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3099816"/>
            <a:ext cx="566928" cy="566928"/>
          </a:xfrm>
          <a:prstGeom prst="rect">
            <a:avLst/>
          </a:prstGeom>
          <a:solidFill>
            <a:srgbClr val="A3C1A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99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309981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480560" y="30998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Direction, quality, contrast, and what it makes important. Lesson 05.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22960" y="3758184"/>
            <a:ext cx="566928" cy="566928"/>
          </a:xfrm>
          <a:prstGeom prst="rect">
            <a:avLst/>
          </a:prstGeom>
          <a:solidFill>
            <a:srgbClr val="A3C1A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58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45920" y="375818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Mise-en-scène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4480560" y="375818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Location, costume, properties, colour. Lesson 05.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22960" y="4416552"/>
            <a:ext cx="566928" cy="566928"/>
          </a:xfrm>
          <a:prstGeom prst="rect">
            <a:avLst/>
          </a:prstGeom>
          <a:solidFill>
            <a:srgbClr val="A3C1AD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416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45920" y="44165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480560" y="441655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Diegetic and non-diegetic, perspective, the bridge. Lesson 04.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822960" y="5074920"/>
            <a:ext cx="566928" cy="566928"/>
          </a:xfrm>
          <a:prstGeom prst="rect">
            <a:avLst/>
          </a:prstGeom>
          <a:solidFill>
            <a:srgbClr val="A3C1AD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074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645920" y="50749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4480560" y="50749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cut rate, the system, what the order does. Lesson 06.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822960" y="58064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9436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exists because the commonest failure is not ignorance. It is a whole code family left unvisited.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· CS7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TUESDAY, FIFTEEN MINUTES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430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paragraph, at least three elements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28800" y="2514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Technique named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303520" y="25146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syllabus's own term, not a description of 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828800" y="3429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 created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303520" y="34290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choice does to the viewer, stated as an effect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343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828800" y="4343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Representation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303520" y="43434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therefore says about the person, place or event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54864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in exam register, collected, and marked in the official Paper 2 language so the feedback transfers straight to A1 in two weeks.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gan/Documents/Vaults/Courses/wiki/classes/media-studies/decks/_build/img/crops/rubens-sketch_a6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0"/>
            <a:ext cx="45537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8120" y="6126480"/>
            <a:ext cx="418795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Rubens, Multiple Sketch for the Banqueting House Ceiling, c. 1629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649224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6492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Painted from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sketch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6583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Rubens' assistants painted a whole ceiling from a sketch this size, because the plan answered every question before the brush touched the wall. Your C1 plan is locked when it could be shot the same way: by someone who was not in the room.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LOCK · TEN ITEMS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DESCRIBE, QUESTION, SUGGEST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shootability checklist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Numbered shots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2359152"/>
            <a:ext cx="502920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871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4871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Confirmed locations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3017520"/>
            <a:ext cx="502920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455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1455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Cast attached to dates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3675888"/>
            <a:ext cx="502920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039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8039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Equipment per session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2960" y="4334256"/>
            <a:ext cx="502920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622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4622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contingency day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4992624"/>
            <a:ext cx="502920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0" y="1828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Assigned roles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217920" y="2359152"/>
            <a:ext cx="502920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4871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24871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Costume and props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217920" y="3017520"/>
            <a:ext cx="502920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1455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58000" y="31455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Storyboard matches shot list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217920" y="3675888"/>
            <a:ext cx="502920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38039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858000" y="38039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fits the break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217920" y="4334256"/>
            <a:ext cx="502920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44622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58000" y="44622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outside dependencies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6217920" y="4992624"/>
            <a:ext cx="502920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25780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as launch clearance: ten green lights or the plan does not fly. Locked means locked: later changes are documented decisions in the diary, not silent swaps.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ARRIVES AT THE LOCK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THIS YEAR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5156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builds, already dated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914400" cy="658368"/>
          </a:xfrm>
          <a:prstGeom prst="rect">
            <a:avLst/>
          </a:prstGeom>
          <a:solidFill>
            <a:srgbClr val="A3C1A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196596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shot vocabulary, proven on six frames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22960" y="2834640"/>
            <a:ext cx="914400" cy="658368"/>
          </a:xfrm>
          <a:prstGeom prst="rect">
            <a:avLst/>
          </a:prstGeom>
          <a:solidFill>
            <a:srgbClr val="A3C1A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3464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11680" y="283464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soundscape for this opening, already built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22960" y="3703320"/>
            <a:ext cx="914400" cy="658368"/>
          </a:xfrm>
          <a:prstGeom prst="rect">
            <a:avLst/>
          </a:prstGeom>
          <a:solidFill>
            <a:srgbClr val="A3C1A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0332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370332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design board the reviewer holds beside your plan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22960" y="4572000"/>
            <a:ext cx="914400" cy="658368"/>
          </a:xfrm>
          <a:prstGeom prst="rect">
            <a:avLst/>
          </a:prstGeom>
          <a:solidFill>
            <a:srgbClr val="A3C1A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5720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11680" y="457200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edit workflow tested, and a kit that works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822960" y="5486400"/>
            <a:ext cx="10543032" cy="777240"/>
          </a:xfrm>
          <a:prstGeom prst="rect">
            <a:avLst/>
          </a:prstGeom>
          <a:solidFill>
            <a:srgbClr val="E8EFE7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5532120"/>
            <a:ext cx="9994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Reviewers keep your own design board open beside the plan: costume and properties must match it, or one of the two is wrong.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LESSON CARRIES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PARAGRAPH, ONE BREAK TASK, TWO DATES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things go on the record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29 SEP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1691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four-element analytical paragraph on an unseen extract. Direct practice for A1, marked in the same language.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642616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523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32095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WED 30 SEP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2752344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A1-format analysis of a self-chosen sequence over the break, plus the production shoot window.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370332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13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A1 announced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" y="4270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SITS WED 14 OCT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381304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attainment, announced today because its notice window falls inside the holiday.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2960" y="476402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873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LB1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2960" y="5330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9 OCT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487375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Blog punctuality across the four technical builds, HW1 returned on time, glossary current.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22960" y="5824728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 9 OCTOBER · THE RETURN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 SECONDS OF RAW FOOTAGE EACH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6012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the one that failed, and why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technical vocabulary is review now, not first teaching. Every group screens ninety seconds and says, in the syllabus's words, which shot they got right and which one failed.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8C3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Exposure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822960" y="3456432"/>
            <a:ext cx="3209544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611880"/>
            <a:ext cx="3209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 on a bright background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03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89704" y="292608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8C3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4489704" y="3456432"/>
            <a:ext cx="3209544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4" y="3611880"/>
            <a:ext cx="3209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recorded in a room nobody controlled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89704" y="457200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04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56448" y="292608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8C3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cut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8156448" y="3456432"/>
            <a:ext cx="3209544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56448" y="3611880"/>
            <a:ext cx="3209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will not match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156448" y="457200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06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521208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394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only session where a group finds out its audio is unusable while there is still a fortnight to reshoot. HW1 is debriefed the same day, annotated and not graded: the margin notes are A1 feedback five days early.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5146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Viewing Protocol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A1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4805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08. The lexicon tested, the paragraph built, then sixty minutes on an extract nobody has seen.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2026-08-09T08:11:42Z</dcterms:created>
  <dcterms:modified xsi:type="dcterms:W3CDTF">2026-08-09T08:11:42Z</dcterms:modified>
</cp:coreProperties>
</file>