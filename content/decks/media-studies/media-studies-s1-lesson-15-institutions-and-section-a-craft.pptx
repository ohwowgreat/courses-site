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2 becomes the destination. Morley explains why the same text reads differently; ownership explains why texts say what they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court photographer's frame belonged to the court. Who pays shapes what gets said, in 1857 as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replicates the study in miniature: one short text screened, readings gathered anonymously on cards, compared against situation. The disagreement is the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card is the study's own object. D1 replicates the method on a text the class knows instead: same protocol, groups compared, readings tracked to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Re-derived from the library original and shown whole: the plate's composition is the argument, so it is never cropped. The historical proof in one image, before any modern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License-fee figure verified 2026-08-24: 180 pounds a year from 1 April 2026. The CCTV, Tencent and bilibili parallels stay spoken asides per the exam-example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game rules: teams pick a visible decision from real current output, trace it link by link, a point per link that survives the room's challenge; the fastest verified chain presents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Replaced Underwood's parapet metaphor 2026-08-24: institutions own the platform, the schedule, the budget, the greenlight, shown as one real conglomerate. Disney is the Scheme of Work's own conglomeration example. The chart is drawn, not sourced, so it can be redrawn for any case-study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CS12 is part collaborative by design. The find-your-unfed-criterion move sets each student's personal A4 target. Warm-up: Deck U5.2's context-terms quiz.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document is the highest-leverage artifact this side of the blog: it feeds A4, the End of Term Exam, and Paper 2 in May. WS 5.3 is handed out as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June 2024/21 paper is rendered anywhere in the deck set: 22 and 23 name the End-of-Term text and stay sealed, as do all June 2025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XV</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V</a:t>
            </a:r>
            <a:endParaRPr lang="en-US" sz="1100" dirty="0"/>
          </a:p>
        </p:txBody>
      </p:sp>
      <p:sp>
        <p:nvSpPr>
          <p:cNvPr id="4" name="Text 2"/>
          <p:cNvSpPr/>
          <p:nvPr/>
        </p:nvSpPr>
        <p:spPr>
          <a:xfrm>
            <a:off x="822960" y="1737360"/>
            <a:ext cx="7132320" cy="2377440"/>
          </a:xfrm>
          <a:prstGeom prst="rect">
            <a:avLst/>
          </a:prstGeom>
          <a:noFill/>
          <a:ln/>
        </p:spPr>
        <p:txBody>
          <a:bodyPr wrap="square" lIns="0" tIns="0" rIns="0" bIns="0" rtlCol="0" anchor="t"/>
          <a:lstStyle/>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Institutions and</a:t>
            </a:r>
            <a:endParaRPr lang="en-US" sz="5200" dirty="0"/>
          </a:p>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Section A Craft</a:t>
            </a:r>
            <a:endParaRPr lang="en-US" sz="5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Contexts · Lesson 15 of 19</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Monday 7 to Friday 11 December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6000" dirty="0">
                <a:solidFill>
                  <a:srgbClr val="5C7A6B"/>
                </a:solidFill>
                <a:latin typeface="Georgia" pitchFamily="34" charset="0"/>
                <a:ea typeface="Georgia" pitchFamily="34" charset="-122"/>
                <a:cs typeface="Georgia" pitchFamily="34" charset="-120"/>
              </a:rPr>
              <a:t>XV</a:t>
            </a:r>
            <a:endParaRPr lang="en-US" sz="36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OWNERSHIP</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766560" cy="2194560"/>
          </a:xfrm>
          <a:prstGeom prst="rect">
            <a:avLst/>
          </a:prstGeom>
          <a:noFill/>
          <a:ln/>
        </p:spPr>
        <p:txBody>
          <a:bodyPr wrap="square" lIns="0" tIns="0" rIns="0" bIns="0" rtlCol="0" anchor="t"/>
          <a:lstStyle/>
          <a:p>
            <a:pPr indent="0" marL="0">
              <a:lnSpc>
                <a:spcPts val="5600"/>
              </a:lnSpc>
              <a:buNone/>
            </a:pPr>
            <a:r>
              <a:rPr lang="en-US" sz="5600" dirty="0">
                <a:solidFill>
                  <a:srgbClr val="FAF8F1"/>
                </a:solidFill>
                <a:latin typeface="Georgia" pitchFamily="34" charset="0"/>
                <a:ea typeface="Georgia" pitchFamily="34" charset="-122"/>
                <a:cs typeface="Georgia" pitchFamily="34" charset="-120"/>
              </a:rPr>
              <a:t>Funding follows</a:t>
            </a:r>
            <a:endParaRPr lang="en-US" sz="5600" dirty="0"/>
          </a:p>
          <a:p>
            <a:pPr indent="0" marL="0">
              <a:lnSpc>
                <a:spcPts val="5600"/>
              </a:lnSpc>
              <a:buNone/>
            </a:pPr>
            <a:r>
              <a:rPr lang="en-US" sz="5600" dirty="0">
                <a:solidFill>
                  <a:srgbClr val="FAF8F1"/>
                </a:solidFill>
                <a:latin typeface="Georgia" pitchFamily="34" charset="0"/>
                <a:ea typeface="Georgia" pitchFamily="34" charset="-122"/>
                <a:cs typeface="Georgia" pitchFamily="34" charset="-120"/>
              </a:rPr>
              <a:t>content.</a:t>
            </a:r>
            <a:endParaRPr 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MORLEY · THE NATIONWIDE STUDY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READINGS TRACK SITUATION, NOT INTELLIGENCE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The same broadcast, different readings</a:t>
            </a:r>
            <a:endParaRPr lang="en-US" sz="30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The study</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Real audience groups were shown the same broadcast, and their readings were gathered and compared.</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5C7A6B"/>
                </a:solidFill>
                <a:latin typeface="Georgia" pitchFamily="34" charset="0"/>
                <a:ea typeface="Georgia" pitchFamily="34" charset="-122"/>
                <a:cs typeface="Georgia" pitchFamily="34" charset="-120"/>
              </a:rPr>
              <a:t>The finding</a:t>
            </a:r>
            <a:endParaRPr lang="en-US" sz="24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groups produced systematically different readings, and the differences tracked their social situations, not their intelligence.</a:t>
            </a:r>
            <a:endParaRPr lang="en-US" sz="1700" dirty="0"/>
          </a:p>
        </p:txBody>
      </p:sp>
      <p:sp>
        <p:nvSpPr>
          <p:cNvPr id="12" name="Shape 10"/>
          <p:cNvSpPr/>
          <p:nvPr/>
        </p:nvSpPr>
        <p:spPr>
          <a:xfrm>
            <a:off x="822960" y="5212080"/>
            <a:ext cx="914400" cy="0"/>
          </a:xfrm>
          <a:prstGeom prst="line">
            <a:avLst/>
          </a:prstGeom>
          <a:noFill/>
          <a:ln w="31750">
            <a:solidFill>
              <a:srgbClr val="8C3A38"/>
            </a:solidFill>
            <a:prstDash val="solid"/>
          </a:ln>
        </p:spPr>
      </p:sp>
      <p:sp>
        <p:nvSpPr>
          <p:cNvPr id="13" name="Text 11"/>
          <p:cNvSpPr/>
          <p:nvPr/>
        </p:nvSpPr>
        <p:spPr>
          <a:xfrm>
            <a:off x="822960" y="5394960"/>
            <a:ext cx="10058400"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If readings differ by situation, then who makes the text matters even more. Tomorrow: ownership.</a:t>
            </a:r>
            <a:endParaRPr lang="en-US" sz="125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BROADCAST ITSELF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BBC ONE, EARLY EVENING, 1969 TO 1983</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6309360" cy="44805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nationwide-title.jpg">    </p:cNvPr>
          <p:cNvPicPr>
            <a:picLocks noChangeAspect="1"/>
          </p:cNvPicPr>
          <p:nvPr/>
        </p:nvPicPr>
        <p:blipFill>
          <a:blip r:embed="rId1"/>
          <a:stretch>
            <a:fillRect/>
          </a:stretch>
        </p:blipFill>
        <p:spPr>
          <a:xfrm>
            <a:off x="950976" y="1182634"/>
            <a:ext cx="6053328" cy="4218413"/>
          </a:xfrm>
          <a:prstGeom prst="rect">
            <a:avLst/>
          </a:prstGeom>
        </p:spPr>
      </p:pic>
      <p:sp>
        <p:nvSpPr>
          <p:cNvPr id="7" name="Text 4"/>
          <p:cNvSpPr/>
          <p:nvPr/>
        </p:nvSpPr>
        <p:spPr>
          <a:xfrm>
            <a:off x="822960" y="5596128"/>
            <a:ext cx="6309360"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Nationwide title sequence, BBC One</a:t>
            </a:r>
            <a:endParaRPr lang="en-US" sz="950" dirty="0"/>
          </a:p>
        </p:txBody>
      </p:sp>
      <p:sp>
        <p:nvSpPr>
          <p:cNvPr id="8" name="Text 5"/>
          <p:cNvSpPr/>
          <p:nvPr/>
        </p:nvSpPr>
        <p:spPr>
          <a:xfrm>
            <a:off x="7452360" y="1280160"/>
            <a:ext cx="3931920" cy="822960"/>
          </a:xfrm>
          <a:prstGeom prst="rect">
            <a:avLst/>
          </a:prstGeom>
          <a:noFill/>
          <a:ln/>
        </p:spPr>
        <p:txBody>
          <a:bodyPr wrap="square" lIns="0" tIns="0" rIns="0" bIns="0" rtlCol="0" anchor="t"/>
          <a:lstStyle/>
          <a:p>
            <a:pPr indent="0" marL="0">
              <a:lnSpc>
                <a:spcPts val="3400"/>
              </a:lnSpc>
              <a:buNone/>
            </a:pPr>
            <a:r>
              <a:rPr lang="en-US" sz="3000" dirty="0">
                <a:solidFill>
                  <a:srgbClr val="24313F"/>
                </a:solidFill>
                <a:latin typeface="Georgia" pitchFamily="34" charset="0"/>
                <a:ea typeface="Georgia" pitchFamily="34" charset="-122"/>
                <a:cs typeface="Georgia" pitchFamily="34" charset="-120"/>
              </a:rPr>
              <a:t>Deliberately ordinary</a:t>
            </a:r>
            <a:endParaRPr lang="en-US" sz="3000" dirty="0"/>
          </a:p>
        </p:txBody>
      </p:sp>
      <p:sp>
        <p:nvSpPr>
          <p:cNvPr id="9" name="Text 6"/>
          <p:cNvSpPr/>
          <p:nvPr/>
        </p:nvSpPr>
        <p:spPr>
          <a:xfrm>
            <a:off x="7452360" y="2240280"/>
            <a:ext cx="3931920" cy="356616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A teatime magazine programme: regional news, consumer items, the odd duck on a skateboard. Morley chose it because it was ordinary, addressed to everyone and pitched as common sense.</a:t>
            </a:r>
            <a:endParaRPr lang="en-US" sz="1500" dirty="0"/>
          </a:p>
          <a:p>
            <a:pPr indent="0" marL="0">
              <a:lnSpc>
                <a:spcPts val="2100"/>
              </a:lnSpc>
              <a:buNone/>
            </a:pPr>
            <a:endParaRPr lang="en-US" sz="1500" dirty="0"/>
          </a:p>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That is what made the finding sharp: if even this produces systematically different readings, no text is neutral.</a:t>
            </a:r>
            <a:endParaRPr lang="en-US" sz="1500" dirty="0"/>
          </a:p>
        </p:txBody>
      </p:sp>
      <p:sp>
        <p:nvSpPr>
          <p:cNvPr id="10" name="Shape 7"/>
          <p:cNvSpPr/>
          <p:nvPr/>
        </p:nvSpPr>
        <p:spPr>
          <a:xfrm>
            <a:off x="822960" y="6382512"/>
            <a:ext cx="10543032" cy="0"/>
          </a:xfrm>
          <a:prstGeom prst="line">
            <a:avLst/>
          </a:prstGeom>
          <a:noFill/>
          <a:ln w="9525">
            <a:solidFill>
              <a:srgbClr val="D9D4C4"/>
            </a:solidFill>
            <a:prstDash val="solid"/>
          </a:ln>
        </p:spPr>
      </p:sp>
      <p:sp>
        <p:nvSpPr>
          <p:cNvPr id="11"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FRAME BELONGED TO THE PAYER</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1857 AS NOW</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6675120" cy="46634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legray-emperor-whole.jpg">    </p:cNvPr>
          <p:cNvPicPr>
            <a:picLocks noChangeAspect="1"/>
          </p:cNvPicPr>
          <p:nvPr/>
        </p:nvPicPr>
        <p:blipFill>
          <a:blip r:embed="rId1"/>
          <a:stretch>
            <a:fillRect/>
          </a:stretch>
        </p:blipFill>
        <p:spPr>
          <a:xfrm>
            <a:off x="1321610" y="1179576"/>
            <a:ext cx="5677820" cy="4407408"/>
          </a:xfrm>
          <a:prstGeom prst="rect">
            <a:avLst/>
          </a:prstGeom>
        </p:spPr>
      </p:pic>
      <p:sp>
        <p:nvSpPr>
          <p:cNvPr id="7" name="Text 4"/>
          <p:cNvSpPr/>
          <p:nvPr/>
        </p:nvSpPr>
        <p:spPr>
          <a:xfrm>
            <a:off x="822960" y="5760720"/>
            <a:ext cx="6675120"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Gustave Le Gray, Preparation of the Emperor's Table, Camp de Chalons, 1857</a:t>
            </a:r>
            <a:endParaRPr lang="en-US" sz="950" dirty="0"/>
          </a:p>
        </p:txBody>
      </p:sp>
      <p:sp>
        <p:nvSpPr>
          <p:cNvPr id="8" name="Text 5"/>
          <p:cNvSpPr/>
          <p:nvPr/>
        </p:nvSpPr>
        <p:spPr>
          <a:xfrm>
            <a:off x="7818120" y="1280160"/>
            <a:ext cx="3566160" cy="822960"/>
          </a:xfrm>
          <a:prstGeom prst="rect">
            <a:avLst/>
          </a:prstGeom>
          <a:noFill/>
          <a:ln/>
        </p:spPr>
        <p:txBody>
          <a:bodyPr wrap="square" lIns="0" tIns="0" rIns="0" bIns="0" rtlCol="0" anchor="t"/>
          <a:lstStyle/>
          <a:p>
            <a:pPr indent="0" marL="0">
              <a:lnSpc>
                <a:spcPts val="3200"/>
              </a:lnSpc>
              <a:buNone/>
            </a:pPr>
            <a:r>
              <a:rPr lang="en-US" sz="2800" dirty="0">
                <a:solidFill>
                  <a:srgbClr val="24313F"/>
                </a:solidFill>
                <a:latin typeface="Georgia" pitchFamily="34" charset="0"/>
                <a:ea typeface="Georgia" pitchFamily="34" charset="-122"/>
                <a:cs typeface="Georgia" pitchFamily="34" charset="-120"/>
              </a:rPr>
              <a:t>A commissioned view</a:t>
            </a:r>
            <a:endParaRPr lang="en-US" sz="2800" dirty="0"/>
          </a:p>
        </p:txBody>
      </p:sp>
      <p:sp>
        <p:nvSpPr>
          <p:cNvPr id="9" name="Text 6"/>
          <p:cNvSpPr/>
          <p:nvPr/>
        </p:nvSpPr>
        <p:spPr>
          <a:xfrm>
            <a:off x="7818120" y="2240280"/>
            <a:ext cx="3566160" cy="356616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Le Gray photographed the Emperor's camp on commission. The laid table, the attendants, the orderly tents: every choice serves the payer's story of effortless command.</a:t>
            </a:r>
            <a:endParaRPr lang="en-US" sz="1450" dirty="0"/>
          </a:p>
          <a:p>
            <a:pPr indent="0" marL="0">
              <a:lnSpc>
                <a:spcPts val="2000"/>
              </a:lnSpc>
              <a:buNone/>
            </a:pPr>
            <a:endParaRPr lang="en-US" sz="1450" dirty="0"/>
          </a:p>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Who pays shapes what gets said. Hold that sentence; the rest of the week traces it through modern money.</a:t>
            </a:r>
            <a:endParaRPr lang="en-US" sz="1450" dirty="0"/>
          </a:p>
        </p:txBody>
      </p:sp>
      <p:sp>
        <p:nvSpPr>
          <p:cNvPr id="10" name="Shape 7"/>
          <p:cNvSpPr/>
          <p:nvPr/>
        </p:nvSpPr>
        <p:spPr>
          <a:xfrm>
            <a:off x="822960" y="6382512"/>
            <a:ext cx="10543032" cy="0"/>
          </a:xfrm>
          <a:prstGeom prst="line">
            <a:avLst/>
          </a:prstGeom>
          <a:noFill/>
          <a:ln w="9525">
            <a:solidFill>
              <a:srgbClr val="D9D4C4"/>
            </a:solidFill>
            <a:prstDash val="solid"/>
          </a:ln>
        </p:spPr>
      </p:sp>
      <p:sp>
        <p:nvSpPr>
          <p:cNvPr id="11"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WHO PAYS, AND WHAT THEY BUY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PSB VERSUS COMMERCIAL</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Follow the money</a:t>
            </a:r>
            <a:endParaRPr lang="en-US" sz="3200" dirty="0"/>
          </a:p>
        </p:txBody>
      </p:sp>
      <p:sp>
        <p:nvSpPr>
          <p:cNvPr id="6" name="Shape 4"/>
          <p:cNvSpPr/>
          <p:nvPr/>
        </p:nvSpPr>
        <p:spPr>
          <a:xfrm>
            <a:off x="822960" y="1737360"/>
            <a:ext cx="10543032" cy="0"/>
          </a:xfrm>
          <a:prstGeom prst="line">
            <a:avLst/>
          </a:prstGeom>
          <a:noFill/>
          <a:ln w="12700">
            <a:solidFill>
              <a:srgbClr val="24313F"/>
            </a:solidFill>
            <a:prstDash val="solid"/>
          </a:ln>
        </p:spPr>
      </p:sp>
      <p:sp>
        <p:nvSpPr>
          <p:cNvPr id="7" name="Text 5"/>
          <p:cNvSpPr/>
          <p:nvPr/>
        </p:nvSpPr>
        <p:spPr>
          <a:xfrm>
            <a:off x="822960" y="1737360"/>
            <a:ext cx="4023360" cy="64008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THE PAYER</a:t>
            </a:r>
            <a:endParaRPr lang="en-US" sz="1100" dirty="0"/>
          </a:p>
        </p:txBody>
      </p:sp>
      <p:sp>
        <p:nvSpPr>
          <p:cNvPr id="8" name="Text 6"/>
          <p:cNvSpPr/>
          <p:nvPr/>
        </p:nvSpPr>
        <p:spPr>
          <a:xfrm>
            <a:off x="5029200" y="1737360"/>
            <a:ext cx="6309360" cy="64008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WHAT THE MONEY BUYS</a:t>
            </a:r>
            <a:endParaRPr lang="en-US" sz="1100" dirty="0"/>
          </a:p>
        </p:txBody>
      </p:sp>
      <p:sp>
        <p:nvSpPr>
          <p:cNvPr id="9" name="Shape 7"/>
          <p:cNvSpPr/>
          <p:nvPr/>
        </p:nvSpPr>
        <p:spPr>
          <a:xfrm>
            <a:off x="822960" y="2377440"/>
            <a:ext cx="10543032" cy="0"/>
          </a:xfrm>
          <a:prstGeom prst="line">
            <a:avLst/>
          </a:prstGeom>
          <a:noFill/>
          <a:ln w="9525">
            <a:solidFill>
              <a:srgbClr val="D9D4C4"/>
            </a:solidFill>
            <a:prstDash val="solid"/>
          </a:ln>
        </p:spPr>
      </p:sp>
      <p:sp>
        <p:nvSpPr>
          <p:cNvPr id="10" name="Text 8"/>
          <p:cNvSpPr/>
          <p:nvPr/>
        </p:nvSpPr>
        <p:spPr>
          <a:xfrm>
            <a:off x="822960" y="237744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License fee or state</a:t>
            </a:r>
            <a:endParaRPr lang="en-US" sz="1900" dirty="0"/>
          </a:p>
        </p:txBody>
      </p:sp>
      <p:sp>
        <p:nvSpPr>
          <p:cNvPr id="11" name="Text 9"/>
          <p:cNvSpPr/>
          <p:nvPr/>
        </p:nvSpPr>
        <p:spPr>
          <a:xfrm>
            <a:off x="5029200" y="2377440"/>
            <a:ext cx="6309360" cy="64008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A remit: a duty to inform, educate, reach everyone. The UK license fee: 180 pounds a year from April 2026.</a:t>
            </a:r>
            <a:endParaRPr lang="en-US" sz="1550" dirty="0"/>
          </a:p>
        </p:txBody>
      </p:sp>
      <p:sp>
        <p:nvSpPr>
          <p:cNvPr id="12" name="Shape 10"/>
          <p:cNvSpPr/>
          <p:nvPr/>
        </p:nvSpPr>
        <p:spPr>
          <a:xfrm>
            <a:off x="822960" y="3017520"/>
            <a:ext cx="10543032" cy="0"/>
          </a:xfrm>
          <a:prstGeom prst="line">
            <a:avLst/>
          </a:prstGeom>
          <a:noFill/>
          <a:ln w="9525">
            <a:solidFill>
              <a:srgbClr val="D9D4C4"/>
            </a:solidFill>
            <a:prstDash val="solid"/>
          </a:ln>
        </p:spPr>
      </p:sp>
      <p:sp>
        <p:nvSpPr>
          <p:cNvPr id="13" name="Text 11"/>
          <p:cNvSpPr/>
          <p:nvPr/>
        </p:nvSpPr>
        <p:spPr>
          <a:xfrm>
            <a:off x="822960" y="301752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Advertisers</a:t>
            </a:r>
            <a:endParaRPr lang="en-US" sz="1900" dirty="0"/>
          </a:p>
        </p:txBody>
      </p:sp>
      <p:sp>
        <p:nvSpPr>
          <p:cNvPr id="14" name="Text 12"/>
          <p:cNvSpPr/>
          <p:nvPr/>
        </p:nvSpPr>
        <p:spPr>
          <a:xfrm>
            <a:off x="5029200" y="3017520"/>
            <a:ext cx="6309360" cy="64008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Your attention, delivered in the right demographic.</a:t>
            </a:r>
            <a:endParaRPr lang="en-US" sz="1550" dirty="0"/>
          </a:p>
        </p:txBody>
      </p:sp>
      <p:sp>
        <p:nvSpPr>
          <p:cNvPr id="15" name="Shape 13"/>
          <p:cNvSpPr/>
          <p:nvPr/>
        </p:nvSpPr>
        <p:spPr>
          <a:xfrm>
            <a:off x="822960" y="3657600"/>
            <a:ext cx="10543032" cy="0"/>
          </a:xfrm>
          <a:prstGeom prst="line">
            <a:avLst/>
          </a:prstGeom>
          <a:noFill/>
          <a:ln w="9525">
            <a:solidFill>
              <a:srgbClr val="D9D4C4"/>
            </a:solidFill>
            <a:prstDash val="solid"/>
          </a:ln>
        </p:spPr>
      </p:sp>
      <p:sp>
        <p:nvSpPr>
          <p:cNvPr id="16" name="Text 14"/>
          <p:cNvSpPr/>
          <p:nvPr/>
        </p:nvSpPr>
        <p:spPr>
          <a:xfrm>
            <a:off x="822960" y="365760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Subscribers</a:t>
            </a:r>
            <a:endParaRPr lang="en-US" sz="1900" dirty="0"/>
          </a:p>
        </p:txBody>
      </p:sp>
      <p:sp>
        <p:nvSpPr>
          <p:cNvPr id="17" name="Text 15"/>
          <p:cNvSpPr/>
          <p:nvPr/>
        </p:nvSpPr>
        <p:spPr>
          <a:xfrm>
            <a:off x="5029200" y="3657600"/>
            <a:ext cx="6309360" cy="64008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A product good enough that you keep paying for it.</a:t>
            </a:r>
            <a:endParaRPr lang="en-US" sz="1550" dirty="0"/>
          </a:p>
        </p:txBody>
      </p:sp>
      <p:sp>
        <p:nvSpPr>
          <p:cNvPr id="18" name="Shape 16"/>
          <p:cNvSpPr/>
          <p:nvPr/>
        </p:nvSpPr>
        <p:spPr>
          <a:xfrm>
            <a:off x="822960" y="4297680"/>
            <a:ext cx="10543032" cy="0"/>
          </a:xfrm>
          <a:prstGeom prst="line">
            <a:avLst/>
          </a:prstGeom>
          <a:noFill/>
          <a:ln w="9525">
            <a:solidFill>
              <a:srgbClr val="D9D4C4"/>
            </a:solidFill>
            <a:prstDash val="solid"/>
          </a:ln>
        </p:spPr>
      </p:sp>
      <p:sp>
        <p:nvSpPr>
          <p:cNvPr id="19" name="Text 17"/>
          <p:cNvSpPr/>
          <p:nvPr/>
        </p:nvSpPr>
        <p:spPr>
          <a:xfrm>
            <a:off x="822960" y="429768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The state directly</a:t>
            </a:r>
            <a:endParaRPr lang="en-US" sz="1900" dirty="0"/>
          </a:p>
        </p:txBody>
      </p:sp>
      <p:sp>
        <p:nvSpPr>
          <p:cNvPr id="20" name="Text 18"/>
          <p:cNvSpPr/>
          <p:nvPr/>
        </p:nvSpPr>
        <p:spPr>
          <a:xfrm>
            <a:off x="5029200" y="4297680"/>
            <a:ext cx="6309360" cy="64008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Content that aligns with the payer's interests.</a:t>
            </a:r>
            <a:endParaRPr lang="en-US" sz="1550" dirty="0"/>
          </a:p>
        </p:txBody>
      </p:sp>
      <p:sp>
        <p:nvSpPr>
          <p:cNvPr id="21" name="Shape 19"/>
          <p:cNvSpPr/>
          <p:nvPr/>
        </p:nvSpPr>
        <p:spPr>
          <a:xfrm>
            <a:off x="822960" y="4937760"/>
            <a:ext cx="10543032" cy="0"/>
          </a:xfrm>
          <a:prstGeom prst="line">
            <a:avLst/>
          </a:prstGeom>
          <a:noFill/>
          <a:ln w="9525">
            <a:solidFill>
              <a:srgbClr val="D9D4C4"/>
            </a:solidFill>
            <a:prstDash val="solid"/>
          </a:ln>
        </p:spPr>
      </p:sp>
      <p:sp>
        <p:nvSpPr>
          <p:cNvPr id="22" name="Text 20"/>
          <p:cNvSpPr/>
          <p:nvPr/>
        </p:nvSpPr>
        <p:spPr>
          <a:xfrm>
            <a:off x="822960" y="5074920"/>
            <a:ext cx="10543032" cy="36576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Curran and Seaton: ownership concentration narrows the range of stories that get told.</a:t>
            </a:r>
            <a:endParaRPr lang="en-US" sz="1200" dirty="0"/>
          </a:p>
        </p:txBody>
      </p:sp>
      <p:sp>
        <p:nvSpPr>
          <p:cNvPr id="23" name="Shape 21"/>
          <p:cNvSpPr/>
          <p:nvPr/>
        </p:nvSpPr>
        <p:spPr>
          <a:xfrm>
            <a:off x="822960" y="6382512"/>
            <a:ext cx="10543032" cy="0"/>
          </a:xfrm>
          <a:prstGeom prst="line">
            <a:avLst/>
          </a:prstGeom>
          <a:noFill/>
          <a:ln w="9525">
            <a:solidFill>
              <a:srgbClr val="D9D4C4"/>
            </a:solidFill>
            <a:prstDash val="solid"/>
          </a:ln>
        </p:spPr>
      </p:sp>
      <p:sp>
        <p:nvSpPr>
          <p:cNvPr id="24" name="Text 2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5" name="Text 2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3291840"/>
          </a:xfrm>
          <a:prstGeom prst="rect">
            <a:avLst/>
          </a:prstGeom>
          <a:noFill/>
          <a:ln/>
        </p:spPr>
        <p:txBody>
          <a:bodyPr wrap="square" lIns="0" tIns="0" rIns="0" bIns="0" rtlCol="0" anchor="ctr"/>
          <a:lstStyle/>
          <a:p>
            <a:pPr indent="0" marL="0">
              <a:lnSpc>
                <a:spcPts val="5200"/>
              </a:lnSpc>
              <a:buNone/>
            </a:pPr>
            <a:r>
              <a:rPr lang="en-US" sz="4400" dirty="0">
                <a:solidFill>
                  <a:srgbClr val="24313F"/>
                </a:solidFill>
                <a:latin typeface="Georgia" pitchFamily="34" charset="0"/>
                <a:ea typeface="Georgia" pitchFamily="34" charset="-122"/>
                <a:cs typeface="Georgia" pitchFamily="34" charset="-120"/>
              </a:rPr>
              <a:t>Freedom of the press is guaranteed only to those who own one.</a:t>
            </a:r>
            <a:endParaRPr lang="en-US" sz="4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A. J. Liebling, The New Yorker, 1960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TRACE ONE VISIBLE DECISION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BACK TO WHO PAYS FOR 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chain</a:t>
            </a:r>
            <a:endParaRPr lang="en-US" sz="3200" dirty="0"/>
          </a:p>
        </p:txBody>
      </p:sp>
      <p:sp>
        <p:nvSpPr>
          <p:cNvPr id="6" name="Shape 4"/>
          <p:cNvSpPr/>
          <p:nvPr/>
        </p:nvSpPr>
        <p:spPr>
          <a:xfrm>
            <a:off x="822960" y="2194560"/>
            <a:ext cx="3200400" cy="2103120"/>
          </a:xfrm>
          <a:prstGeom prst="rect">
            <a:avLst/>
          </a:prstGeom>
          <a:solidFill>
            <a:srgbClr val="FAF8F1"/>
          </a:solidFill>
          <a:ln w="12700">
            <a:solidFill>
              <a:srgbClr val="8AA394"/>
            </a:solidFill>
            <a:prstDash val="solid"/>
          </a:ln>
        </p:spPr>
      </p:sp>
      <p:sp>
        <p:nvSpPr>
          <p:cNvPr id="7" name="Text 5"/>
          <p:cNvSpPr/>
          <p:nvPr/>
        </p:nvSpPr>
        <p:spPr>
          <a:xfrm>
            <a:off x="1051560"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decision</a:t>
            </a:r>
            <a:endParaRPr lang="en-US" sz="2100" dirty="0"/>
          </a:p>
        </p:txBody>
      </p:sp>
      <p:sp>
        <p:nvSpPr>
          <p:cNvPr id="8" name="Shape 6"/>
          <p:cNvSpPr/>
          <p:nvPr/>
        </p:nvSpPr>
        <p:spPr>
          <a:xfrm>
            <a:off x="1051560" y="2971800"/>
            <a:ext cx="822960" cy="0"/>
          </a:xfrm>
          <a:prstGeom prst="line">
            <a:avLst/>
          </a:prstGeom>
          <a:noFill/>
          <a:ln w="25400">
            <a:solidFill>
              <a:srgbClr val="8C3A38"/>
            </a:solidFill>
            <a:prstDash val="solid"/>
          </a:ln>
        </p:spPr>
      </p:sp>
      <p:sp>
        <p:nvSpPr>
          <p:cNvPr id="9" name="Text 7"/>
          <p:cNvSpPr/>
          <p:nvPr/>
        </p:nvSpPr>
        <p:spPr>
          <a:xfrm>
            <a:off x="1051560"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the ad break, the family-friendly cut, the product in shot, the story not covered</a:t>
            </a:r>
            <a:endParaRPr lang="en-US" sz="1400" dirty="0"/>
          </a:p>
        </p:txBody>
      </p:sp>
      <p:sp>
        <p:nvSpPr>
          <p:cNvPr id="10" name="Shape 8"/>
          <p:cNvSpPr/>
          <p:nvPr/>
        </p:nvSpPr>
        <p:spPr>
          <a:xfrm>
            <a:off x="4494276" y="2194560"/>
            <a:ext cx="3200400" cy="2103120"/>
          </a:xfrm>
          <a:prstGeom prst="rect">
            <a:avLst/>
          </a:prstGeom>
          <a:solidFill>
            <a:srgbClr val="FAF8F1"/>
          </a:solidFill>
          <a:ln w="12700">
            <a:solidFill>
              <a:srgbClr val="8AA394"/>
            </a:solidFill>
            <a:prstDash val="solid"/>
          </a:ln>
        </p:spPr>
      </p:sp>
      <p:sp>
        <p:nvSpPr>
          <p:cNvPr id="11" name="Text 9"/>
          <p:cNvSpPr/>
          <p:nvPr/>
        </p:nvSpPr>
        <p:spPr>
          <a:xfrm>
            <a:off x="4722876"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incentive</a:t>
            </a:r>
            <a:endParaRPr lang="en-US" sz="2100" dirty="0"/>
          </a:p>
        </p:txBody>
      </p:sp>
      <p:sp>
        <p:nvSpPr>
          <p:cNvPr id="12" name="Shape 10"/>
          <p:cNvSpPr/>
          <p:nvPr/>
        </p:nvSpPr>
        <p:spPr>
          <a:xfrm>
            <a:off x="4722876" y="2971800"/>
            <a:ext cx="822960" cy="0"/>
          </a:xfrm>
          <a:prstGeom prst="line">
            <a:avLst/>
          </a:prstGeom>
          <a:noFill/>
          <a:ln w="25400">
            <a:solidFill>
              <a:srgbClr val="8C3A38"/>
            </a:solidFill>
            <a:prstDash val="solid"/>
          </a:ln>
        </p:spPr>
      </p:sp>
      <p:sp>
        <p:nvSpPr>
          <p:cNvPr id="13" name="Text 11"/>
          <p:cNvSpPr/>
          <p:nvPr/>
        </p:nvSpPr>
        <p:spPr>
          <a:xfrm>
            <a:off x="4722876"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what that choice protects or earns for the maker</a:t>
            </a:r>
            <a:endParaRPr lang="en-US" sz="1400" dirty="0"/>
          </a:p>
        </p:txBody>
      </p:sp>
      <p:sp>
        <p:nvSpPr>
          <p:cNvPr id="14" name="Text 12"/>
          <p:cNvSpPr/>
          <p:nvPr/>
        </p:nvSpPr>
        <p:spPr>
          <a:xfrm>
            <a:off x="4023360" y="2926080"/>
            <a:ext cx="470916" cy="64008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15" name="Shape 13"/>
          <p:cNvSpPr/>
          <p:nvPr/>
        </p:nvSpPr>
        <p:spPr>
          <a:xfrm>
            <a:off x="8165592" y="2194560"/>
            <a:ext cx="3200400" cy="2103120"/>
          </a:xfrm>
          <a:prstGeom prst="rect">
            <a:avLst/>
          </a:prstGeom>
          <a:solidFill>
            <a:srgbClr val="E8EFE7"/>
          </a:solidFill>
          <a:ln w="12700">
            <a:solidFill>
              <a:srgbClr val="8AA394"/>
            </a:solidFill>
            <a:prstDash val="solid"/>
          </a:ln>
        </p:spPr>
      </p:sp>
      <p:sp>
        <p:nvSpPr>
          <p:cNvPr id="16" name="Text 14"/>
          <p:cNvSpPr/>
          <p:nvPr/>
        </p:nvSpPr>
        <p:spPr>
          <a:xfrm>
            <a:off x="8394192"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pays</a:t>
            </a:r>
            <a:endParaRPr lang="en-US" sz="2100" dirty="0"/>
          </a:p>
        </p:txBody>
      </p:sp>
      <p:sp>
        <p:nvSpPr>
          <p:cNvPr id="17" name="Shape 15"/>
          <p:cNvSpPr/>
          <p:nvPr/>
        </p:nvSpPr>
        <p:spPr>
          <a:xfrm>
            <a:off x="8394192" y="2971800"/>
            <a:ext cx="822960" cy="0"/>
          </a:xfrm>
          <a:prstGeom prst="line">
            <a:avLst/>
          </a:prstGeom>
          <a:noFill/>
          <a:ln w="25400">
            <a:solidFill>
              <a:srgbClr val="8C3A38"/>
            </a:solidFill>
            <a:prstDash val="solid"/>
          </a:ln>
        </p:spPr>
      </p:sp>
      <p:sp>
        <p:nvSpPr>
          <p:cNvPr id="18" name="Text 16"/>
          <p:cNvSpPr/>
          <p:nvPr/>
        </p:nvSpPr>
        <p:spPr>
          <a:xfrm>
            <a:off x="8394192"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the advertiser, the subscriber, the state, the platform</a:t>
            </a:r>
            <a:endParaRPr lang="en-US" sz="1400" dirty="0"/>
          </a:p>
        </p:txBody>
      </p:sp>
      <p:sp>
        <p:nvSpPr>
          <p:cNvPr id="19" name="Text 17"/>
          <p:cNvSpPr/>
          <p:nvPr/>
        </p:nvSpPr>
        <p:spPr>
          <a:xfrm>
            <a:off x="7694676" y="2926080"/>
            <a:ext cx="470916" cy="64008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20" name="Text 18"/>
          <p:cNvSpPr/>
          <p:nvPr/>
        </p:nvSpPr>
        <p:spPr>
          <a:xfrm>
            <a:off x="822960" y="4846320"/>
            <a:ext cx="10543032" cy="685800"/>
          </a:xfrm>
          <a:prstGeom prst="rect">
            <a:avLst/>
          </a:prstGeom>
          <a:noFill/>
          <a:ln/>
        </p:spPr>
        <p:txBody>
          <a:bodyPr wrap="square" lIns="0" tIns="0" rIns="0" bIns="0" rtlCol="0" anchor="t"/>
          <a:lstStyle/>
          <a:p>
            <a:pPr indent="0" marL="0">
              <a:lnSpc>
                <a:spcPts val="1700"/>
              </a:lnSpc>
              <a:buNone/>
            </a:pPr>
            <a:r>
              <a:rPr lang="en-US" sz="1250" i="1" dirty="0">
                <a:solidFill>
                  <a:srgbClr val="7A7F72"/>
                </a:solidFill>
                <a:latin typeface="Arial" pitchFamily="34" charset="0"/>
                <a:ea typeface="Arial" pitchFamily="34" charset="-122"/>
                <a:cs typeface="Arial" pitchFamily="34" charset="-120"/>
              </a:rPr>
              <a:t>Read it right to left: every decision on screen traces back to who pays. Traced against the clock, a point per link that survives challenge. Rehearse the chain on your case-study institution; that is the exam answer.</a:t>
            </a:r>
            <a:endParaRPr lang="en-US" sz="1250" dirty="0"/>
          </a:p>
        </p:txBody>
      </p:sp>
      <p:sp>
        <p:nvSpPr>
          <p:cNvPr id="21" name="Shape 19"/>
          <p:cNvSpPr/>
          <p:nvPr/>
        </p:nvSpPr>
        <p:spPr>
          <a:xfrm>
            <a:off x="822960" y="6382512"/>
            <a:ext cx="10543032" cy="0"/>
          </a:xfrm>
          <a:prstGeom prst="line">
            <a:avLst/>
          </a:prstGeom>
          <a:noFill/>
          <a:ln w="9525">
            <a:solidFill>
              <a:srgbClr val="D9D4C4"/>
            </a:solidFill>
            <a:prstDash val="solid"/>
          </a:ln>
        </p:spPr>
      </p:sp>
      <p:sp>
        <p:nvSpPr>
          <p:cNvPr id="22"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3"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ONE OWNER, MANY SPOUTS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CONCENTRATION, DRAWN TO SCALE OF ONE COMPANY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flipH="1" flipV="1">
            <a:off x="2377440" y="1691640"/>
            <a:ext cx="3703320" cy="1783080"/>
          </a:xfrm>
          <a:prstGeom prst="line">
            <a:avLst/>
          </a:prstGeom>
          <a:noFill/>
          <a:ln w="12700">
            <a:solidFill>
              <a:srgbClr val="8AA394"/>
            </a:solidFill>
            <a:prstDash val="solid"/>
          </a:ln>
        </p:spPr>
      </p:sp>
      <p:sp>
        <p:nvSpPr>
          <p:cNvPr id="6" name="Shape 4"/>
          <p:cNvSpPr/>
          <p:nvPr/>
        </p:nvSpPr>
        <p:spPr>
          <a:xfrm flipH="1" flipV="1">
            <a:off x="4892040" y="1463040"/>
            <a:ext cx="1188720" cy="2011680"/>
          </a:xfrm>
          <a:prstGeom prst="line">
            <a:avLst/>
          </a:prstGeom>
          <a:noFill/>
          <a:ln w="12700">
            <a:solidFill>
              <a:srgbClr val="8AA394"/>
            </a:solidFill>
            <a:prstDash val="solid"/>
          </a:ln>
        </p:spPr>
      </p:sp>
      <p:sp>
        <p:nvSpPr>
          <p:cNvPr id="7" name="Shape 5"/>
          <p:cNvSpPr/>
          <p:nvPr/>
        </p:nvSpPr>
        <p:spPr>
          <a:xfrm flipV="1">
            <a:off x="6080760" y="1463040"/>
            <a:ext cx="1783080" cy="2011680"/>
          </a:xfrm>
          <a:prstGeom prst="line">
            <a:avLst/>
          </a:prstGeom>
          <a:noFill/>
          <a:ln w="12700">
            <a:solidFill>
              <a:srgbClr val="8AA394"/>
            </a:solidFill>
            <a:prstDash val="solid"/>
          </a:ln>
        </p:spPr>
      </p:sp>
      <p:sp>
        <p:nvSpPr>
          <p:cNvPr id="8" name="Shape 6"/>
          <p:cNvSpPr/>
          <p:nvPr/>
        </p:nvSpPr>
        <p:spPr>
          <a:xfrm flipV="1">
            <a:off x="6080760" y="1691640"/>
            <a:ext cx="4114800" cy="1783080"/>
          </a:xfrm>
          <a:prstGeom prst="line">
            <a:avLst/>
          </a:prstGeom>
          <a:noFill/>
          <a:ln w="12700">
            <a:solidFill>
              <a:srgbClr val="8AA394"/>
            </a:solidFill>
            <a:prstDash val="solid"/>
          </a:ln>
        </p:spPr>
      </p:sp>
      <p:sp>
        <p:nvSpPr>
          <p:cNvPr id="9" name="Shape 7"/>
          <p:cNvSpPr/>
          <p:nvPr/>
        </p:nvSpPr>
        <p:spPr>
          <a:xfrm flipH="1">
            <a:off x="2148840" y="3474720"/>
            <a:ext cx="3931920" cy="1005840"/>
          </a:xfrm>
          <a:prstGeom prst="line">
            <a:avLst/>
          </a:prstGeom>
          <a:noFill/>
          <a:ln w="12700">
            <a:solidFill>
              <a:srgbClr val="8AA394"/>
            </a:solidFill>
            <a:prstDash val="solid"/>
          </a:ln>
        </p:spPr>
      </p:sp>
      <p:sp>
        <p:nvSpPr>
          <p:cNvPr id="10" name="Shape 8"/>
          <p:cNvSpPr/>
          <p:nvPr/>
        </p:nvSpPr>
        <p:spPr>
          <a:xfrm flipH="1">
            <a:off x="4663440" y="3474720"/>
            <a:ext cx="1417320" cy="1508760"/>
          </a:xfrm>
          <a:prstGeom prst="line">
            <a:avLst/>
          </a:prstGeom>
          <a:noFill/>
          <a:ln w="12700">
            <a:solidFill>
              <a:srgbClr val="8AA394"/>
            </a:solidFill>
            <a:prstDash val="solid"/>
          </a:ln>
        </p:spPr>
      </p:sp>
      <p:sp>
        <p:nvSpPr>
          <p:cNvPr id="11" name="Shape 9"/>
          <p:cNvSpPr/>
          <p:nvPr/>
        </p:nvSpPr>
        <p:spPr>
          <a:xfrm>
            <a:off x="6080760" y="3474720"/>
            <a:ext cx="1783080" cy="1508760"/>
          </a:xfrm>
          <a:prstGeom prst="line">
            <a:avLst/>
          </a:prstGeom>
          <a:noFill/>
          <a:ln w="12700">
            <a:solidFill>
              <a:srgbClr val="8AA394"/>
            </a:solidFill>
            <a:prstDash val="solid"/>
          </a:ln>
        </p:spPr>
      </p:sp>
      <p:sp>
        <p:nvSpPr>
          <p:cNvPr id="12" name="Shape 10"/>
          <p:cNvSpPr/>
          <p:nvPr/>
        </p:nvSpPr>
        <p:spPr>
          <a:xfrm>
            <a:off x="6080760" y="3474720"/>
            <a:ext cx="3977640" cy="1005840"/>
          </a:xfrm>
          <a:prstGeom prst="line">
            <a:avLst/>
          </a:prstGeom>
          <a:noFill/>
          <a:ln w="12700">
            <a:solidFill>
              <a:srgbClr val="8AA394"/>
            </a:solidFill>
            <a:prstDash val="solid"/>
          </a:ln>
        </p:spPr>
      </p:sp>
      <p:sp>
        <p:nvSpPr>
          <p:cNvPr id="13" name="Shape 11"/>
          <p:cNvSpPr/>
          <p:nvPr/>
        </p:nvSpPr>
        <p:spPr>
          <a:xfrm>
            <a:off x="1463040" y="1417320"/>
            <a:ext cx="1828800" cy="548640"/>
          </a:xfrm>
          <a:prstGeom prst="rect">
            <a:avLst/>
          </a:prstGeom>
          <a:solidFill>
            <a:srgbClr val="E8EFE7"/>
          </a:solidFill>
          <a:ln w="9525">
            <a:solidFill>
              <a:srgbClr val="8AA394"/>
            </a:solidFill>
            <a:prstDash val="solid"/>
          </a:ln>
        </p:spPr>
      </p:sp>
      <p:sp>
        <p:nvSpPr>
          <p:cNvPr id="14" name="Text 12"/>
          <p:cNvSpPr/>
          <p:nvPr/>
        </p:nvSpPr>
        <p:spPr>
          <a:xfrm>
            <a:off x="1463040" y="141732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Pixar</a:t>
            </a:r>
            <a:endParaRPr lang="en-US" sz="1400" dirty="0"/>
          </a:p>
        </p:txBody>
      </p:sp>
      <p:sp>
        <p:nvSpPr>
          <p:cNvPr id="15" name="Shape 13"/>
          <p:cNvSpPr/>
          <p:nvPr/>
        </p:nvSpPr>
        <p:spPr>
          <a:xfrm>
            <a:off x="3977640" y="1188720"/>
            <a:ext cx="1828800" cy="548640"/>
          </a:xfrm>
          <a:prstGeom prst="rect">
            <a:avLst/>
          </a:prstGeom>
          <a:solidFill>
            <a:srgbClr val="E8EFE7"/>
          </a:solidFill>
          <a:ln w="9525">
            <a:solidFill>
              <a:srgbClr val="8AA394"/>
            </a:solidFill>
            <a:prstDash val="solid"/>
          </a:ln>
        </p:spPr>
      </p:sp>
      <p:sp>
        <p:nvSpPr>
          <p:cNvPr id="16" name="Text 14"/>
          <p:cNvSpPr/>
          <p:nvPr/>
        </p:nvSpPr>
        <p:spPr>
          <a:xfrm>
            <a:off x="3977640" y="118872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Marvel</a:t>
            </a:r>
            <a:endParaRPr lang="en-US" sz="1400" dirty="0"/>
          </a:p>
        </p:txBody>
      </p:sp>
      <p:sp>
        <p:nvSpPr>
          <p:cNvPr id="17" name="Shape 15"/>
          <p:cNvSpPr/>
          <p:nvPr/>
        </p:nvSpPr>
        <p:spPr>
          <a:xfrm>
            <a:off x="6949440" y="1188720"/>
            <a:ext cx="1828800" cy="548640"/>
          </a:xfrm>
          <a:prstGeom prst="rect">
            <a:avLst/>
          </a:prstGeom>
          <a:solidFill>
            <a:srgbClr val="E8EFE7"/>
          </a:solidFill>
          <a:ln w="9525">
            <a:solidFill>
              <a:srgbClr val="8AA394"/>
            </a:solidFill>
            <a:prstDash val="solid"/>
          </a:ln>
        </p:spPr>
      </p:sp>
      <p:sp>
        <p:nvSpPr>
          <p:cNvPr id="18" name="Text 16"/>
          <p:cNvSpPr/>
          <p:nvPr/>
        </p:nvSpPr>
        <p:spPr>
          <a:xfrm>
            <a:off x="6949440" y="118872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Lucasfilm</a:t>
            </a:r>
            <a:endParaRPr lang="en-US" sz="1400" dirty="0"/>
          </a:p>
        </p:txBody>
      </p:sp>
      <p:sp>
        <p:nvSpPr>
          <p:cNvPr id="19" name="Shape 17"/>
          <p:cNvSpPr/>
          <p:nvPr/>
        </p:nvSpPr>
        <p:spPr>
          <a:xfrm>
            <a:off x="9281160" y="1417320"/>
            <a:ext cx="1828800" cy="548640"/>
          </a:xfrm>
          <a:prstGeom prst="rect">
            <a:avLst/>
          </a:prstGeom>
          <a:solidFill>
            <a:srgbClr val="E8EFE7"/>
          </a:solidFill>
          <a:ln w="9525">
            <a:solidFill>
              <a:srgbClr val="8AA394"/>
            </a:solidFill>
            <a:prstDash val="solid"/>
          </a:ln>
        </p:spPr>
      </p:sp>
      <p:sp>
        <p:nvSpPr>
          <p:cNvPr id="20" name="Text 18"/>
          <p:cNvSpPr/>
          <p:nvPr/>
        </p:nvSpPr>
        <p:spPr>
          <a:xfrm>
            <a:off x="9281160" y="141732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20th Century</a:t>
            </a:r>
            <a:endParaRPr lang="en-US" sz="1400" dirty="0"/>
          </a:p>
        </p:txBody>
      </p:sp>
      <p:sp>
        <p:nvSpPr>
          <p:cNvPr id="21" name="Shape 19"/>
          <p:cNvSpPr/>
          <p:nvPr/>
        </p:nvSpPr>
        <p:spPr>
          <a:xfrm>
            <a:off x="1234440" y="4206240"/>
            <a:ext cx="1828800" cy="548640"/>
          </a:xfrm>
          <a:prstGeom prst="rect">
            <a:avLst/>
          </a:prstGeom>
          <a:solidFill>
            <a:srgbClr val="E8EFE7"/>
          </a:solidFill>
          <a:ln w="9525">
            <a:solidFill>
              <a:srgbClr val="8AA394"/>
            </a:solidFill>
            <a:prstDash val="solid"/>
          </a:ln>
        </p:spPr>
      </p:sp>
      <p:sp>
        <p:nvSpPr>
          <p:cNvPr id="22" name="Text 20"/>
          <p:cNvSpPr/>
          <p:nvPr/>
        </p:nvSpPr>
        <p:spPr>
          <a:xfrm>
            <a:off x="1234440" y="420624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ABC</a:t>
            </a:r>
            <a:endParaRPr lang="en-US" sz="1400" dirty="0"/>
          </a:p>
        </p:txBody>
      </p:sp>
      <p:sp>
        <p:nvSpPr>
          <p:cNvPr id="23" name="Shape 21"/>
          <p:cNvSpPr/>
          <p:nvPr/>
        </p:nvSpPr>
        <p:spPr>
          <a:xfrm>
            <a:off x="3749040" y="4709160"/>
            <a:ext cx="1828800" cy="548640"/>
          </a:xfrm>
          <a:prstGeom prst="rect">
            <a:avLst/>
          </a:prstGeom>
          <a:solidFill>
            <a:srgbClr val="E8EFE7"/>
          </a:solidFill>
          <a:ln w="9525">
            <a:solidFill>
              <a:srgbClr val="8AA394"/>
            </a:solidFill>
            <a:prstDash val="solid"/>
          </a:ln>
        </p:spPr>
      </p:sp>
      <p:sp>
        <p:nvSpPr>
          <p:cNvPr id="24" name="Text 22"/>
          <p:cNvSpPr/>
          <p:nvPr/>
        </p:nvSpPr>
        <p:spPr>
          <a:xfrm>
            <a:off x="3749040" y="470916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ESPN</a:t>
            </a:r>
            <a:endParaRPr lang="en-US" sz="1400" dirty="0"/>
          </a:p>
        </p:txBody>
      </p:sp>
      <p:sp>
        <p:nvSpPr>
          <p:cNvPr id="25" name="Shape 23"/>
          <p:cNvSpPr/>
          <p:nvPr/>
        </p:nvSpPr>
        <p:spPr>
          <a:xfrm>
            <a:off x="6949440" y="4709160"/>
            <a:ext cx="1828800" cy="548640"/>
          </a:xfrm>
          <a:prstGeom prst="rect">
            <a:avLst/>
          </a:prstGeom>
          <a:solidFill>
            <a:srgbClr val="E8EFE7"/>
          </a:solidFill>
          <a:ln w="9525">
            <a:solidFill>
              <a:srgbClr val="8AA394"/>
            </a:solidFill>
            <a:prstDash val="solid"/>
          </a:ln>
        </p:spPr>
      </p:sp>
      <p:sp>
        <p:nvSpPr>
          <p:cNvPr id="26" name="Text 24"/>
          <p:cNvSpPr/>
          <p:nvPr/>
        </p:nvSpPr>
        <p:spPr>
          <a:xfrm>
            <a:off x="6949440" y="470916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Disney+</a:t>
            </a:r>
            <a:endParaRPr lang="en-US" sz="1400" dirty="0"/>
          </a:p>
        </p:txBody>
      </p:sp>
      <p:sp>
        <p:nvSpPr>
          <p:cNvPr id="27" name="Shape 25"/>
          <p:cNvSpPr/>
          <p:nvPr/>
        </p:nvSpPr>
        <p:spPr>
          <a:xfrm>
            <a:off x="9144000" y="4206240"/>
            <a:ext cx="1828800" cy="548640"/>
          </a:xfrm>
          <a:prstGeom prst="rect">
            <a:avLst/>
          </a:prstGeom>
          <a:solidFill>
            <a:srgbClr val="E8EFE7"/>
          </a:solidFill>
          <a:ln w="9525">
            <a:solidFill>
              <a:srgbClr val="8AA394"/>
            </a:solidFill>
            <a:prstDash val="solid"/>
          </a:ln>
        </p:spPr>
      </p:sp>
      <p:sp>
        <p:nvSpPr>
          <p:cNvPr id="28" name="Text 26"/>
          <p:cNvSpPr/>
          <p:nvPr/>
        </p:nvSpPr>
        <p:spPr>
          <a:xfrm>
            <a:off x="9144000" y="420624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Parks and merch</a:t>
            </a:r>
            <a:endParaRPr lang="en-US" sz="1400" dirty="0"/>
          </a:p>
        </p:txBody>
      </p:sp>
      <p:sp>
        <p:nvSpPr>
          <p:cNvPr id="29" name="Shape 27"/>
          <p:cNvSpPr/>
          <p:nvPr/>
        </p:nvSpPr>
        <p:spPr>
          <a:xfrm>
            <a:off x="4937760" y="3017520"/>
            <a:ext cx="2286000" cy="914400"/>
          </a:xfrm>
          <a:prstGeom prst="rect">
            <a:avLst/>
          </a:prstGeom>
          <a:solidFill>
            <a:srgbClr val="4A6B5D"/>
          </a:solidFill>
          <a:ln/>
        </p:spPr>
      </p:sp>
      <p:sp>
        <p:nvSpPr>
          <p:cNvPr id="30" name="Text 28"/>
          <p:cNvSpPr/>
          <p:nvPr/>
        </p:nvSpPr>
        <p:spPr>
          <a:xfrm>
            <a:off x="4937760" y="3017520"/>
            <a:ext cx="2286000" cy="914400"/>
          </a:xfrm>
          <a:prstGeom prst="rect">
            <a:avLst/>
          </a:prstGeom>
          <a:noFill/>
          <a:ln/>
        </p:spPr>
        <p:txBody>
          <a:bodyPr wrap="square" lIns="0" tIns="0" rIns="0" bIns="0" rtlCol="0" anchor="ctr"/>
          <a:lstStyle/>
          <a:p>
            <a:pPr algn="ctr" indent="0" marL="0">
              <a:lnSpc>
                <a:spcPts val="1800"/>
              </a:lnSpc>
              <a:buNone/>
            </a:pPr>
            <a:r>
              <a:rPr lang="en-US" sz="1500" dirty="0">
                <a:solidFill>
                  <a:srgbClr val="FAF8F1"/>
                </a:solidFill>
                <a:latin typeface="Georgia" pitchFamily="34" charset="0"/>
                <a:ea typeface="Georgia" pitchFamily="34" charset="-122"/>
                <a:cs typeface="Georgia" pitchFamily="34" charset="-120"/>
              </a:rPr>
              <a:t>The Walt Disney</a:t>
            </a:r>
            <a:endParaRPr lang="en-US" sz="1500" dirty="0"/>
          </a:p>
          <a:p>
            <a:pPr algn="ctr" indent="0" marL="0">
              <a:lnSpc>
                <a:spcPts val="1800"/>
              </a:lnSpc>
              <a:buNone/>
            </a:pPr>
            <a:r>
              <a:rPr lang="en-US" sz="1500" dirty="0">
                <a:solidFill>
                  <a:srgbClr val="FAF8F1"/>
                </a:solidFill>
                <a:latin typeface="Georgia" pitchFamily="34" charset="0"/>
                <a:ea typeface="Georgia" pitchFamily="34" charset="-122"/>
                <a:cs typeface="Georgia" pitchFamily="34" charset="-120"/>
              </a:rPr>
              <a:t>Company</a:t>
            </a:r>
            <a:endParaRPr lang="en-US" sz="1500" dirty="0"/>
          </a:p>
        </p:txBody>
      </p:sp>
      <p:sp>
        <p:nvSpPr>
          <p:cNvPr id="31" name="Shape 29"/>
          <p:cNvSpPr/>
          <p:nvPr/>
        </p:nvSpPr>
        <p:spPr>
          <a:xfrm>
            <a:off x="822960" y="5577840"/>
            <a:ext cx="914400" cy="0"/>
          </a:xfrm>
          <a:prstGeom prst="line">
            <a:avLst/>
          </a:prstGeom>
          <a:noFill/>
          <a:ln w="31750">
            <a:solidFill>
              <a:srgbClr val="8C3A38"/>
            </a:solidFill>
            <a:prstDash val="solid"/>
          </a:ln>
        </p:spPr>
      </p:sp>
      <p:sp>
        <p:nvSpPr>
          <p:cNvPr id="32" name="Text 30"/>
          <p:cNvSpPr/>
          <p:nvPr/>
        </p:nvSpPr>
        <p:spPr>
          <a:xfrm>
            <a:off x="822960" y="5742432"/>
            <a:ext cx="10543032" cy="502920"/>
          </a:xfrm>
          <a:prstGeom prst="rect">
            <a:avLst/>
          </a:prstGeom>
          <a:noFill/>
          <a:ln/>
        </p:spPr>
        <p:txBody>
          <a:bodyPr wrap="square" lIns="0" tIns="0" rIns="0" bIns="0" rtlCol="0" anchor="t"/>
          <a:lstStyle/>
          <a:p>
            <a:pPr indent="0" marL="0">
              <a:lnSpc>
                <a:spcPts val="1800"/>
              </a:lnSpc>
              <a:buNone/>
            </a:pPr>
            <a:r>
              <a:rPr lang="en-US" sz="1350" i="1" dirty="0">
                <a:solidFill>
                  <a:srgbClr val="4A6B5D"/>
                </a:solidFill>
                <a:latin typeface="Georgia" pitchFamily="34" charset="0"/>
                <a:ea typeface="Georgia" pitchFamily="34" charset="-122"/>
                <a:cs typeface="Georgia" pitchFamily="34" charset="-120"/>
              </a:rPr>
              <a:t>Eight familiar names, one greenlight desk. Concentration means the range of stories narrows while the number of spouts grows: the diversity is downstream, the decision is not.</a:t>
            </a:r>
            <a:endParaRPr lang="en-US" sz="1350" dirty="0"/>
          </a:p>
        </p:txBody>
      </p:sp>
      <p:sp>
        <p:nvSpPr>
          <p:cNvPr id="33" name="Shape 31"/>
          <p:cNvSpPr/>
          <p:nvPr/>
        </p:nvSpPr>
        <p:spPr>
          <a:xfrm>
            <a:off x="822960" y="6382512"/>
            <a:ext cx="10543032" cy="0"/>
          </a:xfrm>
          <a:prstGeom prst="line">
            <a:avLst/>
          </a:prstGeom>
          <a:noFill/>
          <a:ln w="9525">
            <a:solidFill>
              <a:srgbClr val="D9D4C4"/>
            </a:solidFill>
            <a:prstDash val="solid"/>
          </a:ln>
        </p:spPr>
      </p:sp>
      <p:sp>
        <p:nvSpPr>
          <p:cNvPr id="34" name="Text 3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5" name="Text 3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CS12 · SECTION A, DEMYSTIFIED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MARK SCHEME AS FURNITURE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5852160" cy="822960"/>
          </a:xfrm>
          <a:prstGeom prst="rect">
            <a:avLst/>
          </a:prstGeom>
          <a:noFill/>
          <a:ln/>
        </p:spPr>
        <p:txBody>
          <a:bodyPr wrap="square" lIns="0" tIns="0" rIns="0" bIns="0" rtlCol="0" anchor="ctr"/>
          <a:lstStyle/>
          <a:p>
            <a:pPr indent="0" marL="0">
              <a:buNone/>
            </a:pPr>
            <a:r>
              <a:rPr lang="en-US" sz="2900" dirty="0">
                <a:solidFill>
                  <a:srgbClr val="24313F"/>
                </a:solidFill>
                <a:latin typeface="Georgia" pitchFamily="34" charset="0"/>
                <a:ea typeface="Georgia" pitchFamily="34" charset="-122"/>
                <a:cs typeface="Georgia" pitchFamily="34" charset="-120"/>
              </a:rPr>
              <a:t>Write it with the answers open</a:t>
            </a:r>
            <a:endParaRPr lang="en-US" sz="2900" dirty="0"/>
          </a:p>
        </p:txBody>
      </p:sp>
      <p:sp>
        <p:nvSpPr>
          <p:cNvPr id="6" name="Shape 4"/>
          <p:cNvSpPr/>
          <p:nvPr/>
        </p:nvSpPr>
        <p:spPr>
          <a:xfrm>
            <a:off x="822960" y="1965960"/>
            <a:ext cx="914400" cy="0"/>
          </a:xfrm>
          <a:prstGeom prst="line">
            <a:avLst/>
          </a:prstGeom>
          <a:noFill/>
          <a:ln w="31750">
            <a:solidFill>
              <a:srgbClr val="8C3A38"/>
            </a:solidFill>
            <a:prstDash val="solid"/>
          </a:ln>
        </p:spPr>
      </p:sp>
      <p:sp>
        <p:nvSpPr>
          <p:cNvPr id="7" name="Text 5"/>
          <p:cNvSpPr/>
          <p:nvPr/>
        </p:nvSpPr>
        <p:spPr>
          <a:xfrm>
            <a:off x="822960" y="2194560"/>
            <a:ext cx="5760720" cy="356616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The official five-criteria rubric sits on every desk, consultable: media concepts, contexts and critical debates, use of terminology, analysis of how meaning is created, use of examples, five marks each. Paragraphs are drafted solo, but any student may stop, check the band language, and annotate their own margin: this sentence is my terminology evidence. In review, each student labels which criterion each paragraph earned, and finds the one they never fed. The same format family as A4, with the scaffold removed next week.</a:t>
            </a:r>
            <a:endParaRPr lang="en-US" sz="1550" dirty="0"/>
          </a:p>
        </p:txBody>
      </p:sp>
      <p:sp>
        <p:nvSpPr>
          <p:cNvPr id="8" name="Shape 6"/>
          <p:cNvSpPr/>
          <p:nvPr/>
        </p:nvSpPr>
        <p:spPr>
          <a:xfrm>
            <a:off x="6675120" y="1143000"/>
            <a:ext cx="4709160" cy="4434840"/>
          </a:xfrm>
          <a:prstGeom prst="rect">
            <a:avLst/>
          </a:prstGeom>
          <a:solidFill>
            <a:srgbClr val="FAF8F1"/>
          </a:solidFill>
          <a:ln w="9525">
            <a:solidFill>
              <a:srgbClr val="D9D4C4"/>
            </a:solidFill>
            <a:prstDash val="solid"/>
          </a:ln>
        </p:spPr>
      </p:sp>
      <p:pic>
        <p:nvPicPr>
          <p:cNvPr id="9" name="Image 0" descr="/Users/dogan/Documents/Vaults/Courses/wiki/classes/media-studies/decks/_build/img/ms21-p10.jpg">    </p:cNvPr>
          <p:cNvPicPr>
            <a:picLocks noChangeAspect="1"/>
          </p:cNvPicPr>
          <p:nvPr/>
        </p:nvPicPr>
        <p:blipFill>
          <a:blip r:embed="rId1"/>
          <a:stretch>
            <a:fillRect/>
          </a:stretch>
        </p:blipFill>
        <p:spPr>
          <a:xfrm>
            <a:off x="6803136" y="1785928"/>
            <a:ext cx="4453128" cy="3148984"/>
          </a:xfrm>
          <a:prstGeom prst="rect">
            <a:avLst/>
          </a:prstGeom>
        </p:spPr>
      </p:pic>
      <p:sp>
        <p:nvSpPr>
          <p:cNvPr id="10" name="Text 7"/>
          <p:cNvSpPr/>
          <p:nvPr/>
        </p:nvSpPr>
        <p:spPr>
          <a:xfrm>
            <a:off x="6675120" y="5623560"/>
            <a:ext cx="470916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furniture itself: June 2024 mark scheme, Section A criteria</a:t>
            </a:r>
            <a:endParaRPr lang="en-US" sz="100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CASE-STUDY DOCUMENT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STILL IN USE IN MAY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6949440" cy="64008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One institution, tracked to Paper 2</a:t>
            </a:r>
            <a:endParaRPr lang="en-US" sz="2800" dirty="0"/>
          </a:p>
        </p:txBody>
      </p:sp>
      <p:sp>
        <p:nvSpPr>
          <p:cNvPr id="6" name="Text 4"/>
          <p:cNvSpPr/>
          <p:nvPr/>
        </p:nvSpPr>
        <p:spPr>
          <a:xfrm>
            <a:off x="822960" y="1737360"/>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
        <p:nvSpPr>
          <p:cNvPr id="7" name="Text 5"/>
          <p:cNvSpPr/>
          <p:nvPr/>
        </p:nvSpPr>
        <p:spPr>
          <a:xfrm>
            <a:off x="1417320" y="1737360"/>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Identity and ownership</a:t>
            </a:r>
            <a:endParaRPr lang="en-US" sz="1550" dirty="0"/>
          </a:p>
        </p:txBody>
      </p:sp>
      <p:sp>
        <p:nvSpPr>
          <p:cNvPr id="8" name="Shape 6"/>
          <p:cNvSpPr/>
          <p:nvPr/>
        </p:nvSpPr>
        <p:spPr>
          <a:xfrm>
            <a:off x="822960" y="2212848"/>
            <a:ext cx="6766560" cy="0"/>
          </a:xfrm>
          <a:prstGeom prst="line">
            <a:avLst/>
          </a:prstGeom>
          <a:noFill/>
          <a:ln w="9525">
            <a:solidFill>
              <a:srgbClr val="D9D4C4"/>
            </a:solidFill>
            <a:prstDash val="solid"/>
          </a:ln>
        </p:spPr>
      </p:sp>
      <p:sp>
        <p:nvSpPr>
          <p:cNvPr id="9" name="Text 7"/>
          <p:cNvSpPr/>
          <p:nvPr/>
        </p:nvSpPr>
        <p:spPr>
          <a:xfrm>
            <a:off x="822960" y="2249424"/>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
        <p:nvSpPr>
          <p:cNvPr id="10" name="Text 8"/>
          <p:cNvSpPr/>
          <p:nvPr/>
        </p:nvSpPr>
        <p:spPr>
          <a:xfrm>
            <a:off x="1417320" y="2249424"/>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Production patterns</a:t>
            </a:r>
            <a:endParaRPr lang="en-US" sz="1550" dirty="0"/>
          </a:p>
        </p:txBody>
      </p:sp>
      <p:sp>
        <p:nvSpPr>
          <p:cNvPr id="11" name="Shape 9"/>
          <p:cNvSpPr/>
          <p:nvPr/>
        </p:nvSpPr>
        <p:spPr>
          <a:xfrm>
            <a:off x="822960" y="2724912"/>
            <a:ext cx="6766560" cy="0"/>
          </a:xfrm>
          <a:prstGeom prst="line">
            <a:avLst/>
          </a:prstGeom>
          <a:noFill/>
          <a:ln w="9525">
            <a:solidFill>
              <a:srgbClr val="D9D4C4"/>
            </a:solidFill>
            <a:prstDash val="solid"/>
          </a:ln>
        </p:spPr>
      </p:sp>
      <p:sp>
        <p:nvSpPr>
          <p:cNvPr id="12" name="Text 10"/>
          <p:cNvSpPr/>
          <p:nvPr/>
        </p:nvSpPr>
        <p:spPr>
          <a:xfrm>
            <a:off x="822960" y="2761488"/>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
        <p:nvSpPr>
          <p:cNvPr id="13" name="Text 11"/>
          <p:cNvSpPr/>
          <p:nvPr/>
        </p:nvSpPr>
        <p:spPr>
          <a:xfrm>
            <a:off x="1417320" y="2761488"/>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Distribution and marketing</a:t>
            </a:r>
            <a:endParaRPr lang="en-US" sz="1550" dirty="0"/>
          </a:p>
        </p:txBody>
      </p:sp>
      <p:sp>
        <p:nvSpPr>
          <p:cNvPr id="14" name="Shape 12"/>
          <p:cNvSpPr/>
          <p:nvPr/>
        </p:nvSpPr>
        <p:spPr>
          <a:xfrm>
            <a:off x="822960" y="3236976"/>
            <a:ext cx="6766560" cy="0"/>
          </a:xfrm>
          <a:prstGeom prst="line">
            <a:avLst/>
          </a:prstGeom>
          <a:noFill/>
          <a:ln w="9525">
            <a:solidFill>
              <a:srgbClr val="D9D4C4"/>
            </a:solidFill>
            <a:prstDash val="solid"/>
          </a:ln>
        </p:spPr>
      </p:sp>
      <p:sp>
        <p:nvSpPr>
          <p:cNvPr id="15" name="Text 13"/>
          <p:cNvSpPr/>
          <p:nvPr/>
        </p:nvSpPr>
        <p:spPr>
          <a:xfrm>
            <a:off x="822960" y="3273552"/>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
        <p:nvSpPr>
          <p:cNvPr id="16" name="Text 14"/>
          <p:cNvSpPr/>
          <p:nvPr/>
        </p:nvSpPr>
        <p:spPr>
          <a:xfrm>
            <a:off x="1417320" y="3273552"/>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Audience and consumption</a:t>
            </a:r>
            <a:endParaRPr lang="en-US" sz="1550" dirty="0"/>
          </a:p>
        </p:txBody>
      </p:sp>
      <p:sp>
        <p:nvSpPr>
          <p:cNvPr id="17" name="Shape 15"/>
          <p:cNvSpPr/>
          <p:nvPr/>
        </p:nvSpPr>
        <p:spPr>
          <a:xfrm>
            <a:off x="822960" y="3749040"/>
            <a:ext cx="6766560" cy="0"/>
          </a:xfrm>
          <a:prstGeom prst="line">
            <a:avLst/>
          </a:prstGeom>
          <a:noFill/>
          <a:ln w="9525">
            <a:solidFill>
              <a:srgbClr val="D9D4C4"/>
            </a:solidFill>
            <a:prstDash val="solid"/>
          </a:ln>
        </p:spPr>
      </p:sp>
      <p:sp>
        <p:nvSpPr>
          <p:cNvPr id="18" name="Text 16"/>
          <p:cNvSpPr/>
          <p:nvPr/>
        </p:nvSpPr>
        <p:spPr>
          <a:xfrm>
            <a:off x="822960" y="3785616"/>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
        <p:nvSpPr>
          <p:cNvPr id="19" name="Text 17"/>
          <p:cNvSpPr/>
          <p:nvPr/>
        </p:nvSpPr>
        <p:spPr>
          <a:xfrm>
            <a:off x="1417320" y="3785616"/>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Regulation</a:t>
            </a:r>
            <a:endParaRPr lang="en-US" sz="1550" dirty="0"/>
          </a:p>
        </p:txBody>
      </p:sp>
      <p:sp>
        <p:nvSpPr>
          <p:cNvPr id="20" name="Shape 18"/>
          <p:cNvSpPr/>
          <p:nvPr/>
        </p:nvSpPr>
        <p:spPr>
          <a:xfrm>
            <a:off x="822960" y="4261104"/>
            <a:ext cx="6766560" cy="0"/>
          </a:xfrm>
          <a:prstGeom prst="line">
            <a:avLst/>
          </a:prstGeom>
          <a:noFill/>
          <a:ln w="9525">
            <a:solidFill>
              <a:srgbClr val="D9D4C4"/>
            </a:solidFill>
            <a:prstDash val="solid"/>
          </a:ln>
        </p:spPr>
      </p:sp>
      <p:sp>
        <p:nvSpPr>
          <p:cNvPr id="21" name="Text 19"/>
          <p:cNvSpPr/>
          <p:nvPr/>
        </p:nvSpPr>
        <p:spPr>
          <a:xfrm>
            <a:off x="822960" y="4297680"/>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
        <p:nvSpPr>
          <p:cNvPr id="22" name="Text 20"/>
          <p:cNvSpPr/>
          <p:nvPr/>
        </p:nvSpPr>
        <p:spPr>
          <a:xfrm>
            <a:off x="1417320" y="4297680"/>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Technology</a:t>
            </a:r>
            <a:endParaRPr lang="en-US" sz="1550" dirty="0"/>
          </a:p>
        </p:txBody>
      </p:sp>
      <p:sp>
        <p:nvSpPr>
          <p:cNvPr id="23" name="Shape 21"/>
          <p:cNvSpPr/>
          <p:nvPr/>
        </p:nvSpPr>
        <p:spPr>
          <a:xfrm>
            <a:off x="822960" y="4773168"/>
            <a:ext cx="6766560" cy="0"/>
          </a:xfrm>
          <a:prstGeom prst="line">
            <a:avLst/>
          </a:prstGeom>
          <a:noFill/>
          <a:ln w="9525">
            <a:solidFill>
              <a:srgbClr val="D9D4C4"/>
            </a:solidFill>
            <a:prstDash val="solid"/>
          </a:ln>
        </p:spPr>
      </p:sp>
      <p:sp>
        <p:nvSpPr>
          <p:cNvPr id="24" name="Text 22"/>
          <p:cNvSpPr/>
          <p:nvPr/>
        </p:nvSpPr>
        <p:spPr>
          <a:xfrm>
            <a:off x="822960" y="4809744"/>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
        <p:nvSpPr>
          <p:cNvPr id="25" name="Text 23"/>
          <p:cNvSpPr/>
          <p:nvPr/>
        </p:nvSpPr>
        <p:spPr>
          <a:xfrm>
            <a:off x="1417320" y="4809744"/>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Dated key facts</a:t>
            </a:r>
            <a:endParaRPr lang="en-US" sz="1550" dirty="0"/>
          </a:p>
        </p:txBody>
      </p:sp>
      <p:sp>
        <p:nvSpPr>
          <p:cNvPr id="26" name="Shape 24"/>
          <p:cNvSpPr/>
          <p:nvPr/>
        </p:nvSpPr>
        <p:spPr>
          <a:xfrm>
            <a:off x="822960" y="5285232"/>
            <a:ext cx="6766560" cy="0"/>
          </a:xfrm>
          <a:prstGeom prst="line">
            <a:avLst/>
          </a:prstGeom>
          <a:noFill/>
          <a:ln w="9525">
            <a:solidFill>
              <a:srgbClr val="D9D4C4"/>
            </a:solidFill>
            <a:prstDash val="solid"/>
          </a:ln>
        </p:spPr>
      </p:sp>
      <p:sp>
        <p:nvSpPr>
          <p:cNvPr id="27" name="Text 25"/>
          <p:cNvSpPr/>
          <p:nvPr/>
        </p:nvSpPr>
        <p:spPr>
          <a:xfrm>
            <a:off x="822960" y="5321808"/>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
        <p:nvSpPr>
          <p:cNvPr id="28" name="Text 26"/>
          <p:cNvSpPr/>
          <p:nvPr/>
        </p:nvSpPr>
        <p:spPr>
          <a:xfrm>
            <a:off x="1417320" y="5321808"/>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Coverage against the four Key Concepts</a:t>
            </a:r>
            <a:endParaRPr lang="en-US" sz="1550" dirty="0"/>
          </a:p>
        </p:txBody>
      </p:sp>
      <p:sp>
        <p:nvSpPr>
          <p:cNvPr id="29" name="Shape 27"/>
          <p:cNvSpPr/>
          <p:nvPr/>
        </p:nvSpPr>
        <p:spPr>
          <a:xfrm>
            <a:off x="822960" y="5797296"/>
            <a:ext cx="6766560" cy="0"/>
          </a:xfrm>
          <a:prstGeom prst="line">
            <a:avLst/>
          </a:prstGeom>
          <a:noFill/>
          <a:ln w="9525">
            <a:solidFill>
              <a:srgbClr val="D9D4C4"/>
            </a:solidFill>
            <a:prstDash val="solid"/>
          </a:ln>
        </p:spPr>
      </p:sp>
      <p:sp>
        <p:nvSpPr>
          <p:cNvPr id="30" name="Shape 28"/>
          <p:cNvSpPr/>
          <p:nvPr/>
        </p:nvSpPr>
        <p:spPr>
          <a:xfrm>
            <a:off x="7452360" y="1097280"/>
            <a:ext cx="3931920" cy="4663440"/>
          </a:xfrm>
          <a:prstGeom prst="rect">
            <a:avLst/>
          </a:prstGeom>
          <a:solidFill>
            <a:srgbClr val="FAF8F1"/>
          </a:solidFill>
          <a:ln w="9525">
            <a:solidFill>
              <a:srgbClr val="D9D4C4"/>
            </a:solidFill>
            <a:prstDash val="solid"/>
          </a:ln>
        </p:spPr>
      </p:sp>
      <p:pic>
        <p:nvPicPr>
          <p:cNvPr id="31" name="Image 0" descr="/Users/dogan/Documents/Vaults/Courses/wiki/classes/media-studies/decks/_build/img/ws53.jpg">    </p:cNvPr>
          <p:cNvPicPr>
            <a:picLocks noChangeAspect="1"/>
          </p:cNvPicPr>
          <p:nvPr/>
        </p:nvPicPr>
        <p:blipFill>
          <a:blip r:embed="rId1"/>
          <a:stretch>
            <a:fillRect/>
          </a:stretch>
        </p:blipFill>
        <p:spPr>
          <a:xfrm>
            <a:off x="7580376" y="2130102"/>
            <a:ext cx="3675888" cy="2597795"/>
          </a:xfrm>
          <a:prstGeom prst="rect">
            <a:avLst/>
          </a:prstGeom>
        </p:spPr>
      </p:pic>
      <p:sp>
        <p:nvSpPr>
          <p:cNvPr id="32" name="Text 29"/>
          <p:cNvSpPr/>
          <p:nvPr/>
        </p:nvSpPr>
        <p:spPr>
          <a:xfrm>
            <a:off x="7452360" y="5779008"/>
            <a:ext cx="3931920"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WS 5.3, the National Geographic sheet: the model of what good entries become</a:t>
            </a:r>
            <a:endParaRPr lang="en-US" sz="1000" dirty="0"/>
          </a:p>
        </p:txBody>
      </p:sp>
      <p:sp>
        <p:nvSpPr>
          <p:cNvPr id="33" name="Text 30"/>
          <p:cNvSpPr/>
          <p:nvPr/>
        </p:nvSpPr>
        <p:spPr>
          <a:xfrm>
            <a:off x="822960" y="5897880"/>
            <a:ext cx="6766560" cy="365760"/>
          </a:xfrm>
          <a:prstGeom prst="rect">
            <a:avLst/>
          </a:prstGeom>
          <a:noFill/>
          <a:ln/>
        </p:spPr>
        <p:txBody>
          <a:bodyPr wrap="square" lIns="0" tIns="0" rIns="0" bIns="0" rtlCol="0" anchor="ctr"/>
          <a:lstStyle/>
          <a:p>
            <a:pPr indent="0" marL="0">
              <a:buNone/>
            </a:pPr>
            <a:r>
              <a:rPr lang="en-US" sz="1150" i="1" dirty="0">
                <a:solidFill>
                  <a:srgbClr val="7A7F72"/>
                </a:solidFill>
                <a:latin typeface="Arial" pitchFamily="34" charset="0"/>
                <a:ea typeface="Arial" pitchFamily="34" charset="-122"/>
                <a:cs typeface="Arial" pitchFamily="34" charset="-120"/>
              </a:rPr>
              <a:t>Entries dated from today: the 5-year contemporaneity rule starts mattering now.</a:t>
            </a:r>
            <a:endParaRPr lang="en-US" sz="1150" dirty="0"/>
          </a:p>
        </p:txBody>
      </p:sp>
      <p:sp>
        <p:nvSpPr>
          <p:cNvPr id="34" name="Shape 31"/>
          <p:cNvSpPr/>
          <p:nvPr/>
        </p:nvSpPr>
        <p:spPr>
          <a:xfrm>
            <a:off x="822960" y="6382512"/>
            <a:ext cx="10543032" cy="0"/>
          </a:xfrm>
          <a:prstGeom prst="line">
            <a:avLst/>
          </a:prstGeom>
          <a:noFill/>
          <a:ln w="9525">
            <a:solidFill>
              <a:srgbClr val="D9D4C4"/>
            </a:solidFill>
            <a:prstDash val="solid"/>
          </a:ln>
        </p:spPr>
      </p:sp>
      <p:sp>
        <p:nvSpPr>
          <p:cNvPr id="35" name="Text 3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6" name="Text 3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PAPER ITSELF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THIS LESSON'S TWO TOPICS, AS EXAM QUESTIONS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4160520" cy="49377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qp21-p2.jpg">    </p:cNvPr>
          <p:cNvPicPr>
            <a:picLocks noChangeAspect="1"/>
          </p:cNvPicPr>
          <p:nvPr/>
        </p:nvPicPr>
        <p:blipFill>
          <a:blip r:embed="rId1"/>
          <a:stretch>
            <a:fillRect/>
          </a:stretch>
        </p:blipFill>
        <p:spPr>
          <a:xfrm>
            <a:off x="1247902" y="1179576"/>
            <a:ext cx="3310636" cy="4681728"/>
          </a:xfrm>
          <a:prstGeom prst="rect">
            <a:avLst/>
          </a:prstGeom>
        </p:spPr>
      </p:pic>
      <p:sp>
        <p:nvSpPr>
          <p:cNvPr id="7" name="Text 4"/>
          <p:cNvSpPr/>
          <p:nvPr/>
        </p:nvSpPr>
        <p:spPr>
          <a:xfrm>
            <a:off x="822960" y="5989320"/>
            <a:ext cx="416052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June 2024 Paper 2/21, page 2</a:t>
            </a:r>
            <a:endParaRPr lang="en-US" sz="1000" dirty="0"/>
          </a:p>
        </p:txBody>
      </p:sp>
      <p:sp>
        <p:nvSpPr>
          <p:cNvPr id="8" name="Text 5"/>
          <p:cNvSpPr/>
          <p:nvPr/>
        </p:nvSpPr>
        <p:spPr>
          <a:xfrm>
            <a:off x="5440680" y="1280160"/>
            <a:ext cx="5943600" cy="822960"/>
          </a:xfrm>
          <a:prstGeom prst="rect">
            <a:avLst/>
          </a:prstGeom>
          <a:noFill/>
          <a:ln/>
        </p:spPr>
        <p:txBody>
          <a:bodyPr wrap="square" lIns="0" tIns="0" rIns="0" bIns="0" rtlCol="0" anchor="ctr"/>
          <a:lstStyle/>
          <a:p>
            <a:pPr indent="0" marL="0">
              <a:lnSpc>
                <a:spcPts val="3200"/>
              </a:lnSpc>
              <a:buNone/>
            </a:pPr>
            <a:r>
              <a:rPr lang="en-US" sz="2800" dirty="0">
                <a:solidFill>
                  <a:srgbClr val="24313F"/>
                </a:solidFill>
                <a:latin typeface="Georgia" pitchFamily="34" charset="0"/>
                <a:ea typeface="Georgia" pitchFamily="34" charset="-122"/>
                <a:cs typeface="Georgia" pitchFamily="34" charset="-120"/>
              </a:rPr>
              <a:t>Section B already knows this week</a:t>
            </a:r>
            <a:endParaRPr lang="en-US" sz="2800" dirty="0"/>
          </a:p>
        </p:txBody>
      </p:sp>
      <p:sp>
        <p:nvSpPr>
          <p:cNvPr id="9" name="Shape 6"/>
          <p:cNvSpPr/>
          <p:nvPr/>
        </p:nvSpPr>
        <p:spPr>
          <a:xfrm>
            <a:off x="5440680" y="2240280"/>
            <a:ext cx="5897880" cy="0"/>
          </a:xfrm>
          <a:prstGeom prst="line">
            <a:avLst/>
          </a:prstGeom>
          <a:noFill/>
          <a:ln w="9525">
            <a:solidFill>
              <a:srgbClr val="D9D4C4"/>
            </a:solidFill>
            <a:prstDash val="solid"/>
          </a:ln>
        </p:spPr>
      </p:sp>
      <p:sp>
        <p:nvSpPr>
          <p:cNvPr id="10" name="Text 7"/>
          <p:cNvSpPr/>
          <p:nvPr/>
        </p:nvSpPr>
        <p:spPr>
          <a:xfrm>
            <a:off x="5440680" y="2423160"/>
            <a:ext cx="5943600" cy="301752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The two questions on the real June 2024 menu are exactly this lesson's two topics: analyse the relationship between media ownership and media content, or evaluate the ways audiences are active participants. Morley on Monday, ownership on Tuesday, and both were always Section B answers in waiting. The case-study document you opened today is the ammunition for either question.</a:t>
            </a:r>
            <a:endParaRPr lang="en-US" sz="165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A4: Section A in</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Authentic Format</a:t>
            </a:r>
            <a:endParaRPr lang="en-US" sz="5000" dirty="0"/>
          </a:p>
        </p:txBody>
      </p:sp>
      <p:sp>
        <p:nvSpPr>
          <p:cNvPr id="5" name="Text 3"/>
          <p:cNvSpPr/>
          <p:nvPr/>
        </p:nvSpPr>
        <p:spPr>
          <a:xfrm>
            <a:off x="822960" y="4846320"/>
            <a:ext cx="10058400" cy="457200"/>
          </a:xfrm>
          <a:prstGeom prst="rect">
            <a:avLst/>
          </a:prstGeom>
          <a:noFill/>
          <a:ln/>
        </p:spPr>
        <p:txBody>
          <a:bodyPr wrap="square" lIns="0" tIns="0" rIns="0" bIns="0" rtlCol="0" anchor="ctr"/>
          <a:lstStyle/>
          <a:p>
            <a:pPr indent="0" marL="0">
              <a:buNone/>
            </a:pPr>
            <a:r>
              <a:rPr lang="en-US" sz="2100" i="1" dirty="0">
                <a:solidFill>
                  <a:srgbClr val="E8EFE7"/>
                </a:solidFill>
                <a:latin typeface="Georgia" pitchFamily="34" charset="0"/>
                <a:ea typeface="Georgia" pitchFamily="34" charset="-122"/>
                <a:cs typeface="Georgia" pitchFamily="34" charset="-120"/>
              </a:rPr>
              <a:t>Lesson 16. Integration, synergy, convergence, and the first authentic Section A sitting.</a:t>
            </a:r>
            <a:endParaRPr lang="en-US" sz="21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10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2026-08-24T06:47:57Z</dcterms:created>
  <dcterms:modified xsi:type="dcterms:W3CDTF">2026-08-24T06:47:57Z</dcterms:modified>
</cp:coreProperties>
</file>