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2 becomes the destination. Morley explains why the same text reads differently; ownership explains why texts say what they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court photographer's frame belonged to the court. Who pays shapes what gets said, in 1857 as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replicates the study in miniature: one short text screened, readings gathered anonymously on cards, compared against situation. The disagreement is the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card is the study's own object. D1 replicates the method on a text the class knows instead: same protocol, groups compared, readings tracked to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Re-derived from the library original and shown whole: the plate's composition is the argument, so it is never cropped. The historical proof in one image, before any modern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License-fee figure verified 2026-08-24: 180 pounds a year from 1 April 2026. The CCTV, Tencent and bilibili parallels stay spoken asides per the exam-example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game rules: teams pick a visible decision from real current output, trace it link by link, a point per link that survives the room's challenge; the fastest verified chain presents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Replaced Underwood's parapet metaphor 2026-08-24: institutions own the platform, the schedule, the budget, the greenlight, shown as one real conglomerate. Disney is the Scheme of Work's own conglomeration example. The chart is drawn, not sourced, so it can be redrawn for any case-study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CS12 is part collaborative by design. The find-your-unfed-criterion move sets each student's personal A4 target. Warm-up: Deck U5.2's context-terms quiz.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document is the highest-leverage artifact this side of the blog: it feeds A4, the End of Term Exam, and Paper 2 in May. WS 5.3 is handed out as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June 2024/21 paper is rendered anywhere in the deck set: 22 and 23 name the End-of-Term text and stay sealed, as do all June 2025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863840" y="822960"/>
            <a:ext cx="356616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XV</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V</a:t>
            </a:r>
            <a:endParaRPr lang="en-US" sz="1100" dirty="0"/>
          </a:p>
        </p:txBody>
      </p:sp>
      <p:sp>
        <p:nvSpPr>
          <p:cNvPr id="4" name="Text 2"/>
          <p:cNvSpPr/>
          <p:nvPr/>
        </p:nvSpPr>
        <p:spPr>
          <a:xfrm>
            <a:off x="822960" y="1737360"/>
            <a:ext cx="7132320" cy="2377440"/>
          </a:xfrm>
          <a:prstGeom prst="rect">
            <a:avLst/>
          </a:prstGeom>
          <a:noFill/>
          <a:ln/>
        </p:spPr>
        <p:txBody>
          <a:bodyPr wrap="square" lIns="0" tIns="0" rIns="0" bIns="0" rtlCol="0" anchor="t"/>
          <a:lstStyle/>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Institutions and</a:t>
            </a:r>
            <a:endParaRPr lang="en-US" sz="5200" dirty="0"/>
          </a:p>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Section A Craft</a:t>
            </a:r>
            <a:endParaRPr lang="en-US" sz="5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Contexts · Lesson 15 of 19</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Four days  ·  Monday 7 to Friday 11 December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3931920" cy="5577840"/>
          </a:xfrm>
          <a:prstGeom prst="rect">
            <a:avLst/>
          </a:prstGeom>
          <a:noFill/>
          <a:ln/>
        </p:spPr>
        <p:txBody>
          <a:bodyPr wrap="square" lIns="0" tIns="0" rIns="0" bIns="0" rtlCol="0" anchor="ctr"/>
          <a:lstStyle/>
          <a:p>
            <a:pPr algn="ctr" indent="0" marL="0">
              <a:buNone/>
            </a:pPr>
            <a:r>
              <a:rPr lang="en-US" sz="36000" dirty="0">
                <a:solidFill>
                  <a:srgbClr val="5C7A6B"/>
                </a:solidFill>
                <a:latin typeface="Georgia" pitchFamily="34" charset="0"/>
                <a:ea typeface="Georgia" pitchFamily="34" charset="-122"/>
                <a:cs typeface="Georgia" pitchFamily="34" charset="-120"/>
              </a:rPr>
              <a:t>XV</a:t>
            </a:r>
            <a:endParaRPr lang="en-US" sz="36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OWNERSHIP</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949440" cy="2194560"/>
          </a:xfrm>
          <a:prstGeom prst="rect">
            <a:avLst/>
          </a:prstGeom>
          <a:noFill/>
          <a:ln/>
        </p:spPr>
        <p:txBody>
          <a:bodyPr wrap="square" lIns="0" tIns="0" rIns="0" bIns="0" rtlCol="0" anchor="t"/>
          <a:lstStyle/>
          <a:p>
            <a:pPr indent="0" marL="0">
              <a:lnSpc>
                <a:spcPts val="5400"/>
              </a:lnSpc>
              <a:buNone/>
            </a:pPr>
            <a:r>
              <a:rPr lang="en-US" sz="5000" dirty="0">
                <a:solidFill>
                  <a:srgbClr val="FAF8F1"/>
                </a:solidFill>
                <a:latin typeface="Georgia" pitchFamily="34" charset="0"/>
                <a:ea typeface="Georgia" pitchFamily="34" charset="-122"/>
                <a:cs typeface="Georgia" pitchFamily="34" charset="-120"/>
              </a:rPr>
              <a:t>Who pays</a:t>
            </a:r>
            <a:endParaRPr lang="en-US" sz="5000" dirty="0"/>
          </a:p>
          <a:p>
            <a:pPr indent="0" marL="0">
              <a:lnSpc>
                <a:spcPts val="5400"/>
              </a:lnSpc>
              <a:buNone/>
            </a:pPr>
            <a:r>
              <a:rPr lang="en-US" sz="5000" dirty="0">
                <a:solidFill>
                  <a:srgbClr val="FAF8F1"/>
                </a:solidFill>
                <a:latin typeface="Georgia" pitchFamily="34" charset="0"/>
                <a:ea typeface="Georgia" pitchFamily="34" charset="-122"/>
                <a:cs typeface="Georgia" pitchFamily="34" charset="-120"/>
              </a:rPr>
              <a:t>shapes what is said.</a:t>
            </a:r>
            <a:endParaRPr lang="en-US" sz="5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MORLEY · THE NATIONWIDE STUDY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READINGS TRACK SITUATION, NOT INTELLIGENCE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The same broadcast, different readings</a:t>
            </a:r>
            <a:endParaRPr lang="en-US" sz="30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The study</a:t>
            </a:r>
            <a:endParaRPr lang="en-US" sz="24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Real audience groups were shown the same broadcast, and their readings were gathered and compared.</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400" dirty="0">
                <a:solidFill>
                  <a:srgbClr val="5C7A6B"/>
                </a:solidFill>
                <a:latin typeface="Georgia" pitchFamily="34" charset="0"/>
                <a:ea typeface="Georgia" pitchFamily="34" charset="-122"/>
                <a:cs typeface="Georgia" pitchFamily="34" charset="-120"/>
              </a:rPr>
              <a:t>The finding</a:t>
            </a:r>
            <a:endParaRPr lang="en-US" sz="24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groups produced systematically different readings, and the differences tracked their social situations, not their intelligence.</a:t>
            </a:r>
            <a:endParaRPr lang="en-US" sz="1700" dirty="0"/>
          </a:p>
        </p:txBody>
      </p:sp>
      <p:sp>
        <p:nvSpPr>
          <p:cNvPr id="12" name="Shape 10"/>
          <p:cNvSpPr/>
          <p:nvPr/>
        </p:nvSpPr>
        <p:spPr>
          <a:xfrm>
            <a:off x="822960" y="5212080"/>
            <a:ext cx="914400" cy="0"/>
          </a:xfrm>
          <a:prstGeom prst="line">
            <a:avLst/>
          </a:prstGeom>
          <a:noFill/>
          <a:ln w="31750">
            <a:solidFill>
              <a:srgbClr val="8C3A38"/>
            </a:solidFill>
            <a:prstDash val="solid"/>
          </a:ln>
        </p:spPr>
      </p:sp>
      <p:sp>
        <p:nvSpPr>
          <p:cNvPr id="13" name="Text 11"/>
          <p:cNvSpPr/>
          <p:nvPr/>
        </p:nvSpPr>
        <p:spPr>
          <a:xfrm>
            <a:off x="822960" y="5394960"/>
            <a:ext cx="10058400" cy="320040"/>
          </a:xfrm>
          <a:prstGeom prst="rect">
            <a:avLst/>
          </a:prstGeom>
          <a:noFill/>
          <a:ln/>
        </p:spPr>
        <p:txBody>
          <a:bodyPr wrap="square" lIns="0" tIns="0" rIns="0" bIns="0" rtlCol="0" anchor="t"/>
          <a:lstStyle/>
          <a:p>
            <a:pPr indent="0" marL="0">
              <a:lnSpc>
                <a:spcPts val="1700"/>
              </a:lnSpc>
              <a:buNone/>
            </a:pPr>
            <a:r>
              <a:rPr lang="en-US" sz="1050" b="1" spc="100" kern="0" dirty="0">
                <a:solidFill>
                  <a:srgbClr val="7A7F72"/>
                </a:solidFill>
                <a:latin typeface="Arial" pitchFamily="34" charset="0"/>
                <a:ea typeface="Arial" pitchFamily="34" charset="-122"/>
                <a:cs typeface="Arial" pitchFamily="34" charset="-120"/>
              </a:rPr>
              <a:t>KEY POINT   </a:t>
            </a:r>
            <a:pPr indent="0" marL="0">
              <a:lnSpc>
                <a:spcPts val="1700"/>
              </a:lnSpc>
              <a:buNone/>
            </a:pPr>
            <a:r>
              <a:rPr lang="en-US" sz="1250" dirty="0">
                <a:solidFill>
                  <a:srgbClr val="7A7F72"/>
                </a:solidFill>
                <a:latin typeface="Georgia" pitchFamily="34" charset="0"/>
                <a:ea typeface="Georgia" pitchFamily="34" charset="-122"/>
                <a:cs typeface="Georgia" pitchFamily="34" charset="-120"/>
              </a:rPr>
              <a:t>Readings differ by social situation. So who makes the text matters even more. Tomorrow: ownership.</a:t>
            </a:r>
            <a:endParaRPr lang="en-US" sz="1050" dirty="0"/>
          </a:p>
        </p:txBody>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BROADCAST ITSELF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BBC ONE, EARLY EVENING, 1969 TO 1983</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6309360" cy="44805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nationwide-title.jpg">    </p:cNvPr>
          <p:cNvPicPr>
            <a:picLocks noChangeAspect="1"/>
          </p:cNvPicPr>
          <p:nvPr/>
        </p:nvPicPr>
        <p:blipFill>
          <a:blip r:embed="rId1"/>
          <a:stretch>
            <a:fillRect/>
          </a:stretch>
        </p:blipFill>
        <p:spPr>
          <a:xfrm>
            <a:off x="950976" y="1182634"/>
            <a:ext cx="6053328" cy="4218413"/>
          </a:xfrm>
          <a:prstGeom prst="rect">
            <a:avLst/>
          </a:prstGeom>
        </p:spPr>
      </p:pic>
      <p:sp>
        <p:nvSpPr>
          <p:cNvPr id="7" name="Text 4"/>
          <p:cNvSpPr/>
          <p:nvPr/>
        </p:nvSpPr>
        <p:spPr>
          <a:xfrm>
            <a:off x="822960" y="5596128"/>
            <a:ext cx="6309360"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Nationwide title sequence, BBC One</a:t>
            </a:r>
            <a:endParaRPr lang="en-US" sz="950" dirty="0"/>
          </a:p>
        </p:txBody>
      </p:sp>
      <p:sp>
        <p:nvSpPr>
          <p:cNvPr id="8" name="Text 5"/>
          <p:cNvSpPr/>
          <p:nvPr/>
        </p:nvSpPr>
        <p:spPr>
          <a:xfrm>
            <a:off x="7452360" y="1280160"/>
            <a:ext cx="3931920" cy="822960"/>
          </a:xfrm>
          <a:prstGeom prst="rect">
            <a:avLst/>
          </a:prstGeom>
          <a:noFill/>
          <a:ln/>
        </p:spPr>
        <p:txBody>
          <a:bodyPr wrap="square" lIns="0" tIns="0" rIns="0" bIns="0" rtlCol="0" anchor="t"/>
          <a:lstStyle/>
          <a:p>
            <a:pPr indent="0" marL="0">
              <a:lnSpc>
                <a:spcPts val="3400"/>
              </a:lnSpc>
              <a:buNone/>
            </a:pPr>
            <a:r>
              <a:rPr lang="en-US" sz="3000" dirty="0">
                <a:solidFill>
                  <a:srgbClr val="24313F"/>
                </a:solidFill>
                <a:latin typeface="Georgia" pitchFamily="34" charset="0"/>
                <a:ea typeface="Georgia" pitchFamily="34" charset="-122"/>
                <a:cs typeface="Georgia" pitchFamily="34" charset="-120"/>
              </a:rPr>
              <a:t>Deliberately ordinary</a:t>
            </a:r>
            <a:endParaRPr lang="en-US" sz="3000" dirty="0"/>
          </a:p>
        </p:txBody>
      </p:sp>
      <p:sp>
        <p:nvSpPr>
          <p:cNvPr id="9" name="Text 6"/>
          <p:cNvSpPr/>
          <p:nvPr/>
        </p:nvSpPr>
        <p:spPr>
          <a:xfrm>
            <a:off x="7452360" y="2240280"/>
            <a:ext cx="3931920" cy="356616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An early-evening magazine show: local news, consumer stories, light fun. Morley chose it because it was ordinary and addressed to everyone.</a:t>
            </a:r>
            <a:endParaRPr lang="en-US" sz="1500" dirty="0"/>
          </a:p>
          <a:p>
            <a:pPr indent="0" marL="0">
              <a:lnSpc>
                <a:spcPts val="2100"/>
              </a:lnSpc>
              <a:buNone/>
            </a:pPr>
            <a:r>
              <a:rPr lang="en-US" sz="1300" b="1" spc="100" kern="0" dirty="0">
                <a:solidFill>
                  <a:srgbClr val="4A6B5D"/>
                </a:solidFill>
                <a:latin typeface="Arial" pitchFamily="34" charset="0"/>
                <a:ea typeface="Arial" pitchFamily="34" charset="-122"/>
                <a:cs typeface="Arial" pitchFamily="34" charset="-120"/>
              </a:rPr>
              <a:t>KEY POINT   </a:t>
            </a:r>
            <a:pPr indent="0" marL="0">
              <a:lnSpc>
                <a:spcPts val="2100"/>
              </a:lnSpc>
              <a:buNone/>
            </a:pPr>
            <a:r>
              <a:rPr lang="en-US" sz="1500" dirty="0">
                <a:solidFill>
                  <a:srgbClr val="24313F"/>
                </a:solidFill>
                <a:latin typeface="Georgia" pitchFamily="34" charset="0"/>
                <a:ea typeface="Georgia" pitchFamily="34" charset="-122"/>
                <a:cs typeface="Georgia" pitchFamily="34" charset="-120"/>
              </a:rPr>
              <a:t>If even this ordinary show produces different readings, then no text is neutral.</a:t>
            </a:r>
            <a:endParaRPr lang="en-US" sz="1500" dirty="0"/>
          </a:p>
        </p:txBody>
      </p:sp>
      <p:sp>
        <p:nvSpPr>
          <p:cNvPr id="10" name="Shape 7"/>
          <p:cNvSpPr/>
          <p:nvPr/>
        </p:nvSpPr>
        <p:spPr>
          <a:xfrm>
            <a:off x="822960" y="6382512"/>
            <a:ext cx="10543032" cy="0"/>
          </a:xfrm>
          <a:prstGeom prst="line">
            <a:avLst/>
          </a:prstGeom>
          <a:noFill/>
          <a:ln w="9525">
            <a:solidFill>
              <a:srgbClr val="D9D4C4"/>
            </a:solidFill>
            <a:prstDash val="solid"/>
          </a:ln>
        </p:spPr>
      </p:sp>
      <p:sp>
        <p:nvSpPr>
          <p:cNvPr id="11"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FRAME BELONGED TO THE PAYER</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1857 AS NOW</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6675120" cy="466344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legray-emperor-whole.jpg">    </p:cNvPr>
          <p:cNvPicPr>
            <a:picLocks noChangeAspect="1"/>
          </p:cNvPicPr>
          <p:nvPr/>
        </p:nvPicPr>
        <p:blipFill>
          <a:blip r:embed="rId1"/>
          <a:stretch>
            <a:fillRect/>
          </a:stretch>
        </p:blipFill>
        <p:spPr>
          <a:xfrm>
            <a:off x="1321610" y="1179576"/>
            <a:ext cx="5677820" cy="4407408"/>
          </a:xfrm>
          <a:prstGeom prst="rect">
            <a:avLst/>
          </a:prstGeom>
        </p:spPr>
      </p:pic>
      <p:sp>
        <p:nvSpPr>
          <p:cNvPr id="7" name="Text 4"/>
          <p:cNvSpPr/>
          <p:nvPr/>
        </p:nvSpPr>
        <p:spPr>
          <a:xfrm>
            <a:off x="822960" y="5760720"/>
            <a:ext cx="6675120" cy="274320"/>
          </a:xfrm>
          <a:prstGeom prst="rect">
            <a:avLst/>
          </a:prstGeom>
          <a:noFill/>
          <a:ln/>
        </p:spPr>
        <p:txBody>
          <a:bodyPr wrap="square" lIns="0" tIns="0" rIns="0" bIns="0" rtlCol="0" anchor="ctr"/>
          <a:lstStyle/>
          <a:p>
            <a:pPr algn="ctr" indent="0" marL="0">
              <a:buNone/>
            </a:pPr>
            <a:r>
              <a:rPr lang="en-US" sz="950" dirty="0">
                <a:solidFill>
                  <a:srgbClr val="7A7F72"/>
                </a:solidFill>
                <a:latin typeface="Arial" pitchFamily="34" charset="0"/>
                <a:ea typeface="Arial" pitchFamily="34" charset="-122"/>
                <a:cs typeface="Arial" pitchFamily="34" charset="-120"/>
              </a:rPr>
              <a:t>Gustave Le Gray, Preparation of the Emperor's Table, Camp de Chalons, 1857</a:t>
            </a:r>
            <a:endParaRPr lang="en-US" sz="950" dirty="0"/>
          </a:p>
        </p:txBody>
      </p:sp>
      <p:sp>
        <p:nvSpPr>
          <p:cNvPr id="8" name="Text 5"/>
          <p:cNvSpPr/>
          <p:nvPr/>
        </p:nvSpPr>
        <p:spPr>
          <a:xfrm>
            <a:off x="7818120" y="1280160"/>
            <a:ext cx="3566160" cy="822960"/>
          </a:xfrm>
          <a:prstGeom prst="rect">
            <a:avLst/>
          </a:prstGeom>
          <a:noFill/>
          <a:ln/>
        </p:spPr>
        <p:txBody>
          <a:bodyPr wrap="square" lIns="0" tIns="0" rIns="0" bIns="0" rtlCol="0" anchor="t"/>
          <a:lstStyle/>
          <a:p>
            <a:pPr indent="0" marL="0">
              <a:lnSpc>
                <a:spcPts val="3200"/>
              </a:lnSpc>
              <a:buNone/>
            </a:pPr>
            <a:r>
              <a:rPr lang="en-US" sz="2800" dirty="0">
                <a:solidFill>
                  <a:srgbClr val="24313F"/>
                </a:solidFill>
                <a:latin typeface="Georgia" pitchFamily="34" charset="0"/>
                <a:ea typeface="Georgia" pitchFamily="34" charset="-122"/>
                <a:cs typeface="Georgia" pitchFamily="34" charset="-120"/>
              </a:rPr>
              <a:t>A commissioned view</a:t>
            </a:r>
            <a:endParaRPr lang="en-US" sz="2800" dirty="0"/>
          </a:p>
        </p:txBody>
      </p:sp>
      <p:sp>
        <p:nvSpPr>
          <p:cNvPr id="9" name="Text 6"/>
          <p:cNvSpPr/>
          <p:nvPr/>
        </p:nvSpPr>
        <p:spPr>
          <a:xfrm>
            <a:off x="7818120" y="2240280"/>
            <a:ext cx="3566160" cy="3566160"/>
          </a:xfrm>
          <a:prstGeom prst="rect">
            <a:avLst/>
          </a:prstGeom>
          <a:noFill/>
          <a:ln/>
        </p:spPr>
        <p:txBody>
          <a:bodyPr wrap="square" lIns="0" tIns="0" rIns="0" bIns="0" rtlCol="0" anchor="t"/>
          <a:lstStyle/>
          <a:p>
            <a:pPr indent="0" marL="0">
              <a:lnSpc>
                <a:spcPts val="1950"/>
              </a:lnSpc>
              <a:buNone/>
            </a:pPr>
            <a:r>
              <a:rPr lang="en-US" sz="1400" dirty="0">
                <a:solidFill>
                  <a:srgbClr val="24313F"/>
                </a:solidFill>
                <a:latin typeface="Georgia" pitchFamily="34" charset="0"/>
                <a:ea typeface="Georgia" pitchFamily="34" charset="-122"/>
                <a:cs typeface="Georgia" pitchFamily="34" charset="-120"/>
              </a:rPr>
              <a:t>Le Gray was paid by the Emperor's court to photograph the camp. The set table, the servants, the tidy tents: every choice serves the payer's story of easy power.</a:t>
            </a:r>
            <a:endParaRPr lang="en-US" sz="1400" dirty="0"/>
          </a:p>
          <a:p>
            <a:pPr indent="0" marL="0">
              <a:lnSpc>
                <a:spcPts val="1950"/>
              </a:lnSpc>
              <a:buNone/>
            </a:pPr>
            <a:r>
              <a:rPr lang="en-US" sz="1200" b="1" spc="100" kern="0" dirty="0">
                <a:solidFill>
                  <a:srgbClr val="4A6B5D"/>
                </a:solidFill>
                <a:latin typeface="Arial" pitchFamily="34" charset="0"/>
                <a:ea typeface="Arial" pitchFamily="34" charset="-122"/>
                <a:cs typeface="Arial" pitchFamily="34" charset="-120"/>
              </a:rPr>
              <a:t>KEY POINT   </a:t>
            </a:r>
            <a:pPr indent="0" marL="0">
              <a:lnSpc>
                <a:spcPts val="1950"/>
              </a:lnSpc>
              <a:buNone/>
            </a:pPr>
            <a:r>
              <a:rPr lang="en-US" sz="1400" dirty="0">
                <a:solidFill>
                  <a:srgbClr val="24313F"/>
                </a:solidFill>
                <a:latin typeface="Georgia" pitchFamily="34" charset="0"/>
                <a:ea typeface="Georgia" pitchFamily="34" charset="-122"/>
                <a:cs typeface="Georgia" pitchFamily="34" charset="-120"/>
              </a:rPr>
              <a:t>Who pays shapes what gets said. This week traces that sentence through modern money.</a:t>
            </a:r>
            <a:endParaRPr lang="en-US" sz="1400" dirty="0"/>
          </a:p>
        </p:txBody>
      </p:sp>
      <p:sp>
        <p:nvSpPr>
          <p:cNvPr id="10" name="Shape 7"/>
          <p:cNvSpPr/>
          <p:nvPr/>
        </p:nvSpPr>
        <p:spPr>
          <a:xfrm>
            <a:off x="822960" y="6382512"/>
            <a:ext cx="10543032" cy="0"/>
          </a:xfrm>
          <a:prstGeom prst="line">
            <a:avLst/>
          </a:prstGeom>
          <a:noFill/>
          <a:ln w="9525">
            <a:solidFill>
              <a:srgbClr val="D9D4C4"/>
            </a:solidFill>
            <a:prstDash val="solid"/>
          </a:ln>
        </p:spPr>
      </p:sp>
      <p:sp>
        <p:nvSpPr>
          <p:cNvPr id="11"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WHO PAYS, AND WHAT THEY BUY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PSB VERSUS COMMERCIAL</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Follow the money</a:t>
            </a:r>
            <a:endParaRPr lang="en-US" sz="3200" dirty="0"/>
          </a:p>
        </p:txBody>
      </p:sp>
      <p:sp>
        <p:nvSpPr>
          <p:cNvPr id="6" name="Shape 4"/>
          <p:cNvSpPr/>
          <p:nvPr/>
        </p:nvSpPr>
        <p:spPr>
          <a:xfrm>
            <a:off x="822960" y="1737360"/>
            <a:ext cx="10543032" cy="0"/>
          </a:xfrm>
          <a:prstGeom prst="line">
            <a:avLst/>
          </a:prstGeom>
          <a:noFill/>
          <a:ln w="12700">
            <a:solidFill>
              <a:srgbClr val="24313F"/>
            </a:solidFill>
            <a:prstDash val="solid"/>
          </a:ln>
        </p:spPr>
      </p:sp>
      <p:sp>
        <p:nvSpPr>
          <p:cNvPr id="7" name="Text 5"/>
          <p:cNvSpPr/>
          <p:nvPr/>
        </p:nvSpPr>
        <p:spPr>
          <a:xfrm>
            <a:off x="822960" y="1737360"/>
            <a:ext cx="4023360" cy="64008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THE PAYER</a:t>
            </a:r>
            <a:endParaRPr lang="en-US" sz="1100" dirty="0"/>
          </a:p>
        </p:txBody>
      </p:sp>
      <p:sp>
        <p:nvSpPr>
          <p:cNvPr id="8" name="Text 6"/>
          <p:cNvSpPr/>
          <p:nvPr/>
        </p:nvSpPr>
        <p:spPr>
          <a:xfrm>
            <a:off x="5029200" y="1737360"/>
            <a:ext cx="6309360" cy="64008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WHAT THE MONEY BUYS</a:t>
            </a:r>
            <a:endParaRPr lang="en-US" sz="1100" dirty="0"/>
          </a:p>
        </p:txBody>
      </p:sp>
      <p:sp>
        <p:nvSpPr>
          <p:cNvPr id="9" name="Shape 7"/>
          <p:cNvSpPr/>
          <p:nvPr/>
        </p:nvSpPr>
        <p:spPr>
          <a:xfrm>
            <a:off x="822960" y="2377440"/>
            <a:ext cx="10543032" cy="0"/>
          </a:xfrm>
          <a:prstGeom prst="line">
            <a:avLst/>
          </a:prstGeom>
          <a:noFill/>
          <a:ln w="9525">
            <a:solidFill>
              <a:srgbClr val="D9D4C4"/>
            </a:solidFill>
            <a:prstDash val="solid"/>
          </a:ln>
        </p:spPr>
      </p:sp>
      <p:sp>
        <p:nvSpPr>
          <p:cNvPr id="10" name="Text 8"/>
          <p:cNvSpPr/>
          <p:nvPr/>
        </p:nvSpPr>
        <p:spPr>
          <a:xfrm>
            <a:off x="822960" y="237744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License fee or state</a:t>
            </a:r>
            <a:endParaRPr lang="en-US" sz="1900" dirty="0"/>
          </a:p>
        </p:txBody>
      </p:sp>
      <p:sp>
        <p:nvSpPr>
          <p:cNvPr id="11" name="Text 9"/>
          <p:cNvSpPr/>
          <p:nvPr/>
        </p:nvSpPr>
        <p:spPr>
          <a:xfrm>
            <a:off x="5029200" y="2377440"/>
            <a:ext cx="6309360" cy="64008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A remit: a duty to inform, educate, reach everyone. The UK license fee: 180 pounds a year from April 2026.</a:t>
            </a:r>
            <a:endParaRPr lang="en-US" sz="1550" dirty="0"/>
          </a:p>
        </p:txBody>
      </p:sp>
      <p:sp>
        <p:nvSpPr>
          <p:cNvPr id="12" name="Shape 10"/>
          <p:cNvSpPr/>
          <p:nvPr/>
        </p:nvSpPr>
        <p:spPr>
          <a:xfrm>
            <a:off x="822960" y="3017520"/>
            <a:ext cx="10543032" cy="0"/>
          </a:xfrm>
          <a:prstGeom prst="line">
            <a:avLst/>
          </a:prstGeom>
          <a:noFill/>
          <a:ln w="9525">
            <a:solidFill>
              <a:srgbClr val="D9D4C4"/>
            </a:solidFill>
            <a:prstDash val="solid"/>
          </a:ln>
        </p:spPr>
      </p:sp>
      <p:sp>
        <p:nvSpPr>
          <p:cNvPr id="13" name="Text 11"/>
          <p:cNvSpPr/>
          <p:nvPr/>
        </p:nvSpPr>
        <p:spPr>
          <a:xfrm>
            <a:off x="822960" y="301752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Advertisers</a:t>
            </a:r>
            <a:endParaRPr lang="en-US" sz="1900" dirty="0"/>
          </a:p>
        </p:txBody>
      </p:sp>
      <p:sp>
        <p:nvSpPr>
          <p:cNvPr id="14" name="Text 12"/>
          <p:cNvSpPr/>
          <p:nvPr/>
        </p:nvSpPr>
        <p:spPr>
          <a:xfrm>
            <a:off x="5029200" y="3017520"/>
            <a:ext cx="6309360" cy="64008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Your attention, delivered in the right demographic.</a:t>
            </a:r>
            <a:endParaRPr lang="en-US" sz="1550" dirty="0"/>
          </a:p>
        </p:txBody>
      </p:sp>
      <p:sp>
        <p:nvSpPr>
          <p:cNvPr id="15" name="Shape 13"/>
          <p:cNvSpPr/>
          <p:nvPr/>
        </p:nvSpPr>
        <p:spPr>
          <a:xfrm>
            <a:off x="822960" y="3657600"/>
            <a:ext cx="10543032" cy="0"/>
          </a:xfrm>
          <a:prstGeom prst="line">
            <a:avLst/>
          </a:prstGeom>
          <a:noFill/>
          <a:ln w="9525">
            <a:solidFill>
              <a:srgbClr val="D9D4C4"/>
            </a:solidFill>
            <a:prstDash val="solid"/>
          </a:ln>
        </p:spPr>
      </p:sp>
      <p:sp>
        <p:nvSpPr>
          <p:cNvPr id="16" name="Text 14"/>
          <p:cNvSpPr/>
          <p:nvPr/>
        </p:nvSpPr>
        <p:spPr>
          <a:xfrm>
            <a:off x="822960" y="365760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Subscribers</a:t>
            </a:r>
            <a:endParaRPr lang="en-US" sz="1900" dirty="0"/>
          </a:p>
        </p:txBody>
      </p:sp>
      <p:sp>
        <p:nvSpPr>
          <p:cNvPr id="17" name="Text 15"/>
          <p:cNvSpPr/>
          <p:nvPr/>
        </p:nvSpPr>
        <p:spPr>
          <a:xfrm>
            <a:off x="5029200" y="3657600"/>
            <a:ext cx="6309360" cy="64008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A product good enough that you keep paying for it.</a:t>
            </a:r>
            <a:endParaRPr lang="en-US" sz="1550" dirty="0"/>
          </a:p>
        </p:txBody>
      </p:sp>
      <p:sp>
        <p:nvSpPr>
          <p:cNvPr id="18" name="Shape 16"/>
          <p:cNvSpPr/>
          <p:nvPr/>
        </p:nvSpPr>
        <p:spPr>
          <a:xfrm>
            <a:off x="822960" y="4297680"/>
            <a:ext cx="10543032" cy="0"/>
          </a:xfrm>
          <a:prstGeom prst="line">
            <a:avLst/>
          </a:prstGeom>
          <a:noFill/>
          <a:ln w="9525">
            <a:solidFill>
              <a:srgbClr val="D9D4C4"/>
            </a:solidFill>
            <a:prstDash val="solid"/>
          </a:ln>
        </p:spPr>
      </p:sp>
      <p:sp>
        <p:nvSpPr>
          <p:cNvPr id="19" name="Text 17"/>
          <p:cNvSpPr/>
          <p:nvPr/>
        </p:nvSpPr>
        <p:spPr>
          <a:xfrm>
            <a:off x="822960" y="4297680"/>
            <a:ext cx="4023360" cy="640080"/>
          </a:xfrm>
          <a:prstGeom prst="rect">
            <a:avLst/>
          </a:prstGeom>
          <a:noFill/>
          <a:ln/>
        </p:spPr>
        <p:txBody>
          <a:bodyPr wrap="square" lIns="0" tIns="0" rIns="0" bIns="0" rtlCol="0" anchor="ctr"/>
          <a:lstStyle/>
          <a:p>
            <a:pPr indent="0" marL="0">
              <a:buNone/>
            </a:pPr>
            <a:r>
              <a:rPr lang="en-US" sz="1900" dirty="0">
                <a:solidFill>
                  <a:srgbClr val="4A6B5D"/>
                </a:solidFill>
                <a:latin typeface="Georgia" pitchFamily="34" charset="0"/>
                <a:ea typeface="Georgia" pitchFamily="34" charset="-122"/>
                <a:cs typeface="Georgia" pitchFamily="34" charset="-120"/>
              </a:rPr>
              <a:t>The state directly</a:t>
            </a:r>
            <a:endParaRPr lang="en-US" sz="1900" dirty="0"/>
          </a:p>
        </p:txBody>
      </p:sp>
      <p:sp>
        <p:nvSpPr>
          <p:cNvPr id="20" name="Text 18"/>
          <p:cNvSpPr/>
          <p:nvPr/>
        </p:nvSpPr>
        <p:spPr>
          <a:xfrm>
            <a:off x="5029200" y="4297680"/>
            <a:ext cx="6309360" cy="64008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Content that aligns with the payer's interests.</a:t>
            </a:r>
            <a:endParaRPr lang="en-US" sz="1550" dirty="0"/>
          </a:p>
        </p:txBody>
      </p:sp>
      <p:sp>
        <p:nvSpPr>
          <p:cNvPr id="21" name="Shape 19"/>
          <p:cNvSpPr/>
          <p:nvPr/>
        </p:nvSpPr>
        <p:spPr>
          <a:xfrm>
            <a:off x="822960" y="4937760"/>
            <a:ext cx="10543032" cy="0"/>
          </a:xfrm>
          <a:prstGeom prst="line">
            <a:avLst/>
          </a:prstGeom>
          <a:noFill/>
          <a:ln w="9525">
            <a:solidFill>
              <a:srgbClr val="D9D4C4"/>
            </a:solidFill>
            <a:prstDash val="solid"/>
          </a:ln>
        </p:spPr>
      </p:sp>
      <p:sp>
        <p:nvSpPr>
          <p:cNvPr id="22" name="Text 20"/>
          <p:cNvSpPr/>
          <p:nvPr/>
        </p:nvSpPr>
        <p:spPr>
          <a:xfrm>
            <a:off x="822960" y="5074920"/>
            <a:ext cx="10543032" cy="320040"/>
          </a:xfrm>
          <a:prstGeom prst="rect">
            <a:avLst/>
          </a:prstGeom>
          <a:noFill/>
          <a:ln/>
        </p:spPr>
        <p:txBody>
          <a:bodyPr wrap="square" lIns="0" tIns="0" rIns="0" bIns="0" rtlCol="0" anchor="t"/>
          <a:lstStyle/>
          <a:p>
            <a:pPr indent="0" marL="0">
              <a:lnSpc>
                <a:spcPts val="1600"/>
              </a:lnSpc>
              <a:buNone/>
            </a:pPr>
            <a:r>
              <a:rPr lang="en-US" sz="1000" b="1" spc="100" kern="0" dirty="0">
                <a:solidFill>
                  <a:srgbClr val="7A7F72"/>
                </a:solidFill>
                <a:latin typeface="Arial" pitchFamily="34" charset="0"/>
                <a:ea typeface="Arial" pitchFamily="34" charset="-122"/>
                <a:cs typeface="Arial" pitchFamily="34" charset="-120"/>
              </a:rPr>
              <a:t>THEORY   </a:t>
            </a:r>
            <a:pPr indent="0" marL="0">
              <a:lnSpc>
                <a:spcPts val="1600"/>
              </a:lnSpc>
              <a:buNone/>
            </a:pPr>
            <a:r>
              <a:rPr lang="en-US" sz="1200" dirty="0">
                <a:solidFill>
                  <a:srgbClr val="7A7F72"/>
                </a:solidFill>
                <a:latin typeface="Georgia" pitchFamily="34" charset="0"/>
                <a:ea typeface="Georgia" pitchFamily="34" charset="-122"/>
                <a:cs typeface="Georgia" pitchFamily="34" charset="-120"/>
              </a:rPr>
              <a:t>Curran and Seaton: when fewer owners control more media, the range of stories narrows.</a:t>
            </a:r>
            <a:endParaRPr lang="en-US" sz="1000" dirty="0"/>
          </a:p>
        </p:txBody>
      </p:sp>
      <p:sp>
        <p:nvSpPr>
          <p:cNvPr id="23" name="Shape 21"/>
          <p:cNvSpPr/>
          <p:nvPr/>
        </p:nvSpPr>
        <p:spPr>
          <a:xfrm>
            <a:off x="822960" y="6382512"/>
            <a:ext cx="10543032" cy="0"/>
          </a:xfrm>
          <a:prstGeom prst="line">
            <a:avLst/>
          </a:prstGeom>
          <a:noFill/>
          <a:ln w="9525">
            <a:solidFill>
              <a:srgbClr val="D9D4C4"/>
            </a:solidFill>
            <a:prstDash val="solid"/>
          </a:ln>
        </p:spPr>
      </p:sp>
      <p:sp>
        <p:nvSpPr>
          <p:cNvPr id="24" name="Text 2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5" name="Text 2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2011680"/>
            <a:ext cx="10424160" cy="3291840"/>
          </a:xfrm>
          <a:prstGeom prst="rect">
            <a:avLst/>
          </a:prstGeom>
          <a:noFill/>
          <a:ln/>
        </p:spPr>
        <p:txBody>
          <a:bodyPr wrap="square" lIns="0" tIns="0" rIns="0" bIns="0" rtlCol="0" anchor="ctr"/>
          <a:lstStyle/>
          <a:p>
            <a:pPr indent="0" marL="0">
              <a:lnSpc>
                <a:spcPts val="5200"/>
              </a:lnSpc>
              <a:buNone/>
            </a:pPr>
            <a:r>
              <a:rPr lang="en-US" sz="4400" dirty="0">
                <a:solidFill>
                  <a:srgbClr val="24313F"/>
                </a:solidFill>
                <a:latin typeface="Georgia" pitchFamily="34" charset="0"/>
                <a:ea typeface="Georgia" pitchFamily="34" charset="-122"/>
                <a:cs typeface="Georgia" pitchFamily="34" charset="-120"/>
              </a:rPr>
              <a:t>Freedom of the press is guaranteed only to those who own one.</a:t>
            </a:r>
            <a:endParaRPr lang="en-US" sz="44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A. J. Liebling, The New Yorker, 1960</a:t>
            </a:r>
            <a:endParaRPr lang="en-US" sz="1400" dirty="0"/>
          </a:p>
        </p:txBody>
      </p:sp>
      <p:sp>
        <p:nvSpPr>
          <p:cNvPr id="6" name="Text 4"/>
          <p:cNvSpPr/>
          <p:nvPr/>
        </p:nvSpPr>
        <p:spPr>
          <a:xfrm>
            <a:off x="822960" y="5806440"/>
            <a:ext cx="10424160" cy="640080"/>
          </a:xfrm>
          <a:prstGeom prst="rect">
            <a:avLst/>
          </a:prstGeom>
          <a:noFill/>
          <a:ln/>
        </p:spPr>
        <p:txBody>
          <a:bodyPr wrap="square" lIns="0" tIns="0" rIns="0" bIns="0" rtlCol="0" anchor="t"/>
          <a:lstStyle/>
          <a:p>
            <a:pPr indent="0" marL="0">
              <a:lnSpc>
                <a:spcPts val="1900"/>
              </a:lnSpc>
              <a:buNone/>
            </a:pPr>
            <a:r>
              <a:rPr lang="en-US" sz="1200" b="1" spc="100" kern="0" dirty="0">
                <a:solidFill>
                  <a:srgbClr val="7A7F72"/>
                </a:solidFill>
                <a:latin typeface="Arial" pitchFamily="34" charset="0"/>
                <a:ea typeface="Arial" pitchFamily="34" charset="-122"/>
                <a:cs typeface="Arial" pitchFamily="34" charset="-120"/>
              </a:rPr>
              <a:t>IN PLAIN WORDS   </a:t>
            </a:r>
            <a:pPr indent="0" marL="0">
              <a:lnSpc>
                <a:spcPts val="1900"/>
              </a:lnSpc>
              <a:buNone/>
            </a:pPr>
            <a:r>
              <a:rPr lang="en-US" sz="1400" i="1" dirty="0">
                <a:solidFill>
                  <a:srgbClr val="4A6B5D"/>
                </a:solidFill>
                <a:latin typeface="Georgia" pitchFamily="34" charset="0"/>
                <a:ea typeface="Georgia" pitchFamily="34" charset="-122"/>
                <a:cs typeface="Georgia" pitchFamily="34" charset="-120"/>
              </a:rPr>
              <a:t>Press freedom belongs, in practice, to the people who own the press.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TRACE ONE VISIBLE DECISION</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BACK TO WHO PAYS FOR IT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chain</a:t>
            </a:r>
            <a:endParaRPr lang="en-US" sz="3200" dirty="0"/>
          </a:p>
        </p:txBody>
      </p:sp>
      <p:sp>
        <p:nvSpPr>
          <p:cNvPr id="6" name="Shape 4"/>
          <p:cNvSpPr/>
          <p:nvPr/>
        </p:nvSpPr>
        <p:spPr>
          <a:xfrm>
            <a:off x="822960" y="2194560"/>
            <a:ext cx="3200400" cy="2103120"/>
          </a:xfrm>
          <a:prstGeom prst="rect">
            <a:avLst/>
          </a:prstGeom>
          <a:solidFill>
            <a:srgbClr val="FAF8F1"/>
          </a:solidFill>
          <a:ln w="12700">
            <a:solidFill>
              <a:srgbClr val="8AA394"/>
            </a:solidFill>
            <a:prstDash val="solid"/>
          </a:ln>
        </p:spPr>
      </p:sp>
      <p:sp>
        <p:nvSpPr>
          <p:cNvPr id="7" name="Text 5"/>
          <p:cNvSpPr/>
          <p:nvPr/>
        </p:nvSpPr>
        <p:spPr>
          <a:xfrm>
            <a:off x="1051560"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decision</a:t>
            </a:r>
            <a:endParaRPr lang="en-US" sz="2100" dirty="0"/>
          </a:p>
        </p:txBody>
      </p:sp>
      <p:sp>
        <p:nvSpPr>
          <p:cNvPr id="8" name="Shape 6"/>
          <p:cNvSpPr/>
          <p:nvPr/>
        </p:nvSpPr>
        <p:spPr>
          <a:xfrm>
            <a:off x="1051560" y="2971800"/>
            <a:ext cx="822960" cy="0"/>
          </a:xfrm>
          <a:prstGeom prst="line">
            <a:avLst/>
          </a:prstGeom>
          <a:noFill/>
          <a:ln w="25400">
            <a:solidFill>
              <a:srgbClr val="8C3A38"/>
            </a:solidFill>
            <a:prstDash val="solid"/>
          </a:ln>
        </p:spPr>
      </p:sp>
      <p:sp>
        <p:nvSpPr>
          <p:cNvPr id="9" name="Text 7"/>
          <p:cNvSpPr/>
          <p:nvPr/>
        </p:nvSpPr>
        <p:spPr>
          <a:xfrm>
            <a:off x="1051560"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the ad break, the family-friendly cut, the product in shot, the story not covered</a:t>
            </a:r>
            <a:endParaRPr lang="en-US" sz="1400" dirty="0"/>
          </a:p>
        </p:txBody>
      </p:sp>
      <p:sp>
        <p:nvSpPr>
          <p:cNvPr id="10" name="Shape 8"/>
          <p:cNvSpPr/>
          <p:nvPr/>
        </p:nvSpPr>
        <p:spPr>
          <a:xfrm>
            <a:off x="4494276" y="2194560"/>
            <a:ext cx="3200400" cy="2103120"/>
          </a:xfrm>
          <a:prstGeom prst="rect">
            <a:avLst/>
          </a:prstGeom>
          <a:solidFill>
            <a:srgbClr val="FAF8F1"/>
          </a:solidFill>
          <a:ln w="12700">
            <a:solidFill>
              <a:srgbClr val="8AA394"/>
            </a:solidFill>
            <a:prstDash val="solid"/>
          </a:ln>
        </p:spPr>
      </p:sp>
      <p:sp>
        <p:nvSpPr>
          <p:cNvPr id="11" name="Text 9"/>
          <p:cNvSpPr/>
          <p:nvPr/>
        </p:nvSpPr>
        <p:spPr>
          <a:xfrm>
            <a:off x="4722876"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The incentive</a:t>
            </a:r>
            <a:endParaRPr lang="en-US" sz="2100" dirty="0"/>
          </a:p>
        </p:txBody>
      </p:sp>
      <p:sp>
        <p:nvSpPr>
          <p:cNvPr id="12" name="Shape 10"/>
          <p:cNvSpPr/>
          <p:nvPr/>
        </p:nvSpPr>
        <p:spPr>
          <a:xfrm>
            <a:off x="4722876" y="2971800"/>
            <a:ext cx="822960" cy="0"/>
          </a:xfrm>
          <a:prstGeom prst="line">
            <a:avLst/>
          </a:prstGeom>
          <a:noFill/>
          <a:ln w="25400">
            <a:solidFill>
              <a:srgbClr val="8C3A38"/>
            </a:solidFill>
            <a:prstDash val="solid"/>
          </a:ln>
        </p:spPr>
      </p:sp>
      <p:sp>
        <p:nvSpPr>
          <p:cNvPr id="13" name="Text 11"/>
          <p:cNvSpPr/>
          <p:nvPr/>
        </p:nvSpPr>
        <p:spPr>
          <a:xfrm>
            <a:off x="4722876"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what that choice protects or earns for the maker</a:t>
            </a:r>
            <a:endParaRPr lang="en-US" sz="1400" dirty="0"/>
          </a:p>
        </p:txBody>
      </p:sp>
      <p:sp>
        <p:nvSpPr>
          <p:cNvPr id="14" name="Text 12"/>
          <p:cNvSpPr/>
          <p:nvPr/>
        </p:nvSpPr>
        <p:spPr>
          <a:xfrm>
            <a:off x="4023360" y="2926080"/>
            <a:ext cx="470916" cy="64008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15" name="Shape 13"/>
          <p:cNvSpPr/>
          <p:nvPr/>
        </p:nvSpPr>
        <p:spPr>
          <a:xfrm>
            <a:off x="8165592" y="2194560"/>
            <a:ext cx="3200400" cy="2103120"/>
          </a:xfrm>
          <a:prstGeom prst="rect">
            <a:avLst/>
          </a:prstGeom>
          <a:solidFill>
            <a:srgbClr val="E8EFE7"/>
          </a:solidFill>
          <a:ln w="12700">
            <a:solidFill>
              <a:srgbClr val="8AA394"/>
            </a:solidFill>
            <a:prstDash val="solid"/>
          </a:ln>
        </p:spPr>
      </p:sp>
      <p:sp>
        <p:nvSpPr>
          <p:cNvPr id="16" name="Text 14"/>
          <p:cNvSpPr/>
          <p:nvPr/>
        </p:nvSpPr>
        <p:spPr>
          <a:xfrm>
            <a:off x="8394192" y="2423160"/>
            <a:ext cx="2743200" cy="457200"/>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Who pays</a:t>
            </a:r>
            <a:endParaRPr lang="en-US" sz="2100" dirty="0"/>
          </a:p>
        </p:txBody>
      </p:sp>
      <p:sp>
        <p:nvSpPr>
          <p:cNvPr id="17" name="Shape 15"/>
          <p:cNvSpPr/>
          <p:nvPr/>
        </p:nvSpPr>
        <p:spPr>
          <a:xfrm>
            <a:off x="8394192" y="2971800"/>
            <a:ext cx="822960" cy="0"/>
          </a:xfrm>
          <a:prstGeom prst="line">
            <a:avLst/>
          </a:prstGeom>
          <a:noFill/>
          <a:ln w="25400">
            <a:solidFill>
              <a:srgbClr val="8C3A38"/>
            </a:solidFill>
            <a:prstDash val="solid"/>
          </a:ln>
        </p:spPr>
      </p:sp>
      <p:sp>
        <p:nvSpPr>
          <p:cNvPr id="18" name="Text 16"/>
          <p:cNvSpPr/>
          <p:nvPr/>
        </p:nvSpPr>
        <p:spPr>
          <a:xfrm>
            <a:off x="8394192" y="3108960"/>
            <a:ext cx="2743200" cy="1097280"/>
          </a:xfrm>
          <a:prstGeom prst="rect">
            <a:avLst/>
          </a:prstGeom>
          <a:noFill/>
          <a:ln/>
        </p:spPr>
        <p:txBody>
          <a:bodyPr wrap="square" lIns="0" tIns="0" rIns="0" bIns="0" rtlCol="0" anchor="t"/>
          <a:lstStyle/>
          <a:p>
            <a:pPr indent="0" marL="0">
              <a:lnSpc>
                <a:spcPts val="1900"/>
              </a:lnSpc>
              <a:buNone/>
            </a:pPr>
            <a:r>
              <a:rPr lang="en-US" sz="1400" dirty="0">
                <a:solidFill>
                  <a:srgbClr val="24313F"/>
                </a:solidFill>
                <a:latin typeface="Georgia" pitchFamily="34" charset="0"/>
                <a:ea typeface="Georgia" pitchFamily="34" charset="-122"/>
                <a:cs typeface="Georgia" pitchFamily="34" charset="-120"/>
              </a:rPr>
              <a:t>the advertiser, the subscriber, the state, the platform</a:t>
            </a:r>
            <a:endParaRPr lang="en-US" sz="1400" dirty="0"/>
          </a:p>
        </p:txBody>
      </p:sp>
      <p:sp>
        <p:nvSpPr>
          <p:cNvPr id="19" name="Text 17"/>
          <p:cNvSpPr/>
          <p:nvPr/>
        </p:nvSpPr>
        <p:spPr>
          <a:xfrm>
            <a:off x="7694676" y="2926080"/>
            <a:ext cx="470916" cy="64008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20" name="Text 18"/>
          <p:cNvSpPr/>
          <p:nvPr/>
        </p:nvSpPr>
        <p:spPr>
          <a:xfrm>
            <a:off x="822960" y="4846320"/>
            <a:ext cx="10543032" cy="685800"/>
          </a:xfrm>
          <a:prstGeom prst="rect">
            <a:avLst/>
          </a:prstGeom>
          <a:noFill/>
          <a:ln/>
        </p:spPr>
        <p:txBody>
          <a:bodyPr wrap="square" lIns="0" tIns="0" rIns="0" bIns="0" rtlCol="0" anchor="t"/>
          <a:lstStyle/>
          <a:p>
            <a:pPr indent="0" marL="0">
              <a:lnSpc>
                <a:spcPts val="1600"/>
              </a:lnSpc>
              <a:buNone/>
            </a:pPr>
            <a:r>
              <a:rPr lang="en-US" sz="1050" b="1" spc="100" kern="0" dirty="0">
                <a:solidFill>
                  <a:srgbClr val="7A7F72"/>
                </a:solidFill>
                <a:latin typeface="Arial" pitchFamily="34" charset="0"/>
                <a:ea typeface="Arial" pitchFamily="34" charset="-122"/>
                <a:cs typeface="Arial" pitchFamily="34" charset="-120"/>
              </a:rPr>
              <a:t>READ IT   </a:t>
            </a:r>
            <a:pPr indent="0" marL="0">
              <a:lnSpc>
                <a:spcPts val="1600"/>
              </a:lnSpc>
              <a:buNone/>
            </a:pPr>
            <a:r>
              <a:rPr lang="en-US" sz="1250" dirty="0">
                <a:solidFill>
                  <a:srgbClr val="7A7F72"/>
                </a:solidFill>
                <a:latin typeface="Georgia" pitchFamily="34" charset="0"/>
                <a:ea typeface="Georgia" pitchFamily="34" charset="-122"/>
                <a:cs typeface="Georgia" pitchFamily="34" charset="-120"/>
              </a:rPr>
              <a:t>Right to left: every on-screen decision traces back to who pays.</a:t>
            </a:r>
            <a:endParaRPr lang="en-US" sz="1050" dirty="0"/>
          </a:p>
          <a:p>
            <a:pPr indent="0" marL="0">
              <a:lnSpc>
                <a:spcPts val="1600"/>
              </a:lnSpc>
              <a:buNone/>
            </a:pPr>
            <a:r>
              <a:rPr lang="en-US" sz="1050" b="1" spc="100" kern="0" dirty="0">
                <a:solidFill>
                  <a:srgbClr val="7A7F72"/>
                </a:solidFill>
                <a:latin typeface="Arial" pitchFamily="34" charset="0"/>
                <a:ea typeface="Arial" pitchFamily="34" charset="-122"/>
                <a:cs typeface="Arial" pitchFamily="34" charset="-120"/>
              </a:rPr>
              <a:t>GAME   </a:t>
            </a:r>
            <a:pPr indent="0" marL="0">
              <a:lnSpc>
                <a:spcPts val="1600"/>
              </a:lnSpc>
              <a:buNone/>
            </a:pPr>
            <a:r>
              <a:rPr lang="en-US" sz="1250" dirty="0">
                <a:solidFill>
                  <a:srgbClr val="7A7F72"/>
                </a:solidFill>
                <a:latin typeface="Georgia" pitchFamily="34" charset="0"/>
                <a:ea typeface="Georgia" pitchFamily="34" charset="-122"/>
                <a:cs typeface="Georgia" pitchFamily="34" charset="-120"/>
              </a:rPr>
              <a:t>Trace a chain against the clock. One point per link that survives challenge.</a:t>
            </a:r>
            <a:endParaRPr lang="en-US" sz="1050" dirty="0"/>
          </a:p>
          <a:p>
            <a:pPr indent="0" marL="0">
              <a:lnSpc>
                <a:spcPts val="1600"/>
              </a:lnSpc>
              <a:buNone/>
            </a:pPr>
            <a:r>
              <a:rPr lang="en-US" sz="1050" b="1" spc="100" kern="0" dirty="0">
                <a:solidFill>
                  <a:srgbClr val="7A7F72"/>
                </a:solidFill>
                <a:latin typeface="Arial" pitchFamily="34" charset="0"/>
                <a:ea typeface="Arial" pitchFamily="34" charset="-122"/>
                <a:cs typeface="Arial" pitchFamily="34" charset="-120"/>
              </a:rPr>
              <a:t>EXAM LINK   </a:t>
            </a:r>
            <a:pPr indent="0" marL="0">
              <a:lnSpc>
                <a:spcPts val="1600"/>
              </a:lnSpc>
              <a:buNone/>
            </a:pPr>
            <a:r>
              <a:rPr lang="en-US" sz="1250" dirty="0">
                <a:solidFill>
                  <a:srgbClr val="7A7F72"/>
                </a:solidFill>
                <a:latin typeface="Georgia" pitchFamily="34" charset="0"/>
                <a:ea typeface="Georgia" pitchFamily="34" charset="-122"/>
                <a:cs typeface="Georgia" pitchFamily="34" charset="-120"/>
              </a:rPr>
              <a:t>Rehearse the chain on your case-study institution. That is the Section B answer.</a:t>
            </a:r>
            <a:endParaRPr lang="en-US" sz="1050" dirty="0"/>
          </a:p>
        </p:txBody>
      </p:sp>
      <p:sp>
        <p:nvSpPr>
          <p:cNvPr id="21" name="Shape 19"/>
          <p:cNvSpPr/>
          <p:nvPr/>
        </p:nvSpPr>
        <p:spPr>
          <a:xfrm>
            <a:off x="822960" y="6382512"/>
            <a:ext cx="10543032" cy="0"/>
          </a:xfrm>
          <a:prstGeom prst="line">
            <a:avLst/>
          </a:prstGeom>
          <a:noFill/>
          <a:ln w="9525">
            <a:solidFill>
              <a:srgbClr val="D9D4C4"/>
            </a:solidFill>
            <a:prstDash val="solid"/>
          </a:ln>
        </p:spPr>
      </p:sp>
      <p:sp>
        <p:nvSpPr>
          <p:cNvPr id="22" name="Text 2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3" name="Text 2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ONE OWNER, MANY SPOUTS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CONCENTRATION, DRAWN TO SCALE OF ONE COMPANY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flipH="1" flipV="1">
            <a:off x="2377440" y="1691640"/>
            <a:ext cx="3703320" cy="1783080"/>
          </a:xfrm>
          <a:prstGeom prst="line">
            <a:avLst/>
          </a:prstGeom>
          <a:noFill/>
          <a:ln w="12700">
            <a:solidFill>
              <a:srgbClr val="8AA394"/>
            </a:solidFill>
            <a:prstDash val="solid"/>
          </a:ln>
        </p:spPr>
      </p:sp>
      <p:sp>
        <p:nvSpPr>
          <p:cNvPr id="6" name="Shape 4"/>
          <p:cNvSpPr/>
          <p:nvPr/>
        </p:nvSpPr>
        <p:spPr>
          <a:xfrm flipH="1" flipV="1">
            <a:off x="4892040" y="1463040"/>
            <a:ext cx="1188720" cy="2011680"/>
          </a:xfrm>
          <a:prstGeom prst="line">
            <a:avLst/>
          </a:prstGeom>
          <a:noFill/>
          <a:ln w="12700">
            <a:solidFill>
              <a:srgbClr val="8AA394"/>
            </a:solidFill>
            <a:prstDash val="solid"/>
          </a:ln>
        </p:spPr>
      </p:sp>
      <p:sp>
        <p:nvSpPr>
          <p:cNvPr id="7" name="Shape 5"/>
          <p:cNvSpPr/>
          <p:nvPr/>
        </p:nvSpPr>
        <p:spPr>
          <a:xfrm flipV="1">
            <a:off x="6080760" y="1463040"/>
            <a:ext cx="1783080" cy="2011680"/>
          </a:xfrm>
          <a:prstGeom prst="line">
            <a:avLst/>
          </a:prstGeom>
          <a:noFill/>
          <a:ln w="12700">
            <a:solidFill>
              <a:srgbClr val="8AA394"/>
            </a:solidFill>
            <a:prstDash val="solid"/>
          </a:ln>
        </p:spPr>
      </p:sp>
      <p:sp>
        <p:nvSpPr>
          <p:cNvPr id="8" name="Shape 6"/>
          <p:cNvSpPr/>
          <p:nvPr/>
        </p:nvSpPr>
        <p:spPr>
          <a:xfrm flipV="1">
            <a:off x="6080760" y="1691640"/>
            <a:ext cx="4114800" cy="1783080"/>
          </a:xfrm>
          <a:prstGeom prst="line">
            <a:avLst/>
          </a:prstGeom>
          <a:noFill/>
          <a:ln w="12700">
            <a:solidFill>
              <a:srgbClr val="8AA394"/>
            </a:solidFill>
            <a:prstDash val="solid"/>
          </a:ln>
        </p:spPr>
      </p:sp>
      <p:sp>
        <p:nvSpPr>
          <p:cNvPr id="9" name="Shape 7"/>
          <p:cNvSpPr/>
          <p:nvPr/>
        </p:nvSpPr>
        <p:spPr>
          <a:xfrm flipH="1">
            <a:off x="2148840" y="3474720"/>
            <a:ext cx="3931920" cy="1005840"/>
          </a:xfrm>
          <a:prstGeom prst="line">
            <a:avLst/>
          </a:prstGeom>
          <a:noFill/>
          <a:ln w="12700">
            <a:solidFill>
              <a:srgbClr val="8AA394"/>
            </a:solidFill>
            <a:prstDash val="solid"/>
          </a:ln>
        </p:spPr>
      </p:sp>
      <p:sp>
        <p:nvSpPr>
          <p:cNvPr id="10" name="Shape 8"/>
          <p:cNvSpPr/>
          <p:nvPr/>
        </p:nvSpPr>
        <p:spPr>
          <a:xfrm flipH="1">
            <a:off x="4663440" y="3474720"/>
            <a:ext cx="1417320" cy="1508760"/>
          </a:xfrm>
          <a:prstGeom prst="line">
            <a:avLst/>
          </a:prstGeom>
          <a:noFill/>
          <a:ln w="12700">
            <a:solidFill>
              <a:srgbClr val="8AA394"/>
            </a:solidFill>
            <a:prstDash val="solid"/>
          </a:ln>
        </p:spPr>
      </p:sp>
      <p:sp>
        <p:nvSpPr>
          <p:cNvPr id="11" name="Shape 9"/>
          <p:cNvSpPr/>
          <p:nvPr/>
        </p:nvSpPr>
        <p:spPr>
          <a:xfrm>
            <a:off x="6080760" y="3474720"/>
            <a:ext cx="1783080" cy="1508760"/>
          </a:xfrm>
          <a:prstGeom prst="line">
            <a:avLst/>
          </a:prstGeom>
          <a:noFill/>
          <a:ln w="12700">
            <a:solidFill>
              <a:srgbClr val="8AA394"/>
            </a:solidFill>
            <a:prstDash val="solid"/>
          </a:ln>
        </p:spPr>
      </p:sp>
      <p:sp>
        <p:nvSpPr>
          <p:cNvPr id="12" name="Shape 10"/>
          <p:cNvSpPr/>
          <p:nvPr/>
        </p:nvSpPr>
        <p:spPr>
          <a:xfrm>
            <a:off x="6080760" y="3474720"/>
            <a:ext cx="3977640" cy="1005840"/>
          </a:xfrm>
          <a:prstGeom prst="line">
            <a:avLst/>
          </a:prstGeom>
          <a:noFill/>
          <a:ln w="12700">
            <a:solidFill>
              <a:srgbClr val="8AA394"/>
            </a:solidFill>
            <a:prstDash val="solid"/>
          </a:ln>
        </p:spPr>
      </p:sp>
      <p:sp>
        <p:nvSpPr>
          <p:cNvPr id="13" name="Shape 11"/>
          <p:cNvSpPr/>
          <p:nvPr/>
        </p:nvSpPr>
        <p:spPr>
          <a:xfrm>
            <a:off x="1463040" y="1417320"/>
            <a:ext cx="1828800" cy="548640"/>
          </a:xfrm>
          <a:prstGeom prst="rect">
            <a:avLst/>
          </a:prstGeom>
          <a:solidFill>
            <a:srgbClr val="E8EFE7"/>
          </a:solidFill>
          <a:ln w="9525">
            <a:solidFill>
              <a:srgbClr val="8AA394"/>
            </a:solidFill>
            <a:prstDash val="solid"/>
          </a:ln>
        </p:spPr>
      </p:sp>
      <p:sp>
        <p:nvSpPr>
          <p:cNvPr id="14" name="Text 12"/>
          <p:cNvSpPr/>
          <p:nvPr/>
        </p:nvSpPr>
        <p:spPr>
          <a:xfrm>
            <a:off x="1463040" y="141732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Pixar</a:t>
            </a:r>
            <a:endParaRPr lang="en-US" sz="1400" dirty="0"/>
          </a:p>
        </p:txBody>
      </p:sp>
      <p:sp>
        <p:nvSpPr>
          <p:cNvPr id="15" name="Shape 13"/>
          <p:cNvSpPr/>
          <p:nvPr/>
        </p:nvSpPr>
        <p:spPr>
          <a:xfrm>
            <a:off x="3977640" y="1188720"/>
            <a:ext cx="1828800" cy="548640"/>
          </a:xfrm>
          <a:prstGeom prst="rect">
            <a:avLst/>
          </a:prstGeom>
          <a:solidFill>
            <a:srgbClr val="E8EFE7"/>
          </a:solidFill>
          <a:ln w="9525">
            <a:solidFill>
              <a:srgbClr val="8AA394"/>
            </a:solidFill>
            <a:prstDash val="solid"/>
          </a:ln>
        </p:spPr>
      </p:sp>
      <p:sp>
        <p:nvSpPr>
          <p:cNvPr id="16" name="Text 14"/>
          <p:cNvSpPr/>
          <p:nvPr/>
        </p:nvSpPr>
        <p:spPr>
          <a:xfrm>
            <a:off x="3977640" y="118872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Marvel</a:t>
            </a:r>
            <a:endParaRPr lang="en-US" sz="1400" dirty="0"/>
          </a:p>
        </p:txBody>
      </p:sp>
      <p:sp>
        <p:nvSpPr>
          <p:cNvPr id="17" name="Shape 15"/>
          <p:cNvSpPr/>
          <p:nvPr/>
        </p:nvSpPr>
        <p:spPr>
          <a:xfrm>
            <a:off x="6949440" y="1188720"/>
            <a:ext cx="1828800" cy="548640"/>
          </a:xfrm>
          <a:prstGeom prst="rect">
            <a:avLst/>
          </a:prstGeom>
          <a:solidFill>
            <a:srgbClr val="E8EFE7"/>
          </a:solidFill>
          <a:ln w="9525">
            <a:solidFill>
              <a:srgbClr val="8AA394"/>
            </a:solidFill>
            <a:prstDash val="solid"/>
          </a:ln>
        </p:spPr>
      </p:sp>
      <p:sp>
        <p:nvSpPr>
          <p:cNvPr id="18" name="Text 16"/>
          <p:cNvSpPr/>
          <p:nvPr/>
        </p:nvSpPr>
        <p:spPr>
          <a:xfrm>
            <a:off x="6949440" y="118872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Lucasfilm</a:t>
            </a:r>
            <a:endParaRPr lang="en-US" sz="1400" dirty="0"/>
          </a:p>
        </p:txBody>
      </p:sp>
      <p:sp>
        <p:nvSpPr>
          <p:cNvPr id="19" name="Shape 17"/>
          <p:cNvSpPr/>
          <p:nvPr/>
        </p:nvSpPr>
        <p:spPr>
          <a:xfrm>
            <a:off x="9281160" y="1417320"/>
            <a:ext cx="1828800" cy="548640"/>
          </a:xfrm>
          <a:prstGeom prst="rect">
            <a:avLst/>
          </a:prstGeom>
          <a:solidFill>
            <a:srgbClr val="E8EFE7"/>
          </a:solidFill>
          <a:ln w="9525">
            <a:solidFill>
              <a:srgbClr val="8AA394"/>
            </a:solidFill>
            <a:prstDash val="solid"/>
          </a:ln>
        </p:spPr>
      </p:sp>
      <p:sp>
        <p:nvSpPr>
          <p:cNvPr id="20" name="Text 18"/>
          <p:cNvSpPr/>
          <p:nvPr/>
        </p:nvSpPr>
        <p:spPr>
          <a:xfrm>
            <a:off x="9281160" y="141732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20th Century</a:t>
            </a:r>
            <a:endParaRPr lang="en-US" sz="1400" dirty="0"/>
          </a:p>
        </p:txBody>
      </p:sp>
      <p:sp>
        <p:nvSpPr>
          <p:cNvPr id="21" name="Shape 19"/>
          <p:cNvSpPr/>
          <p:nvPr/>
        </p:nvSpPr>
        <p:spPr>
          <a:xfrm>
            <a:off x="1234440" y="4206240"/>
            <a:ext cx="1828800" cy="548640"/>
          </a:xfrm>
          <a:prstGeom prst="rect">
            <a:avLst/>
          </a:prstGeom>
          <a:solidFill>
            <a:srgbClr val="E8EFE7"/>
          </a:solidFill>
          <a:ln w="9525">
            <a:solidFill>
              <a:srgbClr val="8AA394"/>
            </a:solidFill>
            <a:prstDash val="solid"/>
          </a:ln>
        </p:spPr>
      </p:sp>
      <p:sp>
        <p:nvSpPr>
          <p:cNvPr id="22" name="Text 20"/>
          <p:cNvSpPr/>
          <p:nvPr/>
        </p:nvSpPr>
        <p:spPr>
          <a:xfrm>
            <a:off x="1234440" y="420624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ABC</a:t>
            </a:r>
            <a:endParaRPr lang="en-US" sz="1400" dirty="0"/>
          </a:p>
        </p:txBody>
      </p:sp>
      <p:sp>
        <p:nvSpPr>
          <p:cNvPr id="23" name="Shape 21"/>
          <p:cNvSpPr/>
          <p:nvPr/>
        </p:nvSpPr>
        <p:spPr>
          <a:xfrm>
            <a:off x="3749040" y="4709160"/>
            <a:ext cx="1828800" cy="548640"/>
          </a:xfrm>
          <a:prstGeom prst="rect">
            <a:avLst/>
          </a:prstGeom>
          <a:solidFill>
            <a:srgbClr val="E8EFE7"/>
          </a:solidFill>
          <a:ln w="9525">
            <a:solidFill>
              <a:srgbClr val="8AA394"/>
            </a:solidFill>
            <a:prstDash val="solid"/>
          </a:ln>
        </p:spPr>
      </p:sp>
      <p:sp>
        <p:nvSpPr>
          <p:cNvPr id="24" name="Text 22"/>
          <p:cNvSpPr/>
          <p:nvPr/>
        </p:nvSpPr>
        <p:spPr>
          <a:xfrm>
            <a:off x="3749040" y="470916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ESPN</a:t>
            </a:r>
            <a:endParaRPr lang="en-US" sz="1400" dirty="0"/>
          </a:p>
        </p:txBody>
      </p:sp>
      <p:sp>
        <p:nvSpPr>
          <p:cNvPr id="25" name="Shape 23"/>
          <p:cNvSpPr/>
          <p:nvPr/>
        </p:nvSpPr>
        <p:spPr>
          <a:xfrm>
            <a:off x="6949440" y="4709160"/>
            <a:ext cx="1828800" cy="548640"/>
          </a:xfrm>
          <a:prstGeom prst="rect">
            <a:avLst/>
          </a:prstGeom>
          <a:solidFill>
            <a:srgbClr val="E8EFE7"/>
          </a:solidFill>
          <a:ln w="9525">
            <a:solidFill>
              <a:srgbClr val="8AA394"/>
            </a:solidFill>
            <a:prstDash val="solid"/>
          </a:ln>
        </p:spPr>
      </p:sp>
      <p:sp>
        <p:nvSpPr>
          <p:cNvPr id="26" name="Text 24"/>
          <p:cNvSpPr/>
          <p:nvPr/>
        </p:nvSpPr>
        <p:spPr>
          <a:xfrm>
            <a:off x="6949440" y="470916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Disney+</a:t>
            </a:r>
            <a:endParaRPr lang="en-US" sz="1400" dirty="0"/>
          </a:p>
        </p:txBody>
      </p:sp>
      <p:sp>
        <p:nvSpPr>
          <p:cNvPr id="27" name="Shape 25"/>
          <p:cNvSpPr/>
          <p:nvPr/>
        </p:nvSpPr>
        <p:spPr>
          <a:xfrm>
            <a:off x="9144000" y="4206240"/>
            <a:ext cx="1828800" cy="548640"/>
          </a:xfrm>
          <a:prstGeom prst="rect">
            <a:avLst/>
          </a:prstGeom>
          <a:solidFill>
            <a:srgbClr val="E8EFE7"/>
          </a:solidFill>
          <a:ln w="9525">
            <a:solidFill>
              <a:srgbClr val="8AA394"/>
            </a:solidFill>
            <a:prstDash val="solid"/>
          </a:ln>
        </p:spPr>
      </p:sp>
      <p:sp>
        <p:nvSpPr>
          <p:cNvPr id="28" name="Text 26"/>
          <p:cNvSpPr/>
          <p:nvPr/>
        </p:nvSpPr>
        <p:spPr>
          <a:xfrm>
            <a:off x="9144000" y="4206240"/>
            <a:ext cx="1828800" cy="5486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Parks and merch</a:t>
            </a:r>
            <a:endParaRPr lang="en-US" sz="1400" dirty="0"/>
          </a:p>
        </p:txBody>
      </p:sp>
      <p:sp>
        <p:nvSpPr>
          <p:cNvPr id="29" name="Shape 27"/>
          <p:cNvSpPr/>
          <p:nvPr/>
        </p:nvSpPr>
        <p:spPr>
          <a:xfrm>
            <a:off x="4937760" y="3017520"/>
            <a:ext cx="2286000" cy="914400"/>
          </a:xfrm>
          <a:prstGeom prst="rect">
            <a:avLst/>
          </a:prstGeom>
          <a:solidFill>
            <a:srgbClr val="4A6B5D"/>
          </a:solidFill>
          <a:ln/>
        </p:spPr>
      </p:sp>
      <p:sp>
        <p:nvSpPr>
          <p:cNvPr id="30" name="Text 28"/>
          <p:cNvSpPr/>
          <p:nvPr/>
        </p:nvSpPr>
        <p:spPr>
          <a:xfrm>
            <a:off x="4937760" y="3017520"/>
            <a:ext cx="2286000" cy="914400"/>
          </a:xfrm>
          <a:prstGeom prst="rect">
            <a:avLst/>
          </a:prstGeom>
          <a:noFill/>
          <a:ln/>
        </p:spPr>
        <p:txBody>
          <a:bodyPr wrap="square" lIns="0" tIns="0" rIns="0" bIns="0" rtlCol="0" anchor="ctr"/>
          <a:lstStyle/>
          <a:p>
            <a:pPr algn="ctr" indent="0" marL="0">
              <a:lnSpc>
                <a:spcPts val="1800"/>
              </a:lnSpc>
              <a:buNone/>
            </a:pPr>
            <a:r>
              <a:rPr lang="en-US" sz="1500" dirty="0">
                <a:solidFill>
                  <a:srgbClr val="FAF8F1"/>
                </a:solidFill>
                <a:latin typeface="Georgia" pitchFamily="34" charset="0"/>
                <a:ea typeface="Georgia" pitchFamily="34" charset="-122"/>
                <a:cs typeface="Georgia" pitchFamily="34" charset="-120"/>
              </a:rPr>
              <a:t>The Walt Disney</a:t>
            </a:r>
            <a:endParaRPr lang="en-US" sz="1500" dirty="0"/>
          </a:p>
          <a:p>
            <a:pPr algn="ctr" indent="0" marL="0">
              <a:lnSpc>
                <a:spcPts val="1800"/>
              </a:lnSpc>
              <a:buNone/>
            </a:pPr>
            <a:r>
              <a:rPr lang="en-US" sz="1500" dirty="0">
                <a:solidFill>
                  <a:srgbClr val="FAF8F1"/>
                </a:solidFill>
                <a:latin typeface="Georgia" pitchFamily="34" charset="0"/>
                <a:ea typeface="Georgia" pitchFamily="34" charset="-122"/>
                <a:cs typeface="Georgia" pitchFamily="34" charset="-120"/>
              </a:rPr>
              <a:t>Company</a:t>
            </a:r>
            <a:endParaRPr lang="en-US" sz="1500" dirty="0"/>
          </a:p>
        </p:txBody>
      </p:sp>
      <p:sp>
        <p:nvSpPr>
          <p:cNvPr id="31" name="Shape 29"/>
          <p:cNvSpPr/>
          <p:nvPr/>
        </p:nvSpPr>
        <p:spPr>
          <a:xfrm>
            <a:off x="822960" y="5577840"/>
            <a:ext cx="914400" cy="0"/>
          </a:xfrm>
          <a:prstGeom prst="line">
            <a:avLst/>
          </a:prstGeom>
          <a:noFill/>
          <a:ln w="31750">
            <a:solidFill>
              <a:srgbClr val="8C3A38"/>
            </a:solidFill>
            <a:prstDash val="solid"/>
          </a:ln>
        </p:spPr>
      </p:sp>
      <p:sp>
        <p:nvSpPr>
          <p:cNvPr id="32" name="Text 30"/>
          <p:cNvSpPr/>
          <p:nvPr/>
        </p:nvSpPr>
        <p:spPr>
          <a:xfrm>
            <a:off x="822960" y="5724144"/>
            <a:ext cx="10543032" cy="502920"/>
          </a:xfrm>
          <a:prstGeom prst="rect">
            <a:avLst/>
          </a:prstGeom>
          <a:noFill/>
          <a:ln/>
        </p:spPr>
        <p:txBody>
          <a:bodyPr wrap="square" lIns="0" tIns="0" rIns="0" bIns="0" rtlCol="0" anchor="t"/>
          <a:lstStyle/>
          <a:p>
            <a:pPr indent="0" marL="0">
              <a:lnSpc>
                <a:spcPts val="1650"/>
              </a:lnSpc>
              <a:buNone/>
            </a:pPr>
            <a:r>
              <a:rPr lang="en-US" sz="1050" b="1" spc="100" kern="0" dirty="0">
                <a:solidFill>
                  <a:srgbClr val="4A6B5D"/>
                </a:solidFill>
                <a:latin typeface="Arial" pitchFamily="34" charset="0"/>
                <a:ea typeface="Arial" pitchFamily="34" charset="-122"/>
                <a:cs typeface="Arial" pitchFamily="34" charset="-120"/>
              </a:rPr>
              <a:t>KEY POINT   </a:t>
            </a:r>
            <a:pPr indent="0" marL="0">
              <a:lnSpc>
                <a:spcPts val="1650"/>
              </a:lnSpc>
              <a:buNone/>
            </a:pPr>
            <a:r>
              <a:rPr lang="en-US" sz="1250" dirty="0">
                <a:solidFill>
                  <a:srgbClr val="4A6B5D"/>
                </a:solidFill>
                <a:latin typeface="Georgia" pitchFamily="34" charset="0"/>
                <a:ea typeface="Georgia" pitchFamily="34" charset="-122"/>
                <a:cs typeface="Georgia" pitchFamily="34" charset="-120"/>
              </a:rPr>
              <a:t>Eight familiar names, one approval desk. Many outlets, one owner: the choice of stories narrows.</a:t>
            </a:r>
            <a:endParaRPr lang="en-US" sz="1050" dirty="0"/>
          </a:p>
          <a:p>
            <a:pPr indent="0" marL="0">
              <a:lnSpc>
                <a:spcPts val="1650"/>
              </a:lnSpc>
              <a:buNone/>
            </a:pPr>
            <a:r>
              <a:rPr lang="en-US" sz="1050" b="1" spc="100" kern="0" dirty="0">
                <a:solidFill>
                  <a:srgbClr val="4A6B5D"/>
                </a:solidFill>
                <a:latin typeface="Arial" pitchFamily="34" charset="0"/>
                <a:ea typeface="Arial" pitchFamily="34" charset="-122"/>
                <a:cs typeface="Arial" pitchFamily="34" charset="-120"/>
              </a:rPr>
              <a:t>TERM   </a:t>
            </a:r>
            <a:pPr indent="0" marL="0">
              <a:lnSpc>
                <a:spcPts val="1650"/>
              </a:lnSpc>
              <a:buNone/>
            </a:pPr>
            <a:r>
              <a:rPr lang="en-US" sz="1250" dirty="0">
                <a:solidFill>
                  <a:srgbClr val="4A6B5D"/>
                </a:solidFill>
                <a:latin typeface="Georgia" pitchFamily="34" charset="0"/>
                <a:ea typeface="Georgia" pitchFamily="34" charset="-122"/>
                <a:cs typeface="Georgia" pitchFamily="34" charset="-120"/>
              </a:rPr>
              <a:t>This is ownership concentration (conglomeration).</a:t>
            </a:r>
            <a:endParaRPr lang="en-US" sz="1050" dirty="0"/>
          </a:p>
        </p:txBody>
      </p:sp>
      <p:sp>
        <p:nvSpPr>
          <p:cNvPr id="33" name="Shape 31"/>
          <p:cNvSpPr/>
          <p:nvPr/>
        </p:nvSpPr>
        <p:spPr>
          <a:xfrm>
            <a:off x="822960" y="6382512"/>
            <a:ext cx="10543032" cy="0"/>
          </a:xfrm>
          <a:prstGeom prst="line">
            <a:avLst/>
          </a:prstGeom>
          <a:noFill/>
          <a:ln w="9525">
            <a:solidFill>
              <a:srgbClr val="D9D4C4"/>
            </a:solidFill>
            <a:prstDash val="solid"/>
          </a:ln>
        </p:spPr>
      </p:sp>
      <p:sp>
        <p:nvSpPr>
          <p:cNvPr id="34" name="Text 3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5" name="Text 3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CS12 · SECTION A, DEMYSTIFIED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MARK SCHEME AS FURNITURE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5852160" cy="822960"/>
          </a:xfrm>
          <a:prstGeom prst="rect">
            <a:avLst/>
          </a:prstGeom>
          <a:noFill/>
          <a:ln/>
        </p:spPr>
        <p:txBody>
          <a:bodyPr wrap="square" lIns="0" tIns="0" rIns="0" bIns="0" rtlCol="0" anchor="ctr"/>
          <a:lstStyle/>
          <a:p>
            <a:pPr indent="0" marL="0">
              <a:buNone/>
            </a:pPr>
            <a:r>
              <a:rPr lang="en-US" sz="2900" dirty="0">
                <a:solidFill>
                  <a:srgbClr val="24313F"/>
                </a:solidFill>
                <a:latin typeface="Georgia" pitchFamily="34" charset="0"/>
                <a:ea typeface="Georgia" pitchFamily="34" charset="-122"/>
                <a:cs typeface="Georgia" pitchFamily="34" charset="-120"/>
              </a:rPr>
              <a:t>Write it with the answers open</a:t>
            </a:r>
            <a:endParaRPr lang="en-US" sz="2900" dirty="0"/>
          </a:p>
        </p:txBody>
      </p:sp>
      <p:sp>
        <p:nvSpPr>
          <p:cNvPr id="6" name="Shape 4"/>
          <p:cNvSpPr/>
          <p:nvPr/>
        </p:nvSpPr>
        <p:spPr>
          <a:xfrm>
            <a:off x="822960" y="1965960"/>
            <a:ext cx="914400" cy="0"/>
          </a:xfrm>
          <a:prstGeom prst="line">
            <a:avLst/>
          </a:prstGeom>
          <a:noFill/>
          <a:ln w="31750">
            <a:solidFill>
              <a:srgbClr val="8C3A38"/>
            </a:solidFill>
            <a:prstDash val="solid"/>
          </a:ln>
        </p:spPr>
      </p:sp>
      <p:sp>
        <p:nvSpPr>
          <p:cNvPr id="7" name="Text 5"/>
          <p:cNvSpPr/>
          <p:nvPr/>
        </p:nvSpPr>
        <p:spPr>
          <a:xfrm>
            <a:off x="822960" y="2194560"/>
            <a:ext cx="5760720" cy="3566160"/>
          </a:xfrm>
          <a:prstGeom prst="rect">
            <a:avLst/>
          </a:prstGeom>
          <a:noFill/>
          <a:ln/>
        </p:spPr>
        <p:txBody>
          <a:bodyPr wrap="square" lIns="0" tIns="0" rIns="0" bIns="0" rtlCol="0" anchor="t"/>
          <a:lstStyle/>
          <a:p>
            <a:pPr indent="0" marL="0">
              <a:lnSpc>
                <a:spcPts val="2000"/>
              </a:lnSpc>
              <a:buNone/>
            </a:pPr>
            <a:r>
              <a:rPr lang="en-US" sz="1250" b="1" spc="100" kern="0" dirty="0">
                <a:solidFill>
                  <a:srgbClr val="4A6B5D"/>
                </a:solidFill>
                <a:latin typeface="Arial" pitchFamily="34" charset="0"/>
                <a:ea typeface="Arial" pitchFamily="34" charset="-122"/>
                <a:cs typeface="Arial" pitchFamily="34" charset="-120"/>
              </a:rPr>
              <a:t>THE SET-UP   </a:t>
            </a:r>
            <a:pPr indent="0" marL="0">
              <a:lnSpc>
                <a:spcPts val="2000"/>
              </a:lnSpc>
              <a:buNone/>
            </a:pPr>
            <a:r>
              <a:rPr lang="en-US" sz="1450" dirty="0">
                <a:solidFill>
                  <a:srgbClr val="24313F"/>
                </a:solidFill>
                <a:latin typeface="Georgia" pitchFamily="34" charset="0"/>
                <a:ea typeface="Georgia" pitchFamily="34" charset="-122"/>
                <a:cs typeface="Georgia" pitchFamily="34" charset="-120"/>
              </a:rPr>
              <a:t>The official five-criteria rubric sits open on every desk: concepts, contexts, terminology, analysis, examples. Five marks each.</a:t>
            </a:r>
            <a:endParaRPr lang="en-US" sz="1250" dirty="0"/>
          </a:p>
          <a:p>
            <a:pPr indent="0" marL="0">
              <a:lnSpc>
                <a:spcPts val="2000"/>
              </a:lnSpc>
              <a:buNone/>
            </a:pPr>
            <a:r>
              <a:rPr lang="en-US" sz="1250" b="1" spc="100" kern="0" dirty="0">
                <a:solidFill>
                  <a:srgbClr val="4A6B5D"/>
                </a:solidFill>
                <a:latin typeface="Arial" pitchFamily="34" charset="0"/>
                <a:ea typeface="Arial" pitchFamily="34" charset="-122"/>
                <a:cs typeface="Arial" pitchFamily="34" charset="-120"/>
              </a:rPr>
              <a:t>TASK   </a:t>
            </a:r>
            <a:pPr indent="0" marL="0">
              <a:lnSpc>
                <a:spcPts val="2000"/>
              </a:lnSpc>
              <a:buNone/>
            </a:pPr>
            <a:r>
              <a:rPr lang="en-US" sz="1450" dirty="0">
                <a:solidFill>
                  <a:srgbClr val="24313F"/>
                </a:solidFill>
                <a:latin typeface="Georgia" pitchFamily="34" charset="0"/>
                <a:ea typeface="Georgia" pitchFamily="34" charset="-122"/>
                <a:cs typeface="Georgia" pitchFamily="34" charset="-120"/>
              </a:rPr>
              <a:t>Draft your paragraphs solo. Stop any time to check the band language, and label your own margin: “this is my terminology evidence.”</a:t>
            </a:r>
            <a:endParaRPr lang="en-US" sz="1250" dirty="0"/>
          </a:p>
          <a:p>
            <a:pPr indent="0" marL="0">
              <a:lnSpc>
                <a:spcPts val="2000"/>
              </a:lnSpc>
              <a:buNone/>
            </a:pPr>
            <a:r>
              <a:rPr lang="en-US" sz="1250" b="1" spc="100" kern="0" dirty="0">
                <a:solidFill>
                  <a:srgbClr val="4A6B5D"/>
                </a:solidFill>
                <a:latin typeface="Arial" pitchFamily="34" charset="0"/>
                <a:ea typeface="Arial" pitchFamily="34" charset="-122"/>
                <a:cs typeface="Arial" pitchFamily="34" charset="-120"/>
              </a:rPr>
              <a:t>REVIEW   </a:t>
            </a:r>
            <a:pPr indent="0" marL="0">
              <a:lnSpc>
                <a:spcPts val="2000"/>
              </a:lnSpc>
              <a:buNone/>
            </a:pPr>
            <a:r>
              <a:rPr lang="en-US" sz="1450" dirty="0">
                <a:solidFill>
                  <a:srgbClr val="24313F"/>
                </a:solidFill>
                <a:latin typeface="Georgia" pitchFamily="34" charset="0"/>
                <a:ea typeface="Georgia" pitchFamily="34" charset="-122"/>
                <a:cs typeface="Georgia" pitchFamily="34" charset="-120"/>
              </a:rPr>
              <a:t>Label which criterion each paragraph fed. The one you never fed is your A4 target.</a:t>
            </a:r>
            <a:endParaRPr lang="en-US" sz="1250" dirty="0"/>
          </a:p>
          <a:p>
            <a:pPr indent="0" marL="0">
              <a:lnSpc>
                <a:spcPts val="2000"/>
              </a:lnSpc>
              <a:buNone/>
            </a:pPr>
            <a:r>
              <a:rPr lang="en-US" sz="1450" dirty="0">
                <a:solidFill>
                  <a:srgbClr val="24313F"/>
                </a:solidFill>
                <a:latin typeface="Georgia" pitchFamily="34" charset="0"/>
                <a:ea typeface="Georgia" pitchFamily="34" charset="-122"/>
                <a:cs typeface="Georgia" pitchFamily="34" charset="-120"/>
              </a:rPr>
              <a:t>Next week: the same format, with the scaffold removed.</a:t>
            </a:r>
            <a:endParaRPr lang="en-US" sz="1250" dirty="0"/>
          </a:p>
        </p:txBody>
      </p:sp>
      <p:sp>
        <p:nvSpPr>
          <p:cNvPr id="8" name="Shape 6"/>
          <p:cNvSpPr/>
          <p:nvPr/>
        </p:nvSpPr>
        <p:spPr>
          <a:xfrm>
            <a:off x="6675120" y="1143000"/>
            <a:ext cx="4709160" cy="4434840"/>
          </a:xfrm>
          <a:prstGeom prst="rect">
            <a:avLst/>
          </a:prstGeom>
          <a:solidFill>
            <a:srgbClr val="FAF8F1"/>
          </a:solidFill>
          <a:ln w="9525">
            <a:solidFill>
              <a:srgbClr val="D9D4C4"/>
            </a:solidFill>
            <a:prstDash val="solid"/>
          </a:ln>
        </p:spPr>
      </p:sp>
      <p:pic>
        <p:nvPicPr>
          <p:cNvPr id="9" name="Image 0" descr="/Users/dogan/Documents/Vaults/Courses/wiki/classes/media-studies/decks/_build/img/ms21-p10.jpg">    </p:cNvPr>
          <p:cNvPicPr>
            <a:picLocks noChangeAspect="1"/>
          </p:cNvPicPr>
          <p:nvPr/>
        </p:nvPicPr>
        <p:blipFill>
          <a:blip r:embed="rId1"/>
          <a:stretch>
            <a:fillRect/>
          </a:stretch>
        </p:blipFill>
        <p:spPr>
          <a:xfrm>
            <a:off x="6803136" y="1785928"/>
            <a:ext cx="4453128" cy="3148984"/>
          </a:xfrm>
          <a:prstGeom prst="rect">
            <a:avLst/>
          </a:prstGeom>
        </p:spPr>
      </p:pic>
      <p:sp>
        <p:nvSpPr>
          <p:cNvPr id="10" name="Text 7"/>
          <p:cNvSpPr/>
          <p:nvPr/>
        </p:nvSpPr>
        <p:spPr>
          <a:xfrm>
            <a:off x="6675120" y="5623560"/>
            <a:ext cx="470916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The furniture itself: June 2024 mark scheme, Section A criteria</a:t>
            </a:r>
            <a:endParaRPr lang="en-US" sz="100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CASE-STUDY DOCUMENT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STILL IN USE IN MAY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6949440" cy="640080"/>
          </a:xfrm>
          <a:prstGeom prst="rect">
            <a:avLst/>
          </a:prstGeom>
          <a:noFill/>
          <a:ln/>
        </p:spPr>
        <p:txBody>
          <a:bodyPr wrap="square" lIns="0" tIns="0" rIns="0" bIns="0" rtlCol="0" anchor="ctr"/>
          <a:lstStyle/>
          <a:p>
            <a:pPr indent="0" marL="0">
              <a:buNone/>
            </a:pPr>
            <a:r>
              <a:rPr lang="en-US" sz="2800" dirty="0">
                <a:solidFill>
                  <a:srgbClr val="24313F"/>
                </a:solidFill>
                <a:latin typeface="Georgia" pitchFamily="34" charset="0"/>
                <a:ea typeface="Georgia" pitchFamily="34" charset="-122"/>
                <a:cs typeface="Georgia" pitchFamily="34" charset="-120"/>
              </a:rPr>
              <a:t>One institution, tracked to Paper 2</a:t>
            </a:r>
            <a:endParaRPr lang="en-US" sz="2800" dirty="0"/>
          </a:p>
        </p:txBody>
      </p:sp>
      <p:sp>
        <p:nvSpPr>
          <p:cNvPr id="6" name="Text 4"/>
          <p:cNvSpPr/>
          <p:nvPr/>
        </p:nvSpPr>
        <p:spPr>
          <a:xfrm>
            <a:off x="822960" y="1737360"/>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
        <p:nvSpPr>
          <p:cNvPr id="7" name="Text 5"/>
          <p:cNvSpPr/>
          <p:nvPr/>
        </p:nvSpPr>
        <p:spPr>
          <a:xfrm>
            <a:off x="1417320" y="1737360"/>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Identity and ownership</a:t>
            </a:r>
            <a:endParaRPr lang="en-US" sz="1550" dirty="0"/>
          </a:p>
        </p:txBody>
      </p:sp>
      <p:sp>
        <p:nvSpPr>
          <p:cNvPr id="8" name="Shape 6"/>
          <p:cNvSpPr/>
          <p:nvPr/>
        </p:nvSpPr>
        <p:spPr>
          <a:xfrm>
            <a:off x="822960" y="2212848"/>
            <a:ext cx="6766560" cy="0"/>
          </a:xfrm>
          <a:prstGeom prst="line">
            <a:avLst/>
          </a:prstGeom>
          <a:noFill/>
          <a:ln w="9525">
            <a:solidFill>
              <a:srgbClr val="D9D4C4"/>
            </a:solidFill>
            <a:prstDash val="solid"/>
          </a:ln>
        </p:spPr>
      </p:sp>
      <p:sp>
        <p:nvSpPr>
          <p:cNvPr id="9" name="Text 7"/>
          <p:cNvSpPr/>
          <p:nvPr/>
        </p:nvSpPr>
        <p:spPr>
          <a:xfrm>
            <a:off x="822960" y="2249424"/>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
        <p:nvSpPr>
          <p:cNvPr id="10" name="Text 8"/>
          <p:cNvSpPr/>
          <p:nvPr/>
        </p:nvSpPr>
        <p:spPr>
          <a:xfrm>
            <a:off x="1417320" y="2249424"/>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Production patterns</a:t>
            </a:r>
            <a:endParaRPr lang="en-US" sz="1550" dirty="0"/>
          </a:p>
        </p:txBody>
      </p:sp>
      <p:sp>
        <p:nvSpPr>
          <p:cNvPr id="11" name="Shape 9"/>
          <p:cNvSpPr/>
          <p:nvPr/>
        </p:nvSpPr>
        <p:spPr>
          <a:xfrm>
            <a:off x="822960" y="2724912"/>
            <a:ext cx="6766560" cy="0"/>
          </a:xfrm>
          <a:prstGeom prst="line">
            <a:avLst/>
          </a:prstGeom>
          <a:noFill/>
          <a:ln w="9525">
            <a:solidFill>
              <a:srgbClr val="D9D4C4"/>
            </a:solidFill>
            <a:prstDash val="solid"/>
          </a:ln>
        </p:spPr>
      </p:sp>
      <p:sp>
        <p:nvSpPr>
          <p:cNvPr id="12" name="Text 10"/>
          <p:cNvSpPr/>
          <p:nvPr/>
        </p:nvSpPr>
        <p:spPr>
          <a:xfrm>
            <a:off x="822960" y="2761488"/>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
        <p:nvSpPr>
          <p:cNvPr id="13" name="Text 11"/>
          <p:cNvSpPr/>
          <p:nvPr/>
        </p:nvSpPr>
        <p:spPr>
          <a:xfrm>
            <a:off x="1417320" y="2761488"/>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Distribution and marketing</a:t>
            </a:r>
            <a:endParaRPr lang="en-US" sz="1550" dirty="0"/>
          </a:p>
        </p:txBody>
      </p:sp>
      <p:sp>
        <p:nvSpPr>
          <p:cNvPr id="14" name="Shape 12"/>
          <p:cNvSpPr/>
          <p:nvPr/>
        </p:nvSpPr>
        <p:spPr>
          <a:xfrm>
            <a:off x="822960" y="3236976"/>
            <a:ext cx="6766560" cy="0"/>
          </a:xfrm>
          <a:prstGeom prst="line">
            <a:avLst/>
          </a:prstGeom>
          <a:noFill/>
          <a:ln w="9525">
            <a:solidFill>
              <a:srgbClr val="D9D4C4"/>
            </a:solidFill>
            <a:prstDash val="solid"/>
          </a:ln>
        </p:spPr>
      </p:sp>
      <p:sp>
        <p:nvSpPr>
          <p:cNvPr id="15" name="Text 13"/>
          <p:cNvSpPr/>
          <p:nvPr/>
        </p:nvSpPr>
        <p:spPr>
          <a:xfrm>
            <a:off x="822960" y="3273552"/>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
        <p:nvSpPr>
          <p:cNvPr id="16" name="Text 14"/>
          <p:cNvSpPr/>
          <p:nvPr/>
        </p:nvSpPr>
        <p:spPr>
          <a:xfrm>
            <a:off x="1417320" y="3273552"/>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Audience and consumption</a:t>
            </a:r>
            <a:endParaRPr lang="en-US" sz="1550" dirty="0"/>
          </a:p>
        </p:txBody>
      </p:sp>
      <p:sp>
        <p:nvSpPr>
          <p:cNvPr id="17" name="Shape 15"/>
          <p:cNvSpPr/>
          <p:nvPr/>
        </p:nvSpPr>
        <p:spPr>
          <a:xfrm>
            <a:off x="822960" y="3749040"/>
            <a:ext cx="6766560" cy="0"/>
          </a:xfrm>
          <a:prstGeom prst="line">
            <a:avLst/>
          </a:prstGeom>
          <a:noFill/>
          <a:ln w="9525">
            <a:solidFill>
              <a:srgbClr val="D9D4C4"/>
            </a:solidFill>
            <a:prstDash val="solid"/>
          </a:ln>
        </p:spPr>
      </p:sp>
      <p:sp>
        <p:nvSpPr>
          <p:cNvPr id="18" name="Text 16"/>
          <p:cNvSpPr/>
          <p:nvPr/>
        </p:nvSpPr>
        <p:spPr>
          <a:xfrm>
            <a:off x="822960" y="3785616"/>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
        <p:nvSpPr>
          <p:cNvPr id="19" name="Text 17"/>
          <p:cNvSpPr/>
          <p:nvPr/>
        </p:nvSpPr>
        <p:spPr>
          <a:xfrm>
            <a:off x="1417320" y="3785616"/>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Regulation</a:t>
            </a:r>
            <a:endParaRPr lang="en-US" sz="1550" dirty="0"/>
          </a:p>
        </p:txBody>
      </p:sp>
      <p:sp>
        <p:nvSpPr>
          <p:cNvPr id="20" name="Shape 18"/>
          <p:cNvSpPr/>
          <p:nvPr/>
        </p:nvSpPr>
        <p:spPr>
          <a:xfrm>
            <a:off x="822960" y="4261104"/>
            <a:ext cx="6766560" cy="0"/>
          </a:xfrm>
          <a:prstGeom prst="line">
            <a:avLst/>
          </a:prstGeom>
          <a:noFill/>
          <a:ln w="9525">
            <a:solidFill>
              <a:srgbClr val="D9D4C4"/>
            </a:solidFill>
            <a:prstDash val="solid"/>
          </a:ln>
        </p:spPr>
      </p:sp>
      <p:sp>
        <p:nvSpPr>
          <p:cNvPr id="21" name="Text 19"/>
          <p:cNvSpPr/>
          <p:nvPr/>
        </p:nvSpPr>
        <p:spPr>
          <a:xfrm>
            <a:off x="822960" y="4297680"/>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
        <p:nvSpPr>
          <p:cNvPr id="22" name="Text 20"/>
          <p:cNvSpPr/>
          <p:nvPr/>
        </p:nvSpPr>
        <p:spPr>
          <a:xfrm>
            <a:off x="1417320" y="4297680"/>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Technology</a:t>
            </a:r>
            <a:endParaRPr lang="en-US" sz="1550" dirty="0"/>
          </a:p>
        </p:txBody>
      </p:sp>
      <p:sp>
        <p:nvSpPr>
          <p:cNvPr id="23" name="Shape 21"/>
          <p:cNvSpPr/>
          <p:nvPr/>
        </p:nvSpPr>
        <p:spPr>
          <a:xfrm>
            <a:off x="822960" y="4773168"/>
            <a:ext cx="6766560" cy="0"/>
          </a:xfrm>
          <a:prstGeom prst="line">
            <a:avLst/>
          </a:prstGeom>
          <a:noFill/>
          <a:ln w="9525">
            <a:solidFill>
              <a:srgbClr val="D9D4C4"/>
            </a:solidFill>
            <a:prstDash val="solid"/>
          </a:ln>
        </p:spPr>
      </p:sp>
      <p:sp>
        <p:nvSpPr>
          <p:cNvPr id="24" name="Text 22"/>
          <p:cNvSpPr/>
          <p:nvPr/>
        </p:nvSpPr>
        <p:spPr>
          <a:xfrm>
            <a:off x="822960" y="4809744"/>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07</a:t>
            </a:r>
            <a:endParaRPr lang="en-US" sz="1600" dirty="0"/>
          </a:p>
        </p:txBody>
      </p:sp>
      <p:sp>
        <p:nvSpPr>
          <p:cNvPr id="25" name="Text 23"/>
          <p:cNvSpPr/>
          <p:nvPr/>
        </p:nvSpPr>
        <p:spPr>
          <a:xfrm>
            <a:off x="1417320" y="4809744"/>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Dated key facts</a:t>
            </a:r>
            <a:endParaRPr lang="en-US" sz="1550" dirty="0"/>
          </a:p>
        </p:txBody>
      </p:sp>
      <p:sp>
        <p:nvSpPr>
          <p:cNvPr id="26" name="Shape 24"/>
          <p:cNvSpPr/>
          <p:nvPr/>
        </p:nvSpPr>
        <p:spPr>
          <a:xfrm>
            <a:off x="822960" y="5285232"/>
            <a:ext cx="6766560" cy="0"/>
          </a:xfrm>
          <a:prstGeom prst="line">
            <a:avLst/>
          </a:prstGeom>
          <a:noFill/>
          <a:ln w="9525">
            <a:solidFill>
              <a:srgbClr val="D9D4C4"/>
            </a:solidFill>
            <a:prstDash val="solid"/>
          </a:ln>
        </p:spPr>
      </p:sp>
      <p:sp>
        <p:nvSpPr>
          <p:cNvPr id="27" name="Text 25"/>
          <p:cNvSpPr/>
          <p:nvPr/>
        </p:nvSpPr>
        <p:spPr>
          <a:xfrm>
            <a:off x="822960" y="5321808"/>
            <a:ext cx="594360" cy="457200"/>
          </a:xfrm>
          <a:prstGeom prst="rect">
            <a:avLst/>
          </a:prstGeom>
          <a:noFill/>
          <a:ln/>
        </p:spPr>
        <p:txBody>
          <a:bodyPr wrap="square" lIns="0" tIns="0" rIns="0" bIns="0" rtlCol="0" anchor="ctr"/>
          <a:lstStyle/>
          <a:p>
            <a:pP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
        <p:nvSpPr>
          <p:cNvPr id="28" name="Text 26"/>
          <p:cNvSpPr/>
          <p:nvPr/>
        </p:nvSpPr>
        <p:spPr>
          <a:xfrm>
            <a:off x="1417320" y="5321808"/>
            <a:ext cx="6309360" cy="457200"/>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Coverage against the four Key Concepts</a:t>
            </a:r>
            <a:endParaRPr lang="en-US" sz="1550" dirty="0"/>
          </a:p>
        </p:txBody>
      </p:sp>
      <p:sp>
        <p:nvSpPr>
          <p:cNvPr id="29" name="Shape 27"/>
          <p:cNvSpPr/>
          <p:nvPr/>
        </p:nvSpPr>
        <p:spPr>
          <a:xfrm>
            <a:off x="822960" y="5797296"/>
            <a:ext cx="6766560" cy="0"/>
          </a:xfrm>
          <a:prstGeom prst="line">
            <a:avLst/>
          </a:prstGeom>
          <a:noFill/>
          <a:ln w="9525">
            <a:solidFill>
              <a:srgbClr val="D9D4C4"/>
            </a:solidFill>
            <a:prstDash val="solid"/>
          </a:ln>
        </p:spPr>
      </p:sp>
      <p:sp>
        <p:nvSpPr>
          <p:cNvPr id="30" name="Shape 28"/>
          <p:cNvSpPr/>
          <p:nvPr/>
        </p:nvSpPr>
        <p:spPr>
          <a:xfrm>
            <a:off x="7452360" y="1097280"/>
            <a:ext cx="3931920" cy="4663440"/>
          </a:xfrm>
          <a:prstGeom prst="rect">
            <a:avLst/>
          </a:prstGeom>
          <a:solidFill>
            <a:srgbClr val="FAF8F1"/>
          </a:solidFill>
          <a:ln w="9525">
            <a:solidFill>
              <a:srgbClr val="D9D4C4"/>
            </a:solidFill>
            <a:prstDash val="solid"/>
          </a:ln>
        </p:spPr>
      </p:sp>
      <p:pic>
        <p:nvPicPr>
          <p:cNvPr id="31" name="Image 0" descr="/Users/dogan/Documents/Vaults/Courses/wiki/classes/media-studies/decks/_build/img/ws53.jpg">    </p:cNvPr>
          <p:cNvPicPr>
            <a:picLocks noChangeAspect="1"/>
          </p:cNvPicPr>
          <p:nvPr/>
        </p:nvPicPr>
        <p:blipFill>
          <a:blip r:embed="rId1"/>
          <a:stretch>
            <a:fillRect/>
          </a:stretch>
        </p:blipFill>
        <p:spPr>
          <a:xfrm>
            <a:off x="7580376" y="2130102"/>
            <a:ext cx="3675888" cy="2597795"/>
          </a:xfrm>
          <a:prstGeom prst="rect">
            <a:avLst/>
          </a:prstGeom>
        </p:spPr>
      </p:pic>
      <p:sp>
        <p:nvSpPr>
          <p:cNvPr id="32" name="Text 29"/>
          <p:cNvSpPr/>
          <p:nvPr/>
        </p:nvSpPr>
        <p:spPr>
          <a:xfrm>
            <a:off x="7452360" y="5779008"/>
            <a:ext cx="3931920"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WS 5.3, the National Geographic sheet: the model of what good entries become</a:t>
            </a:r>
            <a:endParaRPr lang="en-US" sz="1000" dirty="0"/>
          </a:p>
        </p:txBody>
      </p:sp>
      <p:sp>
        <p:nvSpPr>
          <p:cNvPr id="33" name="Text 30"/>
          <p:cNvSpPr/>
          <p:nvPr/>
        </p:nvSpPr>
        <p:spPr>
          <a:xfrm>
            <a:off x="822960" y="5897880"/>
            <a:ext cx="6766560" cy="365760"/>
          </a:xfrm>
          <a:prstGeom prst="rect">
            <a:avLst/>
          </a:prstGeom>
          <a:noFill/>
          <a:ln/>
        </p:spPr>
        <p:txBody>
          <a:bodyPr wrap="square" lIns="0" tIns="0" rIns="0" bIns="0" rtlCol="0" anchor="ctr"/>
          <a:lstStyle/>
          <a:p>
            <a:pPr indent="0" marL="0">
              <a:buNone/>
            </a:pPr>
            <a:r>
              <a:rPr lang="en-US" sz="1150" i="1" dirty="0">
                <a:solidFill>
                  <a:srgbClr val="7A7F72"/>
                </a:solidFill>
                <a:latin typeface="Arial" pitchFamily="34" charset="0"/>
                <a:ea typeface="Arial" pitchFamily="34" charset="-122"/>
                <a:cs typeface="Arial" pitchFamily="34" charset="-120"/>
              </a:rPr>
              <a:t>Date every entry. The exam wants examples from the last five years, so dates matter from today.</a:t>
            </a:r>
            <a:endParaRPr lang="en-US" sz="1150" dirty="0"/>
          </a:p>
        </p:txBody>
      </p:sp>
      <p:sp>
        <p:nvSpPr>
          <p:cNvPr id="34" name="Shape 31"/>
          <p:cNvSpPr/>
          <p:nvPr/>
        </p:nvSpPr>
        <p:spPr>
          <a:xfrm>
            <a:off x="822960" y="6382512"/>
            <a:ext cx="10543032" cy="0"/>
          </a:xfrm>
          <a:prstGeom prst="line">
            <a:avLst/>
          </a:prstGeom>
          <a:noFill/>
          <a:ln w="9525">
            <a:solidFill>
              <a:srgbClr val="D9D4C4"/>
            </a:solidFill>
            <a:prstDash val="solid"/>
          </a:ln>
        </p:spPr>
      </p:sp>
      <p:sp>
        <p:nvSpPr>
          <p:cNvPr id="35" name="Text 32"/>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36" name="Text 33"/>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08</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PAPER ITSELF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THIS LESSON'S TWO TOPICS, AS EXAM QUESTIONS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Shape 3"/>
          <p:cNvSpPr/>
          <p:nvPr/>
        </p:nvSpPr>
        <p:spPr>
          <a:xfrm>
            <a:off x="822960" y="1051560"/>
            <a:ext cx="4160520" cy="4937760"/>
          </a:xfrm>
          <a:prstGeom prst="rect">
            <a:avLst/>
          </a:prstGeom>
          <a:solidFill>
            <a:srgbClr val="FAF8F1"/>
          </a:solidFill>
          <a:ln w="9525">
            <a:solidFill>
              <a:srgbClr val="D9D4C4"/>
            </a:solidFill>
            <a:prstDash val="solid"/>
          </a:ln>
        </p:spPr>
      </p:sp>
      <p:pic>
        <p:nvPicPr>
          <p:cNvPr id="6" name="Image 0" descr="/Users/dogan/Documents/Vaults/Courses/wiki/classes/media-studies/decks/_build/img/qp21-p2.jpg">    </p:cNvPr>
          <p:cNvPicPr>
            <a:picLocks noChangeAspect="1"/>
          </p:cNvPicPr>
          <p:nvPr/>
        </p:nvPicPr>
        <p:blipFill>
          <a:blip r:embed="rId1"/>
          <a:stretch>
            <a:fillRect/>
          </a:stretch>
        </p:blipFill>
        <p:spPr>
          <a:xfrm>
            <a:off x="1247902" y="1179576"/>
            <a:ext cx="3310636" cy="4681728"/>
          </a:xfrm>
          <a:prstGeom prst="rect">
            <a:avLst/>
          </a:prstGeom>
        </p:spPr>
      </p:pic>
      <p:sp>
        <p:nvSpPr>
          <p:cNvPr id="7" name="Text 4"/>
          <p:cNvSpPr/>
          <p:nvPr/>
        </p:nvSpPr>
        <p:spPr>
          <a:xfrm>
            <a:off x="822960" y="5989320"/>
            <a:ext cx="4160520" cy="27432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June 2024 Paper 2/21, page 2</a:t>
            </a:r>
            <a:endParaRPr lang="en-US" sz="1000" dirty="0"/>
          </a:p>
        </p:txBody>
      </p:sp>
      <p:sp>
        <p:nvSpPr>
          <p:cNvPr id="8" name="Text 5"/>
          <p:cNvSpPr/>
          <p:nvPr/>
        </p:nvSpPr>
        <p:spPr>
          <a:xfrm>
            <a:off x="5440680" y="1280160"/>
            <a:ext cx="5943600" cy="822960"/>
          </a:xfrm>
          <a:prstGeom prst="rect">
            <a:avLst/>
          </a:prstGeom>
          <a:noFill/>
          <a:ln/>
        </p:spPr>
        <p:txBody>
          <a:bodyPr wrap="square" lIns="0" tIns="0" rIns="0" bIns="0" rtlCol="0" anchor="ctr"/>
          <a:lstStyle/>
          <a:p>
            <a:pPr indent="0" marL="0">
              <a:lnSpc>
                <a:spcPts val="3200"/>
              </a:lnSpc>
              <a:buNone/>
            </a:pPr>
            <a:r>
              <a:rPr lang="en-US" sz="2800" dirty="0">
                <a:solidFill>
                  <a:srgbClr val="24313F"/>
                </a:solidFill>
                <a:latin typeface="Georgia" pitchFamily="34" charset="0"/>
                <a:ea typeface="Georgia" pitchFamily="34" charset="-122"/>
                <a:cs typeface="Georgia" pitchFamily="34" charset="-120"/>
              </a:rPr>
              <a:t>Section B already knows this week</a:t>
            </a:r>
            <a:endParaRPr lang="en-US" sz="2800" dirty="0"/>
          </a:p>
        </p:txBody>
      </p:sp>
      <p:sp>
        <p:nvSpPr>
          <p:cNvPr id="9" name="Shape 6"/>
          <p:cNvSpPr/>
          <p:nvPr/>
        </p:nvSpPr>
        <p:spPr>
          <a:xfrm>
            <a:off x="5440680" y="2240280"/>
            <a:ext cx="5897880" cy="0"/>
          </a:xfrm>
          <a:prstGeom prst="line">
            <a:avLst/>
          </a:prstGeom>
          <a:noFill/>
          <a:ln w="9525">
            <a:solidFill>
              <a:srgbClr val="D9D4C4"/>
            </a:solidFill>
            <a:prstDash val="solid"/>
          </a:ln>
        </p:spPr>
      </p:sp>
      <p:sp>
        <p:nvSpPr>
          <p:cNvPr id="10" name="Text 7"/>
          <p:cNvSpPr/>
          <p:nvPr/>
        </p:nvSpPr>
        <p:spPr>
          <a:xfrm>
            <a:off x="5440680" y="2423160"/>
            <a:ext cx="5943600" cy="3017520"/>
          </a:xfrm>
          <a:prstGeom prst="rect">
            <a:avLst/>
          </a:prstGeom>
          <a:noFill/>
          <a:ln/>
        </p:spPr>
        <p:txBody>
          <a:bodyPr wrap="square" lIns="0" tIns="0" rIns="0" bIns="0" rtlCol="0" anchor="t"/>
          <a:lstStyle/>
          <a:p>
            <a:pPr indent="0" marL="0">
              <a:lnSpc>
                <a:spcPts val="2300"/>
              </a:lnSpc>
              <a:buNone/>
            </a:pPr>
            <a:r>
              <a:rPr lang="en-US" sz="1400" b="1" spc="100" kern="0" dirty="0">
                <a:solidFill>
                  <a:srgbClr val="4A6B5D"/>
                </a:solidFill>
                <a:latin typeface="Arial" pitchFamily="34" charset="0"/>
                <a:ea typeface="Arial" pitchFamily="34" charset="-122"/>
                <a:cs typeface="Arial" pitchFamily="34" charset="-120"/>
              </a:rPr>
              <a:t>THE MENU   </a:t>
            </a:r>
            <a:pPr indent="0" marL="0">
              <a:lnSpc>
                <a:spcPts val="2300"/>
              </a:lnSpc>
              <a:buNone/>
            </a:pPr>
            <a:r>
              <a:rPr lang="en-US" sz="1600" dirty="0">
                <a:solidFill>
                  <a:srgbClr val="24313F"/>
                </a:solidFill>
                <a:latin typeface="Georgia" pitchFamily="34" charset="0"/>
                <a:ea typeface="Georgia" pitchFamily="34" charset="-122"/>
                <a:cs typeface="Georgia" pitchFamily="34" charset="-120"/>
              </a:rPr>
              <a:t>June 2024, Section B: analyze the relationship between ownership and content, or evaluate audiences as active participants.</a:t>
            </a:r>
            <a:endParaRPr lang="en-US" sz="1400" dirty="0"/>
          </a:p>
          <a:p>
            <a:pPr indent="0" marL="0">
              <a:lnSpc>
                <a:spcPts val="2300"/>
              </a:lnSpc>
              <a:buNone/>
            </a:pPr>
            <a:r>
              <a:rPr lang="en-US" sz="1400" b="1" spc="100" kern="0" dirty="0">
                <a:solidFill>
                  <a:srgbClr val="4A6B5D"/>
                </a:solidFill>
                <a:latin typeface="Arial" pitchFamily="34" charset="0"/>
                <a:ea typeface="Arial" pitchFamily="34" charset="-122"/>
                <a:cs typeface="Arial" pitchFamily="34" charset="-120"/>
              </a:rPr>
              <a:t>KEY POINT   </a:t>
            </a:r>
            <a:pPr indent="0" marL="0">
              <a:lnSpc>
                <a:spcPts val="2300"/>
              </a:lnSpc>
              <a:buNone/>
            </a:pPr>
            <a:r>
              <a:rPr lang="en-US" sz="1600" dirty="0">
                <a:solidFill>
                  <a:srgbClr val="24313F"/>
                </a:solidFill>
                <a:latin typeface="Georgia" pitchFamily="34" charset="0"/>
                <a:ea typeface="Georgia" pitchFamily="34" charset="-122"/>
                <a:cs typeface="Georgia" pitchFamily="34" charset="-120"/>
              </a:rPr>
              <a:t>This lesson's two topics are the real exam's two questions.</a:t>
            </a:r>
            <a:endParaRPr lang="en-US" sz="1400" dirty="0"/>
          </a:p>
          <a:p>
            <a:pPr indent="0" marL="0">
              <a:lnSpc>
                <a:spcPts val="2300"/>
              </a:lnSpc>
              <a:buNone/>
            </a:pPr>
            <a:r>
              <a:rPr lang="en-US" sz="1400" b="1" spc="100" kern="0" dirty="0">
                <a:solidFill>
                  <a:srgbClr val="4A6B5D"/>
                </a:solidFill>
                <a:latin typeface="Arial" pitchFamily="34" charset="0"/>
                <a:ea typeface="Arial" pitchFamily="34" charset="-122"/>
                <a:cs typeface="Arial" pitchFamily="34" charset="-120"/>
              </a:rPr>
              <a:t>YOUR NOTES   </a:t>
            </a:r>
            <a:pPr indent="0" marL="0">
              <a:lnSpc>
                <a:spcPts val="2300"/>
              </a:lnSpc>
              <a:buNone/>
            </a:pPr>
            <a:r>
              <a:rPr lang="en-US" sz="1600" dirty="0">
                <a:solidFill>
                  <a:srgbClr val="24313F"/>
                </a:solidFill>
                <a:latin typeface="Georgia" pitchFamily="34" charset="0"/>
                <a:ea typeface="Georgia" pitchFamily="34" charset="-122"/>
                <a:cs typeface="Georgia" pitchFamily="34" charset="-120"/>
              </a:rPr>
              <a:t>The case-study document you opened today answers either question.</a:t>
            </a:r>
            <a:endParaRPr lang="en-US" sz="1400" dirty="0"/>
          </a:p>
        </p:txBody>
      </p:sp>
      <p:sp>
        <p:nvSpPr>
          <p:cNvPr id="11" name="Shape 8"/>
          <p:cNvSpPr/>
          <p:nvPr/>
        </p:nvSpPr>
        <p:spPr>
          <a:xfrm>
            <a:off x="822960" y="6382512"/>
            <a:ext cx="10543032" cy="0"/>
          </a:xfrm>
          <a:prstGeom prst="line">
            <a:avLst/>
          </a:prstGeom>
          <a:noFill/>
          <a:ln w="9525">
            <a:solidFill>
              <a:srgbClr val="D9D4C4"/>
            </a:solidFill>
            <a:prstDash val="solid"/>
          </a:ln>
        </p:spPr>
      </p:sp>
      <p:sp>
        <p:nvSpPr>
          <p:cNvPr id="12"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09</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424160" cy="1920240"/>
          </a:xfrm>
          <a:prstGeom prst="rect">
            <a:avLst/>
          </a:prstGeom>
          <a:noFill/>
          <a:ln/>
        </p:spPr>
        <p:txBody>
          <a:bodyPr wrap="square" lIns="0" tIns="0" rIns="0" bIns="0" rtlCol="0" anchor="t"/>
          <a:lstStyle/>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A4: Section A in</a:t>
            </a:r>
            <a:endParaRPr lang="en-US" sz="5000" dirty="0"/>
          </a:p>
          <a:p>
            <a:pPr indent="0" marL="0">
              <a:lnSpc>
                <a:spcPts val="5200"/>
              </a:lnSpc>
              <a:buNone/>
            </a:pPr>
            <a:r>
              <a:rPr lang="en-US" sz="5000" dirty="0">
                <a:solidFill>
                  <a:srgbClr val="FAF8F1"/>
                </a:solidFill>
                <a:latin typeface="Georgia" pitchFamily="34" charset="0"/>
                <a:ea typeface="Georgia" pitchFamily="34" charset="-122"/>
                <a:cs typeface="Georgia" pitchFamily="34" charset="-120"/>
              </a:rPr>
              <a:t>Authentic Format</a:t>
            </a:r>
            <a:endParaRPr lang="en-US" sz="5000" dirty="0"/>
          </a:p>
        </p:txBody>
      </p:sp>
      <p:sp>
        <p:nvSpPr>
          <p:cNvPr id="5" name="Text 3"/>
          <p:cNvSpPr/>
          <p:nvPr/>
        </p:nvSpPr>
        <p:spPr>
          <a:xfrm>
            <a:off x="822960" y="4846320"/>
            <a:ext cx="10058400" cy="457200"/>
          </a:xfrm>
          <a:prstGeom prst="rect">
            <a:avLst/>
          </a:prstGeom>
          <a:noFill/>
          <a:ln/>
        </p:spPr>
        <p:txBody>
          <a:bodyPr wrap="square" lIns="0" tIns="0" rIns="0" bIns="0" rtlCol="0" anchor="ctr"/>
          <a:lstStyle/>
          <a:p>
            <a:pPr indent="0" marL="0">
              <a:buNone/>
            </a:pPr>
            <a:r>
              <a:rPr lang="en-US" sz="2100" i="1" dirty="0">
                <a:solidFill>
                  <a:srgbClr val="E8EFE7"/>
                </a:solidFill>
                <a:latin typeface="Georgia" pitchFamily="34" charset="0"/>
                <a:ea typeface="Georgia" pitchFamily="34" charset="-122"/>
                <a:cs typeface="Georgia" pitchFamily="34" charset="-120"/>
              </a:rPr>
              <a:t>Lesson 16. Integration, synergy, convergence, and the first authentic Section A sitting.</a:t>
            </a:r>
            <a:endParaRPr lang="en-US" sz="21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10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2026-08-25T03:29:07Z</dcterms:created>
  <dcterms:modified xsi:type="dcterms:W3CDTF">2026-08-25T03:29:07Z</dcterms:modified>
</cp:coreProperties>
</file>