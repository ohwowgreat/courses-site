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teaching week is spent making the exam boring: no surprises left in format, timing, or the mark scheme's economics. No Thursday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Musicians rehearse until the score disappears and only the playing is left. Same principle: rehearse the format until nothing about it can surprise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room met this paper at L08 as the held rehearsal text and sat A1 on the same format. This week the full paper is walked end to end on the rubric's own clock: 30 viewing, 45 Section A, 45 Section B, the frozen stem read aloud. The June 2025 variants stay sealed for the S2 mocks.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your own minute budget inside each section: paragraphs, plan time, check time. A promise to Wednesday. The page on screen is the June 2024 paper's own wording; every sitting reuses the 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is modelled: the teacher writes a five-minute plan on the board for one bank question, then photographs it as the exemplar for next year. Bank questions imitate the June 2024 Section B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 comments follow the WS 4.6 comment-bank style: tick-box rows plus one written action. The grid on screen is the June 2024 Section B page; its concepts criterion reads audience and industry, and its analysis criterion expects multiple case studies in the top bands, which is why one case study caps the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Best-fit per criterion, five criteria of five marks. The header strip is from the Section B pages of the June 2024 scheme; Section A prints the identical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personal calibration output from CS13 and the A4 review, written before the room leaves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debrief exemplar the plan names: the official annotated model reading. Students pick one line, read it aloud, and imitate its shape on their own extract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grids side by side end the assume-an-essay-is-marked-differently error. Point at the matching rows: concepts, contexts, terminology, analysis,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CS13 sits Wednesday 6 January per the register, fed by HW2 which came due Monday. Peer-marked then moderated; comments in the WS 4.6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5852160" y="822960"/>
            <a:ext cx="5577840" cy="4937760"/>
          </a:xfrm>
          <a:prstGeom prst="rect">
            <a:avLst/>
          </a:prstGeom>
          <a:noFill/>
          <a:ln/>
        </p:spPr>
        <p:txBody>
          <a:bodyPr wrap="square" lIns="0" tIns="0" rIns="0" bIns="0" rtlCol="0" anchor="ctr"/>
          <a:lstStyle/>
          <a:p>
            <a:pPr algn="ctr" indent="0" marL="0">
              <a:buNone/>
            </a:pPr>
            <a:r>
              <a:rPr lang="en-US" sz="15500" dirty="0">
                <a:solidFill>
                  <a:srgbClr val="A3C1AD"/>
                </a:solidFill>
                <a:latin typeface="Georgia" pitchFamily="34" charset="0"/>
                <a:ea typeface="Georgia" pitchFamily="34" charset="-122"/>
                <a:cs typeface="Georgia" pitchFamily="34" charset="-120"/>
              </a:rPr>
              <a:t>XVIII</a:t>
            </a:r>
            <a:endParaRPr lang="en-US" sz="155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VI</a:t>
            </a:r>
            <a:endParaRPr lang="en-US" sz="1100" dirty="0"/>
          </a:p>
        </p:txBody>
      </p:sp>
      <p:sp>
        <p:nvSpPr>
          <p:cNvPr id="4" name="Text 2"/>
          <p:cNvSpPr/>
          <p:nvPr/>
        </p:nvSpPr>
        <p:spPr>
          <a:xfrm>
            <a:off x="822960" y="1737360"/>
            <a:ext cx="7315200" cy="2377440"/>
          </a:xfrm>
          <a:prstGeom prst="rect">
            <a:avLst/>
          </a:prstGeom>
          <a:noFill/>
          <a:ln/>
        </p:spPr>
        <p:txBody>
          <a:bodyPr wrap="square" lIns="0" tIns="0" rIns="0" bIns="0" rtlCol="0" anchor="t"/>
          <a:lstStyle/>
          <a:p>
            <a:pPr indent="0" marL="0">
              <a:lnSpc>
                <a:spcPts val="6600"/>
              </a:lnSpc>
              <a:buNone/>
            </a:pPr>
            <a:r>
              <a:rPr lang="en-US" sz="6800" dirty="0">
                <a:solidFill>
                  <a:srgbClr val="24313F"/>
                </a:solidFill>
                <a:latin typeface="Georgia" pitchFamily="34" charset="0"/>
                <a:ea typeface="Georgia" pitchFamily="34" charset="-122"/>
                <a:cs typeface="Georgia" pitchFamily="34" charset="-120"/>
              </a:rPr>
              <a:t>Exam</a:t>
            </a:r>
            <a:endParaRPr lang="en-US" sz="6800" dirty="0"/>
          </a:p>
          <a:p>
            <a:pPr indent="0" marL="0">
              <a:lnSpc>
                <a:spcPts val="6600"/>
              </a:lnSpc>
              <a:buNone/>
            </a:pPr>
            <a:r>
              <a:rPr lang="en-US" sz="6800" dirty="0">
                <a:solidFill>
                  <a:srgbClr val="24313F"/>
                </a:solidFill>
                <a:latin typeface="Georgia" pitchFamily="34" charset="0"/>
                <a:ea typeface="Georgia" pitchFamily="34" charset="-122"/>
                <a:cs typeface="Georgia" pitchFamily="34" charset="-120"/>
              </a:rPr>
              <a:t>Rehearsal</a:t>
            </a:r>
            <a:endParaRPr lang="en-US" sz="68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7724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Revision · Lesson 18 of 19 · the last teaching week</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Four days  ·  Mon 4 · Tue 5 · Wed 6 (double) · Fri 8 January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5669280" y="640080"/>
            <a:ext cx="5943600" cy="5577840"/>
          </a:xfrm>
          <a:prstGeom prst="rect">
            <a:avLst/>
          </a:prstGeom>
          <a:noFill/>
          <a:ln/>
        </p:spPr>
        <p:txBody>
          <a:bodyPr wrap="square" lIns="0" tIns="0" rIns="0" bIns="0" rtlCol="0" anchor="ctr"/>
          <a:lstStyle/>
          <a:p>
            <a:pPr algn="ctr" indent="0" marL="0">
              <a:buNone/>
            </a:pPr>
            <a:r>
              <a:rPr lang="en-US" sz="17000" dirty="0">
                <a:solidFill>
                  <a:srgbClr val="5C7A6B"/>
                </a:solidFill>
                <a:latin typeface="Georgia" pitchFamily="34" charset="0"/>
                <a:ea typeface="Georgia" pitchFamily="34" charset="-122"/>
                <a:cs typeface="Georgia" pitchFamily="34" charset="-120"/>
              </a:rPr>
              <a:t>XVIII</a:t>
            </a:r>
            <a:endParaRPr lang="en-US" sz="17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AIM</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949440" cy="2194560"/>
          </a:xfrm>
          <a:prstGeom prst="rect">
            <a:avLst/>
          </a:prstGeom>
          <a:noFill/>
          <a:ln/>
        </p:spPr>
        <p:txBody>
          <a:bodyPr wrap="square" lIns="0" tIns="0" rIns="0" bIns="0" rtlCol="0" anchor="t"/>
          <a:lstStyle/>
          <a:p>
            <a:pPr indent="0" marL="0">
              <a:lnSpc>
                <a:spcPts val="5800"/>
              </a:lnSpc>
              <a:buNone/>
            </a:pPr>
            <a:r>
              <a:rPr lang="en-US" sz="5800" dirty="0">
                <a:solidFill>
                  <a:srgbClr val="FAF8F1"/>
                </a:solidFill>
                <a:latin typeface="Georgia" pitchFamily="34" charset="0"/>
                <a:ea typeface="Georgia" pitchFamily="34" charset="-122"/>
                <a:cs typeface="Georgia" pitchFamily="34" charset="-120"/>
              </a:rPr>
              <a:t>Make the exam</a:t>
            </a:r>
            <a:endParaRPr lang="en-US" sz="5800" dirty="0"/>
          </a:p>
          <a:p>
            <a:pPr indent="0" marL="0">
              <a:lnSpc>
                <a:spcPts val="5800"/>
              </a:lnSpc>
              <a:buNone/>
            </a:pPr>
            <a:r>
              <a:rPr lang="en-US" sz="5800" dirty="0">
                <a:solidFill>
                  <a:srgbClr val="FAF8F1"/>
                </a:solidFill>
                <a:latin typeface="Georgia" pitchFamily="34" charset="0"/>
                <a:ea typeface="Georgia" pitchFamily="34" charset="-122"/>
                <a:cs typeface="Georgia" pitchFamily="34" charset="-120"/>
              </a:rPr>
              <a:t>boring.</a:t>
            </a:r>
            <a:endParaRPr lang="en-US" sz="5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REHEARSAL PAPER</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SEEN ONCE AT L08; KNOWN COLD BY FRIDAY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234440"/>
            <a:ext cx="5989320" cy="40233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yourhonor-adam.jpg">    </p:cNvPr>
          <p:cNvPicPr>
            <a:picLocks noChangeAspect="1"/>
          </p:cNvPicPr>
          <p:nvPr/>
        </p:nvPicPr>
        <p:blipFill>
          <a:blip r:embed="rId1"/>
          <a:stretch>
            <a:fillRect/>
          </a:stretch>
        </p:blipFill>
        <p:spPr>
          <a:xfrm>
            <a:off x="993503" y="1362456"/>
            <a:ext cx="5648234" cy="3767328"/>
          </a:xfrm>
          <a:prstGeom prst="rect">
            <a:avLst/>
          </a:prstGeom>
        </p:spPr>
      </p:pic>
      <p:sp>
        <p:nvSpPr>
          <p:cNvPr id="7" name="Text 4"/>
          <p:cNvSpPr/>
          <p:nvPr/>
        </p:nvSpPr>
        <p:spPr>
          <a:xfrm>
            <a:off x="822960" y="5303520"/>
            <a:ext cx="5989320" cy="54864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Adam Desiato, the extract's main character: the t-shirt, the injury, the middle-class Volvo, exactly as the mark scheme reads them</a:t>
            </a:r>
            <a:endParaRPr lang="en-US" sz="1000" dirty="0"/>
          </a:p>
        </p:txBody>
      </p:sp>
      <p:sp>
        <p:nvSpPr>
          <p:cNvPr id="8" name="Shape 5"/>
          <p:cNvSpPr/>
          <p:nvPr/>
        </p:nvSpPr>
        <p:spPr>
          <a:xfrm>
            <a:off x="7223760" y="1051560"/>
            <a:ext cx="4114800" cy="4892040"/>
          </a:xfrm>
          <a:prstGeom prst="rect">
            <a:avLst/>
          </a:prstGeom>
          <a:solidFill>
            <a:srgbClr val="FAF8F1"/>
          </a:solidFill>
          <a:ln w="9525">
            <a:solidFill>
              <a:srgbClr val="D9D4C4"/>
            </a:solidFill>
            <a:prstDash val="solid"/>
          </a:ln>
        </p:spPr>
      </p:sp>
      <p:pic>
        <p:nvPicPr>
          <p:cNvPr id="9" name="Image 1" descr="/Users/dogan/Documents/Vaults/Courses/wiki/classes/media-studies/decks/_build/img/qp21-p2.jpg">    </p:cNvPr>
          <p:cNvPicPr>
            <a:picLocks noChangeAspect="1"/>
          </p:cNvPicPr>
          <p:nvPr/>
        </p:nvPicPr>
        <p:blipFill>
          <a:blip r:embed="rId2"/>
          <a:stretch>
            <a:fillRect/>
          </a:stretch>
        </p:blipFill>
        <p:spPr>
          <a:xfrm>
            <a:off x="7642007" y="1179576"/>
            <a:ext cx="3278306" cy="4636008"/>
          </a:xfrm>
          <a:prstGeom prst="rect">
            <a:avLst/>
          </a:prstGeom>
        </p:spPr>
      </p:pic>
      <p:sp>
        <p:nvSpPr>
          <p:cNvPr id="10" name="Text 6"/>
          <p:cNvSpPr/>
          <p:nvPr/>
        </p:nvSpPr>
        <p:spPr>
          <a:xfrm>
            <a:off x="7223760" y="5943600"/>
            <a:ext cx="411480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June 2024 Paper 2/21, the whole paper on one page</a:t>
            </a:r>
            <a:endParaRPr lang="en-US" sz="1000" dirty="0"/>
          </a:p>
        </p:txBody>
      </p:sp>
      <p:sp>
        <p:nvSpPr>
          <p:cNvPr id="11" name="Text 7"/>
          <p:cNvSpPr/>
          <p:nvPr/>
        </p:nvSpPr>
        <p:spPr>
          <a:xfrm>
            <a:off x="822960" y="5870448"/>
            <a:ext cx="5989320" cy="274320"/>
          </a:xfrm>
          <a:prstGeom prst="rect">
            <a:avLst/>
          </a:prstGeom>
          <a:noFill/>
          <a:ln/>
        </p:spPr>
        <p:txBody>
          <a:bodyPr wrap="square" lIns="0" tIns="0" rIns="0" bIns="0" rtlCol="0" anchor="ctr"/>
          <a:lstStyle/>
          <a:p>
            <a:pPr algn="ctr" indent="0" marL="0">
              <a:buNone/>
            </a:pPr>
            <a:r>
              <a:rPr lang="en-US" sz="900" dirty="0">
                <a:solidFill>
                  <a:srgbClr val="7A7F72"/>
                </a:solidFill>
                <a:latin typeface="Arial" pitchFamily="34" charset="0"/>
                <a:ea typeface="Arial" pitchFamily="34" charset="-122"/>
                <a:cs typeface="Arial" pitchFamily="34" charset="-120"/>
              </a:rPr>
              <a:t>Showtime, Your Honor, S1 E1 'Part One' (2020), publicity still</a:t>
            </a:r>
            <a:endParaRPr lang="en-US" sz="900" dirty="0"/>
          </a:p>
        </p:txBody>
      </p:sp>
      <p:sp>
        <p:nvSpPr>
          <p:cNvPr id="12" name="Shape 8"/>
          <p:cNvSpPr/>
          <p:nvPr/>
        </p:nvSpPr>
        <p:spPr>
          <a:xfrm>
            <a:off x="822960" y="6382512"/>
            <a:ext cx="10543032" cy="0"/>
          </a:xfrm>
          <a:prstGeom prst="line">
            <a:avLst/>
          </a:prstGeom>
          <a:noFill/>
          <a:ln w="9525">
            <a:solidFill>
              <a:srgbClr val="D9D4C4"/>
            </a:solidFill>
            <a:prstDash val="solid"/>
          </a:ln>
        </p:spPr>
      </p:sp>
      <p:sp>
        <p:nvSpPr>
          <p:cNvPr id="13"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4"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828800"/>
            <a:ext cx="10424160" cy="3291840"/>
          </a:xfrm>
          <a:prstGeom prst="rect">
            <a:avLst/>
          </a:prstGeom>
          <a:noFill/>
          <a:ln/>
        </p:spPr>
        <p:txBody>
          <a:bodyPr wrap="square" lIns="0" tIns="0" rIns="0" bIns="0" rtlCol="0" anchor="ctr"/>
          <a:lstStyle/>
          <a:p>
            <a:pPr indent="0" marL="0">
              <a:lnSpc>
                <a:spcPts val="5000"/>
              </a:lnSpc>
              <a:buNone/>
            </a:pPr>
            <a:r>
              <a:rPr lang="en-US" sz="4200" dirty="0">
                <a:solidFill>
                  <a:srgbClr val="24313F"/>
                </a:solidFill>
                <a:latin typeface="Georgia" pitchFamily="34" charset="0"/>
                <a:ea typeface="Georgia" pitchFamily="34" charset="-122"/>
                <a:cs typeface="Georgia" pitchFamily="34" charset="-120"/>
              </a:rPr>
              <a:t>We are what we repeatedly do. Excellence, then, is not an act, but a habit.</a:t>
            </a:r>
            <a:endParaRPr lang="en-US" sz="4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Will Durant, on Aristotle, 1926</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PAPER, END TO END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RUBRIC'S OWN CLOCK</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Two hours, three segments</a:t>
            </a:r>
            <a:endParaRPr lang="en-US" sz="3000" dirty="0"/>
          </a:p>
        </p:txBody>
      </p:sp>
      <p:sp>
        <p:nvSpPr>
          <p:cNvPr id="6" name="Shape 4"/>
          <p:cNvSpPr/>
          <p:nvPr/>
        </p:nvSpPr>
        <p:spPr>
          <a:xfrm>
            <a:off x="822960" y="1645920"/>
            <a:ext cx="2635758" cy="1051560"/>
          </a:xfrm>
          <a:prstGeom prst="rect">
            <a:avLst/>
          </a:prstGeom>
          <a:solidFill>
            <a:srgbClr val="A3C1AD"/>
          </a:solidFill>
          <a:ln/>
        </p:spPr>
      </p:sp>
      <p:sp>
        <p:nvSpPr>
          <p:cNvPr id="7" name="Text 5"/>
          <p:cNvSpPr/>
          <p:nvPr/>
        </p:nvSpPr>
        <p:spPr>
          <a:xfrm>
            <a:off x="822960" y="1773936"/>
            <a:ext cx="2635758" cy="457200"/>
          </a:xfrm>
          <a:prstGeom prst="rect">
            <a:avLst/>
          </a:prstGeom>
          <a:noFill/>
          <a:ln/>
        </p:spPr>
        <p:txBody>
          <a:bodyPr wrap="square" lIns="0" tIns="0" rIns="0" bIns="0" rtlCol="0" anchor="ctr"/>
          <a:lstStyle/>
          <a:p>
            <a:pPr algn="ctr" indent="0" marL="0">
              <a:buNone/>
            </a:pPr>
            <a:r>
              <a:rPr lang="en-US" sz="2200" dirty="0">
                <a:solidFill>
                  <a:srgbClr val="24313F"/>
                </a:solidFill>
                <a:latin typeface="Georgia" pitchFamily="34" charset="0"/>
                <a:ea typeface="Georgia" pitchFamily="34" charset="-122"/>
                <a:cs typeface="Georgia" pitchFamily="34" charset="-120"/>
              </a:rPr>
              <a:t>30 min</a:t>
            </a:r>
            <a:endParaRPr lang="en-US" sz="2200" dirty="0"/>
          </a:p>
        </p:txBody>
      </p:sp>
      <p:sp>
        <p:nvSpPr>
          <p:cNvPr id="8" name="Text 6"/>
          <p:cNvSpPr/>
          <p:nvPr/>
        </p:nvSpPr>
        <p:spPr>
          <a:xfrm>
            <a:off x="822960" y="2212848"/>
            <a:ext cx="2635758" cy="365760"/>
          </a:xfrm>
          <a:prstGeom prst="rect">
            <a:avLst/>
          </a:prstGeom>
          <a:noFill/>
          <a:ln/>
        </p:spPr>
        <p:txBody>
          <a:bodyPr wrap="square" lIns="0" tIns="0" rIns="0" bIns="0" rtlCol="0" anchor="ctr"/>
          <a:lstStyle/>
          <a:p>
            <a:pPr algn="ctr" indent="0" marL="0">
              <a:buNone/>
            </a:pPr>
            <a:r>
              <a:rPr lang="en-US" sz="1150" spc="50" kern="0" dirty="0">
                <a:solidFill>
                  <a:srgbClr val="24313F"/>
                </a:solidFill>
                <a:latin typeface="Arial" pitchFamily="34" charset="0"/>
                <a:ea typeface="Arial" pitchFamily="34" charset="-122"/>
                <a:cs typeface="Arial" pitchFamily="34" charset="-120"/>
              </a:rPr>
              <a:t>Viewing and notes</a:t>
            </a:r>
            <a:endParaRPr lang="en-US" sz="1150" dirty="0"/>
          </a:p>
        </p:txBody>
      </p:sp>
      <p:sp>
        <p:nvSpPr>
          <p:cNvPr id="9" name="Shape 7"/>
          <p:cNvSpPr/>
          <p:nvPr/>
        </p:nvSpPr>
        <p:spPr>
          <a:xfrm>
            <a:off x="3458718" y="1645920"/>
            <a:ext cx="3953637" cy="1051560"/>
          </a:xfrm>
          <a:prstGeom prst="rect">
            <a:avLst/>
          </a:prstGeom>
          <a:solidFill>
            <a:srgbClr val="4A6B5D"/>
          </a:solidFill>
          <a:ln/>
        </p:spPr>
      </p:sp>
      <p:sp>
        <p:nvSpPr>
          <p:cNvPr id="10" name="Text 8"/>
          <p:cNvSpPr/>
          <p:nvPr/>
        </p:nvSpPr>
        <p:spPr>
          <a:xfrm>
            <a:off x="3458718" y="1773936"/>
            <a:ext cx="3953637" cy="457200"/>
          </a:xfrm>
          <a:prstGeom prst="rect">
            <a:avLst/>
          </a:prstGeom>
          <a:no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45 min</a:t>
            </a:r>
            <a:endParaRPr lang="en-US" sz="2200" dirty="0"/>
          </a:p>
        </p:txBody>
      </p:sp>
      <p:sp>
        <p:nvSpPr>
          <p:cNvPr id="11" name="Text 9"/>
          <p:cNvSpPr/>
          <p:nvPr/>
        </p:nvSpPr>
        <p:spPr>
          <a:xfrm>
            <a:off x="3458718" y="2212848"/>
            <a:ext cx="3953637" cy="365760"/>
          </a:xfrm>
          <a:prstGeom prst="rect">
            <a:avLst/>
          </a:prstGeom>
          <a:noFill/>
          <a:ln/>
        </p:spPr>
        <p:txBody>
          <a:bodyPr wrap="square" lIns="0" tIns="0" rIns="0" bIns="0" rtlCol="0" anchor="ctr"/>
          <a:lstStyle/>
          <a:p>
            <a:pPr algn="ctr" indent="0" marL="0">
              <a:buNone/>
            </a:pPr>
            <a:r>
              <a:rPr lang="en-US" sz="1150" spc="50" kern="0" dirty="0">
                <a:solidFill>
                  <a:srgbClr val="FAF8F1"/>
                </a:solidFill>
                <a:latin typeface="Arial" pitchFamily="34" charset="0"/>
                <a:ea typeface="Arial" pitchFamily="34" charset="-122"/>
                <a:cs typeface="Arial" pitchFamily="34" charset="-120"/>
              </a:rPr>
              <a:t>Section A</a:t>
            </a:r>
            <a:endParaRPr lang="en-US" sz="1150" dirty="0"/>
          </a:p>
        </p:txBody>
      </p:sp>
      <p:sp>
        <p:nvSpPr>
          <p:cNvPr id="12" name="Shape 10"/>
          <p:cNvSpPr/>
          <p:nvPr/>
        </p:nvSpPr>
        <p:spPr>
          <a:xfrm>
            <a:off x="7412355" y="1645920"/>
            <a:ext cx="3953637" cy="1051560"/>
          </a:xfrm>
          <a:prstGeom prst="rect">
            <a:avLst/>
          </a:prstGeom>
          <a:solidFill>
            <a:srgbClr val="5C7A6B"/>
          </a:solidFill>
          <a:ln/>
        </p:spPr>
      </p:sp>
      <p:sp>
        <p:nvSpPr>
          <p:cNvPr id="13" name="Text 11"/>
          <p:cNvSpPr/>
          <p:nvPr/>
        </p:nvSpPr>
        <p:spPr>
          <a:xfrm>
            <a:off x="7412355" y="1773936"/>
            <a:ext cx="3953637" cy="457200"/>
          </a:xfrm>
          <a:prstGeom prst="rect">
            <a:avLst/>
          </a:prstGeom>
          <a:no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45 min</a:t>
            </a:r>
            <a:endParaRPr lang="en-US" sz="2200" dirty="0"/>
          </a:p>
        </p:txBody>
      </p:sp>
      <p:sp>
        <p:nvSpPr>
          <p:cNvPr id="14" name="Text 12"/>
          <p:cNvSpPr/>
          <p:nvPr/>
        </p:nvSpPr>
        <p:spPr>
          <a:xfrm>
            <a:off x="7412355" y="2212848"/>
            <a:ext cx="3953637" cy="365760"/>
          </a:xfrm>
          <a:prstGeom prst="rect">
            <a:avLst/>
          </a:prstGeom>
          <a:noFill/>
          <a:ln/>
        </p:spPr>
        <p:txBody>
          <a:bodyPr wrap="square" lIns="0" tIns="0" rIns="0" bIns="0" rtlCol="0" anchor="ctr"/>
          <a:lstStyle/>
          <a:p>
            <a:pPr algn="ctr" indent="0" marL="0">
              <a:buNone/>
            </a:pPr>
            <a:r>
              <a:rPr lang="en-US" sz="1150" spc="50" kern="0" dirty="0">
                <a:solidFill>
                  <a:srgbClr val="FAF8F1"/>
                </a:solidFill>
                <a:latin typeface="Arial" pitchFamily="34" charset="0"/>
                <a:ea typeface="Arial" pitchFamily="34" charset="-122"/>
                <a:cs typeface="Arial" pitchFamily="34" charset="-120"/>
              </a:rPr>
              <a:t>Section B</a:t>
            </a:r>
            <a:endParaRPr lang="en-US" sz="1150" dirty="0"/>
          </a:p>
        </p:txBody>
      </p:sp>
      <p:sp>
        <p:nvSpPr>
          <p:cNvPr id="15" name="Shape 13"/>
          <p:cNvSpPr/>
          <p:nvPr/>
        </p:nvSpPr>
        <p:spPr>
          <a:xfrm>
            <a:off x="822960" y="2971800"/>
            <a:ext cx="10543032" cy="2880360"/>
          </a:xfrm>
          <a:prstGeom prst="rect">
            <a:avLst/>
          </a:prstGeom>
          <a:solidFill>
            <a:srgbClr val="FAF8F1"/>
          </a:solidFill>
          <a:ln w="9525">
            <a:solidFill>
              <a:srgbClr val="D9D4C4"/>
            </a:solidFill>
            <a:prstDash val="solid"/>
          </a:ln>
        </p:spPr>
      </p:sp>
      <p:pic>
        <p:nvPicPr>
          <p:cNvPr id="16" name="Image 0" descr="/Users/dogan/Documents/Vaults/Courses/wiki/classes/media-studies/decks/_build/img/qp21-stem.jpg">    </p:cNvPr>
          <p:cNvPicPr>
            <a:picLocks noChangeAspect="1"/>
          </p:cNvPicPr>
          <p:nvPr/>
        </p:nvPicPr>
        <p:blipFill>
          <a:blip r:embed="rId1"/>
          <a:stretch>
            <a:fillRect/>
          </a:stretch>
        </p:blipFill>
        <p:spPr>
          <a:xfrm>
            <a:off x="4102285" y="3099816"/>
            <a:ext cx="3984381" cy="2624328"/>
          </a:xfrm>
          <a:prstGeom prst="rect">
            <a:avLst/>
          </a:prstGeom>
        </p:spPr>
      </p:pic>
      <p:sp>
        <p:nvSpPr>
          <p:cNvPr id="17" name="Text 14"/>
          <p:cNvSpPr/>
          <p:nvPr/>
        </p:nvSpPr>
        <p:spPr>
          <a:xfrm>
            <a:off x="822960" y="5897880"/>
            <a:ext cx="10543032"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The rubric and the frozen Q1 stem, verbatim: four screenings, no notes on the first, notes crossed out. Know it cold.</a:t>
            </a:r>
            <a:endParaRPr lang="en-US" sz="1050" dirty="0"/>
          </a:p>
        </p:txBody>
      </p:sp>
      <p:sp>
        <p:nvSpPr>
          <p:cNvPr id="18" name="Shape 15"/>
          <p:cNvSpPr/>
          <p:nvPr/>
        </p:nvSpPr>
        <p:spPr>
          <a:xfrm>
            <a:off x="822960" y="6382512"/>
            <a:ext cx="10543032" cy="0"/>
          </a:xfrm>
          <a:prstGeom prst="line">
            <a:avLst/>
          </a:prstGeom>
          <a:noFill/>
          <a:ln w="9525">
            <a:solidFill>
              <a:srgbClr val="D9D4C4"/>
            </a:solidFill>
            <a:prstDash val="solid"/>
          </a:ln>
        </p:spPr>
      </p:sp>
      <p:sp>
        <p:nvSpPr>
          <p:cNvPr id="19" name="Text 1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PLANS AGAINST THE CLOCK</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THREE ROUNDS, FIVE MINUTES EACH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Read, plan, pens down at five</a:t>
            </a:r>
            <a:endParaRPr lang="en-US" sz="36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219456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Three rounds of five-minute Section B plans: read the question, plan claim, evidence, counter, response, plus the case-study facts, and stop at five minutes exactly. Round by round the plans get denser and calmer, and that is the drill working. Then swap: could you write this stranger's essay from their plan? If not, what is missing is what the examiner would miss too.</a:t>
            </a:r>
            <a:endParaRPr lang="en-US" sz="2000" dirty="0"/>
          </a:p>
        </p:txBody>
      </p:sp>
      <p:sp>
        <p:nvSpPr>
          <p:cNvPr id="8" name="Shape 6"/>
          <p:cNvSpPr/>
          <p:nvPr/>
        </p:nvSpPr>
        <p:spPr>
          <a:xfrm>
            <a:off x="822960" y="6382512"/>
            <a:ext cx="10543032" cy="0"/>
          </a:xfrm>
          <a:prstGeom prst="line">
            <a:avLst/>
          </a:prstGeom>
          <a:noFill/>
          <a:ln w="9525">
            <a:solidFill>
              <a:srgbClr val="D9D4C4"/>
            </a:solidFill>
            <a:prstDash val="solid"/>
          </a:ln>
        </p:spPr>
      </p:sp>
      <p:sp>
        <p:nvSpPr>
          <p:cNvPr id="9" name="Text 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0" name="Text 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CS13 · FULL DRESS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READING THE SCHEME AS A MARKER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5943600" cy="82296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Peer-marked, then moderated</a:t>
            </a:r>
            <a:endParaRPr lang="en-US" sz="3000" dirty="0"/>
          </a:p>
        </p:txBody>
      </p:sp>
      <p:sp>
        <p:nvSpPr>
          <p:cNvPr id="6" name="Shape 4"/>
          <p:cNvSpPr/>
          <p:nvPr/>
        </p:nvSpPr>
        <p:spPr>
          <a:xfrm>
            <a:off x="822960" y="2011680"/>
            <a:ext cx="914400" cy="0"/>
          </a:xfrm>
          <a:prstGeom prst="line">
            <a:avLst/>
          </a:prstGeom>
          <a:noFill/>
          <a:ln w="31750">
            <a:solidFill>
              <a:srgbClr val="8C3A38"/>
            </a:solidFill>
            <a:prstDash val="solid"/>
          </a:ln>
        </p:spPr>
      </p:sp>
      <p:sp>
        <p:nvSpPr>
          <p:cNvPr id="7" name="Text 5"/>
          <p:cNvSpPr/>
          <p:nvPr/>
        </p:nvSpPr>
        <p:spPr>
          <a:xfrm>
            <a:off x="822960" y="2240280"/>
            <a:ext cx="5760720" cy="329184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Beat the Examiner, full dress. A full Section B, timed exactly, on your own case studies. Then every student marks a peer's script against the official five-criteria rubric, band words and all; the closest banding to the moderated mark takes the round. The teacher moderates three scripts aloud, showing where the peer marks drifted.</a:t>
            </a:r>
            <a:endParaRPr lang="en-US" sz="1700" dirty="0"/>
          </a:p>
        </p:txBody>
      </p:sp>
      <p:sp>
        <p:nvSpPr>
          <p:cNvPr id="8" name="Shape 6"/>
          <p:cNvSpPr/>
          <p:nvPr/>
        </p:nvSpPr>
        <p:spPr>
          <a:xfrm>
            <a:off x="6583680" y="1188720"/>
            <a:ext cx="4800600" cy="4389120"/>
          </a:xfrm>
          <a:prstGeom prst="rect">
            <a:avLst/>
          </a:prstGeom>
          <a:solidFill>
            <a:srgbClr val="FAF8F1"/>
          </a:solidFill>
          <a:ln w="9525">
            <a:solidFill>
              <a:srgbClr val="D9D4C4"/>
            </a:solidFill>
            <a:prstDash val="solid"/>
          </a:ln>
        </p:spPr>
      </p:sp>
      <p:pic>
        <p:nvPicPr>
          <p:cNvPr id="9" name="Image 0" descr="/Users/dogan/Documents/Vaults/Courses/wiki/classes/media-studies/decks/_build/img/ms21-p16.jpg">    </p:cNvPr>
          <p:cNvPicPr>
            <a:picLocks noChangeAspect="1"/>
          </p:cNvPicPr>
          <p:nvPr/>
        </p:nvPicPr>
        <p:blipFill>
          <a:blip r:embed="rId1"/>
          <a:stretch>
            <a:fillRect/>
          </a:stretch>
        </p:blipFill>
        <p:spPr>
          <a:xfrm>
            <a:off x="6711696" y="1776458"/>
            <a:ext cx="4544568" cy="3213645"/>
          </a:xfrm>
          <a:prstGeom prst="rect">
            <a:avLst/>
          </a:prstGeom>
        </p:spPr>
      </p:pic>
      <p:sp>
        <p:nvSpPr>
          <p:cNvPr id="10" name="Text 7"/>
          <p:cNvSpPr/>
          <p:nvPr/>
        </p:nvSpPr>
        <p:spPr>
          <a:xfrm>
            <a:off x="6583680" y="5623560"/>
            <a:ext cx="4800600"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Section B's own grid: audience and industry, multiple case studies</a:t>
            </a:r>
            <a:endParaRPr lang="en-US" sz="100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AO ECONOMY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WHERE THE 25 MARKS ACTUALLY SIT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9436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AO1 fifteen, AO2 ten</a:t>
            </a:r>
            <a:endParaRPr lang="en-US" sz="3000" dirty="0"/>
          </a:p>
        </p:txBody>
      </p:sp>
      <p:sp>
        <p:nvSpPr>
          <p:cNvPr id="6" name="Shape 4"/>
          <p:cNvSpPr/>
          <p:nvPr/>
        </p:nvSpPr>
        <p:spPr>
          <a:xfrm>
            <a:off x="822960" y="1874520"/>
            <a:ext cx="6325819" cy="1051560"/>
          </a:xfrm>
          <a:prstGeom prst="rect">
            <a:avLst/>
          </a:prstGeom>
          <a:solidFill>
            <a:srgbClr val="4A6B5D"/>
          </a:solidFill>
          <a:ln/>
        </p:spPr>
      </p:sp>
      <p:sp>
        <p:nvSpPr>
          <p:cNvPr id="7" name="Text 5"/>
          <p:cNvSpPr/>
          <p:nvPr/>
        </p:nvSpPr>
        <p:spPr>
          <a:xfrm>
            <a:off x="1097280" y="1874520"/>
            <a:ext cx="5777179" cy="1051560"/>
          </a:xfrm>
          <a:prstGeom prst="rect">
            <a:avLst/>
          </a:prstGeom>
          <a:noFill/>
          <a:ln/>
        </p:spPr>
        <p:txBody>
          <a:bodyPr wrap="square" lIns="0" tIns="0" rIns="0" bIns="0" rtlCol="0" anchor="ctr"/>
          <a:lstStyle/>
          <a:p>
            <a:pPr indent="0" marL="0">
              <a:buNone/>
            </a:pPr>
            <a:r>
              <a:rPr lang="en-US" sz="2400" dirty="0">
                <a:solidFill>
                  <a:srgbClr val="FAF8F1"/>
                </a:solidFill>
                <a:latin typeface="Georgia" pitchFamily="34" charset="0"/>
                <a:ea typeface="Georgia" pitchFamily="34" charset="-122"/>
                <a:cs typeface="Georgia" pitchFamily="34" charset="-120"/>
              </a:rPr>
              <a:t>AO1 · 15</a:t>
            </a:r>
            <a:endParaRPr lang="en-US" sz="2400" dirty="0"/>
          </a:p>
        </p:txBody>
      </p:sp>
      <p:sp>
        <p:nvSpPr>
          <p:cNvPr id="8" name="Shape 6"/>
          <p:cNvSpPr/>
          <p:nvPr/>
        </p:nvSpPr>
        <p:spPr>
          <a:xfrm>
            <a:off x="7148779" y="1874520"/>
            <a:ext cx="4217213" cy="1051560"/>
          </a:xfrm>
          <a:prstGeom prst="rect">
            <a:avLst/>
          </a:prstGeom>
          <a:solidFill>
            <a:srgbClr val="8C3A38"/>
          </a:solidFill>
          <a:ln/>
        </p:spPr>
      </p:sp>
      <p:sp>
        <p:nvSpPr>
          <p:cNvPr id="9" name="Text 7"/>
          <p:cNvSpPr/>
          <p:nvPr/>
        </p:nvSpPr>
        <p:spPr>
          <a:xfrm>
            <a:off x="7423099" y="1874520"/>
            <a:ext cx="3668573" cy="1051560"/>
          </a:xfrm>
          <a:prstGeom prst="rect">
            <a:avLst/>
          </a:prstGeom>
          <a:noFill/>
          <a:ln/>
        </p:spPr>
        <p:txBody>
          <a:bodyPr wrap="square" lIns="0" tIns="0" rIns="0" bIns="0" rtlCol="0" anchor="ctr"/>
          <a:lstStyle/>
          <a:p>
            <a:pPr indent="0" marL="0">
              <a:buNone/>
            </a:pPr>
            <a:r>
              <a:rPr lang="en-US" sz="2400" dirty="0">
                <a:solidFill>
                  <a:srgbClr val="FAF8F1"/>
                </a:solidFill>
                <a:latin typeface="Georgia" pitchFamily="34" charset="0"/>
                <a:ea typeface="Georgia" pitchFamily="34" charset="-122"/>
                <a:cs typeface="Georgia" pitchFamily="34" charset="-120"/>
              </a:rPr>
              <a:t>AO2 · 10</a:t>
            </a:r>
            <a:endParaRPr lang="en-US" sz="2400" dirty="0"/>
          </a:p>
        </p:txBody>
      </p:sp>
      <p:sp>
        <p:nvSpPr>
          <p:cNvPr id="10" name="Text 8"/>
          <p:cNvSpPr/>
          <p:nvPr/>
        </p:nvSpPr>
        <p:spPr>
          <a:xfrm>
            <a:off x="822960" y="3035808"/>
            <a:ext cx="6325819" cy="365760"/>
          </a:xfrm>
          <a:prstGeom prst="rect">
            <a:avLst/>
          </a:prstGeom>
          <a:noFill/>
          <a:ln/>
        </p:spPr>
        <p:txBody>
          <a:bodyPr wrap="square" lIns="0" tIns="0" rIns="0" bIns="0" rtlCol="0" anchor="ctr"/>
          <a:lstStyle/>
          <a:p>
            <a:pPr algn="ctr" indent="0" marL="0">
              <a:buNone/>
            </a:pPr>
            <a:r>
              <a:rPr lang="en-US" sz="1200" spc="50" kern="0" dirty="0">
                <a:solidFill>
                  <a:srgbClr val="4A6B5D"/>
                </a:solidFill>
                <a:latin typeface="Arial" pitchFamily="34" charset="0"/>
                <a:ea typeface="Arial" pitchFamily="34" charset="-122"/>
                <a:cs typeface="Arial" pitchFamily="34" charset="-120"/>
              </a:rPr>
              <a:t>Concepts  ·  Contexts  ·  Terminology</a:t>
            </a:r>
            <a:endParaRPr lang="en-US" sz="1200" dirty="0"/>
          </a:p>
        </p:txBody>
      </p:sp>
      <p:sp>
        <p:nvSpPr>
          <p:cNvPr id="11" name="Text 9"/>
          <p:cNvSpPr/>
          <p:nvPr/>
        </p:nvSpPr>
        <p:spPr>
          <a:xfrm>
            <a:off x="7148779" y="3035808"/>
            <a:ext cx="4217213" cy="365760"/>
          </a:xfrm>
          <a:prstGeom prst="rect">
            <a:avLst/>
          </a:prstGeom>
          <a:noFill/>
          <a:ln/>
        </p:spPr>
        <p:txBody>
          <a:bodyPr wrap="square" lIns="0" tIns="0" rIns="0" bIns="0" rtlCol="0" anchor="ctr"/>
          <a:lstStyle/>
          <a:p>
            <a:pPr algn="ctr" indent="0" marL="0">
              <a:buNone/>
            </a:pPr>
            <a:r>
              <a:rPr lang="en-US" sz="1200" spc="50" kern="0" dirty="0">
                <a:solidFill>
                  <a:srgbClr val="8C3A38"/>
                </a:solidFill>
                <a:latin typeface="Arial" pitchFamily="34" charset="0"/>
                <a:ea typeface="Arial" pitchFamily="34" charset="-122"/>
                <a:cs typeface="Arial" pitchFamily="34" charset="-120"/>
              </a:rPr>
              <a:t>Analysis  ·  Examples</a:t>
            </a:r>
            <a:endParaRPr lang="en-US" sz="1200" dirty="0"/>
          </a:p>
        </p:txBody>
      </p:sp>
      <p:sp>
        <p:nvSpPr>
          <p:cNvPr id="12" name="Shape 10"/>
          <p:cNvSpPr/>
          <p:nvPr/>
        </p:nvSpPr>
        <p:spPr>
          <a:xfrm>
            <a:off x="822960" y="3703320"/>
            <a:ext cx="10543032" cy="1554480"/>
          </a:xfrm>
          <a:prstGeom prst="rect">
            <a:avLst/>
          </a:prstGeom>
          <a:solidFill>
            <a:srgbClr val="FAF8F1"/>
          </a:solidFill>
          <a:ln w="9525">
            <a:solidFill>
              <a:srgbClr val="D9D4C4"/>
            </a:solidFill>
            <a:prstDash val="solid"/>
          </a:ln>
        </p:spPr>
      </p:sp>
      <p:pic>
        <p:nvPicPr>
          <p:cNvPr id="13" name="Image 0" descr="/Users/dogan/Documents/Vaults/Courses/wiki/classes/media-studies/decks/_build/img/ms21-p16-head.jpg">    </p:cNvPr>
          <p:cNvPicPr>
            <a:picLocks noChangeAspect="1"/>
          </p:cNvPicPr>
          <p:nvPr/>
        </p:nvPicPr>
        <p:blipFill>
          <a:blip r:embed="rId1"/>
          <a:stretch>
            <a:fillRect/>
          </a:stretch>
        </p:blipFill>
        <p:spPr>
          <a:xfrm>
            <a:off x="2256207" y="3831336"/>
            <a:ext cx="7676539" cy="1298448"/>
          </a:xfrm>
          <a:prstGeom prst="rect">
            <a:avLst/>
          </a:prstGeom>
        </p:spPr>
      </p:pic>
      <p:sp>
        <p:nvSpPr>
          <p:cNvPr id="14" name="Text 11"/>
          <p:cNvSpPr/>
          <p:nvPr/>
        </p:nvSpPr>
        <p:spPr>
          <a:xfrm>
            <a:off x="822960" y="5349240"/>
            <a:ext cx="10543032" cy="548640"/>
          </a:xfrm>
          <a:prstGeom prst="rect">
            <a:avLst/>
          </a:prstGeom>
          <a:noFill/>
          <a:ln/>
        </p:spPr>
        <p:txBody>
          <a:bodyPr wrap="square" lIns="0" tIns="0" rIns="0" bIns="0" rtlCol="0" anchor="t"/>
          <a:lstStyle/>
          <a:p>
            <a:pPr indent="0" marL="0">
              <a:lnSpc>
                <a:spcPts val="1900"/>
              </a:lnSpc>
              <a:buNone/>
            </a:pPr>
            <a:r>
              <a:rPr lang="en-US" sz="1400" i="1" dirty="0">
                <a:solidFill>
                  <a:srgbClr val="24313F"/>
                </a:solidFill>
                <a:latin typeface="Georgia" pitchFamily="34" charset="0"/>
                <a:ea typeface="Georgia" pitchFamily="34" charset="-122"/>
                <a:cs typeface="Georgia" pitchFamily="34" charset="-120"/>
              </a:rPr>
              <a:t>The same split in the scheme's own header: AO1 15 marks, AO2 10, five criteria of five. Map it against your CS13 result: which criteria the room feeds naturally, which it starves.</a:t>
            </a:r>
            <a:endParaRPr lang="en-US" sz="1400" dirty="0"/>
          </a:p>
        </p:txBody>
      </p:sp>
      <p:sp>
        <p:nvSpPr>
          <p:cNvPr id="15" name="Shape 12"/>
          <p:cNvSpPr/>
          <p:nvPr/>
        </p:nvSpPr>
        <p:spPr>
          <a:xfrm>
            <a:off x="822960" y="6382512"/>
            <a:ext cx="10543032" cy="0"/>
          </a:xfrm>
          <a:prstGeom prst="line">
            <a:avLst/>
          </a:prstGeom>
          <a:noFill/>
          <a:ln w="9525">
            <a:solidFill>
              <a:srgbClr val="D9D4C4"/>
            </a:solidFill>
            <a:prstDash val="solid"/>
          </a:ln>
        </p:spPr>
      </p:sp>
      <p:sp>
        <p:nvSpPr>
          <p:cNvPr id="16"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7"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822960" y="1554480"/>
            <a:ext cx="73152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LEAVING WITH IT IN WRITING</a:t>
            </a:r>
            <a:endParaRPr lang="en-US" sz="1100" dirty="0"/>
          </a:p>
        </p:txBody>
      </p:sp>
      <p:sp>
        <p:nvSpPr>
          <p:cNvPr id="3" name="Text 1"/>
          <p:cNvSpPr/>
          <p:nvPr/>
        </p:nvSpPr>
        <p:spPr>
          <a:xfrm>
            <a:off x="822960" y="2103120"/>
            <a:ext cx="10424160" cy="2194560"/>
          </a:xfrm>
          <a:prstGeom prst="rect">
            <a:avLst/>
          </a:prstGeom>
          <a:noFill/>
          <a:ln/>
        </p:spPr>
        <p:txBody>
          <a:bodyPr wrap="square" lIns="0" tIns="0" rIns="0" bIns="0" rtlCol="0" anchor="ctr"/>
          <a:lstStyle/>
          <a:p>
            <a:pPr indent="0" marL="0">
              <a:lnSpc>
                <a:spcPts val="5400"/>
              </a:lnSpc>
              <a:buNone/>
            </a:pPr>
            <a:r>
              <a:rPr lang="en-US" sz="4800" dirty="0">
                <a:solidFill>
                  <a:srgbClr val="24313F"/>
                </a:solidFill>
                <a:latin typeface="Georgia" pitchFamily="34" charset="0"/>
                <a:ea typeface="Georgia" pitchFamily="34" charset="-122"/>
                <a:cs typeface="Georgia" pitchFamily="34" charset="-120"/>
              </a:rPr>
              <a:t>Two loss points.</a:t>
            </a:r>
            <a:endParaRPr lang="en-US" sz="4800" dirty="0"/>
          </a:p>
          <a:p>
            <a:pPr indent="0" marL="0">
              <a:lnSpc>
                <a:spcPts val="5400"/>
              </a:lnSpc>
              <a:buNone/>
            </a:pPr>
            <a:r>
              <a:rPr lang="en-US" sz="4800" dirty="0">
                <a:solidFill>
                  <a:srgbClr val="24313F"/>
                </a:solidFill>
                <a:latin typeface="Georgia" pitchFamily="34" charset="0"/>
                <a:ea typeface="Georgia" pitchFamily="34" charset="-122"/>
                <a:cs typeface="Georgia" pitchFamily="34" charset="-120"/>
              </a:rPr>
              <a:t>Two counter-moves.</a:t>
            </a:r>
            <a:endParaRPr lang="en-US" sz="4800" dirty="0"/>
          </a:p>
        </p:txBody>
      </p:sp>
      <p:sp>
        <p:nvSpPr>
          <p:cNvPr id="4" name="Shape 2"/>
          <p:cNvSpPr/>
          <p:nvPr/>
        </p:nvSpPr>
        <p:spPr>
          <a:xfrm>
            <a:off x="822960" y="4663440"/>
            <a:ext cx="914400" cy="0"/>
          </a:xfrm>
          <a:prstGeom prst="line">
            <a:avLst/>
          </a:prstGeom>
          <a:noFill/>
          <a:ln w="31750">
            <a:solidFill>
              <a:srgbClr val="8C3A38"/>
            </a:solidFill>
            <a:prstDash val="solid"/>
          </a:ln>
        </p:spPr>
      </p:sp>
      <p:sp>
        <p:nvSpPr>
          <p:cNvPr id="5" name="Text 3"/>
          <p:cNvSpPr/>
          <p:nvPr/>
        </p:nvSpPr>
        <p:spPr>
          <a:xfrm>
            <a:off x="822960" y="4846320"/>
            <a:ext cx="10241280" cy="457200"/>
          </a:xfrm>
          <a:prstGeom prst="rect">
            <a:avLst/>
          </a:prstGeom>
          <a:noFill/>
          <a:ln/>
        </p:spPr>
        <p:txBody>
          <a:bodyPr wrap="square" lIns="0" tIns="0" rIns="0" bIns="0" rtlCol="0" anchor="ctr"/>
          <a:lstStyle/>
          <a:p>
            <a:pPr indent="0" marL="0">
              <a:buNone/>
            </a:pPr>
            <a:r>
              <a:rPr lang="en-US" sz="1350" spc="50" kern="0" dirty="0">
                <a:solidFill>
                  <a:srgbClr val="4A6B5D"/>
                </a:solidFill>
                <a:latin typeface="Arial" pitchFamily="34" charset="0"/>
                <a:ea typeface="Arial" pitchFamily="34" charset="-122"/>
                <a:cs typeface="Arial" pitchFamily="34" charset="-120"/>
              </a:rPr>
              <a:t>Each student leaves with two named places marks leak, and the fix for each, on one card: I list techniques without effects, so every technique gets a 'so that' clause.</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EXAMINER'S OWN SENTENCES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TECHNIQUE, THEN EFFECT, EVERY LINE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97280"/>
            <a:ext cx="7315200" cy="47091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ms21-p7.jpg">    </p:cNvPr>
          <p:cNvPicPr>
            <a:picLocks noChangeAspect="1"/>
          </p:cNvPicPr>
          <p:nvPr/>
        </p:nvPicPr>
        <p:blipFill>
          <a:blip r:embed="rId1"/>
          <a:stretch>
            <a:fillRect/>
          </a:stretch>
        </p:blipFill>
        <p:spPr>
          <a:xfrm>
            <a:off x="1331870" y="1225296"/>
            <a:ext cx="6297380" cy="4453128"/>
          </a:xfrm>
          <a:prstGeom prst="rect">
            <a:avLst/>
          </a:prstGeom>
        </p:spPr>
      </p:pic>
      <p:sp>
        <p:nvSpPr>
          <p:cNvPr id="7" name="Text 4"/>
          <p:cNvSpPr/>
          <p:nvPr/>
        </p:nvSpPr>
        <p:spPr>
          <a:xfrm>
            <a:off x="822960" y="5870448"/>
            <a:ext cx="731520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June 2024 mark scheme, the Your Honor worked reading: movement, placement, focus, angle</a:t>
            </a:r>
            <a:endParaRPr lang="en-US" sz="1000" dirty="0"/>
          </a:p>
        </p:txBody>
      </p:sp>
      <p:sp>
        <p:nvSpPr>
          <p:cNvPr id="8" name="Text 5"/>
          <p:cNvSpPr/>
          <p:nvPr/>
        </p:nvSpPr>
        <p:spPr>
          <a:xfrm>
            <a:off x="8549640" y="1371600"/>
            <a:ext cx="2834640" cy="822960"/>
          </a:xfrm>
          <a:prstGeom prst="rect">
            <a:avLst/>
          </a:prstGeom>
          <a:noFill/>
          <a:ln/>
        </p:spPr>
        <p:txBody>
          <a:bodyPr wrap="square" lIns="0" tIns="0" rIns="0" bIns="0" rtlCol="0" anchor="ctr"/>
          <a:lstStyle/>
          <a:p>
            <a:pPr indent="0" marL="0">
              <a:lnSpc>
                <a:spcPts val="2800"/>
              </a:lnSpc>
              <a:buNone/>
            </a:pPr>
            <a:r>
              <a:rPr lang="en-US" sz="2400" dirty="0">
                <a:solidFill>
                  <a:srgbClr val="24313F"/>
                </a:solidFill>
                <a:latin typeface="Georgia" pitchFamily="34" charset="0"/>
                <a:ea typeface="Georgia" pitchFamily="34" charset="-122"/>
                <a:cs typeface="Georgia" pitchFamily="34" charset="-120"/>
              </a:rPr>
              <a:t>Read one line aloud</a:t>
            </a:r>
            <a:endParaRPr lang="en-US" sz="2400" dirty="0"/>
          </a:p>
        </p:txBody>
      </p:sp>
      <p:sp>
        <p:nvSpPr>
          <p:cNvPr id="9" name="Shape 6"/>
          <p:cNvSpPr/>
          <p:nvPr/>
        </p:nvSpPr>
        <p:spPr>
          <a:xfrm>
            <a:off x="8549640" y="2286000"/>
            <a:ext cx="2788920" cy="0"/>
          </a:xfrm>
          <a:prstGeom prst="line">
            <a:avLst/>
          </a:prstGeom>
          <a:noFill/>
          <a:ln w="9525">
            <a:solidFill>
              <a:srgbClr val="D9D4C4"/>
            </a:solidFill>
            <a:prstDash val="solid"/>
          </a:ln>
        </p:spPr>
      </p:sp>
      <p:sp>
        <p:nvSpPr>
          <p:cNvPr id="10" name="Text 7"/>
          <p:cNvSpPr/>
          <p:nvPr/>
        </p:nvSpPr>
        <p:spPr>
          <a:xfrm>
            <a:off x="8549640" y="2468880"/>
            <a:ext cx="2834640" cy="329184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Tilt up equals focus on Adam. Low angle equals who has the power. Every line of the examiners' reading pairs a technique with what it does. Your 'so that' clause is this page in miniature; write like the people who mark you.</a:t>
            </a:r>
            <a:endParaRPr lang="en-US" sz="145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SAME LADDER, DIFFERENT WORDS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ECONOMY, TWO VOCABULARIES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188720"/>
            <a:ext cx="5042916" cy="416052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ms21-p10.jpg">    </p:cNvPr>
          <p:cNvPicPr>
            <a:picLocks noChangeAspect="1"/>
          </p:cNvPicPr>
          <p:nvPr/>
        </p:nvPicPr>
        <p:blipFill>
          <a:blip r:embed="rId1"/>
          <a:stretch>
            <a:fillRect/>
          </a:stretch>
        </p:blipFill>
        <p:spPr>
          <a:xfrm>
            <a:off x="950976" y="1576482"/>
            <a:ext cx="4786884" cy="3384996"/>
          </a:xfrm>
          <a:prstGeom prst="rect">
            <a:avLst/>
          </a:prstGeom>
        </p:spPr>
      </p:pic>
      <p:sp>
        <p:nvSpPr>
          <p:cNvPr id="7" name="Shape 4"/>
          <p:cNvSpPr/>
          <p:nvPr/>
        </p:nvSpPr>
        <p:spPr>
          <a:xfrm>
            <a:off x="6323076" y="1188720"/>
            <a:ext cx="5042916" cy="416052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ms21-p16.jpg">    </p:cNvPr>
          <p:cNvPicPr>
            <a:picLocks noChangeAspect="1"/>
          </p:cNvPicPr>
          <p:nvPr/>
        </p:nvPicPr>
        <p:blipFill>
          <a:blip r:embed="rId2"/>
          <a:stretch>
            <a:fillRect/>
          </a:stretch>
        </p:blipFill>
        <p:spPr>
          <a:xfrm>
            <a:off x="6451092" y="1576482"/>
            <a:ext cx="4786884" cy="3384996"/>
          </a:xfrm>
          <a:prstGeom prst="rect">
            <a:avLst/>
          </a:prstGeom>
        </p:spPr>
      </p:pic>
      <p:sp>
        <p:nvSpPr>
          <p:cNvPr id="9" name="Text 5"/>
          <p:cNvSpPr/>
          <p:nvPr/>
        </p:nvSpPr>
        <p:spPr>
          <a:xfrm>
            <a:off x="822960" y="5394960"/>
            <a:ext cx="504291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Section A: language and representation, of the extract</a:t>
            </a:r>
            <a:endParaRPr lang="en-US" sz="1050" dirty="0"/>
          </a:p>
        </p:txBody>
      </p:sp>
      <p:sp>
        <p:nvSpPr>
          <p:cNvPr id="10" name="Text 6"/>
          <p:cNvSpPr/>
          <p:nvPr/>
        </p:nvSpPr>
        <p:spPr>
          <a:xfrm>
            <a:off x="6323076" y="5394960"/>
            <a:ext cx="504291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Section B: audience and industry, from multiple case studies</a:t>
            </a:r>
            <a:endParaRPr lang="en-US" sz="1050" dirty="0"/>
          </a:p>
        </p:txBody>
      </p:sp>
      <p:sp>
        <p:nvSpPr>
          <p:cNvPr id="11" name="Shape 7"/>
          <p:cNvSpPr/>
          <p:nvPr/>
        </p:nvSpPr>
        <p:spPr>
          <a:xfrm>
            <a:off x="822960" y="5806440"/>
            <a:ext cx="914400" cy="0"/>
          </a:xfrm>
          <a:prstGeom prst="line">
            <a:avLst/>
          </a:prstGeom>
          <a:noFill/>
          <a:ln w="31750">
            <a:solidFill>
              <a:srgbClr val="8C3A38"/>
            </a:solidFill>
            <a:prstDash val="solid"/>
          </a:ln>
        </p:spPr>
      </p:sp>
      <p:sp>
        <p:nvSpPr>
          <p:cNvPr id="12" name="Text 8"/>
          <p:cNvSpPr/>
          <p:nvPr/>
        </p:nvSpPr>
        <p:spPr>
          <a:xfrm>
            <a:off x="822960" y="5943600"/>
            <a:ext cx="10543032" cy="411480"/>
          </a:xfrm>
          <a:prstGeom prst="rect">
            <a:avLst/>
          </a:prstGeom>
          <a:noFill/>
          <a:ln/>
        </p:spPr>
        <p:txBody>
          <a:bodyPr wrap="square" lIns="0" tIns="0" rIns="0" bIns="0" rtlCol="0" anchor="ctr"/>
          <a:lstStyle/>
          <a:p>
            <a:pPr indent="0" marL="0">
              <a:buNone/>
            </a:pPr>
            <a:r>
              <a:rPr lang="en-US" sz="1350" i="1" dirty="0">
                <a:solidFill>
                  <a:srgbClr val="4A6B5D"/>
                </a:solidFill>
                <a:latin typeface="Georgia" pitchFamily="34" charset="0"/>
                <a:ea typeface="Georgia" pitchFamily="34" charset="-122"/>
                <a:cs typeface="Georgia" pitchFamily="34" charset="-120"/>
              </a:rPr>
              <a:t>An essay is not marked by different rules, only in different words. Anyone who assumes Section B is a free-form essay gives away the same five criteria twice.</a:t>
            </a:r>
            <a:endParaRPr lang="en-US" sz="1350" dirty="0"/>
          </a:p>
        </p:txBody>
      </p:sp>
      <p:sp>
        <p:nvSpPr>
          <p:cNvPr id="13" name="Shape 9"/>
          <p:cNvSpPr/>
          <p:nvPr/>
        </p:nvSpPr>
        <p:spPr>
          <a:xfrm>
            <a:off x="822960" y="6382512"/>
            <a:ext cx="10543032" cy="0"/>
          </a:xfrm>
          <a:prstGeom prst="line">
            <a:avLst/>
          </a:prstGeom>
          <a:noFill/>
          <a:ln w="9525">
            <a:solidFill>
              <a:srgbClr val="D9D4C4"/>
            </a:solidFill>
            <a:prstDash val="solid"/>
          </a:ln>
        </p:spPr>
      </p:sp>
      <p:sp>
        <p:nvSpPr>
          <p:cNvPr id="14"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CS13</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WEDNESDAY, FULL DRESS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Timed Section B, peer-marked</a:t>
            </a:r>
            <a:endParaRPr lang="en-US" sz="3400" dirty="0"/>
          </a:p>
        </p:txBody>
      </p:sp>
      <p:sp>
        <p:nvSpPr>
          <p:cNvPr id="6" name="Shape 4"/>
          <p:cNvSpPr/>
          <p:nvPr/>
        </p:nvSpPr>
        <p:spPr>
          <a:xfrm>
            <a:off x="822960" y="1965960"/>
            <a:ext cx="914400" cy="0"/>
          </a:xfrm>
          <a:prstGeom prst="line">
            <a:avLst/>
          </a:prstGeom>
          <a:noFill/>
          <a:ln w="31750">
            <a:solidFill>
              <a:srgbClr val="8C3A38"/>
            </a:solidFill>
            <a:prstDash val="solid"/>
          </a:ln>
        </p:spPr>
      </p:sp>
      <p:sp>
        <p:nvSpPr>
          <p:cNvPr id="7" name="Text 5"/>
          <p:cNvSpPr/>
          <p:nvPr/>
        </p:nvSpPr>
        <p:spPr>
          <a:xfrm>
            <a:off x="822960" y="2194560"/>
            <a:ext cx="9966960" cy="1737360"/>
          </a:xfrm>
          <a:prstGeom prst="rect">
            <a:avLst/>
          </a:prstGeom>
          <a:noFill/>
          <a:ln/>
        </p:spPr>
        <p:txBody>
          <a:bodyPr wrap="square" lIns="0" tIns="0" rIns="0" bIns="0" rtlCol="0" anchor="t"/>
          <a:lstStyle/>
          <a:p>
            <a:pPr indent="0" marL="0">
              <a:lnSpc>
                <a:spcPts val="2500"/>
              </a:lnSpc>
              <a:buNone/>
            </a:pPr>
            <a:r>
              <a:rPr lang="en-US" sz="1800" dirty="0">
                <a:solidFill>
                  <a:srgbClr val="24313F"/>
                </a:solidFill>
                <a:latin typeface="Georgia" pitchFamily="34" charset="0"/>
                <a:ea typeface="Georgia" pitchFamily="34" charset="-122"/>
                <a:cs typeface="Georgia" pitchFamily="34" charset="-120"/>
              </a:rPr>
              <a:t>A 45-minute Section B on your own case studies, peer-marked as Beat the Examiner, full dress: the official rubric, then live moderation. The last teaching day ends on the success check, stated from memory: the full paper structure and the per-section minute budget. Then logistics, once, calmly: bring nothing but pens.</a:t>
            </a:r>
            <a:endParaRPr lang="en-US" sz="1800" dirty="0"/>
          </a:p>
        </p:txBody>
      </p:sp>
      <p:sp>
        <p:nvSpPr>
          <p:cNvPr id="8" name="Shape 6"/>
          <p:cNvSpPr/>
          <p:nvPr/>
        </p:nvSpPr>
        <p:spPr>
          <a:xfrm>
            <a:off x="822960" y="4069080"/>
            <a:ext cx="10543032" cy="1828800"/>
          </a:xfrm>
          <a:prstGeom prst="rect">
            <a:avLst/>
          </a:prstGeom>
          <a:solidFill>
            <a:srgbClr val="FAF8F1"/>
          </a:solidFill>
          <a:ln w="9525">
            <a:solidFill>
              <a:srgbClr val="D9D4C4"/>
            </a:solidFill>
            <a:prstDash val="solid"/>
          </a:ln>
        </p:spPr>
      </p:sp>
      <p:pic>
        <p:nvPicPr>
          <p:cNvPr id="9" name="Image 0" descr="/Users/dogan/Documents/Vaults/Courses/wiki/classes/media-studies/decks/_build/img/qp21-sectionb.jpg">    </p:cNvPr>
          <p:cNvPicPr>
            <a:picLocks noChangeAspect="1"/>
          </p:cNvPicPr>
          <p:nvPr/>
        </p:nvPicPr>
        <p:blipFill>
          <a:blip r:embed="rId1"/>
          <a:stretch>
            <a:fillRect/>
          </a:stretch>
        </p:blipFill>
        <p:spPr>
          <a:xfrm>
            <a:off x="4096265" y="4197096"/>
            <a:ext cx="3996423" cy="1572768"/>
          </a:xfrm>
          <a:prstGeom prst="rect">
            <a:avLst/>
          </a:prstGeom>
        </p:spPr>
      </p:pic>
      <p:sp>
        <p:nvSpPr>
          <p:cNvPr id="10" name="Text 7"/>
          <p:cNvSpPr/>
          <p:nvPr/>
        </p:nvSpPr>
        <p:spPr>
          <a:xfrm>
            <a:off x="822960" y="5943600"/>
            <a:ext cx="10543032" cy="27432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The register the bank imitates: June 2024, Section B</a:t>
            </a:r>
            <a:endParaRPr lang="en-US" sz="105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424160" cy="1920240"/>
          </a:xfrm>
          <a:prstGeom prst="rect">
            <a:avLst/>
          </a:prstGeom>
          <a:noFill/>
          <a:ln/>
        </p:spPr>
        <p:txBody>
          <a:bodyPr wrap="square" lIns="0" tIns="0" rIns="0" bIns="0" rtlCol="0" anchor="t"/>
          <a:lstStyle/>
          <a:p>
            <a:pPr indent="0" marL="0">
              <a:lnSpc>
                <a:spcPts val="5400"/>
              </a:lnSpc>
              <a:buNone/>
            </a:pPr>
            <a:r>
              <a:rPr lang="en-US" sz="5200" dirty="0">
                <a:solidFill>
                  <a:srgbClr val="FAF8F1"/>
                </a:solidFill>
                <a:latin typeface="Georgia" pitchFamily="34" charset="0"/>
                <a:ea typeface="Georgia" pitchFamily="34" charset="-122"/>
                <a:cs typeface="Georgia" pitchFamily="34" charset="-120"/>
              </a:rPr>
              <a:t>End of Term Exam</a:t>
            </a:r>
            <a:endParaRPr lang="en-US" sz="5200" dirty="0"/>
          </a:p>
          <a:p>
            <a:pPr indent="0" marL="0">
              <a:lnSpc>
                <a:spcPts val="5400"/>
              </a:lnSpc>
              <a:buNone/>
            </a:pPr>
            <a:r>
              <a:rPr lang="en-US" sz="5200" dirty="0">
                <a:solidFill>
                  <a:srgbClr val="FAF8F1"/>
                </a:solidFill>
                <a:latin typeface="Georgia" pitchFamily="34" charset="0"/>
                <a:ea typeface="Georgia" pitchFamily="34" charset="-122"/>
                <a:cs typeface="Georgia" pitchFamily="34" charset="-120"/>
              </a:rPr>
              <a:t>and Return</a:t>
            </a:r>
            <a:endParaRPr lang="en-US" sz="5200" dirty="0"/>
          </a:p>
        </p:txBody>
      </p:sp>
      <p:sp>
        <p:nvSpPr>
          <p:cNvPr id="5" name="Text 3"/>
          <p:cNvSpPr/>
          <p:nvPr/>
        </p:nvSpPr>
        <p:spPr>
          <a:xfrm>
            <a:off x="822960" y="4846320"/>
            <a:ext cx="987552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Lesson 19. The semester closes the way Semester 2 will open: with evidence.</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09</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2026-08-24T06:11:02Z</dcterms:created>
  <dcterms:modified xsi:type="dcterms:W3CDTF">2026-08-24T06:11:02Z</dcterms:modified>
</cp:coreProperties>
</file>