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semester's knowledge gets audited before the exam tests it. Every case study crossed against the four Key Concepts until the uncovered cell is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century ago two astronomers photographed the entire moon, plate by plate, so that no region went unexamined. That is the week's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moon atlas sets the standard for coverage. The empty cell is the point of the exercise, so find it without flinching.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400800" y="822960"/>
            <a:ext cx="5029200" cy="4937760"/>
          </a:xfrm>
          <a:prstGeom prst="rect">
            <a:avLst/>
          </a:prstGeom>
          <a:noFill/>
          <a:ln/>
        </p:spPr>
        <p:txBody>
          <a:bodyPr wrap="square" lIns="0" tIns="0" rIns="0" bIns="0" rtlCol="0" anchor="ctr"/>
          <a:lstStyle/>
          <a:p>
            <a:pPr algn="ctr" indent="0" marL="0">
              <a:buNone/>
            </a:pPr>
            <a:r>
              <a:rPr lang="en-US" sz="18000" dirty="0">
                <a:solidFill>
                  <a:srgbClr val="A3C1AD"/>
                </a:solidFill>
                <a:latin typeface="Georgia" pitchFamily="34" charset="0"/>
                <a:ea typeface="Georgia" pitchFamily="34" charset="-122"/>
                <a:cs typeface="Georgia" pitchFamily="34" charset="-120"/>
              </a:rPr>
              <a:t>XVII</a:t>
            </a:r>
            <a:endParaRPr lang="en-US" sz="18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VI</a:t>
            </a:r>
            <a:endParaRPr lang="en-US" sz="1100" dirty="0"/>
          </a:p>
        </p:txBody>
      </p:sp>
      <p:sp>
        <p:nvSpPr>
          <p:cNvPr id="4" name="Text 2"/>
          <p:cNvSpPr/>
          <p:nvPr/>
        </p:nvSpPr>
        <p:spPr>
          <a:xfrm>
            <a:off x="822960" y="1737360"/>
            <a:ext cx="6766560" cy="2377440"/>
          </a:xfrm>
          <a:prstGeom prst="rect">
            <a:avLst/>
          </a:prstGeom>
          <a:noFill/>
          <a:ln/>
        </p:spPr>
        <p:txBody>
          <a:bodyPr wrap="square" lIns="0" tIns="0" rIns="0" bIns="0" rtlCol="0" anchor="t"/>
          <a:lstStyle/>
          <a:p>
            <a:pPr indent="0" marL="0">
              <a:lnSpc>
                <a:spcPts val="5000"/>
              </a:lnSpc>
              <a:buNone/>
            </a:pPr>
            <a:r>
              <a:rPr lang="en-US" sz="4800" dirty="0">
                <a:solidFill>
                  <a:srgbClr val="24313F"/>
                </a:solidFill>
                <a:latin typeface="Georgia" pitchFamily="34" charset="0"/>
                <a:ea typeface="Georgia" pitchFamily="34" charset="-122"/>
                <a:cs typeface="Georgia" pitchFamily="34" charset="-120"/>
              </a:rPr>
              <a:t>Consolidation and</a:t>
            </a:r>
            <a:endParaRPr lang="en-US" sz="4800" dirty="0"/>
          </a:p>
          <a:p>
            <a:pPr indent="0" marL="0">
              <a:lnSpc>
                <a:spcPts val="5000"/>
              </a:lnSpc>
              <a:buNone/>
            </a:pPr>
            <a:r>
              <a:rPr lang="en-US" sz="4800" dirty="0">
                <a:solidFill>
                  <a:srgbClr val="24313F"/>
                </a:solidFill>
                <a:latin typeface="Georgia" pitchFamily="34" charset="0"/>
                <a:ea typeface="Georgia" pitchFamily="34" charset="-122"/>
                <a:cs typeface="Georgia" pitchFamily="34" charset="-120"/>
              </a:rPr>
              <a:t>the Coverage Matrix</a:t>
            </a:r>
            <a:endParaRPr lang="en-US" sz="48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Revision · Lesson 17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Three days  ·  Monday 21 to Wednesday 23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217920" y="640080"/>
            <a:ext cx="5394960" cy="5577840"/>
          </a:xfrm>
          <a:prstGeom prst="rect">
            <a:avLst/>
          </a:prstGeom>
          <a:noFill/>
          <a:ln/>
        </p:spPr>
        <p:txBody>
          <a:bodyPr wrap="square" lIns="0" tIns="0" rIns="0" bIns="0" rtlCol="0" anchor="ctr"/>
          <a:lstStyle/>
          <a:p>
            <a:pPr algn="ctr" indent="0" marL="0">
              <a:buNone/>
            </a:pPr>
            <a:r>
              <a:rPr lang="en-US" sz="19500" dirty="0">
                <a:solidFill>
                  <a:srgbClr val="5C7A6B"/>
                </a:solidFill>
                <a:latin typeface="Georgia" pitchFamily="34" charset="0"/>
                <a:ea typeface="Georgia" pitchFamily="34" charset="-122"/>
                <a:cs typeface="Georgia" pitchFamily="34" charset="-120"/>
              </a:rPr>
              <a:t>XVII</a:t>
            </a:r>
            <a:endParaRPr lang="en-US" sz="195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STANDARD OF COVERAGE</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6583680" cy="219456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No region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goes unexamined.</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A4 REVIEW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SCRIPT AGAINST MARK SCHEME, NOT GRADE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Self-band first</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300" dirty="0">
                <a:solidFill>
                  <a:srgbClr val="4A6B5D"/>
                </a:solidFill>
                <a:latin typeface="Georgia" pitchFamily="34" charset="0"/>
                <a:ea typeface="Georgia" pitchFamily="34" charset="-122"/>
                <a:cs typeface="Georgia" pitchFamily="34" charset="-120"/>
              </a:rPr>
              <a:t>Band yourself first</a:t>
            </a:r>
            <a:endParaRPr lang="en-US" sz="23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3774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Re-read your A4 script against the five criteria and band each one, before you see the mark. The gap between the two is the conversation.</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300" dirty="0">
                <a:solidFill>
                  <a:srgbClr val="5C7A6B"/>
                </a:solidFill>
                <a:latin typeface="Georgia" pitchFamily="34" charset="0"/>
                <a:ea typeface="Georgia" pitchFamily="34" charset="-122"/>
                <a:cs typeface="Georgia" pitchFamily="34" charset="-120"/>
              </a:rPr>
              <a:t>The target thread</a:t>
            </a:r>
            <a:endParaRPr lang="en-US" sz="23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3774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Log one target from the AO splits, connected in writing to the L11 target. Two data points now: the Forecast Grade has evidence.</a:t>
            </a:r>
            <a:endParaRPr lang="en-US" sz="1700" dirty="0"/>
          </a:p>
        </p:txBody>
      </p:sp>
      <p:sp>
        <p:nvSpPr>
          <p:cNvPr id="12" name="Shape 10"/>
          <p:cNvSpPr/>
          <p:nvPr/>
        </p:nvSpPr>
        <p:spPr>
          <a:xfrm>
            <a:off x="822960" y="6382512"/>
            <a:ext cx="10543032" cy="0"/>
          </a:xfrm>
          <a:prstGeom prst="line">
            <a:avLst/>
          </a:prstGeom>
          <a:noFill/>
          <a:ln w="9525">
            <a:solidFill>
              <a:srgbClr val="D9D4C4"/>
            </a:solidFill>
            <a:prstDash val="solid"/>
          </a:ln>
        </p:spPr>
      </p:sp>
      <p:sp>
        <p:nvSpPr>
          <p:cNvPr id="13"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 SECTION B ARGUMENT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NOT A PLAN, AN ARGUMENT YOU COULD WIN ALOUD</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moves</a:t>
            </a:r>
            <a:endParaRPr lang="en-US" sz="3200" dirty="0"/>
          </a:p>
        </p:txBody>
      </p:sp>
      <p:sp>
        <p:nvSpPr>
          <p:cNvPr id="6" name="Shape 4"/>
          <p:cNvSpPr/>
          <p:nvPr/>
        </p:nvSpPr>
        <p:spPr>
          <a:xfrm>
            <a:off x="2140839" y="3383280"/>
            <a:ext cx="7907274" cy="0"/>
          </a:xfrm>
          <a:prstGeom prst="line">
            <a:avLst/>
          </a:prstGeom>
          <a:noFill/>
          <a:ln w="19050">
            <a:solidFill>
              <a:srgbClr val="8AA394"/>
            </a:solidFill>
            <a:prstDash val="solid"/>
          </a:ln>
        </p:spPr>
      </p:sp>
      <p:sp>
        <p:nvSpPr>
          <p:cNvPr id="7" name="Text 5"/>
          <p:cNvSpPr/>
          <p:nvPr/>
        </p:nvSpPr>
        <p:spPr>
          <a:xfrm>
            <a:off x="1848231"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914400"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Claim</a:t>
            </a:r>
            <a:endParaRPr lang="en-US" sz="2200" dirty="0"/>
          </a:p>
        </p:txBody>
      </p:sp>
      <p:sp>
        <p:nvSpPr>
          <p:cNvPr id="9" name="Text 7"/>
          <p:cNvSpPr/>
          <p:nvPr/>
        </p:nvSpPr>
        <p:spPr>
          <a:xfrm>
            <a:off x="960120"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the position you will defend</a:t>
            </a:r>
            <a:endParaRPr lang="en-US" sz="1450" dirty="0"/>
          </a:p>
        </p:txBody>
      </p:sp>
      <p:sp>
        <p:nvSpPr>
          <p:cNvPr id="10" name="Text 8"/>
          <p:cNvSpPr/>
          <p:nvPr/>
        </p:nvSpPr>
        <p:spPr>
          <a:xfrm>
            <a:off x="4483989"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3550158"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Evidence</a:t>
            </a:r>
            <a:endParaRPr lang="en-US" sz="2200" dirty="0"/>
          </a:p>
        </p:txBody>
      </p:sp>
      <p:sp>
        <p:nvSpPr>
          <p:cNvPr id="12" name="Text 10"/>
          <p:cNvSpPr/>
          <p:nvPr/>
        </p:nvSpPr>
        <p:spPr>
          <a:xfrm>
            <a:off x="3595878"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case-study facts that back it</a:t>
            </a:r>
            <a:endParaRPr lang="en-US" sz="1450" dirty="0"/>
          </a:p>
        </p:txBody>
      </p:sp>
      <p:sp>
        <p:nvSpPr>
          <p:cNvPr id="13" name="Text 11"/>
          <p:cNvSpPr/>
          <p:nvPr/>
        </p:nvSpPr>
        <p:spPr>
          <a:xfrm>
            <a:off x="7119747"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3</a:t>
            </a:r>
            <a:endParaRPr lang="en-US" sz="2400" dirty="0"/>
          </a:p>
        </p:txBody>
      </p:sp>
      <p:sp>
        <p:nvSpPr>
          <p:cNvPr id="14" name="Text 12"/>
          <p:cNvSpPr/>
          <p:nvPr/>
        </p:nvSpPr>
        <p:spPr>
          <a:xfrm>
            <a:off x="6185916"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Counter</a:t>
            </a:r>
            <a:endParaRPr lang="en-US" sz="2200" dirty="0"/>
          </a:p>
        </p:txBody>
      </p:sp>
      <p:sp>
        <p:nvSpPr>
          <p:cNvPr id="15" name="Text 13"/>
          <p:cNvSpPr/>
          <p:nvPr/>
        </p:nvSpPr>
        <p:spPr>
          <a:xfrm>
            <a:off x="6231636"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the strongest opposing case</a:t>
            </a:r>
            <a:endParaRPr lang="en-US" sz="1450" dirty="0"/>
          </a:p>
        </p:txBody>
      </p:sp>
      <p:sp>
        <p:nvSpPr>
          <p:cNvPr id="16" name="Text 14"/>
          <p:cNvSpPr/>
          <p:nvPr/>
        </p:nvSpPr>
        <p:spPr>
          <a:xfrm>
            <a:off x="9755505" y="3090672"/>
            <a:ext cx="585216" cy="585216"/>
          </a:xfrm>
          <a:prstGeom prst="ellipse">
            <a:avLst/>
          </a:prstGeom>
          <a:solidFill>
            <a:srgbClr val="4A6B5D"/>
          </a:solidFill>
          <a:ln/>
        </p:spPr>
        <p:txBody>
          <a:bodyPr wrap="square" lIns="0" tIns="0" rIns="0" bIns="0" rtlCol="0" anchor="ctr"/>
          <a:lstStyle/>
          <a:p>
            <a:pPr algn="ctr" indent="0" marL="0">
              <a:buNone/>
            </a:pPr>
            <a:r>
              <a:rPr lang="en-US" sz="2400" dirty="0">
                <a:solidFill>
                  <a:srgbClr val="FAF8F1"/>
                </a:solidFill>
                <a:latin typeface="Georgia" pitchFamily="34" charset="0"/>
                <a:ea typeface="Georgia" pitchFamily="34" charset="-122"/>
                <a:cs typeface="Georgia" pitchFamily="34" charset="-120"/>
              </a:rPr>
              <a:t>4</a:t>
            </a:r>
            <a:endParaRPr lang="en-US" sz="2400" dirty="0"/>
          </a:p>
        </p:txBody>
      </p:sp>
      <p:sp>
        <p:nvSpPr>
          <p:cNvPr id="17" name="Text 15"/>
          <p:cNvSpPr/>
          <p:nvPr/>
        </p:nvSpPr>
        <p:spPr>
          <a:xfrm>
            <a:off x="8821674" y="2331720"/>
            <a:ext cx="2452878" cy="548640"/>
          </a:xfrm>
          <a:prstGeom prst="rect">
            <a:avLst/>
          </a:prstGeom>
          <a:noFill/>
          <a:ln/>
        </p:spPr>
        <p:txBody>
          <a:bodyPr wrap="square" lIns="0" tIns="0" rIns="0" bIns="0" rtlCol="0" anchor="b"/>
          <a:lstStyle/>
          <a:p>
            <a:pPr algn="ctr" indent="0" marL="0">
              <a:buNone/>
            </a:pPr>
            <a:r>
              <a:rPr lang="en-US" sz="2200" dirty="0">
                <a:solidFill>
                  <a:srgbClr val="24313F"/>
                </a:solidFill>
                <a:latin typeface="Georgia" pitchFamily="34" charset="0"/>
                <a:ea typeface="Georgia" pitchFamily="34" charset="-122"/>
                <a:cs typeface="Georgia" pitchFamily="34" charset="-120"/>
              </a:rPr>
              <a:t>Response</a:t>
            </a:r>
            <a:endParaRPr lang="en-US" sz="2200" dirty="0"/>
          </a:p>
        </p:txBody>
      </p:sp>
      <p:sp>
        <p:nvSpPr>
          <p:cNvPr id="18" name="Text 16"/>
          <p:cNvSpPr/>
          <p:nvPr/>
        </p:nvSpPr>
        <p:spPr>
          <a:xfrm>
            <a:off x="8867394" y="3886200"/>
            <a:ext cx="2361438" cy="914400"/>
          </a:xfrm>
          <a:prstGeom prst="rect">
            <a:avLst/>
          </a:prstGeom>
          <a:noFill/>
          <a:ln/>
        </p:spPr>
        <p:txBody>
          <a:bodyPr wrap="square" lIns="0" tIns="0" rIns="0" bIns="0" rtlCol="0" anchor="t"/>
          <a:lstStyle/>
          <a:p>
            <a:pPr algn="ctr" indent="0" marL="0">
              <a:lnSpc>
                <a:spcPts val="1900"/>
              </a:lnSpc>
              <a:buNone/>
            </a:pPr>
            <a:r>
              <a:rPr lang="en-US" sz="1450" dirty="0">
                <a:solidFill>
                  <a:srgbClr val="24313F"/>
                </a:solidFill>
                <a:latin typeface="Georgia" pitchFamily="34" charset="0"/>
                <a:ea typeface="Georgia" pitchFamily="34" charset="-122"/>
                <a:cs typeface="Georgia" pitchFamily="34" charset="-120"/>
              </a:rPr>
              <a:t>why your claim still stands</a:t>
            </a:r>
            <a:endParaRPr lang="en-US" sz="1450" dirty="0"/>
          </a:p>
        </p:txBody>
      </p:sp>
      <p:sp>
        <p:nvSpPr>
          <p:cNvPr id="19" name="Text 17"/>
          <p:cNvSpPr/>
          <p:nvPr/>
        </p:nvSpPr>
        <p:spPr>
          <a:xfrm>
            <a:off x="822960" y="5212080"/>
            <a:ext cx="10543032" cy="45720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Argue it aloud in trios, one countering from the same case study; the talk is the drafting. Plans that survived a counter do not go stale.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000"/>
              </a:lnSpc>
              <a:buNone/>
            </a:pPr>
            <a:r>
              <a:rPr lang="en-US" sz="4200" dirty="0">
                <a:solidFill>
                  <a:srgbClr val="24313F"/>
                </a:solidFill>
                <a:latin typeface="Georgia" pitchFamily="34" charset="0"/>
                <a:ea typeface="Georgia" pitchFamily="34" charset="-122"/>
                <a:cs typeface="Georgia" pitchFamily="34" charset="-120"/>
              </a:rPr>
              <a:t>He who knows only his own side of the case knows little of that.</a:t>
            </a:r>
            <a:endParaRPr lang="en-US" sz="4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John Stuart Mill, On Liberty, 1859</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loewy-moon_a637.jpg">    </p:cNvPr>
          <p:cNvPicPr>
            <a:picLocks noChangeAspect="1"/>
          </p:cNvPicPr>
          <p:nvPr/>
        </p:nvPicPr>
        <p:blipFill>
          <a:blip r:embed="rId1"/>
          <a:stretch>
            <a:fillRect/>
          </a:stretch>
        </p:blipFill>
        <p:spPr>
          <a:xfrm>
            <a:off x="7818120" y="0"/>
            <a:ext cx="4370832" cy="6858000"/>
          </a:xfrm>
          <a:prstGeom prst="rect">
            <a:avLst/>
          </a:prstGeom>
        </p:spPr>
      </p:pic>
      <p:sp>
        <p:nvSpPr>
          <p:cNvPr id="3" name="Text 0"/>
          <p:cNvSpPr/>
          <p:nvPr/>
        </p:nvSpPr>
        <p:spPr>
          <a:xfrm>
            <a:off x="8001000" y="6126480"/>
            <a:ext cx="400507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Loewy and Puiseux, from the Atlas Photographique de la Lune, c. 1900</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PLATE BY PLATE</a:t>
            </a:r>
            <a:endParaRPr lang="en-US" sz="1100" dirty="0"/>
          </a:p>
        </p:txBody>
      </p:sp>
      <p:sp>
        <p:nvSpPr>
          <p:cNvPr id="5" name="Shape 2"/>
          <p:cNvSpPr/>
          <p:nvPr/>
        </p:nvSpPr>
        <p:spPr>
          <a:xfrm>
            <a:off x="822960" y="1051560"/>
            <a:ext cx="6675120" cy="0"/>
          </a:xfrm>
          <a:prstGeom prst="line">
            <a:avLst/>
          </a:prstGeom>
          <a:noFill/>
          <a:ln w="9525">
            <a:solidFill>
              <a:srgbClr val="D9D4C4"/>
            </a:solidFill>
            <a:prstDash val="solid"/>
          </a:ln>
        </p:spPr>
      </p:sp>
      <p:sp>
        <p:nvSpPr>
          <p:cNvPr id="6" name="Text 3"/>
          <p:cNvSpPr/>
          <p:nvPr/>
        </p:nvSpPr>
        <p:spPr>
          <a:xfrm>
            <a:off x="822960" y="1234440"/>
            <a:ext cx="676656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Photograph</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the whole moon</a:t>
            </a:r>
            <a:endParaRPr lang="en-US" sz="4000" dirty="0"/>
          </a:p>
        </p:txBody>
      </p:sp>
      <p:sp>
        <p:nvSpPr>
          <p:cNvPr id="7" name="Text 4"/>
          <p:cNvSpPr/>
          <p:nvPr/>
        </p:nvSpPr>
        <p:spPr>
          <a:xfrm>
            <a:off x="822960" y="2743200"/>
            <a:ext cx="6858000" cy="27432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Two astronomers spent years photographing the entire moon, plate by plate, so that no region went unexamined. That is the standard this week. Every cell of the matrix gets looked at honestly, including the empty ones. Revisiting the topic you already like proves nothing.</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COVERAGE MATRIX</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CASE STUDIES AGAINST THE FOUR CONCEPTS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Find the empty cell</a:t>
            </a:r>
            <a:endParaRPr lang="en-US" sz="3200" dirty="0"/>
          </a:p>
        </p:txBody>
      </p:sp>
      <p:sp>
        <p:nvSpPr>
          <p:cNvPr id="6" name="Text 4"/>
          <p:cNvSpPr/>
          <p:nvPr/>
        </p:nvSpPr>
        <p:spPr>
          <a:xfrm>
            <a:off x="3566160"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Language</a:t>
            </a:r>
            <a:endParaRPr lang="en-US" sz="1100" dirty="0"/>
          </a:p>
        </p:txBody>
      </p:sp>
      <p:sp>
        <p:nvSpPr>
          <p:cNvPr id="7" name="Text 5"/>
          <p:cNvSpPr/>
          <p:nvPr/>
        </p:nvSpPr>
        <p:spPr>
          <a:xfrm>
            <a:off x="5516118"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Represent.</a:t>
            </a:r>
            <a:endParaRPr lang="en-US" sz="1100" dirty="0"/>
          </a:p>
        </p:txBody>
      </p:sp>
      <p:sp>
        <p:nvSpPr>
          <p:cNvPr id="8" name="Text 6"/>
          <p:cNvSpPr/>
          <p:nvPr/>
        </p:nvSpPr>
        <p:spPr>
          <a:xfrm>
            <a:off x="7466076"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Industry</a:t>
            </a:r>
            <a:endParaRPr lang="en-US" sz="1100" dirty="0"/>
          </a:p>
        </p:txBody>
      </p:sp>
      <p:sp>
        <p:nvSpPr>
          <p:cNvPr id="9" name="Text 7"/>
          <p:cNvSpPr/>
          <p:nvPr/>
        </p:nvSpPr>
        <p:spPr>
          <a:xfrm>
            <a:off x="9416034" y="1828800"/>
            <a:ext cx="1949958" cy="411480"/>
          </a:xfrm>
          <a:prstGeom prst="rect">
            <a:avLst/>
          </a:prstGeom>
          <a:noFill/>
          <a:ln/>
        </p:spPr>
        <p:txBody>
          <a:bodyPr wrap="square" lIns="0" tIns="0" rIns="0" bIns="0" rtlCol="0" anchor="ctr"/>
          <a:lstStyle/>
          <a:p>
            <a:pPr algn="ctr" indent="0" marL="0">
              <a:buNone/>
            </a:pPr>
            <a:r>
              <a:rPr lang="en-US" sz="1100" b="1" spc="50" kern="0" dirty="0">
                <a:solidFill>
                  <a:srgbClr val="7A7F72"/>
                </a:solidFill>
                <a:latin typeface="Arial" pitchFamily="34" charset="0"/>
                <a:ea typeface="Arial" pitchFamily="34" charset="-122"/>
                <a:cs typeface="Arial" pitchFamily="34" charset="-120"/>
              </a:rPr>
              <a:t>Audience</a:t>
            </a:r>
            <a:endParaRPr lang="en-US" sz="1100" dirty="0"/>
          </a:p>
        </p:txBody>
      </p:sp>
      <p:sp>
        <p:nvSpPr>
          <p:cNvPr id="10" name="Text 8"/>
          <p:cNvSpPr/>
          <p:nvPr/>
        </p:nvSpPr>
        <p:spPr>
          <a:xfrm>
            <a:off x="822960" y="228600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film studio</a:t>
            </a:r>
            <a:endParaRPr lang="en-US" sz="1700" dirty="0"/>
          </a:p>
        </p:txBody>
      </p:sp>
      <p:sp>
        <p:nvSpPr>
          <p:cNvPr id="11" name="Shape 9"/>
          <p:cNvSpPr/>
          <p:nvPr/>
        </p:nvSpPr>
        <p:spPr>
          <a:xfrm>
            <a:off x="3639312" y="2359152"/>
            <a:ext cx="1803654" cy="722376"/>
          </a:xfrm>
          <a:prstGeom prst="rect">
            <a:avLst/>
          </a:prstGeom>
          <a:solidFill>
            <a:srgbClr val="4A6B5D"/>
          </a:solidFill>
          <a:ln w="9525">
            <a:solidFill>
              <a:srgbClr val="8AA394"/>
            </a:solidFill>
            <a:prstDash val="solid"/>
          </a:ln>
        </p:spPr>
      </p:sp>
      <p:sp>
        <p:nvSpPr>
          <p:cNvPr id="12" name="Text 10"/>
          <p:cNvSpPr/>
          <p:nvPr/>
        </p:nvSpPr>
        <p:spPr>
          <a:xfrm>
            <a:off x="3639312" y="235915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13" name="Shape 11"/>
          <p:cNvSpPr/>
          <p:nvPr/>
        </p:nvSpPr>
        <p:spPr>
          <a:xfrm>
            <a:off x="5589270" y="2359152"/>
            <a:ext cx="1803654" cy="722376"/>
          </a:xfrm>
          <a:prstGeom prst="rect">
            <a:avLst/>
          </a:prstGeom>
          <a:solidFill>
            <a:srgbClr val="4A6B5D"/>
          </a:solidFill>
          <a:ln w="9525">
            <a:solidFill>
              <a:srgbClr val="8AA394"/>
            </a:solidFill>
            <a:prstDash val="solid"/>
          </a:ln>
        </p:spPr>
      </p:sp>
      <p:sp>
        <p:nvSpPr>
          <p:cNvPr id="14" name="Text 12"/>
          <p:cNvSpPr/>
          <p:nvPr/>
        </p:nvSpPr>
        <p:spPr>
          <a:xfrm>
            <a:off x="5589270" y="235915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15" name="Shape 13"/>
          <p:cNvSpPr/>
          <p:nvPr/>
        </p:nvSpPr>
        <p:spPr>
          <a:xfrm>
            <a:off x="7539228" y="2359152"/>
            <a:ext cx="1803654" cy="722376"/>
          </a:xfrm>
          <a:prstGeom prst="rect">
            <a:avLst/>
          </a:prstGeom>
          <a:solidFill>
            <a:srgbClr val="E8EFE7"/>
          </a:solidFill>
          <a:ln w="9525">
            <a:solidFill>
              <a:srgbClr val="8AA394"/>
            </a:solidFill>
            <a:prstDash val="solid"/>
          </a:ln>
        </p:spPr>
      </p:sp>
      <p:sp>
        <p:nvSpPr>
          <p:cNvPr id="16" name="Text 14"/>
          <p:cNvSpPr/>
          <p:nvPr/>
        </p:nvSpPr>
        <p:spPr>
          <a:xfrm>
            <a:off x="7539228" y="235915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17" name="Shape 15"/>
          <p:cNvSpPr/>
          <p:nvPr/>
        </p:nvSpPr>
        <p:spPr>
          <a:xfrm>
            <a:off x="9489186" y="2359152"/>
            <a:ext cx="1803654" cy="722376"/>
          </a:xfrm>
          <a:prstGeom prst="rect">
            <a:avLst/>
          </a:prstGeom>
          <a:solidFill>
            <a:srgbClr val="FAF8F1"/>
          </a:solidFill>
          <a:ln w="9525">
            <a:solidFill>
              <a:srgbClr val="8AA394"/>
            </a:solidFill>
            <a:prstDash val="solid"/>
          </a:ln>
        </p:spPr>
      </p:sp>
      <p:sp>
        <p:nvSpPr>
          <p:cNvPr id="18" name="Text 16"/>
          <p:cNvSpPr/>
          <p:nvPr/>
        </p:nvSpPr>
        <p:spPr>
          <a:xfrm>
            <a:off x="9489186" y="235915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empty</a:t>
            </a:r>
            <a:endParaRPr lang="en-US" sz="1000" dirty="0"/>
          </a:p>
        </p:txBody>
      </p:sp>
      <p:sp>
        <p:nvSpPr>
          <p:cNvPr id="19" name="Text 17"/>
          <p:cNvSpPr/>
          <p:nvPr/>
        </p:nvSpPr>
        <p:spPr>
          <a:xfrm>
            <a:off x="822960" y="315468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streaming platform</a:t>
            </a:r>
            <a:endParaRPr lang="en-US" sz="1700" dirty="0"/>
          </a:p>
        </p:txBody>
      </p:sp>
      <p:sp>
        <p:nvSpPr>
          <p:cNvPr id="20" name="Shape 18"/>
          <p:cNvSpPr/>
          <p:nvPr/>
        </p:nvSpPr>
        <p:spPr>
          <a:xfrm>
            <a:off x="3639312" y="3227832"/>
            <a:ext cx="1803654" cy="722376"/>
          </a:xfrm>
          <a:prstGeom prst="rect">
            <a:avLst/>
          </a:prstGeom>
          <a:solidFill>
            <a:srgbClr val="E8EFE7"/>
          </a:solidFill>
          <a:ln w="9525">
            <a:solidFill>
              <a:srgbClr val="8AA394"/>
            </a:solidFill>
            <a:prstDash val="solid"/>
          </a:ln>
        </p:spPr>
      </p:sp>
      <p:sp>
        <p:nvSpPr>
          <p:cNvPr id="21" name="Text 19"/>
          <p:cNvSpPr/>
          <p:nvPr/>
        </p:nvSpPr>
        <p:spPr>
          <a:xfrm>
            <a:off x="3639312" y="322783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22" name="Shape 20"/>
          <p:cNvSpPr/>
          <p:nvPr/>
        </p:nvSpPr>
        <p:spPr>
          <a:xfrm>
            <a:off x="5589270" y="3227832"/>
            <a:ext cx="1803654" cy="722376"/>
          </a:xfrm>
          <a:prstGeom prst="rect">
            <a:avLst/>
          </a:prstGeom>
          <a:solidFill>
            <a:srgbClr val="FAF8F1"/>
          </a:solidFill>
          <a:ln w="9525">
            <a:solidFill>
              <a:srgbClr val="8AA394"/>
            </a:solidFill>
            <a:prstDash val="solid"/>
          </a:ln>
        </p:spPr>
      </p:sp>
      <p:sp>
        <p:nvSpPr>
          <p:cNvPr id="23" name="Text 21"/>
          <p:cNvSpPr/>
          <p:nvPr/>
        </p:nvSpPr>
        <p:spPr>
          <a:xfrm>
            <a:off x="5589270" y="322783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empty</a:t>
            </a:r>
            <a:endParaRPr lang="en-US" sz="1000" dirty="0"/>
          </a:p>
        </p:txBody>
      </p:sp>
      <p:sp>
        <p:nvSpPr>
          <p:cNvPr id="24" name="Shape 22"/>
          <p:cNvSpPr/>
          <p:nvPr/>
        </p:nvSpPr>
        <p:spPr>
          <a:xfrm>
            <a:off x="7539228" y="3227832"/>
            <a:ext cx="1803654" cy="722376"/>
          </a:xfrm>
          <a:prstGeom prst="rect">
            <a:avLst/>
          </a:prstGeom>
          <a:solidFill>
            <a:srgbClr val="4A6B5D"/>
          </a:solidFill>
          <a:ln w="9525">
            <a:solidFill>
              <a:srgbClr val="8AA394"/>
            </a:solidFill>
            <a:prstDash val="solid"/>
          </a:ln>
        </p:spPr>
      </p:sp>
      <p:sp>
        <p:nvSpPr>
          <p:cNvPr id="25" name="Text 23"/>
          <p:cNvSpPr/>
          <p:nvPr/>
        </p:nvSpPr>
        <p:spPr>
          <a:xfrm>
            <a:off x="7539228" y="322783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9489186" y="3227832"/>
            <a:ext cx="1803654" cy="722376"/>
          </a:xfrm>
          <a:prstGeom prst="rect">
            <a:avLst/>
          </a:prstGeom>
          <a:solidFill>
            <a:srgbClr val="4A6B5D"/>
          </a:solidFill>
          <a:ln w="9525">
            <a:solidFill>
              <a:srgbClr val="8AA394"/>
            </a:solidFill>
            <a:prstDash val="solid"/>
          </a:ln>
        </p:spPr>
      </p:sp>
      <p:sp>
        <p:nvSpPr>
          <p:cNvPr id="27" name="Text 25"/>
          <p:cNvSpPr/>
          <p:nvPr/>
        </p:nvSpPr>
        <p:spPr>
          <a:xfrm>
            <a:off x="9489186" y="322783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28" name="Text 26"/>
          <p:cNvSpPr/>
          <p:nvPr/>
        </p:nvSpPr>
        <p:spPr>
          <a:xfrm>
            <a:off x="822960" y="4023360"/>
            <a:ext cx="2560320" cy="868680"/>
          </a:xfrm>
          <a:prstGeom prst="rect">
            <a:avLst/>
          </a:prstGeom>
          <a:noFill/>
          <a:ln/>
        </p:spPr>
        <p:txBody>
          <a:bodyPr wrap="square" lIns="0" tIns="0" rIns="0" bIns="0" rtlCol="0" anchor="ctr"/>
          <a:lstStyle/>
          <a:p>
            <a:pPr indent="0" marL="0">
              <a:buNone/>
            </a:pPr>
            <a:r>
              <a:rPr lang="en-US" sz="1700" dirty="0">
                <a:solidFill>
                  <a:srgbClr val="24313F"/>
                </a:solidFill>
                <a:latin typeface="Georgia" pitchFamily="34" charset="0"/>
                <a:ea typeface="Georgia" pitchFamily="34" charset="-122"/>
                <a:cs typeface="Georgia" pitchFamily="34" charset="-120"/>
              </a:rPr>
              <a:t>A public broadcaster</a:t>
            </a:r>
            <a:endParaRPr lang="en-US" sz="1700" dirty="0"/>
          </a:p>
        </p:txBody>
      </p:sp>
      <p:sp>
        <p:nvSpPr>
          <p:cNvPr id="29" name="Shape 27"/>
          <p:cNvSpPr/>
          <p:nvPr/>
        </p:nvSpPr>
        <p:spPr>
          <a:xfrm>
            <a:off x="3639312" y="4096512"/>
            <a:ext cx="1803654" cy="722376"/>
          </a:xfrm>
          <a:prstGeom prst="rect">
            <a:avLst/>
          </a:prstGeom>
          <a:solidFill>
            <a:srgbClr val="4A6B5D"/>
          </a:solidFill>
          <a:ln w="9525">
            <a:solidFill>
              <a:srgbClr val="8AA394"/>
            </a:solidFill>
            <a:prstDash val="solid"/>
          </a:ln>
        </p:spPr>
      </p:sp>
      <p:sp>
        <p:nvSpPr>
          <p:cNvPr id="30" name="Text 28"/>
          <p:cNvSpPr/>
          <p:nvPr/>
        </p:nvSpPr>
        <p:spPr>
          <a:xfrm>
            <a:off x="3639312" y="409651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31" name="Shape 29"/>
          <p:cNvSpPr/>
          <p:nvPr/>
        </p:nvSpPr>
        <p:spPr>
          <a:xfrm>
            <a:off x="5589270" y="4096512"/>
            <a:ext cx="1803654" cy="722376"/>
          </a:xfrm>
          <a:prstGeom prst="rect">
            <a:avLst/>
          </a:prstGeom>
          <a:solidFill>
            <a:srgbClr val="E8EFE7"/>
          </a:solidFill>
          <a:ln w="9525">
            <a:solidFill>
              <a:srgbClr val="8AA394"/>
            </a:solidFill>
            <a:prstDash val="solid"/>
          </a:ln>
        </p:spPr>
      </p:sp>
      <p:sp>
        <p:nvSpPr>
          <p:cNvPr id="32" name="Text 30"/>
          <p:cNvSpPr/>
          <p:nvPr/>
        </p:nvSpPr>
        <p:spPr>
          <a:xfrm>
            <a:off x="5589270" y="409651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33" name="Shape 31"/>
          <p:cNvSpPr/>
          <p:nvPr/>
        </p:nvSpPr>
        <p:spPr>
          <a:xfrm>
            <a:off x="7539228" y="4096512"/>
            <a:ext cx="1803654" cy="722376"/>
          </a:xfrm>
          <a:prstGeom prst="rect">
            <a:avLst/>
          </a:prstGeom>
          <a:solidFill>
            <a:srgbClr val="4A6B5D"/>
          </a:solidFill>
          <a:ln w="9525">
            <a:solidFill>
              <a:srgbClr val="8AA394"/>
            </a:solidFill>
            <a:prstDash val="solid"/>
          </a:ln>
        </p:spPr>
      </p:sp>
      <p:sp>
        <p:nvSpPr>
          <p:cNvPr id="34" name="Text 32"/>
          <p:cNvSpPr/>
          <p:nvPr/>
        </p:nvSpPr>
        <p:spPr>
          <a:xfrm>
            <a:off x="7539228" y="4096512"/>
            <a:ext cx="1803654" cy="722376"/>
          </a:xfrm>
          <a:prstGeom prst="rect">
            <a:avLst/>
          </a:prstGeom>
          <a:noFill/>
          <a:ln/>
        </p:spPr>
        <p:txBody>
          <a:bodyPr wrap="square" lIns="0" tIns="0" rIns="0" bIns="0" rtlCol="0" anchor="ctr"/>
          <a:lstStyle/>
          <a:p>
            <a:pPr algn="ctr" indent="0" marL="0">
              <a:buNone/>
            </a:pPr>
            <a:r>
              <a:rPr lang="en-US" sz="1300" dirty="0">
                <a:solidFill>
                  <a:srgbClr val="FAF8F1"/>
                </a:solidFill>
                <a:latin typeface="Arial" pitchFamily="34" charset="0"/>
                <a:ea typeface="Arial" pitchFamily="34" charset="-122"/>
                <a:cs typeface="Arial" pitchFamily="34" charset="-120"/>
              </a:rPr>
              <a:t>●</a:t>
            </a:r>
            <a:endParaRPr lang="en-US" sz="1300" dirty="0"/>
          </a:p>
        </p:txBody>
      </p:sp>
      <p:sp>
        <p:nvSpPr>
          <p:cNvPr id="35" name="Shape 33"/>
          <p:cNvSpPr/>
          <p:nvPr/>
        </p:nvSpPr>
        <p:spPr>
          <a:xfrm>
            <a:off x="9489186" y="4096512"/>
            <a:ext cx="1803654" cy="722376"/>
          </a:xfrm>
          <a:prstGeom prst="rect">
            <a:avLst/>
          </a:prstGeom>
          <a:solidFill>
            <a:srgbClr val="E8EFE7"/>
          </a:solidFill>
          <a:ln w="9525">
            <a:solidFill>
              <a:srgbClr val="8AA394"/>
            </a:solidFill>
            <a:prstDash val="solid"/>
          </a:ln>
        </p:spPr>
      </p:sp>
      <p:sp>
        <p:nvSpPr>
          <p:cNvPr id="36" name="Text 34"/>
          <p:cNvSpPr/>
          <p:nvPr/>
        </p:nvSpPr>
        <p:spPr>
          <a:xfrm>
            <a:off x="9489186" y="4096512"/>
            <a:ext cx="1803654" cy="722376"/>
          </a:xfrm>
          <a:prstGeom prst="rect">
            <a:avLst/>
          </a:prstGeom>
          <a:noFill/>
          <a:ln/>
        </p:spPr>
        <p:txBody>
          <a:bodyPr wrap="square" lIns="0" tIns="0" rIns="0" bIns="0" rtlCol="0" anchor="ctr"/>
          <a:lstStyle/>
          <a:p>
            <a:pPr algn="ctr" indent="0" marL="0">
              <a:buNone/>
            </a:pPr>
            <a:r>
              <a:rPr lang="en-US" sz="1000" i="1" dirty="0">
                <a:solidFill>
                  <a:srgbClr val="7A7F72"/>
                </a:solidFill>
                <a:latin typeface="Arial" pitchFamily="34" charset="0"/>
                <a:ea typeface="Arial" pitchFamily="34" charset="-122"/>
                <a:cs typeface="Arial" pitchFamily="34" charset="-120"/>
              </a:rPr>
              <a:t>thin</a:t>
            </a:r>
            <a:endParaRPr lang="en-US" sz="1000" dirty="0"/>
          </a:p>
        </p:txBody>
      </p:sp>
      <p:sp>
        <p:nvSpPr>
          <p:cNvPr id="37" name="Text 35"/>
          <p:cNvSpPr/>
          <p:nvPr/>
        </p:nvSpPr>
        <p:spPr>
          <a:xfrm>
            <a:off x="822960" y="5029200"/>
            <a:ext cx="10543032" cy="64008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Run as consolidation Jeopardy: teams claim a cell by producing the evidence, the room verifies: evidenced, thin, or empty. An honest empty scores too; the game rewards the audit, not the bluff.</a:t>
            </a:r>
            <a:endParaRPr lang="en-US" sz="1200" dirty="0"/>
          </a:p>
        </p:txBody>
      </p:sp>
      <p:sp>
        <p:nvSpPr>
          <p:cNvPr id="38" name="Shape 36"/>
          <p:cNvSpPr/>
          <p:nvPr/>
        </p:nvSpPr>
        <p:spPr>
          <a:xfrm>
            <a:off x="822960" y="6382512"/>
            <a:ext cx="10543032" cy="0"/>
          </a:xfrm>
          <a:prstGeom prst="line">
            <a:avLst/>
          </a:prstGeom>
          <a:noFill/>
          <a:ln w="9525">
            <a:solidFill>
              <a:srgbClr val="D9D4C4"/>
            </a:solidFill>
            <a:prstDash val="solid"/>
          </a:ln>
        </p:spPr>
      </p:sp>
      <p:sp>
        <p:nvSpPr>
          <p:cNvPr id="39" name="Text 3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40" name="Text 3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920240"/>
            <a:ext cx="10424160" cy="2194560"/>
          </a:xfrm>
          <a:prstGeom prst="rect">
            <a:avLst/>
          </a:prstGeom>
          <a:noFill/>
          <a:ln/>
        </p:spPr>
        <p:txBody>
          <a:bodyPr wrap="square" lIns="0" tIns="0" rIns="0" bIns="0" rtlCol="0" anchor="ctr"/>
          <a:lstStyle/>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Your weakest cell,</a:t>
            </a:r>
            <a:endParaRPr lang="en-US" sz="4800" dirty="0"/>
          </a:p>
          <a:p>
            <a:pPr indent="0" marL="0">
              <a:lnSpc>
                <a:spcPts val="5400"/>
              </a:lnSpc>
              <a:buNone/>
            </a:pPr>
            <a:r>
              <a:rPr lang="en-US" sz="4800" dirty="0">
                <a:solidFill>
                  <a:srgbClr val="24313F"/>
                </a:solidFill>
                <a:latin typeface="Georgia" pitchFamily="34" charset="0"/>
                <a:ea typeface="Georgia" pitchFamily="34" charset="-122"/>
                <a:cs typeface="Georgia" pitchFamily="34" charset="-120"/>
              </a:rPr>
              <a:t>named in writing.</a:t>
            </a:r>
            <a:endParaRPr lang="en-US" sz="48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Every student leaves with the emptiest cell of their own matrix named. That cell is the HW2 target, and the break exists to fill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BREAK, AND THE EXAM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SET THE LAST TEACHING SESSION BEFORE THE WINDOW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Two things on the record</a:t>
            </a:r>
            <a:endParaRPr lang="en-US" sz="3400" dirty="0"/>
          </a:p>
        </p:txBody>
      </p:sp>
      <p:sp>
        <p:nvSpPr>
          <p:cNvPr id="6" name="Text 4"/>
          <p:cNvSpPr/>
          <p:nvPr/>
        </p:nvSpPr>
        <p:spPr>
          <a:xfrm>
            <a:off x="822960" y="1874520"/>
            <a:ext cx="2926080"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HW2</a:t>
            </a:r>
            <a:endParaRPr lang="en-US" sz="2200" dirty="0"/>
          </a:p>
        </p:txBody>
      </p:sp>
      <p:sp>
        <p:nvSpPr>
          <p:cNvPr id="7" name="Text 5"/>
          <p:cNvSpPr/>
          <p:nvPr/>
        </p:nvSpPr>
        <p:spPr>
          <a:xfrm>
            <a:off x="822960" y="2350008"/>
            <a:ext cx="2926080" cy="36576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DUE MON 4 JAN</a:t>
            </a:r>
            <a:endParaRPr lang="en-US" sz="1100" dirty="0"/>
          </a:p>
        </p:txBody>
      </p:sp>
      <p:sp>
        <p:nvSpPr>
          <p:cNvPr id="8" name="Text 6"/>
          <p:cNvSpPr/>
          <p:nvPr/>
        </p:nvSpPr>
        <p:spPr>
          <a:xfrm>
            <a:off x="4023360" y="1874520"/>
            <a:ext cx="7315200" cy="12801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One revision page per case study, plus one Section B essay plan aimed at the named weakest cell. Three to four hours across eleven days.</a:t>
            </a:r>
            <a:endParaRPr lang="en-US" sz="1700" dirty="0"/>
          </a:p>
        </p:txBody>
      </p:sp>
      <p:sp>
        <p:nvSpPr>
          <p:cNvPr id="9" name="Shape 7"/>
          <p:cNvSpPr/>
          <p:nvPr/>
        </p:nvSpPr>
        <p:spPr>
          <a:xfrm>
            <a:off x="822960" y="3246120"/>
            <a:ext cx="10543032" cy="0"/>
          </a:xfrm>
          <a:prstGeom prst="line">
            <a:avLst/>
          </a:prstGeom>
          <a:noFill/>
          <a:ln w="9525">
            <a:solidFill>
              <a:srgbClr val="D9D4C4"/>
            </a:solidFill>
            <a:prstDash val="solid"/>
          </a:ln>
        </p:spPr>
      </p:sp>
      <p:sp>
        <p:nvSpPr>
          <p:cNvPr id="10" name="Text 8"/>
          <p:cNvSpPr/>
          <p:nvPr/>
        </p:nvSpPr>
        <p:spPr>
          <a:xfrm>
            <a:off x="822960" y="3429000"/>
            <a:ext cx="2926080"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EoT announced</a:t>
            </a:r>
            <a:endParaRPr lang="en-US" sz="2200" dirty="0"/>
          </a:p>
        </p:txBody>
      </p:sp>
      <p:sp>
        <p:nvSpPr>
          <p:cNvPr id="11" name="Text 9"/>
          <p:cNvSpPr/>
          <p:nvPr/>
        </p:nvSpPr>
        <p:spPr>
          <a:xfrm>
            <a:off x="822960" y="3904488"/>
            <a:ext cx="2926080" cy="365760"/>
          </a:xfrm>
          <a:prstGeom prst="rect">
            <a:avLst/>
          </a:prstGeom>
          <a:noFill/>
          <a:ln/>
        </p:spPr>
        <p:txBody>
          <a:bodyPr wrap="square" lIns="0" tIns="0" rIns="0" bIns="0" rtlCol="0" anchor="ctr"/>
          <a:lstStyle/>
          <a:p>
            <a:pPr indent="0" marL="0">
              <a:buNone/>
            </a:pPr>
            <a:r>
              <a:rPr lang="en-US" sz="1100" b="1" spc="100" kern="0" dirty="0">
                <a:solidFill>
                  <a:srgbClr val="7A7F72"/>
                </a:solidFill>
                <a:latin typeface="Arial" pitchFamily="34" charset="0"/>
                <a:ea typeface="Arial" pitchFamily="34" charset="-122"/>
                <a:cs typeface="Arial" pitchFamily="34" charset="-120"/>
              </a:rPr>
              <a:t>WINDOW FROM MON 11 JAN</a:t>
            </a:r>
            <a:endParaRPr lang="en-US" sz="1100" dirty="0"/>
          </a:p>
        </p:txBody>
      </p:sp>
      <p:sp>
        <p:nvSpPr>
          <p:cNvPr id="12" name="Text 10"/>
          <p:cNvSpPr/>
          <p:nvPr/>
        </p:nvSpPr>
        <p:spPr>
          <a:xfrm>
            <a:off x="4023360" y="3429000"/>
            <a:ext cx="7315200" cy="12801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full two-hour Component 2. Today is the last session that clears the 14-day notice; the format is A4's plus Section B, nothing new.</a:t>
            </a:r>
            <a:endParaRPr lang="en-US" sz="1700" dirty="0"/>
          </a:p>
        </p:txBody>
      </p:sp>
      <p:sp>
        <p:nvSpPr>
          <p:cNvPr id="13" name="Shape 11"/>
          <p:cNvSpPr/>
          <p:nvPr/>
        </p:nvSpPr>
        <p:spPr>
          <a:xfrm>
            <a:off x="822960" y="4800600"/>
            <a:ext cx="10543032" cy="0"/>
          </a:xfrm>
          <a:prstGeom prst="line">
            <a:avLst/>
          </a:prstGeom>
          <a:noFill/>
          <a:ln w="9525">
            <a:solidFill>
              <a:srgbClr val="D9D4C4"/>
            </a:solidFill>
            <a:prstDash val="solid"/>
          </a:ln>
        </p:spPr>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188720"/>
          </a:xfrm>
          <a:prstGeom prst="rect">
            <a:avLst/>
          </a:prstGeom>
          <a:noFill/>
          <a:ln/>
        </p:spPr>
        <p:txBody>
          <a:bodyPr wrap="square" lIns="0" tIns="0" rIns="0" bIns="0" rtlCol="0" anchor="t"/>
          <a:lstStyle/>
          <a:p>
            <a:pPr indent="0" marL="0">
              <a:buNone/>
            </a:pPr>
            <a:r>
              <a:rPr lang="en-US" sz="6000" dirty="0">
                <a:solidFill>
                  <a:srgbClr val="FAF8F1"/>
                </a:solidFill>
                <a:latin typeface="Georgia" pitchFamily="34" charset="0"/>
                <a:ea typeface="Georgia" pitchFamily="34" charset="-122"/>
                <a:cs typeface="Georgia" pitchFamily="34" charset="-120"/>
              </a:rPr>
              <a:t>Exam Rehearsal</a:t>
            </a:r>
            <a:endParaRPr lang="en-US" sz="6000" dirty="0"/>
          </a:p>
        </p:txBody>
      </p:sp>
      <p:sp>
        <p:nvSpPr>
          <p:cNvPr id="5" name="Text 3"/>
          <p:cNvSpPr/>
          <p:nvPr/>
        </p:nvSpPr>
        <p:spPr>
          <a:xfrm>
            <a:off x="822960" y="397764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18. Making the exam boring: no surprises left in format, timing, or the mark scheme.</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2026-08-09T07:47:23Z</dcterms:created>
  <dcterms:modified xsi:type="dcterms:W3CDTF">2026-08-09T07:47:23Z</dcterms:modified>
</cp:coreProperties>
</file>