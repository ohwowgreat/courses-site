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semester's knowledge gets audited before the exam tests it. Every case study crossed against the four Key Concepts until the uncovered cell is found. Two days: Monday carries the A4 review and the argument trios (two rotations; the third went with the lost Tuesday), Wednesday the matrix and the break brief. Tue 12-22's End-of-Semester Activity no longer touches a Media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century ago two astronomers photographed the entire moon, plate by plate, so that no region went unexamined. That is the week's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grid on screen is the real June 2024 page: Media Concepts, Contexts and Critical Debates, Use of Terminology, Analysis, Use of Examples, five marks each. Band each criterion before the mark is revealed; the gap is the conversation.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Argue it aloud in trios, one countering from the same case study; the talk is the drafting. Plans that survived a counter do not go stale. The menu on screen is the real June 2024 pair: ownership and content, or active audiences; every trio question keeps that register.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as the governing metaphor, one sentence and out. The matrix, not the moon, is the instrument; the next slide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Jeopardy procedure: claim, verify, score evidenced, thin, or empty. The room should see the teacher score a cell empty without ceremony; the audit only works if empty is a normal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statement, not a quotation: the week's whole deliverable in one line. The named cell feeds HW2's essay plan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Announcement wording matters: the window opens Mon 11 Jan and today clears the notice rule (the register's standing is one week; the old 14-day wording is superseded). HW2 sizing said aloud: three to four hours across the whole break, not a holiday of revision.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the revision-card deck and the case-study document travel home; nothing else does. The cover on screen is June 2024 P2/21, the paper the room has already worked with. WS 5.3 is the model of what a page contains, not a sheet to fill.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0" y="82296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XVII</a:t>
            </a:r>
            <a:endParaRPr lang="en-US" sz="18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UNIT VI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Consolidation and</a:t>
            </a:r>
            <a:endParaRPr lang="en-US" sz="48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Coverage Matrix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 · Lesson 17 of 19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days  ·  Monday 21 and Wednesday 23 December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640080"/>
            <a:ext cx="5394960" cy="5577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XVII</a:t>
            </a:r>
            <a:endParaRPr lang="en-US" sz="195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STANDARD OF COVERAGE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2651760"/>
            <a:ext cx="420624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78892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cell checked.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gaps left.</a:t>
            </a:r>
            <a:endParaRPr lang="en-US" sz="5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A4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AGAINST MARK SCHEME, NOT GRADE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601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Self-band first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 yourself first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49377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688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Re-read your A4 script against the five criteria and band each one, before you see the mark. The gap between the two is the conversation.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3977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5C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target thread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822960" y="4480560"/>
            <a:ext cx="4937760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61772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one new target from your AO scores, linked to your L14 target. Two data points now: your Forecast Grade has evidence.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257800" cy="448056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3" name="Image 0" descr="/Users/dogan/Documents/Vaults/Courses/wiki/classes/media-studies/decks/_build/img/ms21-p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54496" y="1660525"/>
            <a:ext cx="5001768" cy="3536949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126480" y="571500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instrument itself: June 2024 mark scheme, the five-criterion Section A grid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SECTION B ARGUMENT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PLAN, AN ARGUMENT YOU COULD WIN ALOUD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144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moves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140839" y="2651760"/>
            <a:ext cx="7907274" cy="0"/>
          </a:xfrm>
          <a:prstGeom prst="line">
            <a:avLst/>
          </a:prstGeom>
          <a:noFill/>
          <a:ln w="19050">
            <a:solidFill>
              <a:srgbClr val="8AA3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48231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Claim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position you will defend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483989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50158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3595878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case-study facts that back it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119747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185916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Counter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6231636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strongest opposing case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755505" y="2359152"/>
            <a:ext cx="585216" cy="585216"/>
          </a:xfrm>
          <a:prstGeom prst="ellipse">
            <a:avLst/>
          </a:prstGeom>
          <a:solidFill>
            <a:srgbClr val="4A6B5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821674" y="1691640"/>
            <a:ext cx="24528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1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Response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867394" y="3108960"/>
            <a:ext cx="23614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your claim still stands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22960" y="3977640"/>
            <a:ext cx="10543032" cy="19202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20" name="Image 0" descr="/Users/dogan/Documents/Vaults/Courses/wiki/classes/media-studies/decks/_build/img/qp21-section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0090" y="4105656"/>
            <a:ext cx="4228773" cy="166420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22960" y="594360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authentic register: June 2024 Paper 2, Section B. The trio questions imitate exactly this.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54864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424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who knows only his own side of the case knows little of that.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822960" y="502920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5212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Stuart Mill, On Liberty, 1859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8064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PLAIN WORDS   </a:t>
            </a:r>
            <a:pPr indent="0" marL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only know your own argument, you barely know it. Learn the counter-argument too.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ogan/Documents/Vaults/Courses/wiki/classes/media-studies/decks/_build/img/crops/loewy-moon_a177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502920"/>
            <a:ext cx="5120640" cy="502920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4" name="Text 1"/>
          <p:cNvSpPr/>
          <p:nvPr/>
        </p:nvSpPr>
        <p:spPr>
          <a:xfrm>
            <a:off x="704088" y="52120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PLATE BY PLATE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57200" y="5230368"/>
            <a:ext cx="8778240" cy="1243584"/>
          </a:xfrm>
          <a:prstGeom prst="rect">
            <a:avLst/>
          </a:prstGeom>
          <a:solidFill>
            <a:srgbClr val="FAF8F1"/>
          </a:solidFill>
          <a:ln/>
        </p:spPr>
      </p:sp>
      <p:sp>
        <p:nvSpPr>
          <p:cNvPr id="6" name="Shape 3"/>
          <p:cNvSpPr/>
          <p:nvPr/>
        </p:nvSpPr>
        <p:spPr>
          <a:xfrm>
            <a:off x="676656" y="5468112"/>
            <a:ext cx="731520" cy="0"/>
          </a:xfrm>
          <a:prstGeom prst="line">
            <a:avLst/>
          </a:prstGeom>
          <a:noFill/>
          <a:ln w="28575">
            <a:solidFill>
              <a:srgbClr val="8C3A3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76656" y="5541264"/>
            <a:ext cx="8339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astronomers photographed the entire moon, plate by plate, so no region went unexamined. The week runs on that standard.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76656" y="6181344"/>
            <a:ext cx="8339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Loewy and Puiseux, Atlas Photographique de la Lune, c. 1900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COVERAGE MATRIX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STUDIES AGAINST THE FOUR CONCEPTS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932688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empty cell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566160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Language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516118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466076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416034" y="1828800"/>
            <a:ext cx="19499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film studio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39312" y="235915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589270" y="235915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89270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39228" y="235915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39228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489186" y="2359152"/>
            <a:ext cx="1803654" cy="722376"/>
          </a:xfrm>
          <a:prstGeom prst="rect">
            <a:avLst/>
          </a:prstGeom>
          <a:solidFill>
            <a:srgbClr val="FAF8F1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89186" y="235915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" y="315468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streaming platform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3639312" y="322783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39312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589270" y="3227832"/>
            <a:ext cx="1803654" cy="722376"/>
          </a:xfrm>
          <a:prstGeom prst="rect">
            <a:avLst/>
          </a:prstGeom>
          <a:solidFill>
            <a:srgbClr val="FAF8F1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89270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539228" y="322783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39228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9489186" y="322783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89186" y="322783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" y="40233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public broadcaster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639312" y="409651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39312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589270" y="409651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589270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539228" y="4096512"/>
            <a:ext cx="1803654" cy="722376"/>
          </a:xfrm>
          <a:prstGeom prst="rect">
            <a:avLst/>
          </a:prstGeom>
          <a:solidFill>
            <a:srgbClr val="4A6B5D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539228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489186" y="4096512"/>
            <a:ext cx="1803654" cy="722376"/>
          </a:xfrm>
          <a:prstGeom prst="rect">
            <a:avLst/>
          </a:prstGeom>
          <a:solidFill>
            <a:srgbClr val="E8EFE7"/>
          </a:solidFill>
          <a:ln w="9525">
            <a:solidFill>
              <a:srgbClr val="8AA39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89186" y="4096512"/>
            <a:ext cx="180365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Jeopardy: claim a cell by producing the evidence. The room verifies: evidenced, thin, or empty.</a:t>
            </a:r>
            <a:endParaRPr lang="en-US" sz="10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7A7F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honest “empty” also scores. The game rewards the audit, not the bluff. These rows are examples; yours are the room's case studies.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F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DELIVERABLE OF THE WEEK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424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weakest cell,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named in writing.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822960" y="4663440"/>
            <a:ext cx="914400" cy="0"/>
          </a:xfrm>
          <a:prstGeom prst="line">
            <a:avLst/>
          </a:prstGeom>
          <a:noFill/>
          <a:ln w="31750">
            <a:solidFill>
              <a:srgbClr val="8C3A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8463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student leaves with the emptiest cell of their own matrix named. That cell is the HW2 target, and the break exists to fill it.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BREAK, AND THE EXAM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THE LAST TEACHING SESSION BEFORE THE WINDOW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005840"/>
            <a:ext cx="10543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things on the record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HW2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MON 4 JAN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23360" y="187452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revision page per case study, plus one Section B essay plan aimed at the named weakest cell. Three to four hours across eleven days.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324612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429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EoT announced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22960" y="39044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 FROM MON 11 JAN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23360" y="342900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24313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two-hour Component 2. Today is the last teaching session that clears the notice window; the format is A4's plus Section B, nothing new.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960" y="4800600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4A6B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TRAVELS HOME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793992" y="457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2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REVISION SPINE, IN DOCUMENTS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22960" y="786384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143000"/>
            <a:ext cx="3270504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6" name="Image 0" descr="/Users/dogan/Documents/Vaults/Courses/wiki/classes/media-studies/decks/_build/img/w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2066638"/>
            <a:ext cx="3014472" cy="21303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519379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theory-card deck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5504688"/>
            <a:ext cx="3270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2.1, built since Lesson 02: the consolidation spine, due back full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459224" y="1143000"/>
            <a:ext cx="3270504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0" name="Image 1" descr="/Users/dogan/Documents/Vaults/Courses/wiki/classes/media-studies/decks/_build/img/ws5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240" y="2066638"/>
            <a:ext cx="3014472" cy="21303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459224" y="519379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model page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459224" y="5504688"/>
            <a:ext cx="3270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 5.3, the National Geographic sheet: what one revision page contains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8095488" y="1143000"/>
            <a:ext cx="3270504" cy="3977640"/>
          </a:xfrm>
          <a:prstGeom prst="rect">
            <a:avLst/>
          </a:prstGeom>
          <a:solidFill>
            <a:srgbClr val="FAF8F1"/>
          </a:solidFill>
          <a:ln w="9525">
            <a:solidFill>
              <a:srgbClr val="D9D4C4"/>
            </a:solidFill>
            <a:prstDash val="solid"/>
          </a:ln>
        </p:spPr>
      </p:sp>
      <p:pic>
        <p:nvPicPr>
          <p:cNvPr id="14" name="Image 2" descr="/Users/dogan/Documents/Vaults/Courses/wiki/classes/media-studies/decks/_build/img/qp21-cove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4891" y="1271016"/>
            <a:ext cx="2631697" cy="372160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095488" y="5193792"/>
            <a:ext cx="3270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4A6B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paper it feeds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095488" y="5504688"/>
            <a:ext cx="3270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June 2024 Paper 2 cover: two hours, two questions, fifty marks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D9D4C4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7A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A3C1A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6B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50" kern="0" dirty="0">
                <a:solidFill>
                  <a:srgbClr val="FAF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3108960" cy="0"/>
          </a:xfrm>
          <a:prstGeom prst="line">
            <a:avLst/>
          </a:prstGeom>
          <a:noFill/>
          <a:ln w="9525">
            <a:solidFill>
              <a:srgbClr val="8AA39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51760"/>
            <a:ext cx="10058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dirty="0">
                <a:solidFill>
                  <a:srgbClr val="FAF8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 Rehearsal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18. Making the exam boring: no surprises left in format, timing, or the mark scheme.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822960" y="6382512"/>
            <a:ext cx="10543032" cy="0"/>
          </a:xfrm>
          <a:prstGeom prst="line">
            <a:avLst/>
          </a:prstGeom>
          <a:noFill/>
          <a:ln w="9525">
            <a:solidFill>
              <a:srgbClr val="6E8A7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50" kern="0" dirty="0">
                <a:solidFill>
                  <a:srgbClr val="E8EF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STUDIES 9607 · SEMESTER 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268712" y="63550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E8EFE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2026-08-25T13:06:08Z</dcterms:created>
  <dcterms:modified xsi:type="dcterms:W3CDTF">2026-08-25T13:06:08Z</dcterms:modified>
</cp:coreProperties>
</file>