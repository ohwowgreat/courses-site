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two-year shape on day one. The single submission point is what makes the first semester matter: work made now goes in the same box as work made in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entry, June 2028. There is no AS award to bank and nothing is carried forward separately: all three components reach the board together at the end of April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closer to what a portfolio page looks like than a finished painting is. The examiner wants to see the thinking, and the thinking looks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four stages recur in every component and every semester. Learn the shape once and the rest of the course is a variation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five stages recur every semester. Learning the pipeline in S1 is what makes C3 possible in S2, when the theme is yours instead of the menu's.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822960"/>
            <a:ext cx="2926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INTERNATIONAL · 9479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&amp; Design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the A Level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  ·  Three components  ·  One submission, June 2028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640080"/>
            <a:ext cx="38404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years.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submission.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3954bcc8-cc8d-4110-bd5a-74962061a805/scratchpad/decks/img/crops/rubens-anatomical-studie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WORK LOOKS LIKE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Studies made to solve a problem, not to be admired.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Paul Rubens, anatomical studies.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COMPONENTS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are actually assessed 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Portfolio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24328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selection of your work over the course. Set here, marked by Cambridge. 60 marks, weighted to 90, worth 30 per cent of the A Level.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Externally Set Assignment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25146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624328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question paper with three themes to choose from, supporting studies, and a final outcome made in a 15-hour supervised test. 60 marks, 20 per cent.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Personal Investigation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25146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624328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theme: a body of visual work with a written discourse of 2000 to 2500 words. 75 marks, weighted to 150, and half the A Level.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YEARS, FOUR SEMESTERS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COMPONENT, WHEN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 from here to the 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Portfolio. The pipeline run once, start to finish, on a theme you choose from a menu.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35915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2670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part one. You propose your own theme, lock it, and build to a mid-point portfolio.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112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88920" y="3511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2027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35112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part two. Two final outcomes and the research paper, submitted internally in December.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52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88920" y="4352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2028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43525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C2. The question paper, the 15-hour test, then all three components go to the board.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22960" y="48828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ASSESSMENT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FOUR, EVERY COMPONENT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Record, Explore, Develop, Present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74520" y="1938528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74520" y="2487168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and record from first-hand sources. Your own photographs, your own studies, made from the thing itself.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20356" y="1938528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20356" y="2487168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media and ideas, including tests that fail. Artists are studied here, for the problem they solve.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74520" y="4133088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74520" y="4681728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from studies to a resolved idea, visibly. Your annotation is marked inside this one, and it must be typed.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20356" y="4133088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20356" y="4681728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it to a finish and show it so a stranger can follow it. Sequence, documentation, bibliography.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IN PICTURES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WORKS, SHOWN ENTIRE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Record, explore, develop, present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430018" cy="32918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3954bcc8-cc8d-4110-bd5a-74962061a805/scratchpad/decks/img/rubens-three-fig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474" y="1682496"/>
            <a:ext cx="2008991" cy="3035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9834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30352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thing itself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7298" y="1554480"/>
            <a:ext cx="2430018" cy="32918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private/tmp/claude-501/-Users-dogan-Documents-Vaults-Courses/3954bcc8-cc8d-4110-bd5a-74962061a805/scratchpad/decks/img/talbot-articles-of-glas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314" y="2236813"/>
            <a:ext cx="2173986" cy="192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298" y="49834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7298" y="530352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what the medium does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31636" y="1554480"/>
            <a:ext cx="2430018" cy="32918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private/tmp/claude-501/-Users-dogan-Documents-Vaults-Courses/3954bcc8-cc8d-4110-bd5a-74962061a805/scratchpad/decks/img/repin-stoking-fi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403059"/>
            <a:ext cx="2173986" cy="15946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31636" y="49834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31636" y="530352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Decide, and show the deciding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935974" y="1554480"/>
            <a:ext cx="2430018" cy="32918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3" descr="/private/tmp/claude-501/-Users-dogan-Documents-Vaults-Courses/3954bcc8-cc8d-4110-bd5a-74962061a805/scratchpad/decks/img/mucha-cherry-blossom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236" y="1682496"/>
            <a:ext cx="2121494" cy="30358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35974" y="498348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935974" y="5303520"/>
            <a:ext cx="2430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it, and sequence it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22960" y="56692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Rubens, Talbot, Repin and Mucha, all public domain. Shown whole, as study material rather than as a style to copy.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Stamina is the content.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sustained study, Unit 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3954bcc8-cc8d-4110-bd5a-74962061a805/scratchpad/decks/img/crops/repin-tolstoy_a6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5240" y="6126480"/>
            <a:ext cx="43708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 Repin, Tolstoy at Work, 1891.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1 · FIVE UNITS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1264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18872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pipeline,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08760" y="2926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on the theme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508760" y="34930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Recording and sustained study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4059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508760" y="40599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and artist study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960" y="46268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508760" y="46268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2960" y="5193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508760" y="51937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outcome and portfolio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 GRADE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THE CAMBRIDGE MARK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parts, one hundred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assessments, one at the close of each unit, announced at least a week ahead.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50158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550158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0158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Skills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50158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smaller checks between them: studies, analyses, consultations.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77356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6277356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7356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Behaviour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77356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Posting on time, materials, working through a studio session.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04554" y="2011680"/>
            <a:ext cx="2361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9004554" y="2971800"/>
            <a:ext cx="236143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4554" y="3108960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Term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04554" y="352044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Final: your portfolio so far, judged against the Cambridge criteria.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WORTH KNOWING ON DAY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CAMBRIDGE, NOT 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that catch people out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is digital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7282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it. No hyperlinks and no QR codes: if the examiner cannot see it in the file, it does not exist.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35000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is typed, and marked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25511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assessed inside AO3. Handwritten notes on a page do not count as annotation.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1729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 goes to two components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37413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piece that appears in your Portfolio cannot reappear in the Personal Investigation.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99592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from first-hand sources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0" y="41970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photographs and your own studies. Working from someone else's image caps AO1.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81888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Misusing generative AI is plagiarism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0" y="50200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Treated exactly as any other plagiarism would be.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" y="564184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theme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survive.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months on one subject. Choose it against the criteria, not by mood.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2026-07-26T10:23:11Z</dcterms:created>
  <dcterms:modified xsi:type="dcterms:W3CDTF">2026-07-26T10:23:11Z</dcterms:modified>
</cp:coreProperties>
</file>