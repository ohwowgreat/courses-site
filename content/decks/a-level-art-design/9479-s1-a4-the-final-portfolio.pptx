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attainment marked across all four objectives. It closes Semester 1 and it is the Portfolio that Cambridge eventually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submission week is taught, session by session, precisely so that nobody spends the last night assembling a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Talbot arranged and lit these objects deliberately to record them clearly. The same discipline applies to photographing your own work: this is a record, not a mood 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Sequencing is done on the Tuesday of submission week, in class, with everything laid out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0" y="822960"/>
            <a:ext cx="3291840" cy="4937760"/>
          </a:xfrm>
          <a:prstGeom prst="rect">
            <a:avLst/>
          </a:prstGeom>
          <a:noFill/>
          <a:ln/>
        </p:spPr>
        <p:txBody>
          <a:bodyPr wrap="square" lIns="0" tIns="0" rIns="0" bIns="0" rtlCol="0" anchor="ctr"/>
          <a:lstStyle/>
          <a:p>
            <a:pPr algn="ctr" indent="0" marL="0">
              <a:buNone/>
            </a:pPr>
            <a:r>
              <a:rPr lang="en-US" sz="30000" dirty="0">
                <a:solidFill>
                  <a:srgbClr val="A3C1AD"/>
                </a:solidFill>
                <a:latin typeface="Georgia" pitchFamily="34" charset="0"/>
                <a:ea typeface="Georgia" pitchFamily="34" charset="-122"/>
                <a:cs typeface="Georgia" pitchFamily="34" charset="-120"/>
              </a:rPr>
              <a:t>IV</a:t>
            </a:r>
            <a:endParaRPr lang="en-US" sz="30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ATTAINMENT 4 · COMPONENT 1</a:t>
            </a:r>
            <a:endParaRPr lang="en-US" sz="1100" dirty="0"/>
          </a:p>
        </p:txBody>
      </p:sp>
      <p:sp>
        <p:nvSpPr>
          <p:cNvPr id="4" name="Text 2"/>
          <p:cNvSpPr/>
          <p:nvPr/>
        </p:nvSpPr>
        <p:spPr>
          <a:xfrm>
            <a:off x="822960" y="1737360"/>
            <a:ext cx="7680960" cy="2377440"/>
          </a:xfrm>
          <a:prstGeom prst="rect">
            <a:avLst/>
          </a:prstGeom>
          <a:noFill/>
          <a:ln/>
        </p:spPr>
        <p:txBody>
          <a:bodyPr wrap="square" lIns="0" tIns="0" rIns="0" bIns="0" rtlCol="0" anchor="t"/>
          <a:lstStyle/>
          <a:p>
            <a:pPr indent="0" marL="0">
              <a:lnSpc>
                <a:spcPts val="5800"/>
              </a:lnSpc>
              <a:buNone/>
            </a:pPr>
            <a:r>
              <a:rPr lang="en-US" sz="5800" dirty="0">
                <a:solidFill>
                  <a:srgbClr val="24313F"/>
                </a:solidFill>
                <a:latin typeface="Georgia" pitchFamily="34" charset="0"/>
                <a:ea typeface="Georgia" pitchFamily="34" charset="-122"/>
                <a:cs typeface="Georgia" pitchFamily="34" charset="-120"/>
              </a:rPr>
              <a:t>The Final</a:t>
            </a:r>
            <a:endParaRPr lang="en-US" sz="5800" dirty="0"/>
          </a:p>
          <a:p>
            <a:pPr indent="0" marL="0">
              <a:lnSpc>
                <a:spcPts val="5800"/>
              </a:lnSpc>
              <a:buNone/>
            </a:pPr>
            <a:r>
              <a:rPr lang="en-US" sz="5800" dirty="0">
                <a:solidFill>
                  <a:srgbClr val="24313F"/>
                </a:solidFill>
                <a:latin typeface="Georgia" pitchFamily="34" charset="0"/>
                <a:ea typeface="Georgia" pitchFamily="34" charset="-122"/>
                <a:cs typeface="Georgia" pitchFamily="34" charset="-120"/>
              </a:rPr>
              <a:t>Portfolio</a:t>
            </a:r>
            <a:endParaRPr lang="en-US" sz="58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772400" cy="457200"/>
          </a:xfrm>
          <a:prstGeom prst="rect">
            <a:avLst/>
          </a:prstGeom>
          <a:noFill/>
          <a:ln/>
        </p:spPr>
        <p:txBody>
          <a:bodyPr wrap="square" lIns="0" tIns="0" rIns="0" bIns="0" rtlCol="0" anchor="ctr"/>
          <a:lstStyle/>
          <a:p>
            <a:pPr indent="0" marL="0">
              <a:buNone/>
            </a:pPr>
            <a:r>
              <a:rPr lang="en-US" sz="2100" i="1" dirty="0">
                <a:solidFill>
                  <a:srgbClr val="7A7F72"/>
                </a:solidFill>
                <a:latin typeface="Georgia" pitchFamily="34" charset="0"/>
                <a:ea typeface="Georgia" pitchFamily="34" charset="-122"/>
                <a:cs typeface="Georgia" pitchFamily="34" charset="-120"/>
              </a:rPr>
              <a:t>The semester, assembled and submitted</a:t>
            </a:r>
            <a:endParaRPr lang="en-US" sz="2100" dirty="0"/>
          </a:p>
        </p:txBody>
      </p:sp>
      <p:sp>
        <p:nvSpPr>
          <p:cNvPr id="7" name="Text 5"/>
          <p:cNvSpPr/>
          <p:nvPr/>
        </p:nvSpPr>
        <p:spPr>
          <a:xfrm>
            <a:off x="822960" y="5074920"/>
            <a:ext cx="82296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Sits Thursday 7 January  ·  Marked across AO1 to AO4  ·  Announced Monday 21 December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7680960" y="640080"/>
            <a:ext cx="4023360" cy="5577840"/>
          </a:xfrm>
          <a:prstGeom prst="rect">
            <a:avLst/>
          </a:prstGeom>
          <a:noFill/>
          <a:ln/>
        </p:spPr>
        <p:txBody>
          <a:bodyPr wrap="square" lIns="0" tIns="0" rIns="0" bIns="0" rtlCol="0" anchor="ctr"/>
          <a:lstStyle/>
          <a:p>
            <a:pPr algn="ctr" indent="0" marL="0">
              <a:buNone/>
            </a:pPr>
            <a:r>
              <a:rPr lang="en-US" sz="20000" dirty="0">
                <a:solidFill>
                  <a:srgbClr val="5C7A6B"/>
                </a:solidFill>
                <a:latin typeface="Georgia" pitchFamily="34" charset="0"/>
                <a:ea typeface="Georgia" pitchFamily="34" charset="-122"/>
                <a:cs typeface="Georgia" pitchFamily="34" charset="-120"/>
              </a:rPr>
              <a:t>AO4</a:t>
            </a:r>
            <a:endParaRPr lang="en-US" sz="20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WHAT IS BEING MARKED</a:t>
            </a:r>
            <a:endParaRPr lang="en-US" sz="1100" dirty="0"/>
          </a:p>
        </p:txBody>
      </p:sp>
      <p:sp>
        <p:nvSpPr>
          <p:cNvPr id="4" name="Shape 2"/>
          <p:cNvSpPr/>
          <p:nvPr/>
        </p:nvSpPr>
        <p:spPr>
          <a:xfrm>
            <a:off x="822960" y="2651760"/>
            <a:ext cx="4206240" cy="0"/>
          </a:xfrm>
          <a:prstGeom prst="line">
            <a:avLst/>
          </a:prstGeom>
          <a:noFill/>
          <a:ln w="9525">
            <a:solidFill>
              <a:srgbClr val="8AA394"/>
            </a:solidFill>
            <a:prstDash val="solid"/>
          </a:ln>
        </p:spPr>
      </p:sp>
      <p:sp>
        <p:nvSpPr>
          <p:cNvPr id="5" name="Text 3"/>
          <p:cNvSpPr/>
          <p:nvPr/>
        </p:nvSpPr>
        <p:spPr>
          <a:xfrm>
            <a:off x="822960" y="2788920"/>
            <a:ext cx="7315200" cy="2194560"/>
          </a:xfrm>
          <a:prstGeom prst="rect">
            <a:avLst/>
          </a:prstGeom>
          <a:noFill/>
          <a:ln/>
        </p:spPr>
        <p:txBody>
          <a:bodyPr wrap="square" lIns="0" tIns="0" rIns="0" bIns="0" rtlCol="0" anchor="t"/>
          <a:lstStyle/>
          <a:p>
            <a:pPr indent="0" marL="0">
              <a:lnSpc>
                <a:spcPts val="4600"/>
              </a:lnSpc>
              <a:buNone/>
            </a:pPr>
            <a:r>
              <a:rPr lang="en-US" sz="4400" dirty="0">
                <a:solidFill>
                  <a:srgbClr val="FAF8F1"/>
                </a:solidFill>
                <a:latin typeface="Georgia" pitchFamily="34" charset="0"/>
                <a:ea typeface="Georgia" pitchFamily="34" charset="-122"/>
                <a:cs typeface="Georgia" pitchFamily="34" charset="-120"/>
              </a:rPr>
              <a:t>Submission is a</a:t>
            </a:r>
            <a:endParaRPr lang="en-US" sz="4400" dirty="0"/>
          </a:p>
          <a:p>
            <a:pPr indent="0" marL="0">
              <a:lnSpc>
                <a:spcPts val="4600"/>
              </a:lnSpc>
              <a:buNone/>
            </a:pPr>
            <a:r>
              <a:rPr lang="en-US" sz="4400" dirty="0">
                <a:solidFill>
                  <a:srgbClr val="FAF8F1"/>
                </a:solidFill>
                <a:latin typeface="Georgia" pitchFamily="34" charset="0"/>
                <a:ea typeface="Georgia" pitchFamily="34" charset="-122"/>
                <a:cs typeface="Georgia" pitchFamily="34" charset="-120"/>
              </a:rPr>
              <a:t>supervised craft,</a:t>
            </a:r>
            <a:endParaRPr lang="en-US" sz="4400" dirty="0"/>
          </a:p>
          <a:p>
            <a:pPr indent="0" marL="0">
              <a:lnSpc>
                <a:spcPts val="4600"/>
              </a:lnSpc>
              <a:buNone/>
            </a:pPr>
            <a:r>
              <a:rPr lang="en-US" sz="4400" dirty="0">
                <a:solidFill>
                  <a:srgbClr val="FAF8F1"/>
                </a:solidFill>
                <a:latin typeface="Georgia" pitchFamily="34" charset="0"/>
                <a:ea typeface="Georgia" pitchFamily="34" charset="-122"/>
                <a:cs typeface="Georgia" pitchFamily="34" charset="-120"/>
              </a:rPr>
              <a:t>not a scramble.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BRIEF</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EVERYTHING, IN ORDER</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What you hand in</a:t>
            </a:r>
            <a:endParaRPr lang="en-US" sz="3200" dirty="0"/>
          </a:p>
        </p:txBody>
      </p:sp>
      <p:sp>
        <p:nvSpPr>
          <p:cNvPr id="6" name="Text 4"/>
          <p:cNvSpPr/>
          <p:nvPr/>
        </p:nvSpPr>
        <p:spPr>
          <a:xfrm>
            <a:off x="822960" y="1783080"/>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01</a:t>
            </a:r>
            <a:endParaRPr lang="en-US" sz="2000" dirty="0"/>
          </a:p>
        </p:txBody>
      </p:sp>
      <p:sp>
        <p:nvSpPr>
          <p:cNvPr id="7" name="Text 5"/>
          <p:cNvSpPr/>
          <p:nvPr/>
        </p:nvSpPr>
        <p:spPr>
          <a:xfrm>
            <a:off x="1554480" y="1783080"/>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The resolved outcome</a:t>
            </a:r>
            <a:endParaRPr lang="en-US" sz="1250" dirty="0"/>
          </a:p>
        </p:txBody>
      </p:sp>
      <p:sp>
        <p:nvSpPr>
          <p:cNvPr id="8" name="Text 6"/>
          <p:cNvSpPr/>
          <p:nvPr/>
        </p:nvSpPr>
        <p:spPr>
          <a:xfrm>
            <a:off x="5212080" y="1709928"/>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Built in one sustained run, focal areas resolved, the whole surface unified.</a:t>
            </a:r>
            <a:endParaRPr lang="en-US" sz="1450" dirty="0"/>
          </a:p>
        </p:txBody>
      </p:sp>
      <p:sp>
        <p:nvSpPr>
          <p:cNvPr id="9" name="Shape 7"/>
          <p:cNvSpPr/>
          <p:nvPr/>
        </p:nvSpPr>
        <p:spPr>
          <a:xfrm>
            <a:off x="822960" y="2368296"/>
            <a:ext cx="10543032" cy="0"/>
          </a:xfrm>
          <a:prstGeom prst="line">
            <a:avLst/>
          </a:prstGeom>
          <a:noFill/>
          <a:ln w="9525">
            <a:solidFill>
              <a:srgbClr val="D9D4C4"/>
            </a:solidFill>
            <a:prstDash val="solid"/>
          </a:ln>
        </p:spPr>
      </p:sp>
      <p:sp>
        <p:nvSpPr>
          <p:cNvPr id="10" name="Text 8"/>
          <p:cNvSpPr/>
          <p:nvPr/>
        </p:nvSpPr>
        <p:spPr>
          <a:xfrm>
            <a:off x="822960" y="2624328"/>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02</a:t>
            </a:r>
            <a:endParaRPr lang="en-US" sz="2000" dirty="0"/>
          </a:p>
        </p:txBody>
      </p:sp>
      <p:sp>
        <p:nvSpPr>
          <p:cNvPr id="11" name="Text 9"/>
          <p:cNvSpPr/>
          <p:nvPr/>
        </p:nvSpPr>
        <p:spPr>
          <a:xfrm>
            <a:off x="1554480" y="2624328"/>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The supporting portfolio</a:t>
            </a:r>
            <a:endParaRPr lang="en-US" sz="1250" dirty="0"/>
          </a:p>
        </p:txBody>
      </p:sp>
      <p:sp>
        <p:nvSpPr>
          <p:cNvPr id="12" name="Text 10"/>
          <p:cNvSpPr/>
          <p:nvPr/>
        </p:nvSpPr>
        <p:spPr>
          <a:xfrm>
            <a:off x="5212080" y="2551176"/>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Recording, exploration, artist work and development, sequenced so it reads in order to a stranger.</a:t>
            </a:r>
            <a:endParaRPr lang="en-US" sz="1450" dirty="0"/>
          </a:p>
        </p:txBody>
      </p:sp>
      <p:sp>
        <p:nvSpPr>
          <p:cNvPr id="13" name="Shape 11"/>
          <p:cNvSpPr/>
          <p:nvPr/>
        </p:nvSpPr>
        <p:spPr>
          <a:xfrm>
            <a:off x="822960" y="3209544"/>
            <a:ext cx="10543032" cy="0"/>
          </a:xfrm>
          <a:prstGeom prst="line">
            <a:avLst/>
          </a:prstGeom>
          <a:noFill/>
          <a:ln w="9525">
            <a:solidFill>
              <a:srgbClr val="D9D4C4"/>
            </a:solidFill>
            <a:prstDash val="solid"/>
          </a:ln>
        </p:spPr>
      </p:sp>
      <p:sp>
        <p:nvSpPr>
          <p:cNvPr id="14" name="Text 12"/>
          <p:cNvSpPr/>
          <p:nvPr/>
        </p:nvSpPr>
        <p:spPr>
          <a:xfrm>
            <a:off x="822960" y="3465576"/>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03</a:t>
            </a:r>
            <a:endParaRPr lang="en-US" sz="2000" dirty="0"/>
          </a:p>
        </p:txBody>
      </p:sp>
      <p:sp>
        <p:nvSpPr>
          <p:cNvPr id="15" name="Text 13"/>
          <p:cNvSpPr/>
          <p:nvPr/>
        </p:nvSpPr>
        <p:spPr>
          <a:xfrm>
            <a:off x="1554480" y="3465576"/>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Documentation</a:t>
            </a:r>
            <a:endParaRPr lang="en-US" sz="1250" dirty="0"/>
          </a:p>
        </p:txBody>
      </p:sp>
      <p:sp>
        <p:nvSpPr>
          <p:cNvPr id="16" name="Text 14"/>
          <p:cNvSpPr/>
          <p:nvPr/>
        </p:nvSpPr>
        <p:spPr>
          <a:xfrm>
            <a:off x="5212080" y="3392424"/>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Every piece photographed as the version the examiner sees. The photograph is the work, at this point.</a:t>
            </a:r>
            <a:endParaRPr lang="en-US" sz="1450" dirty="0"/>
          </a:p>
        </p:txBody>
      </p:sp>
      <p:sp>
        <p:nvSpPr>
          <p:cNvPr id="17" name="Shape 15"/>
          <p:cNvSpPr/>
          <p:nvPr/>
        </p:nvSpPr>
        <p:spPr>
          <a:xfrm>
            <a:off x="822960" y="4050792"/>
            <a:ext cx="10543032" cy="0"/>
          </a:xfrm>
          <a:prstGeom prst="line">
            <a:avLst/>
          </a:prstGeom>
          <a:noFill/>
          <a:ln w="9525">
            <a:solidFill>
              <a:srgbClr val="D9D4C4"/>
            </a:solidFill>
            <a:prstDash val="solid"/>
          </a:ln>
        </p:spPr>
      </p:sp>
      <p:sp>
        <p:nvSpPr>
          <p:cNvPr id="18" name="Text 16"/>
          <p:cNvSpPr/>
          <p:nvPr/>
        </p:nvSpPr>
        <p:spPr>
          <a:xfrm>
            <a:off x="822960" y="4306824"/>
            <a:ext cx="640080" cy="365760"/>
          </a:xfrm>
          <a:prstGeom prst="rect">
            <a:avLst/>
          </a:prstGeom>
          <a:noFill/>
          <a:ln/>
        </p:spPr>
        <p:txBody>
          <a:bodyPr wrap="square" lIns="0" tIns="0" rIns="0" bIns="0" rtlCol="0" anchor="ctr"/>
          <a:lstStyle/>
          <a:p>
            <a:pPr indent="0" marL="0">
              <a:buNone/>
            </a:pPr>
            <a:r>
              <a:rPr lang="en-US" sz="2000" dirty="0">
                <a:solidFill>
                  <a:srgbClr val="A3C1AD"/>
                </a:solidFill>
                <a:latin typeface="Georgia" pitchFamily="34" charset="0"/>
                <a:ea typeface="Georgia" pitchFamily="34" charset="-122"/>
                <a:cs typeface="Georgia" pitchFamily="34" charset="-120"/>
              </a:rPr>
              <a:t>04</a:t>
            </a:r>
            <a:endParaRPr lang="en-US" sz="2000" dirty="0"/>
          </a:p>
        </p:txBody>
      </p:sp>
      <p:sp>
        <p:nvSpPr>
          <p:cNvPr id="19" name="Text 17"/>
          <p:cNvSpPr/>
          <p:nvPr/>
        </p:nvSpPr>
        <p:spPr>
          <a:xfrm>
            <a:off x="1554480" y="4306824"/>
            <a:ext cx="3566160" cy="365760"/>
          </a:xfrm>
          <a:prstGeom prst="rect">
            <a:avLst/>
          </a:prstGeom>
          <a:noFill/>
          <a:ln/>
        </p:spPr>
        <p:txBody>
          <a:bodyPr wrap="square" lIns="0" tIns="0" rIns="0" bIns="0" rtlCol="0" anchor="ctr"/>
          <a:lstStyle/>
          <a:p>
            <a:pPr indent="0" marL="0">
              <a:buNone/>
            </a:pPr>
            <a:r>
              <a:rPr lang="en-US" sz="1250" b="1" spc="100" kern="0" dirty="0">
                <a:solidFill>
                  <a:srgbClr val="4A6B5D"/>
                </a:solidFill>
                <a:latin typeface="Arial" pitchFamily="34" charset="0"/>
                <a:ea typeface="Arial" pitchFamily="34" charset="-122"/>
                <a:cs typeface="Arial" pitchFamily="34" charset="-120"/>
              </a:rPr>
              <a:t>The edit</a:t>
            </a:r>
            <a:endParaRPr lang="en-US" sz="1250" dirty="0"/>
          </a:p>
        </p:txBody>
      </p:sp>
      <p:sp>
        <p:nvSpPr>
          <p:cNvPr id="20" name="Text 18"/>
          <p:cNvSpPr/>
          <p:nvPr/>
        </p:nvSpPr>
        <p:spPr>
          <a:xfrm>
            <a:off x="5212080" y="4233672"/>
            <a:ext cx="612648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Whatever does not earn its place, cut. A shorter folder that argues beats a longer one that repeats.</a:t>
            </a:r>
            <a:endParaRPr lang="en-US" sz="1450" dirty="0"/>
          </a:p>
        </p:txBody>
      </p:sp>
      <p:sp>
        <p:nvSpPr>
          <p:cNvPr id="21" name="Shape 19"/>
          <p:cNvSpPr/>
          <p:nvPr/>
        </p:nvSpPr>
        <p:spPr>
          <a:xfrm>
            <a:off x="822960" y="4892040"/>
            <a:ext cx="10543032" cy="0"/>
          </a:xfrm>
          <a:prstGeom prst="line">
            <a:avLst/>
          </a:prstGeom>
          <a:noFill/>
          <a:ln w="9525">
            <a:solidFill>
              <a:srgbClr val="D9D4C4"/>
            </a:solidFill>
            <a:prstDash val="solid"/>
          </a:ln>
        </p:spPr>
      </p:sp>
      <p:sp>
        <p:nvSpPr>
          <p:cNvPr id="22" name="Shape 20"/>
          <p:cNvSpPr/>
          <p:nvPr/>
        </p:nvSpPr>
        <p:spPr>
          <a:xfrm>
            <a:off x="822960" y="6382512"/>
            <a:ext cx="10543032" cy="0"/>
          </a:xfrm>
          <a:prstGeom prst="line">
            <a:avLst/>
          </a:prstGeom>
          <a:noFill/>
          <a:ln w="9525">
            <a:solidFill>
              <a:srgbClr val="D9D4C4"/>
            </a:solidFill>
            <a:prstDash val="solid"/>
          </a:ln>
        </p:spPr>
      </p:sp>
      <p:sp>
        <p:nvSpPr>
          <p:cNvPr id="23" name="Text 2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4" name="Text 2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talbot-articles-of-glass_a1777.jpg">    </p:cNvPr>
          <p:cNvPicPr>
            <a:picLocks noChangeAspect="1"/>
          </p:cNvPicPr>
          <p:nvPr/>
        </p:nvPicPr>
        <p:blipFill>
          <a:blip r:embed="rId1"/>
          <a:stretch>
            <a:fillRect/>
          </a:stretch>
        </p:blipFill>
        <p:spPr>
          <a:xfrm>
            <a:off x="0" y="0"/>
            <a:ext cx="12188952" cy="6858000"/>
          </a:xfrm>
          <a:prstGeom prst="rect">
            <a:avLst/>
          </a:prstGeom>
        </p:spPr>
      </p:pic>
      <p:sp>
        <p:nvSpPr>
          <p:cNvPr id="3" name="Shape 0"/>
          <p:cNvSpPr/>
          <p:nvPr/>
        </p:nvSpPr>
        <p:spPr>
          <a:xfrm>
            <a:off x="502920" y="502920"/>
            <a:ext cx="5120640" cy="502920"/>
          </a:xfrm>
          <a:prstGeom prst="rect">
            <a:avLst/>
          </a:prstGeom>
          <a:solidFill>
            <a:srgbClr val="FAF8F1"/>
          </a:solidFill>
          <a:ln/>
        </p:spPr>
      </p:sp>
      <p:sp>
        <p:nvSpPr>
          <p:cNvPr id="4" name="Text 1"/>
          <p:cNvSpPr/>
          <p:nvPr/>
        </p:nvSpPr>
        <p:spPr>
          <a:xfrm>
            <a:off x="704088" y="521208"/>
            <a:ext cx="484632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DOCUMENTATION</a:t>
            </a:r>
            <a:endParaRPr lang="en-US" sz="1100" dirty="0"/>
          </a:p>
        </p:txBody>
      </p:sp>
      <p:sp>
        <p:nvSpPr>
          <p:cNvPr id="5" name="Shape 2"/>
          <p:cNvSpPr/>
          <p:nvPr/>
        </p:nvSpPr>
        <p:spPr>
          <a:xfrm>
            <a:off x="502920" y="5486400"/>
            <a:ext cx="7315200" cy="932688"/>
          </a:xfrm>
          <a:prstGeom prst="rect">
            <a:avLst/>
          </a:prstGeom>
          <a:solidFill>
            <a:srgbClr val="FAF8F1"/>
          </a:solidFill>
          <a:ln/>
        </p:spPr>
      </p:sp>
      <p:sp>
        <p:nvSpPr>
          <p:cNvPr id="6" name="Shape 3"/>
          <p:cNvSpPr/>
          <p:nvPr/>
        </p:nvSpPr>
        <p:spPr>
          <a:xfrm>
            <a:off x="704088" y="5669280"/>
            <a:ext cx="731520" cy="0"/>
          </a:xfrm>
          <a:prstGeom prst="line">
            <a:avLst/>
          </a:prstGeom>
          <a:noFill/>
          <a:ln w="28575">
            <a:solidFill>
              <a:srgbClr val="8C3A38"/>
            </a:solidFill>
            <a:prstDash val="solid"/>
          </a:ln>
        </p:spPr>
      </p:sp>
      <p:sp>
        <p:nvSpPr>
          <p:cNvPr id="7" name="Text 4"/>
          <p:cNvSpPr/>
          <p:nvPr/>
        </p:nvSpPr>
        <p:spPr>
          <a:xfrm>
            <a:off x="704088" y="5724144"/>
            <a:ext cx="6912864" cy="457200"/>
          </a:xfrm>
          <a:prstGeom prst="rect">
            <a:avLst/>
          </a:prstGeom>
          <a:noFill/>
          <a:ln/>
        </p:spPr>
        <p:txBody>
          <a:bodyPr wrap="square" lIns="0" tIns="0" rIns="0" bIns="0" rtlCol="0" anchor="ctr"/>
          <a:lstStyle/>
          <a:p>
            <a:pPr indent="0" marL="0">
              <a:buNone/>
            </a:pPr>
            <a:r>
              <a:rPr lang="en-US" sz="2000" dirty="0">
                <a:solidFill>
                  <a:srgbClr val="24313F"/>
                </a:solidFill>
                <a:latin typeface="Georgia" pitchFamily="34" charset="0"/>
                <a:ea typeface="Georgia" pitchFamily="34" charset="-122"/>
                <a:cs typeface="Georgia" pitchFamily="34" charset="-120"/>
              </a:rPr>
              <a:t>Photographed square, lit evenly, and cropped to the work itself.</a:t>
            </a:r>
            <a:endParaRPr lang="en-US" sz="2000" dirty="0"/>
          </a:p>
        </p:txBody>
      </p:sp>
      <p:sp>
        <p:nvSpPr>
          <p:cNvPr id="8" name="Text 5"/>
          <p:cNvSpPr/>
          <p:nvPr/>
        </p:nvSpPr>
        <p:spPr>
          <a:xfrm>
            <a:off x="704088" y="6144768"/>
            <a:ext cx="6912864" cy="256032"/>
          </a:xfrm>
          <a:prstGeom prst="rect">
            <a:avLst/>
          </a:prstGeom>
          <a:no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William Henry Fox Talbot, Articles of Glass, 1844. Public domain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AO4 · PRESENT, AND AO1 TO AO3 REVISITED</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ALL FOUR OBJECTIVES, ONE SUBMISSION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What the final attainment rewards</a:t>
            </a:r>
            <a:endParaRPr lang="en-US" sz="3200" dirty="0"/>
          </a:p>
        </p:txBody>
      </p:sp>
      <p:sp>
        <p:nvSpPr>
          <p:cNvPr id="6" name="Text 4"/>
          <p:cNvSpPr/>
          <p:nvPr/>
        </p:nvSpPr>
        <p:spPr>
          <a:xfrm>
            <a:off x="822960"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A sequence that reads</a:t>
            </a:r>
            <a:endParaRPr lang="en-US" sz="1350" dirty="0"/>
          </a:p>
        </p:txBody>
      </p:sp>
      <p:sp>
        <p:nvSpPr>
          <p:cNvPr id="7" name="Shape 5"/>
          <p:cNvSpPr/>
          <p:nvPr/>
        </p:nvSpPr>
        <p:spPr>
          <a:xfrm>
            <a:off x="822960" y="2651760"/>
            <a:ext cx="3246120" cy="0"/>
          </a:xfrm>
          <a:prstGeom prst="line">
            <a:avLst/>
          </a:prstGeom>
          <a:noFill/>
          <a:ln w="9525">
            <a:solidFill>
              <a:srgbClr val="D9D4C4"/>
            </a:solidFill>
            <a:prstDash val="solid"/>
          </a:ln>
        </p:spPr>
      </p:sp>
      <p:sp>
        <p:nvSpPr>
          <p:cNvPr id="8" name="Text 6"/>
          <p:cNvSpPr/>
          <p:nvPr/>
        </p:nvSpPr>
        <p:spPr>
          <a:xfrm>
            <a:off x="822960"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Someone who has never met you should be able to follow the journey in order, from intention through to outcome, without you explaining it.</a:t>
            </a:r>
            <a:endParaRPr lang="en-US" sz="1550" dirty="0"/>
          </a:p>
        </p:txBody>
      </p:sp>
      <p:sp>
        <p:nvSpPr>
          <p:cNvPr id="9" name="Text 7"/>
          <p:cNvSpPr/>
          <p:nvPr/>
        </p:nvSpPr>
        <p:spPr>
          <a:xfrm>
            <a:off x="4471416"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Honest documentation</a:t>
            </a:r>
            <a:endParaRPr lang="en-US" sz="1350" dirty="0"/>
          </a:p>
        </p:txBody>
      </p:sp>
      <p:sp>
        <p:nvSpPr>
          <p:cNvPr id="10" name="Shape 8"/>
          <p:cNvSpPr/>
          <p:nvPr/>
        </p:nvSpPr>
        <p:spPr>
          <a:xfrm>
            <a:off x="4471416" y="2651760"/>
            <a:ext cx="3246120" cy="0"/>
          </a:xfrm>
          <a:prstGeom prst="line">
            <a:avLst/>
          </a:prstGeom>
          <a:noFill/>
          <a:ln w="9525">
            <a:solidFill>
              <a:srgbClr val="D9D4C4"/>
            </a:solidFill>
            <a:prstDash val="solid"/>
          </a:ln>
        </p:spPr>
      </p:sp>
      <p:sp>
        <p:nvSpPr>
          <p:cNvPr id="11" name="Text 9"/>
          <p:cNvSpPr/>
          <p:nvPr/>
        </p:nvSpPr>
        <p:spPr>
          <a:xfrm>
            <a:off x="4471416"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The work photographed as it is, not as you wish it looked. Every page legible, every label present, nothing missing.</a:t>
            </a:r>
            <a:endParaRPr lang="en-US" sz="1550" dirty="0"/>
          </a:p>
        </p:txBody>
      </p:sp>
      <p:sp>
        <p:nvSpPr>
          <p:cNvPr id="12" name="Text 10"/>
          <p:cNvSpPr/>
          <p:nvPr/>
        </p:nvSpPr>
        <p:spPr>
          <a:xfrm>
            <a:off x="8119872" y="2011680"/>
            <a:ext cx="3246120" cy="640080"/>
          </a:xfrm>
          <a:prstGeom prst="rect">
            <a:avLst/>
          </a:prstGeom>
          <a:noFill/>
          <a:ln/>
        </p:spPr>
        <p:txBody>
          <a:bodyPr wrap="square" lIns="0" tIns="0" rIns="0" bIns="0" rtlCol="0" anchor="ctr"/>
          <a:lstStyle/>
          <a:p>
            <a:pPr indent="0" marL="0">
              <a:buNone/>
            </a:pPr>
            <a:r>
              <a:rPr lang="en-US" sz="1350" b="1" spc="120" kern="0" dirty="0">
                <a:solidFill>
                  <a:srgbClr val="4A6B5D"/>
                </a:solidFill>
                <a:latin typeface="Arial" pitchFamily="34" charset="0"/>
                <a:ea typeface="Arial" pitchFamily="34" charset="-122"/>
                <a:cs typeface="Arial" pitchFamily="34" charset="-120"/>
              </a:rPr>
              <a:t>An edited folder</a:t>
            </a:r>
            <a:endParaRPr lang="en-US" sz="1350" dirty="0"/>
          </a:p>
        </p:txBody>
      </p:sp>
      <p:sp>
        <p:nvSpPr>
          <p:cNvPr id="13" name="Shape 11"/>
          <p:cNvSpPr/>
          <p:nvPr/>
        </p:nvSpPr>
        <p:spPr>
          <a:xfrm>
            <a:off x="8119872" y="2651760"/>
            <a:ext cx="3246120" cy="0"/>
          </a:xfrm>
          <a:prstGeom prst="line">
            <a:avLst/>
          </a:prstGeom>
          <a:noFill/>
          <a:ln w="9525">
            <a:solidFill>
              <a:srgbClr val="D9D4C4"/>
            </a:solidFill>
            <a:prstDash val="solid"/>
          </a:ln>
        </p:spPr>
      </p:sp>
      <p:sp>
        <p:nvSpPr>
          <p:cNvPr id="14" name="Text 12"/>
          <p:cNvSpPr/>
          <p:nvPr/>
        </p:nvSpPr>
        <p:spPr>
          <a:xfrm>
            <a:off x="8119872" y="2788920"/>
            <a:ext cx="3246120" cy="2651760"/>
          </a:xfrm>
          <a:prstGeom prst="rect">
            <a:avLst/>
          </a:prstGeom>
          <a:noFill/>
          <a:ln/>
        </p:spPr>
        <p:txBody>
          <a:bodyPr wrap="square" lIns="0" tIns="0" rIns="0" bIns="0" rtlCol="0" anchor="t"/>
          <a:lstStyle/>
          <a:p>
            <a:pPr indent="0" marL="0">
              <a:lnSpc>
                <a:spcPts val="2100"/>
              </a:lnSpc>
              <a:buNone/>
            </a:pPr>
            <a:r>
              <a:rPr lang="en-US" sz="1550" dirty="0">
                <a:solidFill>
                  <a:srgbClr val="24313F"/>
                </a:solidFill>
                <a:latin typeface="Georgia" pitchFamily="34" charset="0"/>
                <a:ea typeface="Georgia" pitchFamily="34" charset="-122"/>
                <a:cs typeface="Georgia" pitchFamily="34" charset="-120"/>
              </a:rPr>
              <a:t>Presenting includes choosing. Three studies that show the development beat nine that show the same step three times.</a:t>
            </a:r>
            <a:endParaRPr lang="en-US" sz="1550" dirty="0"/>
          </a:p>
        </p:txBody>
      </p:sp>
      <p:sp>
        <p:nvSpPr>
          <p:cNvPr id="15" name="Shape 13"/>
          <p:cNvSpPr/>
          <p:nvPr/>
        </p:nvSpPr>
        <p:spPr>
          <a:xfrm>
            <a:off x="822960" y="6382512"/>
            <a:ext cx="10543032" cy="0"/>
          </a:xfrm>
          <a:prstGeom prst="line">
            <a:avLst/>
          </a:prstGeom>
          <a:noFill/>
          <a:ln w="9525">
            <a:solidFill>
              <a:srgbClr val="D9D4C4"/>
            </a:solidFill>
            <a:prstDash val="solid"/>
          </a:ln>
        </p:spPr>
      </p:sp>
      <p:sp>
        <p:nvSpPr>
          <p:cNvPr id="16" name="Text 1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17" name="Text 1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pic>
        <p:nvPicPr>
          <p:cNvPr id="2" name="Image 0" descr="/private/tmp/claude-501/-Users-dogan-Documents-Vaults-Courses/3954bcc8-cc8d-4110-bd5a-74962061a805/scratchpad/decks/img/crops/mucha-cherry-blossom_a691.jpg">    </p:cNvPr>
          <p:cNvPicPr>
            <a:picLocks noChangeAspect="1"/>
          </p:cNvPicPr>
          <p:nvPr/>
        </p:nvPicPr>
        <p:blipFill>
          <a:blip r:embed="rId1"/>
          <a:stretch>
            <a:fillRect/>
          </a:stretch>
        </p:blipFill>
        <p:spPr>
          <a:xfrm>
            <a:off x="7452360" y="0"/>
            <a:ext cx="4736592" cy="6858000"/>
          </a:xfrm>
          <a:prstGeom prst="rect">
            <a:avLst/>
          </a:prstGeom>
        </p:spPr>
      </p:pic>
      <p:sp>
        <p:nvSpPr>
          <p:cNvPr id="3" name="Text 0"/>
          <p:cNvSpPr/>
          <p:nvPr/>
        </p:nvSpPr>
        <p:spPr>
          <a:xfrm>
            <a:off x="7635240" y="6126480"/>
            <a:ext cx="4370832" cy="365760"/>
          </a:xfrm>
          <a:prstGeom prst="rect">
            <a:avLst/>
          </a:prstGeom>
          <a:solidFill>
            <a:srgbClr val="FAF8F1"/>
          </a:solidFill>
          <a:ln/>
        </p:spPr>
        <p:txBody>
          <a:bodyPr wrap="square" lIns="0" tIns="0" rIns="0" bIns="0" rtlCol="0" anchor="ctr"/>
          <a:lstStyle/>
          <a:p>
            <a:pPr indent="0" marL="0">
              <a:buNone/>
            </a:pPr>
            <a:r>
              <a:rPr lang="en-US" sz="950" spc="50" kern="0" dirty="0">
                <a:solidFill>
                  <a:srgbClr val="7A7F72"/>
                </a:solidFill>
                <a:latin typeface="Arial" pitchFamily="34" charset="0"/>
                <a:ea typeface="Arial" pitchFamily="34" charset="-122"/>
                <a:cs typeface="Arial" pitchFamily="34" charset="-120"/>
              </a:rPr>
              <a:t>Alphonse Mucha, calendar, 1898. Public domain</a:t>
            </a:r>
            <a:endParaRPr lang="en-US" sz="950" dirty="0"/>
          </a:p>
        </p:txBody>
      </p:sp>
      <p:sp>
        <p:nvSpPr>
          <p:cNvPr id="4" name="Text 1"/>
          <p:cNvSpPr/>
          <p:nvPr/>
        </p:nvSpPr>
        <p:spPr>
          <a:xfrm>
            <a:off x="822960" y="6858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SEQUENCE</a:t>
            </a:r>
            <a:endParaRPr lang="en-US" sz="1100" dirty="0"/>
          </a:p>
        </p:txBody>
      </p:sp>
      <p:sp>
        <p:nvSpPr>
          <p:cNvPr id="5" name="Shape 2"/>
          <p:cNvSpPr/>
          <p:nvPr/>
        </p:nvSpPr>
        <p:spPr>
          <a:xfrm>
            <a:off x="822960" y="1051560"/>
            <a:ext cx="6126480" cy="0"/>
          </a:xfrm>
          <a:prstGeom prst="line">
            <a:avLst/>
          </a:prstGeom>
          <a:noFill/>
          <a:ln w="9525">
            <a:solidFill>
              <a:srgbClr val="D9D4C4"/>
            </a:solidFill>
            <a:prstDash val="solid"/>
          </a:ln>
        </p:spPr>
      </p:sp>
      <p:sp>
        <p:nvSpPr>
          <p:cNvPr id="6" name="Text 3"/>
          <p:cNvSpPr/>
          <p:nvPr/>
        </p:nvSpPr>
        <p:spPr>
          <a:xfrm>
            <a:off x="822960" y="1234440"/>
            <a:ext cx="6217920" cy="1737360"/>
          </a:xfrm>
          <a:prstGeom prst="rect">
            <a:avLst/>
          </a:prstGeom>
          <a:noFill/>
          <a:ln/>
        </p:spPr>
        <p:txBody>
          <a:bodyPr wrap="square" lIns="0" tIns="0" rIns="0" bIns="0" rtlCol="0" anchor="t"/>
          <a:lstStyle/>
          <a:p>
            <a:pPr indent="0" marL="0">
              <a:lnSpc>
                <a:spcPts val="4700"/>
              </a:lnSpc>
              <a:buNone/>
            </a:pPr>
            <a:r>
              <a:rPr lang="en-US" sz="4400" dirty="0">
                <a:solidFill>
                  <a:srgbClr val="24313F"/>
                </a:solidFill>
                <a:latin typeface="Georgia" pitchFamily="34" charset="0"/>
                <a:ea typeface="Georgia" pitchFamily="34" charset="-122"/>
                <a:cs typeface="Georgia" pitchFamily="34" charset="-120"/>
              </a:rPr>
              <a:t>Order is</a:t>
            </a:r>
            <a:endParaRPr lang="en-US" sz="4400" dirty="0"/>
          </a:p>
          <a:p>
            <a:pPr indent="0" marL="0">
              <a:lnSpc>
                <a:spcPts val="4700"/>
              </a:lnSpc>
              <a:buNone/>
            </a:pPr>
            <a:r>
              <a:rPr lang="en-US" sz="4400" dirty="0">
                <a:solidFill>
                  <a:srgbClr val="24313F"/>
                </a:solidFill>
                <a:latin typeface="Georgia" pitchFamily="34" charset="0"/>
                <a:ea typeface="Georgia" pitchFamily="34" charset="-122"/>
                <a:cs typeface="Georgia" pitchFamily="34" charset="-120"/>
              </a:rPr>
              <a:t>an argument</a:t>
            </a:r>
            <a:endParaRPr lang="en-US" sz="4400" dirty="0"/>
          </a:p>
        </p:txBody>
      </p:sp>
      <p:sp>
        <p:nvSpPr>
          <p:cNvPr id="7" name="Text 4"/>
          <p:cNvSpPr/>
          <p:nvPr/>
        </p:nvSpPr>
        <p:spPr>
          <a:xfrm>
            <a:off x="822960" y="3246120"/>
            <a:ext cx="6309360" cy="246888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The order you put the work in tells the marker what you think matters. Lead with the intention, let the recording establish the looking, let exploration show the range you tested, let development show the decisions, and land on the outcome. Anything that interrupts that story comes out.</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5800"/>
              </a:lnSpc>
              <a:buNone/>
            </a:pPr>
            <a:r>
              <a:rPr lang="en-US" sz="5000" dirty="0">
                <a:solidFill>
                  <a:srgbClr val="24313F"/>
                </a:solidFill>
                <a:latin typeface="Georgia" pitchFamily="34" charset="0"/>
                <a:ea typeface="Georgia" pitchFamily="34" charset="-122"/>
                <a:cs typeface="Georgia" pitchFamily="34" charset="-120"/>
              </a:rPr>
              <a:t>Nothing is edited after it goes in.</a:t>
            </a:r>
            <a:endParaRPr lang="en-US" sz="50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Submission week, Thursday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WEEK, IN ORDER</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FIVE SESSIONS, ONE SUBMISSION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How submission week runs</a:t>
            </a:r>
            <a:endParaRPr lang="en-US" sz="3000" dirty="0"/>
          </a:p>
        </p:txBody>
      </p:sp>
      <p:sp>
        <p:nvSpPr>
          <p:cNvPr id="6" name="Shape 4"/>
          <p:cNvSpPr/>
          <p:nvPr/>
        </p:nvSpPr>
        <p:spPr>
          <a:xfrm>
            <a:off x="822960" y="1600200"/>
            <a:ext cx="3270504" cy="3200400"/>
          </a:xfrm>
          <a:prstGeom prst="rect">
            <a:avLst/>
          </a:prstGeom>
          <a:solidFill>
            <a:srgbClr val="FAF8F1"/>
          </a:solidFill>
          <a:ln w="9525">
            <a:solidFill>
              <a:srgbClr val="D9D4C4"/>
            </a:solidFill>
            <a:prstDash val="solid"/>
          </a:ln>
        </p:spPr>
      </p:sp>
      <p:pic>
        <p:nvPicPr>
          <p:cNvPr id="7" name="Image 0" descr="/private/tmp/claude-501/-Users-dogan-Documents-Vaults-Courses/3954bcc8-cc8d-4110-bd5a-74962061a805/scratchpad/decks/img/repin-tolstoy.jpg">    </p:cNvPr>
          <p:cNvPicPr>
            <a:picLocks noChangeAspect="1"/>
          </p:cNvPicPr>
          <p:nvPr/>
        </p:nvPicPr>
        <p:blipFill>
          <a:blip r:embed="rId1"/>
          <a:stretch>
            <a:fillRect/>
          </a:stretch>
        </p:blipFill>
        <p:spPr>
          <a:xfrm>
            <a:off x="1372260" y="1728216"/>
            <a:ext cx="2171904" cy="2944368"/>
          </a:xfrm>
          <a:prstGeom prst="rect">
            <a:avLst/>
          </a:prstGeom>
        </p:spPr>
      </p:pic>
      <p:sp>
        <p:nvSpPr>
          <p:cNvPr id="8" name="Text 5"/>
          <p:cNvSpPr/>
          <p:nvPr/>
        </p:nvSpPr>
        <p:spPr>
          <a:xfrm>
            <a:off x="822960"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Monday</a:t>
            </a:r>
            <a:endParaRPr lang="en-US" sz="1250" dirty="0"/>
          </a:p>
        </p:txBody>
      </p:sp>
      <p:sp>
        <p:nvSpPr>
          <p:cNvPr id="9" name="Text 6"/>
          <p:cNvSpPr/>
          <p:nvPr/>
        </p:nvSpPr>
        <p:spPr>
          <a:xfrm>
            <a:off x="822960"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Photograph the outcome properly</a:t>
            </a:r>
            <a:endParaRPr lang="en-US" sz="1400" dirty="0"/>
          </a:p>
        </p:txBody>
      </p:sp>
      <p:sp>
        <p:nvSpPr>
          <p:cNvPr id="10" name="Shape 7"/>
          <p:cNvSpPr/>
          <p:nvPr/>
        </p:nvSpPr>
        <p:spPr>
          <a:xfrm>
            <a:off x="4459224" y="1600200"/>
            <a:ext cx="3270504" cy="3200400"/>
          </a:xfrm>
          <a:prstGeom prst="rect">
            <a:avLst/>
          </a:prstGeom>
          <a:solidFill>
            <a:srgbClr val="FAF8F1"/>
          </a:solidFill>
          <a:ln w="9525">
            <a:solidFill>
              <a:srgbClr val="D9D4C4"/>
            </a:solidFill>
            <a:prstDash val="solid"/>
          </a:ln>
        </p:spPr>
      </p:sp>
      <p:pic>
        <p:nvPicPr>
          <p:cNvPr id="11" name="Image 1" descr="/private/tmp/claude-501/-Users-dogan-Documents-Vaults-Courses/3954bcc8-cc8d-4110-bd5a-74962061a805/scratchpad/decks/img/rubens-sheet-forearm.jpg">    </p:cNvPr>
          <p:cNvPicPr>
            <a:picLocks noChangeAspect="1"/>
          </p:cNvPicPr>
          <p:nvPr/>
        </p:nvPicPr>
        <p:blipFill>
          <a:blip r:embed="rId2"/>
          <a:stretch>
            <a:fillRect/>
          </a:stretch>
        </p:blipFill>
        <p:spPr>
          <a:xfrm>
            <a:off x="5057019" y="1728216"/>
            <a:ext cx="2074913" cy="2944368"/>
          </a:xfrm>
          <a:prstGeom prst="rect">
            <a:avLst/>
          </a:prstGeom>
        </p:spPr>
      </p:pic>
      <p:sp>
        <p:nvSpPr>
          <p:cNvPr id="12" name="Text 8"/>
          <p:cNvSpPr/>
          <p:nvPr/>
        </p:nvSpPr>
        <p:spPr>
          <a:xfrm>
            <a:off x="4459224"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Tuesday</a:t>
            </a:r>
            <a:endParaRPr lang="en-US" sz="1250" dirty="0"/>
          </a:p>
        </p:txBody>
      </p:sp>
      <p:sp>
        <p:nvSpPr>
          <p:cNvPr id="13" name="Text 9"/>
          <p:cNvSpPr/>
          <p:nvPr/>
        </p:nvSpPr>
        <p:spPr>
          <a:xfrm>
            <a:off x="4459224"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Sequence the whole journey</a:t>
            </a:r>
            <a:endParaRPr lang="en-US" sz="1400" dirty="0"/>
          </a:p>
        </p:txBody>
      </p:sp>
      <p:sp>
        <p:nvSpPr>
          <p:cNvPr id="14" name="Shape 10"/>
          <p:cNvSpPr/>
          <p:nvPr/>
        </p:nvSpPr>
        <p:spPr>
          <a:xfrm>
            <a:off x="8095488" y="1600200"/>
            <a:ext cx="3270504" cy="3200400"/>
          </a:xfrm>
          <a:prstGeom prst="rect">
            <a:avLst/>
          </a:prstGeom>
          <a:solidFill>
            <a:srgbClr val="FAF8F1"/>
          </a:solidFill>
          <a:ln w="9525">
            <a:solidFill>
              <a:srgbClr val="D9D4C4"/>
            </a:solidFill>
            <a:prstDash val="solid"/>
          </a:ln>
        </p:spPr>
      </p:sp>
      <p:pic>
        <p:nvPicPr>
          <p:cNvPr id="15" name="Image 2" descr="/private/tmp/claude-501/-Users-dogan-Documents-Vaults-Courses/3954bcc8-cc8d-4110-bd5a-74962061a805/scratchpad/decks/img/bosschaert-bouquet.jpg">    </p:cNvPr>
          <p:cNvPicPr>
            <a:picLocks noChangeAspect="1"/>
          </p:cNvPicPr>
          <p:nvPr/>
        </p:nvPicPr>
        <p:blipFill>
          <a:blip r:embed="rId3"/>
          <a:stretch>
            <a:fillRect/>
          </a:stretch>
        </p:blipFill>
        <p:spPr>
          <a:xfrm>
            <a:off x="8741779" y="1728216"/>
            <a:ext cx="1977923" cy="2944368"/>
          </a:xfrm>
          <a:prstGeom prst="rect">
            <a:avLst/>
          </a:prstGeom>
        </p:spPr>
      </p:pic>
      <p:sp>
        <p:nvSpPr>
          <p:cNvPr id="16" name="Text 11"/>
          <p:cNvSpPr/>
          <p:nvPr/>
        </p:nvSpPr>
        <p:spPr>
          <a:xfrm>
            <a:off x="8095488" y="4892040"/>
            <a:ext cx="3270504" cy="320040"/>
          </a:xfrm>
          <a:prstGeom prst="rect">
            <a:avLst/>
          </a:prstGeom>
          <a:noFill/>
          <a:ln/>
        </p:spPr>
        <p:txBody>
          <a:bodyPr wrap="square" lIns="0" tIns="0" rIns="0" bIns="0" rtlCol="0" anchor="ctr"/>
          <a:lstStyle/>
          <a:p>
            <a:pPr algn="ctr" indent="0" marL="0">
              <a:buNone/>
            </a:pPr>
            <a:r>
              <a:rPr lang="en-US" sz="1250" b="1" spc="150" kern="0" dirty="0">
                <a:solidFill>
                  <a:srgbClr val="4A6B5D"/>
                </a:solidFill>
                <a:latin typeface="Arial" pitchFamily="34" charset="0"/>
                <a:ea typeface="Arial" pitchFamily="34" charset="-122"/>
                <a:cs typeface="Arial" pitchFamily="34" charset="-120"/>
              </a:rPr>
              <a:t>Wednesday</a:t>
            </a:r>
            <a:endParaRPr lang="en-US" sz="1250" dirty="0"/>
          </a:p>
        </p:txBody>
      </p:sp>
      <p:sp>
        <p:nvSpPr>
          <p:cNvPr id="17" name="Text 12"/>
          <p:cNvSpPr/>
          <p:nvPr/>
        </p:nvSpPr>
        <p:spPr>
          <a:xfrm>
            <a:off x="8095488" y="5212080"/>
            <a:ext cx="3270504" cy="320040"/>
          </a:xfrm>
          <a:prstGeom prst="rect">
            <a:avLst/>
          </a:prstGeom>
          <a:noFill/>
          <a:ln/>
        </p:spPr>
        <p:txBody>
          <a:bodyPr wrap="square" lIns="0" tIns="0" rIns="0" bIns="0" rtlCol="0" anchor="ctr"/>
          <a:lstStyle/>
          <a:p>
            <a:pPr algn="ctr" indent="0" marL="0">
              <a:buNone/>
            </a:pPr>
            <a:r>
              <a:rPr lang="en-US" sz="1400" dirty="0">
                <a:solidFill>
                  <a:srgbClr val="24313F"/>
                </a:solidFill>
                <a:latin typeface="Georgia" pitchFamily="34" charset="0"/>
                <a:ea typeface="Georgia" pitchFamily="34" charset="-122"/>
                <a:cs typeface="Georgia" pitchFamily="34" charset="-120"/>
              </a:rPr>
              <a:t>Cut, then check every AO</a:t>
            </a:r>
            <a:endParaRPr lang="en-US" sz="1400" dirty="0"/>
          </a:p>
        </p:txBody>
      </p:sp>
      <p:sp>
        <p:nvSpPr>
          <p:cNvPr id="18" name="Text 13"/>
          <p:cNvSpPr/>
          <p:nvPr/>
        </p:nvSpPr>
        <p:spPr>
          <a:xfrm>
            <a:off x="822960" y="5623560"/>
            <a:ext cx="10543032"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Repin, Rubens and Bosschaert, public domain. Shown whole, as study material rather than as a style to copy.</a:t>
            </a:r>
            <a:endParaRPr lang="en-US" sz="1000" dirty="0"/>
          </a:p>
        </p:txBody>
      </p:sp>
      <p:sp>
        <p:nvSpPr>
          <p:cNvPr id="19" name="Shape 14"/>
          <p:cNvSpPr/>
          <p:nvPr/>
        </p:nvSpPr>
        <p:spPr>
          <a:xfrm>
            <a:off x="822960" y="6382512"/>
            <a:ext cx="10543032" cy="0"/>
          </a:xfrm>
          <a:prstGeom prst="line">
            <a:avLst/>
          </a:prstGeom>
          <a:noFill/>
          <a:ln w="9525">
            <a:solidFill>
              <a:srgbClr val="D9D4C4"/>
            </a:solidFill>
            <a:prstDash val="solid"/>
          </a:ln>
        </p:spPr>
      </p:sp>
      <p:sp>
        <p:nvSpPr>
          <p:cNvPr id="20"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1"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WHAT LOSES MARKS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EVERY ONE OF THESE IS AVOIDABLE</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60120"/>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Four ways A4 goes wrong</a:t>
            </a:r>
            <a:endParaRPr lang="en-US" sz="3200" dirty="0"/>
          </a:p>
        </p:txBody>
      </p:sp>
      <p:sp>
        <p:nvSpPr>
          <p:cNvPr id="6" name="Shape 4"/>
          <p:cNvSpPr/>
          <p:nvPr/>
        </p:nvSpPr>
        <p:spPr>
          <a:xfrm>
            <a:off x="822960" y="1965960"/>
            <a:ext cx="502920" cy="0"/>
          </a:xfrm>
          <a:prstGeom prst="line">
            <a:avLst/>
          </a:prstGeom>
          <a:noFill/>
          <a:ln w="31750">
            <a:solidFill>
              <a:srgbClr val="8C3A38"/>
            </a:solidFill>
            <a:prstDash val="solid"/>
          </a:ln>
        </p:spPr>
      </p:sp>
      <p:sp>
        <p:nvSpPr>
          <p:cNvPr id="7" name="Text 5"/>
          <p:cNvSpPr/>
          <p:nvPr/>
        </p:nvSpPr>
        <p:spPr>
          <a:xfrm>
            <a:off x="1508760" y="1783080"/>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Assembling on the night</a:t>
            </a:r>
            <a:endParaRPr lang="en-US" sz="1250" dirty="0"/>
          </a:p>
        </p:txBody>
      </p:sp>
      <p:sp>
        <p:nvSpPr>
          <p:cNvPr id="8" name="Text 6"/>
          <p:cNvSpPr/>
          <p:nvPr/>
        </p:nvSpPr>
        <p:spPr>
          <a:xfrm>
            <a:off x="5257800" y="1709928"/>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It shows. The folder reads as a pile because it was made as one, and the sequence never gets thought about.</a:t>
            </a:r>
            <a:endParaRPr lang="en-US" sz="1450" dirty="0"/>
          </a:p>
        </p:txBody>
      </p:sp>
      <p:sp>
        <p:nvSpPr>
          <p:cNvPr id="9" name="Shape 7"/>
          <p:cNvSpPr/>
          <p:nvPr/>
        </p:nvSpPr>
        <p:spPr>
          <a:xfrm>
            <a:off x="822960" y="2368296"/>
            <a:ext cx="10543032" cy="0"/>
          </a:xfrm>
          <a:prstGeom prst="line">
            <a:avLst/>
          </a:prstGeom>
          <a:noFill/>
          <a:ln w="9525">
            <a:solidFill>
              <a:srgbClr val="D9D4C4"/>
            </a:solidFill>
            <a:prstDash val="solid"/>
          </a:ln>
        </p:spPr>
      </p:sp>
      <p:sp>
        <p:nvSpPr>
          <p:cNvPr id="10" name="Shape 8"/>
          <p:cNvSpPr/>
          <p:nvPr/>
        </p:nvSpPr>
        <p:spPr>
          <a:xfrm>
            <a:off x="822960" y="2807208"/>
            <a:ext cx="502920" cy="0"/>
          </a:xfrm>
          <a:prstGeom prst="line">
            <a:avLst/>
          </a:prstGeom>
          <a:noFill/>
          <a:ln w="31750">
            <a:solidFill>
              <a:srgbClr val="8C3A38"/>
            </a:solidFill>
            <a:prstDash val="solid"/>
          </a:ln>
        </p:spPr>
      </p:sp>
      <p:sp>
        <p:nvSpPr>
          <p:cNvPr id="11" name="Text 9"/>
          <p:cNvSpPr/>
          <p:nvPr/>
        </p:nvSpPr>
        <p:spPr>
          <a:xfrm>
            <a:off x="1508760" y="2624328"/>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Photography left to the end</a:t>
            </a:r>
            <a:endParaRPr lang="en-US" sz="1250" dirty="0"/>
          </a:p>
        </p:txBody>
      </p:sp>
      <p:sp>
        <p:nvSpPr>
          <p:cNvPr id="12" name="Text 10"/>
          <p:cNvSpPr/>
          <p:nvPr/>
        </p:nvSpPr>
        <p:spPr>
          <a:xfrm>
            <a:off x="5257800" y="2551176"/>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By then the work may be gone, damaged or in a dark room. Shoot it while it is in front of you and the light is good.</a:t>
            </a:r>
            <a:endParaRPr lang="en-US" sz="1450" dirty="0"/>
          </a:p>
        </p:txBody>
      </p:sp>
      <p:sp>
        <p:nvSpPr>
          <p:cNvPr id="13" name="Shape 11"/>
          <p:cNvSpPr/>
          <p:nvPr/>
        </p:nvSpPr>
        <p:spPr>
          <a:xfrm>
            <a:off x="822960" y="3209544"/>
            <a:ext cx="10543032" cy="0"/>
          </a:xfrm>
          <a:prstGeom prst="line">
            <a:avLst/>
          </a:prstGeom>
          <a:noFill/>
          <a:ln w="9525">
            <a:solidFill>
              <a:srgbClr val="D9D4C4"/>
            </a:solidFill>
            <a:prstDash val="solid"/>
          </a:ln>
        </p:spPr>
      </p:sp>
      <p:sp>
        <p:nvSpPr>
          <p:cNvPr id="14" name="Shape 12"/>
          <p:cNvSpPr/>
          <p:nvPr/>
        </p:nvSpPr>
        <p:spPr>
          <a:xfrm>
            <a:off x="822960" y="3648456"/>
            <a:ext cx="502920" cy="0"/>
          </a:xfrm>
          <a:prstGeom prst="line">
            <a:avLst/>
          </a:prstGeom>
          <a:noFill/>
          <a:ln w="31750">
            <a:solidFill>
              <a:srgbClr val="8C3A38"/>
            </a:solidFill>
            <a:prstDash val="solid"/>
          </a:ln>
        </p:spPr>
      </p:sp>
      <p:sp>
        <p:nvSpPr>
          <p:cNvPr id="15" name="Text 13"/>
          <p:cNvSpPr/>
          <p:nvPr/>
        </p:nvSpPr>
        <p:spPr>
          <a:xfrm>
            <a:off x="1508760" y="3465576"/>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Keeping everything</a:t>
            </a:r>
            <a:endParaRPr lang="en-US" sz="1250" dirty="0"/>
          </a:p>
        </p:txBody>
      </p:sp>
      <p:sp>
        <p:nvSpPr>
          <p:cNvPr id="16" name="Text 14"/>
          <p:cNvSpPr/>
          <p:nvPr/>
        </p:nvSpPr>
        <p:spPr>
          <a:xfrm>
            <a:off x="5257800" y="3392424"/>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An unedited folder makes the marker hunt for the argument. Cutting is part of the assessment, not a loss.</a:t>
            </a:r>
            <a:endParaRPr lang="en-US" sz="1450" dirty="0"/>
          </a:p>
        </p:txBody>
      </p:sp>
      <p:sp>
        <p:nvSpPr>
          <p:cNvPr id="17" name="Shape 15"/>
          <p:cNvSpPr/>
          <p:nvPr/>
        </p:nvSpPr>
        <p:spPr>
          <a:xfrm>
            <a:off x="822960" y="4050792"/>
            <a:ext cx="10543032" cy="0"/>
          </a:xfrm>
          <a:prstGeom prst="line">
            <a:avLst/>
          </a:prstGeom>
          <a:noFill/>
          <a:ln w="9525">
            <a:solidFill>
              <a:srgbClr val="D9D4C4"/>
            </a:solidFill>
            <a:prstDash val="solid"/>
          </a:ln>
        </p:spPr>
      </p:sp>
      <p:sp>
        <p:nvSpPr>
          <p:cNvPr id="18" name="Shape 16"/>
          <p:cNvSpPr/>
          <p:nvPr/>
        </p:nvSpPr>
        <p:spPr>
          <a:xfrm>
            <a:off x="822960" y="4489704"/>
            <a:ext cx="502920" cy="0"/>
          </a:xfrm>
          <a:prstGeom prst="line">
            <a:avLst/>
          </a:prstGeom>
          <a:noFill/>
          <a:ln w="31750">
            <a:solidFill>
              <a:srgbClr val="8C3A38"/>
            </a:solidFill>
            <a:prstDash val="solid"/>
          </a:ln>
        </p:spPr>
      </p:sp>
      <p:sp>
        <p:nvSpPr>
          <p:cNvPr id="19" name="Text 17"/>
          <p:cNvSpPr/>
          <p:nvPr/>
        </p:nvSpPr>
        <p:spPr>
          <a:xfrm>
            <a:off x="1508760" y="4306824"/>
            <a:ext cx="3657600" cy="365760"/>
          </a:xfrm>
          <a:prstGeom prst="rect">
            <a:avLst/>
          </a:prstGeom>
          <a:noFill/>
          <a:ln/>
        </p:spPr>
        <p:txBody>
          <a:bodyPr wrap="square" lIns="0" tIns="0" rIns="0" bIns="0" rtlCol="0" anchor="ctr"/>
          <a:lstStyle/>
          <a:p>
            <a:pPr indent="0" marL="0">
              <a:buNone/>
            </a:pPr>
            <a:r>
              <a:rPr lang="en-US" sz="1250" b="1" spc="100" kern="0" dirty="0">
                <a:solidFill>
                  <a:srgbClr val="24313F"/>
                </a:solidFill>
                <a:latin typeface="Arial" pitchFamily="34" charset="0"/>
                <a:ea typeface="Arial" pitchFamily="34" charset="-122"/>
                <a:cs typeface="Arial" pitchFamily="34" charset="-120"/>
              </a:rPr>
              <a:t>Editing after submission</a:t>
            </a:r>
            <a:endParaRPr lang="en-US" sz="1250" dirty="0"/>
          </a:p>
        </p:txBody>
      </p:sp>
      <p:sp>
        <p:nvSpPr>
          <p:cNvPr id="20" name="Text 18"/>
          <p:cNvSpPr/>
          <p:nvPr/>
        </p:nvSpPr>
        <p:spPr>
          <a:xfrm>
            <a:off x="5257800" y="4233672"/>
            <a:ext cx="6080760" cy="566928"/>
          </a:xfrm>
          <a:prstGeom prst="rect">
            <a:avLst/>
          </a:prstGeom>
          <a:noFill/>
          <a:ln/>
        </p:spPr>
        <p:txBody>
          <a:bodyPr wrap="square" lIns="0" tIns="0" rIns="0" bIns="0" rtlCol="0" anchor="ctr"/>
          <a:lstStyle/>
          <a:p>
            <a:pPr indent="0" marL="0">
              <a:lnSpc>
                <a:spcPts val="1900"/>
              </a:lnSpc>
              <a:buNone/>
            </a:pPr>
            <a:r>
              <a:rPr lang="en-US" sz="1450" dirty="0">
                <a:solidFill>
                  <a:srgbClr val="24313F"/>
                </a:solidFill>
                <a:latin typeface="Georgia" pitchFamily="34" charset="0"/>
                <a:ea typeface="Georgia" pitchFamily="34" charset="-122"/>
                <a:cs typeface="Georgia" pitchFamily="34" charset="-120"/>
              </a:rPr>
              <a:t>There is no after. Thursday is the line, and work changed past it is a different problem entirely.</a:t>
            </a:r>
            <a:endParaRPr lang="en-US" sz="1450" dirty="0"/>
          </a:p>
        </p:txBody>
      </p:sp>
      <p:sp>
        <p:nvSpPr>
          <p:cNvPr id="21" name="Shape 19"/>
          <p:cNvSpPr/>
          <p:nvPr/>
        </p:nvSpPr>
        <p:spPr>
          <a:xfrm>
            <a:off x="822960" y="4892040"/>
            <a:ext cx="10543032" cy="0"/>
          </a:xfrm>
          <a:prstGeom prst="line">
            <a:avLst/>
          </a:prstGeom>
          <a:noFill/>
          <a:ln w="9525">
            <a:solidFill>
              <a:srgbClr val="D9D4C4"/>
            </a:solidFill>
            <a:prstDash val="solid"/>
          </a:ln>
        </p:spPr>
      </p:sp>
      <p:sp>
        <p:nvSpPr>
          <p:cNvPr id="22" name="Shape 20"/>
          <p:cNvSpPr/>
          <p:nvPr/>
        </p:nvSpPr>
        <p:spPr>
          <a:xfrm>
            <a:off x="822960" y="6382512"/>
            <a:ext cx="10543032" cy="0"/>
          </a:xfrm>
          <a:prstGeom prst="line">
            <a:avLst/>
          </a:prstGeom>
          <a:noFill/>
          <a:ln w="9525">
            <a:solidFill>
              <a:srgbClr val="D9D4C4"/>
            </a:solidFill>
            <a:prstDash val="solid"/>
          </a:ln>
        </p:spPr>
      </p:sp>
      <p:sp>
        <p:nvSpPr>
          <p:cNvPr id="23" name="Text 21"/>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4" name="Text 22"/>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DATES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ANNOUNCED AHEAD, IN WRITING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600" dirty="0">
                <a:solidFill>
                  <a:srgbClr val="24313F"/>
                </a:solidFill>
                <a:latin typeface="Georgia" pitchFamily="34" charset="0"/>
                <a:ea typeface="Georgia" pitchFamily="34" charset="-122"/>
                <a:cs typeface="Georgia" pitchFamily="34" charset="-120"/>
              </a:rPr>
              <a:t>Three dates that matter</a:t>
            </a:r>
            <a:endParaRPr lang="en-US" sz="3600" dirty="0"/>
          </a:p>
        </p:txBody>
      </p:sp>
      <p:sp>
        <p:nvSpPr>
          <p:cNvPr id="6" name="Text 4"/>
          <p:cNvSpPr/>
          <p:nvPr/>
        </p:nvSpPr>
        <p:spPr>
          <a:xfrm>
            <a:off x="822960"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Announced</a:t>
            </a:r>
            <a:endParaRPr lang="en-US" sz="1250" dirty="0"/>
          </a:p>
        </p:txBody>
      </p:sp>
      <p:sp>
        <p:nvSpPr>
          <p:cNvPr id="7" name="Shape 5"/>
          <p:cNvSpPr/>
          <p:nvPr/>
        </p:nvSpPr>
        <p:spPr>
          <a:xfrm>
            <a:off x="822960" y="2560320"/>
            <a:ext cx="3209544" cy="0"/>
          </a:xfrm>
          <a:prstGeom prst="line">
            <a:avLst/>
          </a:prstGeom>
          <a:noFill/>
          <a:ln w="9525">
            <a:solidFill>
              <a:srgbClr val="D9D4C4"/>
            </a:solidFill>
            <a:prstDash val="solid"/>
          </a:ln>
        </p:spPr>
      </p:sp>
      <p:sp>
        <p:nvSpPr>
          <p:cNvPr id="8" name="Text 6"/>
          <p:cNvSpPr/>
          <p:nvPr/>
        </p:nvSpPr>
        <p:spPr>
          <a:xfrm>
            <a:off x="822960"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Mon 21 Dec</a:t>
            </a:r>
            <a:endParaRPr lang="en-US" sz="2600" dirty="0"/>
          </a:p>
        </p:txBody>
      </p:sp>
      <p:sp>
        <p:nvSpPr>
          <p:cNvPr id="9" name="Text 7"/>
          <p:cNvSpPr/>
          <p:nvPr/>
        </p:nvSpPr>
        <p:spPr>
          <a:xfrm>
            <a:off x="822960"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Before the winter break, so the notice runs across the holiday and nothing is sprung on return.</a:t>
            </a:r>
            <a:endParaRPr lang="en-US" sz="1500" dirty="0"/>
          </a:p>
        </p:txBody>
      </p:sp>
      <p:sp>
        <p:nvSpPr>
          <p:cNvPr id="10" name="Text 8"/>
          <p:cNvSpPr/>
          <p:nvPr/>
        </p:nvSpPr>
        <p:spPr>
          <a:xfrm>
            <a:off x="4489704"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Sits</a:t>
            </a:r>
            <a:endParaRPr lang="en-US" sz="1250" dirty="0"/>
          </a:p>
        </p:txBody>
      </p:sp>
      <p:sp>
        <p:nvSpPr>
          <p:cNvPr id="11" name="Shape 9"/>
          <p:cNvSpPr/>
          <p:nvPr/>
        </p:nvSpPr>
        <p:spPr>
          <a:xfrm>
            <a:off x="4489704" y="2560320"/>
            <a:ext cx="3209544" cy="0"/>
          </a:xfrm>
          <a:prstGeom prst="line">
            <a:avLst/>
          </a:prstGeom>
          <a:noFill/>
          <a:ln w="9525">
            <a:solidFill>
              <a:srgbClr val="D9D4C4"/>
            </a:solidFill>
            <a:prstDash val="solid"/>
          </a:ln>
        </p:spPr>
      </p:sp>
      <p:sp>
        <p:nvSpPr>
          <p:cNvPr id="12" name="Text 10"/>
          <p:cNvSpPr/>
          <p:nvPr/>
        </p:nvSpPr>
        <p:spPr>
          <a:xfrm>
            <a:off x="4489704"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Thu 7 Jan</a:t>
            </a:r>
            <a:endParaRPr lang="en-US" sz="2600" dirty="0"/>
          </a:p>
        </p:txBody>
      </p:sp>
      <p:sp>
        <p:nvSpPr>
          <p:cNvPr id="13" name="Text 11"/>
          <p:cNvSpPr/>
          <p:nvPr/>
        </p:nvSpPr>
        <p:spPr>
          <a:xfrm>
            <a:off x="4489704"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The end of submission week. It goes in, and nothing is edited afterwards.</a:t>
            </a:r>
            <a:endParaRPr lang="en-US" sz="1500" dirty="0"/>
          </a:p>
        </p:txBody>
      </p:sp>
      <p:sp>
        <p:nvSpPr>
          <p:cNvPr id="14" name="Text 12"/>
          <p:cNvSpPr/>
          <p:nvPr/>
        </p:nvSpPr>
        <p:spPr>
          <a:xfrm>
            <a:off x="8156448" y="2103120"/>
            <a:ext cx="3209544" cy="411480"/>
          </a:xfrm>
          <a:prstGeom prst="rect">
            <a:avLst/>
          </a:prstGeom>
          <a:noFill/>
          <a:ln/>
        </p:spPr>
        <p:txBody>
          <a:bodyPr wrap="square" lIns="0" tIns="0" rIns="0" bIns="0" rtlCol="0" anchor="ctr"/>
          <a:lstStyle/>
          <a:p>
            <a:pPr indent="0" marL="0">
              <a:buNone/>
            </a:pPr>
            <a:r>
              <a:rPr lang="en-US" sz="1250" b="1" spc="140" kern="0" dirty="0">
                <a:solidFill>
                  <a:srgbClr val="4A6B5D"/>
                </a:solidFill>
                <a:latin typeface="Arial" pitchFamily="34" charset="0"/>
                <a:ea typeface="Arial" pitchFamily="34" charset="-122"/>
                <a:cs typeface="Arial" pitchFamily="34" charset="-120"/>
              </a:rPr>
              <a:t>Then</a:t>
            </a:r>
            <a:endParaRPr lang="en-US" sz="1250" dirty="0"/>
          </a:p>
        </p:txBody>
      </p:sp>
      <p:sp>
        <p:nvSpPr>
          <p:cNvPr id="15" name="Shape 13"/>
          <p:cNvSpPr/>
          <p:nvPr/>
        </p:nvSpPr>
        <p:spPr>
          <a:xfrm>
            <a:off x="8156448" y="2560320"/>
            <a:ext cx="3209544" cy="0"/>
          </a:xfrm>
          <a:prstGeom prst="line">
            <a:avLst/>
          </a:prstGeom>
          <a:noFill/>
          <a:ln w="9525">
            <a:solidFill>
              <a:srgbClr val="D9D4C4"/>
            </a:solidFill>
            <a:prstDash val="solid"/>
          </a:ln>
        </p:spPr>
      </p:sp>
      <p:sp>
        <p:nvSpPr>
          <p:cNvPr id="16" name="Text 14"/>
          <p:cNvSpPr/>
          <p:nvPr/>
        </p:nvSpPr>
        <p:spPr>
          <a:xfrm>
            <a:off x="8156448" y="2697480"/>
            <a:ext cx="3209544" cy="822960"/>
          </a:xfrm>
          <a:prstGeom prst="rect">
            <a:avLst/>
          </a:prstGeom>
          <a:noFill/>
          <a:ln/>
        </p:spPr>
        <p:txBody>
          <a:bodyPr wrap="square" lIns="0" tIns="0" rIns="0" bIns="0" rtlCol="0" anchor="t"/>
          <a:lstStyle/>
          <a:p>
            <a:pPr indent="0" marL="0">
              <a:lnSpc>
                <a:spcPts val="3000"/>
              </a:lnSpc>
              <a:buNone/>
            </a:pPr>
            <a:r>
              <a:rPr lang="en-US" sz="2600" dirty="0">
                <a:solidFill>
                  <a:srgbClr val="24313F"/>
                </a:solidFill>
                <a:latin typeface="Georgia" pitchFamily="34" charset="0"/>
                <a:ea typeface="Georgia" pitchFamily="34" charset="-122"/>
                <a:cs typeface="Georgia" pitchFamily="34" charset="-120"/>
              </a:rPr>
              <a:t>Fri 8 Jan</a:t>
            </a:r>
            <a:endParaRPr lang="en-US" sz="2600" dirty="0"/>
          </a:p>
        </p:txBody>
      </p:sp>
      <p:sp>
        <p:nvSpPr>
          <p:cNvPr id="17" name="Text 15"/>
          <p:cNvSpPr/>
          <p:nvPr/>
        </p:nvSpPr>
        <p:spPr>
          <a:xfrm>
            <a:off x="8156448" y="3657600"/>
            <a:ext cx="3209544" cy="1828800"/>
          </a:xfrm>
          <a:prstGeom prst="rect">
            <a:avLst/>
          </a:prstGeom>
          <a:noFill/>
          <a:ln/>
        </p:spPr>
        <p:txBody>
          <a:bodyPr wrap="square" lIns="0" tIns="0" rIns="0" bIns="0" rtlCol="0" anchor="t"/>
          <a:lstStyle/>
          <a:p>
            <a:pPr indent="0" marL="0">
              <a:lnSpc>
                <a:spcPts val="2100"/>
              </a:lnSpc>
              <a:buNone/>
            </a:pPr>
            <a:r>
              <a:rPr lang="en-US" sz="1500" dirty="0">
                <a:solidFill>
                  <a:srgbClr val="24313F"/>
                </a:solidFill>
                <a:latin typeface="Georgia" pitchFamily="34" charset="0"/>
                <a:ea typeface="Georgia" pitchFamily="34" charset="-122"/>
                <a:cs typeface="Georgia" pitchFamily="34" charset="-120"/>
              </a:rPr>
              <a:t>The last teaching day of the semester. The session looks back over the whole pipeline before Semester 2 opens on C3.</a:t>
            </a:r>
            <a:endParaRPr lang="en-US" sz="1500" dirty="0"/>
          </a:p>
        </p:txBody>
      </p:sp>
      <p:sp>
        <p:nvSpPr>
          <p:cNvPr id="18" name="Shape 16"/>
          <p:cNvSpPr/>
          <p:nvPr/>
        </p:nvSpPr>
        <p:spPr>
          <a:xfrm>
            <a:off x="822960" y="6382512"/>
            <a:ext cx="10543032" cy="0"/>
          </a:xfrm>
          <a:prstGeom prst="line">
            <a:avLst/>
          </a:prstGeom>
          <a:noFill/>
          <a:ln w="9525">
            <a:solidFill>
              <a:srgbClr val="D9D4C4"/>
            </a:solidFill>
            <a:prstDash val="solid"/>
          </a:ln>
        </p:spPr>
      </p:sp>
      <p:sp>
        <p:nvSpPr>
          <p:cNvPr id="19"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A LEVEL ART &amp; DESIGN 9479 · SEMESTER I</a:t>
            </a:r>
            <a:endParaRPr lang="en-US" sz="900" dirty="0"/>
          </a:p>
        </p:txBody>
      </p:sp>
      <p:sp>
        <p:nvSpPr>
          <p:cNvPr id="20"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73152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AND THEN</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058400" cy="1920240"/>
          </a:xfrm>
          <a:prstGeom prst="rect">
            <a:avLst/>
          </a:prstGeom>
          <a:noFill/>
          <a:ln/>
        </p:spPr>
        <p:txBody>
          <a:bodyPr wrap="square" lIns="0" tIns="0" rIns="0" bIns="0" rtlCol="0" anchor="t"/>
          <a:lstStyle/>
          <a:p>
            <a:pPr indent="0" marL="0">
              <a:lnSpc>
                <a:spcPts val="5500"/>
              </a:lnSpc>
              <a:buNone/>
            </a:pPr>
            <a:r>
              <a:rPr lang="en-US" sz="5200" dirty="0">
                <a:solidFill>
                  <a:srgbClr val="FAF8F1"/>
                </a:solidFill>
                <a:latin typeface="Georgia" pitchFamily="34" charset="0"/>
                <a:ea typeface="Georgia" pitchFamily="34" charset="-122"/>
                <a:cs typeface="Georgia" pitchFamily="34" charset="-120"/>
              </a:rPr>
              <a:t>Semester 2:</a:t>
            </a:r>
            <a:endParaRPr lang="en-US" sz="5200" dirty="0"/>
          </a:p>
          <a:p>
            <a:pPr indent="0" marL="0">
              <a:lnSpc>
                <a:spcPts val="5500"/>
              </a:lnSpc>
              <a:buNone/>
            </a:pPr>
            <a:r>
              <a:rPr lang="en-US" sz="5200" dirty="0">
                <a:solidFill>
                  <a:srgbClr val="FAF8F1"/>
                </a:solidFill>
                <a:latin typeface="Georgia" pitchFamily="34" charset="0"/>
                <a:ea typeface="Georgia" pitchFamily="34" charset="-122"/>
                <a:cs typeface="Georgia" pitchFamily="34" charset="-120"/>
              </a:rPr>
              <a:t>the theme is yours.</a:t>
            </a:r>
            <a:endParaRPr lang="en-US" sz="5200" dirty="0"/>
          </a:p>
        </p:txBody>
      </p:sp>
      <p:sp>
        <p:nvSpPr>
          <p:cNvPr id="5" name="Text 3"/>
          <p:cNvSpPr/>
          <p:nvPr/>
        </p:nvSpPr>
        <p:spPr>
          <a:xfrm>
            <a:off x="822960" y="4892040"/>
            <a:ext cx="9601200" cy="457200"/>
          </a:xfrm>
          <a:prstGeom prst="rect">
            <a:avLst/>
          </a:prstGeom>
          <a:noFill/>
          <a:ln/>
        </p:spPr>
        <p:txBody>
          <a:bodyPr wrap="square" lIns="0" tIns="0" rIns="0" bIns="0" rtlCol="0" anchor="ctr"/>
          <a:lstStyle/>
          <a:p>
            <a:pPr indent="0" marL="0">
              <a:buNone/>
            </a:pPr>
            <a:r>
              <a:rPr lang="en-US" sz="2200" i="1" dirty="0">
                <a:solidFill>
                  <a:srgbClr val="E8EFE7"/>
                </a:solidFill>
                <a:latin typeface="Georgia" pitchFamily="34" charset="0"/>
                <a:ea typeface="Georgia" pitchFamily="34" charset="-122"/>
                <a:cs typeface="Georgia" pitchFamily="34" charset="-120"/>
              </a:rPr>
              <a:t>The Personal Investigation opens, and this time nobody hands you a menu.</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A LEVEL ART &amp; DESIGN 9479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2026-07-26T10:12:32Z</dcterms:created>
  <dcterms:modified xsi:type="dcterms:W3CDTF">2026-07-26T10:12:32Z</dcterms:modified>
</cp:coreProperties>
</file>