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attainment of the A Level. Say plainly that A1 is not a new task: it marks the recording you have been building since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AO1 is first-hand recording. Working from someone else's photograph caps this objective no matter how well it is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Rubens draws the same forearm twice, from two positions, on one sheet. That is recording: the page shows a question being worked, not a result being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Stamina is the content. Say this before the two-day run, not after it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0" y="822960"/>
            <a:ext cx="3291840" cy="4937760"/>
          </a:xfrm>
          <a:prstGeom prst="rect">
            <a:avLst/>
          </a:prstGeom>
          <a:noFill/>
          <a:ln/>
        </p:spPr>
        <p:txBody>
          <a:bodyPr wrap="square" lIns="0" tIns="0" rIns="0" bIns="0" rtlCol="0" anchor="ctr"/>
          <a:lstStyle/>
          <a:p>
            <a:pPr algn="ctr" indent="0" marL="0">
              <a:buNone/>
            </a:pPr>
            <a:r>
              <a:rPr lang="en-US" sz="30000" dirty="0">
                <a:solidFill>
                  <a:srgbClr val="A3C1AD"/>
                </a:solidFill>
                <a:latin typeface="Georgia" pitchFamily="34" charset="0"/>
                <a:ea typeface="Georgia" pitchFamily="34" charset="-122"/>
                <a:cs typeface="Georgia" pitchFamily="34" charset="-120"/>
              </a:rPr>
              <a:t>I</a:t>
            </a:r>
            <a:endParaRPr lang="en-US" sz="30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ATTAINMENT 1 · COMPONENT 1</a:t>
            </a:r>
            <a:endParaRPr lang="en-US" sz="1100" dirty="0"/>
          </a:p>
        </p:txBody>
      </p:sp>
      <p:sp>
        <p:nvSpPr>
          <p:cNvPr id="4" name="Text 2"/>
          <p:cNvSpPr/>
          <p:nvPr/>
        </p:nvSpPr>
        <p:spPr>
          <a:xfrm>
            <a:off x="822960" y="1737360"/>
            <a:ext cx="7680960" cy="2377440"/>
          </a:xfrm>
          <a:prstGeom prst="rect">
            <a:avLst/>
          </a:prstGeom>
          <a:noFill/>
          <a:ln/>
        </p:spPr>
        <p:txBody>
          <a:bodyPr wrap="square" lIns="0" tIns="0" rIns="0" bIns="0" rtlCol="0" anchor="t"/>
          <a:lstStyle/>
          <a:p>
            <a:pPr indent="0" marL="0">
              <a:lnSpc>
                <a:spcPts val="6200"/>
              </a:lnSpc>
              <a:buNone/>
            </a:pPr>
            <a:r>
              <a:rPr lang="en-US" sz="6200" dirty="0">
                <a:solidFill>
                  <a:srgbClr val="24313F"/>
                </a:solidFill>
                <a:latin typeface="Georgia" pitchFamily="34" charset="0"/>
                <a:ea typeface="Georgia" pitchFamily="34" charset="-122"/>
                <a:cs typeface="Georgia" pitchFamily="34" charset="-120"/>
              </a:rPr>
              <a:t>Recording</a:t>
            </a:r>
            <a:endParaRPr lang="en-US" sz="6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772400" cy="457200"/>
          </a:xfrm>
          <a:prstGeom prst="rect">
            <a:avLst/>
          </a:prstGeom>
          <a:noFill/>
          <a:ln/>
        </p:spPr>
        <p:txBody>
          <a:bodyPr wrap="square" lIns="0" tIns="0" rIns="0" bIns="0" rtlCol="0" anchor="ctr"/>
          <a:lstStyle/>
          <a:p>
            <a:pPr indent="0" marL="0">
              <a:buNone/>
            </a:pPr>
            <a:r>
              <a:rPr lang="en-US" sz="2100" i="1" dirty="0">
                <a:solidFill>
                  <a:srgbClr val="7A7F72"/>
                </a:solidFill>
                <a:latin typeface="Georgia" pitchFamily="34" charset="0"/>
                <a:ea typeface="Georgia" pitchFamily="34" charset="-122"/>
                <a:cs typeface="Georgia" pitchFamily="34" charset="-120"/>
              </a:rPr>
              <a:t>Everything recorded so far, looked at together</a:t>
            </a:r>
            <a:endParaRPr lang="en-US" sz="2100" dirty="0"/>
          </a:p>
        </p:txBody>
      </p:sp>
      <p:sp>
        <p:nvSpPr>
          <p:cNvPr id="7" name="Text 5"/>
          <p:cNvSpPr/>
          <p:nvPr/>
        </p:nvSpPr>
        <p:spPr>
          <a:xfrm>
            <a:off x="822960" y="507492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Sits Friday 9 October  ·  Marked against AO1  ·  Announced Thursday 24 September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680960" y="640080"/>
            <a:ext cx="4023360" cy="5577840"/>
          </a:xfrm>
          <a:prstGeom prst="rect">
            <a:avLst/>
          </a:prstGeom>
          <a:noFill/>
          <a:ln/>
        </p:spPr>
        <p:txBody>
          <a:bodyPr wrap="square" lIns="0" tIns="0" rIns="0" bIns="0" rtlCol="0" anchor="ctr"/>
          <a:lstStyle/>
          <a:p>
            <a:pPr algn="ctr" indent="0" marL="0">
              <a:buNone/>
            </a:pPr>
            <a:r>
              <a:rPr lang="en-US" sz="20000" dirty="0">
                <a:solidFill>
                  <a:srgbClr val="5C7A6B"/>
                </a:solidFill>
                <a:latin typeface="Georgia" pitchFamily="34" charset="0"/>
                <a:ea typeface="Georgia" pitchFamily="34" charset="-122"/>
                <a:cs typeface="Georgia" pitchFamily="34" charset="-120"/>
              </a:rPr>
              <a:t>AO1</a:t>
            </a:r>
            <a:endParaRPr lang="en-US" sz="20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WHAT IS BEING MARKED</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315200" cy="2194560"/>
          </a:xfrm>
          <a:prstGeom prst="rect">
            <a:avLst/>
          </a:prstGeom>
          <a:noFill/>
          <a:ln/>
        </p:spPr>
        <p:txBody>
          <a:bodyPr wrap="square" lIns="0" tIns="0" rIns="0" bIns="0" rtlCol="0" anchor="t"/>
          <a:lstStyle/>
          <a:p>
            <a:pPr indent="0" marL="0">
              <a:lnSpc>
                <a:spcPts val="5600"/>
              </a:lnSpc>
              <a:buNone/>
            </a:pPr>
            <a:r>
              <a:rPr lang="en-US" sz="5400" dirty="0">
                <a:solidFill>
                  <a:srgbClr val="FAF8F1"/>
                </a:solidFill>
                <a:latin typeface="Georgia" pitchFamily="34" charset="0"/>
                <a:ea typeface="Georgia" pitchFamily="34" charset="-122"/>
                <a:cs typeface="Georgia" pitchFamily="34" charset="-120"/>
              </a:rPr>
              <a:t>Record from the</a:t>
            </a:r>
            <a:endParaRPr lang="en-US" sz="5400" dirty="0"/>
          </a:p>
          <a:p>
            <a:pPr indent="0" marL="0">
              <a:lnSpc>
                <a:spcPts val="5600"/>
              </a:lnSpc>
              <a:buNone/>
            </a:pPr>
            <a:r>
              <a:rPr lang="en-US" sz="5400" dirty="0">
                <a:solidFill>
                  <a:srgbClr val="FAF8F1"/>
                </a:solidFill>
                <a:latin typeface="Georgia" pitchFamily="34" charset="0"/>
                <a:ea typeface="Georgia" pitchFamily="34" charset="-122"/>
                <a:cs typeface="Georgia" pitchFamily="34" charset="-120"/>
              </a:rPr>
              <a:t>thing itself.</a:t>
            </a:r>
            <a:endParaRPr lang="en-US" sz="5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BRIEF</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FOUR THINGS, ONE FOLDER</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What you hand in</a:t>
            </a:r>
            <a:endParaRPr lang="en-US" sz="3200" dirty="0"/>
          </a:p>
        </p:txBody>
      </p:sp>
      <p:sp>
        <p:nvSpPr>
          <p:cNvPr id="6" name="Text 4"/>
          <p:cNvSpPr/>
          <p:nvPr/>
        </p:nvSpPr>
        <p:spPr>
          <a:xfrm>
            <a:off x="822960" y="1783080"/>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1554480" y="1783080"/>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Written intention</a:t>
            </a:r>
            <a:endParaRPr lang="en-US" sz="1250" dirty="0"/>
          </a:p>
        </p:txBody>
      </p:sp>
      <p:sp>
        <p:nvSpPr>
          <p:cNvPr id="8" name="Text 6"/>
          <p:cNvSpPr/>
          <p:nvPr/>
        </p:nvSpPr>
        <p:spPr>
          <a:xfrm>
            <a:off x="5212080" y="1709928"/>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What you are looking at on your theme, and why. In your own words, in writing, before the studies.</a:t>
            </a:r>
            <a:endParaRPr lang="en-US" sz="1450" dirty="0"/>
          </a:p>
        </p:txBody>
      </p:sp>
      <p:sp>
        <p:nvSpPr>
          <p:cNvPr id="9" name="Shape 7"/>
          <p:cNvSpPr/>
          <p:nvPr/>
        </p:nvSpPr>
        <p:spPr>
          <a:xfrm>
            <a:off x="822960" y="2368296"/>
            <a:ext cx="10543032" cy="0"/>
          </a:xfrm>
          <a:prstGeom prst="line">
            <a:avLst/>
          </a:prstGeom>
          <a:noFill/>
          <a:ln w="9525">
            <a:solidFill>
              <a:srgbClr val="D9D4C4"/>
            </a:solidFill>
            <a:prstDash val="solid"/>
          </a:ln>
        </p:spPr>
      </p:sp>
      <p:sp>
        <p:nvSpPr>
          <p:cNvPr id="10" name="Text 8"/>
          <p:cNvSpPr/>
          <p:nvPr/>
        </p:nvSpPr>
        <p:spPr>
          <a:xfrm>
            <a:off x="822960" y="2624328"/>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02</a:t>
            </a:r>
            <a:endParaRPr lang="en-US" sz="2000" dirty="0"/>
          </a:p>
        </p:txBody>
      </p:sp>
      <p:sp>
        <p:nvSpPr>
          <p:cNvPr id="11" name="Text 9"/>
          <p:cNvSpPr/>
          <p:nvPr/>
        </p:nvSpPr>
        <p:spPr>
          <a:xfrm>
            <a:off x="1554480" y="2624328"/>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Stage 1 page</a:t>
            </a:r>
            <a:endParaRPr lang="en-US" sz="1250" dirty="0"/>
          </a:p>
        </p:txBody>
      </p:sp>
      <p:sp>
        <p:nvSpPr>
          <p:cNvPr id="12" name="Text 10"/>
          <p:cNvSpPr/>
          <p:nvPr/>
        </p:nvSpPr>
        <p:spPr>
          <a:xfrm>
            <a:off x="5212080" y="2551176"/>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Your recording composed so a stranger can follow the thinking, not a page of loose studies.</a:t>
            </a:r>
            <a:endParaRPr lang="en-US" sz="1450" dirty="0"/>
          </a:p>
        </p:txBody>
      </p:sp>
      <p:sp>
        <p:nvSpPr>
          <p:cNvPr id="13" name="Shape 11"/>
          <p:cNvSpPr/>
          <p:nvPr/>
        </p:nvSpPr>
        <p:spPr>
          <a:xfrm>
            <a:off x="822960" y="3209544"/>
            <a:ext cx="10543032" cy="0"/>
          </a:xfrm>
          <a:prstGeom prst="line">
            <a:avLst/>
          </a:prstGeom>
          <a:noFill/>
          <a:ln w="9525">
            <a:solidFill>
              <a:srgbClr val="D9D4C4"/>
            </a:solidFill>
            <a:prstDash val="solid"/>
          </a:ln>
        </p:spPr>
      </p:sp>
      <p:sp>
        <p:nvSpPr>
          <p:cNvPr id="14" name="Text 12"/>
          <p:cNvSpPr/>
          <p:nvPr/>
        </p:nvSpPr>
        <p:spPr>
          <a:xfrm>
            <a:off x="822960" y="3465576"/>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03</a:t>
            </a:r>
            <a:endParaRPr lang="en-US" sz="2000" dirty="0"/>
          </a:p>
        </p:txBody>
      </p:sp>
      <p:sp>
        <p:nvSpPr>
          <p:cNvPr id="15" name="Text 13"/>
          <p:cNvSpPr/>
          <p:nvPr/>
        </p:nvSpPr>
        <p:spPr>
          <a:xfrm>
            <a:off x="1554480" y="3465576"/>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The sustained study</a:t>
            </a:r>
            <a:endParaRPr lang="en-US" sz="1250" dirty="0"/>
          </a:p>
        </p:txBody>
      </p:sp>
      <p:sp>
        <p:nvSpPr>
          <p:cNvPr id="16" name="Text 14"/>
          <p:cNvSpPr/>
          <p:nvPr/>
        </p:nvSpPr>
        <p:spPr>
          <a:xfrm>
            <a:off x="5212080" y="3392424"/>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One observed study carried across two days without restarting it.</a:t>
            </a:r>
            <a:endParaRPr lang="en-US" sz="1450" dirty="0"/>
          </a:p>
        </p:txBody>
      </p:sp>
      <p:sp>
        <p:nvSpPr>
          <p:cNvPr id="17" name="Shape 15"/>
          <p:cNvSpPr/>
          <p:nvPr/>
        </p:nvSpPr>
        <p:spPr>
          <a:xfrm>
            <a:off x="822960" y="4050792"/>
            <a:ext cx="10543032" cy="0"/>
          </a:xfrm>
          <a:prstGeom prst="line">
            <a:avLst/>
          </a:prstGeom>
          <a:noFill/>
          <a:ln w="9525">
            <a:solidFill>
              <a:srgbClr val="D9D4C4"/>
            </a:solidFill>
            <a:prstDash val="solid"/>
          </a:ln>
        </p:spPr>
      </p:sp>
      <p:sp>
        <p:nvSpPr>
          <p:cNvPr id="18" name="Text 16"/>
          <p:cNvSpPr/>
          <p:nvPr/>
        </p:nvSpPr>
        <p:spPr>
          <a:xfrm>
            <a:off x="822960" y="4306824"/>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04</a:t>
            </a:r>
            <a:endParaRPr lang="en-US" sz="2000" dirty="0"/>
          </a:p>
        </p:txBody>
      </p:sp>
      <p:sp>
        <p:nvSpPr>
          <p:cNvPr id="19" name="Text 17"/>
          <p:cNvSpPr/>
          <p:nvPr/>
        </p:nvSpPr>
        <p:spPr>
          <a:xfrm>
            <a:off x="1554480" y="4306824"/>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Supporting studies</a:t>
            </a:r>
            <a:endParaRPr lang="en-US" sz="1250" dirty="0"/>
          </a:p>
        </p:txBody>
      </p:sp>
      <p:sp>
        <p:nvSpPr>
          <p:cNvPr id="20" name="Text 18"/>
          <p:cNvSpPr/>
          <p:nvPr/>
        </p:nvSpPr>
        <p:spPr>
          <a:xfrm>
            <a:off x="5212080" y="4233672"/>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Focused colour and texture work that supports the sustained study rather than repeating it.</a:t>
            </a:r>
            <a:endParaRPr lang="en-US" sz="1450" dirty="0"/>
          </a:p>
        </p:txBody>
      </p:sp>
      <p:sp>
        <p:nvSpPr>
          <p:cNvPr id="21" name="Shape 19"/>
          <p:cNvSpPr/>
          <p:nvPr/>
        </p:nvSpPr>
        <p:spPr>
          <a:xfrm>
            <a:off x="822960" y="4892040"/>
            <a:ext cx="10543032" cy="0"/>
          </a:xfrm>
          <a:prstGeom prst="line">
            <a:avLst/>
          </a:prstGeom>
          <a:noFill/>
          <a:ln w="9525">
            <a:solidFill>
              <a:srgbClr val="D9D4C4"/>
            </a:solidFill>
            <a:prstDash val="solid"/>
          </a:ln>
        </p:spPr>
      </p:sp>
      <p:sp>
        <p:nvSpPr>
          <p:cNvPr id="22" name="Shape 20"/>
          <p:cNvSpPr/>
          <p:nvPr/>
        </p:nvSpPr>
        <p:spPr>
          <a:xfrm>
            <a:off x="822960" y="6382512"/>
            <a:ext cx="10543032" cy="0"/>
          </a:xfrm>
          <a:prstGeom prst="line">
            <a:avLst/>
          </a:prstGeom>
          <a:noFill/>
          <a:ln w="9525">
            <a:solidFill>
              <a:srgbClr val="D9D4C4"/>
            </a:solidFill>
            <a:prstDash val="solid"/>
          </a:ln>
        </p:spPr>
      </p:sp>
      <p:sp>
        <p:nvSpPr>
          <p:cNvPr id="23" name="Text 2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4" name="Text 2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rubens-sheet-forearm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WHAT RECORDING LOOKS LIKE</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One problem, returned to across a single sheet until it is solved.</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Peter Paul Rubens, sheet of anatomical studies. Public domain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AO1 · RECORD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15 OF THE 60 MARKS IN C1</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What the objective actually rewards</a:t>
            </a:r>
            <a:endParaRPr lang="en-US" sz="3200" dirty="0"/>
          </a:p>
        </p:txBody>
      </p:sp>
      <p:sp>
        <p:nvSpPr>
          <p:cNvPr id="6" name="Text 4"/>
          <p:cNvSpPr/>
          <p:nvPr/>
        </p:nvSpPr>
        <p:spPr>
          <a:xfrm>
            <a:off x="822960" y="201168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First-hand sources</a:t>
            </a:r>
            <a:endParaRPr lang="en-US" sz="1350" dirty="0"/>
          </a:p>
        </p:txBody>
      </p:sp>
      <p:sp>
        <p:nvSpPr>
          <p:cNvPr id="7" name="Shape 5"/>
          <p:cNvSpPr/>
          <p:nvPr/>
        </p:nvSpPr>
        <p:spPr>
          <a:xfrm>
            <a:off x="822960" y="2651760"/>
            <a:ext cx="3246120" cy="0"/>
          </a:xfrm>
          <a:prstGeom prst="line">
            <a:avLst/>
          </a:prstGeom>
          <a:noFill/>
          <a:ln w="9525">
            <a:solidFill>
              <a:srgbClr val="D9D4C4"/>
            </a:solidFill>
            <a:prstDash val="solid"/>
          </a:ln>
        </p:spPr>
      </p:sp>
      <p:sp>
        <p:nvSpPr>
          <p:cNvPr id="8" name="Text 6"/>
          <p:cNvSpPr/>
          <p:nvPr/>
        </p:nvSpPr>
        <p:spPr>
          <a:xfrm>
            <a:off x="822960" y="2788920"/>
            <a:ext cx="3246120" cy="265176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Your own photographs, your own objects, in front of you. The marker can tell, and the difference between drawing from life and drawing from a screen is visible in the drawing.</a:t>
            </a:r>
            <a:endParaRPr lang="en-US" sz="1550" dirty="0"/>
          </a:p>
        </p:txBody>
      </p:sp>
      <p:sp>
        <p:nvSpPr>
          <p:cNvPr id="9" name="Text 7"/>
          <p:cNvSpPr/>
          <p:nvPr/>
        </p:nvSpPr>
        <p:spPr>
          <a:xfrm>
            <a:off x="4471416" y="201168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Sustained observation</a:t>
            </a:r>
            <a:endParaRPr lang="en-US" sz="1350" dirty="0"/>
          </a:p>
        </p:txBody>
      </p:sp>
      <p:sp>
        <p:nvSpPr>
          <p:cNvPr id="10" name="Shape 8"/>
          <p:cNvSpPr/>
          <p:nvPr/>
        </p:nvSpPr>
        <p:spPr>
          <a:xfrm>
            <a:off x="4471416" y="2651760"/>
            <a:ext cx="3246120" cy="0"/>
          </a:xfrm>
          <a:prstGeom prst="line">
            <a:avLst/>
          </a:prstGeom>
          <a:noFill/>
          <a:ln w="9525">
            <a:solidFill>
              <a:srgbClr val="D9D4C4"/>
            </a:solidFill>
            <a:prstDash val="solid"/>
          </a:ln>
        </p:spPr>
      </p:sp>
      <p:sp>
        <p:nvSpPr>
          <p:cNvPr id="11" name="Text 9"/>
          <p:cNvSpPr/>
          <p:nvPr/>
        </p:nvSpPr>
        <p:spPr>
          <a:xfrm>
            <a:off x="4471416" y="2788920"/>
            <a:ext cx="3246120" cy="265176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Duration is the evidence. A study held across two sessions shows something that four quick studies cannot, which is why the timetable protects the two-day run.</a:t>
            </a:r>
            <a:endParaRPr lang="en-US" sz="1550" dirty="0"/>
          </a:p>
        </p:txBody>
      </p:sp>
      <p:sp>
        <p:nvSpPr>
          <p:cNvPr id="12" name="Text 10"/>
          <p:cNvSpPr/>
          <p:nvPr/>
        </p:nvSpPr>
        <p:spPr>
          <a:xfrm>
            <a:off x="8119872" y="201168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Recording that reads</a:t>
            </a:r>
            <a:endParaRPr lang="en-US" sz="1350" dirty="0"/>
          </a:p>
        </p:txBody>
      </p:sp>
      <p:sp>
        <p:nvSpPr>
          <p:cNvPr id="13" name="Shape 11"/>
          <p:cNvSpPr/>
          <p:nvPr/>
        </p:nvSpPr>
        <p:spPr>
          <a:xfrm>
            <a:off x="8119872" y="2651760"/>
            <a:ext cx="3246120" cy="0"/>
          </a:xfrm>
          <a:prstGeom prst="line">
            <a:avLst/>
          </a:prstGeom>
          <a:noFill/>
          <a:ln w="9525">
            <a:solidFill>
              <a:srgbClr val="D9D4C4"/>
            </a:solidFill>
            <a:prstDash val="solid"/>
          </a:ln>
        </p:spPr>
      </p:sp>
      <p:sp>
        <p:nvSpPr>
          <p:cNvPr id="14" name="Text 12"/>
          <p:cNvSpPr/>
          <p:nvPr/>
        </p:nvSpPr>
        <p:spPr>
          <a:xfrm>
            <a:off x="8119872" y="2788920"/>
            <a:ext cx="3246120" cy="265176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Pages composed so the thinking is legible without you standing next to them. Annotation is typed, and it is marked inside AO3.</a:t>
            </a:r>
            <a:endParaRPr lang="en-US" sz="1550" dirty="0"/>
          </a:p>
        </p:txBody>
      </p:sp>
      <p:sp>
        <p:nvSpPr>
          <p:cNvPr id="15" name="Shape 13"/>
          <p:cNvSpPr/>
          <p:nvPr/>
        </p:nvSpPr>
        <p:spPr>
          <a:xfrm>
            <a:off x="822960" y="6382512"/>
            <a:ext cx="10543032" cy="0"/>
          </a:xfrm>
          <a:prstGeom prst="line">
            <a:avLst/>
          </a:prstGeom>
          <a:noFill/>
          <a:ln w="9525">
            <a:solidFill>
              <a:srgbClr val="D9D4C4"/>
            </a:solidFill>
            <a:prstDash val="solid"/>
          </a:ln>
        </p:spPr>
      </p:sp>
      <p:sp>
        <p:nvSpPr>
          <p:cNvPr id="16"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17"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repin-naked-sketch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Ilya Repin, study. Public domain</a:t>
            </a:r>
            <a:endParaRPr lang="en-US" sz="950" dirty="0"/>
          </a:p>
        </p:txBody>
      </p:sp>
      <p:sp>
        <p:nvSpPr>
          <p:cNvPr id="4" name="Text 1"/>
          <p:cNvSpPr/>
          <p:nvPr/>
        </p:nvSpPr>
        <p:spPr>
          <a:xfrm>
            <a:off x="822960" y="6858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SUSTAINED STUDY</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234440"/>
            <a:ext cx="6217920" cy="1737360"/>
          </a:xfrm>
          <a:prstGeom prst="rect">
            <a:avLst/>
          </a:prstGeom>
          <a:noFill/>
          <a:ln/>
        </p:spPr>
        <p:txBody>
          <a:bodyPr wrap="square" lIns="0" tIns="0" rIns="0" bIns="0" rtlCol="0" anchor="t"/>
          <a:lstStyle/>
          <a:p>
            <a:pPr indent="0" marL="0">
              <a:lnSpc>
                <a:spcPts val="4900"/>
              </a:lnSpc>
              <a:buNone/>
            </a:pPr>
            <a:r>
              <a:rPr lang="en-US" sz="4600" dirty="0">
                <a:solidFill>
                  <a:srgbClr val="24313F"/>
                </a:solidFill>
                <a:latin typeface="Georgia" pitchFamily="34" charset="0"/>
                <a:ea typeface="Georgia" pitchFamily="34" charset="-122"/>
                <a:cs typeface="Georgia" pitchFamily="34" charset="-120"/>
              </a:rPr>
              <a:t>Do not</a:t>
            </a:r>
            <a:endParaRPr lang="en-US" sz="4600" dirty="0"/>
          </a:p>
          <a:p>
            <a:pPr indent="0" marL="0">
              <a:lnSpc>
                <a:spcPts val="4900"/>
              </a:lnSpc>
              <a:buNone/>
            </a:pPr>
            <a:r>
              <a:rPr lang="en-US" sz="4600" dirty="0">
                <a:solidFill>
                  <a:srgbClr val="24313F"/>
                </a:solidFill>
                <a:latin typeface="Georgia" pitchFamily="34" charset="0"/>
                <a:ea typeface="Georgia" pitchFamily="34" charset="-122"/>
                <a:cs typeface="Georgia" pitchFamily="34" charset="-120"/>
              </a:rPr>
              <a:t>start again</a:t>
            </a:r>
            <a:endParaRPr lang="en-US" sz="4600" dirty="0"/>
          </a:p>
        </p:txBody>
      </p:sp>
      <p:sp>
        <p:nvSpPr>
          <p:cNvPr id="7" name="Text 4"/>
          <p:cNvSpPr/>
          <p:nvPr/>
        </p:nvSpPr>
        <p:spPr>
          <a:xfrm>
            <a:off x="822960" y="3246120"/>
            <a:ext cx="6309360" cy="246888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The instinct when a study goes wrong at hour three is to turn the page. Resist it. A study carried through its bad patch and resolved is worth more here than three fresh starts, because what is being assessed is your capacity to keep looking after the interest has worn off.</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6200"/>
              </a:lnSpc>
              <a:buNone/>
            </a:pPr>
            <a:r>
              <a:rPr lang="en-US" sz="5400" dirty="0">
                <a:solidFill>
                  <a:srgbClr val="24313F"/>
                </a:solidFill>
                <a:latin typeface="Georgia" pitchFamily="34" charset="0"/>
                <a:ea typeface="Georgia" pitchFamily="34" charset="-122"/>
                <a:cs typeface="Georgia" pitchFamily="34" charset="-120"/>
              </a:rPr>
              <a:t>Stamina is the content.</a:t>
            </a:r>
            <a:endParaRPr lang="en-US" sz="54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Unit 2, on the sustained study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TWO WAYS OF RECORDING</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BOTH COUNT, FOR DIFFERENT REASONS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The study and the sheet</a:t>
            </a:r>
            <a:endParaRPr lang="en-US" sz="3000" dirty="0"/>
          </a:p>
        </p:txBody>
      </p:sp>
      <p:sp>
        <p:nvSpPr>
          <p:cNvPr id="6" name="Shape 4"/>
          <p:cNvSpPr/>
          <p:nvPr/>
        </p:nvSpPr>
        <p:spPr>
          <a:xfrm>
            <a:off x="822960" y="1600200"/>
            <a:ext cx="3270504" cy="3200400"/>
          </a:xfrm>
          <a:prstGeom prst="rect">
            <a:avLst/>
          </a:prstGeom>
          <a:solidFill>
            <a:srgbClr val="FAF8F1"/>
          </a:solidFill>
          <a:ln w="9525">
            <a:solidFill>
              <a:srgbClr val="D9D4C4"/>
            </a:solidFill>
            <a:prstDash val="solid"/>
          </a:ln>
        </p:spPr>
      </p:sp>
      <p:pic>
        <p:nvPicPr>
          <p:cNvPr id="7" name="Image 0" descr="/private/tmp/claude-501/-Users-dogan-Documents-Vaults-Courses/3954bcc8-cc8d-4110-bd5a-74962061a805/scratchpad/decks/img/rubens-three-figures.jpg">    </p:cNvPr>
          <p:cNvPicPr>
            <a:picLocks noChangeAspect="1"/>
          </p:cNvPicPr>
          <p:nvPr/>
        </p:nvPicPr>
        <p:blipFill>
          <a:blip r:embed="rId1"/>
          <a:stretch>
            <a:fillRect/>
          </a:stretch>
        </p:blipFill>
        <p:spPr>
          <a:xfrm>
            <a:off x="1483973" y="1728216"/>
            <a:ext cx="1948479" cy="2944368"/>
          </a:xfrm>
          <a:prstGeom prst="rect">
            <a:avLst/>
          </a:prstGeom>
        </p:spPr>
      </p:pic>
      <p:sp>
        <p:nvSpPr>
          <p:cNvPr id="8" name="Text 5"/>
          <p:cNvSpPr/>
          <p:nvPr/>
        </p:nvSpPr>
        <p:spPr>
          <a:xfrm>
            <a:off x="822960"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Repeated</a:t>
            </a:r>
            <a:endParaRPr lang="en-US" sz="1250" dirty="0"/>
          </a:p>
        </p:txBody>
      </p:sp>
      <p:sp>
        <p:nvSpPr>
          <p:cNvPr id="9" name="Text 6"/>
          <p:cNvSpPr/>
          <p:nvPr/>
        </p:nvSpPr>
        <p:spPr>
          <a:xfrm>
            <a:off x="822960"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One subject, several positions</a:t>
            </a:r>
            <a:endParaRPr lang="en-US" sz="1400" dirty="0"/>
          </a:p>
        </p:txBody>
      </p:sp>
      <p:sp>
        <p:nvSpPr>
          <p:cNvPr id="10" name="Shape 7"/>
          <p:cNvSpPr/>
          <p:nvPr/>
        </p:nvSpPr>
        <p:spPr>
          <a:xfrm>
            <a:off x="4459224" y="1600200"/>
            <a:ext cx="3270504" cy="3200400"/>
          </a:xfrm>
          <a:prstGeom prst="rect">
            <a:avLst/>
          </a:prstGeom>
          <a:solidFill>
            <a:srgbClr val="FAF8F1"/>
          </a:solidFill>
          <a:ln w="9525">
            <a:solidFill>
              <a:srgbClr val="D9D4C4"/>
            </a:solidFill>
            <a:prstDash val="solid"/>
          </a:ln>
        </p:spPr>
      </p:sp>
      <p:pic>
        <p:nvPicPr>
          <p:cNvPr id="11" name="Image 1" descr="/private/tmp/claude-501/-Users-dogan-Documents-Vaults-Courses/3954bcc8-cc8d-4110-bd5a-74962061a805/scratchpad/decks/img/rubens-anatomical-studies.jpg">    </p:cNvPr>
          <p:cNvPicPr>
            <a:picLocks noChangeAspect="1"/>
          </p:cNvPicPr>
          <p:nvPr/>
        </p:nvPicPr>
        <p:blipFill>
          <a:blip r:embed="rId2"/>
          <a:stretch>
            <a:fillRect/>
          </a:stretch>
        </p:blipFill>
        <p:spPr>
          <a:xfrm>
            <a:off x="5098587" y="1728216"/>
            <a:ext cx="1991778" cy="2944368"/>
          </a:xfrm>
          <a:prstGeom prst="rect">
            <a:avLst/>
          </a:prstGeom>
        </p:spPr>
      </p:pic>
      <p:sp>
        <p:nvSpPr>
          <p:cNvPr id="12" name="Text 8"/>
          <p:cNvSpPr/>
          <p:nvPr/>
        </p:nvSpPr>
        <p:spPr>
          <a:xfrm>
            <a:off x="4459224"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Analytical</a:t>
            </a:r>
            <a:endParaRPr lang="en-US" sz="1250" dirty="0"/>
          </a:p>
        </p:txBody>
      </p:sp>
      <p:sp>
        <p:nvSpPr>
          <p:cNvPr id="13" name="Text 9"/>
          <p:cNvSpPr/>
          <p:nvPr/>
        </p:nvSpPr>
        <p:spPr>
          <a:xfrm>
            <a:off x="4459224"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Structure worked out in the open</a:t>
            </a:r>
            <a:endParaRPr lang="en-US" sz="1400" dirty="0"/>
          </a:p>
        </p:txBody>
      </p:sp>
      <p:sp>
        <p:nvSpPr>
          <p:cNvPr id="14" name="Shape 10"/>
          <p:cNvSpPr/>
          <p:nvPr/>
        </p:nvSpPr>
        <p:spPr>
          <a:xfrm>
            <a:off x="8095488" y="1600200"/>
            <a:ext cx="3270504" cy="3200400"/>
          </a:xfrm>
          <a:prstGeom prst="rect">
            <a:avLst/>
          </a:prstGeom>
          <a:solidFill>
            <a:srgbClr val="FAF8F1"/>
          </a:solidFill>
          <a:ln w="9525">
            <a:solidFill>
              <a:srgbClr val="D9D4C4"/>
            </a:solidFill>
            <a:prstDash val="solid"/>
          </a:ln>
        </p:spPr>
      </p:sp>
      <p:pic>
        <p:nvPicPr>
          <p:cNvPr id="15" name="Image 2" descr="/private/tmp/claude-501/-Users-dogan-Documents-Vaults-Courses/3954bcc8-cc8d-4110-bd5a-74962061a805/scratchpad/decks/img/repin-stoking-fire.jpg">    </p:cNvPr>
          <p:cNvPicPr>
            <a:picLocks noChangeAspect="1"/>
          </p:cNvPicPr>
          <p:nvPr/>
        </p:nvPicPr>
        <p:blipFill>
          <a:blip r:embed="rId3"/>
          <a:stretch>
            <a:fillRect/>
          </a:stretch>
        </p:blipFill>
        <p:spPr>
          <a:xfrm>
            <a:off x="8223504" y="2094798"/>
            <a:ext cx="3014472" cy="2211204"/>
          </a:xfrm>
          <a:prstGeom prst="rect">
            <a:avLst/>
          </a:prstGeom>
        </p:spPr>
      </p:pic>
      <p:sp>
        <p:nvSpPr>
          <p:cNvPr id="16" name="Text 11"/>
          <p:cNvSpPr/>
          <p:nvPr/>
        </p:nvSpPr>
        <p:spPr>
          <a:xfrm>
            <a:off x="8095488"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Sustained</a:t>
            </a:r>
            <a:endParaRPr lang="en-US" sz="1250" dirty="0"/>
          </a:p>
        </p:txBody>
      </p:sp>
      <p:sp>
        <p:nvSpPr>
          <p:cNvPr id="17" name="Text 12"/>
          <p:cNvSpPr/>
          <p:nvPr/>
        </p:nvSpPr>
        <p:spPr>
          <a:xfrm>
            <a:off x="8095488"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One long look, resolved</a:t>
            </a:r>
            <a:endParaRPr lang="en-US" sz="1400" dirty="0"/>
          </a:p>
        </p:txBody>
      </p:sp>
      <p:sp>
        <p:nvSpPr>
          <p:cNvPr id="18" name="Text 13"/>
          <p:cNvSpPr/>
          <p:nvPr/>
        </p:nvSpPr>
        <p:spPr>
          <a:xfrm>
            <a:off x="822960" y="5623560"/>
            <a:ext cx="10543032" cy="32004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Rubens and Repin, public domain. Shown whole, as study material rather than as a style to copy.</a:t>
            </a:r>
            <a:endParaRPr lang="en-US" sz="1000" dirty="0"/>
          </a:p>
        </p:txBody>
      </p:sp>
      <p:sp>
        <p:nvSpPr>
          <p:cNvPr id="19" name="Shape 14"/>
          <p:cNvSpPr/>
          <p:nvPr/>
        </p:nvSpPr>
        <p:spPr>
          <a:xfrm>
            <a:off x="822960" y="6382512"/>
            <a:ext cx="10543032" cy="0"/>
          </a:xfrm>
          <a:prstGeom prst="line">
            <a:avLst/>
          </a:prstGeom>
          <a:noFill/>
          <a:ln w="9525">
            <a:solidFill>
              <a:srgbClr val="D9D4C4"/>
            </a:solidFill>
            <a:prstDash val="solid"/>
          </a:ln>
        </p:spPr>
      </p:sp>
      <p:sp>
        <p:nvSpPr>
          <p:cNvPr id="20" name="Text 1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1" name="Text 1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WHAT LOSES MARKS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EVERY ONE OF THESE IS AVOIDABLE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Four ways A1 goes wrong</a:t>
            </a:r>
            <a:endParaRPr lang="en-US" sz="3200" dirty="0"/>
          </a:p>
        </p:txBody>
      </p:sp>
      <p:sp>
        <p:nvSpPr>
          <p:cNvPr id="6" name="Shape 4"/>
          <p:cNvSpPr/>
          <p:nvPr/>
        </p:nvSpPr>
        <p:spPr>
          <a:xfrm>
            <a:off x="822960" y="1965960"/>
            <a:ext cx="502920" cy="0"/>
          </a:xfrm>
          <a:prstGeom prst="line">
            <a:avLst/>
          </a:prstGeom>
          <a:noFill/>
          <a:ln w="31750">
            <a:solidFill>
              <a:srgbClr val="8C3A38"/>
            </a:solidFill>
            <a:prstDash val="solid"/>
          </a:ln>
        </p:spPr>
      </p:sp>
      <p:sp>
        <p:nvSpPr>
          <p:cNvPr id="7" name="Text 5"/>
          <p:cNvSpPr/>
          <p:nvPr/>
        </p:nvSpPr>
        <p:spPr>
          <a:xfrm>
            <a:off x="1508760" y="1783080"/>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Recording from a screen</a:t>
            </a:r>
            <a:endParaRPr lang="en-US" sz="1250" dirty="0"/>
          </a:p>
        </p:txBody>
      </p:sp>
      <p:sp>
        <p:nvSpPr>
          <p:cNvPr id="8" name="Text 6"/>
          <p:cNvSpPr/>
          <p:nvPr/>
        </p:nvSpPr>
        <p:spPr>
          <a:xfrm>
            <a:off x="5257800" y="1709928"/>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The single most common cap on AO1. Photograph the thing yourself, then draw from the object and your own photograph.</a:t>
            </a:r>
            <a:endParaRPr lang="en-US" sz="1450" dirty="0"/>
          </a:p>
        </p:txBody>
      </p:sp>
      <p:sp>
        <p:nvSpPr>
          <p:cNvPr id="9" name="Shape 7"/>
          <p:cNvSpPr/>
          <p:nvPr/>
        </p:nvSpPr>
        <p:spPr>
          <a:xfrm>
            <a:off x="822960" y="2368296"/>
            <a:ext cx="10543032" cy="0"/>
          </a:xfrm>
          <a:prstGeom prst="line">
            <a:avLst/>
          </a:prstGeom>
          <a:noFill/>
          <a:ln w="9525">
            <a:solidFill>
              <a:srgbClr val="D9D4C4"/>
            </a:solidFill>
            <a:prstDash val="solid"/>
          </a:ln>
        </p:spPr>
      </p:sp>
      <p:sp>
        <p:nvSpPr>
          <p:cNvPr id="10" name="Shape 8"/>
          <p:cNvSpPr/>
          <p:nvPr/>
        </p:nvSpPr>
        <p:spPr>
          <a:xfrm>
            <a:off x="822960" y="2807208"/>
            <a:ext cx="502920" cy="0"/>
          </a:xfrm>
          <a:prstGeom prst="line">
            <a:avLst/>
          </a:prstGeom>
          <a:noFill/>
          <a:ln w="31750">
            <a:solidFill>
              <a:srgbClr val="8C3A38"/>
            </a:solidFill>
            <a:prstDash val="solid"/>
          </a:ln>
        </p:spPr>
      </p:sp>
      <p:sp>
        <p:nvSpPr>
          <p:cNvPr id="11" name="Text 9"/>
          <p:cNvSpPr/>
          <p:nvPr/>
        </p:nvSpPr>
        <p:spPr>
          <a:xfrm>
            <a:off x="1508760" y="2624328"/>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Four restarts, no study</a:t>
            </a:r>
            <a:endParaRPr lang="en-US" sz="1250" dirty="0"/>
          </a:p>
        </p:txBody>
      </p:sp>
      <p:sp>
        <p:nvSpPr>
          <p:cNvPr id="12" name="Text 10"/>
          <p:cNvSpPr/>
          <p:nvPr/>
        </p:nvSpPr>
        <p:spPr>
          <a:xfrm>
            <a:off x="5257800" y="2551176"/>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A folder of beginnings reads as avoidance. One resolved study outranks any number of promising openings.</a:t>
            </a:r>
            <a:endParaRPr lang="en-US" sz="1450" dirty="0"/>
          </a:p>
        </p:txBody>
      </p:sp>
      <p:sp>
        <p:nvSpPr>
          <p:cNvPr id="13" name="Shape 11"/>
          <p:cNvSpPr/>
          <p:nvPr/>
        </p:nvSpPr>
        <p:spPr>
          <a:xfrm>
            <a:off x="822960" y="3209544"/>
            <a:ext cx="10543032" cy="0"/>
          </a:xfrm>
          <a:prstGeom prst="line">
            <a:avLst/>
          </a:prstGeom>
          <a:noFill/>
          <a:ln w="9525">
            <a:solidFill>
              <a:srgbClr val="D9D4C4"/>
            </a:solidFill>
            <a:prstDash val="solid"/>
          </a:ln>
        </p:spPr>
      </p:sp>
      <p:sp>
        <p:nvSpPr>
          <p:cNvPr id="14" name="Shape 12"/>
          <p:cNvSpPr/>
          <p:nvPr/>
        </p:nvSpPr>
        <p:spPr>
          <a:xfrm>
            <a:off x="822960" y="3648456"/>
            <a:ext cx="502920" cy="0"/>
          </a:xfrm>
          <a:prstGeom prst="line">
            <a:avLst/>
          </a:prstGeom>
          <a:noFill/>
          <a:ln w="31750">
            <a:solidFill>
              <a:srgbClr val="8C3A38"/>
            </a:solidFill>
            <a:prstDash val="solid"/>
          </a:ln>
        </p:spPr>
      </p:sp>
      <p:sp>
        <p:nvSpPr>
          <p:cNvPr id="15" name="Text 13"/>
          <p:cNvSpPr/>
          <p:nvPr/>
        </p:nvSpPr>
        <p:spPr>
          <a:xfrm>
            <a:off x="1508760" y="3465576"/>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A page of loose studies</a:t>
            </a:r>
            <a:endParaRPr lang="en-US" sz="1250" dirty="0"/>
          </a:p>
        </p:txBody>
      </p:sp>
      <p:sp>
        <p:nvSpPr>
          <p:cNvPr id="16" name="Text 14"/>
          <p:cNvSpPr/>
          <p:nvPr/>
        </p:nvSpPr>
        <p:spPr>
          <a:xfrm>
            <a:off x="5257800" y="3392424"/>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Unsequenced work makes the marker do your job. Compose the page: what leads, what supports, what the sequence argues.</a:t>
            </a:r>
            <a:endParaRPr lang="en-US" sz="1450" dirty="0"/>
          </a:p>
        </p:txBody>
      </p:sp>
      <p:sp>
        <p:nvSpPr>
          <p:cNvPr id="17" name="Shape 15"/>
          <p:cNvSpPr/>
          <p:nvPr/>
        </p:nvSpPr>
        <p:spPr>
          <a:xfrm>
            <a:off x="822960" y="4050792"/>
            <a:ext cx="10543032" cy="0"/>
          </a:xfrm>
          <a:prstGeom prst="line">
            <a:avLst/>
          </a:prstGeom>
          <a:noFill/>
          <a:ln w="9525">
            <a:solidFill>
              <a:srgbClr val="D9D4C4"/>
            </a:solidFill>
            <a:prstDash val="solid"/>
          </a:ln>
        </p:spPr>
      </p:sp>
      <p:sp>
        <p:nvSpPr>
          <p:cNvPr id="18" name="Shape 16"/>
          <p:cNvSpPr/>
          <p:nvPr/>
        </p:nvSpPr>
        <p:spPr>
          <a:xfrm>
            <a:off x="822960" y="4489704"/>
            <a:ext cx="502920" cy="0"/>
          </a:xfrm>
          <a:prstGeom prst="line">
            <a:avLst/>
          </a:prstGeom>
          <a:noFill/>
          <a:ln w="31750">
            <a:solidFill>
              <a:srgbClr val="8C3A38"/>
            </a:solidFill>
            <a:prstDash val="solid"/>
          </a:ln>
        </p:spPr>
      </p:sp>
      <p:sp>
        <p:nvSpPr>
          <p:cNvPr id="19" name="Text 17"/>
          <p:cNvSpPr/>
          <p:nvPr/>
        </p:nvSpPr>
        <p:spPr>
          <a:xfrm>
            <a:off x="1508760" y="4306824"/>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Annotation left for later</a:t>
            </a:r>
            <a:endParaRPr lang="en-US" sz="1250" dirty="0"/>
          </a:p>
        </p:txBody>
      </p:sp>
      <p:sp>
        <p:nvSpPr>
          <p:cNvPr id="20" name="Text 18"/>
          <p:cNvSpPr/>
          <p:nvPr/>
        </p:nvSpPr>
        <p:spPr>
          <a:xfrm>
            <a:off x="5257800" y="4233672"/>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There is no later. Annotation written the week before submission reads as invented, because it is.</a:t>
            </a:r>
            <a:endParaRPr lang="en-US" sz="1450" dirty="0"/>
          </a:p>
        </p:txBody>
      </p:sp>
      <p:sp>
        <p:nvSpPr>
          <p:cNvPr id="21" name="Shape 19"/>
          <p:cNvSpPr/>
          <p:nvPr/>
        </p:nvSpPr>
        <p:spPr>
          <a:xfrm>
            <a:off x="822960" y="4892040"/>
            <a:ext cx="10543032" cy="0"/>
          </a:xfrm>
          <a:prstGeom prst="line">
            <a:avLst/>
          </a:prstGeom>
          <a:noFill/>
          <a:ln w="9525">
            <a:solidFill>
              <a:srgbClr val="D9D4C4"/>
            </a:solidFill>
            <a:prstDash val="solid"/>
          </a:ln>
        </p:spPr>
      </p:sp>
      <p:sp>
        <p:nvSpPr>
          <p:cNvPr id="22" name="Shape 20"/>
          <p:cNvSpPr/>
          <p:nvPr/>
        </p:nvSpPr>
        <p:spPr>
          <a:xfrm>
            <a:off x="822960" y="6382512"/>
            <a:ext cx="10543032" cy="0"/>
          </a:xfrm>
          <a:prstGeom prst="line">
            <a:avLst/>
          </a:prstGeom>
          <a:noFill/>
          <a:ln w="9525">
            <a:solidFill>
              <a:srgbClr val="D9D4C4"/>
            </a:solidFill>
            <a:prstDash val="solid"/>
          </a:ln>
        </p:spPr>
      </p:sp>
      <p:sp>
        <p:nvSpPr>
          <p:cNvPr id="23" name="Text 2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4" name="Text 2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DATES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ANNOUNCED AHEAD, IN WRITING</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Three dates that matter</a:t>
            </a:r>
            <a:endParaRPr lang="en-US" sz="3600" dirty="0"/>
          </a:p>
        </p:txBody>
      </p:sp>
      <p:sp>
        <p:nvSpPr>
          <p:cNvPr id="6" name="Text 4"/>
          <p:cNvSpPr/>
          <p:nvPr/>
        </p:nvSpPr>
        <p:spPr>
          <a:xfrm>
            <a:off x="822960" y="2103120"/>
            <a:ext cx="3209544" cy="411480"/>
          </a:xfrm>
          <a:prstGeom prst="rect">
            <a:avLst/>
          </a:prstGeom>
          <a:noFill/>
          <a:ln/>
        </p:spPr>
        <p:txBody>
          <a:bodyPr wrap="square" lIns="0" tIns="0" rIns="0" bIns="0" rtlCol="0" anchor="ctr"/>
          <a:lstStyle/>
          <a:p>
            <a:pPr indent="0" marL="0">
              <a:buNone/>
            </a:pPr>
            <a:r>
              <a:rPr lang="en-US" sz="1250" b="1" spc="140" kern="0" dirty="0">
                <a:solidFill>
                  <a:srgbClr val="4A6B5D"/>
                </a:solidFill>
                <a:latin typeface="Arial" pitchFamily="34" charset="0"/>
                <a:ea typeface="Arial" pitchFamily="34" charset="-122"/>
                <a:cs typeface="Arial" pitchFamily="34" charset="-120"/>
              </a:rPr>
              <a:t>Announced</a:t>
            </a:r>
            <a:endParaRPr lang="en-US" sz="1250" dirty="0"/>
          </a:p>
        </p:txBody>
      </p:sp>
      <p:sp>
        <p:nvSpPr>
          <p:cNvPr id="7" name="Shape 5"/>
          <p:cNvSpPr/>
          <p:nvPr/>
        </p:nvSpPr>
        <p:spPr>
          <a:xfrm>
            <a:off x="822960" y="2560320"/>
            <a:ext cx="3209544" cy="0"/>
          </a:xfrm>
          <a:prstGeom prst="line">
            <a:avLst/>
          </a:prstGeom>
          <a:noFill/>
          <a:ln w="9525">
            <a:solidFill>
              <a:srgbClr val="D9D4C4"/>
            </a:solidFill>
            <a:prstDash val="solid"/>
          </a:ln>
        </p:spPr>
      </p:sp>
      <p:sp>
        <p:nvSpPr>
          <p:cNvPr id="8" name="Text 6"/>
          <p:cNvSpPr/>
          <p:nvPr/>
        </p:nvSpPr>
        <p:spPr>
          <a:xfrm>
            <a:off x="822960" y="2697480"/>
            <a:ext cx="3209544" cy="822960"/>
          </a:xfrm>
          <a:prstGeom prst="rect">
            <a:avLst/>
          </a:prstGeom>
          <a:noFill/>
          <a:ln/>
        </p:spPr>
        <p:txBody>
          <a:bodyPr wrap="square" lIns="0" tIns="0" rIns="0" bIns="0" rtlCol="0" anchor="t"/>
          <a:lstStyle/>
          <a:p>
            <a:pPr indent="0" marL="0">
              <a:lnSpc>
                <a:spcPts val="3000"/>
              </a:lnSpc>
              <a:buNone/>
            </a:pPr>
            <a:r>
              <a:rPr lang="en-US" sz="2600" dirty="0">
                <a:solidFill>
                  <a:srgbClr val="24313F"/>
                </a:solidFill>
                <a:latin typeface="Georgia" pitchFamily="34" charset="0"/>
                <a:ea typeface="Georgia" pitchFamily="34" charset="-122"/>
                <a:cs typeface="Georgia" pitchFamily="34" charset="-120"/>
              </a:rPr>
              <a:t>Thu 24 Sep</a:t>
            </a:r>
            <a:endParaRPr lang="en-US" sz="2600" dirty="0"/>
          </a:p>
        </p:txBody>
      </p:sp>
      <p:sp>
        <p:nvSpPr>
          <p:cNvPr id="9" name="Text 7"/>
          <p:cNvSpPr/>
          <p:nvPr/>
        </p:nvSpPr>
        <p:spPr>
          <a:xfrm>
            <a:off x="822960" y="3657600"/>
            <a:ext cx="3209544" cy="182880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Two weeks and a day of notice, well past the one-week minimum. The criteria are handed out at announcement, not at submission.</a:t>
            </a:r>
            <a:endParaRPr lang="en-US" sz="1500" dirty="0"/>
          </a:p>
        </p:txBody>
      </p:sp>
      <p:sp>
        <p:nvSpPr>
          <p:cNvPr id="10" name="Text 8"/>
          <p:cNvSpPr/>
          <p:nvPr/>
        </p:nvSpPr>
        <p:spPr>
          <a:xfrm>
            <a:off x="4489704" y="2103120"/>
            <a:ext cx="3209544" cy="411480"/>
          </a:xfrm>
          <a:prstGeom prst="rect">
            <a:avLst/>
          </a:prstGeom>
          <a:noFill/>
          <a:ln/>
        </p:spPr>
        <p:txBody>
          <a:bodyPr wrap="square" lIns="0" tIns="0" rIns="0" bIns="0" rtlCol="0" anchor="ctr"/>
          <a:lstStyle/>
          <a:p>
            <a:pPr indent="0" marL="0">
              <a:buNone/>
            </a:pPr>
            <a:r>
              <a:rPr lang="en-US" sz="1250" b="1" spc="140" kern="0" dirty="0">
                <a:solidFill>
                  <a:srgbClr val="4A6B5D"/>
                </a:solidFill>
                <a:latin typeface="Arial" pitchFamily="34" charset="0"/>
                <a:ea typeface="Arial" pitchFamily="34" charset="-122"/>
                <a:cs typeface="Arial" pitchFamily="34" charset="-120"/>
              </a:rPr>
              <a:t>Sits</a:t>
            </a:r>
            <a:endParaRPr lang="en-US" sz="1250" dirty="0"/>
          </a:p>
        </p:txBody>
      </p:sp>
      <p:sp>
        <p:nvSpPr>
          <p:cNvPr id="11" name="Shape 9"/>
          <p:cNvSpPr/>
          <p:nvPr/>
        </p:nvSpPr>
        <p:spPr>
          <a:xfrm>
            <a:off x="4489704" y="2560320"/>
            <a:ext cx="3209544" cy="0"/>
          </a:xfrm>
          <a:prstGeom prst="line">
            <a:avLst/>
          </a:prstGeom>
          <a:noFill/>
          <a:ln w="9525">
            <a:solidFill>
              <a:srgbClr val="D9D4C4"/>
            </a:solidFill>
            <a:prstDash val="solid"/>
          </a:ln>
        </p:spPr>
      </p:sp>
      <p:sp>
        <p:nvSpPr>
          <p:cNvPr id="12" name="Text 10"/>
          <p:cNvSpPr/>
          <p:nvPr/>
        </p:nvSpPr>
        <p:spPr>
          <a:xfrm>
            <a:off x="4489704" y="2697480"/>
            <a:ext cx="3209544" cy="822960"/>
          </a:xfrm>
          <a:prstGeom prst="rect">
            <a:avLst/>
          </a:prstGeom>
          <a:noFill/>
          <a:ln/>
        </p:spPr>
        <p:txBody>
          <a:bodyPr wrap="square" lIns="0" tIns="0" rIns="0" bIns="0" rtlCol="0" anchor="t"/>
          <a:lstStyle/>
          <a:p>
            <a:pPr indent="0" marL="0">
              <a:lnSpc>
                <a:spcPts val="3000"/>
              </a:lnSpc>
              <a:buNone/>
            </a:pPr>
            <a:r>
              <a:rPr lang="en-US" sz="2600" dirty="0">
                <a:solidFill>
                  <a:srgbClr val="24313F"/>
                </a:solidFill>
                <a:latin typeface="Georgia" pitchFamily="34" charset="0"/>
                <a:ea typeface="Georgia" pitchFamily="34" charset="-122"/>
                <a:cs typeface="Georgia" pitchFamily="34" charset="-120"/>
              </a:rPr>
              <a:t>Fri 9 Oct</a:t>
            </a:r>
            <a:endParaRPr lang="en-US" sz="2600" dirty="0"/>
          </a:p>
        </p:txBody>
      </p:sp>
      <p:sp>
        <p:nvSpPr>
          <p:cNvPr id="13" name="Text 11"/>
          <p:cNvSpPr/>
          <p:nvPr/>
        </p:nvSpPr>
        <p:spPr>
          <a:xfrm>
            <a:off x="4489704" y="3657600"/>
            <a:ext cx="3209544" cy="182880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In class. This is a review of work already made, not a task begun on the day.</a:t>
            </a:r>
            <a:endParaRPr lang="en-US" sz="1500" dirty="0"/>
          </a:p>
        </p:txBody>
      </p:sp>
      <p:sp>
        <p:nvSpPr>
          <p:cNvPr id="14" name="Text 12"/>
          <p:cNvSpPr/>
          <p:nvPr/>
        </p:nvSpPr>
        <p:spPr>
          <a:xfrm>
            <a:off x="8156448" y="2103120"/>
            <a:ext cx="3209544" cy="411480"/>
          </a:xfrm>
          <a:prstGeom prst="rect">
            <a:avLst/>
          </a:prstGeom>
          <a:noFill/>
          <a:ln/>
        </p:spPr>
        <p:txBody>
          <a:bodyPr wrap="square" lIns="0" tIns="0" rIns="0" bIns="0" rtlCol="0" anchor="ctr"/>
          <a:lstStyle/>
          <a:p>
            <a:pPr indent="0" marL="0">
              <a:buNone/>
            </a:pPr>
            <a:r>
              <a:rPr lang="en-US" sz="1250" b="1" spc="140" kern="0" dirty="0">
                <a:solidFill>
                  <a:srgbClr val="4A6B5D"/>
                </a:solidFill>
                <a:latin typeface="Arial" pitchFamily="34" charset="0"/>
                <a:ea typeface="Arial" pitchFamily="34" charset="-122"/>
                <a:cs typeface="Arial" pitchFamily="34" charset="-120"/>
              </a:rPr>
              <a:t>Feeds</a:t>
            </a:r>
            <a:endParaRPr lang="en-US" sz="1250" dirty="0"/>
          </a:p>
        </p:txBody>
      </p:sp>
      <p:sp>
        <p:nvSpPr>
          <p:cNvPr id="15" name="Shape 13"/>
          <p:cNvSpPr/>
          <p:nvPr/>
        </p:nvSpPr>
        <p:spPr>
          <a:xfrm>
            <a:off x="8156448" y="2560320"/>
            <a:ext cx="3209544" cy="0"/>
          </a:xfrm>
          <a:prstGeom prst="line">
            <a:avLst/>
          </a:prstGeom>
          <a:noFill/>
          <a:ln w="9525">
            <a:solidFill>
              <a:srgbClr val="D9D4C4"/>
            </a:solidFill>
            <a:prstDash val="solid"/>
          </a:ln>
        </p:spPr>
      </p:sp>
      <p:sp>
        <p:nvSpPr>
          <p:cNvPr id="16" name="Text 14"/>
          <p:cNvSpPr/>
          <p:nvPr/>
        </p:nvSpPr>
        <p:spPr>
          <a:xfrm>
            <a:off x="8156448" y="2697480"/>
            <a:ext cx="3209544" cy="822960"/>
          </a:xfrm>
          <a:prstGeom prst="rect">
            <a:avLst/>
          </a:prstGeom>
          <a:noFill/>
          <a:ln/>
        </p:spPr>
        <p:txBody>
          <a:bodyPr wrap="square" lIns="0" tIns="0" rIns="0" bIns="0" rtlCol="0" anchor="t"/>
          <a:lstStyle/>
          <a:p>
            <a:pPr indent="0" marL="0">
              <a:lnSpc>
                <a:spcPts val="3000"/>
              </a:lnSpc>
              <a:buNone/>
            </a:pPr>
            <a:r>
              <a:rPr lang="en-US" sz="2600" dirty="0">
                <a:solidFill>
                  <a:srgbClr val="24313F"/>
                </a:solidFill>
                <a:latin typeface="Georgia" pitchFamily="34" charset="0"/>
                <a:ea typeface="Georgia" pitchFamily="34" charset="-122"/>
                <a:cs typeface="Georgia" pitchFamily="34" charset="-120"/>
              </a:rPr>
              <a:t>Thu 29 Oct</a:t>
            </a:r>
            <a:endParaRPr lang="en-US" sz="2600" dirty="0"/>
          </a:p>
        </p:txBody>
      </p:sp>
      <p:sp>
        <p:nvSpPr>
          <p:cNvPr id="17" name="Text 15"/>
          <p:cNvSpPr/>
          <p:nvPr/>
        </p:nvSpPr>
        <p:spPr>
          <a:xfrm>
            <a:off x="8156448" y="3657600"/>
            <a:ext cx="3209544" cy="182880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Mid-term grades. Which means feedback comes back inside a week rather than the usual five days.</a:t>
            </a:r>
            <a:endParaRPr lang="en-US" sz="150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73152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AFTER A1</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920240"/>
          </a:xfrm>
          <a:prstGeom prst="rect">
            <a:avLst/>
          </a:prstGeom>
          <a:noFill/>
          <a:ln/>
        </p:spPr>
        <p:txBody>
          <a:bodyPr wrap="square" lIns="0" tIns="0" rIns="0" bIns="0" rtlCol="0" anchor="t"/>
          <a:lstStyle/>
          <a:p>
            <a:pPr indent="0" marL="0">
              <a:lnSpc>
                <a:spcPts val="5500"/>
              </a:lnSpc>
              <a:buNone/>
            </a:pPr>
            <a:r>
              <a:rPr lang="en-US" sz="5200" dirty="0">
                <a:solidFill>
                  <a:srgbClr val="FAF8F1"/>
                </a:solidFill>
                <a:latin typeface="Georgia" pitchFamily="34" charset="0"/>
                <a:ea typeface="Georgia" pitchFamily="34" charset="-122"/>
                <a:cs typeface="Georgia" pitchFamily="34" charset="-120"/>
              </a:rPr>
              <a:t>Three actions,</a:t>
            </a:r>
            <a:endParaRPr lang="en-US" sz="5200" dirty="0"/>
          </a:p>
          <a:p>
            <a:pPr indent="0" marL="0">
              <a:lnSpc>
                <a:spcPts val="5500"/>
              </a:lnSpc>
              <a:buNone/>
            </a:pPr>
            <a:r>
              <a:rPr lang="en-US" sz="5200" dirty="0">
                <a:solidFill>
                  <a:srgbClr val="FAF8F1"/>
                </a:solidFill>
                <a:latin typeface="Georgia" pitchFamily="34" charset="0"/>
                <a:ea typeface="Georgia" pitchFamily="34" charset="-122"/>
                <a:cs typeface="Georgia" pitchFamily="34" charset="-120"/>
              </a:rPr>
              <a:t>not three feelings.</a:t>
            </a:r>
            <a:endParaRPr lang="en-US" sz="5200" dirty="0"/>
          </a:p>
        </p:txBody>
      </p:sp>
      <p:sp>
        <p:nvSpPr>
          <p:cNvPr id="5" name="Text 3"/>
          <p:cNvSpPr/>
          <p:nvPr/>
        </p:nvSpPr>
        <p:spPr>
          <a:xfrm>
            <a:off x="822960" y="48920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The banded feedback converts into three specific things you do differently in Unit 3.</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A LEVEL ART &amp; DESIGN 9479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2026-07-26T10:12:31Z</dcterms:created>
  <dcterms:modified xsi:type="dcterms:W3CDTF">2026-07-26T10:12:31Z</dcterms:modified>
</cp:coreProperties>
</file>