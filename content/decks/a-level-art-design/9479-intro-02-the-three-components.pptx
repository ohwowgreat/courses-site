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an hour early. Students who understand the three components in September stop asking why a semester is shaped the way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is 50 per cent on its own. Say it now, because it explains why semesters two and three are both given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AO3 row: Develop carries the most marks in C1 and C3 both. That is why so much of every semester is development rather than final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138160" y="822960"/>
            <a:ext cx="3474720" cy="4937760"/>
          </a:xfrm>
          <a:prstGeom prst="rect">
            <a:avLst/>
          </a:prstGeom>
          <a:noFill/>
          <a:ln/>
        </p:spPr>
        <p:txBody>
          <a:bodyPr wrap="square" lIns="0" tIns="0" rIns="0" bIns="0" rtlCol="0" anchor="ctr"/>
          <a:lstStyle/>
          <a:p>
            <a:pPr algn="ctr" indent="0" marL="0">
              <a:buNone/>
            </a:pPr>
            <a:r>
              <a:rPr lang="en-US" sz="28000" dirty="0">
                <a:solidFill>
                  <a:srgbClr val="A3C1AD"/>
                </a:solidFill>
                <a:latin typeface="Georgia" pitchFamily="34" charset="0"/>
                <a:ea typeface="Georgia" pitchFamily="34" charset="-122"/>
                <a:cs typeface="Georgia" pitchFamily="34" charset="-120"/>
              </a:rPr>
              <a:t>III</a:t>
            </a:r>
            <a:endParaRPr lang="en-US" sz="28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CAMBRIDGE INTERNATIONAL · 9479</a:t>
            </a:r>
            <a:endParaRPr lang="en-US" sz="1100" dirty="0"/>
          </a:p>
        </p:txBody>
      </p:sp>
      <p:sp>
        <p:nvSpPr>
          <p:cNvPr id="4" name="Text 2"/>
          <p:cNvSpPr/>
          <p:nvPr/>
        </p:nvSpPr>
        <p:spPr>
          <a:xfrm>
            <a:off x="822960" y="1737360"/>
            <a:ext cx="7680960" cy="2377440"/>
          </a:xfrm>
          <a:prstGeom prst="rect">
            <a:avLst/>
          </a:prstGeom>
          <a:noFill/>
          <a:ln/>
        </p:spPr>
        <p:txBody>
          <a:bodyPr wrap="square" lIns="0" tIns="0" rIns="0" bIns="0" rtlCol="0" anchor="t"/>
          <a:lstStyle/>
          <a:p>
            <a:pPr indent="0" marL="0">
              <a:lnSpc>
                <a:spcPts val="6200"/>
              </a:lnSpc>
              <a:buNone/>
            </a:pPr>
            <a:r>
              <a:rPr lang="en-US" sz="6200" dirty="0">
                <a:solidFill>
                  <a:srgbClr val="24313F"/>
                </a:solidFill>
                <a:latin typeface="Georgia" pitchFamily="34" charset="0"/>
                <a:ea typeface="Georgia" pitchFamily="34" charset="-122"/>
                <a:cs typeface="Georgia" pitchFamily="34" charset="-120"/>
              </a:rPr>
              <a:t>The Three</a:t>
            </a:r>
            <a:endParaRPr lang="en-US" sz="6200" dirty="0"/>
          </a:p>
          <a:p>
            <a:pPr indent="0" marL="0">
              <a:lnSpc>
                <a:spcPts val="6200"/>
              </a:lnSpc>
              <a:buNone/>
            </a:pPr>
            <a:r>
              <a:rPr lang="en-US" sz="6200" dirty="0">
                <a:solidFill>
                  <a:srgbClr val="24313F"/>
                </a:solidFill>
                <a:latin typeface="Georgia" pitchFamily="34" charset="0"/>
                <a:ea typeface="Georgia" pitchFamily="34" charset="-122"/>
                <a:cs typeface="Georgia" pitchFamily="34" charset="-120"/>
              </a:rPr>
              <a:t>Components</a:t>
            </a:r>
            <a:endParaRPr lang="en-US" sz="6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100" i="1" dirty="0">
                <a:solidFill>
                  <a:srgbClr val="7A7F72"/>
                </a:solidFill>
                <a:latin typeface="Georgia" pitchFamily="34" charset="0"/>
                <a:ea typeface="Georgia" pitchFamily="34" charset="-122"/>
                <a:cs typeface="Georgia" pitchFamily="34" charset="-120"/>
              </a:rPr>
              <a:t>What each one is, and what it wants from you</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863840" y="640080"/>
            <a:ext cx="3840480" cy="5577840"/>
          </a:xfrm>
          <a:prstGeom prst="rect">
            <a:avLst/>
          </a:prstGeom>
          <a:noFill/>
          <a:ln/>
        </p:spPr>
        <p:txBody>
          <a:bodyPr wrap="square" lIns="0" tIns="0" rIns="0" bIns="0" rtlCol="0" anchor="ctr"/>
          <a:lstStyle/>
          <a:p>
            <a:pPr algn="ctr" indent="0" marL="0">
              <a:buNone/>
            </a:pPr>
            <a:r>
              <a:rPr lang="en-US" sz="25000" dirty="0">
                <a:solidFill>
                  <a:srgbClr val="5C7A6B"/>
                </a:solidFill>
                <a:latin typeface="Georgia" pitchFamily="34" charset="0"/>
                <a:ea typeface="Georgia" pitchFamily="34" charset="-122"/>
                <a:cs typeface="Georgia" pitchFamily="34" charset="-120"/>
              </a:rPr>
              <a:t>50</a:t>
            </a:r>
            <a:endParaRPr lang="en-US" sz="25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WHERE THE MARKS ARE</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498080" cy="2194560"/>
          </a:xfrm>
          <a:prstGeom prst="rect">
            <a:avLst/>
          </a:prstGeom>
          <a:noFill/>
          <a:ln/>
        </p:spPr>
        <p:txBody>
          <a:bodyPr wrap="square" lIns="0" tIns="0" rIns="0" bIns="0" rtlCol="0" anchor="t"/>
          <a:lstStyle/>
          <a:p>
            <a:pPr indent="0" marL="0">
              <a:lnSpc>
                <a:spcPts val="5000"/>
              </a:lnSpc>
              <a:buNone/>
            </a:pPr>
            <a:r>
              <a:rPr lang="en-US" sz="4800" dirty="0">
                <a:solidFill>
                  <a:srgbClr val="FAF8F1"/>
                </a:solidFill>
                <a:latin typeface="Georgia" pitchFamily="34" charset="0"/>
                <a:ea typeface="Georgia" pitchFamily="34" charset="-122"/>
                <a:cs typeface="Georgia" pitchFamily="34" charset="-120"/>
              </a:rPr>
              <a:t>Half the A Level is</a:t>
            </a:r>
            <a:endParaRPr lang="en-US" sz="4800" dirty="0"/>
          </a:p>
          <a:p>
            <a:pPr indent="0" marL="0">
              <a:lnSpc>
                <a:spcPts val="5000"/>
              </a:lnSpc>
              <a:buNone/>
            </a:pPr>
            <a:r>
              <a:rPr lang="en-US" sz="4800" dirty="0">
                <a:solidFill>
                  <a:srgbClr val="FAF8F1"/>
                </a:solidFill>
                <a:latin typeface="Georgia" pitchFamily="34" charset="0"/>
                <a:ea typeface="Georgia" pitchFamily="34" charset="-122"/>
                <a:cs typeface="Georgia" pitchFamily="34" charset="-120"/>
              </a:rPr>
              <a:t>one investigation.</a:t>
            </a:r>
            <a:endParaRPr lang="en-US" sz="4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pic>
        <p:nvPicPr>
          <p:cNvPr id="2" name="Image 0" descr="/private/tmp/claude-501/-Users-dogan-Documents-Vaults-Courses/3954bcc8-cc8d-4110-bd5a-74962061a805/scratchpad/decks/img/crops/rubens-sheet-forearm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Peter Paul Rubens, sheet of studies. Public domain</a:t>
            </a:r>
            <a:endParaRPr lang="en-US" sz="950" dirty="0"/>
          </a:p>
        </p:txBody>
      </p:sp>
      <p:sp>
        <p:nvSpPr>
          <p:cNvPr id="4" name="Text 1"/>
          <p:cNvSpPr/>
          <p:nvPr/>
        </p:nvSpPr>
        <p:spPr>
          <a:xfrm>
            <a:off x="822960" y="6858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COMPONENT 1</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188720"/>
            <a:ext cx="6217920" cy="1371600"/>
          </a:xfrm>
          <a:prstGeom prst="rect">
            <a:avLst/>
          </a:prstGeom>
          <a:noFill/>
          <a:ln/>
        </p:spPr>
        <p:txBody>
          <a:bodyPr wrap="square" lIns="0" tIns="0" rIns="0" bIns="0" rtlCol="0" anchor="t"/>
          <a:lstStyle/>
          <a:p>
            <a:pPr indent="0" marL="0">
              <a:lnSpc>
                <a:spcPts val="4400"/>
              </a:lnSpc>
              <a:buNone/>
            </a:pPr>
            <a:r>
              <a:rPr lang="en-US" sz="4200" dirty="0">
                <a:solidFill>
                  <a:srgbClr val="24313F"/>
                </a:solidFill>
                <a:latin typeface="Georgia" pitchFamily="34" charset="0"/>
                <a:ea typeface="Georgia" pitchFamily="34" charset="-122"/>
                <a:cs typeface="Georgia" pitchFamily="34" charset="-120"/>
              </a:rPr>
              <a:t>The Portfolio</a:t>
            </a:r>
            <a:endParaRPr lang="en-US" sz="4200" dirty="0"/>
          </a:p>
        </p:txBody>
      </p:sp>
      <p:sp>
        <p:nvSpPr>
          <p:cNvPr id="7" name="Text 4"/>
          <p:cNvSpPr/>
          <p:nvPr/>
        </p:nvSpPr>
        <p:spPr>
          <a:xfrm>
            <a:off x="822960" y="2697480"/>
            <a:ext cx="6309360" cy="173736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A selection of work made over the course, chosen and sequenced by you. Set internally, marked by Cambridge. This is what Semester 1 builds, from a theme you pick off a menu, so that the process is learned before the stakes rise.</a:t>
            </a:r>
            <a:endParaRPr lang="en-US" sz="1650" dirty="0"/>
          </a:p>
        </p:txBody>
      </p:sp>
      <p:sp>
        <p:nvSpPr>
          <p:cNvPr id="8" name="Text 5"/>
          <p:cNvSpPr/>
          <p:nvPr/>
        </p:nvSpPr>
        <p:spPr>
          <a:xfrm>
            <a:off x="822960" y="4572000"/>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Marks</a:t>
            </a:r>
            <a:endParaRPr lang="en-US" sz="1150" dirty="0"/>
          </a:p>
        </p:txBody>
      </p:sp>
      <p:sp>
        <p:nvSpPr>
          <p:cNvPr id="9" name="Text 6"/>
          <p:cNvSpPr/>
          <p:nvPr/>
        </p:nvSpPr>
        <p:spPr>
          <a:xfrm>
            <a:off x="3063240" y="4572000"/>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60, weighted to 90</a:t>
            </a:r>
            <a:endParaRPr lang="en-US" sz="1450" dirty="0"/>
          </a:p>
        </p:txBody>
      </p:sp>
      <p:sp>
        <p:nvSpPr>
          <p:cNvPr id="10" name="Shape 7"/>
          <p:cNvSpPr/>
          <p:nvPr/>
        </p:nvSpPr>
        <p:spPr>
          <a:xfrm>
            <a:off x="822960" y="4937760"/>
            <a:ext cx="6309360" cy="0"/>
          </a:xfrm>
          <a:prstGeom prst="line">
            <a:avLst/>
          </a:prstGeom>
          <a:noFill/>
          <a:ln w="9525">
            <a:solidFill>
              <a:srgbClr val="D9D4C4"/>
            </a:solidFill>
            <a:prstDash val="solid"/>
          </a:ln>
        </p:spPr>
      </p:sp>
      <p:sp>
        <p:nvSpPr>
          <p:cNvPr id="11" name="Text 8"/>
          <p:cNvSpPr/>
          <p:nvPr/>
        </p:nvSpPr>
        <p:spPr>
          <a:xfrm>
            <a:off x="822960" y="5084064"/>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Weight</a:t>
            </a:r>
            <a:endParaRPr lang="en-US" sz="1150" dirty="0"/>
          </a:p>
        </p:txBody>
      </p:sp>
      <p:sp>
        <p:nvSpPr>
          <p:cNvPr id="12" name="Text 9"/>
          <p:cNvSpPr/>
          <p:nvPr/>
        </p:nvSpPr>
        <p:spPr>
          <a:xfrm>
            <a:off x="3063240" y="5084064"/>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30 per cent of the A Level</a:t>
            </a:r>
            <a:endParaRPr lang="en-US" sz="1450" dirty="0"/>
          </a:p>
        </p:txBody>
      </p:sp>
      <p:sp>
        <p:nvSpPr>
          <p:cNvPr id="13" name="Shape 10"/>
          <p:cNvSpPr/>
          <p:nvPr/>
        </p:nvSpPr>
        <p:spPr>
          <a:xfrm>
            <a:off x="822960" y="5449824"/>
            <a:ext cx="6309360" cy="0"/>
          </a:xfrm>
          <a:prstGeom prst="line">
            <a:avLst/>
          </a:prstGeom>
          <a:noFill/>
          <a:ln w="9525">
            <a:solidFill>
              <a:srgbClr val="D9D4C4"/>
            </a:solidFill>
            <a:prstDash val="solid"/>
          </a:ln>
        </p:spPr>
      </p:sp>
      <p:sp>
        <p:nvSpPr>
          <p:cNvPr id="14" name="Text 11"/>
          <p:cNvSpPr/>
          <p:nvPr/>
        </p:nvSpPr>
        <p:spPr>
          <a:xfrm>
            <a:off x="822960" y="5596128"/>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AO split</a:t>
            </a:r>
            <a:endParaRPr lang="en-US" sz="1150" dirty="0"/>
          </a:p>
        </p:txBody>
      </p:sp>
      <p:sp>
        <p:nvSpPr>
          <p:cNvPr id="15" name="Text 12"/>
          <p:cNvSpPr/>
          <p:nvPr/>
        </p:nvSpPr>
        <p:spPr>
          <a:xfrm>
            <a:off x="3063240" y="5596128"/>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15 / 15 / 20 / 10</a:t>
            </a:r>
            <a:endParaRPr lang="en-US" sz="1450" dirty="0"/>
          </a:p>
        </p:txBody>
      </p:sp>
      <p:sp>
        <p:nvSpPr>
          <p:cNvPr id="16" name="Shape 13"/>
          <p:cNvSpPr/>
          <p:nvPr/>
        </p:nvSpPr>
        <p:spPr>
          <a:xfrm>
            <a:off x="822960" y="5961888"/>
            <a:ext cx="6309360" cy="0"/>
          </a:xfrm>
          <a:prstGeom prst="line">
            <a:avLst/>
          </a:prstGeom>
          <a:noFill/>
          <a:ln w="9525">
            <a:solidFill>
              <a:srgbClr val="D9D4C4"/>
            </a:solidFill>
            <a:prstDash val="solid"/>
          </a:ln>
        </p:spPr>
      </p:sp>
      <p:sp>
        <p:nvSpPr>
          <p:cNvPr id="17" name="Text 14"/>
          <p:cNvSpPr/>
          <p:nvPr/>
        </p:nvSpPr>
        <p:spPr>
          <a:xfrm>
            <a:off x="822960" y="6108192"/>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Built in</a:t>
            </a:r>
            <a:endParaRPr lang="en-US" sz="1150" dirty="0"/>
          </a:p>
        </p:txBody>
      </p:sp>
      <p:sp>
        <p:nvSpPr>
          <p:cNvPr id="18" name="Text 15"/>
          <p:cNvSpPr/>
          <p:nvPr/>
        </p:nvSpPr>
        <p:spPr>
          <a:xfrm>
            <a:off x="3063240" y="6108192"/>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Semester 1</a:t>
            </a:r>
            <a:endParaRPr lang="en-US" sz="1450" dirty="0"/>
          </a:p>
        </p:txBody>
      </p:sp>
      <p:sp>
        <p:nvSpPr>
          <p:cNvPr id="19" name="Shape 16"/>
          <p:cNvSpPr/>
          <p:nvPr/>
        </p:nvSpPr>
        <p:spPr>
          <a:xfrm>
            <a:off x="822960" y="6473952"/>
            <a:ext cx="6309360" cy="0"/>
          </a:xfrm>
          <a:prstGeom prst="line">
            <a:avLst/>
          </a:prstGeom>
          <a:noFill/>
          <a:ln w="9525">
            <a:solidFill>
              <a:srgbClr val="D9D4C4"/>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COMPONENT 1 · EXAMPLE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IS ACTUALLY IN THE FOLDER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A portfolio is a sequence, not a pile</a:t>
            </a:r>
            <a:endParaRPr lang="en-US" sz="3000" dirty="0"/>
          </a:p>
        </p:txBody>
      </p:sp>
      <p:sp>
        <p:nvSpPr>
          <p:cNvPr id="6" name="Shape 4"/>
          <p:cNvSpPr/>
          <p:nvPr/>
        </p:nvSpPr>
        <p:spPr>
          <a:xfrm>
            <a:off x="822960" y="1600200"/>
            <a:ext cx="3270504" cy="3200400"/>
          </a:xfrm>
          <a:prstGeom prst="rect">
            <a:avLst/>
          </a:prstGeom>
          <a:solidFill>
            <a:srgbClr val="FAF8F1"/>
          </a:solidFill>
          <a:ln w="9525">
            <a:solidFill>
              <a:srgbClr val="D9D4C4"/>
            </a:solidFill>
            <a:prstDash val="solid"/>
          </a:ln>
        </p:spPr>
      </p:sp>
      <p:pic>
        <p:nvPicPr>
          <p:cNvPr id="7" name="Image 0" descr="/private/tmp/claude-501/-Users-dogan-Documents-Vaults-Courses/3954bcc8-cc8d-4110-bd5a-74962061a805/scratchpad/decks/img/rubens-three-figures.jpg">    </p:cNvPr>
          <p:cNvPicPr>
            <a:picLocks noChangeAspect="1"/>
          </p:cNvPicPr>
          <p:nvPr/>
        </p:nvPicPr>
        <p:blipFill>
          <a:blip r:embed="rId1"/>
          <a:stretch>
            <a:fillRect/>
          </a:stretch>
        </p:blipFill>
        <p:spPr>
          <a:xfrm>
            <a:off x="1483973" y="1728216"/>
            <a:ext cx="1948479" cy="2944368"/>
          </a:xfrm>
          <a:prstGeom prst="rect">
            <a:avLst/>
          </a:prstGeom>
        </p:spPr>
      </p:pic>
      <p:sp>
        <p:nvSpPr>
          <p:cNvPr id="8" name="Text 5"/>
          <p:cNvSpPr/>
          <p:nvPr/>
        </p:nvSpPr>
        <p:spPr>
          <a:xfrm>
            <a:off x="822960"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Recording</a:t>
            </a:r>
            <a:endParaRPr lang="en-US" sz="1250" dirty="0"/>
          </a:p>
        </p:txBody>
      </p:sp>
      <p:sp>
        <p:nvSpPr>
          <p:cNvPr id="9" name="Text 6"/>
          <p:cNvSpPr/>
          <p:nvPr/>
        </p:nvSpPr>
        <p:spPr>
          <a:xfrm>
            <a:off x="822960"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First-hand studies, sustained</a:t>
            </a:r>
            <a:endParaRPr lang="en-US" sz="1400" dirty="0"/>
          </a:p>
        </p:txBody>
      </p:sp>
      <p:sp>
        <p:nvSpPr>
          <p:cNvPr id="10" name="Shape 7"/>
          <p:cNvSpPr/>
          <p:nvPr/>
        </p:nvSpPr>
        <p:spPr>
          <a:xfrm>
            <a:off x="4459224" y="1600200"/>
            <a:ext cx="3270504" cy="3200400"/>
          </a:xfrm>
          <a:prstGeom prst="rect">
            <a:avLst/>
          </a:prstGeom>
          <a:solidFill>
            <a:srgbClr val="FAF8F1"/>
          </a:solidFill>
          <a:ln w="9525">
            <a:solidFill>
              <a:srgbClr val="D9D4C4"/>
            </a:solidFill>
            <a:prstDash val="solid"/>
          </a:ln>
        </p:spPr>
      </p:sp>
      <p:pic>
        <p:nvPicPr>
          <p:cNvPr id="11" name="Image 1" descr="/private/tmp/claude-501/-Users-dogan-Documents-Vaults-Courses/3954bcc8-cc8d-4110-bd5a-74962061a805/scratchpad/decks/img/repin-naked-sketch.jpg">    </p:cNvPr>
          <p:cNvPicPr>
            <a:picLocks noChangeAspect="1"/>
          </p:cNvPicPr>
          <p:nvPr/>
        </p:nvPicPr>
        <p:blipFill>
          <a:blip r:embed="rId2"/>
          <a:stretch>
            <a:fillRect/>
          </a:stretch>
        </p:blipFill>
        <p:spPr>
          <a:xfrm>
            <a:off x="5141020" y="1728216"/>
            <a:ext cx="1906911" cy="2944368"/>
          </a:xfrm>
          <a:prstGeom prst="rect">
            <a:avLst/>
          </a:prstGeom>
        </p:spPr>
      </p:pic>
      <p:sp>
        <p:nvSpPr>
          <p:cNvPr id="12" name="Text 8"/>
          <p:cNvSpPr/>
          <p:nvPr/>
        </p:nvSpPr>
        <p:spPr>
          <a:xfrm>
            <a:off x="4459224"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Exploring</a:t>
            </a:r>
            <a:endParaRPr lang="en-US" sz="1250" dirty="0"/>
          </a:p>
        </p:txBody>
      </p:sp>
      <p:sp>
        <p:nvSpPr>
          <p:cNvPr id="13" name="Text 9"/>
          <p:cNvSpPr/>
          <p:nvPr/>
        </p:nvSpPr>
        <p:spPr>
          <a:xfrm>
            <a:off x="4459224"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Media tests and artist work</a:t>
            </a:r>
            <a:endParaRPr lang="en-US" sz="1400" dirty="0"/>
          </a:p>
        </p:txBody>
      </p:sp>
      <p:sp>
        <p:nvSpPr>
          <p:cNvPr id="14" name="Shape 10"/>
          <p:cNvSpPr/>
          <p:nvPr/>
        </p:nvSpPr>
        <p:spPr>
          <a:xfrm>
            <a:off x="8095488" y="1600200"/>
            <a:ext cx="3270504" cy="3200400"/>
          </a:xfrm>
          <a:prstGeom prst="rect">
            <a:avLst/>
          </a:prstGeom>
          <a:solidFill>
            <a:srgbClr val="FAF8F1"/>
          </a:solidFill>
          <a:ln w="9525">
            <a:solidFill>
              <a:srgbClr val="D9D4C4"/>
            </a:solidFill>
            <a:prstDash val="solid"/>
          </a:ln>
        </p:spPr>
      </p:sp>
      <p:pic>
        <p:nvPicPr>
          <p:cNvPr id="15" name="Image 2" descr="/private/tmp/claude-501/-Users-dogan-Documents-Vaults-Courses/3954bcc8-cc8d-4110-bd5a-74962061a805/scratchpad/decks/img/repin-stoking-fire.jpg">    </p:cNvPr>
          <p:cNvPicPr>
            <a:picLocks noChangeAspect="1"/>
          </p:cNvPicPr>
          <p:nvPr/>
        </p:nvPicPr>
        <p:blipFill>
          <a:blip r:embed="rId3"/>
          <a:stretch>
            <a:fillRect/>
          </a:stretch>
        </p:blipFill>
        <p:spPr>
          <a:xfrm>
            <a:off x="8223504" y="2094798"/>
            <a:ext cx="3014472" cy="2211204"/>
          </a:xfrm>
          <a:prstGeom prst="rect">
            <a:avLst/>
          </a:prstGeom>
        </p:spPr>
      </p:pic>
      <p:sp>
        <p:nvSpPr>
          <p:cNvPr id="16" name="Text 11"/>
          <p:cNvSpPr/>
          <p:nvPr/>
        </p:nvSpPr>
        <p:spPr>
          <a:xfrm>
            <a:off x="8095488"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Developing</a:t>
            </a:r>
            <a:endParaRPr lang="en-US" sz="1250" dirty="0"/>
          </a:p>
        </p:txBody>
      </p:sp>
      <p:sp>
        <p:nvSpPr>
          <p:cNvPr id="17" name="Text 12"/>
          <p:cNvSpPr/>
          <p:nvPr/>
        </p:nvSpPr>
        <p:spPr>
          <a:xfrm>
            <a:off x="8095488"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Compositions toward one outcome</a:t>
            </a:r>
            <a:endParaRPr lang="en-US" sz="1400" dirty="0"/>
          </a:p>
        </p:txBody>
      </p:sp>
      <p:sp>
        <p:nvSpPr>
          <p:cNvPr id="18" name="Text 13"/>
          <p:cNvSpPr/>
          <p:nvPr/>
        </p:nvSpPr>
        <p:spPr>
          <a:xfrm>
            <a:off x="822960" y="5623560"/>
            <a:ext cx="10543032"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Plates: Rubens and Repin, public domain. Shown whole, as study material rather than as a model to copy.</a:t>
            </a:r>
            <a:endParaRPr lang="en-US" sz="1000" dirty="0"/>
          </a:p>
        </p:txBody>
      </p:sp>
      <p:sp>
        <p:nvSpPr>
          <p:cNvPr id="19" name="Shape 14"/>
          <p:cNvSpPr/>
          <p:nvPr/>
        </p:nvSpPr>
        <p:spPr>
          <a:xfrm>
            <a:off x="822960" y="6382512"/>
            <a:ext cx="10543032" cy="0"/>
          </a:xfrm>
          <a:prstGeom prst="line">
            <a:avLst/>
          </a:prstGeom>
          <a:noFill/>
          <a:ln w="9525">
            <a:solidFill>
              <a:srgbClr val="D9D4C4"/>
            </a:solidFill>
            <a:prstDash val="solid"/>
          </a:ln>
        </p:spPr>
      </p:sp>
      <p:sp>
        <p:nvSpPr>
          <p:cNvPr id="20"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a:t>
            </a:r>
            <a:endParaRPr lang="en-US" sz="900" dirty="0"/>
          </a:p>
        </p:txBody>
      </p:sp>
      <p:sp>
        <p:nvSpPr>
          <p:cNvPr id="21"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pic>
        <p:nvPicPr>
          <p:cNvPr id="2" name="Image 0" descr="/private/tmp/claude-501/-Users-dogan-Documents-Vaults-Courses/3954bcc8-cc8d-4110-bd5a-74962061a805/scratchpad/decks/img/crops/cameron-carlyle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Julia Margaret Cameron, Thomas Carlyle. Public domain</a:t>
            </a:r>
            <a:endParaRPr lang="en-US" sz="950" dirty="0"/>
          </a:p>
        </p:txBody>
      </p:sp>
      <p:sp>
        <p:nvSpPr>
          <p:cNvPr id="4" name="Text 1"/>
          <p:cNvSpPr/>
          <p:nvPr/>
        </p:nvSpPr>
        <p:spPr>
          <a:xfrm>
            <a:off x="822960" y="6858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COMPONENT 2</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188720"/>
            <a:ext cx="6217920" cy="1371600"/>
          </a:xfrm>
          <a:prstGeom prst="rect">
            <a:avLst/>
          </a:prstGeom>
          <a:noFill/>
          <a:ln/>
        </p:spPr>
        <p:txBody>
          <a:bodyPr wrap="square" lIns="0" tIns="0" rIns="0" bIns="0" rtlCol="0" anchor="t"/>
          <a:lstStyle/>
          <a:p>
            <a:pPr indent="0" marL="0">
              <a:lnSpc>
                <a:spcPts val="4400"/>
              </a:lnSpc>
              <a:buNone/>
            </a:pPr>
            <a:r>
              <a:rPr lang="en-US" sz="4200" dirty="0">
                <a:solidFill>
                  <a:srgbClr val="24313F"/>
                </a:solidFill>
                <a:latin typeface="Georgia" pitchFamily="34" charset="0"/>
                <a:ea typeface="Georgia" pitchFamily="34" charset="-122"/>
                <a:cs typeface="Georgia" pitchFamily="34" charset="-120"/>
              </a:rPr>
              <a:t>The Externally</a:t>
            </a:r>
            <a:endParaRPr lang="en-US" sz="4200" dirty="0"/>
          </a:p>
          <a:p>
            <a:pPr indent="0" marL="0">
              <a:lnSpc>
                <a:spcPts val="4400"/>
              </a:lnSpc>
              <a:buNone/>
            </a:pPr>
            <a:r>
              <a:rPr lang="en-US" sz="4200" dirty="0">
                <a:solidFill>
                  <a:srgbClr val="24313F"/>
                </a:solidFill>
                <a:latin typeface="Georgia" pitchFamily="34" charset="0"/>
                <a:ea typeface="Georgia" pitchFamily="34" charset="-122"/>
                <a:cs typeface="Georgia" pitchFamily="34" charset="-120"/>
              </a:rPr>
              <a:t>Set Assignment</a:t>
            </a:r>
            <a:endParaRPr lang="en-US" sz="4200" dirty="0"/>
          </a:p>
        </p:txBody>
      </p:sp>
      <p:sp>
        <p:nvSpPr>
          <p:cNvPr id="7" name="Text 4"/>
          <p:cNvSpPr/>
          <p:nvPr/>
        </p:nvSpPr>
        <p:spPr>
          <a:xfrm>
            <a:off x="822960" y="2697480"/>
            <a:ext cx="6309360" cy="173736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A question paper arrives with three themes on it. You choose one, make supporting studies over a preparatory period, then realise the final outcome inside a 15-hour supervised test. Nothing may be invented in the test room: what you make there is what you planned before it.</a:t>
            </a:r>
            <a:endParaRPr lang="en-US" sz="1650" dirty="0"/>
          </a:p>
        </p:txBody>
      </p:sp>
      <p:sp>
        <p:nvSpPr>
          <p:cNvPr id="8" name="Text 5"/>
          <p:cNvSpPr/>
          <p:nvPr/>
        </p:nvSpPr>
        <p:spPr>
          <a:xfrm>
            <a:off x="822960" y="4572000"/>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Marks</a:t>
            </a:r>
            <a:endParaRPr lang="en-US" sz="1150" dirty="0"/>
          </a:p>
        </p:txBody>
      </p:sp>
      <p:sp>
        <p:nvSpPr>
          <p:cNvPr id="9" name="Text 6"/>
          <p:cNvSpPr/>
          <p:nvPr/>
        </p:nvSpPr>
        <p:spPr>
          <a:xfrm>
            <a:off x="3063240" y="4572000"/>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60</a:t>
            </a:r>
            <a:endParaRPr lang="en-US" sz="1450" dirty="0"/>
          </a:p>
        </p:txBody>
      </p:sp>
      <p:sp>
        <p:nvSpPr>
          <p:cNvPr id="10" name="Shape 7"/>
          <p:cNvSpPr/>
          <p:nvPr/>
        </p:nvSpPr>
        <p:spPr>
          <a:xfrm>
            <a:off x="822960" y="4937760"/>
            <a:ext cx="6309360" cy="0"/>
          </a:xfrm>
          <a:prstGeom prst="line">
            <a:avLst/>
          </a:prstGeom>
          <a:noFill/>
          <a:ln w="9525">
            <a:solidFill>
              <a:srgbClr val="D9D4C4"/>
            </a:solidFill>
            <a:prstDash val="solid"/>
          </a:ln>
        </p:spPr>
      </p:sp>
      <p:sp>
        <p:nvSpPr>
          <p:cNvPr id="11" name="Text 8"/>
          <p:cNvSpPr/>
          <p:nvPr/>
        </p:nvSpPr>
        <p:spPr>
          <a:xfrm>
            <a:off x="822960" y="5084064"/>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Weight</a:t>
            </a:r>
            <a:endParaRPr lang="en-US" sz="1150" dirty="0"/>
          </a:p>
        </p:txBody>
      </p:sp>
      <p:sp>
        <p:nvSpPr>
          <p:cNvPr id="12" name="Text 9"/>
          <p:cNvSpPr/>
          <p:nvPr/>
        </p:nvSpPr>
        <p:spPr>
          <a:xfrm>
            <a:off x="3063240" y="5084064"/>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20 per cent of the A Level</a:t>
            </a:r>
            <a:endParaRPr lang="en-US" sz="1450" dirty="0"/>
          </a:p>
        </p:txBody>
      </p:sp>
      <p:sp>
        <p:nvSpPr>
          <p:cNvPr id="13" name="Shape 10"/>
          <p:cNvSpPr/>
          <p:nvPr/>
        </p:nvSpPr>
        <p:spPr>
          <a:xfrm>
            <a:off x="822960" y="5449824"/>
            <a:ext cx="6309360" cy="0"/>
          </a:xfrm>
          <a:prstGeom prst="line">
            <a:avLst/>
          </a:prstGeom>
          <a:noFill/>
          <a:ln w="9525">
            <a:solidFill>
              <a:srgbClr val="D9D4C4"/>
            </a:solidFill>
            <a:prstDash val="solid"/>
          </a:ln>
        </p:spPr>
      </p:sp>
      <p:sp>
        <p:nvSpPr>
          <p:cNvPr id="14" name="Text 11"/>
          <p:cNvSpPr/>
          <p:nvPr/>
        </p:nvSpPr>
        <p:spPr>
          <a:xfrm>
            <a:off x="822960" y="5596128"/>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AO split</a:t>
            </a:r>
            <a:endParaRPr lang="en-US" sz="1150" dirty="0"/>
          </a:p>
        </p:txBody>
      </p:sp>
      <p:sp>
        <p:nvSpPr>
          <p:cNvPr id="15" name="Text 12"/>
          <p:cNvSpPr/>
          <p:nvPr/>
        </p:nvSpPr>
        <p:spPr>
          <a:xfrm>
            <a:off x="3063240" y="5596128"/>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15 / 15 / 15 / 15</a:t>
            </a:r>
            <a:endParaRPr lang="en-US" sz="1450" dirty="0"/>
          </a:p>
        </p:txBody>
      </p:sp>
      <p:sp>
        <p:nvSpPr>
          <p:cNvPr id="16" name="Shape 13"/>
          <p:cNvSpPr/>
          <p:nvPr/>
        </p:nvSpPr>
        <p:spPr>
          <a:xfrm>
            <a:off x="822960" y="5961888"/>
            <a:ext cx="6309360" cy="0"/>
          </a:xfrm>
          <a:prstGeom prst="line">
            <a:avLst/>
          </a:prstGeom>
          <a:noFill/>
          <a:ln w="9525">
            <a:solidFill>
              <a:srgbClr val="D9D4C4"/>
            </a:solidFill>
            <a:prstDash val="solid"/>
          </a:ln>
        </p:spPr>
      </p:sp>
      <p:sp>
        <p:nvSpPr>
          <p:cNvPr id="17" name="Text 14"/>
          <p:cNvSpPr/>
          <p:nvPr/>
        </p:nvSpPr>
        <p:spPr>
          <a:xfrm>
            <a:off x="822960" y="6108192"/>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Sat in</a:t>
            </a:r>
            <a:endParaRPr lang="en-US" sz="1150" dirty="0"/>
          </a:p>
        </p:txBody>
      </p:sp>
      <p:sp>
        <p:nvSpPr>
          <p:cNvPr id="18" name="Text 15"/>
          <p:cNvSpPr/>
          <p:nvPr/>
        </p:nvSpPr>
        <p:spPr>
          <a:xfrm>
            <a:off x="3063240" y="6108192"/>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Semester 4, spring 2028</a:t>
            </a:r>
            <a:endParaRPr lang="en-US" sz="1450" dirty="0"/>
          </a:p>
        </p:txBody>
      </p:sp>
      <p:sp>
        <p:nvSpPr>
          <p:cNvPr id="19" name="Shape 16"/>
          <p:cNvSpPr/>
          <p:nvPr/>
        </p:nvSpPr>
        <p:spPr>
          <a:xfrm>
            <a:off x="822960" y="6473952"/>
            <a:ext cx="6309360" cy="0"/>
          </a:xfrm>
          <a:prstGeom prst="line">
            <a:avLst/>
          </a:prstGeom>
          <a:noFill/>
          <a:ln w="9525">
            <a:solidFill>
              <a:srgbClr val="D9D4C4"/>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COMPONENT 2 · EXAMPLE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HOW THE 15 HOURS ACTUALLY WORK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test realises a plan. It does not make one.</a:t>
            </a:r>
            <a:endParaRPr lang="en-US" sz="3200" dirty="0"/>
          </a:p>
        </p:txBody>
      </p:sp>
      <p:sp>
        <p:nvSpPr>
          <p:cNvPr id="6" name="Text 4"/>
          <p:cNvSpPr/>
          <p:nvPr/>
        </p:nvSpPr>
        <p:spPr>
          <a:xfrm>
            <a:off x="822960"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Before</a:t>
            </a:r>
            <a:endParaRPr lang="en-US" sz="1400" dirty="0"/>
          </a:p>
        </p:txBody>
      </p:sp>
      <p:sp>
        <p:nvSpPr>
          <p:cNvPr id="7" name="Shape 5"/>
          <p:cNvSpPr/>
          <p:nvPr/>
        </p:nvSpPr>
        <p:spPr>
          <a:xfrm>
            <a:off x="822960" y="2514600"/>
            <a:ext cx="3246120" cy="0"/>
          </a:xfrm>
          <a:prstGeom prst="line">
            <a:avLst/>
          </a:prstGeom>
          <a:noFill/>
          <a:ln w="9525">
            <a:solidFill>
              <a:srgbClr val="D9D4C4"/>
            </a:solidFill>
            <a:prstDash val="solid"/>
          </a:ln>
        </p:spPr>
      </p:sp>
      <p:sp>
        <p:nvSpPr>
          <p:cNvPr id="8" name="Text 6"/>
          <p:cNvSpPr/>
          <p:nvPr/>
        </p:nvSpPr>
        <p:spPr>
          <a:xfrm>
            <a:off x="822960" y="2651760"/>
            <a:ext cx="3246120" cy="27432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paper is released and you choose one of three themes. Recording, exploration and development all happen here, at pace, and the final composition is planned down to palette and materials.</a:t>
            </a:r>
            <a:endParaRPr lang="en-US" sz="1550" dirty="0"/>
          </a:p>
        </p:txBody>
      </p:sp>
      <p:sp>
        <p:nvSpPr>
          <p:cNvPr id="9" name="Text 7"/>
          <p:cNvSpPr/>
          <p:nvPr/>
        </p:nvSpPr>
        <p:spPr>
          <a:xfrm>
            <a:off x="4471416"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During</a:t>
            </a:r>
            <a:endParaRPr lang="en-US" sz="1400" dirty="0"/>
          </a:p>
        </p:txBody>
      </p:sp>
      <p:sp>
        <p:nvSpPr>
          <p:cNvPr id="10" name="Shape 8"/>
          <p:cNvSpPr/>
          <p:nvPr/>
        </p:nvSpPr>
        <p:spPr>
          <a:xfrm>
            <a:off x="4471416" y="2514600"/>
            <a:ext cx="3246120" cy="0"/>
          </a:xfrm>
          <a:prstGeom prst="line">
            <a:avLst/>
          </a:prstGeom>
          <a:noFill/>
          <a:ln w="9525">
            <a:solidFill>
              <a:srgbClr val="D9D4C4"/>
            </a:solidFill>
            <a:prstDash val="solid"/>
          </a:ln>
        </p:spPr>
      </p:sp>
      <p:sp>
        <p:nvSpPr>
          <p:cNvPr id="11" name="Text 9"/>
          <p:cNvSpPr/>
          <p:nvPr/>
        </p:nvSpPr>
        <p:spPr>
          <a:xfrm>
            <a:off x="4471416" y="2651760"/>
            <a:ext cx="3246120" cy="27432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15 supervised hours across several sittings. Work is stored securely between them and you have no access to it. You realise the piece you planned.</a:t>
            </a:r>
            <a:endParaRPr lang="en-US" sz="1550" dirty="0"/>
          </a:p>
        </p:txBody>
      </p:sp>
      <p:sp>
        <p:nvSpPr>
          <p:cNvPr id="12" name="Text 10"/>
          <p:cNvSpPr/>
          <p:nvPr/>
        </p:nvSpPr>
        <p:spPr>
          <a:xfrm>
            <a:off x="8119872" y="2057400"/>
            <a:ext cx="3246120" cy="45720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After</a:t>
            </a:r>
            <a:endParaRPr lang="en-US" sz="1400" dirty="0"/>
          </a:p>
        </p:txBody>
      </p:sp>
      <p:sp>
        <p:nvSpPr>
          <p:cNvPr id="13" name="Shape 11"/>
          <p:cNvSpPr/>
          <p:nvPr/>
        </p:nvSpPr>
        <p:spPr>
          <a:xfrm>
            <a:off x="8119872" y="2514600"/>
            <a:ext cx="3246120" cy="0"/>
          </a:xfrm>
          <a:prstGeom prst="line">
            <a:avLst/>
          </a:prstGeom>
          <a:noFill/>
          <a:ln w="9525">
            <a:solidFill>
              <a:srgbClr val="D9D4C4"/>
            </a:solidFill>
            <a:prstDash val="solid"/>
          </a:ln>
        </p:spPr>
      </p:sp>
      <p:sp>
        <p:nvSpPr>
          <p:cNvPr id="14" name="Text 12"/>
          <p:cNvSpPr/>
          <p:nvPr/>
        </p:nvSpPr>
        <p:spPr>
          <a:xfrm>
            <a:off x="8119872" y="2651760"/>
            <a:ext cx="3246120" cy="27432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outcome is photographed, the package is assembled exactly as the specification orders it, and it goes to the board with C1 and C3.</a:t>
            </a:r>
            <a:endParaRPr lang="en-US" sz="1550" dirty="0"/>
          </a:p>
        </p:txBody>
      </p:sp>
      <p:sp>
        <p:nvSpPr>
          <p:cNvPr id="15" name="Shape 13"/>
          <p:cNvSpPr/>
          <p:nvPr/>
        </p:nvSpPr>
        <p:spPr>
          <a:xfrm>
            <a:off x="822960" y="6382512"/>
            <a:ext cx="10543032" cy="0"/>
          </a:xfrm>
          <a:prstGeom prst="line">
            <a:avLst/>
          </a:prstGeom>
          <a:noFill/>
          <a:ln w="9525">
            <a:solidFill>
              <a:srgbClr val="D9D4C4"/>
            </a:solidFill>
            <a:prstDash val="solid"/>
          </a:ln>
        </p:spPr>
      </p:sp>
      <p:sp>
        <p:nvSpPr>
          <p:cNvPr id="16"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a:t>
            </a:r>
            <a:endParaRPr lang="en-US" sz="900" dirty="0"/>
          </a:p>
        </p:txBody>
      </p:sp>
      <p:sp>
        <p:nvSpPr>
          <p:cNvPr id="17"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pic>
        <p:nvPicPr>
          <p:cNvPr id="2" name="Image 0" descr="/private/tmp/claude-501/-Users-dogan-Documents-Vaults-Courses/3954bcc8-cc8d-4110-bd5a-74962061a805/scratchpad/decks/img/crops/bosschaert-bouquet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Ambrosius Bosschaert the Elder, bouquet. Public domain</a:t>
            </a:r>
            <a:endParaRPr lang="en-US" sz="950" dirty="0"/>
          </a:p>
        </p:txBody>
      </p:sp>
      <p:sp>
        <p:nvSpPr>
          <p:cNvPr id="4" name="Text 1"/>
          <p:cNvSpPr/>
          <p:nvPr/>
        </p:nvSpPr>
        <p:spPr>
          <a:xfrm>
            <a:off x="822960" y="6858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COMPONENT 3</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188720"/>
            <a:ext cx="6217920" cy="1371600"/>
          </a:xfrm>
          <a:prstGeom prst="rect">
            <a:avLst/>
          </a:prstGeom>
          <a:noFill/>
          <a:ln/>
        </p:spPr>
        <p:txBody>
          <a:bodyPr wrap="square" lIns="0" tIns="0" rIns="0" bIns="0" rtlCol="0" anchor="t"/>
          <a:lstStyle/>
          <a:p>
            <a:pPr indent="0" marL="0">
              <a:lnSpc>
                <a:spcPts val="4400"/>
              </a:lnSpc>
              <a:buNone/>
            </a:pPr>
            <a:r>
              <a:rPr lang="en-US" sz="4200" dirty="0">
                <a:solidFill>
                  <a:srgbClr val="24313F"/>
                </a:solidFill>
                <a:latin typeface="Georgia" pitchFamily="34" charset="0"/>
                <a:ea typeface="Georgia" pitchFamily="34" charset="-122"/>
                <a:cs typeface="Georgia" pitchFamily="34" charset="-120"/>
              </a:rPr>
              <a:t>The Personal</a:t>
            </a:r>
            <a:endParaRPr lang="en-US" sz="4200" dirty="0"/>
          </a:p>
          <a:p>
            <a:pPr indent="0" marL="0">
              <a:lnSpc>
                <a:spcPts val="4400"/>
              </a:lnSpc>
              <a:buNone/>
            </a:pPr>
            <a:r>
              <a:rPr lang="en-US" sz="4200" dirty="0">
                <a:solidFill>
                  <a:srgbClr val="24313F"/>
                </a:solidFill>
                <a:latin typeface="Georgia" pitchFamily="34" charset="0"/>
                <a:ea typeface="Georgia" pitchFamily="34" charset="-122"/>
                <a:cs typeface="Georgia" pitchFamily="34" charset="-120"/>
              </a:rPr>
              <a:t>Investigation</a:t>
            </a:r>
            <a:endParaRPr lang="en-US" sz="4200" dirty="0"/>
          </a:p>
        </p:txBody>
      </p:sp>
      <p:sp>
        <p:nvSpPr>
          <p:cNvPr id="7" name="Text 4"/>
          <p:cNvSpPr/>
          <p:nvPr/>
        </p:nvSpPr>
        <p:spPr>
          <a:xfrm>
            <a:off x="822960" y="2697480"/>
            <a:ext cx="6309360" cy="173736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Your own theme, proposed and locked in writing, investigated across a year. A body of visual work with two final outcomes, and a written discourse of 2000 to 2500 words integrated with it rather than bolted on, with a bibliography carried in the body of the work.</a:t>
            </a:r>
            <a:endParaRPr lang="en-US" sz="1650" dirty="0"/>
          </a:p>
        </p:txBody>
      </p:sp>
      <p:sp>
        <p:nvSpPr>
          <p:cNvPr id="8" name="Text 5"/>
          <p:cNvSpPr/>
          <p:nvPr/>
        </p:nvSpPr>
        <p:spPr>
          <a:xfrm>
            <a:off x="822960" y="4572000"/>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Marks</a:t>
            </a:r>
            <a:endParaRPr lang="en-US" sz="1150" dirty="0"/>
          </a:p>
        </p:txBody>
      </p:sp>
      <p:sp>
        <p:nvSpPr>
          <p:cNvPr id="9" name="Text 6"/>
          <p:cNvSpPr/>
          <p:nvPr/>
        </p:nvSpPr>
        <p:spPr>
          <a:xfrm>
            <a:off x="3063240" y="4572000"/>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75, weighted to 150</a:t>
            </a:r>
            <a:endParaRPr lang="en-US" sz="1450" dirty="0"/>
          </a:p>
        </p:txBody>
      </p:sp>
      <p:sp>
        <p:nvSpPr>
          <p:cNvPr id="10" name="Shape 7"/>
          <p:cNvSpPr/>
          <p:nvPr/>
        </p:nvSpPr>
        <p:spPr>
          <a:xfrm>
            <a:off x="822960" y="4937760"/>
            <a:ext cx="6309360" cy="0"/>
          </a:xfrm>
          <a:prstGeom prst="line">
            <a:avLst/>
          </a:prstGeom>
          <a:noFill/>
          <a:ln w="9525">
            <a:solidFill>
              <a:srgbClr val="D9D4C4"/>
            </a:solidFill>
            <a:prstDash val="solid"/>
          </a:ln>
        </p:spPr>
      </p:sp>
      <p:sp>
        <p:nvSpPr>
          <p:cNvPr id="11" name="Text 8"/>
          <p:cNvSpPr/>
          <p:nvPr/>
        </p:nvSpPr>
        <p:spPr>
          <a:xfrm>
            <a:off x="822960" y="5084064"/>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Weight</a:t>
            </a:r>
            <a:endParaRPr lang="en-US" sz="1150" dirty="0"/>
          </a:p>
        </p:txBody>
      </p:sp>
      <p:sp>
        <p:nvSpPr>
          <p:cNvPr id="12" name="Text 9"/>
          <p:cNvSpPr/>
          <p:nvPr/>
        </p:nvSpPr>
        <p:spPr>
          <a:xfrm>
            <a:off x="3063240" y="5084064"/>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50 per cent of the A Level</a:t>
            </a:r>
            <a:endParaRPr lang="en-US" sz="1450" dirty="0"/>
          </a:p>
        </p:txBody>
      </p:sp>
      <p:sp>
        <p:nvSpPr>
          <p:cNvPr id="13" name="Shape 10"/>
          <p:cNvSpPr/>
          <p:nvPr/>
        </p:nvSpPr>
        <p:spPr>
          <a:xfrm>
            <a:off x="822960" y="5449824"/>
            <a:ext cx="6309360" cy="0"/>
          </a:xfrm>
          <a:prstGeom prst="line">
            <a:avLst/>
          </a:prstGeom>
          <a:noFill/>
          <a:ln w="9525">
            <a:solidFill>
              <a:srgbClr val="D9D4C4"/>
            </a:solidFill>
            <a:prstDash val="solid"/>
          </a:ln>
        </p:spPr>
      </p:sp>
      <p:sp>
        <p:nvSpPr>
          <p:cNvPr id="14" name="Text 11"/>
          <p:cNvSpPr/>
          <p:nvPr/>
        </p:nvSpPr>
        <p:spPr>
          <a:xfrm>
            <a:off x="822960" y="5596128"/>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AO split</a:t>
            </a:r>
            <a:endParaRPr lang="en-US" sz="1150" dirty="0"/>
          </a:p>
        </p:txBody>
      </p:sp>
      <p:sp>
        <p:nvSpPr>
          <p:cNvPr id="15" name="Text 12"/>
          <p:cNvSpPr/>
          <p:nvPr/>
        </p:nvSpPr>
        <p:spPr>
          <a:xfrm>
            <a:off x="3063240" y="5596128"/>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20 / 20 / 25 / 10</a:t>
            </a:r>
            <a:endParaRPr lang="en-US" sz="1450" dirty="0"/>
          </a:p>
        </p:txBody>
      </p:sp>
      <p:sp>
        <p:nvSpPr>
          <p:cNvPr id="16" name="Shape 13"/>
          <p:cNvSpPr/>
          <p:nvPr/>
        </p:nvSpPr>
        <p:spPr>
          <a:xfrm>
            <a:off x="822960" y="5961888"/>
            <a:ext cx="6309360" cy="0"/>
          </a:xfrm>
          <a:prstGeom prst="line">
            <a:avLst/>
          </a:prstGeom>
          <a:noFill/>
          <a:ln w="9525">
            <a:solidFill>
              <a:srgbClr val="D9D4C4"/>
            </a:solidFill>
            <a:prstDash val="solid"/>
          </a:ln>
        </p:spPr>
      </p:sp>
      <p:sp>
        <p:nvSpPr>
          <p:cNvPr id="17" name="Text 14"/>
          <p:cNvSpPr/>
          <p:nvPr/>
        </p:nvSpPr>
        <p:spPr>
          <a:xfrm>
            <a:off x="822960" y="6108192"/>
            <a:ext cx="2194560" cy="310896"/>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Built in</a:t>
            </a:r>
            <a:endParaRPr lang="en-US" sz="1150" dirty="0"/>
          </a:p>
        </p:txBody>
      </p:sp>
      <p:sp>
        <p:nvSpPr>
          <p:cNvPr id="18" name="Text 15"/>
          <p:cNvSpPr/>
          <p:nvPr/>
        </p:nvSpPr>
        <p:spPr>
          <a:xfrm>
            <a:off x="3063240" y="6108192"/>
            <a:ext cx="4069080" cy="310896"/>
          </a:xfrm>
          <a:prstGeom prst="rect">
            <a:avLst/>
          </a:prstGeom>
          <a:noFill/>
          <a:ln/>
        </p:spPr>
        <p:txBody>
          <a:bodyPr wrap="square" lIns="0" tIns="0" rIns="0" bIns="0" rtlCol="0" anchor="ctr"/>
          <a:lstStyle/>
          <a:p>
            <a:pPr indent="0" marL="0">
              <a:buNone/>
            </a:pPr>
            <a:r>
              <a:rPr lang="en-US" sz="1450" dirty="0">
                <a:solidFill>
                  <a:srgbClr val="24313F"/>
                </a:solidFill>
                <a:latin typeface="Georgia" pitchFamily="34" charset="0"/>
                <a:ea typeface="Georgia" pitchFamily="34" charset="-122"/>
                <a:cs typeface="Georgia" pitchFamily="34" charset="-120"/>
              </a:rPr>
              <a:t>Semesters 2 and 3</a:t>
            </a:r>
            <a:endParaRPr lang="en-US" sz="1450" dirty="0"/>
          </a:p>
        </p:txBody>
      </p:sp>
      <p:sp>
        <p:nvSpPr>
          <p:cNvPr id="19" name="Shape 16"/>
          <p:cNvSpPr/>
          <p:nvPr/>
        </p:nvSpPr>
        <p:spPr>
          <a:xfrm>
            <a:off x="822960" y="6473952"/>
            <a:ext cx="6309360" cy="0"/>
          </a:xfrm>
          <a:prstGeom prst="line">
            <a:avLst/>
          </a:prstGeom>
          <a:noFill/>
          <a:ln w="9525">
            <a:solidFill>
              <a:srgbClr val="D9D4C4"/>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COMPONENT 3 · EXAMPLE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THE WRITING HAS TO DO</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2000 to 2500 words, doing real work</a:t>
            </a:r>
            <a:endParaRPr lang="en-US" sz="3400" dirty="0"/>
          </a:p>
        </p:txBody>
      </p:sp>
      <p:sp>
        <p:nvSpPr>
          <p:cNvPr id="6" name="Text 4"/>
          <p:cNvSpPr/>
          <p:nvPr/>
        </p:nvSpPr>
        <p:spPr>
          <a:xfrm>
            <a:off x="822960" y="214884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Integrated, not appended</a:t>
            </a:r>
            <a:endParaRPr lang="en-US" sz="1350" dirty="0"/>
          </a:p>
        </p:txBody>
      </p:sp>
      <p:sp>
        <p:nvSpPr>
          <p:cNvPr id="7" name="Shape 5"/>
          <p:cNvSpPr/>
          <p:nvPr/>
        </p:nvSpPr>
        <p:spPr>
          <a:xfrm>
            <a:off x="822960" y="2788920"/>
            <a:ext cx="3246120" cy="0"/>
          </a:xfrm>
          <a:prstGeom prst="line">
            <a:avLst/>
          </a:prstGeom>
          <a:noFill/>
          <a:ln w="9525">
            <a:solidFill>
              <a:srgbClr val="D9D4C4"/>
            </a:solidFill>
            <a:prstDash val="solid"/>
          </a:ln>
        </p:spPr>
      </p:sp>
      <p:sp>
        <p:nvSpPr>
          <p:cNvPr id="8" name="Text 6"/>
          <p:cNvSpPr/>
          <p:nvPr/>
        </p:nvSpPr>
        <p:spPr>
          <a:xfrm>
            <a:off x="822960" y="2926080"/>
            <a:ext cx="3246120" cy="25603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Every claim in the writing points at real work in the portfolio. If a paragraph could survive with the pictures removed, it is in the wrong document.</a:t>
            </a:r>
            <a:endParaRPr lang="en-US" sz="1550" dirty="0"/>
          </a:p>
        </p:txBody>
      </p:sp>
      <p:sp>
        <p:nvSpPr>
          <p:cNvPr id="9" name="Text 7"/>
          <p:cNvSpPr/>
          <p:nvPr/>
        </p:nvSpPr>
        <p:spPr>
          <a:xfrm>
            <a:off x="4471416" y="214884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Argued, not surveyed</a:t>
            </a:r>
            <a:endParaRPr lang="en-US" sz="1350" dirty="0"/>
          </a:p>
        </p:txBody>
      </p:sp>
      <p:sp>
        <p:nvSpPr>
          <p:cNvPr id="10" name="Shape 8"/>
          <p:cNvSpPr/>
          <p:nvPr/>
        </p:nvSpPr>
        <p:spPr>
          <a:xfrm>
            <a:off x="4471416" y="2788920"/>
            <a:ext cx="3246120" cy="0"/>
          </a:xfrm>
          <a:prstGeom prst="line">
            <a:avLst/>
          </a:prstGeom>
          <a:noFill/>
          <a:ln w="9525">
            <a:solidFill>
              <a:srgbClr val="D9D4C4"/>
            </a:solidFill>
            <a:prstDash val="solid"/>
          </a:ln>
        </p:spPr>
      </p:sp>
      <p:sp>
        <p:nvSpPr>
          <p:cNvPr id="11" name="Text 9"/>
          <p:cNvSpPr/>
          <p:nvPr/>
        </p:nvSpPr>
        <p:spPr>
          <a:xfrm>
            <a:off x="4471416" y="2926080"/>
            <a:ext cx="3246120" cy="25603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One line of enquiry pursued, with artists brought in because they solve your problem. A tour of everyone who ever painted your subject is not an investigation.</a:t>
            </a:r>
            <a:endParaRPr lang="en-US" sz="1550" dirty="0"/>
          </a:p>
        </p:txBody>
      </p:sp>
      <p:sp>
        <p:nvSpPr>
          <p:cNvPr id="12" name="Text 10"/>
          <p:cNvSpPr/>
          <p:nvPr/>
        </p:nvSpPr>
        <p:spPr>
          <a:xfrm>
            <a:off x="8119872" y="214884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Bibliography in the body</a:t>
            </a:r>
            <a:endParaRPr lang="en-US" sz="1350" dirty="0"/>
          </a:p>
        </p:txBody>
      </p:sp>
      <p:sp>
        <p:nvSpPr>
          <p:cNvPr id="13" name="Shape 11"/>
          <p:cNvSpPr/>
          <p:nvPr/>
        </p:nvSpPr>
        <p:spPr>
          <a:xfrm>
            <a:off x="8119872" y="2788920"/>
            <a:ext cx="3246120" cy="0"/>
          </a:xfrm>
          <a:prstGeom prst="line">
            <a:avLst/>
          </a:prstGeom>
          <a:noFill/>
          <a:ln w="9525">
            <a:solidFill>
              <a:srgbClr val="D9D4C4"/>
            </a:solidFill>
            <a:prstDash val="solid"/>
          </a:ln>
        </p:spPr>
      </p:sp>
      <p:sp>
        <p:nvSpPr>
          <p:cNvPr id="14" name="Text 12"/>
          <p:cNvSpPr/>
          <p:nvPr/>
        </p:nvSpPr>
        <p:spPr>
          <a:xfrm>
            <a:off x="8119872" y="2926080"/>
            <a:ext cx="3246120" cy="25603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Sources sit inside the work where they were used. A detached list at the back loses marks under AO1.</a:t>
            </a:r>
            <a:endParaRPr lang="en-US" sz="1550" dirty="0"/>
          </a:p>
        </p:txBody>
      </p:sp>
      <p:sp>
        <p:nvSpPr>
          <p:cNvPr id="15" name="Shape 13"/>
          <p:cNvSpPr/>
          <p:nvPr/>
        </p:nvSpPr>
        <p:spPr>
          <a:xfrm>
            <a:off x="822960" y="6382512"/>
            <a:ext cx="10543032" cy="0"/>
          </a:xfrm>
          <a:prstGeom prst="line">
            <a:avLst/>
          </a:prstGeom>
          <a:noFill/>
          <a:ln w="9525">
            <a:solidFill>
              <a:srgbClr val="D9D4C4"/>
            </a:solidFill>
            <a:prstDash val="solid"/>
          </a:ln>
        </p:spPr>
      </p:sp>
      <p:sp>
        <p:nvSpPr>
          <p:cNvPr id="16"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a:t>
            </a:r>
            <a:endParaRPr lang="en-US" sz="900" dirty="0"/>
          </a:p>
        </p:txBody>
      </p:sp>
      <p:sp>
        <p:nvSpPr>
          <p:cNvPr id="17"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800"/>
              </a:lnSpc>
              <a:buNone/>
            </a:pPr>
            <a:r>
              <a:rPr lang="en-US" sz="4000" dirty="0">
                <a:solidFill>
                  <a:srgbClr val="24313F"/>
                </a:solidFill>
                <a:latin typeface="Georgia" pitchFamily="34" charset="0"/>
                <a:ea typeface="Georgia" pitchFamily="34" charset="-122"/>
                <a:cs typeface="Georgia" pitchFamily="34" charset="-120"/>
              </a:rPr>
              <a:t>The theme is yours, not the menu's. You propose it and lock it in writing.</a:t>
            </a:r>
            <a:endParaRPr lang="en-US" sz="40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Component 3, from the first week of Semester 2</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NUMBERS IN ONE PLACE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2028 TO 2030 SPECIFICATION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Marks, weights and the AO split</a:t>
            </a:r>
            <a:endParaRPr lang="en-US" sz="3000" dirty="0"/>
          </a:p>
        </p:txBody>
      </p:sp>
      <p:sp>
        <p:nvSpPr>
          <p:cNvPr id="6" name="Text 4"/>
          <p:cNvSpPr/>
          <p:nvPr/>
        </p:nvSpPr>
        <p:spPr>
          <a:xfrm>
            <a:off x="3474720" y="1645920"/>
            <a:ext cx="2630424" cy="457200"/>
          </a:xfrm>
          <a:prstGeom prst="rect">
            <a:avLst/>
          </a:prstGeom>
          <a:noFill/>
          <a:ln/>
        </p:spPr>
        <p:txBody>
          <a:bodyPr wrap="square" lIns="0" tIns="0" rIns="0" bIns="0" rtlCol="0" anchor="ctr"/>
          <a:lstStyle/>
          <a:p>
            <a:pPr algn="ctr" indent="0" marL="0">
              <a:buNone/>
            </a:pPr>
            <a:r>
              <a:rPr lang="en-US" sz="1200" b="1" spc="100" kern="0" dirty="0">
                <a:solidFill>
                  <a:srgbClr val="4A6B5D"/>
                </a:solidFill>
                <a:latin typeface="Arial" pitchFamily="34" charset="0"/>
                <a:ea typeface="Arial" pitchFamily="34" charset="-122"/>
                <a:cs typeface="Arial" pitchFamily="34" charset="-120"/>
              </a:rPr>
              <a:t>C1 Portfolio</a:t>
            </a:r>
            <a:endParaRPr lang="en-US" sz="1200" dirty="0"/>
          </a:p>
        </p:txBody>
      </p:sp>
      <p:sp>
        <p:nvSpPr>
          <p:cNvPr id="7" name="Text 5"/>
          <p:cNvSpPr/>
          <p:nvPr/>
        </p:nvSpPr>
        <p:spPr>
          <a:xfrm>
            <a:off x="6105144" y="1645920"/>
            <a:ext cx="2630424" cy="457200"/>
          </a:xfrm>
          <a:prstGeom prst="rect">
            <a:avLst/>
          </a:prstGeom>
          <a:noFill/>
          <a:ln/>
        </p:spPr>
        <p:txBody>
          <a:bodyPr wrap="square" lIns="0" tIns="0" rIns="0" bIns="0" rtlCol="0" anchor="ctr"/>
          <a:lstStyle/>
          <a:p>
            <a:pPr algn="ctr" indent="0" marL="0">
              <a:buNone/>
            </a:pPr>
            <a:r>
              <a:rPr lang="en-US" sz="1200" b="1" spc="100" kern="0" dirty="0">
                <a:solidFill>
                  <a:srgbClr val="4A6B5D"/>
                </a:solidFill>
                <a:latin typeface="Arial" pitchFamily="34" charset="0"/>
                <a:ea typeface="Arial" pitchFamily="34" charset="-122"/>
                <a:cs typeface="Arial" pitchFamily="34" charset="-120"/>
              </a:rPr>
              <a:t>C2 Set Assignment</a:t>
            </a:r>
            <a:endParaRPr lang="en-US" sz="1200" dirty="0"/>
          </a:p>
        </p:txBody>
      </p:sp>
      <p:sp>
        <p:nvSpPr>
          <p:cNvPr id="8" name="Text 6"/>
          <p:cNvSpPr/>
          <p:nvPr/>
        </p:nvSpPr>
        <p:spPr>
          <a:xfrm>
            <a:off x="8735568" y="1645920"/>
            <a:ext cx="2630424" cy="457200"/>
          </a:xfrm>
          <a:prstGeom prst="rect">
            <a:avLst/>
          </a:prstGeom>
          <a:noFill/>
          <a:ln/>
        </p:spPr>
        <p:txBody>
          <a:bodyPr wrap="square" lIns="0" tIns="0" rIns="0" bIns="0" rtlCol="0" anchor="ctr"/>
          <a:lstStyle/>
          <a:p>
            <a:pPr algn="ctr" indent="0" marL="0">
              <a:buNone/>
            </a:pPr>
            <a:r>
              <a:rPr lang="en-US" sz="1200" b="1" spc="100" kern="0" dirty="0">
                <a:solidFill>
                  <a:srgbClr val="4A6B5D"/>
                </a:solidFill>
                <a:latin typeface="Arial" pitchFamily="34" charset="0"/>
                <a:ea typeface="Arial" pitchFamily="34" charset="-122"/>
                <a:cs typeface="Arial" pitchFamily="34" charset="-120"/>
              </a:rPr>
              <a:t>C3 Personal Investigation</a:t>
            </a:r>
            <a:endParaRPr lang="en-US" sz="1200" dirty="0"/>
          </a:p>
        </p:txBody>
      </p:sp>
      <p:sp>
        <p:nvSpPr>
          <p:cNvPr id="9" name="Shape 7"/>
          <p:cNvSpPr/>
          <p:nvPr/>
        </p:nvSpPr>
        <p:spPr>
          <a:xfrm>
            <a:off x="822960" y="2148840"/>
            <a:ext cx="10543032" cy="0"/>
          </a:xfrm>
          <a:prstGeom prst="line">
            <a:avLst/>
          </a:prstGeom>
          <a:noFill/>
          <a:ln w="15240">
            <a:solidFill>
              <a:srgbClr val="4A6B5D"/>
            </a:solidFill>
            <a:prstDash val="solid"/>
          </a:ln>
        </p:spPr>
      </p:sp>
      <p:sp>
        <p:nvSpPr>
          <p:cNvPr id="10" name="Text 8"/>
          <p:cNvSpPr/>
          <p:nvPr/>
        </p:nvSpPr>
        <p:spPr>
          <a:xfrm>
            <a:off x="822960" y="2240280"/>
            <a:ext cx="2651760" cy="384048"/>
          </a:xfrm>
          <a:prstGeom prst="rect">
            <a:avLst/>
          </a:prstGeom>
          <a:noFill/>
          <a:ln/>
        </p:spPr>
        <p:txBody>
          <a:bodyPr wrap="square" lIns="0" tIns="0" rIns="0" bIns="0" rtlCol="0" anchor="ctr"/>
          <a:lstStyle/>
          <a:p>
            <a:pPr indent="0" marL="0">
              <a:buNone/>
            </a:pPr>
            <a:r>
              <a:rPr lang="en-US" sz="1200" spc="60" kern="0" dirty="0">
                <a:solidFill>
                  <a:srgbClr val="24313F"/>
                </a:solidFill>
                <a:latin typeface="Arial" pitchFamily="34" charset="0"/>
                <a:ea typeface="Arial" pitchFamily="34" charset="-122"/>
                <a:cs typeface="Arial" pitchFamily="34" charset="-120"/>
              </a:rPr>
              <a:t>Raw marks</a:t>
            </a:r>
            <a:endParaRPr lang="en-US" sz="1200" dirty="0"/>
          </a:p>
        </p:txBody>
      </p:sp>
      <p:sp>
        <p:nvSpPr>
          <p:cNvPr id="11" name="Text 9"/>
          <p:cNvSpPr/>
          <p:nvPr/>
        </p:nvSpPr>
        <p:spPr>
          <a:xfrm>
            <a:off x="3474720" y="2240280"/>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60</a:t>
            </a:r>
            <a:endParaRPr lang="en-US" sz="1700" dirty="0"/>
          </a:p>
        </p:txBody>
      </p:sp>
      <p:sp>
        <p:nvSpPr>
          <p:cNvPr id="12" name="Text 10"/>
          <p:cNvSpPr/>
          <p:nvPr/>
        </p:nvSpPr>
        <p:spPr>
          <a:xfrm>
            <a:off x="6105144" y="2240280"/>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60</a:t>
            </a:r>
            <a:endParaRPr lang="en-US" sz="1700" dirty="0"/>
          </a:p>
        </p:txBody>
      </p:sp>
      <p:sp>
        <p:nvSpPr>
          <p:cNvPr id="13" name="Text 11"/>
          <p:cNvSpPr/>
          <p:nvPr/>
        </p:nvSpPr>
        <p:spPr>
          <a:xfrm>
            <a:off x="8735568" y="2240280"/>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75</a:t>
            </a:r>
            <a:endParaRPr lang="en-US" sz="1700" dirty="0"/>
          </a:p>
        </p:txBody>
      </p:sp>
      <p:sp>
        <p:nvSpPr>
          <p:cNvPr id="14" name="Shape 12"/>
          <p:cNvSpPr/>
          <p:nvPr/>
        </p:nvSpPr>
        <p:spPr>
          <a:xfrm>
            <a:off x="822960" y="2670048"/>
            <a:ext cx="10543032" cy="0"/>
          </a:xfrm>
          <a:prstGeom prst="line">
            <a:avLst/>
          </a:prstGeom>
          <a:noFill/>
          <a:ln w="9525">
            <a:solidFill>
              <a:srgbClr val="D9D4C4"/>
            </a:solidFill>
            <a:prstDash val="solid"/>
          </a:ln>
        </p:spPr>
      </p:sp>
      <p:sp>
        <p:nvSpPr>
          <p:cNvPr id="15" name="Text 13"/>
          <p:cNvSpPr/>
          <p:nvPr/>
        </p:nvSpPr>
        <p:spPr>
          <a:xfrm>
            <a:off x="822960" y="2770632"/>
            <a:ext cx="2651760" cy="384048"/>
          </a:xfrm>
          <a:prstGeom prst="rect">
            <a:avLst/>
          </a:prstGeom>
          <a:noFill/>
          <a:ln/>
        </p:spPr>
        <p:txBody>
          <a:bodyPr wrap="square" lIns="0" tIns="0" rIns="0" bIns="0" rtlCol="0" anchor="ctr"/>
          <a:lstStyle/>
          <a:p>
            <a:pPr indent="0" marL="0">
              <a:buNone/>
            </a:pPr>
            <a:r>
              <a:rPr lang="en-US" sz="1200" spc="60" kern="0" dirty="0">
                <a:solidFill>
                  <a:srgbClr val="24313F"/>
                </a:solidFill>
                <a:latin typeface="Arial" pitchFamily="34" charset="0"/>
                <a:ea typeface="Arial" pitchFamily="34" charset="-122"/>
                <a:cs typeface="Arial" pitchFamily="34" charset="-120"/>
              </a:rPr>
              <a:t>Weighted to</a:t>
            </a:r>
            <a:endParaRPr lang="en-US" sz="1200" dirty="0"/>
          </a:p>
        </p:txBody>
      </p:sp>
      <p:sp>
        <p:nvSpPr>
          <p:cNvPr id="16" name="Text 14"/>
          <p:cNvSpPr/>
          <p:nvPr/>
        </p:nvSpPr>
        <p:spPr>
          <a:xfrm>
            <a:off x="3474720" y="2770632"/>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90</a:t>
            </a:r>
            <a:endParaRPr lang="en-US" sz="1700" dirty="0"/>
          </a:p>
        </p:txBody>
      </p:sp>
      <p:sp>
        <p:nvSpPr>
          <p:cNvPr id="17" name="Text 15"/>
          <p:cNvSpPr/>
          <p:nvPr/>
        </p:nvSpPr>
        <p:spPr>
          <a:xfrm>
            <a:off x="6105144" y="2770632"/>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60</a:t>
            </a:r>
            <a:endParaRPr lang="en-US" sz="1700" dirty="0"/>
          </a:p>
        </p:txBody>
      </p:sp>
      <p:sp>
        <p:nvSpPr>
          <p:cNvPr id="18" name="Text 16"/>
          <p:cNvSpPr/>
          <p:nvPr/>
        </p:nvSpPr>
        <p:spPr>
          <a:xfrm>
            <a:off x="8735568" y="2770632"/>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150</a:t>
            </a:r>
            <a:endParaRPr lang="en-US" sz="1700" dirty="0"/>
          </a:p>
        </p:txBody>
      </p:sp>
      <p:sp>
        <p:nvSpPr>
          <p:cNvPr id="19" name="Shape 17"/>
          <p:cNvSpPr/>
          <p:nvPr/>
        </p:nvSpPr>
        <p:spPr>
          <a:xfrm>
            <a:off x="822960" y="3200400"/>
            <a:ext cx="10543032" cy="0"/>
          </a:xfrm>
          <a:prstGeom prst="line">
            <a:avLst/>
          </a:prstGeom>
          <a:noFill/>
          <a:ln w="9525">
            <a:solidFill>
              <a:srgbClr val="D9D4C4"/>
            </a:solidFill>
            <a:prstDash val="solid"/>
          </a:ln>
        </p:spPr>
      </p:sp>
      <p:sp>
        <p:nvSpPr>
          <p:cNvPr id="20" name="Text 18"/>
          <p:cNvSpPr/>
          <p:nvPr/>
        </p:nvSpPr>
        <p:spPr>
          <a:xfrm>
            <a:off x="822960" y="3300984"/>
            <a:ext cx="2651760" cy="384048"/>
          </a:xfrm>
          <a:prstGeom prst="rect">
            <a:avLst/>
          </a:prstGeom>
          <a:noFill/>
          <a:ln/>
        </p:spPr>
        <p:txBody>
          <a:bodyPr wrap="square" lIns="0" tIns="0" rIns="0" bIns="0" rtlCol="0" anchor="ctr"/>
          <a:lstStyle/>
          <a:p>
            <a:pPr indent="0" marL="0">
              <a:buNone/>
            </a:pPr>
            <a:r>
              <a:rPr lang="en-US" sz="1200" spc="60" kern="0" dirty="0">
                <a:solidFill>
                  <a:srgbClr val="24313F"/>
                </a:solidFill>
                <a:latin typeface="Arial" pitchFamily="34" charset="0"/>
                <a:ea typeface="Arial" pitchFamily="34" charset="-122"/>
                <a:cs typeface="Arial" pitchFamily="34" charset="-120"/>
              </a:rPr>
              <a:t>A Level weight</a:t>
            </a:r>
            <a:endParaRPr lang="en-US" sz="1200" dirty="0"/>
          </a:p>
        </p:txBody>
      </p:sp>
      <p:sp>
        <p:nvSpPr>
          <p:cNvPr id="21" name="Text 19"/>
          <p:cNvSpPr/>
          <p:nvPr/>
        </p:nvSpPr>
        <p:spPr>
          <a:xfrm>
            <a:off x="3474720" y="3300984"/>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30 per cent</a:t>
            </a:r>
            <a:endParaRPr lang="en-US" sz="1700" dirty="0"/>
          </a:p>
        </p:txBody>
      </p:sp>
      <p:sp>
        <p:nvSpPr>
          <p:cNvPr id="22" name="Text 20"/>
          <p:cNvSpPr/>
          <p:nvPr/>
        </p:nvSpPr>
        <p:spPr>
          <a:xfrm>
            <a:off x="6105144" y="3300984"/>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20 per cent</a:t>
            </a:r>
            <a:endParaRPr lang="en-US" sz="1700" dirty="0"/>
          </a:p>
        </p:txBody>
      </p:sp>
      <p:sp>
        <p:nvSpPr>
          <p:cNvPr id="23" name="Text 21"/>
          <p:cNvSpPr/>
          <p:nvPr/>
        </p:nvSpPr>
        <p:spPr>
          <a:xfrm>
            <a:off x="8735568" y="3300984"/>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50 per cent</a:t>
            </a:r>
            <a:endParaRPr lang="en-US" sz="1700" dirty="0"/>
          </a:p>
        </p:txBody>
      </p:sp>
      <p:sp>
        <p:nvSpPr>
          <p:cNvPr id="24" name="Shape 22"/>
          <p:cNvSpPr/>
          <p:nvPr/>
        </p:nvSpPr>
        <p:spPr>
          <a:xfrm>
            <a:off x="822960" y="3730752"/>
            <a:ext cx="10543032" cy="0"/>
          </a:xfrm>
          <a:prstGeom prst="line">
            <a:avLst/>
          </a:prstGeom>
          <a:noFill/>
          <a:ln w="9525">
            <a:solidFill>
              <a:srgbClr val="D9D4C4"/>
            </a:solidFill>
            <a:prstDash val="solid"/>
          </a:ln>
        </p:spPr>
      </p:sp>
      <p:sp>
        <p:nvSpPr>
          <p:cNvPr id="25" name="Text 23"/>
          <p:cNvSpPr/>
          <p:nvPr/>
        </p:nvSpPr>
        <p:spPr>
          <a:xfrm>
            <a:off x="822960" y="3831336"/>
            <a:ext cx="2651760" cy="384048"/>
          </a:xfrm>
          <a:prstGeom prst="rect">
            <a:avLst/>
          </a:prstGeom>
          <a:noFill/>
          <a:ln/>
        </p:spPr>
        <p:txBody>
          <a:bodyPr wrap="square" lIns="0" tIns="0" rIns="0" bIns="0" rtlCol="0" anchor="ctr"/>
          <a:lstStyle/>
          <a:p>
            <a:pPr indent="0" marL="0">
              <a:buNone/>
            </a:pPr>
            <a:r>
              <a:rPr lang="en-US" sz="1200" b="1" spc="60" kern="0" dirty="0">
                <a:solidFill>
                  <a:srgbClr val="4A6B5D"/>
                </a:solidFill>
                <a:latin typeface="Arial" pitchFamily="34" charset="0"/>
                <a:ea typeface="Arial" pitchFamily="34" charset="-122"/>
                <a:cs typeface="Arial" pitchFamily="34" charset="-120"/>
              </a:rPr>
              <a:t>AO1 Record</a:t>
            </a:r>
            <a:endParaRPr lang="en-US" sz="1200" dirty="0"/>
          </a:p>
        </p:txBody>
      </p:sp>
      <p:sp>
        <p:nvSpPr>
          <p:cNvPr id="26" name="Text 24"/>
          <p:cNvSpPr/>
          <p:nvPr/>
        </p:nvSpPr>
        <p:spPr>
          <a:xfrm>
            <a:off x="3474720" y="3831336"/>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15</a:t>
            </a:r>
            <a:endParaRPr lang="en-US" sz="1700" dirty="0"/>
          </a:p>
        </p:txBody>
      </p:sp>
      <p:sp>
        <p:nvSpPr>
          <p:cNvPr id="27" name="Text 25"/>
          <p:cNvSpPr/>
          <p:nvPr/>
        </p:nvSpPr>
        <p:spPr>
          <a:xfrm>
            <a:off x="6105144" y="3831336"/>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15</a:t>
            </a:r>
            <a:endParaRPr lang="en-US" sz="1700" dirty="0"/>
          </a:p>
        </p:txBody>
      </p:sp>
      <p:sp>
        <p:nvSpPr>
          <p:cNvPr id="28" name="Text 26"/>
          <p:cNvSpPr/>
          <p:nvPr/>
        </p:nvSpPr>
        <p:spPr>
          <a:xfrm>
            <a:off x="8735568" y="3831336"/>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20</a:t>
            </a:r>
            <a:endParaRPr lang="en-US" sz="1700" dirty="0"/>
          </a:p>
        </p:txBody>
      </p:sp>
      <p:sp>
        <p:nvSpPr>
          <p:cNvPr id="29" name="Shape 27"/>
          <p:cNvSpPr/>
          <p:nvPr/>
        </p:nvSpPr>
        <p:spPr>
          <a:xfrm>
            <a:off x="822960" y="4261104"/>
            <a:ext cx="10543032" cy="0"/>
          </a:xfrm>
          <a:prstGeom prst="line">
            <a:avLst/>
          </a:prstGeom>
          <a:noFill/>
          <a:ln w="9525">
            <a:solidFill>
              <a:srgbClr val="D9D4C4"/>
            </a:solidFill>
            <a:prstDash val="solid"/>
          </a:ln>
        </p:spPr>
      </p:sp>
      <p:sp>
        <p:nvSpPr>
          <p:cNvPr id="30" name="Text 28"/>
          <p:cNvSpPr/>
          <p:nvPr/>
        </p:nvSpPr>
        <p:spPr>
          <a:xfrm>
            <a:off x="822960" y="4361688"/>
            <a:ext cx="2651760" cy="384048"/>
          </a:xfrm>
          <a:prstGeom prst="rect">
            <a:avLst/>
          </a:prstGeom>
          <a:noFill/>
          <a:ln/>
        </p:spPr>
        <p:txBody>
          <a:bodyPr wrap="square" lIns="0" tIns="0" rIns="0" bIns="0" rtlCol="0" anchor="ctr"/>
          <a:lstStyle/>
          <a:p>
            <a:pPr indent="0" marL="0">
              <a:buNone/>
            </a:pPr>
            <a:r>
              <a:rPr lang="en-US" sz="1200" b="1" spc="60" kern="0" dirty="0">
                <a:solidFill>
                  <a:srgbClr val="4A6B5D"/>
                </a:solidFill>
                <a:latin typeface="Arial" pitchFamily="34" charset="0"/>
                <a:ea typeface="Arial" pitchFamily="34" charset="-122"/>
                <a:cs typeface="Arial" pitchFamily="34" charset="-120"/>
              </a:rPr>
              <a:t>AO2 Explore</a:t>
            </a:r>
            <a:endParaRPr lang="en-US" sz="1200" dirty="0"/>
          </a:p>
        </p:txBody>
      </p:sp>
      <p:sp>
        <p:nvSpPr>
          <p:cNvPr id="31" name="Text 29"/>
          <p:cNvSpPr/>
          <p:nvPr/>
        </p:nvSpPr>
        <p:spPr>
          <a:xfrm>
            <a:off x="3474720" y="4361688"/>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15</a:t>
            </a:r>
            <a:endParaRPr lang="en-US" sz="1700" dirty="0"/>
          </a:p>
        </p:txBody>
      </p:sp>
      <p:sp>
        <p:nvSpPr>
          <p:cNvPr id="32" name="Text 30"/>
          <p:cNvSpPr/>
          <p:nvPr/>
        </p:nvSpPr>
        <p:spPr>
          <a:xfrm>
            <a:off x="6105144" y="4361688"/>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15</a:t>
            </a:r>
            <a:endParaRPr lang="en-US" sz="1700" dirty="0"/>
          </a:p>
        </p:txBody>
      </p:sp>
      <p:sp>
        <p:nvSpPr>
          <p:cNvPr id="33" name="Text 31"/>
          <p:cNvSpPr/>
          <p:nvPr/>
        </p:nvSpPr>
        <p:spPr>
          <a:xfrm>
            <a:off x="8735568" y="4361688"/>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20</a:t>
            </a:r>
            <a:endParaRPr lang="en-US" sz="1700" dirty="0"/>
          </a:p>
        </p:txBody>
      </p:sp>
      <p:sp>
        <p:nvSpPr>
          <p:cNvPr id="34" name="Shape 32"/>
          <p:cNvSpPr/>
          <p:nvPr/>
        </p:nvSpPr>
        <p:spPr>
          <a:xfrm>
            <a:off x="822960" y="4791456"/>
            <a:ext cx="10543032" cy="0"/>
          </a:xfrm>
          <a:prstGeom prst="line">
            <a:avLst/>
          </a:prstGeom>
          <a:noFill/>
          <a:ln w="9525">
            <a:solidFill>
              <a:srgbClr val="D9D4C4"/>
            </a:solidFill>
            <a:prstDash val="solid"/>
          </a:ln>
        </p:spPr>
      </p:sp>
      <p:sp>
        <p:nvSpPr>
          <p:cNvPr id="35" name="Text 33"/>
          <p:cNvSpPr/>
          <p:nvPr/>
        </p:nvSpPr>
        <p:spPr>
          <a:xfrm>
            <a:off x="822960" y="4892040"/>
            <a:ext cx="2651760" cy="384048"/>
          </a:xfrm>
          <a:prstGeom prst="rect">
            <a:avLst/>
          </a:prstGeom>
          <a:noFill/>
          <a:ln/>
        </p:spPr>
        <p:txBody>
          <a:bodyPr wrap="square" lIns="0" tIns="0" rIns="0" bIns="0" rtlCol="0" anchor="ctr"/>
          <a:lstStyle/>
          <a:p>
            <a:pPr indent="0" marL="0">
              <a:buNone/>
            </a:pPr>
            <a:r>
              <a:rPr lang="en-US" sz="1200" b="1" spc="60" kern="0" dirty="0">
                <a:solidFill>
                  <a:srgbClr val="4A6B5D"/>
                </a:solidFill>
                <a:latin typeface="Arial" pitchFamily="34" charset="0"/>
                <a:ea typeface="Arial" pitchFamily="34" charset="-122"/>
                <a:cs typeface="Arial" pitchFamily="34" charset="-120"/>
              </a:rPr>
              <a:t>AO3 Develop</a:t>
            </a:r>
            <a:endParaRPr lang="en-US" sz="1200" dirty="0"/>
          </a:p>
        </p:txBody>
      </p:sp>
      <p:sp>
        <p:nvSpPr>
          <p:cNvPr id="36" name="Text 34"/>
          <p:cNvSpPr/>
          <p:nvPr/>
        </p:nvSpPr>
        <p:spPr>
          <a:xfrm>
            <a:off x="3474720" y="4892040"/>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20</a:t>
            </a:r>
            <a:endParaRPr lang="en-US" sz="1700" dirty="0"/>
          </a:p>
        </p:txBody>
      </p:sp>
      <p:sp>
        <p:nvSpPr>
          <p:cNvPr id="37" name="Text 35"/>
          <p:cNvSpPr/>
          <p:nvPr/>
        </p:nvSpPr>
        <p:spPr>
          <a:xfrm>
            <a:off x="6105144" y="4892040"/>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15</a:t>
            </a:r>
            <a:endParaRPr lang="en-US" sz="1700" dirty="0"/>
          </a:p>
        </p:txBody>
      </p:sp>
      <p:sp>
        <p:nvSpPr>
          <p:cNvPr id="38" name="Text 36"/>
          <p:cNvSpPr/>
          <p:nvPr/>
        </p:nvSpPr>
        <p:spPr>
          <a:xfrm>
            <a:off x="8735568" y="4892040"/>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25</a:t>
            </a:r>
            <a:endParaRPr lang="en-US" sz="1700" dirty="0"/>
          </a:p>
        </p:txBody>
      </p:sp>
      <p:sp>
        <p:nvSpPr>
          <p:cNvPr id="39" name="Shape 37"/>
          <p:cNvSpPr/>
          <p:nvPr/>
        </p:nvSpPr>
        <p:spPr>
          <a:xfrm>
            <a:off x="822960" y="5321808"/>
            <a:ext cx="10543032" cy="0"/>
          </a:xfrm>
          <a:prstGeom prst="line">
            <a:avLst/>
          </a:prstGeom>
          <a:noFill/>
          <a:ln w="9525">
            <a:solidFill>
              <a:srgbClr val="D9D4C4"/>
            </a:solidFill>
            <a:prstDash val="solid"/>
          </a:ln>
        </p:spPr>
      </p:sp>
      <p:sp>
        <p:nvSpPr>
          <p:cNvPr id="40" name="Text 38"/>
          <p:cNvSpPr/>
          <p:nvPr/>
        </p:nvSpPr>
        <p:spPr>
          <a:xfrm>
            <a:off x="822960" y="5422392"/>
            <a:ext cx="2651760" cy="384048"/>
          </a:xfrm>
          <a:prstGeom prst="rect">
            <a:avLst/>
          </a:prstGeom>
          <a:noFill/>
          <a:ln/>
        </p:spPr>
        <p:txBody>
          <a:bodyPr wrap="square" lIns="0" tIns="0" rIns="0" bIns="0" rtlCol="0" anchor="ctr"/>
          <a:lstStyle/>
          <a:p>
            <a:pPr indent="0" marL="0">
              <a:buNone/>
            </a:pPr>
            <a:r>
              <a:rPr lang="en-US" sz="1200" b="1" spc="60" kern="0" dirty="0">
                <a:solidFill>
                  <a:srgbClr val="4A6B5D"/>
                </a:solidFill>
                <a:latin typeface="Arial" pitchFamily="34" charset="0"/>
                <a:ea typeface="Arial" pitchFamily="34" charset="-122"/>
                <a:cs typeface="Arial" pitchFamily="34" charset="-120"/>
              </a:rPr>
              <a:t>AO4 Present</a:t>
            </a:r>
            <a:endParaRPr lang="en-US" sz="1200" dirty="0"/>
          </a:p>
        </p:txBody>
      </p:sp>
      <p:sp>
        <p:nvSpPr>
          <p:cNvPr id="41" name="Text 39"/>
          <p:cNvSpPr/>
          <p:nvPr/>
        </p:nvSpPr>
        <p:spPr>
          <a:xfrm>
            <a:off x="3474720" y="5422392"/>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10</a:t>
            </a:r>
            <a:endParaRPr lang="en-US" sz="1700" dirty="0"/>
          </a:p>
        </p:txBody>
      </p:sp>
      <p:sp>
        <p:nvSpPr>
          <p:cNvPr id="42" name="Text 40"/>
          <p:cNvSpPr/>
          <p:nvPr/>
        </p:nvSpPr>
        <p:spPr>
          <a:xfrm>
            <a:off x="6105144" y="5422392"/>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15</a:t>
            </a:r>
            <a:endParaRPr lang="en-US" sz="1700" dirty="0"/>
          </a:p>
        </p:txBody>
      </p:sp>
      <p:sp>
        <p:nvSpPr>
          <p:cNvPr id="43" name="Text 41"/>
          <p:cNvSpPr/>
          <p:nvPr/>
        </p:nvSpPr>
        <p:spPr>
          <a:xfrm>
            <a:off x="8735568" y="5422392"/>
            <a:ext cx="2630424" cy="384048"/>
          </a:xfrm>
          <a:prstGeom prst="rect">
            <a:avLst/>
          </a:prstGeom>
          <a:noFill/>
          <a:ln/>
        </p:spPr>
        <p:txBody>
          <a:bodyPr wrap="square" lIns="0" tIns="0" rIns="0" bIns="0" rtlCol="0" anchor="ctr"/>
          <a:lstStyle/>
          <a:p>
            <a:pPr algn="ctr" indent="0" marL="0">
              <a:buNone/>
            </a:pPr>
            <a:r>
              <a:rPr lang="en-US" sz="1700" dirty="0">
                <a:solidFill>
                  <a:srgbClr val="24313F"/>
                </a:solidFill>
                <a:latin typeface="Georgia" pitchFamily="34" charset="0"/>
                <a:ea typeface="Georgia" pitchFamily="34" charset="-122"/>
                <a:cs typeface="Georgia" pitchFamily="34" charset="-120"/>
              </a:rPr>
              <a:t>10</a:t>
            </a:r>
            <a:endParaRPr lang="en-US" sz="1700" dirty="0"/>
          </a:p>
        </p:txBody>
      </p:sp>
      <p:sp>
        <p:nvSpPr>
          <p:cNvPr id="44" name="Shape 42"/>
          <p:cNvSpPr/>
          <p:nvPr/>
        </p:nvSpPr>
        <p:spPr>
          <a:xfrm>
            <a:off x="822960" y="5852160"/>
            <a:ext cx="10543032" cy="0"/>
          </a:xfrm>
          <a:prstGeom prst="line">
            <a:avLst/>
          </a:prstGeom>
          <a:noFill/>
          <a:ln w="9525">
            <a:solidFill>
              <a:srgbClr val="D9D4C4"/>
            </a:solidFill>
            <a:prstDash val="solid"/>
          </a:ln>
        </p:spPr>
      </p:sp>
      <p:sp>
        <p:nvSpPr>
          <p:cNvPr id="45" name="Shape 43"/>
          <p:cNvSpPr/>
          <p:nvPr/>
        </p:nvSpPr>
        <p:spPr>
          <a:xfrm>
            <a:off x="822960" y="6382512"/>
            <a:ext cx="10543032" cy="0"/>
          </a:xfrm>
          <a:prstGeom prst="line">
            <a:avLst/>
          </a:prstGeom>
          <a:noFill/>
          <a:ln w="9525">
            <a:solidFill>
              <a:srgbClr val="D9D4C4"/>
            </a:solidFill>
            <a:prstDash val="solid"/>
          </a:ln>
        </p:spPr>
      </p:sp>
      <p:sp>
        <p:nvSpPr>
          <p:cNvPr id="46" name="Text 4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a:t>
            </a:r>
            <a:endParaRPr lang="en-US" sz="900" dirty="0"/>
          </a:p>
        </p:txBody>
      </p:sp>
      <p:sp>
        <p:nvSpPr>
          <p:cNvPr id="47" name="Text 4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WHAT FOLLOWS FROM ALL THIS</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058400" cy="1920240"/>
          </a:xfrm>
          <a:prstGeom prst="rect">
            <a:avLst/>
          </a:prstGeom>
          <a:noFill/>
          <a:ln/>
        </p:spPr>
        <p:txBody>
          <a:bodyPr wrap="square" lIns="0" tIns="0" rIns="0" bIns="0" rtlCol="0" anchor="t"/>
          <a:lstStyle/>
          <a:p>
            <a:pPr indent="0" marL="0">
              <a:lnSpc>
                <a:spcPts val="5400"/>
              </a:lnSpc>
              <a:buNone/>
            </a:pPr>
            <a:r>
              <a:rPr lang="en-US" sz="5000" dirty="0">
                <a:solidFill>
                  <a:srgbClr val="FAF8F1"/>
                </a:solidFill>
                <a:latin typeface="Georgia" pitchFamily="34" charset="0"/>
                <a:ea typeface="Georgia" pitchFamily="34" charset="-122"/>
                <a:cs typeface="Georgia" pitchFamily="34" charset="-120"/>
              </a:rPr>
              <a:t>Nothing you make</a:t>
            </a:r>
            <a:endParaRPr lang="en-US" sz="5000" dirty="0"/>
          </a:p>
          <a:p>
            <a:pPr indent="0" marL="0">
              <a:lnSpc>
                <a:spcPts val="5400"/>
              </a:lnSpc>
              <a:buNone/>
            </a:pPr>
            <a:r>
              <a:rPr lang="en-US" sz="5000" dirty="0">
                <a:solidFill>
                  <a:srgbClr val="FAF8F1"/>
                </a:solidFill>
                <a:latin typeface="Georgia" pitchFamily="34" charset="0"/>
                <a:ea typeface="Georgia" pitchFamily="34" charset="-122"/>
                <a:cs typeface="Georgia" pitchFamily="34" charset="-120"/>
              </a:rPr>
              <a:t>this year is practice.</a:t>
            </a:r>
            <a:endParaRPr lang="en-US" sz="5000" dirty="0"/>
          </a:p>
        </p:txBody>
      </p:sp>
      <p:sp>
        <p:nvSpPr>
          <p:cNvPr id="5" name="Text 3"/>
          <p:cNvSpPr/>
          <p:nvPr/>
        </p:nvSpPr>
        <p:spPr>
          <a:xfrm>
            <a:off x="822960" y="4892040"/>
            <a:ext cx="960120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Semester 1 builds the Portfolio that goes to Cambridge in 2028.</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A LEVEL ART &amp; DESIGN 9479</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2026-07-26T10:12:31Z</dcterms:created>
  <dcterms:modified xsi:type="dcterms:W3CDTF">2026-07-26T10:12:31Z</dcterms:modified>
</cp:coreProperties>
</file>