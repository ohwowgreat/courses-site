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an hour early. Students who understand the three components in September stop asking why a semester is shaped the way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is 50 per cent on its own. Say it now, because it explains why semesters two and three are both given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AO3 row: Develop carries the most marks in C1 and C3 both. That is why so much of every semester is development rather than final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138160" y="822960"/>
            <a:ext cx="3474720" cy="4937760"/>
          </a:xfrm>
          <a:prstGeom prst="rect">
            <a:avLst/>
          </a:prstGeom>
          <a:noFill/>
          <a:ln/>
        </p:spPr>
        <p:txBody>
          <a:bodyPr wrap="square" lIns="0" tIns="0" rIns="0" bIns="0" rtlCol="0" anchor="ctr"/>
          <a:lstStyle/>
          <a:p>
            <a:pPr algn="ctr" indent="0" marL="0">
              <a:buNone/>
            </a:pPr>
            <a:r>
              <a:rPr lang="en-US" sz="28000" dirty="0">
                <a:solidFill>
                  <a:srgbClr val="A3C1AD"/>
                </a:solidFill>
                <a:latin typeface="Georgia" pitchFamily="34" charset="0"/>
                <a:ea typeface="Georgia" pitchFamily="34" charset="-122"/>
                <a:cs typeface="Georgia" pitchFamily="34" charset="-120"/>
              </a:rPr>
              <a:t>III</a:t>
            </a:r>
            <a:endParaRPr lang="en-US" sz="28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CAMBRIDGE INTERNATIONAL · 9479</a:t>
            </a:r>
            <a:endParaRPr lang="en-US" sz="1100" dirty="0"/>
          </a:p>
        </p:txBody>
      </p:sp>
      <p:sp>
        <p:nvSpPr>
          <p:cNvPr id="4" name="Text 2"/>
          <p:cNvSpPr/>
          <p:nvPr/>
        </p:nvSpPr>
        <p:spPr>
          <a:xfrm>
            <a:off x="822960" y="1737360"/>
            <a:ext cx="7680960" cy="2377440"/>
          </a:xfrm>
          <a:prstGeom prst="rect">
            <a:avLst/>
          </a:prstGeom>
          <a:noFill/>
          <a:ln/>
        </p:spPr>
        <p:txBody>
          <a:bodyPr wrap="square" lIns="0" tIns="0" rIns="0" bIns="0" rtlCol="0" anchor="t"/>
          <a:lstStyle/>
          <a:p>
            <a:pPr indent="0" marL="0">
              <a:lnSpc>
                <a:spcPts val="6200"/>
              </a:lnSpc>
              <a:buNone/>
            </a:pPr>
            <a:r>
              <a:rPr lang="en-US" sz="6200" dirty="0">
                <a:solidFill>
                  <a:srgbClr val="24313F"/>
                </a:solidFill>
                <a:latin typeface="Georgia" pitchFamily="34" charset="0"/>
                <a:ea typeface="Georgia" pitchFamily="34" charset="-122"/>
                <a:cs typeface="Georgia" pitchFamily="34" charset="-120"/>
              </a:rPr>
              <a:t>The Three</a:t>
            </a:r>
            <a:endParaRPr lang="en-US" sz="6200" dirty="0"/>
          </a:p>
          <a:p>
            <a:pPr indent="0" marL="0">
              <a:lnSpc>
                <a:spcPts val="6200"/>
              </a:lnSpc>
              <a:buNone/>
            </a:pPr>
            <a:r>
              <a:rPr lang="en-US" sz="6200" dirty="0">
                <a:solidFill>
                  <a:srgbClr val="24313F"/>
                </a:solidFill>
                <a:latin typeface="Georgia" pitchFamily="34" charset="0"/>
                <a:ea typeface="Georgia" pitchFamily="34" charset="-122"/>
                <a:cs typeface="Georgia" pitchFamily="34" charset="-120"/>
              </a:rPr>
              <a:t>Components</a:t>
            </a:r>
            <a:endParaRPr lang="en-US" sz="62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772400" cy="457200"/>
          </a:xfrm>
          <a:prstGeom prst="rect">
            <a:avLst/>
          </a:prstGeom>
          <a:noFill/>
          <a:ln/>
        </p:spPr>
        <p:txBody>
          <a:bodyPr wrap="square" lIns="0" tIns="0" rIns="0" bIns="0" rtlCol="0" anchor="ctr"/>
          <a:lstStyle/>
          <a:p>
            <a:pPr indent="0" marL="0">
              <a:buNone/>
            </a:pPr>
            <a:r>
              <a:rPr lang="en-US" sz="2100" i="1" dirty="0">
                <a:solidFill>
                  <a:srgbClr val="7A7F72"/>
                </a:solidFill>
                <a:latin typeface="Georgia" pitchFamily="34" charset="0"/>
                <a:ea typeface="Georgia" pitchFamily="34" charset="-122"/>
                <a:cs typeface="Georgia" pitchFamily="34" charset="-120"/>
              </a:rPr>
              <a:t>What each one is, and what it wants from you</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7863840" y="640080"/>
            <a:ext cx="3840480" cy="5577840"/>
          </a:xfrm>
          <a:prstGeom prst="rect">
            <a:avLst/>
          </a:prstGeom>
          <a:noFill/>
          <a:ln/>
        </p:spPr>
        <p:txBody>
          <a:bodyPr wrap="square" lIns="0" tIns="0" rIns="0" bIns="0" rtlCol="0" anchor="ctr"/>
          <a:lstStyle/>
          <a:p>
            <a:pPr algn="ctr" indent="0" marL="0">
              <a:buNone/>
            </a:pPr>
            <a:r>
              <a:rPr lang="en-US" sz="25000" dirty="0">
                <a:solidFill>
                  <a:srgbClr val="5C7A6B"/>
                </a:solidFill>
                <a:latin typeface="Georgia" pitchFamily="34" charset="0"/>
                <a:ea typeface="Georgia" pitchFamily="34" charset="-122"/>
                <a:cs typeface="Georgia" pitchFamily="34" charset="-120"/>
              </a:rPr>
              <a:t>50</a:t>
            </a:r>
            <a:endParaRPr lang="en-US" sz="25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WHERE THE MARKS ARE</a:t>
            </a:r>
            <a:endParaRPr lang="en-US" sz="1100" dirty="0"/>
          </a:p>
        </p:txBody>
      </p:sp>
      <p:sp>
        <p:nvSpPr>
          <p:cNvPr id="4" name="Shape 2"/>
          <p:cNvSpPr/>
          <p:nvPr/>
        </p:nvSpPr>
        <p:spPr>
          <a:xfrm>
            <a:off x="822960" y="2651760"/>
            <a:ext cx="4206240" cy="0"/>
          </a:xfrm>
          <a:prstGeom prst="line">
            <a:avLst/>
          </a:prstGeom>
          <a:noFill/>
          <a:ln w="9525">
            <a:solidFill>
              <a:srgbClr val="8AA394"/>
            </a:solidFill>
            <a:prstDash val="solid"/>
          </a:ln>
        </p:spPr>
      </p:sp>
      <p:sp>
        <p:nvSpPr>
          <p:cNvPr id="5" name="Text 3"/>
          <p:cNvSpPr/>
          <p:nvPr/>
        </p:nvSpPr>
        <p:spPr>
          <a:xfrm>
            <a:off x="822960" y="2788920"/>
            <a:ext cx="7498080" cy="2194560"/>
          </a:xfrm>
          <a:prstGeom prst="rect">
            <a:avLst/>
          </a:prstGeom>
          <a:noFill/>
          <a:ln/>
        </p:spPr>
        <p:txBody>
          <a:bodyPr wrap="square" lIns="0" tIns="0" rIns="0" bIns="0" rtlCol="0" anchor="t"/>
          <a:lstStyle/>
          <a:p>
            <a:pPr indent="0" marL="0">
              <a:lnSpc>
                <a:spcPts val="5000"/>
              </a:lnSpc>
              <a:buNone/>
            </a:pPr>
            <a:r>
              <a:rPr lang="en-US" sz="4800" dirty="0">
                <a:solidFill>
                  <a:srgbClr val="FAF8F1"/>
                </a:solidFill>
                <a:latin typeface="Georgia" pitchFamily="34" charset="0"/>
                <a:ea typeface="Georgia" pitchFamily="34" charset="-122"/>
                <a:cs typeface="Georgia" pitchFamily="34" charset="-120"/>
              </a:rPr>
              <a:t>Half the A Level is</a:t>
            </a:r>
            <a:endParaRPr lang="en-US" sz="4800" dirty="0"/>
          </a:p>
          <a:p>
            <a:pPr indent="0" marL="0">
              <a:lnSpc>
                <a:spcPts val="5000"/>
              </a:lnSpc>
              <a:buNone/>
            </a:pPr>
            <a:r>
              <a:rPr lang="en-US" sz="4800" dirty="0">
                <a:solidFill>
                  <a:srgbClr val="FAF8F1"/>
                </a:solidFill>
                <a:latin typeface="Georgia" pitchFamily="34" charset="0"/>
                <a:ea typeface="Georgia" pitchFamily="34" charset="-122"/>
                <a:cs typeface="Georgia" pitchFamily="34" charset="-120"/>
              </a:rPr>
              <a:t>one investigation.</a:t>
            </a:r>
            <a:endParaRPr lang="en-US" sz="4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pic>
        <p:nvPicPr>
          <p:cNvPr id="2" name="Image 0" descr="/Users/dogan/Documents/Vaults/Courses/wiki/classes/a-level-art-design/decks/_build/img/crops/rubens-sheet-forearm_a691.jpg">    </p:cNvPr>
          <p:cNvPicPr>
            <a:picLocks noChangeAspect="1"/>
          </p:cNvPicPr>
          <p:nvPr/>
        </p:nvPicPr>
        <p:blipFill>
          <a:blip r:embed="rId1"/>
          <a:stretch>
            <a:fillRect/>
          </a:stretch>
        </p:blipFill>
        <p:spPr>
          <a:xfrm>
            <a:off x="7452360" y="0"/>
            <a:ext cx="4736592" cy="6858000"/>
          </a:xfrm>
          <a:prstGeom prst="rect">
            <a:avLst/>
          </a:prstGeom>
        </p:spPr>
      </p:pic>
      <p:sp>
        <p:nvSpPr>
          <p:cNvPr id="3" name="Text 0"/>
          <p:cNvSpPr/>
          <p:nvPr/>
        </p:nvSpPr>
        <p:spPr>
          <a:xfrm>
            <a:off x="7635240" y="6126480"/>
            <a:ext cx="437083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Peter Paul Rubens, sheet of studies. Public domain</a:t>
            </a:r>
            <a:endParaRPr lang="en-US" sz="950" dirty="0"/>
          </a:p>
        </p:txBody>
      </p:sp>
      <p:sp>
        <p:nvSpPr>
          <p:cNvPr id="4" name="Text 1"/>
          <p:cNvSpPr/>
          <p:nvPr/>
        </p:nvSpPr>
        <p:spPr>
          <a:xfrm>
            <a:off x="822960" y="6858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COMPONENT 1</a:t>
            </a:r>
            <a:endParaRPr lang="en-US" sz="1100" dirty="0"/>
          </a:p>
        </p:txBody>
      </p:sp>
      <p:sp>
        <p:nvSpPr>
          <p:cNvPr id="5" name="Shape 2"/>
          <p:cNvSpPr/>
          <p:nvPr/>
        </p:nvSpPr>
        <p:spPr>
          <a:xfrm>
            <a:off x="822960" y="1051560"/>
            <a:ext cx="6126480" cy="0"/>
          </a:xfrm>
          <a:prstGeom prst="line">
            <a:avLst/>
          </a:prstGeom>
          <a:noFill/>
          <a:ln w="9525">
            <a:solidFill>
              <a:srgbClr val="D9D4C4"/>
            </a:solidFill>
            <a:prstDash val="solid"/>
          </a:ln>
        </p:spPr>
      </p:sp>
      <p:sp>
        <p:nvSpPr>
          <p:cNvPr id="6" name="Text 3"/>
          <p:cNvSpPr/>
          <p:nvPr/>
        </p:nvSpPr>
        <p:spPr>
          <a:xfrm>
            <a:off x="822960" y="1188720"/>
            <a:ext cx="6217920" cy="1371600"/>
          </a:xfrm>
          <a:prstGeom prst="rect">
            <a:avLst/>
          </a:prstGeom>
          <a:noFill/>
          <a:ln/>
        </p:spPr>
        <p:txBody>
          <a:bodyPr wrap="square" lIns="0" tIns="0" rIns="0" bIns="0" rtlCol="0" anchor="t"/>
          <a:lstStyle/>
          <a:p>
            <a:pPr indent="0" marL="0">
              <a:lnSpc>
                <a:spcPts val="4400"/>
              </a:lnSpc>
              <a:buNone/>
            </a:pPr>
            <a:r>
              <a:rPr lang="en-US" sz="4200" dirty="0">
                <a:solidFill>
                  <a:srgbClr val="24313F"/>
                </a:solidFill>
                <a:latin typeface="Georgia" pitchFamily="34" charset="0"/>
                <a:ea typeface="Georgia" pitchFamily="34" charset="-122"/>
                <a:cs typeface="Georgia" pitchFamily="34" charset="-120"/>
              </a:rPr>
              <a:t>The Portfolio</a:t>
            </a:r>
            <a:endParaRPr lang="en-US" sz="4200" dirty="0"/>
          </a:p>
        </p:txBody>
      </p:sp>
      <p:sp>
        <p:nvSpPr>
          <p:cNvPr id="7" name="Text 4"/>
          <p:cNvSpPr/>
          <p:nvPr/>
        </p:nvSpPr>
        <p:spPr>
          <a:xfrm>
            <a:off x="822960" y="2697480"/>
            <a:ext cx="6309360" cy="1737360"/>
          </a:xfrm>
          <a:prstGeom prst="rect">
            <a:avLst/>
          </a:prstGeom>
          <a:noFill/>
          <a:ln/>
        </p:spPr>
        <p:txBody>
          <a:bodyPr wrap="square" lIns="0" tIns="0" rIns="0" bIns="0" rtlCol="0" anchor="t"/>
          <a:lstStyle/>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A selection of work made over the course, chosen and sequenced by you. Set internally, marked by Cambridge. This is what Semester 1 builds, from a theme you pick off a menu, so that the process is learned before the stakes rise.</a:t>
            </a:r>
            <a:endParaRPr lang="en-US" sz="1650" dirty="0"/>
          </a:p>
        </p:txBody>
      </p:sp>
      <p:sp>
        <p:nvSpPr>
          <p:cNvPr id="8" name="Text 5"/>
          <p:cNvSpPr/>
          <p:nvPr/>
        </p:nvSpPr>
        <p:spPr>
          <a:xfrm>
            <a:off x="822960" y="4572000"/>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Marks</a:t>
            </a:r>
            <a:endParaRPr lang="en-US" sz="1150" dirty="0"/>
          </a:p>
        </p:txBody>
      </p:sp>
      <p:sp>
        <p:nvSpPr>
          <p:cNvPr id="9" name="Text 6"/>
          <p:cNvSpPr/>
          <p:nvPr/>
        </p:nvSpPr>
        <p:spPr>
          <a:xfrm>
            <a:off x="3063240" y="4572000"/>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60, weighted to 90</a:t>
            </a:r>
            <a:endParaRPr lang="en-US" sz="1450" dirty="0"/>
          </a:p>
        </p:txBody>
      </p:sp>
      <p:sp>
        <p:nvSpPr>
          <p:cNvPr id="10" name="Shape 7"/>
          <p:cNvSpPr/>
          <p:nvPr/>
        </p:nvSpPr>
        <p:spPr>
          <a:xfrm>
            <a:off x="822960" y="4937760"/>
            <a:ext cx="6309360" cy="0"/>
          </a:xfrm>
          <a:prstGeom prst="line">
            <a:avLst/>
          </a:prstGeom>
          <a:noFill/>
          <a:ln w="9525">
            <a:solidFill>
              <a:srgbClr val="D9D4C4"/>
            </a:solidFill>
            <a:prstDash val="solid"/>
          </a:ln>
        </p:spPr>
      </p:sp>
      <p:sp>
        <p:nvSpPr>
          <p:cNvPr id="11" name="Text 8"/>
          <p:cNvSpPr/>
          <p:nvPr/>
        </p:nvSpPr>
        <p:spPr>
          <a:xfrm>
            <a:off x="822960" y="5084064"/>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Weight</a:t>
            </a:r>
            <a:endParaRPr lang="en-US" sz="1150" dirty="0"/>
          </a:p>
        </p:txBody>
      </p:sp>
      <p:sp>
        <p:nvSpPr>
          <p:cNvPr id="12" name="Text 9"/>
          <p:cNvSpPr/>
          <p:nvPr/>
        </p:nvSpPr>
        <p:spPr>
          <a:xfrm>
            <a:off x="3063240" y="5084064"/>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30 per cent of the A Level</a:t>
            </a:r>
            <a:endParaRPr lang="en-US" sz="1450" dirty="0"/>
          </a:p>
        </p:txBody>
      </p:sp>
      <p:sp>
        <p:nvSpPr>
          <p:cNvPr id="13" name="Shape 10"/>
          <p:cNvSpPr/>
          <p:nvPr/>
        </p:nvSpPr>
        <p:spPr>
          <a:xfrm>
            <a:off x="822960" y="5449824"/>
            <a:ext cx="6309360" cy="0"/>
          </a:xfrm>
          <a:prstGeom prst="line">
            <a:avLst/>
          </a:prstGeom>
          <a:noFill/>
          <a:ln w="9525">
            <a:solidFill>
              <a:srgbClr val="D9D4C4"/>
            </a:solidFill>
            <a:prstDash val="solid"/>
          </a:ln>
        </p:spPr>
      </p:sp>
      <p:sp>
        <p:nvSpPr>
          <p:cNvPr id="14" name="Text 11"/>
          <p:cNvSpPr/>
          <p:nvPr/>
        </p:nvSpPr>
        <p:spPr>
          <a:xfrm>
            <a:off x="822960" y="5596128"/>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AO split</a:t>
            </a:r>
            <a:endParaRPr lang="en-US" sz="1150" dirty="0"/>
          </a:p>
        </p:txBody>
      </p:sp>
      <p:sp>
        <p:nvSpPr>
          <p:cNvPr id="15" name="Text 12"/>
          <p:cNvSpPr/>
          <p:nvPr/>
        </p:nvSpPr>
        <p:spPr>
          <a:xfrm>
            <a:off x="3063240" y="5596128"/>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15 / 15 / 20 / 10</a:t>
            </a:r>
            <a:endParaRPr lang="en-US" sz="1450" dirty="0"/>
          </a:p>
        </p:txBody>
      </p:sp>
      <p:sp>
        <p:nvSpPr>
          <p:cNvPr id="16" name="Shape 13"/>
          <p:cNvSpPr/>
          <p:nvPr/>
        </p:nvSpPr>
        <p:spPr>
          <a:xfrm>
            <a:off x="822960" y="5961888"/>
            <a:ext cx="6309360" cy="0"/>
          </a:xfrm>
          <a:prstGeom prst="line">
            <a:avLst/>
          </a:prstGeom>
          <a:noFill/>
          <a:ln w="9525">
            <a:solidFill>
              <a:srgbClr val="D9D4C4"/>
            </a:solidFill>
            <a:prstDash val="solid"/>
          </a:ln>
        </p:spPr>
      </p:sp>
      <p:sp>
        <p:nvSpPr>
          <p:cNvPr id="17" name="Text 14"/>
          <p:cNvSpPr/>
          <p:nvPr/>
        </p:nvSpPr>
        <p:spPr>
          <a:xfrm>
            <a:off x="822960" y="6108192"/>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Built in</a:t>
            </a:r>
            <a:endParaRPr lang="en-US" sz="1150" dirty="0"/>
          </a:p>
        </p:txBody>
      </p:sp>
      <p:sp>
        <p:nvSpPr>
          <p:cNvPr id="18" name="Text 15"/>
          <p:cNvSpPr/>
          <p:nvPr/>
        </p:nvSpPr>
        <p:spPr>
          <a:xfrm>
            <a:off x="3063240" y="6108192"/>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Semester 1</a:t>
            </a:r>
            <a:endParaRPr lang="en-US" sz="1450" dirty="0"/>
          </a:p>
        </p:txBody>
      </p:sp>
      <p:sp>
        <p:nvSpPr>
          <p:cNvPr id="19" name="Shape 16"/>
          <p:cNvSpPr/>
          <p:nvPr/>
        </p:nvSpPr>
        <p:spPr>
          <a:xfrm>
            <a:off x="822960" y="6473952"/>
            <a:ext cx="6309360" cy="0"/>
          </a:xfrm>
          <a:prstGeom prst="line">
            <a:avLst/>
          </a:prstGeom>
          <a:noFill/>
          <a:ln w="9525">
            <a:solidFill>
              <a:srgbClr val="D9D4C4"/>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COMPONENT 1 · EXAMPLE</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WHAT IS ACTUALLY IN THE FOLDER</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54864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A portfolio is a sequence, not a pile</a:t>
            </a:r>
            <a:endParaRPr lang="en-US" sz="3000" dirty="0"/>
          </a:p>
        </p:txBody>
      </p:sp>
      <p:sp>
        <p:nvSpPr>
          <p:cNvPr id="6" name="Shape 4"/>
          <p:cNvSpPr/>
          <p:nvPr/>
        </p:nvSpPr>
        <p:spPr>
          <a:xfrm>
            <a:off x="822960" y="1600200"/>
            <a:ext cx="3270504" cy="3200400"/>
          </a:xfrm>
          <a:prstGeom prst="rect">
            <a:avLst/>
          </a:prstGeom>
          <a:solidFill>
            <a:srgbClr val="FAF8F1"/>
          </a:solidFill>
          <a:ln w="9525">
            <a:solidFill>
              <a:srgbClr val="D9D4C4"/>
            </a:solidFill>
            <a:prstDash val="solid"/>
          </a:ln>
        </p:spPr>
      </p:sp>
      <p:pic>
        <p:nvPicPr>
          <p:cNvPr id="7" name="Image 0" descr="/Users/dogan/Documents/Vaults/Courses/wiki/classes/a-level-art-design/decks/_build/img/rubens-three-figures.jpg">    </p:cNvPr>
          <p:cNvPicPr>
            <a:picLocks noChangeAspect="1"/>
          </p:cNvPicPr>
          <p:nvPr/>
        </p:nvPicPr>
        <p:blipFill>
          <a:blip r:embed="rId1"/>
          <a:stretch>
            <a:fillRect/>
          </a:stretch>
        </p:blipFill>
        <p:spPr>
          <a:xfrm>
            <a:off x="1483973" y="1728216"/>
            <a:ext cx="1948479" cy="2944368"/>
          </a:xfrm>
          <a:prstGeom prst="rect">
            <a:avLst/>
          </a:prstGeom>
        </p:spPr>
      </p:pic>
      <p:sp>
        <p:nvSpPr>
          <p:cNvPr id="8" name="Text 5"/>
          <p:cNvSpPr/>
          <p:nvPr/>
        </p:nvSpPr>
        <p:spPr>
          <a:xfrm>
            <a:off x="822960" y="4892040"/>
            <a:ext cx="3270504" cy="320040"/>
          </a:xfrm>
          <a:prstGeom prst="rect">
            <a:avLst/>
          </a:prstGeom>
          <a:noFill/>
          <a:ln/>
        </p:spPr>
        <p:txBody>
          <a:bodyPr wrap="square" lIns="0" tIns="0" rIns="0" bIns="0" rtlCol="0" anchor="ctr"/>
          <a:lstStyle/>
          <a:p>
            <a:pPr algn="ctr" indent="0" marL="0">
              <a:buNone/>
            </a:pPr>
            <a:r>
              <a:rPr lang="en-US" sz="1250" b="1" spc="150" kern="0" dirty="0">
                <a:solidFill>
                  <a:srgbClr val="4A6B5D"/>
                </a:solidFill>
                <a:latin typeface="Arial" pitchFamily="34" charset="0"/>
                <a:ea typeface="Arial" pitchFamily="34" charset="-122"/>
                <a:cs typeface="Arial" pitchFamily="34" charset="-120"/>
              </a:rPr>
              <a:t>Recording</a:t>
            </a:r>
            <a:endParaRPr lang="en-US" sz="1250" dirty="0"/>
          </a:p>
        </p:txBody>
      </p:sp>
      <p:sp>
        <p:nvSpPr>
          <p:cNvPr id="9" name="Text 6"/>
          <p:cNvSpPr/>
          <p:nvPr/>
        </p:nvSpPr>
        <p:spPr>
          <a:xfrm>
            <a:off x="822960" y="5212080"/>
            <a:ext cx="3270504" cy="320040"/>
          </a:xfrm>
          <a:prstGeom prst="rect">
            <a:avLst/>
          </a:prstGeom>
          <a:noFill/>
          <a:ln/>
        </p:spPr>
        <p:txBody>
          <a:bodyPr wrap="square" lIns="0" tIns="0" rIns="0" bIns="0" rtlCol="0" anchor="ctr"/>
          <a:lstStyle/>
          <a:p>
            <a:pPr algn="ctr" indent="0" marL="0">
              <a:buNone/>
            </a:pPr>
            <a:r>
              <a:rPr lang="en-US" sz="1400" dirty="0">
                <a:solidFill>
                  <a:srgbClr val="24313F"/>
                </a:solidFill>
                <a:latin typeface="Georgia" pitchFamily="34" charset="0"/>
                <a:ea typeface="Georgia" pitchFamily="34" charset="-122"/>
                <a:cs typeface="Georgia" pitchFamily="34" charset="-120"/>
              </a:rPr>
              <a:t>First-hand studies, sustained</a:t>
            </a:r>
            <a:endParaRPr lang="en-US" sz="1400" dirty="0"/>
          </a:p>
        </p:txBody>
      </p:sp>
      <p:sp>
        <p:nvSpPr>
          <p:cNvPr id="10" name="Shape 7"/>
          <p:cNvSpPr/>
          <p:nvPr/>
        </p:nvSpPr>
        <p:spPr>
          <a:xfrm>
            <a:off x="4459224" y="1600200"/>
            <a:ext cx="3270504" cy="3200400"/>
          </a:xfrm>
          <a:prstGeom prst="rect">
            <a:avLst/>
          </a:prstGeom>
          <a:solidFill>
            <a:srgbClr val="FAF8F1"/>
          </a:solidFill>
          <a:ln w="9525">
            <a:solidFill>
              <a:srgbClr val="D9D4C4"/>
            </a:solidFill>
            <a:prstDash val="solid"/>
          </a:ln>
        </p:spPr>
      </p:sp>
      <p:pic>
        <p:nvPicPr>
          <p:cNvPr id="11" name="Image 1" descr="/Users/dogan/Documents/Vaults/Courses/wiki/classes/a-level-art-design/decks/_build/img/repin-cafe-studies.jpg">    </p:cNvPr>
          <p:cNvPicPr>
            <a:picLocks noChangeAspect="1"/>
          </p:cNvPicPr>
          <p:nvPr/>
        </p:nvPicPr>
        <p:blipFill>
          <a:blip r:embed="rId2"/>
          <a:stretch>
            <a:fillRect/>
          </a:stretch>
        </p:blipFill>
        <p:spPr>
          <a:xfrm>
            <a:off x="4587240" y="2077066"/>
            <a:ext cx="3014472" cy="2246668"/>
          </a:xfrm>
          <a:prstGeom prst="rect">
            <a:avLst/>
          </a:prstGeom>
        </p:spPr>
      </p:pic>
      <p:sp>
        <p:nvSpPr>
          <p:cNvPr id="12" name="Text 8"/>
          <p:cNvSpPr/>
          <p:nvPr/>
        </p:nvSpPr>
        <p:spPr>
          <a:xfrm>
            <a:off x="4459224" y="4892040"/>
            <a:ext cx="3270504" cy="320040"/>
          </a:xfrm>
          <a:prstGeom prst="rect">
            <a:avLst/>
          </a:prstGeom>
          <a:noFill/>
          <a:ln/>
        </p:spPr>
        <p:txBody>
          <a:bodyPr wrap="square" lIns="0" tIns="0" rIns="0" bIns="0" rtlCol="0" anchor="ctr"/>
          <a:lstStyle/>
          <a:p>
            <a:pPr algn="ctr" indent="0" marL="0">
              <a:buNone/>
            </a:pPr>
            <a:r>
              <a:rPr lang="en-US" sz="1250" b="1" spc="150" kern="0" dirty="0">
                <a:solidFill>
                  <a:srgbClr val="4A6B5D"/>
                </a:solidFill>
                <a:latin typeface="Arial" pitchFamily="34" charset="0"/>
                <a:ea typeface="Arial" pitchFamily="34" charset="-122"/>
                <a:cs typeface="Arial" pitchFamily="34" charset="-120"/>
              </a:rPr>
              <a:t>Exploring</a:t>
            </a:r>
            <a:endParaRPr lang="en-US" sz="1250" dirty="0"/>
          </a:p>
        </p:txBody>
      </p:sp>
      <p:sp>
        <p:nvSpPr>
          <p:cNvPr id="13" name="Text 9"/>
          <p:cNvSpPr/>
          <p:nvPr/>
        </p:nvSpPr>
        <p:spPr>
          <a:xfrm>
            <a:off x="4459224" y="5212080"/>
            <a:ext cx="3270504" cy="320040"/>
          </a:xfrm>
          <a:prstGeom prst="rect">
            <a:avLst/>
          </a:prstGeom>
          <a:noFill/>
          <a:ln/>
        </p:spPr>
        <p:txBody>
          <a:bodyPr wrap="square" lIns="0" tIns="0" rIns="0" bIns="0" rtlCol="0" anchor="ctr"/>
          <a:lstStyle/>
          <a:p>
            <a:pPr algn="ctr" indent="0" marL="0">
              <a:buNone/>
            </a:pPr>
            <a:r>
              <a:rPr lang="en-US" sz="1400" dirty="0">
                <a:solidFill>
                  <a:srgbClr val="24313F"/>
                </a:solidFill>
                <a:latin typeface="Georgia" pitchFamily="34" charset="0"/>
                <a:ea typeface="Georgia" pitchFamily="34" charset="-122"/>
                <a:cs typeface="Georgia" pitchFamily="34" charset="-120"/>
              </a:rPr>
              <a:t>Media tests and artist work</a:t>
            </a:r>
            <a:endParaRPr lang="en-US" sz="1400" dirty="0"/>
          </a:p>
        </p:txBody>
      </p:sp>
      <p:sp>
        <p:nvSpPr>
          <p:cNvPr id="14" name="Shape 10"/>
          <p:cNvSpPr/>
          <p:nvPr/>
        </p:nvSpPr>
        <p:spPr>
          <a:xfrm>
            <a:off x="8095488" y="1600200"/>
            <a:ext cx="3270504" cy="3200400"/>
          </a:xfrm>
          <a:prstGeom prst="rect">
            <a:avLst/>
          </a:prstGeom>
          <a:solidFill>
            <a:srgbClr val="FAF8F1"/>
          </a:solidFill>
          <a:ln w="9525">
            <a:solidFill>
              <a:srgbClr val="D9D4C4"/>
            </a:solidFill>
            <a:prstDash val="solid"/>
          </a:ln>
        </p:spPr>
      </p:sp>
      <p:pic>
        <p:nvPicPr>
          <p:cNvPr id="15" name="Image 2" descr="/Users/dogan/Documents/Vaults/Courses/wiki/classes/a-level-art-design/decks/_build/img/repin-stoking-fire.jpg">    </p:cNvPr>
          <p:cNvPicPr>
            <a:picLocks noChangeAspect="1"/>
          </p:cNvPicPr>
          <p:nvPr/>
        </p:nvPicPr>
        <p:blipFill>
          <a:blip r:embed="rId3"/>
          <a:stretch>
            <a:fillRect/>
          </a:stretch>
        </p:blipFill>
        <p:spPr>
          <a:xfrm>
            <a:off x="8223504" y="2094798"/>
            <a:ext cx="3014472" cy="2211204"/>
          </a:xfrm>
          <a:prstGeom prst="rect">
            <a:avLst/>
          </a:prstGeom>
        </p:spPr>
      </p:pic>
      <p:sp>
        <p:nvSpPr>
          <p:cNvPr id="16" name="Text 11"/>
          <p:cNvSpPr/>
          <p:nvPr/>
        </p:nvSpPr>
        <p:spPr>
          <a:xfrm>
            <a:off x="8095488" y="4892040"/>
            <a:ext cx="3270504" cy="320040"/>
          </a:xfrm>
          <a:prstGeom prst="rect">
            <a:avLst/>
          </a:prstGeom>
          <a:noFill/>
          <a:ln/>
        </p:spPr>
        <p:txBody>
          <a:bodyPr wrap="square" lIns="0" tIns="0" rIns="0" bIns="0" rtlCol="0" anchor="ctr"/>
          <a:lstStyle/>
          <a:p>
            <a:pPr algn="ctr" indent="0" marL="0">
              <a:buNone/>
            </a:pPr>
            <a:r>
              <a:rPr lang="en-US" sz="1250" b="1" spc="150" kern="0" dirty="0">
                <a:solidFill>
                  <a:srgbClr val="4A6B5D"/>
                </a:solidFill>
                <a:latin typeface="Arial" pitchFamily="34" charset="0"/>
                <a:ea typeface="Arial" pitchFamily="34" charset="-122"/>
                <a:cs typeface="Arial" pitchFamily="34" charset="-120"/>
              </a:rPr>
              <a:t>Developing</a:t>
            </a:r>
            <a:endParaRPr lang="en-US" sz="1250" dirty="0"/>
          </a:p>
        </p:txBody>
      </p:sp>
      <p:sp>
        <p:nvSpPr>
          <p:cNvPr id="17" name="Text 12"/>
          <p:cNvSpPr/>
          <p:nvPr/>
        </p:nvSpPr>
        <p:spPr>
          <a:xfrm>
            <a:off x="8095488" y="5212080"/>
            <a:ext cx="3270504" cy="320040"/>
          </a:xfrm>
          <a:prstGeom prst="rect">
            <a:avLst/>
          </a:prstGeom>
          <a:noFill/>
          <a:ln/>
        </p:spPr>
        <p:txBody>
          <a:bodyPr wrap="square" lIns="0" tIns="0" rIns="0" bIns="0" rtlCol="0" anchor="ctr"/>
          <a:lstStyle/>
          <a:p>
            <a:pPr algn="ctr" indent="0" marL="0">
              <a:buNone/>
            </a:pPr>
            <a:r>
              <a:rPr lang="en-US" sz="1400" dirty="0">
                <a:solidFill>
                  <a:srgbClr val="24313F"/>
                </a:solidFill>
                <a:latin typeface="Georgia" pitchFamily="34" charset="0"/>
                <a:ea typeface="Georgia" pitchFamily="34" charset="-122"/>
                <a:cs typeface="Georgia" pitchFamily="34" charset="-120"/>
              </a:rPr>
              <a:t>Compositions toward one outcome</a:t>
            </a:r>
            <a:endParaRPr lang="en-US" sz="1400" dirty="0"/>
          </a:p>
        </p:txBody>
      </p:sp>
      <p:sp>
        <p:nvSpPr>
          <p:cNvPr id="18" name="Text 13"/>
          <p:cNvSpPr/>
          <p:nvPr/>
        </p:nvSpPr>
        <p:spPr>
          <a:xfrm>
            <a:off x="822960" y="5623560"/>
            <a:ext cx="10543032" cy="320040"/>
          </a:xfrm>
          <a:prstGeom prst="rect">
            <a:avLst/>
          </a:prstGeom>
          <a:noFill/>
          <a:ln/>
        </p:spPr>
        <p:txBody>
          <a:bodyPr wrap="square" lIns="0" tIns="0" rIns="0" bIns="0" rtlCol="0" anchor="ctr"/>
          <a:lstStyle/>
          <a:p>
            <a:pPr algn="ctr" indent="0" marL="0">
              <a:buNone/>
            </a:pPr>
            <a:r>
              <a:rPr lang="en-US" sz="1000" dirty="0">
                <a:solidFill>
                  <a:srgbClr val="7A7F72"/>
                </a:solidFill>
                <a:latin typeface="Arial" pitchFamily="34" charset="0"/>
                <a:ea typeface="Arial" pitchFamily="34" charset="-122"/>
                <a:cs typeface="Arial" pitchFamily="34" charset="-120"/>
              </a:rPr>
              <a:t>Plates: Rubens and Repin, public domain. Shown whole, as study material rather than as a model to copy.</a:t>
            </a:r>
            <a:endParaRPr lang="en-US" sz="1000" dirty="0"/>
          </a:p>
        </p:txBody>
      </p:sp>
      <p:sp>
        <p:nvSpPr>
          <p:cNvPr id="19" name="Shape 14"/>
          <p:cNvSpPr/>
          <p:nvPr/>
        </p:nvSpPr>
        <p:spPr>
          <a:xfrm>
            <a:off x="822960" y="6382512"/>
            <a:ext cx="10543032" cy="0"/>
          </a:xfrm>
          <a:prstGeom prst="line">
            <a:avLst/>
          </a:prstGeom>
          <a:noFill/>
          <a:ln w="9525">
            <a:solidFill>
              <a:srgbClr val="D9D4C4"/>
            </a:solidFill>
            <a:prstDash val="solid"/>
          </a:ln>
        </p:spPr>
      </p:sp>
      <p:sp>
        <p:nvSpPr>
          <p:cNvPr id="20" name="Text 1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a:t>
            </a:r>
            <a:endParaRPr lang="en-US" sz="900" dirty="0"/>
          </a:p>
        </p:txBody>
      </p:sp>
      <p:sp>
        <p:nvSpPr>
          <p:cNvPr id="21" name="Text 1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pic>
        <p:nvPicPr>
          <p:cNvPr id="2" name="Image 0" descr="/Users/dogan/Documents/Vaults/Courses/wiki/classes/a-level-art-design/decks/_build/img/crops/cameron-carlyle_a691.jpg">    </p:cNvPr>
          <p:cNvPicPr>
            <a:picLocks noChangeAspect="1"/>
          </p:cNvPicPr>
          <p:nvPr/>
        </p:nvPicPr>
        <p:blipFill>
          <a:blip r:embed="rId1"/>
          <a:stretch>
            <a:fillRect/>
          </a:stretch>
        </p:blipFill>
        <p:spPr>
          <a:xfrm>
            <a:off x="7452360" y="0"/>
            <a:ext cx="4736592" cy="6858000"/>
          </a:xfrm>
          <a:prstGeom prst="rect">
            <a:avLst/>
          </a:prstGeom>
        </p:spPr>
      </p:pic>
      <p:sp>
        <p:nvSpPr>
          <p:cNvPr id="3" name="Text 0"/>
          <p:cNvSpPr/>
          <p:nvPr/>
        </p:nvSpPr>
        <p:spPr>
          <a:xfrm>
            <a:off x="7635240" y="6126480"/>
            <a:ext cx="437083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Julia Margaret Cameron, Thomas Carlyle. Public domain</a:t>
            </a:r>
            <a:endParaRPr lang="en-US" sz="950" dirty="0"/>
          </a:p>
        </p:txBody>
      </p:sp>
      <p:sp>
        <p:nvSpPr>
          <p:cNvPr id="4" name="Text 1"/>
          <p:cNvSpPr/>
          <p:nvPr/>
        </p:nvSpPr>
        <p:spPr>
          <a:xfrm>
            <a:off x="822960" y="6858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COMPONENT 2</a:t>
            </a:r>
            <a:endParaRPr lang="en-US" sz="1100" dirty="0"/>
          </a:p>
        </p:txBody>
      </p:sp>
      <p:sp>
        <p:nvSpPr>
          <p:cNvPr id="5" name="Shape 2"/>
          <p:cNvSpPr/>
          <p:nvPr/>
        </p:nvSpPr>
        <p:spPr>
          <a:xfrm>
            <a:off x="822960" y="1051560"/>
            <a:ext cx="6126480" cy="0"/>
          </a:xfrm>
          <a:prstGeom prst="line">
            <a:avLst/>
          </a:prstGeom>
          <a:noFill/>
          <a:ln w="9525">
            <a:solidFill>
              <a:srgbClr val="D9D4C4"/>
            </a:solidFill>
            <a:prstDash val="solid"/>
          </a:ln>
        </p:spPr>
      </p:sp>
      <p:sp>
        <p:nvSpPr>
          <p:cNvPr id="6" name="Text 3"/>
          <p:cNvSpPr/>
          <p:nvPr/>
        </p:nvSpPr>
        <p:spPr>
          <a:xfrm>
            <a:off x="822960" y="1188720"/>
            <a:ext cx="6217920" cy="1371600"/>
          </a:xfrm>
          <a:prstGeom prst="rect">
            <a:avLst/>
          </a:prstGeom>
          <a:noFill/>
          <a:ln/>
        </p:spPr>
        <p:txBody>
          <a:bodyPr wrap="square" lIns="0" tIns="0" rIns="0" bIns="0" rtlCol="0" anchor="t"/>
          <a:lstStyle/>
          <a:p>
            <a:pPr indent="0" marL="0">
              <a:lnSpc>
                <a:spcPts val="4400"/>
              </a:lnSpc>
              <a:buNone/>
            </a:pPr>
            <a:r>
              <a:rPr lang="en-US" sz="4200" dirty="0">
                <a:solidFill>
                  <a:srgbClr val="24313F"/>
                </a:solidFill>
                <a:latin typeface="Georgia" pitchFamily="34" charset="0"/>
                <a:ea typeface="Georgia" pitchFamily="34" charset="-122"/>
                <a:cs typeface="Georgia" pitchFamily="34" charset="-120"/>
              </a:rPr>
              <a:t>The Externally</a:t>
            </a:r>
            <a:endParaRPr lang="en-US" sz="4200" dirty="0"/>
          </a:p>
          <a:p>
            <a:pPr indent="0" marL="0">
              <a:lnSpc>
                <a:spcPts val="4400"/>
              </a:lnSpc>
              <a:buNone/>
            </a:pPr>
            <a:r>
              <a:rPr lang="en-US" sz="4200" dirty="0">
                <a:solidFill>
                  <a:srgbClr val="24313F"/>
                </a:solidFill>
                <a:latin typeface="Georgia" pitchFamily="34" charset="0"/>
                <a:ea typeface="Georgia" pitchFamily="34" charset="-122"/>
                <a:cs typeface="Georgia" pitchFamily="34" charset="-120"/>
              </a:rPr>
              <a:t>Set Assignment</a:t>
            </a:r>
            <a:endParaRPr lang="en-US" sz="4200" dirty="0"/>
          </a:p>
        </p:txBody>
      </p:sp>
      <p:sp>
        <p:nvSpPr>
          <p:cNvPr id="7" name="Text 4"/>
          <p:cNvSpPr/>
          <p:nvPr/>
        </p:nvSpPr>
        <p:spPr>
          <a:xfrm>
            <a:off x="822960" y="2697480"/>
            <a:ext cx="6309360" cy="1737360"/>
          </a:xfrm>
          <a:prstGeom prst="rect">
            <a:avLst/>
          </a:prstGeom>
          <a:noFill/>
          <a:ln/>
        </p:spPr>
        <p:txBody>
          <a:bodyPr wrap="square" lIns="0" tIns="0" rIns="0" bIns="0" rtlCol="0" anchor="t"/>
          <a:lstStyle/>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A question paper arrives with three themes on it. You choose one, make supporting studies over a preparatory period, then realise the final outcome inside a 15-hour supervised test. Nothing may be invented in the test room: what you make there is what you planned before it.</a:t>
            </a:r>
            <a:endParaRPr lang="en-US" sz="1650" dirty="0"/>
          </a:p>
        </p:txBody>
      </p:sp>
      <p:sp>
        <p:nvSpPr>
          <p:cNvPr id="8" name="Text 5"/>
          <p:cNvSpPr/>
          <p:nvPr/>
        </p:nvSpPr>
        <p:spPr>
          <a:xfrm>
            <a:off x="822960" y="4572000"/>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Marks</a:t>
            </a:r>
            <a:endParaRPr lang="en-US" sz="1150" dirty="0"/>
          </a:p>
        </p:txBody>
      </p:sp>
      <p:sp>
        <p:nvSpPr>
          <p:cNvPr id="9" name="Text 6"/>
          <p:cNvSpPr/>
          <p:nvPr/>
        </p:nvSpPr>
        <p:spPr>
          <a:xfrm>
            <a:off x="3063240" y="4572000"/>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60</a:t>
            </a:r>
            <a:endParaRPr lang="en-US" sz="1450" dirty="0"/>
          </a:p>
        </p:txBody>
      </p:sp>
      <p:sp>
        <p:nvSpPr>
          <p:cNvPr id="10" name="Shape 7"/>
          <p:cNvSpPr/>
          <p:nvPr/>
        </p:nvSpPr>
        <p:spPr>
          <a:xfrm>
            <a:off x="822960" y="4937760"/>
            <a:ext cx="6309360" cy="0"/>
          </a:xfrm>
          <a:prstGeom prst="line">
            <a:avLst/>
          </a:prstGeom>
          <a:noFill/>
          <a:ln w="9525">
            <a:solidFill>
              <a:srgbClr val="D9D4C4"/>
            </a:solidFill>
            <a:prstDash val="solid"/>
          </a:ln>
        </p:spPr>
      </p:sp>
      <p:sp>
        <p:nvSpPr>
          <p:cNvPr id="11" name="Text 8"/>
          <p:cNvSpPr/>
          <p:nvPr/>
        </p:nvSpPr>
        <p:spPr>
          <a:xfrm>
            <a:off x="822960" y="5084064"/>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Weight</a:t>
            </a:r>
            <a:endParaRPr lang="en-US" sz="1150" dirty="0"/>
          </a:p>
        </p:txBody>
      </p:sp>
      <p:sp>
        <p:nvSpPr>
          <p:cNvPr id="12" name="Text 9"/>
          <p:cNvSpPr/>
          <p:nvPr/>
        </p:nvSpPr>
        <p:spPr>
          <a:xfrm>
            <a:off x="3063240" y="5084064"/>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20 per cent of the A Level</a:t>
            </a:r>
            <a:endParaRPr lang="en-US" sz="1450" dirty="0"/>
          </a:p>
        </p:txBody>
      </p:sp>
      <p:sp>
        <p:nvSpPr>
          <p:cNvPr id="13" name="Shape 10"/>
          <p:cNvSpPr/>
          <p:nvPr/>
        </p:nvSpPr>
        <p:spPr>
          <a:xfrm>
            <a:off x="822960" y="5449824"/>
            <a:ext cx="6309360" cy="0"/>
          </a:xfrm>
          <a:prstGeom prst="line">
            <a:avLst/>
          </a:prstGeom>
          <a:noFill/>
          <a:ln w="9525">
            <a:solidFill>
              <a:srgbClr val="D9D4C4"/>
            </a:solidFill>
            <a:prstDash val="solid"/>
          </a:ln>
        </p:spPr>
      </p:sp>
      <p:sp>
        <p:nvSpPr>
          <p:cNvPr id="14" name="Text 11"/>
          <p:cNvSpPr/>
          <p:nvPr/>
        </p:nvSpPr>
        <p:spPr>
          <a:xfrm>
            <a:off x="822960" y="5596128"/>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AO split</a:t>
            </a:r>
            <a:endParaRPr lang="en-US" sz="1150" dirty="0"/>
          </a:p>
        </p:txBody>
      </p:sp>
      <p:sp>
        <p:nvSpPr>
          <p:cNvPr id="15" name="Text 12"/>
          <p:cNvSpPr/>
          <p:nvPr/>
        </p:nvSpPr>
        <p:spPr>
          <a:xfrm>
            <a:off x="3063240" y="5596128"/>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15 / 15 / 15 / 15</a:t>
            </a:r>
            <a:endParaRPr lang="en-US" sz="1450" dirty="0"/>
          </a:p>
        </p:txBody>
      </p:sp>
      <p:sp>
        <p:nvSpPr>
          <p:cNvPr id="16" name="Shape 13"/>
          <p:cNvSpPr/>
          <p:nvPr/>
        </p:nvSpPr>
        <p:spPr>
          <a:xfrm>
            <a:off x="822960" y="5961888"/>
            <a:ext cx="6309360" cy="0"/>
          </a:xfrm>
          <a:prstGeom prst="line">
            <a:avLst/>
          </a:prstGeom>
          <a:noFill/>
          <a:ln w="9525">
            <a:solidFill>
              <a:srgbClr val="D9D4C4"/>
            </a:solidFill>
            <a:prstDash val="solid"/>
          </a:ln>
        </p:spPr>
      </p:sp>
      <p:sp>
        <p:nvSpPr>
          <p:cNvPr id="17" name="Text 14"/>
          <p:cNvSpPr/>
          <p:nvPr/>
        </p:nvSpPr>
        <p:spPr>
          <a:xfrm>
            <a:off x="822960" y="6108192"/>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Sat in</a:t>
            </a:r>
            <a:endParaRPr lang="en-US" sz="1150" dirty="0"/>
          </a:p>
        </p:txBody>
      </p:sp>
      <p:sp>
        <p:nvSpPr>
          <p:cNvPr id="18" name="Text 15"/>
          <p:cNvSpPr/>
          <p:nvPr/>
        </p:nvSpPr>
        <p:spPr>
          <a:xfrm>
            <a:off x="3063240" y="6108192"/>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Semester 4, spring 2028</a:t>
            </a:r>
            <a:endParaRPr lang="en-US" sz="1450" dirty="0"/>
          </a:p>
        </p:txBody>
      </p:sp>
      <p:sp>
        <p:nvSpPr>
          <p:cNvPr id="19" name="Shape 16"/>
          <p:cNvSpPr/>
          <p:nvPr/>
        </p:nvSpPr>
        <p:spPr>
          <a:xfrm>
            <a:off x="822960" y="6473952"/>
            <a:ext cx="6309360" cy="0"/>
          </a:xfrm>
          <a:prstGeom prst="line">
            <a:avLst/>
          </a:prstGeom>
          <a:noFill/>
          <a:ln w="9525">
            <a:solidFill>
              <a:srgbClr val="D9D4C4"/>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COMPONENT 2 · EXAMPLE</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HOW THE 15 HOURS ACTUALLY WORK</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The test realises a plan. It does not make one.</a:t>
            </a:r>
            <a:endParaRPr lang="en-US" sz="3200" dirty="0"/>
          </a:p>
        </p:txBody>
      </p:sp>
      <p:sp>
        <p:nvSpPr>
          <p:cNvPr id="6" name="Text 4"/>
          <p:cNvSpPr/>
          <p:nvPr/>
        </p:nvSpPr>
        <p:spPr>
          <a:xfrm>
            <a:off x="822960" y="2057400"/>
            <a:ext cx="3246120" cy="45720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Before</a:t>
            </a:r>
            <a:endParaRPr lang="en-US" sz="1400" dirty="0"/>
          </a:p>
        </p:txBody>
      </p:sp>
      <p:sp>
        <p:nvSpPr>
          <p:cNvPr id="7" name="Shape 5"/>
          <p:cNvSpPr/>
          <p:nvPr/>
        </p:nvSpPr>
        <p:spPr>
          <a:xfrm>
            <a:off x="822960" y="2514600"/>
            <a:ext cx="3246120" cy="0"/>
          </a:xfrm>
          <a:prstGeom prst="line">
            <a:avLst/>
          </a:prstGeom>
          <a:noFill/>
          <a:ln w="9525">
            <a:solidFill>
              <a:srgbClr val="D9D4C4"/>
            </a:solidFill>
            <a:prstDash val="solid"/>
          </a:ln>
        </p:spPr>
      </p:sp>
      <p:sp>
        <p:nvSpPr>
          <p:cNvPr id="8" name="Text 6"/>
          <p:cNvSpPr/>
          <p:nvPr/>
        </p:nvSpPr>
        <p:spPr>
          <a:xfrm>
            <a:off x="822960" y="2651760"/>
            <a:ext cx="3246120" cy="274320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The paper is released and you choose one of three themes. Recording, exploration and development all happen here, at pace, and the final composition is planned down to palette and materials.</a:t>
            </a:r>
            <a:endParaRPr lang="en-US" sz="1550" dirty="0"/>
          </a:p>
        </p:txBody>
      </p:sp>
      <p:sp>
        <p:nvSpPr>
          <p:cNvPr id="9" name="Text 7"/>
          <p:cNvSpPr/>
          <p:nvPr/>
        </p:nvSpPr>
        <p:spPr>
          <a:xfrm>
            <a:off x="4471416" y="2057400"/>
            <a:ext cx="3246120" cy="45720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During</a:t>
            </a:r>
            <a:endParaRPr lang="en-US" sz="1400" dirty="0"/>
          </a:p>
        </p:txBody>
      </p:sp>
      <p:sp>
        <p:nvSpPr>
          <p:cNvPr id="10" name="Shape 8"/>
          <p:cNvSpPr/>
          <p:nvPr/>
        </p:nvSpPr>
        <p:spPr>
          <a:xfrm>
            <a:off x="4471416" y="2514600"/>
            <a:ext cx="3246120" cy="0"/>
          </a:xfrm>
          <a:prstGeom prst="line">
            <a:avLst/>
          </a:prstGeom>
          <a:noFill/>
          <a:ln w="9525">
            <a:solidFill>
              <a:srgbClr val="D9D4C4"/>
            </a:solidFill>
            <a:prstDash val="solid"/>
          </a:ln>
        </p:spPr>
      </p:sp>
      <p:sp>
        <p:nvSpPr>
          <p:cNvPr id="11" name="Text 9"/>
          <p:cNvSpPr/>
          <p:nvPr/>
        </p:nvSpPr>
        <p:spPr>
          <a:xfrm>
            <a:off x="4471416" y="2651760"/>
            <a:ext cx="3246120" cy="274320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15 supervised hours across several sittings. Work is stored securely between them and you have no access to it. You realise the piece you planned.</a:t>
            </a:r>
            <a:endParaRPr lang="en-US" sz="1550" dirty="0"/>
          </a:p>
        </p:txBody>
      </p:sp>
      <p:sp>
        <p:nvSpPr>
          <p:cNvPr id="12" name="Text 10"/>
          <p:cNvSpPr/>
          <p:nvPr/>
        </p:nvSpPr>
        <p:spPr>
          <a:xfrm>
            <a:off x="8119872" y="2057400"/>
            <a:ext cx="3246120" cy="45720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After</a:t>
            </a:r>
            <a:endParaRPr lang="en-US" sz="1400" dirty="0"/>
          </a:p>
        </p:txBody>
      </p:sp>
      <p:sp>
        <p:nvSpPr>
          <p:cNvPr id="13" name="Shape 11"/>
          <p:cNvSpPr/>
          <p:nvPr/>
        </p:nvSpPr>
        <p:spPr>
          <a:xfrm>
            <a:off x="8119872" y="2514600"/>
            <a:ext cx="3246120" cy="0"/>
          </a:xfrm>
          <a:prstGeom prst="line">
            <a:avLst/>
          </a:prstGeom>
          <a:noFill/>
          <a:ln w="9525">
            <a:solidFill>
              <a:srgbClr val="D9D4C4"/>
            </a:solidFill>
            <a:prstDash val="solid"/>
          </a:ln>
        </p:spPr>
      </p:sp>
      <p:sp>
        <p:nvSpPr>
          <p:cNvPr id="14" name="Text 12"/>
          <p:cNvSpPr/>
          <p:nvPr/>
        </p:nvSpPr>
        <p:spPr>
          <a:xfrm>
            <a:off x="8119872" y="2651760"/>
            <a:ext cx="3246120" cy="274320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The outcome is photographed, the package is assembled exactly as the specification orders it, and it goes to the board with C1 and C3.</a:t>
            </a:r>
            <a:endParaRPr lang="en-US" sz="1550" dirty="0"/>
          </a:p>
        </p:txBody>
      </p:sp>
      <p:sp>
        <p:nvSpPr>
          <p:cNvPr id="15" name="Shape 13"/>
          <p:cNvSpPr/>
          <p:nvPr/>
        </p:nvSpPr>
        <p:spPr>
          <a:xfrm>
            <a:off x="822960" y="6382512"/>
            <a:ext cx="10543032" cy="0"/>
          </a:xfrm>
          <a:prstGeom prst="line">
            <a:avLst/>
          </a:prstGeom>
          <a:noFill/>
          <a:ln w="9525">
            <a:solidFill>
              <a:srgbClr val="D9D4C4"/>
            </a:solidFill>
            <a:prstDash val="solid"/>
          </a:ln>
        </p:spPr>
      </p:sp>
      <p:sp>
        <p:nvSpPr>
          <p:cNvPr id="16" name="Text 14"/>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a:t>
            </a:r>
            <a:endParaRPr lang="en-US" sz="900" dirty="0"/>
          </a:p>
        </p:txBody>
      </p:sp>
      <p:sp>
        <p:nvSpPr>
          <p:cNvPr id="17" name="Text 15"/>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pic>
        <p:nvPicPr>
          <p:cNvPr id="2" name="Image 0" descr="/Users/dogan/Documents/Vaults/Courses/wiki/classes/a-level-art-design/decks/_build/img/crops/bosschaert-bouquet_a691.jpg">    </p:cNvPr>
          <p:cNvPicPr>
            <a:picLocks noChangeAspect="1"/>
          </p:cNvPicPr>
          <p:nvPr/>
        </p:nvPicPr>
        <p:blipFill>
          <a:blip r:embed="rId1"/>
          <a:stretch>
            <a:fillRect/>
          </a:stretch>
        </p:blipFill>
        <p:spPr>
          <a:xfrm>
            <a:off x="7452360" y="0"/>
            <a:ext cx="4736592" cy="6858000"/>
          </a:xfrm>
          <a:prstGeom prst="rect">
            <a:avLst/>
          </a:prstGeom>
        </p:spPr>
      </p:pic>
      <p:sp>
        <p:nvSpPr>
          <p:cNvPr id="3" name="Text 0"/>
          <p:cNvSpPr/>
          <p:nvPr/>
        </p:nvSpPr>
        <p:spPr>
          <a:xfrm>
            <a:off x="7635240" y="6126480"/>
            <a:ext cx="437083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Ambrosius Bosschaert the Elder, bouquet. Public domain</a:t>
            </a:r>
            <a:endParaRPr lang="en-US" sz="950" dirty="0"/>
          </a:p>
        </p:txBody>
      </p:sp>
      <p:sp>
        <p:nvSpPr>
          <p:cNvPr id="4" name="Text 1"/>
          <p:cNvSpPr/>
          <p:nvPr/>
        </p:nvSpPr>
        <p:spPr>
          <a:xfrm>
            <a:off x="822960" y="6858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COMPONENT 3</a:t>
            </a:r>
            <a:endParaRPr lang="en-US" sz="1100" dirty="0"/>
          </a:p>
        </p:txBody>
      </p:sp>
      <p:sp>
        <p:nvSpPr>
          <p:cNvPr id="5" name="Shape 2"/>
          <p:cNvSpPr/>
          <p:nvPr/>
        </p:nvSpPr>
        <p:spPr>
          <a:xfrm>
            <a:off x="822960" y="1051560"/>
            <a:ext cx="6126480" cy="0"/>
          </a:xfrm>
          <a:prstGeom prst="line">
            <a:avLst/>
          </a:prstGeom>
          <a:noFill/>
          <a:ln w="9525">
            <a:solidFill>
              <a:srgbClr val="D9D4C4"/>
            </a:solidFill>
            <a:prstDash val="solid"/>
          </a:ln>
        </p:spPr>
      </p:sp>
      <p:sp>
        <p:nvSpPr>
          <p:cNvPr id="6" name="Text 3"/>
          <p:cNvSpPr/>
          <p:nvPr/>
        </p:nvSpPr>
        <p:spPr>
          <a:xfrm>
            <a:off x="822960" y="1188720"/>
            <a:ext cx="6217920" cy="1371600"/>
          </a:xfrm>
          <a:prstGeom prst="rect">
            <a:avLst/>
          </a:prstGeom>
          <a:noFill/>
          <a:ln/>
        </p:spPr>
        <p:txBody>
          <a:bodyPr wrap="square" lIns="0" tIns="0" rIns="0" bIns="0" rtlCol="0" anchor="t"/>
          <a:lstStyle/>
          <a:p>
            <a:pPr indent="0" marL="0">
              <a:lnSpc>
                <a:spcPts val="4400"/>
              </a:lnSpc>
              <a:buNone/>
            </a:pPr>
            <a:r>
              <a:rPr lang="en-US" sz="4200" dirty="0">
                <a:solidFill>
                  <a:srgbClr val="24313F"/>
                </a:solidFill>
                <a:latin typeface="Georgia" pitchFamily="34" charset="0"/>
                <a:ea typeface="Georgia" pitchFamily="34" charset="-122"/>
                <a:cs typeface="Georgia" pitchFamily="34" charset="-120"/>
              </a:rPr>
              <a:t>The Personal</a:t>
            </a:r>
            <a:endParaRPr lang="en-US" sz="4200" dirty="0"/>
          </a:p>
          <a:p>
            <a:pPr indent="0" marL="0">
              <a:lnSpc>
                <a:spcPts val="4400"/>
              </a:lnSpc>
              <a:buNone/>
            </a:pPr>
            <a:r>
              <a:rPr lang="en-US" sz="4200" dirty="0">
                <a:solidFill>
                  <a:srgbClr val="24313F"/>
                </a:solidFill>
                <a:latin typeface="Georgia" pitchFamily="34" charset="0"/>
                <a:ea typeface="Georgia" pitchFamily="34" charset="-122"/>
                <a:cs typeface="Georgia" pitchFamily="34" charset="-120"/>
              </a:rPr>
              <a:t>Investigation</a:t>
            </a:r>
            <a:endParaRPr lang="en-US" sz="4200" dirty="0"/>
          </a:p>
        </p:txBody>
      </p:sp>
      <p:sp>
        <p:nvSpPr>
          <p:cNvPr id="7" name="Text 4"/>
          <p:cNvSpPr/>
          <p:nvPr/>
        </p:nvSpPr>
        <p:spPr>
          <a:xfrm>
            <a:off x="822960" y="2697480"/>
            <a:ext cx="6309360" cy="1737360"/>
          </a:xfrm>
          <a:prstGeom prst="rect">
            <a:avLst/>
          </a:prstGeom>
          <a:noFill/>
          <a:ln/>
        </p:spPr>
        <p:txBody>
          <a:bodyPr wrap="square" lIns="0" tIns="0" rIns="0" bIns="0" rtlCol="0" anchor="t"/>
          <a:lstStyle/>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Your own theme, proposed and locked in writing, investigated across a year. A body of visual work with two final outcomes, and a written discourse of 2000 to 2500 words integrated with it rather than bolted on, with a bibliography carried in the body of the work.</a:t>
            </a:r>
            <a:endParaRPr lang="en-US" sz="1650" dirty="0"/>
          </a:p>
        </p:txBody>
      </p:sp>
      <p:sp>
        <p:nvSpPr>
          <p:cNvPr id="8" name="Text 5"/>
          <p:cNvSpPr/>
          <p:nvPr/>
        </p:nvSpPr>
        <p:spPr>
          <a:xfrm>
            <a:off x="822960" y="4572000"/>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Marks</a:t>
            </a:r>
            <a:endParaRPr lang="en-US" sz="1150" dirty="0"/>
          </a:p>
        </p:txBody>
      </p:sp>
      <p:sp>
        <p:nvSpPr>
          <p:cNvPr id="9" name="Text 6"/>
          <p:cNvSpPr/>
          <p:nvPr/>
        </p:nvSpPr>
        <p:spPr>
          <a:xfrm>
            <a:off x="3063240" y="4572000"/>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75, weighted to 150</a:t>
            </a:r>
            <a:endParaRPr lang="en-US" sz="1450" dirty="0"/>
          </a:p>
        </p:txBody>
      </p:sp>
      <p:sp>
        <p:nvSpPr>
          <p:cNvPr id="10" name="Shape 7"/>
          <p:cNvSpPr/>
          <p:nvPr/>
        </p:nvSpPr>
        <p:spPr>
          <a:xfrm>
            <a:off x="822960" y="4937760"/>
            <a:ext cx="6309360" cy="0"/>
          </a:xfrm>
          <a:prstGeom prst="line">
            <a:avLst/>
          </a:prstGeom>
          <a:noFill/>
          <a:ln w="9525">
            <a:solidFill>
              <a:srgbClr val="D9D4C4"/>
            </a:solidFill>
            <a:prstDash val="solid"/>
          </a:ln>
        </p:spPr>
      </p:sp>
      <p:sp>
        <p:nvSpPr>
          <p:cNvPr id="11" name="Text 8"/>
          <p:cNvSpPr/>
          <p:nvPr/>
        </p:nvSpPr>
        <p:spPr>
          <a:xfrm>
            <a:off x="822960" y="5084064"/>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Weight</a:t>
            </a:r>
            <a:endParaRPr lang="en-US" sz="1150" dirty="0"/>
          </a:p>
        </p:txBody>
      </p:sp>
      <p:sp>
        <p:nvSpPr>
          <p:cNvPr id="12" name="Text 9"/>
          <p:cNvSpPr/>
          <p:nvPr/>
        </p:nvSpPr>
        <p:spPr>
          <a:xfrm>
            <a:off x="3063240" y="5084064"/>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50 per cent of the A Level</a:t>
            </a:r>
            <a:endParaRPr lang="en-US" sz="1450" dirty="0"/>
          </a:p>
        </p:txBody>
      </p:sp>
      <p:sp>
        <p:nvSpPr>
          <p:cNvPr id="13" name="Shape 10"/>
          <p:cNvSpPr/>
          <p:nvPr/>
        </p:nvSpPr>
        <p:spPr>
          <a:xfrm>
            <a:off x="822960" y="5449824"/>
            <a:ext cx="6309360" cy="0"/>
          </a:xfrm>
          <a:prstGeom prst="line">
            <a:avLst/>
          </a:prstGeom>
          <a:noFill/>
          <a:ln w="9525">
            <a:solidFill>
              <a:srgbClr val="D9D4C4"/>
            </a:solidFill>
            <a:prstDash val="solid"/>
          </a:ln>
        </p:spPr>
      </p:sp>
      <p:sp>
        <p:nvSpPr>
          <p:cNvPr id="14" name="Text 11"/>
          <p:cNvSpPr/>
          <p:nvPr/>
        </p:nvSpPr>
        <p:spPr>
          <a:xfrm>
            <a:off x="822960" y="5596128"/>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AO split</a:t>
            </a:r>
            <a:endParaRPr lang="en-US" sz="1150" dirty="0"/>
          </a:p>
        </p:txBody>
      </p:sp>
      <p:sp>
        <p:nvSpPr>
          <p:cNvPr id="15" name="Text 12"/>
          <p:cNvSpPr/>
          <p:nvPr/>
        </p:nvSpPr>
        <p:spPr>
          <a:xfrm>
            <a:off x="3063240" y="5596128"/>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20 / 20 / 25 / 10</a:t>
            </a:r>
            <a:endParaRPr lang="en-US" sz="1450" dirty="0"/>
          </a:p>
        </p:txBody>
      </p:sp>
      <p:sp>
        <p:nvSpPr>
          <p:cNvPr id="16" name="Shape 13"/>
          <p:cNvSpPr/>
          <p:nvPr/>
        </p:nvSpPr>
        <p:spPr>
          <a:xfrm>
            <a:off x="822960" y="5961888"/>
            <a:ext cx="6309360" cy="0"/>
          </a:xfrm>
          <a:prstGeom prst="line">
            <a:avLst/>
          </a:prstGeom>
          <a:noFill/>
          <a:ln w="9525">
            <a:solidFill>
              <a:srgbClr val="D9D4C4"/>
            </a:solidFill>
            <a:prstDash val="solid"/>
          </a:ln>
        </p:spPr>
      </p:sp>
      <p:sp>
        <p:nvSpPr>
          <p:cNvPr id="17" name="Text 14"/>
          <p:cNvSpPr/>
          <p:nvPr/>
        </p:nvSpPr>
        <p:spPr>
          <a:xfrm>
            <a:off x="822960" y="6108192"/>
            <a:ext cx="2194560" cy="310896"/>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Built in</a:t>
            </a:r>
            <a:endParaRPr lang="en-US" sz="1150" dirty="0"/>
          </a:p>
        </p:txBody>
      </p:sp>
      <p:sp>
        <p:nvSpPr>
          <p:cNvPr id="18" name="Text 15"/>
          <p:cNvSpPr/>
          <p:nvPr/>
        </p:nvSpPr>
        <p:spPr>
          <a:xfrm>
            <a:off x="3063240" y="6108192"/>
            <a:ext cx="4069080" cy="310896"/>
          </a:xfrm>
          <a:prstGeom prst="rect">
            <a:avLst/>
          </a:prstGeom>
          <a:noFill/>
          <a:ln/>
        </p:spPr>
        <p:txBody>
          <a:bodyPr wrap="square" lIns="0" tIns="0" rIns="0" bIns="0" rtlCol="0" anchor="ctr"/>
          <a:lstStyle/>
          <a:p>
            <a:pPr indent="0" marL="0">
              <a:buNone/>
            </a:pPr>
            <a:r>
              <a:rPr lang="en-US" sz="1450" dirty="0">
                <a:solidFill>
                  <a:srgbClr val="24313F"/>
                </a:solidFill>
                <a:latin typeface="Georgia" pitchFamily="34" charset="0"/>
                <a:ea typeface="Georgia" pitchFamily="34" charset="-122"/>
                <a:cs typeface="Georgia" pitchFamily="34" charset="-120"/>
              </a:rPr>
              <a:t>Semesters 2 and 3</a:t>
            </a:r>
            <a:endParaRPr lang="en-US" sz="1450" dirty="0"/>
          </a:p>
        </p:txBody>
      </p:sp>
      <p:sp>
        <p:nvSpPr>
          <p:cNvPr id="19" name="Shape 16"/>
          <p:cNvSpPr/>
          <p:nvPr/>
        </p:nvSpPr>
        <p:spPr>
          <a:xfrm>
            <a:off x="822960" y="6473952"/>
            <a:ext cx="6309360" cy="0"/>
          </a:xfrm>
          <a:prstGeom prst="line">
            <a:avLst/>
          </a:prstGeom>
          <a:noFill/>
          <a:ln w="9525">
            <a:solidFill>
              <a:srgbClr val="D9D4C4"/>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COMPONENT 3 · EXAMPLE</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WHAT THE WRITING HAS TO DO</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2000 to 2500 words, doing real work</a:t>
            </a:r>
            <a:endParaRPr lang="en-US" sz="3400" dirty="0"/>
          </a:p>
        </p:txBody>
      </p:sp>
      <p:sp>
        <p:nvSpPr>
          <p:cNvPr id="6" name="Text 4"/>
          <p:cNvSpPr/>
          <p:nvPr/>
        </p:nvSpPr>
        <p:spPr>
          <a:xfrm>
            <a:off x="822960" y="2148840"/>
            <a:ext cx="3246120" cy="640080"/>
          </a:xfrm>
          <a:prstGeom prst="rect">
            <a:avLst/>
          </a:prstGeom>
          <a:noFill/>
          <a:ln/>
        </p:spPr>
        <p:txBody>
          <a:bodyPr wrap="square" lIns="0" tIns="0" rIns="0" bIns="0" rtlCol="0" anchor="ctr"/>
          <a:lstStyle/>
          <a:p>
            <a:pPr indent="0" marL="0">
              <a:buNone/>
            </a:pPr>
            <a:r>
              <a:rPr lang="en-US" sz="1350" b="1" spc="120" kern="0" dirty="0">
                <a:solidFill>
                  <a:srgbClr val="4A6B5D"/>
                </a:solidFill>
                <a:latin typeface="Arial" pitchFamily="34" charset="0"/>
                <a:ea typeface="Arial" pitchFamily="34" charset="-122"/>
                <a:cs typeface="Arial" pitchFamily="34" charset="-120"/>
              </a:rPr>
              <a:t>Integrated, not appended</a:t>
            </a:r>
            <a:endParaRPr lang="en-US" sz="1350" dirty="0"/>
          </a:p>
        </p:txBody>
      </p:sp>
      <p:sp>
        <p:nvSpPr>
          <p:cNvPr id="7" name="Shape 5"/>
          <p:cNvSpPr/>
          <p:nvPr/>
        </p:nvSpPr>
        <p:spPr>
          <a:xfrm>
            <a:off x="822960" y="2788920"/>
            <a:ext cx="3246120" cy="0"/>
          </a:xfrm>
          <a:prstGeom prst="line">
            <a:avLst/>
          </a:prstGeom>
          <a:noFill/>
          <a:ln w="9525">
            <a:solidFill>
              <a:srgbClr val="D9D4C4"/>
            </a:solidFill>
            <a:prstDash val="solid"/>
          </a:ln>
        </p:spPr>
      </p:sp>
      <p:sp>
        <p:nvSpPr>
          <p:cNvPr id="8" name="Text 6"/>
          <p:cNvSpPr/>
          <p:nvPr/>
        </p:nvSpPr>
        <p:spPr>
          <a:xfrm>
            <a:off x="822960" y="2926080"/>
            <a:ext cx="3246120" cy="256032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Every claim in the writing points at real work in the portfolio. If a paragraph could survive with the pictures removed, it is in the wrong document.</a:t>
            </a:r>
            <a:endParaRPr lang="en-US" sz="1550" dirty="0"/>
          </a:p>
        </p:txBody>
      </p:sp>
      <p:sp>
        <p:nvSpPr>
          <p:cNvPr id="9" name="Text 7"/>
          <p:cNvSpPr/>
          <p:nvPr/>
        </p:nvSpPr>
        <p:spPr>
          <a:xfrm>
            <a:off x="4471416" y="2148840"/>
            <a:ext cx="3246120" cy="640080"/>
          </a:xfrm>
          <a:prstGeom prst="rect">
            <a:avLst/>
          </a:prstGeom>
          <a:noFill/>
          <a:ln/>
        </p:spPr>
        <p:txBody>
          <a:bodyPr wrap="square" lIns="0" tIns="0" rIns="0" bIns="0" rtlCol="0" anchor="ctr"/>
          <a:lstStyle/>
          <a:p>
            <a:pPr indent="0" marL="0">
              <a:buNone/>
            </a:pPr>
            <a:r>
              <a:rPr lang="en-US" sz="1350" b="1" spc="120" kern="0" dirty="0">
                <a:solidFill>
                  <a:srgbClr val="4A6B5D"/>
                </a:solidFill>
                <a:latin typeface="Arial" pitchFamily="34" charset="0"/>
                <a:ea typeface="Arial" pitchFamily="34" charset="-122"/>
                <a:cs typeface="Arial" pitchFamily="34" charset="-120"/>
              </a:rPr>
              <a:t>Argued, not surveyed</a:t>
            </a:r>
            <a:endParaRPr lang="en-US" sz="1350" dirty="0"/>
          </a:p>
        </p:txBody>
      </p:sp>
      <p:sp>
        <p:nvSpPr>
          <p:cNvPr id="10" name="Shape 8"/>
          <p:cNvSpPr/>
          <p:nvPr/>
        </p:nvSpPr>
        <p:spPr>
          <a:xfrm>
            <a:off x="4471416" y="2788920"/>
            <a:ext cx="3246120" cy="0"/>
          </a:xfrm>
          <a:prstGeom prst="line">
            <a:avLst/>
          </a:prstGeom>
          <a:noFill/>
          <a:ln w="9525">
            <a:solidFill>
              <a:srgbClr val="D9D4C4"/>
            </a:solidFill>
            <a:prstDash val="solid"/>
          </a:ln>
        </p:spPr>
      </p:sp>
      <p:sp>
        <p:nvSpPr>
          <p:cNvPr id="11" name="Text 9"/>
          <p:cNvSpPr/>
          <p:nvPr/>
        </p:nvSpPr>
        <p:spPr>
          <a:xfrm>
            <a:off x="4471416" y="2926080"/>
            <a:ext cx="3246120" cy="256032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One line of enquiry pursued, with artists brought in because they solve your problem. A tour of everyone who ever painted your subject is not an investigation.</a:t>
            </a:r>
            <a:endParaRPr lang="en-US" sz="1550" dirty="0"/>
          </a:p>
        </p:txBody>
      </p:sp>
      <p:sp>
        <p:nvSpPr>
          <p:cNvPr id="12" name="Text 10"/>
          <p:cNvSpPr/>
          <p:nvPr/>
        </p:nvSpPr>
        <p:spPr>
          <a:xfrm>
            <a:off x="8119872" y="2148840"/>
            <a:ext cx="3246120" cy="640080"/>
          </a:xfrm>
          <a:prstGeom prst="rect">
            <a:avLst/>
          </a:prstGeom>
          <a:noFill/>
          <a:ln/>
        </p:spPr>
        <p:txBody>
          <a:bodyPr wrap="square" lIns="0" tIns="0" rIns="0" bIns="0" rtlCol="0" anchor="ctr"/>
          <a:lstStyle/>
          <a:p>
            <a:pPr indent="0" marL="0">
              <a:buNone/>
            </a:pPr>
            <a:r>
              <a:rPr lang="en-US" sz="1350" b="1" spc="120" kern="0" dirty="0">
                <a:solidFill>
                  <a:srgbClr val="4A6B5D"/>
                </a:solidFill>
                <a:latin typeface="Arial" pitchFamily="34" charset="0"/>
                <a:ea typeface="Arial" pitchFamily="34" charset="-122"/>
                <a:cs typeface="Arial" pitchFamily="34" charset="-120"/>
              </a:rPr>
              <a:t>Bibliography in the body</a:t>
            </a:r>
            <a:endParaRPr lang="en-US" sz="1350" dirty="0"/>
          </a:p>
        </p:txBody>
      </p:sp>
      <p:sp>
        <p:nvSpPr>
          <p:cNvPr id="13" name="Shape 11"/>
          <p:cNvSpPr/>
          <p:nvPr/>
        </p:nvSpPr>
        <p:spPr>
          <a:xfrm>
            <a:off x="8119872" y="2788920"/>
            <a:ext cx="3246120" cy="0"/>
          </a:xfrm>
          <a:prstGeom prst="line">
            <a:avLst/>
          </a:prstGeom>
          <a:noFill/>
          <a:ln w="9525">
            <a:solidFill>
              <a:srgbClr val="D9D4C4"/>
            </a:solidFill>
            <a:prstDash val="solid"/>
          </a:ln>
        </p:spPr>
      </p:sp>
      <p:sp>
        <p:nvSpPr>
          <p:cNvPr id="14" name="Text 12"/>
          <p:cNvSpPr/>
          <p:nvPr/>
        </p:nvSpPr>
        <p:spPr>
          <a:xfrm>
            <a:off x="8119872" y="2926080"/>
            <a:ext cx="3246120" cy="256032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Sources sit inside the work where they were used. A detached list at the back loses marks under AO1.</a:t>
            </a:r>
            <a:endParaRPr lang="en-US" sz="1550" dirty="0"/>
          </a:p>
        </p:txBody>
      </p:sp>
      <p:sp>
        <p:nvSpPr>
          <p:cNvPr id="15" name="Shape 13"/>
          <p:cNvSpPr/>
          <p:nvPr/>
        </p:nvSpPr>
        <p:spPr>
          <a:xfrm>
            <a:off x="822960" y="6382512"/>
            <a:ext cx="10543032" cy="0"/>
          </a:xfrm>
          <a:prstGeom prst="line">
            <a:avLst/>
          </a:prstGeom>
          <a:noFill/>
          <a:ln w="9525">
            <a:solidFill>
              <a:srgbClr val="D9D4C4"/>
            </a:solidFill>
            <a:prstDash val="solid"/>
          </a:ln>
        </p:spPr>
      </p:sp>
      <p:sp>
        <p:nvSpPr>
          <p:cNvPr id="16" name="Text 14"/>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a:t>
            </a:r>
            <a:endParaRPr lang="en-US" sz="900" dirty="0"/>
          </a:p>
        </p:txBody>
      </p:sp>
      <p:sp>
        <p:nvSpPr>
          <p:cNvPr id="17" name="Text 15"/>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83080"/>
            <a:ext cx="10424160" cy="3291840"/>
          </a:xfrm>
          <a:prstGeom prst="rect">
            <a:avLst/>
          </a:prstGeom>
          <a:noFill/>
          <a:ln/>
        </p:spPr>
        <p:txBody>
          <a:bodyPr wrap="square" lIns="0" tIns="0" rIns="0" bIns="0" rtlCol="0" anchor="ctr"/>
          <a:lstStyle/>
          <a:p>
            <a:pPr indent="0" marL="0">
              <a:lnSpc>
                <a:spcPts val="4800"/>
              </a:lnSpc>
              <a:buNone/>
            </a:pPr>
            <a:r>
              <a:rPr lang="en-US" sz="4000" dirty="0">
                <a:solidFill>
                  <a:srgbClr val="24313F"/>
                </a:solidFill>
                <a:latin typeface="Georgia" pitchFamily="34" charset="0"/>
                <a:ea typeface="Georgia" pitchFamily="34" charset="-122"/>
                <a:cs typeface="Georgia" pitchFamily="34" charset="-120"/>
              </a:rPr>
              <a:t>The theme is yours, not the menu's. You propose it and lock it in writing.</a:t>
            </a:r>
            <a:endParaRPr lang="en-US" sz="40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Component 3, from the first week of Semester 2</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NUMBERS IN ONE PLACE</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2028 TO 2030 SPECIFICATION</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54864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Marks, weights and the AO split</a:t>
            </a:r>
            <a:endParaRPr lang="en-US" sz="3000" dirty="0"/>
          </a:p>
        </p:txBody>
      </p:sp>
      <p:sp>
        <p:nvSpPr>
          <p:cNvPr id="6" name="Text 4"/>
          <p:cNvSpPr/>
          <p:nvPr/>
        </p:nvSpPr>
        <p:spPr>
          <a:xfrm>
            <a:off x="3474720" y="1645920"/>
            <a:ext cx="2630424" cy="457200"/>
          </a:xfrm>
          <a:prstGeom prst="rect">
            <a:avLst/>
          </a:prstGeom>
          <a:noFill/>
          <a:ln/>
        </p:spPr>
        <p:txBody>
          <a:bodyPr wrap="square" lIns="0" tIns="0" rIns="0" bIns="0" rtlCol="0" anchor="ctr"/>
          <a:lstStyle/>
          <a:p>
            <a:pPr algn="ctr" indent="0" marL="0">
              <a:buNone/>
            </a:pPr>
            <a:r>
              <a:rPr lang="en-US" sz="1200" b="1" spc="100" kern="0" dirty="0">
                <a:solidFill>
                  <a:srgbClr val="4A6B5D"/>
                </a:solidFill>
                <a:latin typeface="Arial" pitchFamily="34" charset="0"/>
                <a:ea typeface="Arial" pitchFamily="34" charset="-122"/>
                <a:cs typeface="Arial" pitchFamily="34" charset="-120"/>
              </a:rPr>
              <a:t>C1 Portfolio</a:t>
            </a:r>
            <a:endParaRPr lang="en-US" sz="1200" dirty="0"/>
          </a:p>
        </p:txBody>
      </p:sp>
      <p:sp>
        <p:nvSpPr>
          <p:cNvPr id="7" name="Text 5"/>
          <p:cNvSpPr/>
          <p:nvPr/>
        </p:nvSpPr>
        <p:spPr>
          <a:xfrm>
            <a:off x="6105144" y="1645920"/>
            <a:ext cx="2630424" cy="457200"/>
          </a:xfrm>
          <a:prstGeom prst="rect">
            <a:avLst/>
          </a:prstGeom>
          <a:noFill/>
          <a:ln/>
        </p:spPr>
        <p:txBody>
          <a:bodyPr wrap="square" lIns="0" tIns="0" rIns="0" bIns="0" rtlCol="0" anchor="ctr"/>
          <a:lstStyle/>
          <a:p>
            <a:pPr algn="ctr" indent="0" marL="0">
              <a:buNone/>
            </a:pPr>
            <a:r>
              <a:rPr lang="en-US" sz="1200" b="1" spc="100" kern="0" dirty="0">
                <a:solidFill>
                  <a:srgbClr val="4A6B5D"/>
                </a:solidFill>
                <a:latin typeface="Arial" pitchFamily="34" charset="0"/>
                <a:ea typeface="Arial" pitchFamily="34" charset="-122"/>
                <a:cs typeface="Arial" pitchFamily="34" charset="-120"/>
              </a:rPr>
              <a:t>C2 Set Assignment</a:t>
            </a:r>
            <a:endParaRPr lang="en-US" sz="1200" dirty="0"/>
          </a:p>
        </p:txBody>
      </p:sp>
      <p:sp>
        <p:nvSpPr>
          <p:cNvPr id="8" name="Text 6"/>
          <p:cNvSpPr/>
          <p:nvPr/>
        </p:nvSpPr>
        <p:spPr>
          <a:xfrm>
            <a:off x="8735568" y="1645920"/>
            <a:ext cx="2630424" cy="457200"/>
          </a:xfrm>
          <a:prstGeom prst="rect">
            <a:avLst/>
          </a:prstGeom>
          <a:noFill/>
          <a:ln/>
        </p:spPr>
        <p:txBody>
          <a:bodyPr wrap="square" lIns="0" tIns="0" rIns="0" bIns="0" rtlCol="0" anchor="ctr"/>
          <a:lstStyle/>
          <a:p>
            <a:pPr algn="ctr" indent="0" marL="0">
              <a:buNone/>
            </a:pPr>
            <a:r>
              <a:rPr lang="en-US" sz="1200" b="1" spc="100" kern="0" dirty="0">
                <a:solidFill>
                  <a:srgbClr val="4A6B5D"/>
                </a:solidFill>
                <a:latin typeface="Arial" pitchFamily="34" charset="0"/>
                <a:ea typeface="Arial" pitchFamily="34" charset="-122"/>
                <a:cs typeface="Arial" pitchFamily="34" charset="-120"/>
              </a:rPr>
              <a:t>C3 Personal Investigation</a:t>
            </a:r>
            <a:endParaRPr lang="en-US" sz="1200" dirty="0"/>
          </a:p>
        </p:txBody>
      </p:sp>
      <p:sp>
        <p:nvSpPr>
          <p:cNvPr id="9" name="Shape 7"/>
          <p:cNvSpPr/>
          <p:nvPr/>
        </p:nvSpPr>
        <p:spPr>
          <a:xfrm>
            <a:off x="822960" y="2148840"/>
            <a:ext cx="10543032" cy="0"/>
          </a:xfrm>
          <a:prstGeom prst="line">
            <a:avLst/>
          </a:prstGeom>
          <a:noFill/>
          <a:ln w="15240">
            <a:solidFill>
              <a:srgbClr val="4A6B5D"/>
            </a:solidFill>
            <a:prstDash val="solid"/>
          </a:ln>
        </p:spPr>
      </p:sp>
      <p:sp>
        <p:nvSpPr>
          <p:cNvPr id="10" name="Text 8"/>
          <p:cNvSpPr/>
          <p:nvPr/>
        </p:nvSpPr>
        <p:spPr>
          <a:xfrm>
            <a:off x="822960" y="2240280"/>
            <a:ext cx="2651760" cy="384048"/>
          </a:xfrm>
          <a:prstGeom prst="rect">
            <a:avLst/>
          </a:prstGeom>
          <a:noFill/>
          <a:ln/>
        </p:spPr>
        <p:txBody>
          <a:bodyPr wrap="square" lIns="0" tIns="0" rIns="0" bIns="0" rtlCol="0" anchor="ctr"/>
          <a:lstStyle/>
          <a:p>
            <a:pPr indent="0" marL="0">
              <a:buNone/>
            </a:pPr>
            <a:r>
              <a:rPr lang="en-US" sz="1200" spc="60" kern="0" dirty="0">
                <a:solidFill>
                  <a:srgbClr val="24313F"/>
                </a:solidFill>
                <a:latin typeface="Arial" pitchFamily="34" charset="0"/>
                <a:ea typeface="Arial" pitchFamily="34" charset="-122"/>
                <a:cs typeface="Arial" pitchFamily="34" charset="-120"/>
              </a:rPr>
              <a:t>Raw marks</a:t>
            </a:r>
            <a:endParaRPr lang="en-US" sz="1200" dirty="0"/>
          </a:p>
        </p:txBody>
      </p:sp>
      <p:sp>
        <p:nvSpPr>
          <p:cNvPr id="11" name="Text 9"/>
          <p:cNvSpPr/>
          <p:nvPr/>
        </p:nvSpPr>
        <p:spPr>
          <a:xfrm>
            <a:off x="3474720" y="2240280"/>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60</a:t>
            </a:r>
            <a:endParaRPr lang="en-US" sz="1700" dirty="0"/>
          </a:p>
        </p:txBody>
      </p:sp>
      <p:sp>
        <p:nvSpPr>
          <p:cNvPr id="12" name="Text 10"/>
          <p:cNvSpPr/>
          <p:nvPr/>
        </p:nvSpPr>
        <p:spPr>
          <a:xfrm>
            <a:off x="6105144" y="2240280"/>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60</a:t>
            </a:r>
            <a:endParaRPr lang="en-US" sz="1700" dirty="0"/>
          </a:p>
        </p:txBody>
      </p:sp>
      <p:sp>
        <p:nvSpPr>
          <p:cNvPr id="13" name="Text 11"/>
          <p:cNvSpPr/>
          <p:nvPr/>
        </p:nvSpPr>
        <p:spPr>
          <a:xfrm>
            <a:off x="8735568" y="2240280"/>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75</a:t>
            </a:r>
            <a:endParaRPr lang="en-US" sz="1700" dirty="0"/>
          </a:p>
        </p:txBody>
      </p:sp>
      <p:sp>
        <p:nvSpPr>
          <p:cNvPr id="14" name="Shape 12"/>
          <p:cNvSpPr/>
          <p:nvPr/>
        </p:nvSpPr>
        <p:spPr>
          <a:xfrm>
            <a:off x="822960" y="2670048"/>
            <a:ext cx="10543032" cy="0"/>
          </a:xfrm>
          <a:prstGeom prst="line">
            <a:avLst/>
          </a:prstGeom>
          <a:noFill/>
          <a:ln w="9525">
            <a:solidFill>
              <a:srgbClr val="D9D4C4"/>
            </a:solidFill>
            <a:prstDash val="solid"/>
          </a:ln>
        </p:spPr>
      </p:sp>
      <p:sp>
        <p:nvSpPr>
          <p:cNvPr id="15" name="Text 13"/>
          <p:cNvSpPr/>
          <p:nvPr/>
        </p:nvSpPr>
        <p:spPr>
          <a:xfrm>
            <a:off x="822960" y="2770632"/>
            <a:ext cx="2651760" cy="384048"/>
          </a:xfrm>
          <a:prstGeom prst="rect">
            <a:avLst/>
          </a:prstGeom>
          <a:noFill/>
          <a:ln/>
        </p:spPr>
        <p:txBody>
          <a:bodyPr wrap="square" lIns="0" tIns="0" rIns="0" bIns="0" rtlCol="0" anchor="ctr"/>
          <a:lstStyle/>
          <a:p>
            <a:pPr indent="0" marL="0">
              <a:buNone/>
            </a:pPr>
            <a:r>
              <a:rPr lang="en-US" sz="1200" spc="60" kern="0" dirty="0">
                <a:solidFill>
                  <a:srgbClr val="24313F"/>
                </a:solidFill>
                <a:latin typeface="Arial" pitchFamily="34" charset="0"/>
                <a:ea typeface="Arial" pitchFamily="34" charset="-122"/>
                <a:cs typeface="Arial" pitchFamily="34" charset="-120"/>
              </a:rPr>
              <a:t>Weighted to</a:t>
            </a:r>
            <a:endParaRPr lang="en-US" sz="1200" dirty="0"/>
          </a:p>
        </p:txBody>
      </p:sp>
      <p:sp>
        <p:nvSpPr>
          <p:cNvPr id="16" name="Text 14"/>
          <p:cNvSpPr/>
          <p:nvPr/>
        </p:nvSpPr>
        <p:spPr>
          <a:xfrm>
            <a:off x="3474720" y="2770632"/>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90</a:t>
            </a:r>
            <a:endParaRPr lang="en-US" sz="1700" dirty="0"/>
          </a:p>
        </p:txBody>
      </p:sp>
      <p:sp>
        <p:nvSpPr>
          <p:cNvPr id="17" name="Text 15"/>
          <p:cNvSpPr/>
          <p:nvPr/>
        </p:nvSpPr>
        <p:spPr>
          <a:xfrm>
            <a:off x="6105144" y="2770632"/>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60</a:t>
            </a:r>
            <a:endParaRPr lang="en-US" sz="1700" dirty="0"/>
          </a:p>
        </p:txBody>
      </p:sp>
      <p:sp>
        <p:nvSpPr>
          <p:cNvPr id="18" name="Text 16"/>
          <p:cNvSpPr/>
          <p:nvPr/>
        </p:nvSpPr>
        <p:spPr>
          <a:xfrm>
            <a:off x="8735568" y="2770632"/>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150</a:t>
            </a:r>
            <a:endParaRPr lang="en-US" sz="1700" dirty="0"/>
          </a:p>
        </p:txBody>
      </p:sp>
      <p:sp>
        <p:nvSpPr>
          <p:cNvPr id="19" name="Shape 17"/>
          <p:cNvSpPr/>
          <p:nvPr/>
        </p:nvSpPr>
        <p:spPr>
          <a:xfrm>
            <a:off x="822960" y="3200400"/>
            <a:ext cx="10543032" cy="0"/>
          </a:xfrm>
          <a:prstGeom prst="line">
            <a:avLst/>
          </a:prstGeom>
          <a:noFill/>
          <a:ln w="9525">
            <a:solidFill>
              <a:srgbClr val="D9D4C4"/>
            </a:solidFill>
            <a:prstDash val="solid"/>
          </a:ln>
        </p:spPr>
      </p:sp>
      <p:sp>
        <p:nvSpPr>
          <p:cNvPr id="20" name="Text 18"/>
          <p:cNvSpPr/>
          <p:nvPr/>
        </p:nvSpPr>
        <p:spPr>
          <a:xfrm>
            <a:off x="822960" y="3300984"/>
            <a:ext cx="2651760" cy="384048"/>
          </a:xfrm>
          <a:prstGeom prst="rect">
            <a:avLst/>
          </a:prstGeom>
          <a:noFill/>
          <a:ln/>
        </p:spPr>
        <p:txBody>
          <a:bodyPr wrap="square" lIns="0" tIns="0" rIns="0" bIns="0" rtlCol="0" anchor="ctr"/>
          <a:lstStyle/>
          <a:p>
            <a:pPr indent="0" marL="0">
              <a:buNone/>
            </a:pPr>
            <a:r>
              <a:rPr lang="en-US" sz="1200" spc="60" kern="0" dirty="0">
                <a:solidFill>
                  <a:srgbClr val="24313F"/>
                </a:solidFill>
                <a:latin typeface="Arial" pitchFamily="34" charset="0"/>
                <a:ea typeface="Arial" pitchFamily="34" charset="-122"/>
                <a:cs typeface="Arial" pitchFamily="34" charset="-120"/>
              </a:rPr>
              <a:t>A Level weight</a:t>
            </a:r>
            <a:endParaRPr lang="en-US" sz="1200" dirty="0"/>
          </a:p>
        </p:txBody>
      </p:sp>
      <p:sp>
        <p:nvSpPr>
          <p:cNvPr id="21" name="Text 19"/>
          <p:cNvSpPr/>
          <p:nvPr/>
        </p:nvSpPr>
        <p:spPr>
          <a:xfrm>
            <a:off x="3474720" y="3300984"/>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30 per cent</a:t>
            </a:r>
            <a:endParaRPr lang="en-US" sz="1700" dirty="0"/>
          </a:p>
        </p:txBody>
      </p:sp>
      <p:sp>
        <p:nvSpPr>
          <p:cNvPr id="22" name="Text 20"/>
          <p:cNvSpPr/>
          <p:nvPr/>
        </p:nvSpPr>
        <p:spPr>
          <a:xfrm>
            <a:off x="6105144" y="3300984"/>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20 per cent</a:t>
            </a:r>
            <a:endParaRPr lang="en-US" sz="1700" dirty="0"/>
          </a:p>
        </p:txBody>
      </p:sp>
      <p:sp>
        <p:nvSpPr>
          <p:cNvPr id="23" name="Text 21"/>
          <p:cNvSpPr/>
          <p:nvPr/>
        </p:nvSpPr>
        <p:spPr>
          <a:xfrm>
            <a:off x="8735568" y="3300984"/>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50 per cent</a:t>
            </a:r>
            <a:endParaRPr lang="en-US" sz="1700" dirty="0"/>
          </a:p>
        </p:txBody>
      </p:sp>
      <p:sp>
        <p:nvSpPr>
          <p:cNvPr id="24" name="Shape 22"/>
          <p:cNvSpPr/>
          <p:nvPr/>
        </p:nvSpPr>
        <p:spPr>
          <a:xfrm>
            <a:off x="822960" y="3730752"/>
            <a:ext cx="10543032" cy="0"/>
          </a:xfrm>
          <a:prstGeom prst="line">
            <a:avLst/>
          </a:prstGeom>
          <a:noFill/>
          <a:ln w="9525">
            <a:solidFill>
              <a:srgbClr val="D9D4C4"/>
            </a:solidFill>
            <a:prstDash val="solid"/>
          </a:ln>
        </p:spPr>
      </p:sp>
      <p:sp>
        <p:nvSpPr>
          <p:cNvPr id="25" name="Text 23"/>
          <p:cNvSpPr/>
          <p:nvPr/>
        </p:nvSpPr>
        <p:spPr>
          <a:xfrm>
            <a:off x="822960" y="3831336"/>
            <a:ext cx="2651760" cy="384048"/>
          </a:xfrm>
          <a:prstGeom prst="rect">
            <a:avLst/>
          </a:prstGeom>
          <a:noFill/>
          <a:ln/>
        </p:spPr>
        <p:txBody>
          <a:bodyPr wrap="square" lIns="0" tIns="0" rIns="0" bIns="0" rtlCol="0" anchor="ctr"/>
          <a:lstStyle/>
          <a:p>
            <a:pPr indent="0" marL="0">
              <a:buNone/>
            </a:pPr>
            <a:r>
              <a:rPr lang="en-US" sz="1200" b="1" spc="60" kern="0" dirty="0">
                <a:solidFill>
                  <a:srgbClr val="4A6B5D"/>
                </a:solidFill>
                <a:latin typeface="Arial" pitchFamily="34" charset="0"/>
                <a:ea typeface="Arial" pitchFamily="34" charset="-122"/>
                <a:cs typeface="Arial" pitchFamily="34" charset="-120"/>
              </a:rPr>
              <a:t>AO1 Record</a:t>
            </a:r>
            <a:endParaRPr lang="en-US" sz="1200" dirty="0"/>
          </a:p>
        </p:txBody>
      </p:sp>
      <p:sp>
        <p:nvSpPr>
          <p:cNvPr id="26" name="Text 24"/>
          <p:cNvSpPr/>
          <p:nvPr/>
        </p:nvSpPr>
        <p:spPr>
          <a:xfrm>
            <a:off x="3474720" y="3831336"/>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15</a:t>
            </a:r>
            <a:endParaRPr lang="en-US" sz="1700" dirty="0"/>
          </a:p>
        </p:txBody>
      </p:sp>
      <p:sp>
        <p:nvSpPr>
          <p:cNvPr id="27" name="Text 25"/>
          <p:cNvSpPr/>
          <p:nvPr/>
        </p:nvSpPr>
        <p:spPr>
          <a:xfrm>
            <a:off x="6105144" y="3831336"/>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15</a:t>
            </a:r>
            <a:endParaRPr lang="en-US" sz="1700" dirty="0"/>
          </a:p>
        </p:txBody>
      </p:sp>
      <p:sp>
        <p:nvSpPr>
          <p:cNvPr id="28" name="Text 26"/>
          <p:cNvSpPr/>
          <p:nvPr/>
        </p:nvSpPr>
        <p:spPr>
          <a:xfrm>
            <a:off x="8735568" y="3831336"/>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20</a:t>
            </a:r>
            <a:endParaRPr lang="en-US" sz="1700" dirty="0"/>
          </a:p>
        </p:txBody>
      </p:sp>
      <p:sp>
        <p:nvSpPr>
          <p:cNvPr id="29" name="Shape 27"/>
          <p:cNvSpPr/>
          <p:nvPr/>
        </p:nvSpPr>
        <p:spPr>
          <a:xfrm>
            <a:off x="822960" y="4261104"/>
            <a:ext cx="10543032" cy="0"/>
          </a:xfrm>
          <a:prstGeom prst="line">
            <a:avLst/>
          </a:prstGeom>
          <a:noFill/>
          <a:ln w="9525">
            <a:solidFill>
              <a:srgbClr val="D9D4C4"/>
            </a:solidFill>
            <a:prstDash val="solid"/>
          </a:ln>
        </p:spPr>
      </p:sp>
      <p:sp>
        <p:nvSpPr>
          <p:cNvPr id="30" name="Text 28"/>
          <p:cNvSpPr/>
          <p:nvPr/>
        </p:nvSpPr>
        <p:spPr>
          <a:xfrm>
            <a:off x="822960" y="4361688"/>
            <a:ext cx="2651760" cy="384048"/>
          </a:xfrm>
          <a:prstGeom prst="rect">
            <a:avLst/>
          </a:prstGeom>
          <a:noFill/>
          <a:ln/>
        </p:spPr>
        <p:txBody>
          <a:bodyPr wrap="square" lIns="0" tIns="0" rIns="0" bIns="0" rtlCol="0" anchor="ctr"/>
          <a:lstStyle/>
          <a:p>
            <a:pPr indent="0" marL="0">
              <a:buNone/>
            </a:pPr>
            <a:r>
              <a:rPr lang="en-US" sz="1200" b="1" spc="60" kern="0" dirty="0">
                <a:solidFill>
                  <a:srgbClr val="4A6B5D"/>
                </a:solidFill>
                <a:latin typeface="Arial" pitchFamily="34" charset="0"/>
                <a:ea typeface="Arial" pitchFamily="34" charset="-122"/>
                <a:cs typeface="Arial" pitchFamily="34" charset="-120"/>
              </a:rPr>
              <a:t>AO2 Explore</a:t>
            </a:r>
            <a:endParaRPr lang="en-US" sz="1200" dirty="0"/>
          </a:p>
        </p:txBody>
      </p:sp>
      <p:sp>
        <p:nvSpPr>
          <p:cNvPr id="31" name="Text 29"/>
          <p:cNvSpPr/>
          <p:nvPr/>
        </p:nvSpPr>
        <p:spPr>
          <a:xfrm>
            <a:off x="3474720" y="4361688"/>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15</a:t>
            </a:r>
            <a:endParaRPr lang="en-US" sz="1700" dirty="0"/>
          </a:p>
        </p:txBody>
      </p:sp>
      <p:sp>
        <p:nvSpPr>
          <p:cNvPr id="32" name="Text 30"/>
          <p:cNvSpPr/>
          <p:nvPr/>
        </p:nvSpPr>
        <p:spPr>
          <a:xfrm>
            <a:off x="6105144" y="4361688"/>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15</a:t>
            </a:r>
            <a:endParaRPr lang="en-US" sz="1700" dirty="0"/>
          </a:p>
        </p:txBody>
      </p:sp>
      <p:sp>
        <p:nvSpPr>
          <p:cNvPr id="33" name="Text 31"/>
          <p:cNvSpPr/>
          <p:nvPr/>
        </p:nvSpPr>
        <p:spPr>
          <a:xfrm>
            <a:off x="8735568" y="4361688"/>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20</a:t>
            </a:r>
            <a:endParaRPr lang="en-US" sz="1700" dirty="0"/>
          </a:p>
        </p:txBody>
      </p:sp>
      <p:sp>
        <p:nvSpPr>
          <p:cNvPr id="34" name="Shape 32"/>
          <p:cNvSpPr/>
          <p:nvPr/>
        </p:nvSpPr>
        <p:spPr>
          <a:xfrm>
            <a:off x="822960" y="4791456"/>
            <a:ext cx="10543032" cy="0"/>
          </a:xfrm>
          <a:prstGeom prst="line">
            <a:avLst/>
          </a:prstGeom>
          <a:noFill/>
          <a:ln w="9525">
            <a:solidFill>
              <a:srgbClr val="D9D4C4"/>
            </a:solidFill>
            <a:prstDash val="solid"/>
          </a:ln>
        </p:spPr>
      </p:sp>
      <p:sp>
        <p:nvSpPr>
          <p:cNvPr id="35" name="Text 33"/>
          <p:cNvSpPr/>
          <p:nvPr/>
        </p:nvSpPr>
        <p:spPr>
          <a:xfrm>
            <a:off x="822960" y="4892040"/>
            <a:ext cx="2651760" cy="384048"/>
          </a:xfrm>
          <a:prstGeom prst="rect">
            <a:avLst/>
          </a:prstGeom>
          <a:noFill/>
          <a:ln/>
        </p:spPr>
        <p:txBody>
          <a:bodyPr wrap="square" lIns="0" tIns="0" rIns="0" bIns="0" rtlCol="0" anchor="ctr"/>
          <a:lstStyle/>
          <a:p>
            <a:pPr indent="0" marL="0">
              <a:buNone/>
            </a:pPr>
            <a:r>
              <a:rPr lang="en-US" sz="1200" b="1" spc="60" kern="0" dirty="0">
                <a:solidFill>
                  <a:srgbClr val="4A6B5D"/>
                </a:solidFill>
                <a:latin typeface="Arial" pitchFamily="34" charset="0"/>
                <a:ea typeface="Arial" pitchFamily="34" charset="-122"/>
                <a:cs typeface="Arial" pitchFamily="34" charset="-120"/>
              </a:rPr>
              <a:t>AO3 Develop</a:t>
            </a:r>
            <a:endParaRPr lang="en-US" sz="1200" dirty="0"/>
          </a:p>
        </p:txBody>
      </p:sp>
      <p:sp>
        <p:nvSpPr>
          <p:cNvPr id="36" name="Text 34"/>
          <p:cNvSpPr/>
          <p:nvPr/>
        </p:nvSpPr>
        <p:spPr>
          <a:xfrm>
            <a:off x="3474720" y="4892040"/>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20</a:t>
            </a:r>
            <a:endParaRPr lang="en-US" sz="1700" dirty="0"/>
          </a:p>
        </p:txBody>
      </p:sp>
      <p:sp>
        <p:nvSpPr>
          <p:cNvPr id="37" name="Text 35"/>
          <p:cNvSpPr/>
          <p:nvPr/>
        </p:nvSpPr>
        <p:spPr>
          <a:xfrm>
            <a:off x="6105144" y="4892040"/>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15</a:t>
            </a:r>
            <a:endParaRPr lang="en-US" sz="1700" dirty="0"/>
          </a:p>
        </p:txBody>
      </p:sp>
      <p:sp>
        <p:nvSpPr>
          <p:cNvPr id="38" name="Text 36"/>
          <p:cNvSpPr/>
          <p:nvPr/>
        </p:nvSpPr>
        <p:spPr>
          <a:xfrm>
            <a:off x="8735568" y="4892040"/>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25</a:t>
            </a:r>
            <a:endParaRPr lang="en-US" sz="1700" dirty="0"/>
          </a:p>
        </p:txBody>
      </p:sp>
      <p:sp>
        <p:nvSpPr>
          <p:cNvPr id="39" name="Shape 37"/>
          <p:cNvSpPr/>
          <p:nvPr/>
        </p:nvSpPr>
        <p:spPr>
          <a:xfrm>
            <a:off x="822960" y="5321808"/>
            <a:ext cx="10543032" cy="0"/>
          </a:xfrm>
          <a:prstGeom prst="line">
            <a:avLst/>
          </a:prstGeom>
          <a:noFill/>
          <a:ln w="9525">
            <a:solidFill>
              <a:srgbClr val="D9D4C4"/>
            </a:solidFill>
            <a:prstDash val="solid"/>
          </a:ln>
        </p:spPr>
      </p:sp>
      <p:sp>
        <p:nvSpPr>
          <p:cNvPr id="40" name="Text 38"/>
          <p:cNvSpPr/>
          <p:nvPr/>
        </p:nvSpPr>
        <p:spPr>
          <a:xfrm>
            <a:off x="822960" y="5422392"/>
            <a:ext cx="2651760" cy="384048"/>
          </a:xfrm>
          <a:prstGeom prst="rect">
            <a:avLst/>
          </a:prstGeom>
          <a:noFill/>
          <a:ln/>
        </p:spPr>
        <p:txBody>
          <a:bodyPr wrap="square" lIns="0" tIns="0" rIns="0" bIns="0" rtlCol="0" anchor="ctr"/>
          <a:lstStyle/>
          <a:p>
            <a:pPr indent="0" marL="0">
              <a:buNone/>
            </a:pPr>
            <a:r>
              <a:rPr lang="en-US" sz="1200" b="1" spc="60" kern="0" dirty="0">
                <a:solidFill>
                  <a:srgbClr val="4A6B5D"/>
                </a:solidFill>
                <a:latin typeface="Arial" pitchFamily="34" charset="0"/>
                <a:ea typeface="Arial" pitchFamily="34" charset="-122"/>
                <a:cs typeface="Arial" pitchFamily="34" charset="-120"/>
              </a:rPr>
              <a:t>AO4 Present</a:t>
            </a:r>
            <a:endParaRPr lang="en-US" sz="1200" dirty="0"/>
          </a:p>
        </p:txBody>
      </p:sp>
      <p:sp>
        <p:nvSpPr>
          <p:cNvPr id="41" name="Text 39"/>
          <p:cNvSpPr/>
          <p:nvPr/>
        </p:nvSpPr>
        <p:spPr>
          <a:xfrm>
            <a:off x="3474720" y="5422392"/>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10</a:t>
            </a:r>
            <a:endParaRPr lang="en-US" sz="1700" dirty="0"/>
          </a:p>
        </p:txBody>
      </p:sp>
      <p:sp>
        <p:nvSpPr>
          <p:cNvPr id="42" name="Text 40"/>
          <p:cNvSpPr/>
          <p:nvPr/>
        </p:nvSpPr>
        <p:spPr>
          <a:xfrm>
            <a:off x="6105144" y="5422392"/>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15</a:t>
            </a:r>
            <a:endParaRPr lang="en-US" sz="1700" dirty="0"/>
          </a:p>
        </p:txBody>
      </p:sp>
      <p:sp>
        <p:nvSpPr>
          <p:cNvPr id="43" name="Text 41"/>
          <p:cNvSpPr/>
          <p:nvPr/>
        </p:nvSpPr>
        <p:spPr>
          <a:xfrm>
            <a:off x="8735568" y="5422392"/>
            <a:ext cx="2630424" cy="384048"/>
          </a:xfrm>
          <a:prstGeom prst="rect">
            <a:avLst/>
          </a:prstGeom>
          <a:noFill/>
          <a:ln/>
        </p:spPr>
        <p:txBody>
          <a:bodyPr wrap="square" lIns="0" tIns="0" rIns="0" bIns="0" rtlCol="0" anchor="ctr"/>
          <a:lstStyle/>
          <a:p>
            <a:pPr algn="ctr" indent="0" marL="0">
              <a:buNone/>
            </a:pPr>
            <a:r>
              <a:rPr lang="en-US" sz="1700" dirty="0">
                <a:solidFill>
                  <a:srgbClr val="24313F"/>
                </a:solidFill>
                <a:latin typeface="Georgia" pitchFamily="34" charset="0"/>
                <a:ea typeface="Georgia" pitchFamily="34" charset="-122"/>
                <a:cs typeface="Georgia" pitchFamily="34" charset="-120"/>
              </a:rPr>
              <a:t>10</a:t>
            </a:r>
            <a:endParaRPr lang="en-US" sz="1700" dirty="0"/>
          </a:p>
        </p:txBody>
      </p:sp>
      <p:sp>
        <p:nvSpPr>
          <p:cNvPr id="44" name="Shape 42"/>
          <p:cNvSpPr/>
          <p:nvPr/>
        </p:nvSpPr>
        <p:spPr>
          <a:xfrm>
            <a:off x="822960" y="5852160"/>
            <a:ext cx="10543032" cy="0"/>
          </a:xfrm>
          <a:prstGeom prst="line">
            <a:avLst/>
          </a:prstGeom>
          <a:noFill/>
          <a:ln w="9525">
            <a:solidFill>
              <a:srgbClr val="D9D4C4"/>
            </a:solidFill>
            <a:prstDash val="solid"/>
          </a:ln>
        </p:spPr>
      </p:sp>
      <p:sp>
        <p:nvSpPr>
          <p:cNvPr id="45" name="Shape 43"/>
          <p:cNvSpPr/>
          <p:nvPr/>
        </p:nvSpPr>
        <p:spPr>
          <a:xfrm>
            <a:off x="822960" y="6382512"/>
            <a:ext cx="10543032" cy="0"/>
          </a:xfrm>
          <a:prstGeom prst="line">
            <a:avLst/>
          </a:prstGeom>
          <a:noFill/>
          <a:ln w="9525">
            <a:solidFill>
              <a:srgbClr val="D9D4C4"/>
            </a:solidFill>
            <a:prstDash val="solid"/>
          </a:ln>
        </p:spPr>
      </p:sp>
      <p:sp>
        <p:nvSpPr>
          <p:cNvPr id="46" name="Text 44"/>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a:t>
            </a:r>
            <a:endParaRPr lang="en-US" sz="900" dirty="0"/>
          </a:p>
        </p:txBody>
      </p:sp>
      <p:sp>
        <p:nvSpPr>
          <p:cNvPr id="47" name="Text 45"/>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WHAT FOLLOWS FROM ALL THIS</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058400" cy="1920240"/>
          </a:xfrm>
          <a:prstGeom prst="rect">
            <a:avLst/>
          </a:prstGeom>
          <a:noFill/>
          <a:ln/>
        </p:spPr>
        <p:txBody>
          <a:bodyPr wrap="square" lIns="0" tIns="0" rIns="0" bIns="0" rtlCol="0" anchor="t"/>
          <a:lstStyle/>
          <a:p>
            <a:pPr indent="0" marL="0">
              <a:lnSpc>
                <a:spcPts val="5400"/>
              </a:lnSpc>
              <a:buNone/>
            </a:pPr>
            <a:r>
              <a:rPr lang="en-US" sz="5000" dirty="0">
                <a:solidFill>
                  <a:srgbClr val="FAF8F1"/>
                </a:solidFill>
                <a:latin typeface="Georgia" pitchFamily="34" charset="0"/>
                <a:ea typeface="Georgia" pitchFamily="34" charset="-122"/>
                <a:cs typeface="Georgia" pitchFamily="34" charset="-120"/>
              </a:rPr>
              <a:t>Nothing you make</a:t>
            </a:r>
            <a:endParaRPr lang="en-US" sz="5000" dirty="0"/>
          </a:p>
          <a:p>
            <a:pPr indent="0" marL="0">
              <a:lnSpc>
                <a:spcPts val="5400"/>
              </a:lnSpc>
              <a:buNone/>
            </a:pPr>
            <a:r>
              <a:rPr lang="en-US" sz="5000" dirty="0">
                <a:solidFill>
                  <a:srgbClr val="FAF8F1"/>
                </a:solidFill>
                <a:latin typeface="Georgia" pitchFamily="34" charset="0"/>
                <a:ea typeface="Georgia" pitchFamily="34" charset="-122"/>
                <a:cs typeface="Georgia" pitchFamily="34" charset="-120"/>
              </a:rPr>
              <a:t>this year is practice.</a:t>
            </a:r>
            <a:endParaRPr lang="en-US" sz="5000" dirty="0"/>
          </a:p>
        </p:txBody>
      </p:sp>
      <p:sp>
        <p:nvSpPr>
          <p:cNvPr id="5" name="Text 3"/>
          <p:cNvSpPr/>
          <p:nvPr/>
        </p:nvSpPr>
        <p:spPr>
          <a:xfrm>
            <a:off x="822960" y="4892040"/>
            <a:ext cx="9601200" cy="457200"/>
          </a:xfrm>
          <a:prstGeom prst="rect">
            <a:avLst/>
          </a:prstGeom>
          <a:noFill/>
          <a:ln/>
        </p:spPr>
        <p:txBody>
          <a:bodyPr wrap="square" lIns="0" tIns="0" rIns="0" bIns="0" rtlCol="0" anchor="ctr"/>
          <a:lstStyle/>
          <a:p>
            <a:pPr indent="0" marL="0">
              <a:buNone/>
            </a:pPr>
            <a:r>
              <a:rPr lang="en-US" sz="2200" i="1" dirty="0">
                <a:solidFill>
                  <a:srgbClr val="E8EFE7"/>
                </a:solidFill>
                <a:latin typeface="Georgia" pitchFamily="34" charset="0"/>
                <a:ea typeface="Georgia" pitchFamily="34" charset="-122"/>
                <a:cs typeface="Georgia" pitchFamily="34" charset="-120"/>
              </a:rPr>
              <a:t>Semester 1 builds the Portfolio that goes to Cambridge in 2028.</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A LEVEL ART &amp; DESIGN 9479</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2026-08-13T01:17:52Z</dcterms:created>
  <dcterms:modified xsi:type="dcterms:W3CDTF">2026-08-13T01:17:52Z</dcterms:modified>
</cp:coreProperties>
</file>